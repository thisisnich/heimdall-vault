
<file path=[Content_Types].xml><?xml version="1.0" encoding="utf-8"?>
<Types xmlns="http://schemas.openxmlformats.org/package/2006/content-types">
  <Default Extension="bin" ContentType="application/vnd.openxmlformats-officedocument.oleObject"/>
  <Default Extension="jpeg" ContentType="image/jpeg"/>
  <Default Extension="mp3" ContentType="audio/m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392" r:id="rId4"/>
    <p:sldId id="391" r:id="rId5"/>
    <p:sldId id="606" r:id="rId6"/>
    <p:sldId id="366" r:id="rId7"/>
    <p:sldId id="387" r:id="rId8"/>
    <p:sldId id="388" r:id="rId9"/>
    <p:sldId id="393" r:id="rId10"/>
    <p:sldId id="367" r:id="rId11"/>
    <p:sldId id="368" r:id="rId12"/>
    <p:sldId id="370" r:id="rId13"/>
    <p:sldId id="372" r:id="rId14"/>
    <p:sldId id="373" r:id="rId15"/>
    <p:sldId id="380" r:id="rId16"/>
    <p:sldId id="381" r:id="rId17"/>
    <p:sldId id="382" r:id="rId18"/>
    <p:sldId id="394" r:id="rId19"/>
    <p:sldId id="383" r:id="rId20"/>
    <p:sldId id="607" r:id="rId21"/>
    <p:sldId id="384" r:id="rId22"/>
    <p:sldId id="395" r:id="rId23"/>
    <p:sldId id="396" r:id="rId24"/>
    <p:sldId id="60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199" autoAdjust="0"/>
    <p:restoredTop sz="94434" autoAdjust="0"/>
  </p:normalViewPr>
  <p:slideViewPr>
    <p:cSldViewPr snapToGrid="0">
      <p:cViewPr varScale="1">
        <p:scale>
          <a:sx n="165" d="100"/>
          <a:sy n="165" d="100"/>
        </p:scale>
        <p:origin x="1080" y="12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2056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03C14-3C46-449B-91D3-779C3EAC3963}" type="datetimeFigureOut">
              <a:rPr lang="en-US" smtClean="0"/>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3627CE-1CF8-444E-9F93-C191CD3011DB}" type="slidenum">
              <a:rPr lang="en-US" smtClean="0"/>
              <a:t>‹#›</a:t>
            </a:fld>
            <a:endParaRPr lang="en-US"/>
          </a:p>
        </p:txBody>
      </p:sp>
    </p:spTree>
    <p:extLst>
      <p:ext uri="{BB962C8B-B14F-4D97-AF65-F5344CB8AC3E}">
        <p14:creationId xmlns:p14="http://schemas.microsoft.com/office/powerpoint/2010/main" val="3927139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83627CE-1CF8-444E-9F93-C191CD3011DB}" type="slidenum">
              <a:rPr lang="en-US" smtClean="0"/>
              <a:t>1</a:t>
            </a:fld>
            <a:endParaRPr lang="en-US"/>
          </a:p>
        </p:txBody>
      </p:sp>
    </p:spTree>
    <p:extLst>
      <p:ext uri="{BB962C8B-B14F-4D97-AF65-F5344CB8AC3E}">
        <p14:creationId xmlns:p14="http://schemas.microsoft.com/office/powerpoint/2010/main" val="135779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9024730" y="6356348"/>
            <a:ext cx="2329070" cy="365125"/>
          </a:xfrm>
          <a:prstGeom prst="rect">
            <a:avLst/>
          </a:prstGeom>
        </p:spPr>
        <p:txBody>
          <a:bodyPr/>
          <a:lstStyle/>
          <a:p>
            <a:r>
              <a:rPr lang="en-SG" dirty="0"/>
              <a:t>Effective Date: 20 April 2020</a:t>
            </a:r>
            <a:endParaRPr lang="en-US" dirty="0"/>
          </a:p>
        </p:txBody>
      </p:sp>
      <p:sp>
        <p:nvSpPr>
          <p:cNvPr id="6" name="Slide Number Placeholder 5"/>
          <p:cNvSpPr>
            <a:spLocks noGrp="1"/>
          </p:cNvSpPr>
          <p:nvPr>
            <p:ph type="sldNum" sz="quarter" idx="12"/>
          </p:nvPr>
        </p:nvSpPr>
        <p:spPr>
          <a:xfrm>
            <a:off x="4724400" y="6356349"/>
            <a:ext cx="2743200" cy="365125"/>
          </a:xfrm>
          <a:prstGeom prst="rect">
            <a:avLst/>
          </a:prstGeom>
        </p:spPr>
        <p:txBody>
          <a:bodyPr/>
          <a:lstStyle>
            <a:lvl1pPr>
              <a:defRPr/>
            </a:lvl1pPr>
          </a:lstStyle>
          <a:p>
            <a:r>
              <a:rPr lang="en-US" dirty="0"/>
              <a:t>Page </a:t>
            </a:r>
            <a:fld id="{3AE61142-E722-463F-A30E-82CE7BA425BB}" type="slidenum">
              <a:rPr lang="en-US" smtClean="0"/>
              <a:pPr/>
              <a:t>‹#›</a:t>
            </a:fld>
            <a:r>
              <a:rPr lang="en-US" dirty="0"/>
              <a:t> of 60</a:t>
            </a:r>
          </a:p>
        </p:txBody>
      </p:sp>
    </p:spTree>
    <p:extLst>
      <p:ext uri="{BB962C8B-B14F-4D97-AF65-F5344CB8AC3E}">
        <p14:creationId xmlns:p14="http://schemas.microsoft.com/office/powerpoint/2010/main" val="3755958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53090"/>
            <a:ext cx="10515600" cy="1325563"/>
          </a:xfrm>
        </p:spPr>
        <p:txBody>
          <a:bodyPr/>
          <a:lstStyle/>
          <a:p>
            <a:r>
              <a:rPr lang="en-US"/>
              <a:t>Click to edit Master title style</a:t>
            </a:r>
          </a:p>
        </p:txBody>
      </p:sp>
      <p:sp>
        <p:nvSpPr>
          <p:cNvPr id="3" name="Content Placeholder 2"/>
          <p:cNvSpPr>
            <a:spLocks noGrp="1"/>
          </p:cNvSpPr>
          <p:nvPr>
            <p:ph idx="1"/>
          </p:nvPr>
        </p:nvSpPr>
        <p:spPr>
          <a:xfrm>
            <a:off x="838200" y="161117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9024730" y="6356348"/>
            <a:ext cx="2329070" cy="365125"/>
          </a:xfrm>
          <a:prstGeom prst="rect">
            <a:avLst/>
          </a:prstGeom>
        </p:spPr>
        <p:txBody>
          <a:bodyPr/>
          <a:lstStyle/>
          <a:p>
            <a:r>
              <a:rPr lang="en-SG" dirty="0"/>
              <a:t>Effective Date: 21 April 2020</a:t>
            </a:r>
            <a:endParaRPr lang="en-US" dirty="0"/>
          </a:p>
        </p:txBody>
      </p:sp>
      <p:sp>
        <p:nvSpPr>
          <p:cNvPr id="6" name="Slide Number Placeholder 5"/>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r>
              <a:rPr lang="en-US" dirty="0"/>
              <a:t> of 60</a:t>
            </a:r>
          </a:p>
        </p:txBody>
      </p:sp>
    </p:spTree>
    <p:extLst>
      <p:ext uri="{BB962C8B-B14F-4D97-AF65-F5344CB8AC3E}">
        <p14:creationId xmlns:p14="http://schemas.microsoft.com/office/powerpoint/2010/main" val="14735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9838"/>
            <a:ext cx="10515600" cy="1325563"/>
          </a:xfrm>
        </p:spPr>
        <p:txBody>
          <a:bodyPr/>
          <a:lstStyle/>
          <a:p>
            <a:r>
              <a:rPr lang="en-US"/>
              <a:t>Click to edit Master title style</a:t>
            </a:r>
          </a:p>
        </p:txBody>
      </p:sp>
      <p:sp>
        <p:nvSpPr>
          <p:cNvPr id="3" name="Content Placeholder 2"/>
          <p:cNvSpPr>
            <a:spLocks noGrp="1"/>
          </p:cNvSpPr>
          <p:nvPr>
            <p:ph sz="half" idx="1"/>
          </p:nvPr>
        </p:nvSpPr>
        <p:spPr>
          <a:xfrm>
            <a:off x="838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44787"/>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dirty="0"/>
          </a:p>
        </p:txBody>
      </p:sp>
      <p:sp>
        <p:nvSpPr>
          <p:cNvPr id="6" name="Footer Placeholder 5"/>
          <p:cNvSpPr>
            <a:spLocks noGrp="1"/>
          </p:cNvSpPr>
          <p:nvPr>
            <p:ph type="ftr" sz="quarter" idx="11"/>
          </p:nvPr>
        </p:nvSpPr>
        <p:spPr>
          <a:xfrm>
            <a:off x="9024730" y="6356348"/>
            <a:ext cx="2329070" cy="365125"/>
          </a:xfrm>
          <a:prstGeom prst="rect">
            <a:avLst/>
          </a:prstGeom>
        </p:spPr>
        <p:txBody>
          <a:bodyPr/>
          <a:lstStyle/>
          <a:p>
            <a:r>
              <a:rPr lang="en-SG" dirty="0"/>
              <a:t>Effective Date: 20 April 2020</a:t>
            </a:r>
            <a:endParaRPr lang="en-US" dirty="0"/>
          </a:p>
        </p:txBody>
      </p:sp>
      <p:sp>
        <p:nvSpPr>
          <p:cNvPr id="7" name="Slide Number Placeholder 6"/>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r>
              <a:rPr lang="en-US" dirty="0"/>
              <a:t> of 60</a:t>
            </a:r>
          </a:p>
        </p:txBody>
      </p:sp>
    </p:spTree>
    <p:extLst>
      <p:ext uri="{BB962C8B-B14F-4D97-AF65-F5344CB8AC3E}">
        <p14:creationId xmlns:p14="http://schemas.microsoft.com/office/powerpoint/2010/main" val="472257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8200" y="134662"/>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a:xfrm>
            <a:off x="9024730" y="6356348"/>
            <a:ext cx="2329070" cy="365125"/>
          </a:xfrm>
          <a:prstGeom prst="rect">
            <a:avLst/>
          </a:prstGeom>
        </p:spPr>
        <p:txBody>
          <a:bodyPr/>
          <a:lstStyle/>
          <a:p>
            <a:r>
              <a:rPr lang="en-SG" dirty="0"/>
              <a:t>Effective Date: 20 April 2020</a:t>
            </a:r>
            <a:endParaRPr lang="en-US" dirty="0"/>
          </a:p>
        </p:txBody>
      </p:sp>
      <p:sp>
        <p:nvSpPr>
          <p:cNvPr id="9" name="Slide Number Placeholder 8"/>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r>
              <a:rPr lang="en-US" dirty="0"/>
              <a:t> of 60</a:t>
            </a:r>
          </a:p>
        </p:txBody>
      </p:sp>
    </p:spTree>
    <p:extLst>
      <p:ext uri="{BB962C8B-B14F-4D97-AF65-F5344CB8AC3E}">
        <p14:creationId xmlns:p14="http://schemas.microsoft.com/office/powerpoint/2010/main" val="275150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179595"/>
            <a:ext cx="10515600" cy="1325563"/>
          </a:xfr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9024730" y="6356348"/>
            <a:ext cx="2329070" cy="365125"/>
          </a:xfrm>
          <a:prstGeom prst="rect">
            <a:avLst/>
          </a:prstGeom>
        </p:spPr>
        <p:txBody>
          <a:bodyPr/>
          <a:lstStyle/>
          <a:p>
            <a:r>
              <a:rPr lang="en-SG" dirty="0"/>
              <a:t>Effective Date: 20 April 2020</a:t>
            </a:r>
            <a:endParaRPr lang="en-US" dirty="0"/>
          </a:p>
        </p:txBody>
      </p:sp>
      <p:sp>
        <p:nvSpPr>
          <p:cNvPr id="5" name="Slide Number Placeholder 4"/>
          <p:cNvSpPr>
            <a:spLocks noGrp="1"/>
          </p:cNvSpPr>
          <p:nvPr>
            <p:ph type="sldNum" sz="quarter" idx="12"/>
          </p:nvPr>
        </p:nvSpPr>
        <p:spPr>
          <a:xfrm>
            <a:off x="4724400" y="6356349"/>
            <a:ext cx="2743200" cy="365125"/>
          </a:xfrm>
          <a:prstGeom prst="rect">
            <a:avLst/>
          </a:prstGeom>
        </p:spPr>
        <p:txBody>
          <a:bodyPr/>
          <a:lstStyle/>
          <a:p>
            <a:r>
              <a:rPr lang="en-US" dirty="0"/>
              <a:t>Page </a:t>
            </a:r>
            <a:fld id="{A862897D-0F50-4425-B5E1-82FAA232DFBF}" type="slidenum">
              <a:rPr lang="en-US" smtClean="0"/>
              <a:pPr/>
              <a:t>‹#›</a:t>
            </a:fld>
            <a:r>
              <a:rPr lang="en-US" dirty="0"/>
              <a:t> of 60</a:t>
            </a:r>
          </a:p>
        </p:txBody>
      </p:sp>
    </p:spTree>
    <p:extLst>
      <p:ext uri="{BB962C8B-B14F-4D97-AF65-F5344CB8AC3E}">
        <p14:creationId xmlns:p14="http://schemas.microsoft.com/office/powerpoint/2010/main" val="412516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a:xfrm>
            <a:off x="9024730" y="6356348"/>
            <a:ext cx="2329070" cy="365125"/>
          </a:xfrm>
          <a:prstGeom prst="rect">
            <a:avLst/>
          </a:prstGeom>
        </p:spPr>
        <p:txBody>
          <a:bodyPr/>
          <a:lstStyle/>
          <a:p>
            <a:r>
              <a:rPr lang="en-SG" dirty="0"/>
              <a:t>Effective Date: 20 April 2020</a:t>
            </a:r>
            <a:endParaRPr lang="en-US" dirty="0"/>
          </a:p>
        </p:txBody>
      </p:sp>
      <p:sp>
        <p:nvSpPr>
          <p:cNvPr id="4" name="Slide Number Placeholder 3"/>
          <p:cNvSpPr>
            <a:spLocks noGrp="1"/>
          </p:cNvSpPr>
          <p:nvPr>
            <p:ph type="sldNum" sz="quarter" idx="12"/>
          </p:nvPr>
        </p:nvSpPr>
        <p:spPr>
          <a:xfrm>
            <a:off x="4724400" y="6356349"/>
            <a:ext cx="2743200" cy="365125"/>
          </a:xfrm>
          <a:prstGeom prst="rect">
            <a:avLst/>
          </a:prstGeom>
        </p:spPr>
        <p:txBody>
          <a:bodyPr/>
          <a:lstStyle/>
          <a:p>
            <a:fld id="{A862897D-0F50-4425-B5E1-82FAA232DFBF}" type="slidenum">
              <a:rPr lang="en-US" smtClean="0"/>
              <a:t>‹#›</a:t>
            </a:fld>
            <a:endParaRPr lang="en-US"/>
          </a:p>
        </p:txBody>
      </p:sp>
    </p:spTree>
    <p:extLst>
      <p:ext uri="{BB962C8B-B14F-4D97-AF65-F5344CB8AC3E}">
        <p14:creationId xmlns:p14="http://schemas.microsoft.com/office/powerpoint/2010/main" val="232513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69068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8" descr="Corporate NYP Logo_Horizontal_RGB"/>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76383" y="161019"/>
            <a:ext cx="2101771" cy="55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9136C8C-C2DC-FF92-41A3-CBC2DB484725}"/>
              </a:ext>
            </a:extLst>
          </p:cNvPr>
          <p:cNvSpPr txBox="1"/>
          <p:nvPr userDrawn="1">
            <p:extLst>
              <p:ext uri="{1162E1C5-73C7-4A58-AE30-91384D911F3F}">
                <p184:classification xmlns:p184="http://schemas.microsoft.com/office/powerpoint/2018/4/main" val="hdr"/>
              </p:ext>
            </p:extLst>
          </p:nvPr>
        </p:nvSpPr>
        <p:spPr>
          <a:xfrm>
            <a:off x="0" y="0"/>
            <a:ext cx="774700" cy="152400"/>
          </a:xfrm>
          <a:prstGeom prst="rect">
            <a:avLst/>
          </a:prstGeom>
        </p:spPr>
        <p:txBody>
          <a:bodyPr horzOverflow="overflow" lIns="0" tIns="0" rIns="0" bIns="0">
            <a:spAutoFit/>
          </a:bodyPr>
          <a:lstStyle/>
          <a:p>
            <a:pPr algn="l"/>
            <a:r>
              <a:rPr lang="en-SG" sz="1000">
                <a:solidFill>
                  <a:srgbClr val="000000"/>
                </a:solidFill>
                <a:latin typeface="Calibri" panose="020F0502020204030204" pitchFamily="34" charset="0"/>
                <a:cs typeface="Calibri" panose="020F0502020204030204" pitchFamily="34" charset="0"/>
              </a:rPr>
              <a:t>Official (Open)</a:t>
            </a:r>
          </a:p>
        </p:txBody>
      </p:sp>
    </p:spTree>
    <p:extLst>
      <p:ext uri="{BB962C8B-B14F-4D97-AF65-F5344CB8AC3E}">
        <p14:creationId xmlns:p14="http://schemas.microsoft.com/office/powerpoint/2010/main" val="3503397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youtu.be/y35j8wb0eBU" TargetMode="External"/><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2.png"/><Relationship Id="rId5" Type="http://schemas.openxmlformats.org/officeDocument/2006/relationships/image" Target="../media/image6.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2.pn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p3"/><Relationship Id="rId1" Type="http://schemas.microsoft.com/office/2007/relationships/media" Target="../media/media12.mp3"/><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audio" Target="../media/media17.mp3"/><Relationship Id="rId13" Type="http://schemas.microsoft.com/office/2007/relationships/media" Target="../media/media20.mp3"/><Relationship Id="rId18" Type="http://schemas.openxmlformats.org/officeDocument/2006/relationships/image" Target="../media/image2.png"/><Relationship Id="rId3" Type="http://schemas.microsoft.com/office/2007/relationships/media" Target="../media/media15.mp3"/><Relationship Id="rId7" Type="http://schemas.microsoft.com/office/2007/relationships/media" Target="../media/media17.mp3"/><Relationship Id="rId12" Type="http://schemas.openxmlformats.org/officeDocument/2006/relationships/audio" Target="../media/media19.mp3"/><Relationship Id="rId17" Type="http://schemas.openxmlformats.org/officeDocument/2006/relationships/slideLayout" Target="../slideLayouts/slideLayout2.xml"/><Relationship Id="rId2" Type="http://schemas.openxmlformats.org/officeDocument/2006/relationships/audio" Target="../media/media14.mp3"/><Relationship Id="rId16" Type="http://schemas.openxmlformats.org/officeDocument/2006/relationships/audio" Target="../media/media21.mp3"/><Relationship Id="rId1" Type="http://schemas.microsoft.com/office/2007/relationships/media" Target="../media/media14.mp3"/><Relationship Id="rId6" Type="http://schemas.openxmlformats.org/officeDocument/2006/relationships/audio" Target="../media/media16.mp3"/><Relationship Id="rId11" Type="http://schemas.microsoft.com/office/2007/relationships/media" Target="../media/media19.mp3"/><Relationship Id="rId5" Type="http://schemas.microsoft.com/office/2007/relationships/media" Target="../media/media16.mp3"/><Relationship Id="rId15" Type="http://schemas.microsoft.com/office/2007/relationships/media" Target="../media/media21.mp3"/><Relationship Id="rId10" Type="http://schemas.openxmlformats.org/officeDocument/2006/relationships/audio" Target="../media/media18.mp3"/><Relationship Id="rId4" Type="http://schemas.openxmlformats.org/officeDocument/2006/relationships/audio" Target="../media/media15.mp3"/><Relationship Id="rId9" Type="http://schemas.microsoft.com/office/2007/relationships/media" Target="../media/media18.mp3"/><Relationship Id="rId14" Type="http://schemas.openxmlformats.org/officeDocument/2006/relationships/audio" Target="../media/media20.mp3"/></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p3"/><Relationship Id="rId1" Type="http://schemas.microsoft.com/office/2007/relationships/media" Target="../media/media22.mp3"/><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microsoft.com/office/2007/relationships/media" Target="../media/media24.mp3"/><Relationship Id="rId7" Type="http://schemas.openxmlformats.org/officeDocument/2006/relationships/image" Target="../media/image2.png"/><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10.png"/><Relationship Id="rId5" Type="http://schemas.openxmlformats.org/officeDocument/2006/relationships/slideLayout" Target="../slideLayouts/slideLayout2.xml"/><Relationship Id="rId4" Type="http://schemas.openxmlformats.org/officeDocument/2006/relationships/audio" Target="../media/media24.mp3"/></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5.mp3"/><Relationship Id="rId1" Type="http://schemas.microsoft.com/office/2007/relationships/media" Target="../media/media25.mp3"/><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2.png"/><Relationship Id="rId5" Type="http://schemas.openxmlformats.org/officeDocument/2006/relationships/image" Target="../media/image11.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hyperlink" Target="https://youtu.be/ymF3ZMlp4f8"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jpeg"/><Relationship Id="rId4" Type="http://schemas.openxmlformats.org/officeDocument/2006/relationships/hyperlink" Target="https://youtu.be/meb4a5oeTDA"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7.mp3"/><Relationship Id="rId1" Type="http://schemas.microsoft.com/office/2007/relationships/media" Target="../media/media27.mp3"/><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mp3"/><Relationship Id="rId1" Type="http://schemas.microsoft.com/office/2007/relationships/media" Target="../media/media28.mp3"/><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9.mp3"/><Relationship Id="rId1" Type="http://schemas.microsoft.com/office/2007/relationships/media" Target="../media/media29.mp3"/><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SG" sz="2800" b="1" dirty="0"/>
              <a:t>Module EGE321</a:t>
            </a:r>
            <a:br>
              <a:rPr lang="en-SG" sz="2800" b="1" dirty="0"/>
            </a:br>
            <a:r>
              <a:rPr lang="en-SG" sz="4000" b="1" dirty="0"/>
              <a:t>Wireless Communication &amp; Networking</a:t>
            </a:r>
            <a:br>
              <a:rPr lang="en-SG" sz="4000" b="1" dirty="0"/>
            </a:br>
            <a:r>
              <a:rPr lang="en-SG" sz="2800" dirty="0"/>
              <a:t>Chapter 2.2 Radio Propagation and Link Budget</a:t>
            </a:r>
            <a:endParaRPr lang="en-US" sz="2800" dirty="0"/>
          </a:p>
        </p:txBody>
      </p:sp>
      <p:sp>
        <p:nvSpPr>
          <p:cNvPr id="9" name="Rectangle 8"/>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3" name="Pg1">
            <a:hlinkClick r:id="" action="ppaction://media"/>
            <a:extLst>
              <a:ext uri="{FF2B5EF4-FFF2-40B4-BE49-F238E27FC236}">
                <a16:creationId xmlns:a16="http://schemas.microsoft.com/office/drawing/2014/main" id="{9A3A4694-E443-4BC5-8336-B4A4CE2ACBA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28485" y="5705262"/>
            <a:ext cx="609600" cy="609600"/>
          </a:xfrm>
          <a:prstGeom prst="rect">
            <a:avLst/>
          </a:prstGeom>
        </p:spPr>
      </p:pic>
    </p:spTree>
    <p:extLst>
      <p:ext uri="{BB962C8B-B14F-4D97-AF65-F5344CB8AC3E}">
        <p14:creationId xmlns:p14="http://schemas.microsoft.com/office/powerpoint/2010/main" val="370396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1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cond evt="onNext"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sz="3200" b="1" dirty="0">
                <a:effectLst>
                  <a:outerShdw blurRad="38100" dist="38100" dir="2700000" algn="tl">
                    <a:srgbClr val="000000">
                      <a:alpha val="43137"/>
                    </a:srgbClr>
                  </a:outerShdw>
                </a:effectLst>
              </a:rPr>
              <a:t>Contents</a:t>
            </a:r>
            <a:r>
              <a:rPr lang="en-SG" sz="3200" dirty="0"/>
              <a:t> </a:t>
            </a:r>
            <a:endParaRPr lang="en-US" sz="3200" dirty="0"/>
          </a:p>
        </p:txBody>
      </p:sp>
      <p:sp>
        <p:nvSpPr>
          <p:cNvPr id="3" name="Content Placeholder 2"/>
          <p:cNvSpPr>
            <a:spLocks noGrp="1"/>
          </p:cNvSpPr>
          <p:nvPr>
            <p:ph idx="1"/>
          </p:nvPr>
        </p:nvSpPr>
        <p:spPr/>
        <p:txBody>
          <a:bodyPr>
            <a:normAutofit/>
          </a:bodyPr>
          <a:lstStyle/>
          <a:p>
            <a:pPr marL="457200" lvl="1" indent="0">
              <a:buNone/>
            </a:pPr>
            <a:r>
              <a:rPr lang="en-SG" dirty="0"/>
              <a:t>2.2		Radio Propagation and Link Budget</a:t>
            </a:r>
          </a:p>
          <a:p>
            <a:pPr marL="457200" lvl="1" indent="0">
              <a:buNone/>
            </a:pPr>
            <a:r>
              <a:rPr lang="en-SG" dirty="0"/>
              <a:t>		2.2.1  	Electromagnetic Wave Propagation</a:t>
            </a:r>
          </a:p>
          <a:p>
            <a:pPr marL="457200" lvl="1" indent="0">
              <a:buNone/>
            </a:pPr>
            <a:r>
              <a:rPr lang="en-SG" dirty="0"/>
              <a:t>		2.2.2	Propagation Path Loss Model</a:t>
            </a:r>
          </a:p>
          <a:p>
            <a:pPr marL="457200" lvl="1" indent="0">
              <a:buNone/>
            </a:pPr>
            <a:r>
              <a:rPr lang="en-SG" dirty="0"/>
              <a:t>		</a:t>
            </a:r>
            <a:r>
              <a:rPr lang="en-SG" b="1" dirty="0">
                <a:highlight>
                  <a:srgbClr val="00FF00"/>
                </a:highlight>
              </a:rPr>
              <a:t>2.2.3	Link Performance Analysis</a:t>
            </a:r>
          </a:p>
          <a:p>
            <a:pPr marL="457200" lvl="1" indent="0">
              <a:buNone/>
            </a:pPr>
            <a:r>
              <a:rPr lang="en-SG" dirty="0"/>
              <a:t>		</a:t>
            </a:r>
            <a:endParaRPr lang="en-US" dirty="0"/>
          </a:p>
        </p:txBody>
      </p:sp>
      <p:sp>
        <p:nvSpPr>
          <p:cNvPr id="9" name="Rectangle 8">
            <a:extLst>
              <a:ext uri="{FF2B5EF4-FFF2-40B4-BE49-F238E27FC236}">
                <a16:creationId xmlns:a16="http://schemas.microsoft.com/office/drawing/2014/main" id="{BFE29A67-AA8A-407E-8B4C-D1AC022121F0}"/>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4" name="Pg2">
            <a:hlinkClick r:id="" action="ppaction://media"/>
            <a:extLst>
              <a:ext uri="{FF2B5EF4-FFF2-40B4-BE49-F238E27FC236}">
                <a16:creationId xmlns:a16="http://schemas.microsoft.com/office/drawing/2014/main" id="{ABBD59B8-3157-4DBE-9916-B226A98E16E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48406" y="5709010"/>
            <a:ext cx="609600" cy="609600"/>
          </a:xfrm>
          <a:prstGeom prst="rect">
            <a:avLst/>
          </a:prstGeom>
        </p:spPr>
      </p:pic>
    </p:spTree>
    <p:extLst>
      <p:ext uri="{BB962C8B-B14F-4D97-AF65-F5344CB8AC3E}">
        <p14:creationId xmlns:p14="http://schemas.microsoft.com/office/powerpoint/2010/main" val="164941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91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Electromagnetic Wave Propagation</a:t>
            </a:r>
          </a:p>
          <a:p>
            <a:pPr fontAlgn="auto">
              <a:spcAft>
                <a:spcPts val="0"/>
              </a:spcAft>
            </a:pPr>
            <a:r>
              <a:rPr lang="en-SG" sz="2400" b="1" dirty="0">
                <a:solidFill>
                  <a:srgbClr val="C00000"/>
                </a:solidFill>
                <a:latin typeface="Arial Black" panose="020B0A04020102020204" pitchFamily="34" charset="0"/>
              </a:rPr>
              <a:t>Radio Propagation Model – EIRP</a:t>
            </a:r>
          </a:p>
        </p:txBody>
      </p:sp>
      <p:sp>
        <p:nvSpPr>
          <p:cNvPr id="18" name="Rectangle 17">
            <a:extLst>
              <a:ext uri="{FF2B5EF4-FFF2-40B4-BE49-F238E27FC236}">
                <a16:creationId xmlns:a16="http://schemas.microsoft.com/office/drawing/2014/main" id="{16D1EF6C-1E76-470A-A62C-77527583A9C9}"/>
              </a:ext>
            </a:extLst>
          </p:cNvPr>
          <p:cNvSpPr/>
          <p:nvPr/>
        </p:nvSpPr>
        <p:spPr>
          <a:xfrm>
            <a:off x="6510590" y="4900295"/>
            <a:ext cx="1026417" cy="67559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SG" sz="1800" kern="1200">
                <a:solidFill>
                  <a:srgbClr val="000000"/>
                </a:solidFill>
                <a:effectLst/>
                <a:ea typeface="SimSun" panose="02010600030101010101" pitchFamily="2" charset="-122"/>
                <a:cs typeface="Times New Roman" panose="02020603050405020304" pitchFamily="18" charset="0"/>
              </a:rPr>
              <a:t>Tx</a:t>
            </a:r>
            <a:endParaRPr lang="en-US" sz="1200">
              <a:effectLst/>
              <a:latin typeface="Times New Roman" panose="02020603050405020304" pitchFamily="18" charset="0"/>
              <a:ea typeface="SimSun" panose="02010600030101010101" pitchFamily="2" charset="-122"/>
            </a:endParaRPr>
          </a:p>
        </p:txBody>
      </p:sp>
      <p:cxnSp>
        <p:nvCxnSpPr>
          <p:cNvPr id="19" name="Straight Connector 18">
            <a:extLst>
              <a:ext uri="{FF2B5EF4-FFF2-40B4-BE49-F238E27FC236}">
                <a16:creationId xmlns:a16="http://schemas.microsoft.com/office/drawing/2014/main" id="{80305DD2-1286-4260-AA4E-D6A989D4249D}"/>
              </a:ext>
            </a:extLst>
          </p:cNvPr>
          <p:cNvCxnSpPr>
            <a:stCxn id="18" idx="3"/>
          </p:cNvCxnSpPr>
          <p:nvPr/>
        </p:nvCxnSpPr>
        <p:spPr>
          <a:xfrm flipV="1">
            <a:off x="7537007" y="5230586"/>
            <a:ext cx="191597" cy="75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AD12F3A-A243-4D9A-88A2-CA513C800414}"/>
              </a:ext>
            </a:extLst>
          </p:cNvPr>
          <p:cNvSpPr/>
          <p:nvPr/>
        </p:nvSpPr>
        <p:spPr>
          <a:xfrm>
            <a:off x="7742289" y="5170533"/>
            <a:ext cx="2080205" cy="105093"/>
          </a:xfrm>
          <a:prstGeom prst="rect">
            <a:avLst/>
          </a:prstGeom>
          <a:solidFill>
            <a:schemeClr val="tx2"/>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1" name="Straight Connector 20">
            <a:extLst>
              <a:ext uri="{FF2B5EF4-FFF2-40B4-BE49-F238E27FC236}">
                <a16:creationId xmlns:a16="http://schemas.microsoft.com/office/drawing/2014/main" id="{C782AB26-A9C7-463A-959F-E0B317A3DEF0}"/>
              </a:ext>
            </a:extLst>
          </p:cNvPr>
          <p:cNvCxnSpPr/>
          <p:nvPr/>
        </p:nvCxnSpPr>
        <p:spPr>
          <a:xfrm flipV="1">
            <a:off x="9827057" y="5220579"/>
            <a:ext cx="191597" cy="750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81A7FB-4555-4B26-82BB-0080C1F28BDD}"/>
              </a:ext>
            </a:extLst>
          </p:cNvPr>
          <p:cNvCxnSpPr/>
          <p:nvPr/>
        </p:nvCxnSpPr>
        <p:spPr>
          <a:xfrm flipH="1" flipV="1">
            <a:off x="9973036" y="4344807"/>
            <a:ext cx="13685" cy="8857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Isosceles Triangle 22">
            <a:extLst>
              <a:ext uri="{FF2B5EF4-FFF2-40B4-BE49-F238E27FC236}">
                <a16:creationId xmlns:a16="http://schemas.microsoft.com/office/drawing/2014/main" id="{CE9535E7-E28E-4E91-9252-AA923097751B}"/>
              </a:ext>
            </a:extLst>
          </p:cNvPr>
          <p:cNvSpPr/>
          <p:nvPr/>
        </p:nvSpPr>
        <p:spPr>
          <a:xfrm rot="10800000">
            <a:off x="9589839" y="3714253"/>
            <a:ext cx="766392" cy="630554"/>
          </a:xfrm>
          <a:prstGeom prst="triangle">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TextBox 12">
            <a:extLst>
              <a:ext uri="{FF2B5EF4-FFF2-40B4-BE49-F238E27FC236}">
                <a16:creationId xmlns:a16="http://schemas.microsoft.com/office/drawing/2014/main" id="{59AEC7F8-E8C0-4A96-A093-4B59A2728570}"/>
              </a:ext>
            </a:extLst>
          </p:cNvPr>
          <p:cNvSpPr txBox="1"/>
          <p:nvPr/>
        </p:nvSpPr>
        <p:spPr>
          <a:xfrm>
            <a:off x="6415790" y="5575903"/>
            <a:ext cx="1312835" cy="780445"/>
          </a:xfrm>
          <a:prstGeom prst="rect">
            <a:avLst/>
          </a:prstGeom>
          <a:noFill/>
        </p:spPr>
        <p:txBody>
          <a:bodyPr wrap="square" rtlCol="0">
            <a:noAutofit/>
          </a:bodyPr>
          <a:lstStyle/>
          <a:p>
            <a:pPr marL="0" marR="0">
              <a:spcBef>
                <a:spcPts val="0"/>
              </a:spcBef>
              <a:spcAft>
                <a:spcPts val="0"/>
              </a:spcAft>
            </a:pP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P</a:t>
            </a:r>
            <a:r>
              <a:rPr lang="en-SG" sz="1400" kern="1200" baseline="-250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T</a:t>
            </a: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 1 W</a:t>
            </a:r>
            <a:endParaRPr lang="en-US" sz="1200">
              <a:effectLst/>
              <a:latin typeface="Times New Roman" panose="02020603050405020304" pitchFamily="18" charset="0"/>
              <a:ea typeface="SimSun" panose="02010600030101010101" pitchFamily="2" charset="-122"/>
            </a:endParaRPr>
          </a:p>
        </p:txBody>
      </p:sp>
      <p:sp>
        <p:nvSpPr>
          <p:cNvPr id="25" name="TextBox 13">
            <a:extLst>
              <a:ext uri="{FF2B5EF4-FFF2-40B4-BE49-F238E27FC236}">
                <a16:creationId xmlns:a16="http://schemas.microsoft.com/office/drawing/2014/main" id="{F52DB3EC-1FFF-4307-8277-22E8E3A9CC6B}"/>
              </a:ext>
            </a:extLst>
          </p:cNvPr>
          <p:cNvSpPr txBox="1"/>
          <p:nvPr/>
        </p:nvSpPr>
        <p:spPr>
          <a:xfrm>
            <a:off x="8334331" y="5274934"/>
            <a:ext cx="1933739" cy="653115"/>
          </a:xfrm>
          <a:prstGeom prst="rect">
            <a:avLst/>
          </a:prstGeom>
          <a:noFill/>
        </p:spPr>
        <p:txBody>
          <a:bodyPr wrap="square" rtlCol="0">
            <a:noAutofit/>
          </a:bodyPr>
          <a:lstStyle/>
          <a:p>
            <a:pPr marL="0" marR="0">
              <a:spcBef>
                <a:spcPts val="0"/>
              </a:spcBef>
              <a:spcAft>
                <a:spcPts val="0"/>
              </a:spcAft>
            </a:pP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L</a:t>
            </a:r>
            <a:r>
              <a:rPr lang="en-SG" sz="1400" kern="1200" baseline="-250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f</a:t>
            </a: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 1 dB</a:t>
            </a:r>
            <a:endParaRPr lang="en-US" sz="1200">
              <a:effectLst/>
              <a:latin typeface="Times New Roman" panose="02020603050405020304" pitchFamily="18" charset="0"/>
              <a:ea typeface="SimSun" panose="02010600030101010101" pitchFamily="2" charset="-122"/>
            </a:endParaRPr>
          </a:p>
        </p:txBody>
      </p:sp>
      <p:sp>
        <p:nvSpPr>
          <p:cNvPr id="26" name="TextBox 14">
            <a:extLst>
              <a:ext uri="{FF2B5EF4-FFF2-40B4-BE49-F238E27FC236}">
                <a16:creationId xmlns:a16="http://schemas.microsoft.com/office/drawing/2014/main" id="{38DF3824-140B-4542-A59A-913F236A06FE}"/>
              </a:ext>
            </a:extLst>
          </p:cNvPr>
          <p:cNvSpPr txBox="1"/>
          <p:nvPr/>
        </p:nvSpPr>
        <p:spPr>
          <a:xfrm>
            <a:off x="8691600" y="3727982"/>
            <a:ext cx="1631854" cy="631194"/>
          </a:xfrm>
          <a:prstGeom prst="rect">
            <a:avLst/>
          </a:prstGeom>
          <a:noFill/>
        </p:spPr>
        <p:txBody>
          <a:bodyPr wrap="square" rtlCol="0">
            <a:noAutofit/>
          </a:bodyPr>
          <a:lstStyle/>
          <a:p>
            <a:pPr marL="0" marR="0">
              <a:spcBef>
                <a:spcPts val="0"/>
              </a:spcBef>
              <a:spcAft>
                <a:spcPts val="0"/>
              </a:spcAft>
            </a:pPr>
            <a:r>
              <a:rPr lang="en-SG" sz="1400" kern="12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G</a:t>
            </a:r>
            <a:r>
              <a:rPr lang="en-SG" sz="1400" kern="1200" baseline="-250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T</a:t>
            </a:r>
            <a:r>
              <a:rPr lang="en-SG" sz="1400" kern="1200" dirty="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 30 dB</a:t>
            </a:r>
            <a:endParaRPr lang="en-US" sz="1200" dirty="0">
              <a:effectLst/>
              <a:latin typeface="Times New Roman" panose="02020603050405020304" pitchFamily="18" charset="0"/>
              <a:ea typeface="SimSun" panose="02010600030101010101" pitchFamily="2" charset="-122"/>
            </a:endParaRPr>
          </a:p>
        </p:txBody>
      </p:sp>
      <p:sp>
        <p:nvSpPr>
          <p:cNvPr id="27" name="TextBox 15">
            <a:extLst>
              <a:ext uri="{FF2B5EF4-FFF2-40B4-BE49-F238E27FC236}">
                <a16:creationId xmlns:a16="http://schemas.microsoft.com/office/drawing/2014/main" id="{660E8BB2-E45C-4369-B31F-D2F661034914}"/>
              </a:ext>
            </a:extLst>
          </p:cNvPr>
          <p:cNvSpPr txBox="1"/>
          <p:nvPr/>
        </p:nvSpPr>
        <p:spPr>
          <a:xfrm>
            <a:off x="10383522" y="3429000"/>
            <a:ext cx="1277320" cy="529667"/>
          </a:xfrm>
          <a:prstGeom prst="rect">
            <a:avLst/>
          </a:prstGeom>
          <a:noFill/>
        </p:spPr>
        <p:txBody>
          <a:bodyPr wrap="square" rtlCol="0">
            <a:noAutofit/>
          </a:bodyPr>
          <a:lstStyle/>
          <a:p>
            <a:pPr marL="0" marR="0">
              <a:spcBef>
                <a:spcPts val="0"/>
              </a:spcBef>
              <a:spcAft>
                <a:spcPts val="0"/>
              </a:spcAft>
            </a:pPr>
            <a:r>
              <a:rPr lang="en-SG" sz="3600" kern="12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EIRP</a:t>
            </a:r>
            <a:endParaRPr lang="en-US" sz="3600" dirty="0">
              <a:solidFill>
                <a:srgbClr val="FF0000"/>
              </a:solidFill>
              <a:effectLst/>
              <a:latin typeface="Times New Roman" panose="02020603050405020304" pitchFamily="18" charset="0"/>
              <a:ea typeface="SimSun" panose="02010600030101010101" pitchFamily="2" charset="-122"/>
            </a:endParaRPr>
          </a:p>
        </p:txBody>
      </p:sp>
      <p:sp>
        <p:nvSpPr>
          <p:cNvPr id="28" name="Rectangle 27">
            <a:extLst>
              <a:ext uri="{FF2B5EF4-FFF2-40B4-BE49-F238E27FC236}">
                <a16:creationId xmlns:a16="http://schemas.microsoft.com/office/drawing/2014/main" id="{20908E02-83F6-4EF7-A2EB-0BB6AC38C3BA}"/>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sp>
        <p:nvSpPr>
          <p:cNvPr id="3" name="Rectangle 2">
            <a:extLst>
              <a:ext uri="{FF2B5EF4-FFF2-40B4-BE49-F238E27FC236}">
                <a16:creationId xmlns:a16="http://schemas.microsoft.com/office/drawing/2014/main" id="{5A6DFA88-EDA6-437D-989C-08B402823D65}"/>
              </a:ext>
            </a:extLst>
          </p:cNvPr>
          <p:cNvSpPr/>
          <p:nvPr/>
        </p:nvSpPr>
        <p:spPr>
          <a:xfrm>
            <a:off x="718516" y="1160128"/>
            <a:ext cx="10754968" cy="3600986"/>
          </a:xfrm>
          <a:prstGeom prst="rect">
            <a:avLst/>
          </a:prstGeom>
        </p:spPr>
        <p:txBody>
          <a:bodyPr wrap="square">
            <a:spAutoFit/>
          </a:bodyPr>
          <a:lstStyle/>
          <a:p>
            <a:r>
              <a:rPr lang="en-SG" sz="2400" b="1" dirty="0">
                <a:solidFill>
                  <a:srgbClr val="FF0000"/>
                </a:solidFill>
              </a:rPr>
              <a:t>E</a:t>
            </a:r>
            <a:r>
              <a:rPr lang="en-SG" sz="2400" dirty="0"/>
              <a:t>ffective, or </a:t>
            </a:r>
            <a:r>
              <a:rPr lang="en-SG" sz="2400" b="1" dirty="0">
                <a:solidFill>
                  <a:srgbClr val="FF0000"/>
                </a:solidFill>
              </a:rPr>
              <a:t>E</a:t>
            </a:r>
            <a:r>
              <a:rPr lang="en-SG" sz="2400" dirty="0"/>
              <a:t>quivalent, </a:t>
            </a:r>
            <a:r>
              <a:rPr lang="en-SG" sz="2400" b="1" dirty="0" err="1">
                <a:solidFill>
                  <a:srgbClr val="FF0000"/>
                </a:solidFill>
              </a:rPr>
              <a:t>I</a:t>
            </a:r>
            <a:r>
              <a:rPr lang="en-SG" sz="2400" dirty="0" err="1"/>
              <a:t>sotropically</a:t>
            </a:r>
            <a:r>
              <a:rPr lang="en-SG" sz="2400" dirty="0"/>
              <a:t> </a:t>
            </a:r>
            <a:r>
              <a:rPr lang="en-SG" sz="2400" b="1" dirty="0">
                <a:solidFill>
                  <a:srgbClr val="FF0000"/>
                </a:solidFill>
              </a:rPr>
              <a:t>R</a:t>
            </a:r>
            <a:r>
              <a:rPr lang="en-SG" sz="2400" dirty="0"/>
              <a:t>adiated </a:t>
            </a:r>
            <a:r>
              <a:rPr lang="en-SG" sz="2400" b="1" dirty="0">
                <a:solidFill>
                  <a:srgbClr val="FF0000"/>
                </a:solidFill>
              </a:rPr>
              <a:t>P</a:t>
            </a:r>
            <a:r>
              <a:rPr lang="en-SG" sz="2400" dirty="0"/>
              <a:t>ower (</a:t>
            </a:r>
            <a:r>
              <a:rPr lang="en-SG" sz="2400" b="1" dirty="0">
                <a:solidFill>
                  <a:srgbClr val="FF0000"/>
                </a:solidFill>
              </a:rPr>
              <a:t>EIRP</a:t>
            </a:r>
            <a:r>
              <a:rPr lang="en-SG" sz="2400" dirty="0"/>
              <a:t>) is the maximum amount of power that could be radiated from an antenna, given its antenna gain and the transmitter power of the RF system. EIRP is most commonly given in dB or dBm.</a:t>
            </a:r>
            <a:endParaRPr lang="en-US" sz="2400" dirty="0"/>
          </a:p>
          <a:p>
            <a:endParaRPr lang="en-US" sz="2400" b="1" dirty="0"/>
          </a:p>
          <a:p>
            <a:r>
              <a:rPr lang="en-US" sz="2400" dirty="0"/>
              <a:t>The diagram shows the location of EIRP and the equations to compute the EIRP is as following:</a:t>
            </a:r>
            <a:endParaRPr lang="en-US" dirty="0"/>
          </a:p>
          <a:p>
            <a:pPr lvl="1">
              <a:buFont typeface="Symbol" pitchFamily="18" charset="2"/>
              <a:buNone/>
            </a:pPr>
            <a:endParaRPr lang="en-US" b="1" dirty="0"/>
          </a:p>
          <a:p>
            <a:pPr lvl="1">
              <a:buFont typeface="Symbol" pitchFamily="18" charset="2"/>
              <a:buNone/>
            </a:pPr>
            <a:endParaRPr lang="en-US" b="1" dirty="0"/>
          </a:p>
          <a:p>
            <a:pPr lvl="1">
              <a:buFont typeface="Symbol" pitchFamily="18" charset="2"/>
              <a:buNone/>
            </a:pPr>
            <a:r>
              <a:rPr lang="en-US" sz="2400" b="1" dirty="0"/>
              <a:t>EIRP = P</a:t>
            </a:r>
            <a:r>
              <a:rPr lang="en-US" sz="2400" b="1" baseline="-25000" dirty="0"/>
              <a:t>T</a:t>
            </a:r>
            <a:r>
              <a:rPr lang="en-US" sz="2400" b="1" dirty="0"/>
              <a:t>G</a:t>
            </a:r>
            <a:r>
              <a:rPr lang="en-US" sz="2400" b="1" baseline="-25000" dirty="0"/>
              <a:t>T </a:t>
            </a:r>
            <a:r>
              <a:rPr lang="en-US" sz="2400" b="1" dirty="0"/>
              <a:t>(watts)</a:t>
            </a:r>
          </a:p>
          <a:p>
            <a:pPr lvl="1">
              <a:buFont typeface="Symbol" pitchFamily="18" charset="2"/>
              <a:buNone/>
            </a:pPr>
            <a:r>
              <a:rPr lang="en-US" sz="2400" b="1" dirty="0"/>
              <a:t>EIRP (dBm) = P</a:t>
            </a:r>
            <a:r>
              <a:rPr lang="en-US" sz="2400" b="1" baseline="-25000" dirty="0"/>
              <a:t>T</a:t>
            </a:r>
            <a:r>
              <a:rPr lang="en-US" sz="2400" b="1" dirty="0"/>
              <a:t> (dBm) + G</a:t>
            </a:r>
            <a:r>
              <a:rPr lang="en-US" sz="2400" b="1" baseline="-25000" dirty="0"/>
              <a:t>T</a:t>
            </a:r>
            <a:r>
              <a:rPr lang="en-US" sz="2400" b="1" dirty="0"/>
              <a:t> (dB)</a:t>
            </a:r>
            <a:endParaRPr lang="en-US" sz="2400" b="1" baseline="-25000" dirty="0"/>
          </a:p>
        </p:txBody>
      </p:sp>
      <p:pic>
        <p:nvPicPr>
          <p:cNvPr id="4" name="Pg27">
            <a:hlinkClick r:id="" action="ppaction://media"/>
            <a:extLst>
              <a:ext uri="{FF2B5EF4-FFF2-40B4-BE49-F238E27FC236}">
                <a16:creationId xmlns:a16="http://schemas.microsoft.com/office/drawing/2014/main" id="{509DCA70-FE3B-41E1-AEB6-20DE3E58B8A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18654" y="5746748"/>
            <a:ext cx="609600" cy="609600"/>
          </a:xfrm>
          <a:prstGeom prst="rect">
            <a:avLst/>
          </a:prstGeom>
        </p:spPr>
      </p:pic>
      <p:sp>
        <p:nvSpPr>
          <p:cNvPr id="2" name="Rectangle 1">
            <a:extLst>
              <a:ext uri="{FF2B5EF4-FFF2-40B4-BE49-F238E27FC236}">
                <a16:creationId xmlns:a16="http://schemas.microsoft.com/office/drawing/2014/main" id="{AFCDF5C3-9F39-0285-8968-BDCFB46D4214}"/>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30198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mph" presetSubtype="0" repeatCount="indefinite" fill="remove" nodeType="withEffect">
                                  <p:stCondLst>
                                    <p:cond delay="0"/>
                                  </p:stCondLst>
                                  <p:endCondLst>
                                    <p:cond evt="onNext" delay="0">
                                      <p:tgtEl>
                                        <p:sldTgt/>
                                      </p:tgtEl>
                                    </p:cond>
                                  </p:endCondLst>
                                  <p:childTnLst>
                                    <p:animClr clrSpc="rgb" dir="cw">
                                      <p:cBhvr override="childStyle">
                                        <p:cTn id="6" dur="250" autoRev="1" fill="remove"/>
                                        <p:tgtEl>
                                          <p:spTgt spid="27">
                                            <p:txEl>
                                              <p:pRg st="0" end="0"/>
                                            </p:txEl>
                                          </p:spTgt>
                                        </p:tgtEl>
                                        <p:attrNameLst>
                                          <p:attrName>style.color</p:attrName>
                                        </p:attrNameLst>
                                      </p:cBhvr>
                                      <p:to>
                                        <a:schemeClr val="bg1"/>
                                      </p:to>
                                    </p:animClr>
                                    <p:animClr clrSpc="rgb" dir="cw">
                                      <p:cBhvr>
                                        <p:cTn id="7" dur="250" autoRev="1" fill="remove"/>
                                        <p:tgtEl>
                                          <p:spTgt spid="27">
                                            <p:txEl>
                                              <p:pRg st="0" end="0"/>
                                            </p:txEl>
                                          </p:spTgt>
                                        </p:tgtEl>
                                        <p:attrNameLst>
                                          <p:attrName>fillcolor</p:attrName>
                                        </p:attrNameLst>
                                      </p:cBhvr>
                                      <p:to>
                                        <a:schemeClr val="bg1"/>
                                      </p:to>
                                    </p:animClr>
                                    <p:set>
                                      <p:cBhvr>
                                        <p:cTn id="8" dur="250" autoRev="1" fill="remove"/>
                                        <p:tgtEl>
                                          <p:spTgt spid="27">
                                            <p:txEl>
                                              <p:pRg st="0" end="0"/>
                                            </p:txEl>
                                          </p:spTgt>
                                        </p:tgtEl>
                                        <p:attrNameLst>
                                          <p:attrName>fill.type</p:attrName>
                                        </p:attrNameLst>
                                      </p:cBhvr>
                                      <p:to>
                                        <p:strVal val="solid"/>
                                      </p:to>
                                    </p:set>
                                    <p:set>
                                      <p:cBhvr>
                                        <p:cTn id="9" dur="250" autoRev="1" fill="remove"/>
                                        <p:tgtEl>
                                          <p:spTgt spid="27">
                                            <p:txEl>
                                              <p:pRg st="0" end="0"/>
                                            </p:txEl>
                                          </p:spTgt>
                                        </p:tgtEl>
                                        <p:attrNameLst>
                                          <p:attrName>fill.on</p:attrName>
                                        </p:attrNameLst>
                                      </p:cBhvr>
                                      <p:to>
                                        <p:strVal val="true"/>
                                      </p:to>
                                    </p:set>
                                  </p:childTnLst>
                                </p:cTn>
                              </p:par>
                              <p:par>
                                <p:cTn id="10" presetID="1" presetClass="mediacall" presetSubtype="0" fill="hold" nodeType="withEffect">
                                  <p:stCondLst>
                                    <p:cond delay="0"/>
                                  </p:stCondLst>
                                  <p:childTnLst>
                                    <p:cmd type="call" cmd="playFrom(0.0)">
                                      <p:cBhvr>
                                        <p:cTn id="11" dur="4362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2"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4"/>
          <p:cNvSpPr txBox="1">
            <a:spLocks noChangeArrowheads="1"/>
          </p:cNvSpPr>
          <p:nvPr/>
        </p:nvSpPr>
        <p:spPr bwMode="auto">
          <a:xfrm>
            <a:off x="432270" y="1005184"/>
            <a:ext cx="11469678" cy="2209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wrap="square">
            <a:spAutoFit/>
          </a:bodyPr>
          <a:lstStyle>
            <a:lvl1pPr>
              <a:defRPr kumimoji="1" sz="1600">
                <a:solidFill>
                  <a:srgbClr val="003399"/>
                </a:solidFill>
                <a:latin typeface="Comic Sans MS" pitchFamily="66" charset="0"/>
              </a:defRPr>
            </a:lvl1pPr>
            <a:lvl2pPr marL="742950" indent="-285750">
              <a:defRPr kumimoji="1" sz="1600">
                <a:solidFill>
                  <a:srgbClr val="003399"/>
                </a:solidFill>
                <a:latin typeface="Comic Sans MS" pitchFamily="66" charset="0"/>
              </a:defRPr>
            </a:lvl2pPr>
            <a:lvl3pPr marL="1143000" indent="-228600">
              <a:defRPr kumimoji="1" sz="1600">
                <a:solidFill>
                  <a:srgbClr val="003399"/>
                </a:solidFill>
                <a:latin typeface="Comic Sans MS" pitchFamily="66" charset="0"/>
              </a:defRPr>
            </a:lvl3pPr>
            <a:lvl4pPr marL="1600200" indent="-228600">
              <a:defRPr kumimoji="1" sz="1600">
                <a:solidFill>
                  <a:srgbClr val="003399"/>
                </a:solidFill>
                <a:latin typeface="Comic Sans MS" pitchFamily="66" charset="0"/>
              </a:defRPr>
            </a:lvl4pPr>
            <a:lvl5pPr marL="2057400" indent="-228600">
              <a:defRPr kumimoji="1" sz="1600">
                <a:solidFill>
                  <a:srgbClr val="003399"/>
                </a:solidFill>
                <a:latin typeface="Comic Sans MS" pitchFamily="66" charset="0"/>
              </a:defRPr>
            </a:lvl5pPr>
            <a:lvl6pPr marL="2514600" indent="-228600" eaLnBrk="0" fontAlgn="base" hangingPunct="0">
              <a:spcBef>
                <a:spcPct val="0"/>
              </a:spcBef>
              <a:spcAft>
                <a:spcPct val="0"/>
              </a:spcAft>
              <a:defRPr kumimoji="1" sz="1600">
                <a:solidFill>
                  <a:srgbClr val="003399"/>
                </a:solidFill>
                <a:latin typeface="Comic Sans MS" pitchFamily="66" charset="0"/>
              </a:defRPr>
            </a:lvl6pPr>
            <a:lvl7pPr marL="2971800" indent="-228600" eaLnBrk="0" fontAlgn="base" hangingPunct="0">
              <a:spcBef>
                <a:spcPct val="0"/>
              </a:spcBef>
              <a:spcAft>
                <a:spcPct val="0"/>
              </a:spcAft>
              <a:defRPr kumimoji="1" sz="1600">
                <a:solidFill>
                  <a:srgbClr val="003399"/>
                </a:solidFill>
                <a:latin typeface="Comic Sans MS" pitchFamily="66" charset="0"/>
              </a:defRPr>
            </a:lvl7pPr>
            <a:lvl8pPr marL="3429000" indent="-228600" eaLnBrk="0" fontAlgn="base" hangingPunct="0">
              <a:spcBef>
                <a:spcPct val="0"/>
              </a:spcBef>
              <a:spcAft>
                <a:spcPct val="0"/>
              </a:spcAft>
              <a:defRPr kumimoji="1" sz="1600">
                <a:solidFill>
                  <a:srgbClr val="003399"/>
                </a:solidFill>
                <a:latin typeface="Comic Sans MS" pitchFamily="66" charset="0"/>
              </a:defRPr>
            </a:lvl8pPr>
            <a:lvl9pPr marL="3886200" indent="-228600" eaLnBrk="0" fontAlgn="base" hangingPunct="0">
              <a:spcBef>
                <a:spcPct val="0"/>
              </a:spcBef>
              <a:spcAft>
                <a:spcPct val="0"/>
              </a:spcAft>
              <a:defRPr kumimoji="1" sz="1600">
                <a:solidFill>
                  <a:srgbClr val="003399"/>
                </a:solidFill>
                <a:latin typeface="Comic Sans MS" pitchFamily="66" charset="0"/>
              </a:defRPr>
            </a:lvl9pPr>
          </a:lstStyle>
          <a:p>
            <a:pPr>
              <a:spcBef>
                <a:spcPct val="20000"/>
              </a:spcBef>
            </a:pPr>
            <a:r>
              <a:rPr lang="en-US" altLang="zh-CN" sz="3200" dirty="0">
                <a:solidFill>
                  <a:srgbClr val="C00000"/>
                </a:solidFill>
                <a:latin typeface="+mn-lt"/>
                <a:ea typeface="宋体" pitchFamily="2" charset="-122"/>
              </a:rPr>
              <a:t>Example</a:t>
            </a:r>
          </a:p>
          <a:p>
            <a:pPr>
              <a:spcBef>
                <a:spcPct val="20000"/>
              </a:spcBef>
            </a:pPr>
            <a:endParaRPr lang="en-US" sz="1200" dirty="0">
              <a:solidFill>
                <a:srgbClr val="C00000"/>
              </a:solidFill>
              <a:latin typeface="+mn-lt"/>
              <a:ea typeface="宋体" pitchFamily="2" charset="-122"/>
            </a:endParaRPr>
          </a:p>
          <a:p>
            <a:pPr>
              <a:spcBef>
                <a:spcPct val="20000"/>
              </a:spcBef>
            </a:pPr>
            <a:r>
              <a:rPr lang="en-US" sz="2400" dirty="0">
                <a:latin typeface="+mn-lt"/>
              </a:rPr>
              <a:t>Calculate the EIRP of a microwave transmitting installation where the transmitter output power is 1 W, the total feeder cable loss is 1 dB, and the transmitting antenna gain is 30dB.</a:t>
            </a:r>
          </a:p>
          <a:p>
            <a:pPr>
              <a:spcBef>
                <a:spcPct val="20000"/>
              </a:spcBef>
            </a:pPr>
            <a:endParaRPr lang="en-GB" sz="3200" dirty="0">
              <a:solidFill>
                <a:srgbClr val="C00000"/>
              </a:solidFill>
              <a:latin typeface="+mn-lt"/>
            </a:endParaRPr>
          </a:p>
        </p:txBody>
      </p:sp>
      <p:sp>
        <p:nvSpPr>
          <p:cNvPr id="10"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Electromagnetic Wave Propagation</a:t>
            </a:r>
          </a:p>
          <a:p>
            <a:pPr fontAlgn="auto">
              <a:spcAft>
                <a:spcPts val="0"/>
              </a:spcAft>
            </a:pPr>
            <a:r>
              <a:rPr lang="en-SG" sz="2400" b="1" dirty="0">
                <a:solidFill>
                  <a:srgbClr val="C00000"/>
                </a:solidFill>
                <a:latin typeface="Arial Black" panose="020B0A04020102020204" pitchFamily="34" charset="0"/>
              </a:rPr>
              <a:t>Radio Propagation Model – EIRP</a:t>
            </a:r>
          </a:p>
        </p:txBody>
      </p:sp>
      <p:grpSp>
        <p:nvGrpSpPr>
          <p:cNvPr id="17" name="Group 16">
            <a:extLst>
              <a:ext uri="{FF2B5EF4-FFF2-40B4-BE49-F238E27FC236}">
                <a16:creationId xmlns:a16="http://schemas.microsoft.com/office/drawing/2014/main" id="{30167BD5-2CB8-4065-8398-D32F9E90AF23}"/>
              </a:ext>
            </a:extLst>
          </p:cNvPr>
          <p:cNvGrpSpPr/>
          <p:nvPr/>
        </p:nvGrpSpPr>
        <p:grpSpPr>
          <a:xfrm>
            <a:off x="7337768" y="3041594"/>
            <a:ext cx="4053252" cy="2209836"/>
            <a:chOff x="-102162" y="0"/>
            <a:chExt cx="5652386" cy="2875712"/>
          </a:xfrm>
        </p:grpSpPr>
        <p:sp>
          <p:nvSpPr>
            <p:cNvPr id="18" name="Rectangle 17">
              <a:extLst>
                <a:ext uri="{FF2B5EF4-FFF2-40B4-BE49-F238E27FC236}">
                  <a16:creationId xmlns:a16="http://schemas.microsoft.com/office/drawing/2014/main" id="{16D1EF6C-1E76-470A-A62C-77527583A9C9}"/>
                </a:ext>
              </a:extLst>
            </p:cNvPr>
            <p:cNvSpPr/>
            <p:nvPr/>
          </p:nvSpPr>
          <p:spPr>
            <a:xfrm>
              <a:off x="0" y="1445343"/>
              <a:ext cx="1106129" cy="663678"/>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SG" sz="1800" kern="1200">
                  <a:solidFill>
                    <a:srgbClr val="000000"/>
                  </a:solidFill>
                  <a:effectLst/>
                  <a:ea typeface="SimSun" panose="02010600030101010101" pitchFamily="2" charset="-122"/>
                  <a:cs typeface="Times New Roman" panose="02020603050405020304" pitchFamily="18" charset="0"/>
                </a:rPr>
                <a:t>Tx</a:t>
              </a:r>
              <a:endParaRPr lang="en-US" sz="1200">
                <a:effectLst/>
                <a:latin typeface="Times New Roman" panose="02020603050405020304" pitchFamily="18" charset="0"/>
                <a:ea typeface="SimSun" panose="02010600030101010101" pitchFamily="2" charset="-122"/>
              </a:endParaRPr>
            </a:p>
          </p:txBody>
        </p:sp>
        <p:cxnSp>
          <p:nvCxnSpPr>
            <p:cNvPr id="19" name="Straight Connector 18">
              <a:extLst>
                <a:ext uri="{FF2B5EF4-FFF2-40B4-BE49-F238E27FC236}">
                  <a16:creationId xmlns:a16="http://schemas.microsoft.com/office/drawing/2014/main" id="{80305DD2-1286-4260-AA4E-D6A989D4249D}"/>
                </a:ext>
              </a:extLst>
            </p:cNvPr>
            <p:cNvCxnSpPr>
              <a:stCxn id="18" idx="3"/>
            </p:cNvCxnSpPr>
            <p:nvPr/>
          </p:nvCxnSpPr>
          <p:spPr>
            <a:xfrm flipV="1">
              <a:off x="1106129" y="1769808"/>
              <a:ext cx="206477" cy="73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AD12F3A-A243-4D9A-88A2-CA513C800414}"/>
                </a:ext>
              </a:extLst>
            </p:cNvPr>
            <p:cNvSpPr/>
            <p:nvPr/>
          </p:nvSpPr>
          <p:spPr>
            <a:xfrm>
              <a:off x="1327354" y="1710814"/>
              <a:ext cx="2241755" cy="103239"/>
            </a:xfrm>
            <a:prstGeom prst="rect">
              <a:avLst/>
            </a:prstGeom>
            <a:solidFill>
              <a:schemeClr val="tx2"/>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1" name="Straight Connector 20">
              <a:extLst>
                <a:ext uri="{FF2B5EF4-FFF2-40B4-BE49-F238E27FC236}">
                  <a16:creationId xmlns:a16="http://schemas.microsoft.com/office/drawing/2014/main" id="{C782AB26-A9C7-463A-959F-E0B317A3DEF0}"/>
                </a:ext>
              </a:extLst>
            </p:cNvPr>
            <p:cNvCxnSpPr/>
            <p:nvPr/>
          </p:nvCxnSpPr>
          <p:spPr>
            <a:xfrm flipV="1">
              <a:off x="3574026" y="1759977"/>
              <a:ext cx="206477" cy="73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081A7FB-4555-4B26-82BB-0080C1F28BDD}"/>
                </a:ext>
              </a:extLst>
            </p:cNvPr>
            <p:cNvCxnSpPr/>
            <p:nvPr/>
          </p:nvCxnSpPr>
          <p:spPr>
            <a:xfrm flipH="1" flipV="1">
              <a:off x="3731342" y="899653"/>
              <a:ext cx="14748" cy="8701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Isosceles Triangle 22">
              <a:extLst>
                <a:ext uri="{FF2B5EF4-FFF2-40B4-BE49-F238E27FC236}">
                  <a16:creationId xmlns:a16="http://schemas.microsoft.com/office/drawing/2014/main" id="{CE9535E7-E28E-4E91-9252-AA923097751B}"/>
                </a:ext>
              </a:extLst>
            </p:cNvPr>
            <p:cNvSpPr/>
            <p:nvPr/>
          </p:nvSpPr>
          <p:spPr>
            <a:xfrm rot="10800000">
              <a:off x="3318386" y="280221"/>
              <a:ext cx="825910" cy="619432"/>
            </a:xfrm>
            <a:prstGeom prst="triangle">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TextBox 12">
              <a:extLst>
                <a:ext uri="{FF2B5EF4-FFF2-40B4-BE49-F238E27FC236}">
                  <a16:creationId xmlns:a16="http://schemas.microsoft.com/office/drawing/2014/main" id="{59AEC7F8-E8C0-4A96-A093-4B59A2728570}"/>
                </a:ext>
              </a:extLst>
            </p:cNvPr>
            <p:cNvSpPr txBox="1"/>
            <p:nvPr/>
          </p:nvSpPr>
          <p:spPr>
            <a:xfrm>
              <a:off x="-102162" y="2109033"/>
              <a:ext cx="1414791" cy="766679"/>
            </a:xfrm>
            <a:prstGeom prst="rect">
              <a:avLst/>
            </a:prstGeom>
            <a:noFill/>
          </p:spPr>
          <p:txBody>
            <a:bodyPr wrap="square" rtlCol="0">
              <a:noAutofit/>
            </a:bodyPr>
            <a:lstStyle/>
            <a:p>
              <a:pPr marL="0" marR="0">
                <a:spcBef>
                  <a:spcPts val="0"/>
                </a:spcBef>
                <a:spcAft>
                  <a:spcPts val="0"/>
                </a:spcAft>
              </a:pP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P</a:t>
              </a:r>
              <a:r>
                <a:rPr lang="en-SG" sz="1400" kern="1200" baseline="-250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T</a:t>
              </a: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 1 W</a:t>
              </a:r>
              <a:endParaRPr lang="en-US" sz="1200">
                <a:effectLst/>
                <a:latin typeface="Times New Roman" panose="02020603050405020304" pitchFamily="18" charset="0"/>
                <a:ea typeface="SimSun" panose="02010600030101010101" pitchFamily="2" charset="-122"/>
              </a:endParaRPr>
            </a:p>
          </p:txBody>
        </p:sp>
        <p:sp>
          <p:nvSpPr>
            <p:cNvPr id="25" name="TextBox 13">
              <a:extLst>
                <a:ext uri="{FF2B5EF4-FFF2-40B4-BE49-F238E27FC236}">
                  <a16:creationId xmlns:a16="http://schemas.microsoft.com/office/drawing/2014/main" id="{F52DB3EC-1FFF-4307-8277-22E8E3A9CC6B}"/>
                </a:ext>
              </a:extLst>
            </p:cNvPr>
            <p:cNvSpPr txBox="1"/>
            <p:nvPr/>
          </p:nvSpPr>
          <p:spPr>
            <a:xfrm>
              <a:off x="1965374" y="1813373"/>
              <a:ext cx="2083914" cy="641595"/>
            </a:xfrm>
            <a:prstGeom prst="rect">
              <a:avLst/>
            </a:prstGeom>
            <a:noFill/>
          </p:spPr>
          <p:txBody>
            <a:bodyPr wrap="square" rtlCol="0">
              <a:noAutofit/>
            </a:bodyPr>
            <a:lstStyle/>
            <a:p>
              <a:pPr marL="0" marR="0">
                <a:spcBef>
                  <a:spcPts val="0"/>
                </a:spcBef>
                <a:spcAft>
                  <a:spcPts val="0"/>
                </a:spcAft>
              </a:pP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L</a:t>
              </a:r>
              <a:r>
                <a:rPr lang="en-SG" sz="1400" kern="1200" baseline="-250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f</a:t>
              </a: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 1 dB</a:t>
              </a:r>
              <a:endParaRPr lang="en-US" sz="1200">
                <a:effectLst/>
                <a:latin typeface="Times New Roman" panose="02020603050405020304" pitchFamily="18" charset="0"/>
                <a:ea typeface="SimSun" panose="02010600030101010101" pitchFamily="2" charset="-122"/>
              </a:endParaRPr>
            </a:p>
          </p:txBody>
        </p:sp>
        <p:sp>
          <p:nvSpPr>
            <p:cNvPr id="26" name="TextBox 14">
              <a:extLst>
                <a:ext uri="{FF2B5EF4-FFF2-40B4-BE49-F238E27FC236}">
                  <a16:creationId xmlns:a16="http://schemas.microsoft.com/office/drawing/2014/main" id="{38DF3824-140B-4542-A59A-913F236A06FE}"/>
                </a:ext>
              </a:extLst>
            </p:cNvPr>
            <p:cNvSpPr txBox="1"/>
            <p:nvPr/>
          </p:nvSpPr>
          <p:spPr>
            <a:xfrm>
              <a:off x="1898355" y="279639"/>
              <a:ext cx="1758585" cy="620060"/>
            </a:xfrm>
            <a:prstGeom prst="rect">
              <a:avLst/>
            </a:prstGeom>
            <a:noFill/>
          </p:spPr>
          <p:txBody>
            <a:bodyPr wrap="square" rtlCol="0">
              <a:noAutofit/>
            </a:bodyPr>
            <a:lstStyle/>
            <a:p>
              <a:pPr marL="0" marR="0">
                <a:spcBef>
                  <a:spcPts val="0"/>
                </a:spcBef>
                <a:spcAft>
                  <a:spcPts val="0"/>
                </a:spcAft>
              </a:pP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G</a:t>
              </a:r>
              <a:r>
                <a:rPr lang="en-SG" sz="1400" kern="1200" baseline="-250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T</a:t>
              </a: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 = 30 dB</a:t>
              </a:r>
              <a:endParaRPr lang="en-US" sz="1200">
                <a:effectLst/>
                <a:latin typeface="Times New Roman" panose="02020603050405020304" pitchFamily="18" charset="0"/>
                <a:ea typeface="SimSun" panose="02010600030101010101" pitchFamily="2" charset="-122"/>
              </a:endParaRPr>
            </a:p>
          </p:txBody>
        </p:sp>
        <p:sp>
          <p:nvSpPr>
            <p:cNvPr id="27" name="TextBox 15">
              <a:extLst>
                <a:ext uri="{FF2B5EF4-FFF2-40B4-BE49-F238E27FC236}">
                  <a16:creationId xmlns:a16="http://schemas.microsoft.com/office/drawing/2014/main" id="{660E8BB2-E45C-4369-B31F-D2F661034914}"/>
                </a:ext>
              </a:extLst>
            </p:cNvPr>
            <p:cNvSpPr txBox="1"/>
            <p:nvPr/>
          </p:nvSpPr>
          <p:spPr>
            <a:xfrm>
              <a:off x="4173707" y="0"/>
              <a:ext cx="1376517" cy="520324"/>
            </a:xfrm>
            <a:prstGeom prst="rect">
              <a:avLst/>
            </a:prstGeom>
            <a:noFill/>
          </p:spPr>
          <p:txBody>
            <a:bodyPr wrap="square" rtlCol="0">
              <a:noAutofit/>
            </a:bodyPr>
            <a:lstStyle/>
            <a:p>
              <a:pPr marL="0" marR="0">
                <a:spcBef>
                  <a:spcPts val="0"/>
                </a:spcBef>
                <a:spcAft>
                  <a:spcPts val="0"/>
                </a:spcAft>
              </a:pPr>
              <a:r>
                <a:rPr lang="en-SG" sz="1400" kern="1200">
                  <a:solidFill>
                    <a:srgbClr val="000000"/>
                  </a:solidFill>
                  <a:effectLst/>
                  <a:latin typeface="Calibri" panose="020F0502020204030204" pitchFamily="34" charset="0"/>
                  <a:ea typeface="SimSun" panose="02010600030101010101" pitchFamily="2" charset="-122"/>
                  <a:cs typeface="Times New Roman" panose="02020603050405020304" pitchFamily="18" charset="0"/>
                </a:rPr>
                <a:t>EIRP</a:t>
              </a:r>
              <a:endParaRPr lang="en-US" sz="1200">
                <a:effectLst/>
                <a:latin typeface="Times New Roman" panose="02020603050405020304" pitchFamily="18" charset="0"/>
                <a:ea typeface="SimSun" panose="02010600030101010101" pitchFamily="2" charset="-122"/>
              </a:endParaRPr>
            </a:p>
          </p:txBody>
        </p:sp>
      </p:grpSp>
      <p:sp>
        <p:nvSpPr>
          <p:cNvPr id="2" name="Rectangle 1">
            <a:extLst>
              <a:ext uri="{FF2B5EF4-FFF2-40B4-BE49-F238E27FC236}">
                <a16:creationId xmlns:a16="http://schemas.microsoft.com/office/drawing/2014/main" id="{C846320D-B2FB-466D-9785-43D02A177DCC}"/>
              </a:ext>
            </a:extLst>
          </p:cNvPr>
          <p:cNvSpPr/>
          <p:nvPr/>
        </p:nvSpPr>
        <p:spPr>
          <a:xfrm>
            <a:off x="101198" y="3142244"/>
            <a:ext cx="7013706" cy="1938992"/>
          </a:xfrm>
          <a:prstGeom prst="rect">
            <a:avLst/>
          </a:prstGeom>
        </p:spPr>
        <p:txBody>
          <a:bodyPr wrap="square">
            <a:spAutoFit/>
          </a:bodyPr>
          <a:lstStyle/>
          <a:p>
            <a:pPr marL="228600" marR="0" indent="221615" algn="just">
              <a:spcBef>
                <a:spcPts val="0"/>
              </a:spcBef>
              <a:spcAft>
                <a:spcPts val="0"/>
              </a:spcAft>
            </a:pPr>
            <a:r>
              <a:rPr lang="en-US" sz="2400" b="1" u="sng" dirty="0">
                <a:ea typeface="Times New Roman" panose="02020603050405020304" pitchFamily="18" charset="0"/>
                <a:cs typeface="Times New Roman" panose="02020603050405020304" pitchFamily="18" charset="0"/>
              </a:rPr>
              <a:t>ANS</a:t>
            </a:r>
            <a:endParaRPr lang="en-US" sz="2400" dirty="0">
              <a:ea typeface="Times New Roman" panose="02020603050405020304" pitchFamily="18" charset="0"/>
              <a:cs typeface="Times New Roman" panose="02020603050405020304" pitchFamily="18" charset="0"/>
            </a:endParaRPr>
          </a:p>
          <a:p>
            <a:pPr marL="450215" marR="0" algn="just">
              <a:spcBef>
                <a:spcPts val="0"/>
              </a:spcBef>
              <a:spcAft>
                <a:spcPts val="0"/>
              </a:spcAft>
            </a:pPr>
            <a:r>
              <a:rPr lang="en-US" sz="2400" dirty="0">
                <a:ea typeface="Times New Roman" panose="02020603050405020304" pitchFamily="18" charset="0"/>
                <a:cs typeface="Times New Roman" panose="02020603050405020304" pitchFamily="18" charset="0"/>
              </a:rPr>
              <a:t>EIRP (dBm) = P</a:t>
            </a:r>
            <a:r>
              <a:rPr lang="en-US" sz="2400" baseline="-25000" dirty="0">
                <a:ea typeface="Times New Roman" panose="02020603050405020304" pitchFamily="18" charset="0"/>
                <a:cs typeface="Times New Roman" panose="02020603050405020304" pitchFamily="18" charset="0"/>
              </a:rPr>
              <a:t>T</a:t>
            </a:r>
            <a:r>
              <a:rPr lang="en-US" sz="2400" dirty="0">
                <a:ea typeface="Times New Roman" panose="02020603050405020304" pitchFamily="18" charset="0"/>
                <a:cs typeface="Times New Roman" panose="02020603050405020304" pitchFamily="18" charset="0"/>
              </a:rPr>
              <a:t> (dBm) –</a:t>
            </a:r>
            <a:r>
              <a:rPr lang="en-US" sz="2400" dirty="0" err="1">
                <a:ea typeface="Times New Roman" panose="02020603050405020304" pitchFamily="18" charset="0"/>
                <a:cs typeface="Times New Roman" panose="02020603050405020304" pitchFamily="18" charset="0"/>
              </a:rPr>
              <a:t>L</a:t>
            </a:r>
            <a:r>
              <a:rPr lang="en-US" sz="2400" baseline="-25000" dirty="0" err="1">
                <a:ea typeface="Times New Roman" panose="02020603050405020304" pitchFamily="18" charset="0"/>
                <a:cs typeface="Times New Roman" panose="02020603050405020304" pitchFamily="18" charset="0"/>
              </a:rPr>
              <a:t>f</a:t>
            </a:r>
            <a:r>
              <a:rPr lang="en-US" sz="2400" dirty="0">
                <a:ea typeface="Times New Roman" panose="02020603050405020304" pitchFamily="18" charset="0"/>
                <a:cs typeface="Times New Roman" panose="02020603050405020304" pitchFamily="18" charset="0"/>
              </a:rPr>
              <a:t> (dB) + G</a:t>
            </a:r>
            <a:r>
              <a:rPr lang="en-US" sz="2400" baseline="-25000" dirty="0">
                <a:ea typeface="Times New Roman" panose="02020603050405020304" pitchFamily="18" charset="0"/>
                <a:cs typeface="Times New Roman" panose="02020603050405020304" pitchFamily="18" charset="0"/>
              </a:rPr>
              <a:t>T</a:t>
            </a:r>
            <a:r>
              <a:rPr lang="en-US" sz="2400" dirty="0">
                <a:ea typeface="Times New Roman" panose="02020603050405020304" pitchFamily="18" charset="0"/>
                <a:cs typeface="Times New Roman" panose="02020603050405020304" pitchFamily="18" charset="0"/>
              </a:rPr>
              <a:t> (dB)</a:t>
            </a:r>
          </a:p>
          <a:p>
            <a:pPr marL="450215" marR="0" algn="just">
              <a:spcBef>
                <a:spcPts val="0"/>
              </a:spcBef>
              <a:spcAft>
                <a:spcPts val="0"/>
              </a:spcAft>
            </a:pPr>
            <a:r>
              <a:rPr lang="en-US" sz="2400" dirty="0">
                <a:ea typeface="Times New Roman" panose="02020603050405020304" pitchFamily="18" charset="0"/>
                <a:cs typeface="Times New Roman" panose="02020603050405020304" pitchFamily="18" charset="0"/>
              </a:rPr>
              <a:t>  	              = 10 log (1W/0.001W) – 1 dB + 30 dB</a:t>
            </a:r>
          </a:p>
          <a:p>
            <a:pPr marL="450215" marR="0" algn="just">
              <a:spcBef>
                <a:spcPts val="0"/>
              </a:spcBef>
              <a:spcAft>
                <a:spcPts val="0"/>
              </a:spcAft>
            </a:pPr>
            <a:r>
              <a:rPr lang="en-US" sz="2400" dirty="0">
                <a:ea typeface="Times New Roman" panose="02020603050405020304" pitchFamily="18" charset="0"/>
                <a:cs typeface="Times New Roman" panose="02020603050405020304" pitchFamily="18" charset="0"/>
              </a:rPr>
              <a:t>		 = 30 dBm – 1 dB + 30 dB</a:t>
            </a:r>
          </a:p>
          <a:p>
            <a:r>
              <a:rPr lang="en-GB" sz="2400" dirty="0">
                <a:ea typeface="Times New Roman" panose="02020603050405020304" pitchFamily="18" charset="0"/>
                <a:cs typeface="Times New Roman" panose="02020603050405020304" pitchFamily="18" charset="0"/>
              </a:rPr>
              <a:t>		</a:t>
            </a:r>
            <a:r>
              <a:rPr lang="en-GB" sz="2400">
                <a:ea typeface="Times New Roman" panose="02020603050405020304" pitchFamily="18" charset="0"/>
                <a:cs typeface="Times New Roman" panose="02020603050405020304" pitchFamily="18" charset="0"/>
              </a:rPr>
              <a:t> = </a:t>
            </a:r>
            <a:r>
              <a:rPr lang="en-GB" sz="2400" dirty="0">
                <a:ea typeface="Times New Roman" panose="02020603050405020304" pitchFamily="18" charset="0"/>
                <a:cs typeface="Times New Roman" panose="02020603050405020304" pitchFamily="18" charset="0"/>
              </a:rPr>
              <a:t>59 dBm </a:t>
            </a:r>
            <a:endParaRPr lang="en-US" sz="2400" dirty="0"/>
          </a:p>
        </p:txBody>
      </p:sp>
      <p:sp>
        <p:nvSpPr>
          <p:cNvPr id="28" name="Rectangle 27">
            <a:extLst>
              <a:ext uri="{FF2B5EF4-FFF2-40B4-BE49-F238E27FC236}">
                <a16:creationId xmlns:a16="http://schemas.microsoft.com/office/drawing/2014/main" id="{20908E02-83F6-4EF7-A2EB-0BB6AC38C3BA}"/>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3" name="Pg28">
            <a:hlinkClick r:id="" action="ppaction://media"/>
            <a:extLst>
              <a:ext uri="{FF2B5EF4-FFF2-40B4-BE49-F238E27FC236}">
                <a16:creationId xmlns:a16="http://schemas.microsoft.com/office/drawing/2014/main" id="{2F4740F0-9164-4CD7-BD98-9440508D0BA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62992" y="5709010"/>
            <a:ext cx="609600" cy="609600"/>
          </a:xfrm>
          <a:prstGeom prst="rect">
            <a:avLst/>
          </a:prstGeom>
        </p:spPr>
      </p:pic>
      <p:sp>
        <p:nvSpPr>
          <p:cNvPr id="4" name="Rectangle 3">
            <a:extLst>
              <a:ext uri="{FF2B5EF4-FFF2-40B4-BE49-F238E27FC236}">
                <a16:creationId xmlns:a16="http://schemas.microsoft.com/office/drawing/2014/main" id="{96925588-8247-8DFB-E1F5-3FF5B394AD69}"/>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4487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81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60654" y="5853409"/>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What is Link Budget &amp; How to Calculate the Link Budget to Estimate the Quality of Comm Link.</a:t>
            </a:r>
          </a:p>
          <a:p>
            <a:r>
              <a:rPr lang="en-SG" b="0" i="0" u="none" strike="noStrike" dirty="0">
                <a:effectLst/>
                <a:latin typeface="Roboto" panose="02000000000000000000" pitchFamily="2" charset="0"/>
                <a:hlinkClick r:id="rId3"/>
              </a:rPr>
              <a:t>https://youtu.be/y35j8wb0eBU</a:t>
            </a:r>
            <a:endParaRPr lang="en-SG" b="0" i="0" dirty="0">
              <a:solidFill>
                <a:srgbClr val="0D0D0D"/>
              </a:solidFill>
              <a:effectLst/>
              <a:latin typeface="Roboto" panose="02000000000000000000" pitchFamily="2" charset="0"/>
            </a:endParaRPr>
          </a:p>
        </p:txBody>
      </p:sp>
      <p:pic>
        <p:nvPicPr>
          <p:cNvPr id="4100" name="Picture 4" descr="Miscellaneous Video's – Centurian Park Family">
            <a:hlinkClick r:id="rId3"/>
            <a:extLst>
              <a:ext uri="{FF2B5EF4-FFF2-40B4-BE49-F238E27FC236}">
                <a16:creationId xmlns:a16="http://schemas.microsoft.com/office/drawing/2014/main" id="{F2FC59B5-8F70-388F-0F76-A765F7749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3"/>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4" name="Picture 3">
            <a:hlinkClick r:id="rId3"/>
            <a:extLst>
              <a:ext uri="{FF2B5EF4-FFF2-40B4-BE49-F238E27FC236}">
                <a16:creationId xmlns:a16="http://schemas.microsoft.com/office/drawing/2014/main" id="{21BB1353-180F-8A36-795E-76B8B4597707}"/>
              </a:ext>
            </a:extLst>
          </p:cNvPr>
          <p:cNvPicPr>
            <a:picLocks noChangeAspect="1"/>
          </p:cNvPicPr>
          <p:nvPr/>
        </p:nvPicPr>
        <p:blipFill>
          <a:blip r:embed="rId5"/>
          <a:stretch>
            <a:fillRect/>
          </a:stretch>
        </p:blipFill>
        <p:spPr>
          <a:xfrm>
            <a:off x="328863" y="280270"/>
            <a:ext cx="9213209" cy="5126705"/>
          </a:xfrm>
          <a:prstGeom prst="rect">
            <a:avLst/>
          </a:prstGeom>
        </p:spPr>
      </p:pic>
    </p:spTree>
    <p:extLst>
      <p:ext uri="{BB962C8B-B14F-4D97-AF65-F5344CB8AC3E}">
        <p14:creationId xmlns:p14="http://schemas.microsoft.com/office/powerpoint/2010/main" val="2994202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559806" y="990629"/>
            <a:ext cx="11059379" cy="48768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err="1">
                <a:cs typeface="Times New Roman" pitchFamily="18" charset="0"/>
              </a:rPr>
              <a:t>Hata</a:t>
            </a:r>
            <a:r>
              <a:rPr lang="en-US" sz="2400" dirty="0">
                <a:cs typeface="Times New Roman" pitchFamily="18" charset="0"/>
              </a:rPr>
              <a:t> published an empirical formula based on Okumura's results to predict path loss, and is valid from 150 MHz to 1500 MHz </a:t>
            </a:r>
          </a:p>
          <a:p>
            <a:r>
              <a:rPr lang="en-US" sz="2400" dirty="0">
                <a:cs typeface="Times New Roman" pitchFamily="18" charset="0"/>
              </a:rPr>
              <a:t>The standard formula for the path loss in urban areas is given by:</a:t>
            </a:r>
          </a:p>
          <a:p>
            <a:endParaRPr lang="en-US" sz="1800" dirty="0">
              <a:cs typeface="Times New Roman" pitchFamily="18" charset="0"/>
            </a:endParaRPr>
          </a:p>
          <a:p>
            <a:endParaRPr lang="en-US" sz="1800" dirty="0">
              <a:cs typeface="Times New Roman" pitchFamily="18" charset="0"/>
            </a:endParaRPr>
          </a:p>
          <a:p>
            <a:pPr lvl="1">
              <a:buFont typeface="Monotype Sorts" pitchFamily="2" charset="2"/>
              <a:buNone/>
            </a:pPr>
            <a:endParaRPr lang="en-US" sz="1400" dirty="0">
              <a:cs typeface="Times New Roman" pitchFamily="18" charset="0"/>
            </a:endParaRPr>
          </a:p>
          <a:p>
            <a:pPr lvl="1">
              <a:buFont typeface="Monotype Sorts" pitchFamily="2" charset="2"/>
              <a:buNone/>
            </a:pPr>
            <a:endParaRPr lang="en-US" sz="1800" dirty="0">
              <a:cs typeface="Times New Roman" pitchFamily="18" charset="0"/>
            </a:endParaRPr>
          </a:p>
          <a:p>
            <a:pPr lvl="1">
              <a:buFont typeface="Monotype Sorts" pitchFamily="2" charset="2"/>
              <a:buNone/>
            </a:pPr>
            <a:r>
              <a:rPr lang="en-US" sz="1800" dirty="0">
                <a:cs typeface="Times New Roman" pitchFamily="18" charset="0"/>
              </a:rPr>
              <a:t>Where	f    : Frequency between 150-1500 MHz</a:t>
            </a:r>
          </a:p>
          <a:p>
            <a:pPr lvl="1">
              <a:buFont typeface="Monotype Sorts" pitchFamily="2" charset="2"/>
              <a:buNone/>
            </a:pPr>
            <a:r>
              <a:rPr lang="en-US" sz="1800" dirty="0">
                <a:cs typeface="Times New Roman" pitchFamily="18" charset="0"/>
              </a:rPr>
              <a:t>			</a:t>
            </a:r>
            <a:r>
              <a:rPr lang="en-US" sz="1800" dirty="0" err="1">
                <a:cs typeface="Times New Roman" pitchFamily="18" charset="0"/>
              </a:rPr>
              <a:t>h</a:t>
            </a:r>
            <a:r>
              <a:rPr lang="en-US" sz="1800" baseline="-30000" dirty="0" err="1">
                <a:cs typeface="Times New Roman" pitchFamily="18" charset="0"/>
              </a:rPr>
              <a:t>te</a:t>
            </a:r>
            <a:r>
              <a:rPr lang="en-US" sz="1800" baseline="-30000" dirty="0">
                <a:cs typeface="Times New Roman" pitchFamily="18" charset="0"/>
              </a:rPr>
              <a:t>  </a:t>
            </a:r>
            <a:r>
              <a:rPr lang="en-US" sz="1800" dirty="0">
                <a:cs typeface="Times New Roman" pitchFamily="18" charset="0"/>
              </a:rPr>
              <a:t>: Effective height of transmitter between 30-200 m</a:t>
            </a:r>
          </a:p>
          <a:p>
            <a:pPr lvl="1">
              <a:buFont typeface="Monotype Sorts" pitchFamily="2" charset="2"/>
              <a:buNone/>
            </a:pPr>
            <a:r>
              <a:rPr lang="en-US" sz="1800" dirty="0">
                <a:cs typeface="Times New Roman" pitchFamily="18" charset="0"/>
              </a:rPr>
              <a:t>			</a:t>
            </a:r>
            <a:r>
              <a:rPr lang="en-US" sz="1800" dirty="0" err="1">
                <a:cs typeface="Times New Roman" pitchFamily="18" charset="0"/>
              </a:rPr>
              <a:t>h</a:t>
            </a:r>
            <a:r>
              <a:rPr lang="en-US" sz="1800" baseline="-30000" dirty="0" err="1">
                <a:cs typeface="Times New Roman" pitchFamily="18" charset="0"/>
              </a:rPr>
              <a:t>re</a:t>
            </a:r>
            <a:r>
              <a:rPr lang="en-US" sz="1800" baseline="-30000" dirty="0">
                <a:cs typeface="Times New Roman" pitchFamily="18" charset="0"/>
              </a:rPr>
              <a:t> </a:t>
            </a:r>
            <a:r>
              <a:rPr lang="en-US" sz="1800" dirty="0">
                <a:cs typeface="Times New Roman" pitchFamily="18" charset="0"/>
              </a:rPr>
              <a:t>: Effective height of receiver between 1-10 m</a:t>
            </a:r>
          </a:p>
          <a:p>
            <a:pPr lvl="1">
              <a:buFont typeface="Monotype Sorts" pitchFamily="2" charset="2"/>
              <a:buNone/>
            </a:pPr>
            <a:r>
              <a:rPr lang="en-US" sz="1800" dirty="0">
                <a:cs typeface="Times New Roman" pitchFamily="18" charset="0"/>
              </a:rPr>
              <a:t>			d : Distance between transmitter and receiver in km</a:t>
            </a:r>
          </a:p>
          <a:p>
            <a:pPr lvl="1">
              <a:buFont typeface="Monotype Sorts" pitchFamily="2" charset="2"/>
              <a:buNone/>
            </a:pPr>
            <a:r>
              <a:rPr lang="en-US" sz="1800" dirty="0">
                <a:cs typeface="Times New Roman" pitchFamily="18" charset="0"/>
              </a:rPr>
              <a:t>			A(</a:t>
            </a:r>
            <a:r>
              <a:rPr lang="en-US" sz="1800" dirty="0" err="1">
                <a:cs typeface="Times New Roman" pitchFamily="18" charset="0"/>
              </a:rPr>
              <a:t>h</a:t>
            </a:r>
            <a:r>
              <a:rPr lang="en-US" sz="1800" baseline="-30000" dirty="0" err="1">
                <a:cs typeface="Times New Roman" pitchFamily="18" charset="0"/>
              </a:rPr>
              <a:t>re</a:t>
            </a:r>
            <a:r>
              <a:rPr lang="en-US" sz="1800" dirty="0">
                <a:cs typeface="Times New Roman" pitchFamily="18" charset="0"/>
              </a:rPr>
              <a:t>): Correction factor for mobile antenna height</a:t>
            </a:r>
          </a:p>
          <a:p>
            <a:pPr>
              <a:buFont typeface="Monotype Sorts" pitchFamily="2" charset="2"/>
              <a:buNone/>
            </a:pPr>
            <a:r>
              <a:rPr lang="en-US" sz="1800" dirty="0">
                <a:cs typeface="Times New Roman" pitchFamily="18" charset="0"/>
              </a:rPr>
              <a:t>	</a:t>
            </a:r>
            <a:r>
              <a:rPr lang="en-US" sz="2400" dirty="0">
                <a:cs typeface="Times New Roman" pitchFamily="18" charset="0"/>
              </a:rPr>
              <a:t>For a large city we take  </a:t>
            </a:r>
          </a:p>
          <a:p>
            <a:pPr>
              <a:buFont typeface="Monotype Sorts" pitchFamily="2" charset="2"/>
              <a:buNone/>
            </a:pPr>
            <a:r>
              <a:rPr lang="en-US" sz="1000" b="1" dirty="0">
                <a:cs typeface="Times New Roman" pitchFamily="18" charset="0"/>
              </a:rPr>
              <a:t>			</a:t>
            </a:r>
          </a:p>
          <a:p>
            <a:pPr>
              <a:buFont typeface="Monotype Sorts" pitchFamily="2" charset="2"/>
              <a:buNone/>
            </a:pPr>
            <a:r>
              <a:rPr lang="en-US" sz="1800" b="1" dirty="0">
                <a:cs typeface="Times New Roman" pitchFamily="18" charset="0"/>
              </a:rPr>
              <a:t>			A(</a:t>
            </a:r>
            <a:r>
              <a:rPr lang="en-US" sz="1800" b="1" dirty="0" err="1">
                <a:cs typeface="Times New Roman" pitchFamily="18" charset="0"/>
              </a:rPr>
              <a:t>h</a:t>
            </a:r>
            <a:r>
              <a:rPr lang="en-US" sz="1800" b="1" baseline="-30000" dirty="0" err="1">
                <a:cs typeface="Times New Roman" pitchFamily="18" charset="0"/>
              </a:rPr>
              <a:t>re</a:t>
            </a:r>
            <a:r>
              <a:rPr lang="en-US" sz="1800" b="1" dirty="0">
                <a:cs typeface="Times New Roman" pitchFamily="18" charset="0"/>
              </a:rPr>
              <a:t>) = 3.2[ log(11.75 </a:t>
            </a:r>
            <a:r>
              <a:rPr lang="en-US" sz="1800" b="1" dirty="0" err="1">
                <a:cs typeface="Times New Roman" pitchFamily="18" charset="0"/>
              </a:rPr>
              <a:t>h</a:t>
            </a:r>
            <a:r>
              <a:rPr lang="en-US" sz="1800" b="1" baseline="-30000" dirty="0" err="1">
                <a:cs typeface="Times New Roman" pitchFamily="18" charset="0"/>
              </a:rPr>
              <a:t>re</a:t>
            </a:r>
            <a:r>
              <a:rPr lang="en-US" sz="1800" b="1" dirty="0">
                <a:cs typeface="Times New Roman" pitchFamily="18" charset="0"/>
              </a:rPr>
              <a:t>)]</a:t>
            </a:r>
            <a:r>
              <a:rPr lang="en-US" sz="1800" b="1" baseline="30000" dirty="0">
                <a:cs typeface="Times New Roman" pitchFamily="18" charset="0"/>
              </a:rPr>
              <a:t>2</a:t>
            </a:r>
            <a:r>
              <a:rPr lang="en-US" sz="1800" b="1" dirty="0">
                <a:cs typeface="Times New Roman" pitchFamily="18" charset="0"/>
              </a:rPr>
              <a:t> - 4.97 (dB)  </a:t>
            </a:r>
            <a:r>
              <a:rPr lang="en-US" sz="1800" dirty="0">
                <a:cs typeface="Times New Roman" pitchFamily="18" charset="0"/>
              </a:rPr>
              <a:t>for f </a:t>
            </a:r>
            <a:r>
              <a:rPr lang="en-US" sz="1800" dirty="0">
                <a:cs typeface="Times New Roman" pitchFamily="18" charset="0"/>
                <a:sym typeface="Symbol" pitchFamily="18" charset="2"/>
              </a:rPr>
              <a:t> </a:t>
            </a:r>
            <a:r>
              <a:rPr lang="en-US" sz="1800" dirty="0">
                <a:cs typeface="Times New Roman" pitchFamily="18" charset="0"/>
              </a:rPr>
              <a:t>300 MHz</a:t>
            </a:r>
          </a:p>
          <a:p>
            <a:pPr>
              <a:buFont typeface="Monotype Sorts" pitchFamily="2" charset="2"/>
              <a:buNone/>
            </a:pPr>
            <a:endParaRPr lang="en-US" sz="1800" dirty="0">
              <a:cs typeface="Times New Roman" pitchFamily="18" charset="0"/>
            </a:endParaRPr>
          </a:p>
          <a:p>
            <a:pPr lvl="1"/>
            <a:endParaRPr lang="en-US" sz="1800" dirty="0"/>
          </a:p>
        </p:txBody>
      </p:sp>
      <p:graphicFrame>
        <p:nvGraphicFramePr>
          <p:cNvPr id="9" name="Object 4"/>
          <p:cNvGraphicFramePr>
            <a:graphicFrameLocks noChangeAspect="1"/>
          </p:cNvGraphicFramePr>
          <p:nvPr>
            <p:extLst>
              <p:ext uri="{D42A27DB-BD31-4B8C-83A1-F6EECF244321}">
                <p14:modId xmlns:p14="http://schemas.microsoft.com/office/powerpoint/2010/main" val="223357272"/>
              </p:ext>
            </p:extLst>
          </p:nvPr>
        </p:nvGraphicFramePr>
        <p:xfrm>
          <a:off x="465192" y="2458108"/>
          <a:ext cx="11138229" cy="553107"/>
        </p:xfrm>
        <a:graphic>
          <a:graphicData uri="http://schemas.openxmlformats.org/presentationml/2006/ole">
            <mc:AlternateContent xmlns:mc="http://schemas.openxmlformats.org/markup-compatibility/2006">
              <mc:Choice xmlns:v="urn:schemas-microsoft-com:vml" Requires="v">
                <p:oleObj name="Equation" r:id="rId4" imgW="4546440" imgH="215640" progId="Equation.3">
                  <p:embed/>
                </p:oleObj>
              </mc:Choice>
              <mc:Fallback>
                <p:oleObj name="Equation" r:id="rId4" imgW="4546440" imgH="215640" progId="Equation.3">
                  <p:embed/>
                  <p:pic>
                    <p:nvPicPr>
                      <p:cNvPr id="0" name=""/>
                      <p:cNvPicPr>
                        <a:picLocks noChangeAspect="1" noChangeArrowheads="1"/>
                      </p:cNvPicPr>
                      <p:nvPr/>
                    </p:nvPicPr>
                    <p:blipFill>
                      <a:blip r:embed="rId5"/>
                      <a:srcRect/>
                      <a:stretch>
                        <a:fillRect/>
                      </a:stretch>
                    </p:blipFill>
                    <p:spPr bwMode="auto">
                      <a:xfrm>
                        <a:off x="465192" y="2458108"/>
                        <a:ext cx="11138229" cy="553107"/>
                      </a:xfrm>
                      <a:prstGeom prst="rect">
                        <a:avLst/>
                      </a:prstGeom>
                      <a:noFill/>
                      <a:ln>
                        <a:noFill/>
                      </a:ln>
                      <a:effectLst/>
                    </p:spPr>
                  </p:pic>
                </p:oleObj>
              </mc:Fallback>
            </mc:AlternateContent>
          </a:graphicData>
        </a:graphic>
      </p:graphicFrame>
      <p:sp>
        <p:nvSpPr>
          <p:cNvPr id="10" name="Rectangle 5"/>
          <p:cNvSpPr>
            <a:spLocks noChangeArrowheads="1"/>
          </p:cNvSpPr>
          <p:nvPr/>
        </p:nvSpPr>
        <p:spPr bwMode="auto">
          <a:xfrm>
            <a:off x="362607" y="2401542"/>
            <a:ext cx="1133540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r>
              <a:rPr lang="en-US" dirty="0"/>
              <a:t> </a:t>
            </a:r>
          </a:p>
        </p:txBody>
      </p:sp>
      <p:sp>
        <p:nvSpPr>
          <p:cNvPr id="11" name="Rectangle 5"/>
          <p:cNvSpPr>
            <a:spLocks noChangeArrowheads="1"/>
          </p:cNvSpPr>
          <p:nvPr/>
        </p:nvSpPr>
        <p:spPr bwMode="auto">
          <a:xfrm>
            <a:off x="2404466" y="5363851"/>
            <a:ext cx="5367425" cy="4984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Okumura’s </a:t>
            </a:r>
            <a:r>
              <a:rPr lang="en-SG" sz="2400" b="1" dirty="0" err="1">
                <a:solidFill>
                  <a:srgbClr val="C00000"/>
                </a:solidFill>
                <a:latin typeface="Arial Black" panose="020B0A04020102020204" pitchFamily="34" charset="0"/>
              </a:rPr>
              <a:t>Hata</a:t>
            </a:r>
            <a:r>
              <a:rPr lang="en-SG" sz="2400" b="1" dirty="0">
                <a:solidFill>
                  <a:srgbClr val="C00000"/>
                </a:solidFill>
                <a:latin typeface="Arial Black" panose="020B0A04020102020204" pitchFamily="34" charset="0"/>
              </a:rPr>
              <a:t> Model</a:t>
            </a:r>
          </a:p>
        </p:txBody>
      </p:sp>
      <p:sp>
        <p:nvSpPr>
          <p:cNvPr id="16" name="Rectangle 15">
            <a:extLst>
              <a:ext uri="{FF2B5EF4-FFF2-40B4-BE49-F238E27FC236}">
                <a16:creationId xmlns:a16="http://schemas.microsoft.com/office/drawing/2014/main" id="{F778497F-529C-4D37-8FDC-E3190DE41F0A}"/>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29">
            <a:hlinkClick r:id="" action="ppaction://media"/>
            <a:extLst>
              <a:ext uri="{FF2B5EF4-FFF2-40B4-BE49-F238E27FC236}">
                <a16:creationId xmlns:a16="http://schemas.microsoft.com/office/drawing/2014/main" id="{0793D231-A4A1-4EBA-96A9-294C2500A81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988446" y="5669301"/>
            <a:ext cx="609600" cy="609600"/>
          </a:xfrm>
          <a:prstGeom prst="rect">
            <a:avLst/>
          </a:prstGeom>
        </p:spPr>
      </p:pic>
      <p:sp>
        <p:nvSpPr>
          <p:cNvPr id="3" name="Rectangle 2">
            <a:extLst>
              <a:ext uri="{FF2B5EF4-FFF2-40B4-BE49-F238E27FC236}">
                <a16:creationId xmlns:a16="http://schemas.microsoft.com/office/drawing/2014/main" id="{77E6BB42-26FB-FF75-026F-C865741C78E6}"/>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3335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25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6665" y="1447651"/>
            <a:ext cx="11678670" cy="4678204"/>
          </a:xfrm>
          <a:prstGeom prst="rect">
            <a:avLst/>
          </a:prstGeom>
        </p:spPr>
        <p:txBody>
          <a:bodyPr wrap="square">
            <a:spAutoFit/>
          </a:bodyPr>
          <a:lstStyle/>
          <a:p>
            <a:pPr lvl="0" algn="just"/>
            <a:r>
              <a:rPr lang="en-GB" sz="2400" dirty="0">
                <a:ea typeface="Times New Roman" panose="02020603050405020304" pitchFamily="18" charset="0"/>
                <a:cs typeface="Times New Roman" panose="02020603050405020304" pitchFamily="18" charset="0"/>
              </a:rPr>
              <a:t>A mobile subscriber that is living at a distance, d = 3500 m from a base station complained to the cellular operator that his mobile phone reception is not very good. You are asked to investigate to find out the problems and make the necessary recommendations. Details are as follows:</a:t>
            </a:r>
            <a:endParaRPr lang="en-SG" sz="2400" dirty="0">
              <a:ea typeface="Times New Roman" panose="02020603050405020304" pitchFamily="18" charset="0"/>
              <a:cs typeface="Times New Roman" panose="02020603050405020304" pitchFamily="18" charset="0"/>
            </a:endParaRPr>
          </a:p>
          <a:p>
            <a:pPr marL="450215" indent="-450215" algn="just"/>
            <a:r>
              <a:rPr lang="en-GB" sz="2400" dirty="0">
                <a:ea typeface="Times New Roman" panose="02020603050405020304" pitchFamily="18" charset="0"/>
                <a:cs typeface="Times New Roman" panose="02020603050405020304" pitchFamily="18" charset="0"/>
              </a:rPr>
              <a:t>	</a:t>
            </a:r>
            <a:r>
              <a:rPr lang="en-GB" sz="2000" dirty="0">
                <a:ea typeface="Times New Roman" panose="02020603050405020304" pitchFamily="18" charset="0"/>
                <a:cs typeface="Times New Roman" panose="02020603050405020304" pitchFamily="18" charset="0"/>
              </a:rPr>
              <a:t>Frequency of operation, f			: 935.2 MHz</a:t>
            </a:r>
            <a:endParaRPr lang="en-SG" sz="2000" dirty="0">
              <a:ea typeface="Times New Roman" panose="02020603050405020304" pitchFamily="18" charset="0"/>
              <a:cs typeface="Times New Roman" panose="02020603050405020304" pitchFamily="18" charset="0"/>
            </a:endParaRPr>
          </a:p>
          <a:p>
            <a:pPr marL="450215" indent="-450215" algn="just"/>
            <a:r>
              <a:rPr lang="en-GB" sz="2000" dirty="0">
                <a:ea typeface="Times New Roman" panose="02020603050405020304" pitchFamily="18" charset="0"/>
                <a:cs typeface="Times New Roman" panose="02020603050405020304" pitchFamily="18" charset="0"/>
              </a:rPr>
              <a:t>	Base Station transmitted output power, P</a:t>
            </a:r>
            <a:r>
              <a:rPr lang="en-GB" sz="2000" baseline="-25000" dirty="0">
                <a:ea typeface="Times New Roman" panose="02020603050405020304" pitchFamily="18" charset="0"/>
                <a:cs typeface="Times New Roman" panose="02020603050405020304" pitchFamily="18" charset="0"/>
              </a:rPr>
              <a:t>T	</a:t>
            </a:r>
            <a:r>
              <a:rPr lang="en-GB" sz="2000" dirty="0">
                <a:ea typeface="Times New Roman" panose="02020603050405020304" pitchFamily="18" charset="0"/>
                <a:cs typeface="Times New Roman" panose="02020603050405020304" pitchFamily="18" charset="0"/>
              </a:rPr>
              <a:t>: 20 W</a:t>
            </a:r>
            <a:endParaRPr lang="en-SG" sz="2000" dirty="0">
              <a:ea typeface="Times New Roman" panose="02020603050405020304" pitchFamily="18" charset="0"/>
              <a:cs typeface="Times New Roman" panose="02020603050405020304" pitchFamily="18" charset="0"/>
            </a:endParaRPr>
          </a:p>
          <a:p>
            <a:pPr marL="450215" indent="-450215" algn="just"/>
            <a:r>
              <a:rPr lang="en-GB" sz="2000" dirty="0">
                <a:ea typeface="Times New Roman" panose="02020603050405020304" pitchFamily="18" charset="0"/>
                <a:cs typeface="Times New Roman" panose="02020603050405020304" pitchFamily="18" charset="0"/>
              </a:rPr>
              <a:t>	Base Station transmitter antenna gain, G</a:t>
            </a:r>
            <a:r>
              <a:rPr lang="en-GB" sz="2000" baseline="-25000" dirty="0">
                <a:ea typeface="Times New Roman" panose="02020603050405020304" pitchFamily="18" charset="0"/>
                <a:cs typeface="Times New Roman" panose="02020603050405020304" pitchFamily="18" charset="0"/>
              </a:rPr>
              <a:t>T</a:t>
            </a:r>
            <a:r>
              <a:rPr lang="en-GB" sz="2000" dirty="0">
                <a:ea typeface="Times New Roman" panose="02020603050405020304" pitchFamily="18" charset="0"/>
                <a:cs typeface="Times New Roman" panose="02020603050405020304" pitchFamily="18" charset="0"/>
              </a:rPr>
              <a:t>	: 10 dB</a:t>
            </a:r>
            <a:endParaRPr lang="en-SG" sz="2000" dirty="0">
              <a:ea typeface="Times New Roman" panose="02020603050405020304" pitchFamily="18" charset="0"/>
              <a:cs typeface="Times New Roman" panose="02020603050405020304" pitchFamily="18" charset="0"/>
            </a:endParaRPr>
          </a:p>
          <a:p>
            <a:pPr marL="450215" indent="-450215" algn="just"/>
            <a:r>
              <a:rPr lang="en-GB" sz="2000" dirty="0">
                <a:ea typeface="Times New Roman" panose="02020603050405020304" pitchFamily="18" charset="0"/>
                <a:cs typeface="Times New Roman" panose="02020603050405020304" pitchFamily="18" charset="0"/>
              </a:rPr>
              <a:t>	Base Station transmitter antenna height, </a:t>
            </a:r>
            <a:r>
              <a:rPr lang="en-GB" sz="2000" dirty="0" err="1">
                <a:ea typeface="Times New Roman" panose="02020603050405020304" pitchFamily="18" charset="0"/>
                <a:cs typeface="Times New Roman" panose="02020603050405020304" pitchFamily="18" charset="0"/>
              </a:rPr>
              <a:t>h</a:t>
            </a:r>
            <a:r>
              <a:rPr lang="en-GB" sz="2000" baseline="-25000" dirty="0" err="1">
                <a:ea typeface="Times New Roman" panose="02020603050405020304" pitchFamily="18" charset="0"/>
                <a:cs typeface="Times New Roman" panose="02020603050405020304" pitchFamily="18" charset="0"/>
              </a:rPr>
              <a:t>te</a:t>
            </a:r>
            <a:r>
              <a:rPr lang="en-GB" sz="2000" dirty="0">
                <a:ea typeface="Times New Roman" panose="02020603050405020304" pitchFamily="18" charset="0"/>
                <a:cs typeface="Times New Roman" panose="02020603050405020304" pitchFamily="18" charset="0"/>
              </a:rPr>
              <a:t>	: 50 metre</a:t>
            </a:r>
            <a:endParaRPr lang="en-SG" sz="2000" dirty="0">
              <a:ea typeface="Times New Roman" panose="02020603050405020304" pitchFamily="18" charset="0"/>
              <a:cs typeface="Times New Roman" panose="02020603050405020304" pitchFamily="18" charset="0"/>
            </a:endParaRPr>
          </a:p>
          <a:p>
            <a:pPr marL="450215" indent="-450215" algn="just"/>
            <a:r>
              <a:rPr lang="en-GB" sz="2000" dirty="0">
                <a:ea typeface="Times New Roman" panose="02020603050405020304" pitchFamily="18" charset="0"/>
                <a:cs typeface="Times New Roman" panose="02020603050405020304" pitchFamily="18" charset="0"/>
              </a:rPr>
              <a:t>	Mobile Station receiver sensitivity, P</a:t>
            </a:r>
            <a:r>
              <a:rPr lang="en-GB" sz="2000" baseline="-25000" dirty="0">
                <a:ea typeface="Times New Roman" panose="02020603050405020304" pitchFamily="18" charset="0"/>
                <a:cs typeface="Times New Roman" panose="02020603050405020304" pitchFamily="18" charset="0"/>
              </a:rPr>
              <a:t>R		</a:t>
            </a:r>
            <a:r>
              <a:rPr lang="en-GB" sz="2000" dirty="0">
                <a:ea typeface="Times New Roman" panose="02020603050405020304" pitchFamily="18" charset="0"/>
                <a:cs typeface="Times New Roman" panose="02020603050405020304" pitchFamily="18" charset="0"/>
              </a:rPr>
              <a:t>: -100 </a:t>
            </a:r>
            <a:r>
              <a:rPr lang="en-GB" sz="2000" dirty="0" err="1">
                <a:ea typeface="Times New Roman" panose="02020603050405020304" pitchFamily="18" charset="0"/>
                <a:cs typeface="Times New Roman" panose="02020603050405020304" pitchFamily="18" charset="0"/>
              </a:rPr>
              <a:t>dBm</a:t>
            </a:r>
            <a:endParaRPr lang="en-SG" sz="2000" dirty="0">
              <a:ea typeface="Times New Roman" panose="02020603050405020304" pitchFamily="18" charset="0"/>
              <a:cs typeface="Times New Roman" panose="02020603050405020304" pitchFamily="18" charset="0"/>
            </a:endParaRPr>
          </a:p>
          <a:p>
            <a:pPr marL="450215" indent="-450215" algn="just"/>
            <a:r>
              <a:rPr lang="en-GB" sz="2000" dirty="0">
                <a:ea typeface="Times New Roman" panose="02020603050405020304" pitchFamily="18" charset="0"/>
                <a:cs typeface="Times New Roman" panose="02020603050405020304" pitchFamily="18" charset="0"/>
              </a:rPr>
              <a:t>	Mobile Station receiver antenna gain, G</a:t>
            </a:r>
            <a:r>
              <a:rPr lang="en-GB" sz="2000" baseline="-25000" dirty="0">
                <a:ea typeface="Times New Roman" panose="02020603050405020304" pitchFamily="18" charset="0"/>
                <a:cs typeface="Times New Roman" panose="02020603050405020304" pitchFamily="18" charset="0"/>
              </a:rPr>
              <a:t>R</a:t>
            </a:r>
            <a:r>
              <a:rPr lang="en-GB" sz="2000" dirty="0">
                <a:ea typeface="Times New Roman" panose="02020603050405020304" pitchFamily="18" charset="0"/>
                <a:cs typeface="Times New Roman" panose="02020603050405020304" pitchFamily="18" charset="0"/>
              </a:rPr>
              <a:t>	: 3 dB</a:t>
            </a:r>
            <a:endParaRPr lang="en-SG" sz="2000" dirty="0">
              <a:ea typeface="Times New Roman" panose="02020603050405020304" pitchFamily="18" charset="0"/>
              <a:cs typeface="Times New Roman" panose="02020603050405020304" pitchFamily="18" charset="0"/>
            </a:endParaRPr>
          </a:p>
          <a:p>
            <a:pPr marL="450215" indent="-450215" algn="just"/>
            <a:r>
              <a:rPr lang="en-GB" sz="2000" dirty="0">
                <a:ea typeface="Times New Roman" panose="02020603050405020304" pitchFamily="18" charset="0"/>
                <a:cs typeface="Times New Roman" panose="02020603050405020304" pitchFamily="18" charset="0"/>
              </a:rPr>
              <a:t>	Mobile Station receiver antenna height, </a:t>
            </a:r>
            <a:r>
              <a:rPr lang="en-GB" sz="2000" dirty="0" err="1">
                <a:ea typeface="Times New Roman" panose="02020603050405020304" pitchFamily="18" charset="0"/>
                <a:cs typeface="Times New Roman" panose="02020603050405020304" pitchFamily="18" charset="0"/>
              </a:rPr>
              <a:t>h</a:t>
            </a:r>
            <a:r>
              <a:rPr lang="en-GB" sz="2000" baseline="-25000" dirty="0" err="1">
                <a:ea typeface="Times New Roman" panose="02020603050405020304" pitchFamily="18" charset="0"/>
                <a:cs typeface="Times New Roman" panose="02020603050405020304" pitchFamily="18" charset="0"/>
              </a:rPr>
              <a:t>re</a:t>
            </a:r>
            <a:r>
              <a:rPr lang="en-GB" sz="2000" dirty="0">
                <a:ea typeface="Times New Roman" panose="02020603050405020304" pitchFamily="18" charset="0"/>
                <a:cs typeface="Times New Roman" panose="02020603050405020304" pitchFamily="18" charset="0"/>
              </a:rPr>
              <a:t>	: 1.6 metre</a:t>
            </a:r>
          </a:p>
          <a:p>
            <a:pPr marL="450215" indent="-450215" algn="just"/>
            <a:endParaRPr lang="en-GB" sz="1000" dirty="0">
              <a:ea typeface="Times New Roman" panose="02020603050405020304" pitchFamily="18" charset="0"/>
              <a:cs typeface="Times New Roman" panose="02020603050405020304" pitchFamily="18" charset="0"/>
            </a:endParaRPr>
          </a:p>
          <a:p>
            <a:pPr algn="just"/>
            <a:r>
              <a:rPr lang="en-GB" sz="2400" dirty="0"/>
              <a:t>Assume that all other losses are negligible except for the path loss, using Okumura-</a:t>
            </a:r>
            <a:r>
              <a:rPr lang="en-GB" sz="2400" dirty="0" err="1"/>
              <a:t>Hata</a:t>
            </a:r>
            <a:r>
              <a:rPr lang="en-GB" sz="2400" dirty="0"/>
              <a:t> propagation model and determine the path loss, L</a:t>
            </a:r>
            <a:r>
              <a:rPr lang="en-GB" sz="2400" baseline="-25000" dirty="0"/>
              <a:t>P</a:t>
            </a:r>
            <a:r>
              <a:rPr lang="en-GB" sz="2400" dirty="0"/>
              <a:t> (dB).</a:t>
            </a:r>
            <a:endParaRPr lang="en-SG" sz="2400" dirty="0">
              <a:ea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Okumura’s </a:t>
            </a:r>
            <a:r>
              <a:rPr lang="en-SG" sz="2400" b="1" dirty="0" err="1">
                <a:solidFill>
                  <a:srgbClr val="C00000"/>
                </a:solidFill>
                <a:latin typeface="Arial Black" panose="020B0A04020102020204" pitchFamily="34" charset="0"/>
              </a:rPr>
              <a:t>Hata</a:t>
            </a:r>
            <a:r>
              <a:rPr lang="en-SG" sz="2400" b="1" dirty="0">
                <a:solidFill>
                  <a:srgbClr val="C00000"/>
                </a:solidFill>
                <a:latin typeface="Arial Black" panose="020B0A04020102020204" pitchFamily="34" charset="0"/>
              </a:rPr>
              <a:t> Model</a:t>
            </a:r>
          </a:p>
        </p:txBody>
      </p:sp>
      <p:sp>
        <p:nvSpPr>
          <p:cNvPr id="12" name="Text Box 4"/>
          <p:cNvSpPr txBox="1">
            <a:spLocks noChangeArrowheads="1"/>
          </p:cNvSpPr>
          <p:nvPr/>
        </p:nvSpPr>
        <p:spPr bwMode="auto">
          <a:xfrm>
            <a:off x="875420" y="862876"/>
            <a:ext cx="87129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wrap="square">
            <a:spAutoFit/>
          </a:bodyPr>
          <a:lstStyle>
            <a:lvl1pPr>
              <a:defRPr kumimoji="1" sz="1600">
                <a:solidFill>
                  <a:srgbClr val="003399"/>
                </a:solidFill>
                <a:latin typeface="Comic Sans MS" pitchFamily="66" charset="0"/>
              </a:defRPr>
            </a:lvl1pPr>
            <a:lvl2pPr marL="742950" indent="-285750">
              <a:defRPr kumimoji="1" sz="1600">
                <a:solidFill>
                  <a:srgbClr val="003399"/>
                </a:solidFill>
                <a:latin typeface="Comic Sans MS" pitchFamily="66" charset="0"/>
              </a:defRPr>
            </a:lvl2pPr>
            <a:lvl3pPr marL="1143000" indent="-228600">
              <a:defRPr kumimoji="1" sz="1600">
                <a:solidFill>
                  <a:srgbClr val="003399"/>
                </a:solidFill>
                <a:latin typeface="Comic Sans MS" pitchFamily="66" charset="0"/>
              </a:defRPr>
            </a:lvl3pPr>
            <a:lvl4pPr marL="1600200" indent="-228600">
              <a:defRPr kumimoji="1" sz="1600">
                <a:solidFill>
                  <a:srgbClr val="003399"/>
                </a:solidFill>
                <a:latin typeface="Comic Sans MS" pitchFamily="66" charset="0"/>
              </a:defRPr>
            </a:lvl4pPr>
            <a:lvl5pPr marL="2057400" indent="-228600">
              <a:defRPr kumimoji="1" sz="1600">
                <a:solidFill>
                  <a:srgbClr val="003399"/>
                </a:solidFill>
                <a:latin typeface="Comic Sans MS" pitchFamily="66" charset="0"/>
              </a:defRPr>
            </a:lvl5pPr>
            <a:lvl6pPr marL="2514600" indent="-228600" eaLnBrk="0" fontAlgn="base" hangingPunct="0">
              <a:spcBef>
                <a:spcPct val="0"/>
              </a:spcBef>
              <a:spcAft>
                <a:spcPct val="0"/>
              </a:spcAft>
              <a:defRPr kumimoji="1" sz="1600">
                <a:solidFill>
                  <a:srgbClr val="003399"/>
                </a:solidFill>
                <a:latin typeface="Comic Sans MS" pitchFamily="66" charset="0"/>
              </a:defRPr>
            </a:lvl6pPr>
            <a:lvl7pPr marL="2971800" indent="-228600" eaLnBrk="0" fontAlgn="base" hangingPunct="0">
              <a:spcBef>
                <a:spcPct val="0"/>
              </a:spcBef>
              <a:spcAft>
                <a:spcPct val="0"/>
              </a:spcAft>
              <a:defRPr kumimoji="1" sz="1600">
                <a:solidFill>
                  <a:srgbClr val="003399"/>
                </a:solidFill>
                <a:latin typeface="Comic Sans MS" pitchFamily="66" charset="0"/>
              </a:defRPr>
            </a:lvl7pPr>
            <a:lvl8pPr marL="3429000" indent="-228600" eaLnBrk="0" fontAlgn="base" hangingPunct="0">
              <a:spcBef>
                <a:spcPct val="0"/>
              </a:spcBef>
              <a:spcAft>
                <a:spcPct val="0"/>
              </a:spcAft>
              <a:defRPr kumimoji="1" sz="1600">
                <a:solidFill>
                  <a:srgbClr val="003399"/>
                </a:solidFill>
                <a:latin typeface="Comic Sans MS" pitchFamily="66" charset="0"/>
              </a:defRPr>
            </a:lvl8pPr>
            <a:lvl9pPr marL="3886200" indent="-228600" eaLnBrk="0" fontAlgn="base" hangingPunct="0">
              <a:spcBef>
                <a:spcPct val="0"/>
              </a:spcBef>
              <a:spcAft>
                <a:spcPct val="0"/>
              </a:spcAft>
              <a:defRPr kumimoji="1" sz="1600">
                <a:solidFill>
                  <a:srgbClr val="003399"/>
                </a:solidFill>
                <a:latin typeface="Comic Sans MS" pitchFamily="66" charset="0"/>
              </a:defRPr>
            </a:lvl9pPr>
          </a:lstStyle>
          <a:p>
            <a:pPr>
              <a:spcBef>
                <a:spcPct val="20000"/>
              </a:spcBef>
            </a:pPr>
            <a:r>
              <a:rPr lang="en-US" altLang="zh-CN" sz="3200" dirty="0">
                <a:solidFill>
                  <a:srgbClr val="C00000"/>
                </a:solidFill>
                <a:latin typeface="+mn-lt"/>
                <a:ea typeface="宋体" pitchFamily="2" charset="-122"/>
              </a:rPr>
              <a:t>Example:</a:t>
            </a:r>
            <a:endParaRPr lang="en-GB" sz="3200" dirty="0">
              <a:solidFill>
                <a:srgbClr val="C00000"/>
              </a:solidFill>
              <a:latin typeface="+mn-lt"/>
            </a:endParaRPr>
          </a:p>
        </p:txBody>
      </p:sp>
      <p:sp>
        <p:nvSpPr>
          <p:cNvPr id="11" name="Rectangle 10">
            <a:extLst>
              <a:ext uri="{FF2B5EF4-FFF2-40B4-BE49-F238E27FC236}">
                <a16:creationId xmlns:a16="http://schemas.microsoft.com/office/drawing/2014/main" id="{08B62A4B-3B1F-4130-8062-DF213FBA219C}"/>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30">
            <a:hlinkClick r:id="" action="ppaction://media"/>
            <a:extLst>
              <a:ext uri="{FF2B5EF4-FFF2-40B4-BE49-F238E27FC236}">
                <a16:creationId xmlns:a16="http://schemas.microsoft.com/office/drawing/2014/main" id="{432D580F-950F-4F22-BF10-4474C70C60D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77982" y="5709010"/>
            <a:ext cx="609600" cy="609600"/>
          </a:xfrm>
          <a:prstGeom prst="rect">
            <a:avLst/>
          </a:prstGeom>
        </p:spPr>
      </p:pic>
      <p:sp>
        <p:nvSpPr>
          <p:cNvPr id="3" name="Rectangle 2">
            <a:extLst>
              <a:ext uri="{FF2B5EF4-FFF2-40B4-BE49-F238E27FC236}">
                <a16:creationId xmlns:a16="http://schemas.microsoft.com/office/drawing/2014/main" id="{B5088697-AB9C-A359-86C3-898BA8B57A9C}"/>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98266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48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875420" y="862876"/>
            <a:ext cx="87129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wrap="square">
            <a:spAutoFit/>
          </a:bodyPr>
          <a:lstStyle>
            <a:lvl1pPr>
              <a:defRPr kumimoji="1" sz="1600">
                <a:solidFill>
                  <a:srgbClr val="003399"/>
                </a:solidFill>
                <a:latin typeface="Comic Sans MS" pitchFamily="66" charset="0"/>
              </a:defRPr>
            </a:lvl1pPr>
            <a:lvl2pPr marL="742950" indent="-285750">
              <a:defRPr kumimoji="1" sz="1600">
                <a:solidFill>
                  <a:srgbClr val="003399"/>
                </a:solidFill>
                <a:latin typeface="Comic Sans MS" pitchFamily="66" charset="0"/>
              </a:defRPr>
            </a:lvl2pPr>
            <a:lvl3pPr marL="1143000" indent="-228600">
              <a:defRPr kumimoji="1" sz="1600">
                <a:solidFill>
                  <a:srgbClr val="003399"/>
                </a:solidFill>
                <a:latin typeface="Comic Sans MS" pitchFamily="66" charset="0"/>
              </a:defRPr>
            </a:lvl3pPr>
            <a:lvl4pPr marL="1600200" indent="-228600">
              <a:defRPr kumimoji="1" sz="1600">
                <a:solidFill>
                  <a:srgbClr val="003399"/>
                </a:solidFill>
                <a:latin typeface="Comic Sans MS" pitchFamily="66" charset="0"/>
              </a:defRPr>
            </a:lvl4pPr>
            <a:lvl5pPr marL="2057400" indent="-228600">
              <a:defRPr kumimoji="1" sz="1600">
                <a:solidFill>
                  <a:srgbClr val="003399"/>
                </a:solidFill>
                <a:latin typeface="Comic Sans MS" pitchFamily="66" charset="0"/>
              </a:defRPr>
            </a:lvl5pPr>
            <a:lvl6pPr marL="2514600" indent="-228600" eaLnBrk="0" fontAlgn="base" hangingPunct="0">
              <a:spcBef>
                <a:spcPct val="0"/>
              </a:spcBef>
              <a:spcAft>
                <a:spcPct val="0"/>
              </a:spcAft>
              <a:defRPr kumimoji="1" sz="1600">
                <a:solidFill>
                  <a:srgbClr val="003399"/>
                </a:solidFill>
                <a:latin typeface="Comic Sans MS" pitchFamily="66" charset="0"/>
              </a:defRPr>
            </a:lvl6pPr>
            <a:lvl7pPr marL="2971800" indent="-228600" eaLnBrk="0" fontAlgn="base" hangingPunct="0">
              <a:spcBef>
                <a:spcPct val="0"/>
              </a:spcBef>
              <a:spcAft>
                <a:spcPct val="0"/>
              </a:spcAft>
              <a:defRPr kumimoji="1" sz="1600">
                <a:solidFill>
                  <a:srgbClr val="003399"/>
                </a:solidFill>
                <a:latin typeface="Comic Sans MS" pitchFamily="66" charset="0"/>
              </a:defRPr>
            </a:lvl7pPr>
            <a:lvl8pPr marL="3429000" indent="-228600" eaLnBrk="0" fontAlgn="base" hangingPunct="0">
              <a:spcBef>
                <a:spcPct val="0"/>
              </a:spcBef>
              <a:spcAft>
                <a:spcPct val="0"/>
              </a:spcAft>
              <a:defRPr kumimoji="1" sz="1600">
                <a:solidFill>
                  <a:srgbClr val="003399"/>
                </a:solidFill>
                <a:latin typeface="Comic Sans MS" pitchFamily="66" charset="0"/>
              </a:defRPr>
            </a:lvl8pPr>
            <a:lvl9pPr marL="3886200" indent="-228600" eaLnBrk="0" fontAlgn="base" hangingPunct="0">
              <a:spcBef>
                <a:spcPct val="0"/>
              </a:spcBef>
              <a:spcAft>
                <a:spcPct val="0"/>
              </a:spcAft>
              <a:defRPr kumimoji="1" sz="1600">
                <a:solidFill>
                  <a:srgbClr val="003399"/>
                </a:solidFill>
                <a:latin typeface="Comic Sans MS" pitchFamily="66" charset="0"/>
              </a:defRPr>
            </a:lvl9pPr>
          </a:lstStyle>
          <a:p>
            <a:pPr>
              <a:spcBef>
                <a:spcPct val="20000"/>
              </a:spcBef>
            </a:pPr>
            <a:r>
              <a:rPr lang="en-US" altLang="zh-CN" sz="3200" dirty="0">
                <a:solidFill>
                  <a:srgbClr val="C00000"/>
                </a:solidFill>
                <a:latin typeface="+mn-lt"/>
                <a:ea typeface="宋体" pitchFamily="2" charset="-122"/>
              </a:rPr>
              <a:t>Example:</a:t>
            </a:r>
            <a:endParaRPr lang="en-GB" sz="3200" dirty="0">
              <a:solidFill>
                <a:srgbClr val="C00000"/>
              </a:solidFill>
              <a:latin typeface="+mn-lt"/>
            </a:endParaRPr>
          </a:p>
        </p:txBody>
      </p:sp>
      <p:sp>
        <p:nvSpPr>
          <p:cNvPr id="2" name="Rectangle 1"/>
          <p:cNvSpPr/>
          <p:nvPr/>
        </p:nvSpPr>
        <p:spPr>
          <a:xfrm>
            <a:off x="710529" y="1804939"/>
            <a:ext cx="11093670" cy="3416320"/>
          </a:xfrm>
          <a:prstGeom prst="rect">
            <a:avLst/>
          </a:prstGeom>
        </p:spPr>
        <p:txBody>
          <a:bodyPr wrap="square">
            <a:spAutoFit/>
          </a:bodyPr>
          <a:lstStyle/>
          <a:p>
            <a:pPr lvl="0" algn="just">
              <a:spcAft>
                <a:spcPts val="0"/>
              </a:spcAft>
              <a:tabLst>
                <a:tab pos="450215" algn="l"/>
              </a:tabLst>
            </a:pPr>
            <a:r>
              <a:rPr lang="en-GB" sz="2400" dirty="0"/>
              <a:t>Using Okumura-</a:t>
            </a:r>
            <a:r>
              <a:rPr lang="en-GB" sz="2400" dirty="0" err="1"/>
              <a:t>Hata</a:t>
            </a:r>
            <a:r>
              <a:rPr lang="en-GB" sz="2400" dirty="0"/>
              <a:t> propagation model to determine the path loss.</a:t>
            </a:r>
            <a:r>
              <a:rPr lang="en-GB" sz="2400" dirty="0">
                <a:ea typeface="Times New Roman" panose="02020603050405020304" pitchFamily="18" charset="0"/>
                <a:cs typeface="Arial" panose="020B0604020202020204" pitchFamily="34" charset="0"/>
              </a:rPr>
              <a:t>      </a:t>
            </a:r>
          </a:p>
          <a:p>
            <a:pPr lvl="0" algn="just">
              <a:spcAft>
                <a:spcPts val="0"/>
              </a:spcAft>
              <a:tabLst>
                <a:tab pos="450215" algn="l"/>
              </a:tabLst>
            </a:pPr>
            <a:endParaRPr lang="en-GB" sz="2400" b="1" dirty="0">
              <a:solidFill>
                <a:srgbClr val="0000FF"/>
              </a:solidFill>
              <a:ea typeface="Times New Roman" panose="02020603050405020304" pitchFamily="18" charset="0"/>
              <a:cs typeface="Arial" panose="020B0604020202020204" pitchFamily="34" charset="0"/>
            </a:endParaRPr>
          </a:p>
          <a:p>
            <a:pPr lvl="0" algn="just">
              <a:spcAft>
                <a:spcPts val="0"/>
              </a:spcAft>
              <a:tabLst>
                <a:tab pos="450215" algn="l"/>
              </a:tabLst>
            </a:pPr>
            <a:r>
              <a:rPr lang="de-DE" sz="2400" b="1" dirty="0">
                <a:solidFill>
                  <a:srgbClr val="00B050"/>
                </a:solidFill>
                <a:ea typeface="Times New Roman" panose="02020603050405020304" pitchFamily="18" charset="0"/>
                <a:cs typeface="Arial" panose="020B0604020202020204" pitchFamily="34" charset="0"/>
              </a:rPr>
              <a:t>A</a:t>
            </a:r>
            <a:r>
              <a:rPr lang="de-DE" sz="2400" b="1" baseline="-25000" dirty="0">
                <a:solidFill>
                  <a:srgbClr val="00B050"/>
                </a:solidFill>
                <a:ea typeface="Times New Roman" panose="02020603050405020304" pitchFamily="18" charset="0"/>
                <a:cs typeface="Arial" panose="020B0604020202020204" pitchFamily="34" charset="0"/>
              </a:rPr>
              <a:t>­ </a:t>
            </a:r>
            <a:r>
              <a:rPr lang="de-DE" sz="2400" b="1" dirty="0">
                <a:solidFill>
                  <a:srgbClr val="00B050"/>
                </a:solidFill>
                <a:ea typeface="Times New Roman" panose="02020603050405020304" pitchFamily="18" charset="0"/>
                <a:cs typeface="Arial" panose="020B0604020202020204" pitchFamily="34" charset="0"/>
              </a:rPr>
              <a:t>(h</a:t>
            </a:r>
            <a:r>
              <a:rPr lang="de-DE" sz="2400" b="1" baseline="-25000" dirty="0">
                <a:solidFill>
                  <a:srgbClr val="00B050"/>
                </a:solidFill>
                <a:ea typeface="Times New Roman" panose="02020603050405020304" pitchFamily="18" charset="0"/>
                <a:cs typeface="Arial" panose="020B0604020202020204" pitchFamily="34" charset="0"/>
              </a:rPr>
              <a:t>re</a:t>
            </a:r>
            <a:r>
              <a:rPr lang="de-DE" sz="2400" b="1" dirty="0">
                <a:solidFill>
                  <a:srgbClr val="00B050"/>
                </a:solidFill>
                <a:ea typeface="Times New Roman" panose="02020603050405020304" pitchFamily="18" charset="0"/>
                <a:cs typeface="Arial" panose="020B0604020202020204" pitchFamily="34" charset="0"/>
              </a:rPr>
              <a:t>) = 3.2 [log (11.75h</a:t>
            </a:r>
            <a:r>
              <a:rPr lang="de-DE" sz="2400" b="1" baseline="-25000" dirty="0">
                <a:solidFill>
                  <a:srgbClr val="00B050"/>
                </a:solidFill>
                <a:ea typeface="Times New Roman" panose="02020603050405020304" pitchFamily="18" charset="0"/>
                <a:cs typeface="Arial" panose="020B0604020202020204" pitchFamily="34" charset="0"/>
              </a:rPr>
              <a:t>re</a:t>
            </a:r>
            <a:r>
              <a:rPr lang="de-DE" sz="2400" b="1" dirty="0">
                <a:solidFill>
                  <a:srgbClr val="00B050"/>
                </a:solidFill>
                <a:ea typeface="Times New Roman" panose="02020603050405020304" pitchFamily="18" charset="0"/>
                <a:cs typeface="Arial" panose="020B0604020202020204" pitchFamily="34" charset="0"/>
              </a:rPr>
              <a:t>)]</a:t>
            </a:r>
            <a:r>
              <a:rPr lang="de-DE" sz="2400" b="1" baseline="30000" dirty="0">
                <a:solidFill>
                  <a:srgbClr val="00B050"/>
                </a:solidFill>
                <a:ea typeface="Times New Roman" panose="02020603050405020304" pitchFamily="18" charset="0"/>
                <a:cs typeface="Arial" panose="020B0604020202020204" pitchFamily="34" charset="0"/>
              </a:rPr>
              <a:t>2 </a:t>
            </a:r>
            <a:r>
              <a:rPr lang="de-DE" sz="2400" b="1" dirty="0">
                <a:solidFill>
                  <a:srgbClr val="00B050"/>
                </a:solidFill>
                <a:ea typeface="Times New Roman" panose="02020603050405020304" pitchFamily="18" charset="0"/>
                <a:cs typeface="Arial" panose="020B0604020202020204" pitchFamily="34" charset="0"/>
              </a:rPr>
              <a:t>- 4.97 (dB) 	</a:t>
            </a:r>
            <a:r>
              <a:rPr lang="de-DE" sz="2400" b="1" dirty="0">
                <a:solidFill>
                  <a:srgbClr val="FF0000"/>
                </a:solidFill>
                <a:ea typeface="Times New Roman" panose="02020603050405020304" pitchFamily="18" charset="0"/>
                <a:cs typeface="Arial" panose="020B0604020202020204" pitchFamily="34" charset="0"/>
              </a:rPr>
              <a:t>			</a:t>
            </a:r>
            <a:endParaRPr lang="en-SG" sz="2400" dirty="0">
              <a:solidFill>
                <a:srgbClr val="FF0000"/>
              </a:solidFill>
              <a:ea typeface="Times New Roman" panose="02020603050405020304" pitchFamily="18" charset="0"/>
              <a:cs typeface="Times New Roman" panose="02020603050405020304" pitchFamily="18" charset="0"/>
            </a:endParaRPr>
          </a:p>
          <a:p>
            <a:pPr lvl="0" algn="just">
              <a:spcAft>
                <a:spcPts val="0"/>
              </a:spcAft>
              <a:tabLst>
                <a:tab pos="450215" algn="l"/>
              </a:tabLst>
            </a:pPr>
            <a:r>
              <a:rPr lang="en-SG" sz="2400" b="1" dirty="0">
                <a:solidFill>
                  <a:srgbClr val="0000FF"/>
                </a:solidFill>
                <a:ea typeface="Times New Roman" panose="02020603050405020304" pitchFamily="18" charset="0"/>
                <a:cs typeface="Times New Roman" panose="02020603050405020304" pitchFamily="18" charset="0"/>
              </a:rPr>
              <a:t>            </a:t>
            </a:r>
            <a:r>
              <a:rPr lang="de-DE" sz="2400" b="1" dirty="0">
                <a:solidFill>
                  <a:srgbClr val="0000FF"/>
                </a:solidFill>
                <a:ea typeface="Times New Roman" panose="02020603050405020304" pitchFamily="18" charset="0"/>
                <a:cs typeface="Arial" panose="020B0604020202020204" pitchFamily="34" charset="0"/>
              </a:rPr>
              <a:t>= 3.2 [log(11.75 x 1.6)]</a:t>
            </a:r>
            <a:r>
              <a:rPr lang="de-DE" sz="2400" b="1" baseline="30000" dirty="0">
                <a:solidFill>
                  <a:srgbClr val="0000FF"/>
                </a:solidFill>
                <a:ea typeface="Times New Roman" panose="02020603050405020304" pitchFamily="18" charset="0"/>
                <a:cs typeface="Arial" panose="020B0604020202020204" pitchFamily="34" charset="0"/>
              </a:rPr>
              <a:t>2 </a:t>
            </a:r>
            <a:r>
              <a:rPr lang="de-DE" sz="2400" b="1" dirty="0">
                <a:solidFill>
                  <a:srgbClr val="0000FF"/>
                </a:solidFill>
                <a:ea typeface="Times New Roman" panose="02020603050405020304" pitchFamily="18" charset="0"/>
                <a:cs typeface="Arial" panose="020B0604020202020204" pitchFamily="34" charset="0"/>
              </a:rPr>
              <a:t>- 4.97 </a:t>
            </a:r>
            <a:endParaRPr lang="en-SG" sz="2400" dirty="0">
              <a:ea typeface="Times New Roman" panose="02020603050405020304" pitchFamily="18" charset="0"/>
              <a:cs typeface="Times New Roman" panose="02020603050405020304" pitchFamily="18" charset="0"/>
            </a:endParaRPr>
          </a:p>
          <a:p>
            <a:pPr algn="just">
              <a:spcAft>
                <a:spcPts val="0"/>
              </a:spcAft>
            </a:pPr>
            <a:r>
              <a:rPr lang="de-DE" sz="2400" b="1" dirty="0">
                <a:solidFill>
                  <a:srgbClr val="0000FF"/>
                </a:solidFill>
                <a:ea typeface="Times New Roman" panose="02020603050405020304" pitchFamily="18" charset="0"/>
                <a:cs typeface="Arial" panose="020B0604020202020204" pitchFamily="34" charset="0"/>
              </a:rPr>
              <a:t>            = 0.2251	</a:t>
            </a:r>
          </a:p>
          <a:p>
            <a:pPr algn="just">
              <a:spcAft>
                <a:spcPts val="0"/>
              </a:spcAft>
            </a:pPr>
            <a:r>
              <a:rPr lang="de-DE" sz="2400" b="1" dirty="0">
                <a:ea typeface="Times New Roman" panose="02020603050405020304" pitchFamily="18" charset="0"/>
                <a:cs typeface="Arial" panose="020B0604020202020204" pitchFamily="34" charset="0"/>
              </a:rPr>
              <a:t>							   </a:t>
            </a:r>
          </a:p>
          <a:p>
            <a:pPr algn="just">
              <a:spcAft>
                <a:spcPts val="0"/>
              </a:spcAft>
            </a:pPr>
            <a:r>
              <a:rPr lang="de-DE" sz="2400" b="1" dirty="0">
                <a:solidFill>
                  <a:srgbClr val="FF0000"/>
                </a:solidFill>
                <a:ea typeface="Times New Roman" panose="02020603050405020304" pitchFamily="18" charset="0"/>
                <a:cs typeface="Arial" panose="020B0604020202020204" pitchFamily="34" charset="0"/>
              </a:rPr>
              <a:t>L</a:t>
            </a:r>
            <a:r>
              <a:rPr lang="de-DE" sz="2400" b="1" baseline="-25000" dirty="0">
                <a:solidFill>
                  <a:srgbClr val="FF0000"/>
                </a:solidFill>
                <a:ea typeface="Times New Roman" panose="02020603050405020304" pitchFamily="18" charset="0"/>
                <a:cs typeface="Arial" panose="020B0604020202020204" pitchFamily="34" charset="0"/>
              </a:rPr>
              <a:t>P</a:t>
            </a:r>
            <a:r>
              <a:rPr lang="de-DE" sz="2400" b="1" dirty="0">
                <a:solidFill>
                  <a:srgbClr val="FF0000"/>
                </a:solidFill>
                <a:ea typeface="Times New Roman" panose="02020603050405020304" pitchFamily="18" charset="0"/>
                <a:cs typeface="Arial" panose="020B0604020202020204" pitchFamily="34" charset="0"/>
              </a:rPr>
              <a:t> = 69.55 + 26.16 log f(MHz) – 13.82 log h</a:t>
            </a:r>
            <a:r>
              <a:rPr lang="de-DE" sz="2400" b="1" baseline="-25000" dirty="0">
                <a:solidFill>
                  <a:srgbClr val="FF0000"/>
                </a:solidFill>
                <a:ea typeface="Times New Roman" panose="02020603050405020304" pitchFamily="18" charset="0"/>
                <a:cs typeface="Arial" panose="020B0604020202020204" pitchFamily="34" charset="0"/>
              </a:rPr>
              <a:t>te</a:t>
            </a:r>
            <a:r>
              <a:rPr lang="de-DE" sz="2400" b="1" dirty="0">
                <a:solidFill>
                  <a:srgbClr val="FF0000"/>
                </a:solidFill>
                <a:ea typeface="Times New Roman" panose="02020603050405020304" pitchFamily="18" charset="0"/>
                <a:cs typeface="Arial" panose="020B0604020202020204" pitchFamily="34" charset="0"/>
              </a:rPr>
              <a:t> – A(h</a:t>
            </a:r>
            <a:r>
              <a:rPr lang="de-DE" sz="2400" b="1" baseline="-25000" dirty="0">
                <a:solidFill>
                  <a:srgbClr val="FF0000"/>
                </a:solidFill>
                <a:ea typeface="Times New Roman" panose="02020603050405020304" pitchFamily="18" charset="0"/>
                <a:cs typeface="Arial" panose="020B0604020202020204" pitchFamily="34" charset="0"/>
              </a:rPr>
              <a:t>re</a:t>
            </a:r>
            <a:r>
              <a:rPr lang="de-DE" sz="2400" b="1" dirty="0">
                <a:solidFill>
                  <a:srgbClr val="FF0000"/>
                </a:solidFill>
                <a:ea typeface="Times New Roman" panose="02020603050405020304" pitchFamily="18" charset="0"/>
                <a:cs typeface="Arial" panose="020B0604020202020204" pitchFamily="34" charset="0"/>
              </a:rPr>
              <a:t>) + [44.9 – 6.55 log h</a:t>
            </a:r>
            <a:r>
              <a:rPr lang="de-DE" sz="2400" b="1" baseline="-25000" dirty="0">
                <a:solidFill>
                  <a:srgbClr val="FF0000"/>
                </a:solidFill>
                <a:ea typeface="Times New Roman" panose="02020603050405020304" pitchFamily="18" charset="0"/>
                <a:cs typeface="Arial" panose="020B0604020202020204" pitchFamily="34" charset="0"/>
              </a:rPr>
              <a:t>te</a:t>
            </a:r>
            <a:r>
              <a:rPr lang="de-DE" sz="2400" b="1" dirty="0">
                <a:solidFill>
                  <a:srgbClr val="FF0000"/>
                </a:solidFill>
                <a:ea typeface="Times New Roman" panose="02020603050405020304" pitchFamily="18" charset="0"/>
                <a:cs typeface="Arial" panose="020B0604020202020204" pitchFamily="34" charset="0"/>
              </a:rPr>
              <a:t>] [log d (km)]</a:t>
            </a:r>
          </a:p>
          <a:p>
            <a:pPr algn="just">
              <a:spcAft>
                <a:spcPts val="0"/>
              </a:spcAft>
            </a:pPr>
            <a:r>
              <a:rPr lang="de-DE" sz="2400" b="1" dirty="0">
                <a:solidFill>
                  <a:srgbClr val="0000FF"/>
                </a:solidFill>
                <a:ea typeface="Times New Roman" panose="02020603050405020304" pitchFamily="18" charset="0"/>
                <a:cs typeface="Arial" panose="020B0604020202020204" pitchFamily="34" charset="0"/>
              </a:rPr>
              <a:t>     = 69.55 + 26.16 log(935.2) - 13.82 log(50) -  0.2251 + [44.9 - 6.55 log 50] log3.5 </a:t>
            </a:r>
          </a:p>
          <a:p>
            <a:pPr algn="just">
              <a:spcAft>
                <a:spcPts val="0"/>
              </a:spcAft>
            </a:pPr>
            <a:r>
              <a:rPr lang="de-DE" sz="2400" b="1" dirty="0">
                <a:solidFill>
                  <a:srgbClr val="0000FF"/>
                </a:solidFill>
                <a:ea typeface="Times New Roman" panose="02020603050405020304" pitchFamily="18" charset="0"/>
                <a:cs typeface="Arial" panose="020B0604020202020204" pitchFamily="34" charset="0"/>
              </a:rPr>
              <a:t>     = 141.94 dB					</a:t>
            </a:r>
            <a:r>
              <a:rPr lang="de-DE" b="1" dirty="0">
                <a:solidFill>
                  <a:srgbClr val="0000FF"/>
                </a:solidFill>
                <a:latin typeface="Arial" panose="020B0604020202020204" pitchFamily="34" charset="0"/>
                <a:ea typeface="Times New Roman" panose="02020603050405020304" pitchFamily="18" charset="0"/>
                <a:cs typeface="Arial" panose="020B0604020202020204" pitchFamily="34" charset="0"/>
              </a:rPr>
              <a:t>	          </a:t>
            </a:r>
            <a:endParaRPr lang="en-SG"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Okumura’s </a:t>
            </a:r>
            <a:r>
              <a:rPr lang="en-SG" sz="2400" b="1" dirty="0" err="1">
                <a:solidFill>
                  <a:srgbClr val="C00000"/>
                </a:solidFill>
                <a:latin typeface="Arial Black" panose="020B0A04020102020204" pitchFamily="34" charset="0"/>
              </a:rPr>
              <a:t>Hata</a:t>
            </a:r>
            <a:r>
              <a:rPr lang="en-SG" sz="2400" b="1" dirty="0">
                <a:solidFill>
                  <a:srgbClr val="C00000"/>
                </a:solidFill>
                <a:latin typeface="Arial Black" panose="020B0A04020102020204" pitchFamily="34" charset="0"/>
              </a:rPr>
              <a:t> Model</a:t>
            </a:r>
          </a:p>
        </p:txBody>
      </p:sp>
      <p:sp>
        <p:nvSpPr>
          <p:cNvPr id="12" name="Rectangle 11">
            <a:extLst>
              <a:ext uri="{FF2B5EF4-FFF2-40B4-BE49-F238E27FC236}">
                <a16:creationId xmlns:a16="http://schemas.microsoft.com/office/drawing/2014/main" id="{A1598E8D-BA5B-4294-862A-AF384DB485C0}"/>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3" name="Pg31">
            <a:hlinkClick r:id="" action="ppaction://media"/>
            <a:extLst>
              <a:ext uri="{FF2B5EF4-FFF2-40B4-BE49-F238E27FC236}">
                <a16:creationId xmlns:a16="http://schemas.microsoft.com/office/drawing/2014/main" id="{290359D8-490A-474A-9A81-830D794127A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92972" y="5593537"/>
            <a:ext cx="609600" cy="609600"/>
          </a:xfrm>
          <a:prstGeom prst="rect">
            <a:avLst/>
          </a:prstGeom>
        </p:spPr>
      </p:pic>
      <p:sp>
        <p:nvSpPr>
          <p:cNvPr id="4" name="Rectangle 3">
            <a:extLst>
              <a:ext uri="{FF2B5EF4-FFF2-40B4-BE49-F238E27FC236}">
                <a16:creationId xmlns:a16="http://schemas.microsoft.com/office/drawing/2014/main" id="{D46F6E71-7D63-13CB-3E35-3A21DEA3771A}"/>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91349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99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C17D801-874F-4215-9859-4CFA102E6987}"/>
              </a:ext>
            </a:extLst>
          </p:cNvPr>
          <p:cNvGrpSpPr/>
          <p:nvPr/>
        </p:nvGrpSpPr>
        <p:grpSpPr>
          <a:xfrm>
            <a:off x="1818230" y="1100024"/>
            <a:ext cx="8233260" cy="3587635"/>
            <a:chOff x="1205129" y="1314123"/>
            <a:chExt cx="9438431" cy="4339916"/>
          </a:xfrm>
        </p:grpSpPr>
        <p:sp>
          <p:nvSpPr>
            <p:cNvPr id="7" name="Rectangle 4"/>
            <p:cNvSpPr>
              <a:spLocks noChangeArrowheads="1"/>
            </p:cNvSpPr>
            <p:nvPr/>
          </p:nvSpPr>
          <p:spPr bwMode="auto">
            <a:xfrm>
              <a:off x="1828172" y="4698673"/>
              <a:ext cx="1295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Text Box 5"/>
            <p:cNvSpPr txBox="1">
              <a:spLocks noChangeArrowheads="1"/>
            </p:cNvSpPr>
            <p:nvPr/>
          </p:nvSpPr>
          <p:spPr bwMode="auto">
            <a:xfrm>
              <a:off x="1757409" y="4648793"/>
              <a:ext cx="1898650" cy="100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t>Transmitter</a:t>
              </a:r>
            </a:p>
            <a:p>
              <a:r>
                <a:rPr lang="en-US" dirty="0"/>
                <a:t>Power</a:t>
              </a:r>
            </a:p>
            <a:p>
              <a:r>
                <a:rPr lang="en-US" dirty="0"/>
                <a:t>Amplifier</a:t>
              </a:r>
            </a:p>
          </p:txBody>
        </p:sp>
        <p:grpSp>
          <p:nvGrpSpPr>
            <p:cNvPr id="10" name="Group 6"/>
            <p:cNvGrpSpPr>
              <a:grpSpLocks/>
            </p:cNvGrpSpPr>
            <p:nvPr/>
          </p:nvGrpSpPr>
          <p:grpSpPr bwMode="auto">
            <a:xfrm>
              <a:off x="3352172" y="1955473"/>
              <a:ext cx="914400" cy="2514600"/>
              <a:chOff x="576" y="1440"/>
              <a:chExt cx="597" cy="1964"/>
            </a:xfrm>
          </p:grpSpPr>
          <p:sp>
            <p:nvSpPr>
              <p:cNvPr id="11" name="Line 7"/>
              <p:cNvSpPr>
                <a:spLocks noChangeShapeType="1"/>
              </p:cNvSpPr>
              <p:nvPr/>
            </p:nvSpPr>
            <p:spPr bwMode="auto">
              <a:xfrm>
                <a:off x="791" y="2299"/>
                <a:ext cx="187"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2" name="Line 8"/>
              <p:cNvSpPr>
                <a:spLocks noChangeShapeType="1"/>
              </p:cNvSpPr>
              <p:nvPr/>
            </p:nvSpPr>
            <p:spPr bwMode="auto">
              <a:xfrm flipV="1">
                <a:off x="876" y="1536"/>
                <a:ext cx="6" cy="5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 name="Line 9"/>
              <p:cNvSpPr>
                <a:spLocks noChangeShapeType="1"/>
              </p:cNvSpPr>
              <p:nvPr/>
            </p:nvSpPr>
            <p:spPr bwMode="auto">
              <a:xfrm flipV="1">
                <a:off x="576" y="2041"/>
                <a:ext cx="242" cy="1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4" name="Line 10"/>
              <p:cNvSpPr>
                <a:spLocks noChangeShapeType="1"/>
              </p:cNvSpPr>
              <p:nvPr/>
            </p:nvSpPr>
            <p:spPr bwMode="auto">
              <a:xfrm>
                <a:off x="935" y="2043"/>
                <a:ext cx="238" cy="13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5" name="Line 11"/>
              <p:cNvSpPr>
                <a:spLocks noChangeShapeType="1"/>
              </p:cNvSpPr>
              <p:nvPr/>
            </p:nvSpPr>
            <p:spPr bwMode="auto">
              <a:xfrm>
                <a:off x="596" y="3365"/>
                <a:ext cx="573"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 name="Line 12"/>
              <p:cNvSpPr>
                <a:spLocks noChangeShapeType="1"/>
              </p:cNvSpPr>
              <p:nvPr/>
            </p:nvSpPr>
            <p:spPr bwMode="auto">
              <a:xfrm>
                <a:off x="662" y="2993"/>
                <a:ext cx="449"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7" name="Line 13"/>
              <p:cNvSpPr>
                <a:spLocks noChangeShapeType="1"/>
              </p:cNvSpPr>
              <p:nvPr/>
            </p:nvSpPr>
            <p:spPr bwMode="auto">
              <a:xfrm>
                <a:off x="658" y="2999"/>
                <a:ext cx="492" cy="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8" name="Line 14"/>
              <p:cNvSpPr>
                <a:spLocks noChangeShapeType="1"/>
              </p:cNvSpPr>
              <p:nvPr/>
            </p:nvSpPr>
            <p:spPr bwMode="auto">
              <a:xfrm flipH="1">
                <a:off x="607" y="2996"/>
                <a:ext cx="492" cy="3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9" name="Line 15"/>
              <p:cNvSpPr>
                <a:spLocks noChangeShapeType="1"/>
              </p:cNvSpPr>
              <p:nvPr/>
            </p:nvSpPr>
            <p:spPr bwMode="auto">
              <a:xfrm>
                <a:off x="724" y="2633"/>
                <a:ext cx="312"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0" name="Line 16"/>
              <p:cNvSpPr>
                <a:spLocks noChangeShapeType="1"/>
              </p:cNvSpPr>
              <p:nvPr/>
            </p:nvSpPr>
            <p:spPr bwMode="auto">
              <a:xfrm>
                <a:off x="724" y="2631"/>
                <a:ext cx="371" cy="3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1" name="Line 17"/>
              <p:cNvSpPr>
                <a:spLocks noChangeShapeType="1"/>
              </p:cNvSpPr>
              <p:nvPr/>
            </p:nvSpPr>
            <p:spPr bwMode="auto">
              <a:xfrm flipV="1">
                <a:off x="642" y="2631"/>
                <a:ext cx="383" cy="3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2" name="Line 18"/>
              <p:cNvSpPr>
                <a:spLocks noChangeShapeType="1"/>
              </p:cNvSpPr>
              <p:nvPr/>
            </p:nvSpPr>
            <p:spPr bwMode="auto">
              <a:xfrm>
                <a:off x="763" y="2299"/>
                <a:ext cx="277" cy="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3" name="Line 19"/>
              <p:cNvSpPr>
                <a:spLocks noChangeShapeType="1"/>
              </p:cNvSpPr>
              <p:nvPr/>
            </p:nvSpPr>
            <p:spPr bwMode="auto">
              <a:xfrm flipV="1">
                <a:off x="705" y="2294"/>
                <a:ext cx="265" cy="3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4" name="Line 20"/>
              <p:cNvSpPr>
                <a:spLocks noChangeShapeType="1"/>
              </p:cNvSpPr>
              <p:nvPr/>
            </p:nvSpPr>
            <p:spPr bwMode="auto">
              <a:xfrm flipV="1">
                <a:off x="755" y="2044"/>
                <a:ext cx="184" cy="2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5" name="Line 21"/>
              <p:cNvSpPr>
                <a:spLocks noChangeShapeType="1"/>
              </p:cNvSpPr>
              <p:nvPr/>
            </p:nvSpPr>
            <p:spPr bwMode="auto">
              <a:xfrm>
                <a:off x="828" y="2052"/>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6" name="Line 22"/>
              <p:cNvSpPr>
                <a:spLocks noChangeShapeType="1"/>
              </p:cNvSpPr>
              <p:nvPr/>
            </p:nvSpPr>
            <p:spPr bwMode="auto">
              <a:xfrm>
                <a:off x="816" y="1440"/>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7" name="Line 23"/>
              <p:cNvSpPr>
                <a:spLocks noChangeShapeType="1"/>
              </p:cNvSpPr>
              <p:nvPr/>
            </p:nvSpPr>
            <p:spPr bwMode="auto">
              <a:xfrm>
                <a:off x="912" y="1440"/>
                <a:ext cx="0"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8" name="Line 24"/>
              <p:cNvSpPr>
                <a:spLocks noChangeShapeType="1"/>
              </p:cNvSpPr>
              <p:nvPr/>
            </p:nvSpPr>
            <p:spPr bwMode="auto">
              <a:xfrm>
                <a:off x="816" y="1584"/>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9" name="Line 25"/>
              <p:cNvSpPr>
                <a:spLocks noChangeShapeType="1"/>
              </p:cNvSpPr>
              <p:nvPr/>
            </p:nvSpPr>
            <p:spPr bwMode="auto">
              <a:xfrm>
                <a:off x="816" y="1680"/>
                <a:ext cx="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sp>
          <p:nvSpPr>
            <p:cNvPr id="30" name="Rectangle 26"/>
            <p:cNvSpPr>
              <a:spLocks noChangeArrowheads="1"/>
            </p:cNvSpPr>
            <p:nvPr/>
          </p:nvSpPr>
          <p:spPr bwMode="auto">
            <a:xfrm>
              <a:off x="9219572" y="4470073"/>
              <a:ext cx="13716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r>
                <a:rPr lang="en-US" sz="1800"/>
                <a:t>Receiver</a:t>
              </a:r>
            </a:p>
          </p:txBody>
        </p:sp>
        <p:grpSp>
          <p:nvGrpSpPr>
            <p:cNvPr id="31" name="Group 27"/>
            <p:cNvGrpSpPr>
              <a:grpSpLocks/>
            </p:cNvGrpSpPr>
            <p:nvPr/>
          </p:nvGrpSpPr>
          <p:grpSpPr bwMode="auto">
            <a:xfrm>
              <a:off x="8100385" y="3546148"/>
              <a:ext cx="533400" cy="1304925"/>
              <a:chOff x="2760" y="2346"/>
              <a:chExt cx="336" cy="822"/>
            </a:xfrm>
          </p:grpSpPr>
          <p:sp>
            <p:nvSpPr>
              <p:cNvPr id="32" name="Line 28"/>
              <p:cNvSpPr>
                <a:spLocks noChangeShapeType="1"/>
              </p:cNvSpPr>
              <p:nvPr/>
            </p:nvSpPr>
            <p:spPr bwMode="auto">
              <a:xfrm flipV="1">
                <a:off x="2928" y="2352"/>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33" name="AutoShape 29"/>
              <p:cNvSpPr>
                <a:spLocks noChangeArrowheads="1"/>
              </p:cNvSpPr>
              <p:nvPr/>
            </p:nvSpPr>
            <p:spPr bwMode="auto">
              <a:xfrm flipV="1">
                <a:off x="2760" y="2346"/>
                <a:ext cx="336" cy="336"/>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34" name="Group 30"/>
            <p:cNvGrpSpPr>
              <a:grpSpLocks/>
            </p:cNvGrpSpPr>
            <p:nvPr/>
          </p:nvGrpSpPr>
          <p:grpSpPr bwMode="auto">
            <a:xfrm>
              <a:off x="4342772" y="2107873"/>
              <a:ext cx="3581400" cy="1600200"/>
              <a:chOff x="1776" y="1440"/>
              <a:chExt cx="864" cy="768"/>
            </a:xfrm>
          </p:grpSpPr>
          <p:sp>
            <p:nvSpPr>
              <p:cNvPr id="35" name="Line 31"/>
              <p:cNvSpPr>
                <a:spLocks noChangeShapeType="1"/>
              </p:cNvSpPr>
              <p:nvPr/>
            </p:nvSpPr>
            <p:spPr bwMode="auto">
              <a:xfrm>
                <a:off x="1776" y="1440"/>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36" name="Line 32"/>
              <p:cNvSpPr>
                <a:spLocks noChangeShapeType="1"/>
              </p:cNvSpPr>
              <p:nvPr/>
            </p:nvSpPr>
            <p:spPr bwMode="auto">
              <a:xfrm flipH="1">
                <a:off x="2112" y="1824"/>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37" name="Line 33"/>
              <p:cNvSpPr>
                <a:spLocks noChangeShapeType="1"/>
              </p:cNvSpPr>
              <p:nvPr/>
            </p:nvSpPr>
            <p:spPr bwMode="auto">
              <a:xfrm>
                <a:off x="2112" y="1872"/>
                <a:ext cx="52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grpSp>
        <p:sp>
          <p:nvSpPr>
            <p:cNvPr id="38" name="Text Box 34"/>
            <p:cNvSpPr txBox="1">
              <a:spLocks noChangeArrowheads="1"/>
            </p:cNvSpPr>
            <p:nvPr/>
          </p:nvSpPr>
          <p:spPr bwMode="auto">
            <a:xfrm>
              <a:off x="3252454" y="5003473"/>
              <a:ext cx="16637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Transmit Power </a:t>
              </a:r>
            </a:p>
            <a:p>
              <a:pPr algn="ctr"/>
              <a:r>
                <a:rPr lang="en-US" dirty="0">
                  <a:solidFill>
                    <a:srgbClr val="0000FF"/>
                  </a:solidFill>
                </a:rPr>
                <a:t>P</a:t>
              </a:r>
              <a:r>
                <a:rPr lang="en-US" baseline="-25000" dirty="0">
                  <a:solidFill>
                    <a:srgbClr val="0000FF"/>
                  </a:solidFill>
                </a:rPr>
                <a:t>T</a:t>
              </a:r>
              <a:r>
                <a:rPr lang="en-US" dirty="0">
                  <a:solidFill>
                    <a:srgbClr val="0000FF"/>
                  </a:solidFill>
                </a:rPr>
                <a:t> (</a:t>
              </a:r>
              <a:r>
                <a:rPr lang="en-US" dirty="0" err="1">
                  <a:solidFill>
                    <a:srgbClr val="0000FF"/>
                  </a:solidFill>
                </a:rPr>
                <a:t>dBm</a:t>
              </a:r>
              <a:r>
                <a:rPr lang="en-US" dirty="0">
                  <a:solidFill>
                    <a:srgbClr val="0000FF"/>
                  </a:solidFill>
                </a:rPr>
                <a:t>)</a:t>
              </a:r>
            </a:p>
          </p:txBody>
        </p:sp>
        <p:sp>
          <p:nvSpPr>
            <p:cNvPr id="39" name="Freeform 35"/>
            <p:cNvSpPr>
              <a:spLocks/>
            </p:cNvSpPr>
            <p:nvPr/>
          </p:nvSpPr>
          <p:spPr bwMode="auto">
            <a:xfrm>
              <a:off x="3123572" y="2399973"/>
              <a:ext cx="685800" cy="3009900"/>
            </a:xfrm>
            <a:custGeom>
              <a:avLst/>
              <a:gdLst>
                <a:gd name="T0" fmla="*/ 0 w 432"/>
                <a:gd name="T1" fmla="*/ 2147483647 h 1896"/>
                <a:gd name="T2" fmla="*/ 241935031 w 432"/>
                <a:gd name="T3" fmla="*/ 2147483647 h 1896"/>
                <a:gd name="T4" fmla="*/ 241935031 w 432"/>
                <a:gd name="T5" fmla="*/ 2147483647 h 1896"/>
                <a:gd name="T6" fmla="*/ 846772658 w 432"/>
                <a:gd name="T7" fmla="*/ 383063751 h 1896"/>
                <a:gd name="T8" fmla="*/ 1088707589 w 432"/>
                <a:gd name="T9" fmla="*/ 383063751 h 1896"/>
                <a:gd name="T10" fmla="*/ 0 60000 65536"/>
                <a:gd name="T11" fmla="*/ 0 60000 65536"/>
                <a:gd name="T12" fmla="*/ 0 60000 65536"/>
                <a:gd name="T13" fmla="*/ 0 60000 65536"/>
                <a:gd name="T14" fmla="*/ 0 60000 65536"/>
                <a:gd name="T15" fmla="*/ 0 w 432"/>
                <a:gd name="T16" fmla="*/ 0 h 1896"/>
                <a:gd name="T17" fmla="*/ 432 w 432"/>
                <a:gd name="T18" fmla="*/ 1896 h 1896"/>
              </a:gdLst>
              <a:ahLst/>
              <a:cxnLst>
                <a:cxn ang="T10">
                  <a:pos x="T0" y="T1"/>
                </a:cxn>
                <a:cxn ang="T11">
                  <a:pos x="T2" y="T3"/>
                </a:cxn>
                <a:cxn ang="T12">
                  <a:pos x="T4" y="T5"/>
                </a:cxn>
                <a:cxn ang="T13">
                  <a:pos x="T6" y="T7"/>
                </a:cxn>
                <a:cxn ang="T14">
                  <a:pos x="T8" y="T9"/>
                </a:cxn>
              </a:cxnLst>
              <a:rect l="T15" t="T16" r="T17" b="T18"/>
              <a:pathLst>
                <a:path w="432" h="1896">
                  <a:moveTo>
                    <a:pt x="0" y="1736"/>
                  </a:moveTo>
                  <a:cubicBezTo>
                    <a:pt x="40" y="1816"/>
                    <a:pt x="80" y="1896"/>
                    <a:pt x="96" y="1784"/>
                  </a:cubicBezTo>
                  <a:cubicBezTo>
                    <a:pt x="112" y="1672"/>
                    <a:pt x="56" y="1336"/>
                    <a:pt x="96" y="1064"/>
                  </a:cubicBezTo>
                  <a:cubicBezTo>
                    <a:pt x="136" y="792"/>
                    <a:pt x="280" y="304"/>
                    <a:pt x="336" y="152"/>
                  </a:cubicBezTo>
                  <a:cubicBezTo>
                    <a:pt x="392" y="0"/>
                    <a:pt x="412" y="76"/>
                    <a:pt x="432" y="152"/>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Text Box 36"/>
            <p:cNvSpPr txBox="1">
              <a:spLocks noChangeArrowheads="1"/>
            </p:cNvSpPr>
            <p:nvPr/>
          </p:nvSpPr>
          <p:spPr bwMode="auto">
            <a:xfrm>
              <a:off x="1828172" y="3082598"/>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Feeder cable</a:t>
              </a:r>
            </a:p>
          </p:txBody>
        </p:sp>
        <p:sp>
          <p:nvSpPr>
            <p:cNvPr id="41" name="Line 37"/>
            <p:cNvSpPr>
              <a:spLocks noChangeShapeType="1"/>
            </p:cNvSpPr>
            <p:nvPr/>
          </p:nvSpPr>
          <p:spPr bwMode="auto">
            <a:xfrm>
              <a:off x="2894972" y="3403273"/>
              <a:ext cx="3810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42" name="Text Box 38"/>
            <p:cNvSpPr txBox="1">
              <a:spLocks noChangeArrowheads="1"/>
            </p:cNvSpPr>
            <p:nvPr/>
          </p:nvSpPr>
          <p:spPr bwMode="auto">
            <a:xfrm>
              <a:off x="1523372" y="1314123"/>
              <a:ext cx="1787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t>Transmit Antenna</a:t>
              </a:r>
            </a:p>
          </p:txBody>
        </p:sp>
        <p:sp>
          <p:nvSpPr>
            <p:cNvPr id="43" name="Line 39"/>
            <p:cNvSpPr>
              <a:spLocks noChangeShapeType="1"/>
            </p:cNvSpPr>
            <p:nvPr/>
          </p:nvSpPr>
          <p:spPr bwMode="auto">
            <a:xfrm>
              <a:off x="2742572" y="1803073"/>
              <a:ext cx="762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44" name="Text Box 40"/>
            <p:cNvSpPr txBox="1">
              <a:spLocks noChangeArrowheads="1"/>
            </p:cNvSpPr>
            <p:nvPr/>
          </p:nvSpPr>
          <p:spPr bwMode="auto">
            <a:xfrm>
              <a:off x="8914772" y="2990523"/>
              <a:ext cx="17287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Receive Antenna</a:t>
              </a:r>
            </a:p>
          </p:txBody>
        </p:sp>
        <p:sp>
          <p:nvSpPr>
            <p:cNvPr id="45" name="Line 41"/>
            <p:cNvSpPr>
              <a:spLocks noChangeShapeType="1"/>
            </p:cNvSpPr>
            <p:nvPr/>
          </p:nvSpPr>
          <p:spPr bwMode="auto">
            <a:xfrm flipH="1">
              <a:off x="8686172" y="3250873"/>
              <a:ext cx="3048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46" name="Text Box 42"/>
            <p:cNvSpPr txBox="1">
              <a:spLocks noChangeArrowheads="1"/>
            </p:cNvSpPr>
            <p:nvPr/>
          </p:nvSpPr>
          <p:spPr bwMode="auto">
            <a:xfrm>
              <a:off x="7578097" y="4851073"/>
              <a:ext cx="1717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Received Power </a:t>
              </a:r>
            </a:p>
            <a:p>
              <a:pPr algn="ctr"/>
              <a:r>
                <a:rPr lang="en-US" dirty="0">
                  <a:solidFill>
                    <a:srgbClr val="0000FF"/>
                  </a:solidFill>
                </a:rPr>
                <a:t>P</a:t>
              </a:r>
              <a:r>
                <a:rPr lang="en-US" baseline="-25000" dirty="0">
                  <a:solidFill>
                    <a:srgbClr val="0000FF"/>
                  </a:solidFill>
                </a:rPr>
                <a:t>R</a:t>
              </a:r>
              <a:r>
                <a:rPr lang="en-US" dirty="0">
                  <a:solidFill>
                    <a:srgbClr val="0000FF"/>
                  </a:solidFill>
                </a:rPr>
                <a:t> (</a:t>
              </a:r>
              <a:r>
                <a:rPr lang="en-US" dirty="0" err="1">
                  <a:solidFill>
                    <a:srgbClr val="0000FF"/>
                  </a:solidFill>
                </a:rPr>
                <a:t>dBm</a:t>
              </a:r>
              <a:r>
                <a:rPr lang="en-US" dirty="0">
                  <a:solidFill>
                    <a:srgbClr val="0000FF"/>
                  </a:solidFill>
                </a:rPr>
                <a:t>)</a:t>
              </a:r>
            </a:p>
          </p:txBody>
        </p:sp>
        <p:sp>
          <p:nvSpPr>
            <p:cNvPr id="47" name="Text Box 43"/>
            <p:cNvSpPr txBox="1">
              <a:spLocks noChangeArrowheads="1"/>
            </p:cNvSpPr>
            <p:nvPr/>
          </p:nvSpPr>
          <p:spPr bwMode="auto">
            <a:xfrm>
              <a:off x="5374647" y="1882448"/>
              <a:ext cx="3562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solidFill>
                    <a:srgbClr val="0000FF"/>
                  </a:solidFill>
                </a:rPr>
                <a:t>Path Loss PL (dB) and </a:t>
              </a:r>
            </a:p>
            <a:p>
              <a:r>
                <a:rPr lang="en-US" dirty="0">
                  <a:solidFill>
                    <a:srgbClr val="0000FF"/>
                  </a:solidFill>
                </a:rPr>
                <a:t>Fade Margin FM (dB)</a:t>
              </a:r>
            </a:p>
          </p:txBody>
        </p:sp>
        <p:sp>
          <p:nvSpPr>
            <p:cNvPr id="48" name="Text Box 44"/>
            <p:cNvSpPr txBox="1">
              <a:spLocks noChangeArrowheads="1"/>
            </p:cNvSpPr>
            <p:nvPr/>
          </p:nvSpPr>
          <p:spPr bwMode="auto">
            <a:xfrm>
              <a:off x="8914772" y="3203248"/>
              <a:ext cx="135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solidFill>
                    <a:srgbClr val="0000FF"/>
                  </a:solidFill>
                </a:rPr>
                <a:t>Gain G</a:t>
              </a:r>
              <a:r>
                <a:rPr lang="en-US" baseline="-25000" dirty="0">
                  <a:solidFill>
                    <a:srgbClr val="0000FF"/>
                  </a:solidFill>
                </a:rPr>
                <a:t>R </a:t>
              </a:r>
              <a:r>
                <a:rPr lang="en-US" dirty="0">
                  <a:solidFill>
                    <a:srgbClr val="0000FF"/>
                  </a:solidFill>
                </a:rPr>
                <a:t>(dB)</a:t>
              </a:r>
            </a:p>
          </p:txBody>
        </p:sp>
        <p:sp>
          <p:nvSpPr>
            <p:cNvPr id="49" name="Text Box 45"/>
            <p:cNvSpPr txBox="1">
              <a:spLocks noChangeArrowheads="1"/>
            </p:cNvSpPr>
            <p:nvPr/>
          </p:nvSpPr>
          <p:spPr bwMode="auto">
            <a:xfrm>
              <a:off x="1785310" y="3371523"/>
              <a:ext cx="11874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Cable loss </a:t>
              </a:r>
            </a:p>
            <a:p>
              <a:pPr algn="ctr"/>
              <a:r>
                <a:rPr lang="en-US" dirty="0">
                  <a:solidFill>
                    <a:srgbClr val="0000FF"/>
                  </a:solidFill>
                </a:rPr>
                <a:t>L</a:t>
              </a:r>
              <a:r>
                <a:rPr lang="en-US" baseline="-25000" dirty="0">
                  <a:solidFill>
                    <a:srgbClr val="0000FF"/>
                  </a:solidFill>
                </a:rPr>
                <a:t>f</a:t>
              </a:r>
              <a:r>
                <a:rPr lang="en-US" dirty="0">
                  <a:solidFill>
                    <a:srgbClr val="0000FF"/>
                  </a:solidFill>
                </a:rPr>
                <a:t> (dB)</a:t>
              </a:r>
            </a:p>
          </p:txBody>
        </p:sp>
        <p:sp>
          <p:nvSpPr>
            <p:cNvPr id="50" name="Text Box 47"/>
            <p:cNvSpPr txBox="1">
              <a:spLocks noChangeArrowheads="1"/>
            </p:cNvSpPr>
            <p:nvPr/>
          </p:nvSpPr>
          <p:spPr bwMode="auto">
            <a:xfrm>
              <a:off x="6857372" y="4012873"/>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Feeder cable</a:t>
              </a:r>
            </a:p>
          </p:txBody>
        </p:sp>
        <p:sp>
          <p:nvSpPr>
            <p:cNvPr id="51" name="Line 48"/>
            <p:cNvSpPr>
              <a:spLocks noChangeShapeType="1"/>
            </p:cNvSpPr>
            <p:nvPr/>
          </p:nvSpPr>
          <p:spPr bwMode="auto">
            <a:xfrm>
              <a:off x="7924172" y="4562148"/>
              <a:ext cx="3810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52" name="Text Box 49"/>
            <p:cNvSpPr txBox="1">
              <a:spLocks noChangeArrowheads="1"/>
            </p:cNvSpPr>
            <p:nvPr/>
          </p:nvSpPr>
          <p:spPr bwMode="auto">
            <a:xfrm>
              <a:off x="1205129" y="1654241"/>
              <a:ext cx="1336675" cy="3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solidFill>
                    <a:srgbClr val="0000FF"/>
                  </a:solidFill>
                </a:rPr>
                <a:t>Gain G</a:t>
              </a:r>
              <a:r>
                <a:rPr lang="en-US" baseline="-25000" dirty="0">
                  <a:solidFill>
                    <a:srgbClr val="0000FF"/>
                  </a:solidFill>
                </a:rPr>
                <a:t>T </a:t>
              </a:r>
              <a:r>
                <a:rPr lang="en-US" dirty="0">
                  <a:solidFill>
                    <a:srgbClr val="0000FF"/>
                  </a:solidFill>
                </a:rPr>
                <a:t>(dB)</a:t>
              </a:r>
            </a:p>
          </p:txBody>
        </p:sp>
        <p:sp>
          <p:nvSpPr>
            <p:cNvPr id="53" name="Text Box 50"/>
            <p:cNvSpPr txBox="1">
              <a:spLocks noChangeArrowheads="1"/>
            </p:cNvSpPr>
            <p:nvPr/>
          </p:nvSpPr>
          <p:spPr bwMode="auto">
            <a:xfrm>
              <a:off x="6857372" y="4241473"/>
              <a:ext cx="11874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Cable loss </a:t>
              </a:r>
            </a:p>
            <a:p>
              <a:pPr algn="ctr"/>
              <a:r>
                <a:rPr lang="en-US" dirty="0">
                  <a:solidFill>
                    <a:srgbClr val="0000FF"/>
                  </a:solidFill>
                </a:rPr>
                <a:t>L</a:t>
              </a:r>
              <a:r>
                <a:rPr lang="en-US" baseline="-25000" dirty="0">
                  <a:solidFill>
                    <a:srgbClr val="0000FF"/>
                  </a:solidFill>
                </a:rPr>
                <a:t>f</a:t>
              </a:r>
              <a:r>
                <a:rPr lang="en-US" dirty="0">
                  <a:solidFill>
                    <a:srgbClr val="0000FF"/>
                  </a:solidFill>
                </a:rPr>
                <a:t> (dB)</a:t>
              </a:r>
            </a:p>
          </p:txBody>
        </p:sp>
        <p:cxnSp>
          <p:nvCxnSpPr>
            <p:cNvPr id="54" name="AutoShape 51"/>
            <p:cNvCxnSpPr>
              <a:cxnSpLocks noChangeShapeType="1"/>
              <a:stCxn id="32" idx="0"/>
              <a:endCxn id="30" idx="1"/>
            </p:cNvCxnSpPr>
            <p:nvPr/>
          </p:nvCxnSpPr>
          <p:spPr bwMode="auto">
            <a:xfrm>
              <a:off x="8367085" y="4851073"/>
              <a:ext cx="852487"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59"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a:t>
            </a:r>
          </a:p>
        </p:txBody>
      </p:sp>
      <p:sp>
        <p:nvSpPr>
          <p:cNvPr id="55" name="Rectangle 54">
            <a:extLst>
              <a:ext uri="{FF2B5EF4-FFF2-40B4-BE49-F238E27FC236}">
                <a16:creationId xmlns:a16="http://schemas.microsoft.com/office/drawing/2014/main" id="{45FCE717-D4A4-45C2-8441-9EF26CE38877}"/>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sp>
        <p:nvSpPr>
          <p:cNvPr id="3" name="Rectangle 2">
            <a:extLst>
              <a:ext uri="{FF2B5EF4-FFF2-40B4-BE49-F238E27FC236}">
                <a16:creationId xmlns:a16="http://schemas.microsoft.com/office/drawing/2014/main" id="{B00374E8-0542-4B1E-9EE6-54A690884A21}"/>
              </a:ext>
            </a:extLst>
          </p:cNvPr>
          <p:cNvSpPr/>
          <p:nvPr/>
        </p:nvSpPr>
        <p:spPr>
          <a:xfrm>
            <a:off x="215160" y="5033921"/>
            <a:ext cx="11717009" cy="830997"/>
          </a:xfrm>
          <a:prstGeom prst="rect">
            <a:avLst/>
          </a:prstGeom>
        </p:spPr>
        <p:txBody>
          <a:bodyPr wrap="square">
            <a:spAutoFit/>
          </a:bodyPr>
          <a:lstStyle/>
          <a:p>
            <a:pPr algn="just"/>
            <a:r>
              <a:rPr lang="en-US" sz="2400" dirty="0"/>
              <a:t>Communication link includes the entire communication path from the information source, through the transmitter, RF channel and receiver up to the information sink</a:t>
            </a:r>
          </a:p>
        </p:txBody>
      </p:sp>
      <p:pic>
        <p:nvPicPr>
          <p:cNvPr id="4" name="Pg32">
            <a:hlinkClick r:id="" action="ppaction://media"/>
            <a:extLst>
              <a:ext uri="{FF2B5EF4-FFF2-40B4-BE49-F238E27FC236}">
                <a16:creationId xmlns:a16="http://schemas.microsoft.com/office/drawing/2014/main" id="{B2D1E895-4692-4E97-80C2-E35E1C941C0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51490" y="5702299"/>
            <a:ext cx="609600" cy="609600"/>
          </a:xfrm>
          <a:prstGeom prst="rect">
            <a:avLst/>
          </a:prstGeom>
        </p:spPr>
      </p:pic>
      <p:sp>
        <p:nvSpPr>
          <p:cNvPr id="5" name="Rectangle 4">
            <a:extLst>
              <a:ext uri="{FF2B5EF4-FFF2-40B4-BE49-F238E27FC236}">
                <a16:creationId xmlns:a16="http://schemas.microsoft.com/office/drawing/2014/main" id="{FD4BC0E0-4396-0FC6-CFF4-959115B9C9BF}"/>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7721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82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360568" y="1145965"/>
            <a:ext cx="7074553" cy="52394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dirty="0"/>
              <a:t>By examining the link budget, we can </a:t>
            </a:r>
            <a:r>
              <a:rPr lang="en-US" sz="2400" b="1" dirty="0">
                <a:solidFill>
                  <a:srgbClr val="FF0000"/>
                </a:solidFill>
              </a:rPr>
              <a:t>determine</a:t>
            </a:r>
            <a:r>
              <a:rPr lang="en-US" sz="2400" dirty="0"/>
              <a:t> whether communication system </a:t>
            </a:r>
            <a:r>
              <a:rPr lang="en-US" sz="2400" b="1" dirty="0">
                <a:solidFill>
                  <a:srgbClr val="00B050"/>
                </a:solidFill>
              </a:rPr>
              <a:t>meets the requirements</a:t>
            </a:r>
            <a:r>
              <a:rPr lang="en-US" sz="2400" dirty="0"/>
              <a:t> </a:t>
            </a:r>
            <a:r>
              <a:rPr lang="en-US" sz="2400" b="1" dirty="0">
                <a:solidFill>
                  <a:srgbClr val="00B050"/>
                </a:solidFill>
              </a:rPr>
              <a:t>comfortably</a:t>
            </a:r>
            <a:r>
              <a:rPr lang="en-US" sz="2400" dirty="0"/>
              <a:t> or </a:t>
            </a:r>
            <a:r>
              <a:rPr lang="en-US" sz="2400" b="1" dirty="0">
                <a:solidFill>
                  <a:srgbClr val="FFC000"/>
                </a:solidFill>
              </a:rPr>
              <a:t>marginally</a:t>
            </a:r>
            <a:r>
              <a:rPr lang="en-US" sz="2400" dirty="0"/>
              <a:t> or </a:t>
            </a:r>
            <a:r>
              <a:rPr lang="en-US" sz="2400" b="1" dirty="0">
                <a:solidFill>
                  <a:srgbClr val="FF0000"/>
                </a:solidFill>
              </a:rPr>
              <a:t>fail</a:t>
            </a:r>
            <a:r>
              <a:rPr lang="en-US" sz="2400" dirty="0"/>
              <a:t> to meet the specifications</a:t>
            </a:r>
          </a:p>
          <a:p>
            <a:pPr marL="0" indent="0" algn="just">
              <a:buNone/>
            </a:pPr>
            <a:endParaRPr lang="en-US" sz="1200" dirty="0"/>
          </a:p>
          <a:p>
            <a:pPr marL="0" indent="0" algn="just">
              <a:buNone/>
            </a:pPr>
            <a:r>
              <a:rPr lang="en-US" sz="2400" dirty="0"/>
              <a:t>A link analysis consist of </a:t>
            </a:r>
            <a:r>
              <a:rPr lang="en-US" sz="2400" b="1" dirty="0"/>
              <a:t>calculating the useful signal power</a:t>
            </a:r>
            <a:r>
              <a:rPr lang="en-US" sz="2400" dirty="0"/>
              <a:t> </a:t>
            </a:r>
            <a:r>
              <a:rPr lang="en-US" sz="2400" b="1" dirty="0"/>
              <a:t>and the interfering noise power available at the receiver</a:t>
            </a:r>
            <a:r>
              <a:rPr lang="en-US" sz="2400" dirty="0"/>
              <a:t>.  The output of the link analysis is a </a:t>
            </a:r>
            <a:r>
              <a:rPr lang="en-US" sz="2400" b="1" dirty="0"/>
              <a:t>link budget which shows the gains and losses</a:t>
            </a:r>
          </a:p>
          <a:p>
            <a:pPr marL="0" indent="0" algn="just">
              <a:buNone/>
            </a:pPr>
            <a:endParaRPr lang="en-US" sz="1200" b="1" dirty="0"/>
          </a:p>
          <a:p>
            <a:pPr marL="0" indent="0" algn="just">
              <a:buNone/>
            </a:pPr>
            <a:r>
              <a:rPr lang="en-US" sz="2400" b="1" dirty="0"/>
              <a:t>Some link budget parameters are</a:t>
            </a:r>
            <a:r>
              <a:rPr lang="en-US" sz="2400" dirty="0"/>
              <a:t> </a:t>
            </a:r>
            <a:r>
              <a:rPr lang="en-US" sz="2400" b="1" dirty="0"/>
              <a:t>statistical</a:t>
            </a:r>
            <a:r>
              <a:rPr lang="en-US" sz="2400" dirty="0"/>
              <a:t> such as allowances for fading.  Therefore the </a:t>
            </a:r>
            <a:r>
              <a:rPr lang="en-US" sz="2400" b="1" dirty="0">
                <a:solidFill>
                  <a:srgbClr val="0000FF"/>
                </a:solidFill>
              </a:rPr>
              <a:t>link budget is an estimation technique for evaluating the communication system performance</a:t>
            </a:r>
            <a:endParaRPr lang="en-US" sz="2400" dirty="0">
              <a:solidFill>
                <a:srgbClr val="0000FF"/>
              </a:solidFill>
            </a:endParaRPr>
          </a:p>
          <a:p>
            <a:pPr marL="0" indent="0" algn="just">
              <a:buNone/>
            </a:pPr>
            <a:endParaRPr lang="en-US" sz="2400" dirty="0"/>
          </a:p>
        </p:txBody>
      </p:sp>
      <p:sp>
        <p:nvSpPr>
          <p:cNvPr id="13"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a:t>
            </a:r>
          </a:p>
        </p:txBody>
      </p:sp>
      <p:sp>
        <p:nvSpPr>
          <p:cNvPr id="7" name="Rectangle 6">
            <a:extLst>
              <a:ext uri="{FF2B5EF4-FFF2-40B4-BE49-F238E27FC236}">
                <a16:creationId xmlns:a16="http://schemas.microsoft.com/office/drawing/2014/main" id="{2EEB64F6-B99F-4F02-9081-D76F145BB691}"/>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icture 1">
            <a:extLst>
              <a:ext uri="{FF2B5EF4-FFF2-40B4-BE49-F238E27FC236}">
                <a16:creationId xmlns:a16="http://schemas.microsoft.com/office/drawing/2014/main" id="{04CA372F-EE24-4C08-914A-516E48C58499}"/>
              </a:ext>
            </a:extLst>
          </p:cNvPr>
          <p:cNvPicPr>
            <a:picLocks noChangeAspect="1"/>
          </p:cNvPicPr>
          <p:nvPr/>
        </p:nvPicPr>
        <p:blipFill>
          <a:blip r:embed="rId4"/>
          <a:stretch>
            <a:fillRect/>
          </a:stretch>
        </p:blipFill>
        <p:spPr>
          <a:xfrm>
            <a:off x="7656080" y="1285875"/>
            <a:ext cx="4333875" cy="2143125"/>
          </a:xfrm>
          <a:prstGeom prst="rect">
            <a:avLst/>
          </a:prstGeom>
        </p:spPr>
      </p:pic>
      <p:sp>
        <p:nvSpPr>
          <p:cNvPr id="4" name="Rectangle 3">
            <a:extLst>
              <a:ext uri="{FF2B5EF4-FFF2-40B4-BE49-F238E27FC236}">
                <a16:creationId xmlns:a16="http://schemas.microsoft.com/office/drawing/2014/main" id="{B7816482-88F0-471B-91E1-AC4D5CA305E7}"/>
              </a:ext>
            </a:extLst>
          </p:cNvPr>
          <p:cNvSpPr/>
          <p:nvPr/>
        </p:nvSpPr>
        <p:spPr>
          <a:xfrm>
            <a:off x="7053615" y="3671202"/>
            <a:ext cx="5410175" cy="1754326"/>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Link budget enough?</a:t>
            </a:r>
          </a:p>
        </p:txBody>
      </p:sp>
      <p:pic>
        <p:nvPicPr>
          <p:cNvPr id="5" name="Pg33">
            <a:hlinkClick r:id="" action="ppaction://media"/>
            <a:extLst>
              <a:ext uri="{FF2B5EF4-FFF2-40B4-BE49-F238E27FC236}">
                <a16:creationId xmlns:a16="http://schemas.microsoft.com/office/drawing/2014/main" id="{9710D15B-4FF9-460D-AB6A-1C0BB83AE1E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904354" y="5774878"/>
            <a:ext cx="609600" cy="609600"/>
          </a:xfrm>
          <a:prstGeom prst="rect">
            <a:avLst/>
          </a:prstGeom>
        </p:spPr>
      </p:pic>
      <p:sp>
        <p:nvSpPr>
          <p:cNvPr id="3" name="Rectangle 2">
            <a:extLst>
              <a:ext uri="{FF2B5EF4-FFF2-40B4-BE49-F238E27FC236}">
                <a16:creationId xmlns:a16="http://schemas.microsoft.com/office/drawing/2014/main" id="{F8E47748-3AF3-BA76-5EEF-F212A4DD0DFF}"/>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51272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91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258579" y="1394096"/>
            <a:ext cx="7275288" cy="5144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80000"/>
              </a:lnSpc>
            </a:pPr>
            <a:r>
              <a:rPr lang="en-US" sz="2400" b="1" dirty="0">
                <a:solidFill>
                  <a:srgbClr val="0000FF"/>
                </a:solidFill>
              </a:rPr>
              <a:t>Bit Error Rate (BER)</a:t>
            </a:r>
            <a:r>
              <a:rPr lang="en-US" sz="2400" dirty="0">
                <a:solidFill>
                  <a:srgbClr val="0000FF"/>
                </a:solidFill>
              </a:rPr>
              <a:t> </a:t>
            </a:r>
            <a:r>
              <a:rPr lang="en-US" sz="2400" dirty="0"/>
              <a:t>is used in </a:t>
            </a:r>
            <a:r>
              <a:rPr lang="en-US" sz="2400" b="1" dirty="0"/>
              <a:t>digital system</a:t>
            </a:r>
            <a:r>
              <a:rPr lang="en-US" sz="2400" dirty="0"/>
              <a:t> to measure the quality of the demodulator output in terms of the number of bits wrongly decoded</a:t>
            </a:r>
          </a:p>
          <a:p>
            <a:pPr lvl="1" algn="just">
              <a:lnSpc>
                <a:spcPct val="80000"/>
              </a:lnSpc>
            </a:pPr>
            <a:r>
              <a:rPr lang="en-US" b="1" dirty="0">
                <a:solidFill>
                  <a:srgbClr val="0000FF"/>
                </a:solidFill>
              </a:rPr>
              <a:t>BER = total bits received in error/total bits transmitted</a:t>
            </a:r>
            <a:r>
              <a:rPr lang="en-US" dirty="0">
                <a:solidFill>
                  <a:srgbClr val="0000FF"/>
                </a:solidFill>
              </a:rPr>
              <a:t>  </a:t>
            </a:r>
            <a:endParaRPr lang="en-US" sz="2400" b="1" dirty="0">
              <a:solidFill>
                <a:srgbClr val="0000FF"/>
              </a:solidFill>
            </a:endParaRPr>
          </a:p>
          <a:p>
            <a:pPr algn="just">
              <a:lnSpc>
                <a:spcPct val="80000"/>
              </a:lnSpc>
            </a:pPr>
            <a:r>
              <a:rPr lang="en-US" sz="2400" b="1" dirty="0">
                <a:solidFill>
                  <a:srgbClr val="0000FF"/>
                </a:solidFill>
              </a:rPr>
              <a:t>Signal to Noise Ratio (SNR)</a:t>
            </a:r>
          </a:p>
          <a:p>
            <a:pPr lvl="1" algn="just">
              <a:lnSpc>
                <a:spcPct val="80000"/>
              </a:lnSpc>
            </a:pPr>
            <a:r>
              <a:rPr lang="en-US" dirty="0"/>
              <a:t>The SNR is a measure of performance at the various points of a communication link </a:t>
            </a:r>
          </a:p>
          <a:p>
            <a:pPr lvl="1" algn="just">
              <a:lnSpc>
                <a:spcPct val="80000"/>
              </a:lnSpc>
            </a:pPr>
            <a:r>
              <a:rPr lang="en-US" b="1" dirty="0">
                <a:solidFill>
                  <a:srgbClr val="0000FF"/>
                </a:solidFill>
              </a:rPr>
              <a:t>SNR (dB) =10 log ( signal power/noise power)</a:t>
            </a:r>
          </a:p>
          <a:p>
            <a:pPr lvl="1" algn="just">
              <a:lnSpc>
                <a:spcPct val="80000"/>
              </a:lnSpc>
            </a:pPr>
            <a:r>
              <a:rPr lang="en-US" dirty="0"/>
              <a:t>The SNR can be degraded (lowered) through</a:t>
            </a:r>
          </a:p>
          <a:p>
            <a:pPr lvl="2" algn="just">
              <a:lnSpc>
                <a:spcPct val="80000"/>
              </a:lnSpc>
            </a:pPr>
            <a:r>
              <a:rPr lang="en-US" sz="2400" dirty="0"/>
              <a:t>The decrease of the desired signal power</a:t>
            </a:r>
          </a:p>
          <a:p>
            <a:pPr lvl="2" algn="just">
              <a:lnSpc>
                <a:spcPct val="80000"/>
              </a:lnSpc>
            </a:pPr>
            <a:r>
              <a:rPr lang="en-US" sz="2400" dirty="0"/>
              <a:t>The increase of noise power (noise) or interfering signals (interferences)</a:t>
            </a:r>
          </a:p>
          <a:p>
            <a:pPr lvl="1" algn="just">
              <a:lnSpc>
                <a:spcPct val="80000"/>
              </a:lnSpc>
            </a:pPr>
            <a:endParaRPr lang="en-US" sz="1800" dirty="0"/>
          </a:p>
        </p:txBody>
      </p:sp>
      <p:sp>
        <p:nvSpPr>
          <p:cNvPr id="7"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Performance Criteria</a:t>
            </a:r>
          </a:p>
        </p:txBody>
      </p:sp>
      <p:sp>
        <p:nvSpPr>
          <p:cNvPr id="12" name="Rectangle 11">
            <a:extLst>
              <a:ext uri="{FF2B5EF4-FFF2-40B4-BE49-F238E27FC236}">
                <a16:creationId xmlns:a16="http://schemas.microsoft.com/office/drawing/2014/main" id="{B170CB7B-DC47-4644-A663-083118C57861}"/>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34">
            <a:hlinkClick r:id="" action="ppaction://media"/>
            <a:extLst>
              <a:ext uri="{FF2B5EF4-FFF2-40B4-BE49-F238E27FC236}">
                <a16:creationId xmlns:a16="http://schemas.microsoft.com/office/drawing/2014/main" id="{E6C1D95D-CE8E-42BC-B60C-3D88DB865E6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23018" y="5736447"/>
            <a:ext cx="609600" cy="609600"/>
          </a:xfrm>
          <a:prstGeom prst="rect">
            <a:avLst/>
          </a:prstGeom>
        </p:spPr>
      </p:pic>
      <p:pic>
        <p:nvPicPr>
          <p:cNvPr id="22530" name="Picture 2" descr="Signal-To-Noise Ratio: When It Really Counts">
            <a:extLst>
              <a:ext uri="{FF2B5EF4-FFF2-40B4-BE49-F238E27FC236}">
                <a16:creationId xmlns:a16="http://schemas.microsoft.com/office/drawing/2014/main" id="{EDCD73EB-9B73-439B-AEDF-064CAE846B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3473" y="1572531"/>
            <a:ext cx="3810000" cy="301013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7D5E649-4286-B50B-A8FD-FA8F144B3520}"/>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40018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73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165479" y="1256706"/>
            <a:ext cx="6123699" cy="534976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2400" dirty="0"/>
              <a:t>Link budget accounts for the </a:t>
            </a:r>
            <a:r>
              <a:rPr lang="en-US" sz="2400" b="1" dirty="0">
                <a:solidFill>
                  <a:srgbClr val="FF0000"/>
                </a:solidFill>
              </a:rPr>
              <a:t>total losses and gains </a:t>
            </a:r>
            <a:r>
              <a:rPr lang="en-US" sz="2400" dirty="0"/>
              <a:t>in a</a:t>
            </a:r>
            <a:r>
              <a:rPr lang="en-US" sz="2400" b="1" dirty="0"/>
              <a:t> transmission link from transmitter output to the receiver SNR at the input to the demodulator</a:t>
            </a:r>
          </a:p>
          <a:p>
            <a:pPr algn="just">
              <a:lnSpc>
                <a:spcPct val="100000"/>
              </a:lnSpc>
            </a:pPr>
            <a:r>
              <a:rPr lang="en-US" sz="2400" dirty="0"/>
              <a:t>Radio link design of a mobile communication system generally involves the tradeoff among the following 3 parameters (factors): </a:t>
            </a:r>
          </a:p>
          <a:p>
            <a:pPr lvl="1" algn="just">
              <a:lnSpc>
                <a:spcPct val="100000"/>
              </a:lnSpc>
            </a:pPr>
            <a:r>
              <a:rPr lang="en-US" b="1" dirty="0">
                <a:solidFill>
                  <a:srgbClr val="0000FF"/>
                </a:solidFill>
              </a:rPr>
              <a:t>Transmit power (P</a:t>
            </a:r>
            <a:r>
              <a:rPr lang="en-US" b="1" baseline="-25000" dirty="0">
                <a:solidFill>
                  <a:srgbClr val="0000FF"/>
                </a:solidFill>
              </a:rPr>
              <a:t>T</a:t>
            </a:r>
            <a:r>
              <a:rPr lang="en-US" b="1" dirty="0">
                <a:solidFill>
                  <a:srgbClr val="0000FF"/>
                </a:solidFill>
              </a:rPr>
              <a:t>)</a:t>
            </a:r>
          </a:p>
          <a:p>
            <a:pPr lvl="1" algn="just">
              <a:lnSpc>
                <a:spcPct val="100000"/>
              </a:lnSpc>
            </a:pPr>
            <a:r>
              <a:rPr lang="en-US" b="1" dirty="0">
                <a:solidFill>
                  <a:srgbClr val="0000FF"/>
                </a:solidFill>
              </a:rPr>
              <a:t>Propagation path loss (L</a:t>
            </a:r>
            <a:r>
              <a:rPr lang="en-US" b="1" baseline="-25000" dirty="0">
                <a:solidFill>
                  <a:srgbClr val="0000FF"/>
                </a:solidFill>
              </a:rPr>
              <a:t>P</a:t>
            </a:r>
            <a:r>
              <a:rPr lang="en-US" b="1" dirty="0">
                <a:solidFill>
                  <a:srgbClr val="0000FF"/>
                </a:solidFill>
              </a:rPr>
              <a:t>)</a:t>
            </a:r>
          </a:p>
          <a:p>
            <a:pPr lvl="1" algn="just">
              <a:lnSpc>
                <a:spcPct val="100000"/>
              </a:lnSpc>
            </a:pPr>
            <a:r>
              <a:rPr lang="en-US" b="1" dirty="0">
                <a:solidFill>
                  <a:srgbClr val="0000FF"/>
                </a:solidFill>
              </a:rPr>
              <a:t>Receive Power (P</a:t>
            </a:r>
            <a:r>
              <a:rPr lang="en-US" b="1" baseline="-25000" dirty="0">
                <a:solidFill>
                  <a:srgbClr val="0000FF"/>
                </a:solidFill>
              </a:rPr>
              <a:t>R</a:t>
            </a:r>
            <a:r>
              <a:rPr lang="en-US" b="1" dirty="0">
                <a:solidFill>
                  <a:srgbClr val="0000FF"/>
                </a:solidFill>
              </a:rPr>
              <a:t>) or Rx sensitivity</a:t>
            </a:r>
          </a:p>
          <a:p>
            <a:pPr algn="just">
              <a:lnSpc>
                <a:spcPct val="100000"/>
              </a:lnSpc>
            </a:pPr>
            <a:endParaRPr lang="en-US" sz="2400" dirty="0"/>
          </a:p>
        </p:txBody>
      </p:sp>
      <p:sp>
        <p:nvSpPr>
          <p:cNvPr id="7"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Design</a:t>
            </a:r>
          </a:p>
        </p:txBody>
      </p:sp>
      <p:sp>
        <p:nvSpPr>
          <p:cNvPr id="12" name="Rectangle 11">
            <a:extLst>
              <a:ext uri="{FF2B5EF4-FFF2-40B4-BE49-F238E27FC236}">
                <a16:creationId xmlns:a16="http://schemas.microsoft.com/office/drawing/2014/main" id="{F22713AD-9288-4766-93BA-E952B69DE51C}"/>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2530" name="Picture 2">
            <a:extLst>
              <a:ext uri="{FF2B5EF4-FFF2-40B4-BE49-F238E27FC236}">
                <a16:creationId xmlns:a16="http://schemas.microsoft.com/office/drawing/2014/main" id="{23DA9175-D4C2-48EF-A137-98E8179EEB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4336" y="1371706"/>
            <a:ext cx="5165927" cy="3613540"/>
          </a:xfrm>
          <a:prstGeom prst="rect">
            <a:avLst/>
          </a:prstGeom>
          <a:noFill/>
          <a:extLst>
            <a:ext uri="{909E8E84-426E-40DD-AFC4-6F175D3DCCD1}">
              <a14:hiddenFill xmlns:a14="http://schemas.microsoft.com/office/drawing/2010/main">
                <a:solidFill>
                  <a:srgbClr val="FFFFFF"/>
                </a:solidFill>
              </a14:hiddenFill>
            </a:ext>
          </a:extLst>
        </p:spPr>
      </p:pic>
      <p:pic>
        <p:nvPicPr>
          <p:cNvPr id="2" name="Pg35">
            <a:hlinkClick r:id="" action="ppaction://media"/>
            <a:extLst>
              <a:ext uri="{FF2B5EF4-FFF2-40B4-BE49-F238E27FC236}">
                <a16:creationId xmlns:a16="http://schemas.microsoft.com/office/drawing/2014/main" id="{3A179539-664D-4F54-AB8E-D5465460756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18426" y="5709010"/>
            <a:ext cx="609600" cy="609600"/>
          </a:xfrm>
          <a:prstGeom prst="rect">
            <a:avLst/>
          </a:prstGeom>
        </p:spPr>
      </p:pic>
      <p:sp>
        <p:nvSpPr>
          <p:cNvPr id="3" name="Rectangle 2">
            <a:extLst>
              <a:ext uri="{FF2B5EF4-FFF2-40B4-BE49-F238E27FC236}">
                <a16:creationId xmlns:a16="http://schemas.microsoft.com/office/drawing/2014/main" id="{8FB623E3-F120-CA3E-F4DC-74A8BD8C637E}"/>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87488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8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862524" y="1038650"/>
            <a:ext cx="10832948" cy="51127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pPr>
            <a:r>
              <a:rPr lang="en-US" sz="2400" dirty="0"/>
              <a:t>T</a:t>
            </a:r>
            <a:r>
              <a:rPr lang="en-US" sz="2400" dirty="0">
                <a:cs typeface="Arial" charset="0"/>
              </a:rPr>
              <a:t>o guarantee detection at the Receiver, we must have:</a:t>
            </a:r>
          </a:p>
          <a:p>
            <a:pPr lvl="1" algn="just">
              <a:lnSpc>
                <a:spcPct val="100000"/>
              </a:lnSpc>
              <a:spcBef>
                <a:spcPts val="0"/>
              </a:spcBef>
            </a:pPr>
            <a:r>
              <a:rPr lang="en-US" dirty="0">
                <a:cs typeface="Arial" charset="0"/>
              </a:rPr>
              <a:t>P</a:t>
            </a:r>
            <a:r>
              <a:rPr lang="en-US" baseline="-25000" dirty="0">
                <a:cs typeface="Arial" charset="0"/>
              </a:rPr>
              <a:t>T</a:t>
            </a:r>
            <a:r>
              <a:rPr lang="en-US" dirty="0">
                <a:cs typeface="Arial" charset="0"/>
              </a:rPr>
              <a:t>(</a:t>
            </a:r>
            <a:r>
              <a:rPr lang="en-US" dirty="0" err="1">
                <a:cs typeface="Arial" charset="0"/>
              </a:rPr>
              <a:t>dBm</a:t>
            </a:r>
            <a:r>
              <a:rPr lang="en-US" dirty="0">
                <a:cs typeface="Arial" charset="0"/>
              </a:rPr>
              <a:t>)</a:t>
            </a:r>
            <a:r>
              <a:rPr lang="en-US" baseline="-25000" dirty="0">
                <a:cs typeface="Arial" charset="0"/>
              </a:rPr>
              <a:t>  </a:t>
            </a:r>
            <a:r>
              <a:rPr lang="en-US" dirty="0">
                <a:cs typeface="Arial" charset="0"/>
              </a:rPr>
              <a:t>+ (Gains)</a:t>
            </a:r>
            <a:r>
              <a:rPr lang="en-US" baseline="-25000" dirty="0">
                <a:cs typeface="Arial" charset="0"/>
              </a:rPr>
              <a:t>dB</a:t>
            </a:r>
            <a:r>
              <a:rPr lang="en-US" dirty="0">
                <a:cs typeface="Arial" charset="0"/>
              </a:rPr>
              <a:t> – (Losses)</a:t>
            </a:r>
            <a:r>
              <a:rPr lang="en-US" baseline="-25000" dirty="0">
                <a:cs typeface="Arial" charset="0"/>
              </a:rPr>
              <a:t>dB</a:t>
            </a:r>
            <a:r>
              <a:rPr lang="en-US" dirty="0">
                <a:cs typeface="Arial" charset="0"/>
              </a:rPr>
              <a:t> </a:t>
            </a:r>
            <a:r>
              <a:rPr lang="en-US" dirty="0">
                <a:cs typeface="Arial" charset="0"/>
                <a:sym typeface="Symbol" pitchFamily="18" charset="2"/>
              </a:rPr>
              <a:t> P</a:t>
            </a:r>
            <a:r>
              <a:rPr lang="en-US" baseline="-25000" dirty="0">
                <a:cs typeface="Arial" charset="0"/>
                <a:sym typeface="Symbol" pitchFamily="18" charset="2"/>
              </a:rPr>
              <a:t>R</a:t>
            </a:r>
            <a:r>
              <a:rPr lang="en-US" dirty="0">
                <a:cs typeface="Arial" charset="0"/>
                <a:sym typeface="Symbol" pitchFamily="18" charset="2"/>
              </a:rPr>
              <a:t> (</a:t>
            </a:r>
            <a:r>
              <a:rPr lang="en-US" dirty="0" err="1">
                <a:cs typeface="Arial" charset="0"/>
                <a:sym typeface="Symbol" pitchFamily="18" charset="2"/>
              </a:rPr>
              <a:t>dBm</a:t>
            </a:r>
            <a:r>
              <a:rPr lang="en-US" dirty="0">
                <a:cs typeface="Arial" charset="0"/>
                <a:sym typeface="Symbol" pitchFamily="18" charset="2"/>
              </a:rPr>
              <a:t>)</a:t>
            </a:r>
          </a:p>
          <a:p>
            <a:pPr marL="173038" lvl="1" indent="0" algn="just">
              <a:lnSpc>
                <a:spcPct val="100000"/>
              </a:lnSpc>
              <a:spcBef>
                <a:spcPts val="0"/>
              </a:spcBef>
              <a:buNone/>
            </a:pPr>
            <a:r>
              <a:rPr lang="en-US" sz="1800" dirty="0">
                <a:cs typeface="Arial" charset="0"/>
                <a:sym typeface="Symbol" pitchFamily="18" charset="2"/>
              </a:rPr>
              <a:t>where </a:t>
            </a:r>
          </a:p>
          <a:p>
            <a:pPr marL="274320" lvl="1" indent="0" algn="just">
              <a:lnSpc>
                <a:spcPct val="100000"/>
              </a:lnSpc>
              <a:spcBef>
                <a:spcPts val="0"/>
              </a:spcBef>
              <a:buFont typeface="Arial" panose="020B0604020202020204" pitchFamily="34" charset="0"/>
              <a:buNone/>
            </a:pPr>
            <a:r>
              <a:rPr lang="en-US" sz="1800" dirty="0">
                <a:cs typeface="Arial" charset="0"/>
                <a:sym typeface="Symbol" pitchFamily="18" charset="2"/>
              </a:rPr>
              <a:t>P</a:t>
            </a:r>
            <a:r>
              <a:rPr lang="en-US" sz="1800" baseline="-25000" dirty="0">
                <a:cs typeface="Arial" charset="0"/>
                <a:sym typeface="Symbol" pitchFamily="18" charset="2"/>
              </a:rPr>
              <a:t>T</a:t>
            </a:r>
            <a:r>
              <a:rPr lang="en-US" sz="1800" dirty="0">
                <a:cs typeface="Arial" charset="0"/>
                <a:sym typeface="Symbol" pitchFamily="18" charset="2"/>
              </a:rPr>
              <a:t> = transmit power</a:t>
            </a:r>
          </a:p>
          <a:p>
            <a:pPr marL="274320" lvl="1" indent="0" algn="just">
              <a:lnSpc>
                <a:spcPct val="100000"/>
              </a:lnSpc>
              <a:spcBef>
                <a:spcPts val="0"/>
              </a:spcBef>
              <a:buFont typeface="Arial" panose="020B0604020202020204" pitchFamily="34" charset="0"/>
              <a:buNone/>
            </a:pPr>
            <a:r>
              <a:rPr lang="en-US" sz="1800" dirty="0">
                <a:cs typeface="Arial" charset="0"/>
                <a:sym typeface="Symbol" pitchFamily="18" charset="2"/>
              </a:rPr>
              <a:t>Gain = transmit and receive antenna gain</a:t>
            </a:r>
          </a:p>
          <a:p>
            <a:pPr marL="274320" lvl="1" indent="0" algn="just">
              <a:lnSpc>
                <a:spcPct val="100000"/>
              </a:lnSpc>
              <a:spcBef>
                <a:spcPts val="0"/>
              </a:spcBef>
              <a:buFont typeface="Arial" panose="020B0604020202020204" pitchFamily="34" charset="0"/>
              <a:buNone/>
            </a:pPr>
            <a:r>
              <a:rPr lang="en-US" sz="1800" dirty="0">
                <a:cs typeface="Arial" charset="0"/>
                <a:sym typeface="Symbol" pitchFamily="18" charset="2"/>
              </a:rPr>
              <a:t>Losses = total losses at the antenna feeder loss, filter and circulator loss, propagation path loss, fade margin, </a:t>
            </a:r>
            <a:r>
              <a:rPr lang="en-US" sz="1800" dirty="0" err="1">
                <a:cs typeface="Arial" charset="0"/>
                <a:sym typeface="Symbol" pitchFamily="18" charset="2"/>
              </a:rPr>
              <a:t>etc</a:t>
            </a:r>
            <a:endParaRPr lang="en-US" sz="1800" dirty="0">
              <a:cs typeface="Arial" charset="0"/>
              <a:sym typeface="Symbol" pitchFamily="18" charset="2"/>
            </a:endParaRPr>
          </a:p>
          <a:p>
            <a:pPr marL="274320" lvl="1" indent="0" algn="just">
              <a:lnSpc>
                <a:spcPct val="100000"/>
              </a:lnSpc>
              <a:spcBef>
                <a:spcPts val="0"/>
              </a:spcBef>
              <a:buFont typeface="Arial" panose="020B0604020202020204" pitchFamily="34" charset="0"/>
              <a:buNone/>
            </a:pPr>
            <a:endParaRPr lang="en-US" sz="1000" dirty="0">
              <a:cs typeface="Arial" charset="0"/>
              <a:sym typeface="Symbol" pitchFamily="18" charset="2"/>
            </a:endParaRPr>
          </a:p>
          <a:p>
            <a:pPr marL="0" lvl="1" indent="0" algn="just">
              <a:lnSpc>
                <a:spcPct val="100000"/>
              </a:lnSpc>
              <a:spcBef>
                <a:spcPts val="0"/>
              </a:spcBef>
            </a:pPr>
            <a:r>
              <a:rPr lang="en-US" b="1" dirty="0">
                <a:cs typeface="Arial" charset="0"/>
                <a:sym typeface="Symbol" pitchFamily="18" charset="2"/>
              </a:rPr>
              <a:t>P</a:t>
            </a:r>
            <a:r>
              <a:rPr lang="en-US" b="1" baseline="-25000" dirty="0">
                <a:cs typeface="Arial" charset="0"/>
                <a:sym typeface="Symbol" pitchFamily="18" charset="2"/>
              </a:rPr>
              <a:t>R</a:t>
            </a:r>
            <a:r>
              <a:rPr lang="en-US" b="1" dirty="0">
                <a:cs typeface="Arial" charset="0"/>
                <a:sym typeface="Symbol" pitchFamily="18" charset="2"/>
              </a:rPr>
              <a:t> = </a:t>
            </a:r>
            <a:r>
              <a:rPr lang="en-US" b="1" dirty="0">
                <a:solidFill>
                  <a:srgbClr val="0000FF"/>
                </a:solidFill>
                <a:cs typeface="Arial" charset="0"/>
                <a:sym typeface="Symbol" pitchFamily="18" charset="2"/>
              </a:rPr>
              <a:t>Rx sensitivity for a specified SNR or BER</a:t>
            </a:r>
            <a:r>
              <a:rPr lang="en-US" dirty="0">
                <a:cs typeface="Arial" charset="0"/>
                <a:sym typeface="Symbol" pitchFamily="18" charset="2"/>
              </a:rPr>
              <a:t>.  This is the </a:t>
            </a:r>
            <a:r>
              <a:rPr lang="en-US" b="1" dirty="0">
                <a:solidFill>
                  <a:srgbClr val="0000FF"/>
                </a:solidFill>
                <a:cs typeface="Arial" charset="0"/>
                <a:sym typeface="Symbol" pitchFamily="18" charset="2"/>
              </a:rPr>
              <a:t>minimum signal strength that must be received at the receiver antenna</a:t>
            </a:r>
            <a:r>
              <a:rPr lang="en-US" dirty="0">
                <a:solidFill>
                  <a:srgbClr val="0000FF"/>
                </a:solidFill>
                <a:cs typeface="Arial" charset="0"/>
                <a:sym typeface="Symbol" pitchFamily="18" charset="2"/>
              </a:rPr>
              <a:t> </a:t>
            </a:r>
            <a:r>
              <a:rPr lang="en-US" b="1" dirty="0">
                <a:solidFill>
                  <a:srgbClr val="0000FF"/>
                </a:solidFill>
                <a:cs typeface="Arial" charset="0"/>
                <a:sym typeface="Symbol" pitchFamily="18" charset="2"/>
              </a:rPr>
              <a:t>in order to guarantee a certain level of performance at the receiver output</a:t>
            </a:r>
          </a:p>
          <a:p>
            <a:pPr lvl="2" algn="just">
              <a:lnSpc>
                <a:spcPct val="100000"/>
              </a:lnSpc>
              <a:spcBef>
                <a:spcPts val="0"/>
              </a:spcBef>
            </a:pPr>
            <a:r>
              <a:rPr lang="en-US" sz="2400" dirty="0">
                <a:cs typeface="Arial" charset="0"/>
                <a:sym typeface="Symbol" pitchFamily="18" charset="2"/>
              </a:rPr>
              <a:t>For analog link SNR is normally 12dB SINAD.</a:t>
            </a:r>
          </a:p>
          <a:p>
            <a:pPr lvl="2" algn="just">
              <a:lnSpc>
                <a:spcPct val="100000"/>
              </a:lnSpc>
              <a:spcBef>
                <a:spcPts val="0"/>
              </a:spcBef>
            </a:pPr>
            <a:r>
              <a:rPr lang="en-US" sz="2400" dirty="0">
                <a:cs typeface="Arial" charset="0"/>
                <a:sym typeface="Symbol" pitchFamily="18" charset="2"/>
              </a:rPr>
              <a:t>For mobile digital link, the BER could be 1x10</a:t>
            </a:r>
            <a:r>
              <a:rPr lang="en-US" sz="2400" baseline="30000" dirty="0">
                <a:cs typeface="Arial" charset="0"/>
                <a:sym typeface="Symbol" pitchFamily="18" charset="2"/>
              </a:rPr>
              <a:t>-6</a:t>
            </a:r>
            <a:endParaRPr lang="en-US" sz="2400" dirty="0">
              <a:cs typeface="Arial" charset="0"/>
              <a:sym typeface="Symbol" pitchFamily="18" charset="2"/>
            </a:endParaRPr>
          </a:p>
          <a:p>
            <a:pPr marL="165100" lvl="1" indent="-104775" algn="just">
              <a:lnSpc>
                <a:spcPct val="100000"/>
              </a:lnSpc>
              <a:spcBef>
                <a:spcPts val="0"/>
              </a:spcBef>
            </a:pPr>
            <a:r>
              <a:rPr lang="en-US" b="1" dirty="0">
                <a:solidFill>
                  <a:srgbClr val="0000FF"/>
                </a:solidFill>
                <a:cs typeface="Arial" charset="0"/>
                <a:sym typeface="Symbol" pitchFamily="18" charset="2"/>
              </a:rPr>
              <a:t>Fade Margin</a:t>
            </a:r>
            <a:endParaRPr lang="en-US" dirty="0">
              <a:solidFill>
                <a:srgbClr val="0000FF"/>
              </a:solidFill>
              <a:cs typeface="Arial" charset="0"/>
              <a:sym typeface="Symbol" pitchFamily="18" charset="2"/>
            </a:endParaRPr>
          </a:p>
          <a:p>
            <a:pPr marL="60325" lvl="1" indent="0" algn="just">
              <a:lnSpc>
                <a:spcPct val="100000"/>
              </a:lnSpc>
              <a:spcBef>
                <a:spcPts val="0"/>
              </a:spcBef>
              <a:buNone/>
            </a:pPr>
            <a:r>
              <a:rPr lang="en-US" sz="2400" dirty="0">
                <a:cs typeface="Arial" charset="0"/>
                <a:sym typeface="Symbol" pitchFamily="18" charset="2"/>
              </a:rPr>
              <a:t>Refers to the </a:t>
            </a:r>
            <a:r>
              <a:rPr lang="en-US" sz="2400" b="1" dirty="0">
                <a:solidFill>
                  <a:srgbClr val="0000FF"/>
                </a:solidFill>
                <a:cs typeface="Arial" charset="0"/>
                <a:sym typeface="Symbol" pitchFamily="18" charset="2"/>
              </a:rPr>
              <a:t>margin in dB that has to added to the path loss to account for multipath fading </a:t>
            </a:r>
            <a:endParaRPr lang="en-US" sz="2400" b="1" dirty="0">
              <a:solidFill>
                <a:srgbClr val="0000FF"/>
              </a:solidFill>
            </a:endParaRPr>
          </a:p>
        </p:txBody>
      </p:sp>
      <p:sp>
        <p:nvSpPr>
          <p:cNvPr id="7"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Budget</a:t>
            </a:r>
          </a:p>
        </p:txBody>
      </p:sp>
      <p:sp>
        <p:nvSpPr>
          <p:cNvPr id="12" name="Rectangle 11">
            <a:extLst>
              <a:ext uri="{FF2B5EF4-FFF2-40B4-BE49-F238E27FC236}">
                <a16:creationId xmlns:a16="http://schemas.microsoft.com/office/drawing/2014/main" id="{3267DB48-9C04-48A7-A94F-187A909D286D}"/>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36">
            <a:hlinkClick r:id="" action="ppaction://media"/>
            <a:extLst>
              <a:ext uri="{FF2B5EF4-FFF2-40B4-BE49-F238E27FC236}">
                <a16:creationId xmlns:a16="http://schemas.microsoft.com/office/drawing/2014/main" id="{78ACBF36-CDA4-4CEA-85C4-E85F0C18BF4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48407" y="5819350"/>
            <a:ext cx="609600" cy="609600"/>
          </a:xfrm>
          <a:prstGeom prst="rect">
            <a:avLst/>
          </a:prstGeom>
        </p:spPr>
      </p:pic>
      <p:sp>
        <p:nvSpPr>
          <p:cNvPr id="3" name="Rectangle 2">
            <a:extLst>
              <a:ext uri="{FF2B5EF4-FFF2-40B4-BE49-F238E27FC236}">
                <a16:creationId xmlns:a16="http://schemas.microsoft.com/office/drawing/2014/main" id="{6596CEE5-A126-7814-F03E-3554644DA121}"/>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06134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24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471952" y="1072959"/>
            <a:ext cx="11370277" cy="48768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None/>
            </a:pPr>
            <a:r>
              <a:rPr lang="en-US" sz="2400" dirty="0">
                <a:cs typeface="Times New Roman" pitchFamily="18" charset="0"/>
              </a:rPr>
              <a:t>Consider a particular base station in a cellular system operating in a large city with the following parameters :</a:t>
            </a:r>
          </a:p>
          <a:p>
            <a:pPr algn="just">
              <a:lnSpc>
                <a:spcPct val="100000"/>
              </a:lnSpc>
              <a:spcBef>
                <a:spcPts val="0"/>
              </a:spcBef>
              <a:buFont typeface="Monotype Sorts" pitchFamily="2" charset="2"/>
              <a:buNone/>
            </a:pPr>
            <a:r>
              <a:rPr lang="en-US" sz="2400" dirty="0">
                <a:cs typeface="Times New Roman" pitchFamily="18" charset="0"/>
              </a:rPr>
              <a:t>	Frequency of operation:		   915 MHz</a:t>
            </a:r>
          </a:p>
          <a:p>
            <a:pPr algn="just">
              <a:lnSpc>
                <a:spcPct val="100000"/>
              </a:lnSpc>
              <a:spcBef>
                <a:spcPts val="0"/>
              </a:spcBef>
              <a:buFont typeface="Monotype Sorts" pitchFamily="2" charset="2"/>
              <a:buNone/>
            </a:pPr>
            <a:r>
              <a:rPr lang="en-US" sz="2400" dirty="0">
                <a:cs typeface="Times New Roman" pitchFamily="18" charset="0"/>
              </a:rPr>
              <a:t>	Base transmitter output power, P</a:t>
            </a:r>
            <a:r>
              <a:rPr lang="en-US" sz="2400" baseline="-30000" dirty="0">
                <a:cs typeface="Times New Roman" pitchFamily="18" charset="0"/>
              </a:rPr>
              <a:t>t</a:t>
            </a:r>
            <a:r>
              <a:rPr lang="en-US" sz="2400" dirty="0">
                <a:cs typeface="Times New Roman" pitchFamily="18" charset="0"/>
              </a:rPr>
              <a:t>:	   P</a:t>
            </a:r>
            <a:r>
              <a:rPr lang="en-US" sz="2400" baseline="-30000" dirty="0">
                <a:cs typeface="Times New Roman" pitchFamily="18" charset="0"/>
              </a:rPr>
              <a:t>T</a:t>
            </a:r>
            <a:r>
              <a:rPr lang="en-US" sz="2400" dirty="0">
                <a:cs typeface="Times New Roman" pitchFamily="18" charset="0"/>
              </a:rPr>
              <a:t> ( to be determined )</a:t>
            </a:r>
          </a:p>
          <a:p>
            <a:pPr algn="just">
              <a:lnSpc>
                <a:spcPct val="100000"/>
              </a:lnSpc>
              <a:spcBef>
                <a:spcPts val="0"/>
              </a:spcBef>
              <a:buFont typeface="Monotype Sorts" pitchFamily="2" charset="2"/>
              <a:buNone/>
            </a:pPr>
            <a:r>
              <a:rPr lang="en-US" sz="2400" dirty="0">
                <a:cs typeface="Times New Roman" pitchFamily="18" charset="0"/>
              </a:rPr>
              <a:t>	Mobile receiver sensitivity, </a:t>
            </a:r>
            <a:r>
              <a:rPr lang="en-US" sz="2400" dirty="0" err="1">
                <a:cs typeface="Times New Roman" pitchFamily="18" charset="0"/>
              </a:rPr>
              <a:t>P</a:t>
            </a:r>
            <a:r>
              <a:rPr lang="en-US" sz="2400" baseline="-30000" dirty="0" err="1">
                <a:cs typeface="Times New Roman" pitchFamily="18" charset="0"/>
              </a:rPr>
              <a:t>r</a:t>
            </a:r>
            <a:r>
              <a:rPr lang="en-US" sz="2400" dirty="0">
                <a:cs typeface="Times New Roman" pitchFamily="18" charset="0"/>
              </a:rPr>
              <a:t>:	   -113 dBm</a:t>
            </a:r>
          </a:p>
          <a:p>
            <a:pPr algn="just">
              <a:lnSpc>
                <a:spcPct val="100000"/>
              </a:lnSpc>
              <a:spcBef>
                <a:spcPts val="0"/>
              </a:spcBef>
              <a:buFont typeface="Monotype Sorts" pitchFamily="2" charset="2"/>
              <a:buNone/>
            </a:pPr>
            <a:r>
              <a:rPr lang="en-US" sz="2400" dirty="0">
                <a:cs typeface="Times New Roman" pitchFamily="18" charset="0"/>
              </a:rPr>
              <a:t>	Base transmitter antenna gain, G</a:t>
            </a:r>
            <a:r>
              <a:rPr lang="en-US" sz="2400" baseline="-30000" dirty="0">
                <a:cs typeface="Times New Roman" pitchFamily="18" charset="0"/>
              </a:rPr>
              <a:t>t</a:t>
            </a:r>
            <a:r>
              <a:rPr lang="en-US" sz="2400" dirty="0">
                <a:cs typeface="Times New Roman" pitchFamily="18" charset="0"/>
              </a:rPr>
              <a:t>:	   6 dB</a:t>
            </a:r>
          </a:p>
          <a:p>
            <a:pPr algn="just">
              <a:lnSpc>
                <a:spcPct val="100000"/>
              </a:lnSpc>
              <a:spcBef>
                <a:spcPts val="0"/>
              </a:spcBef>
              <a:buFont typeface="Monotype Sorts" pitchFamily="2" charset="2"/>
              <a:buNone/>
            </a:pPr>
            <a:r>
              <a:rPr lang="en-US" sz="2400" dirty="0">
                <a:cs typeface="Times New Roman" pitchFamily="18" charset="0"/>
              </a:rPr>
              <a:t>	Mobile receiver antenna gain, G</a:t>
            </a:r>
            <a:r>
              <a:rPr lang="en-US" sz="2400" baseline="-30000" dirty="0">
                <a:cs typeface="Times New Roman" pitchFamily="18" charset="0"/>
              </a:rPr>
              <a:t>r</a:t>
            </a:r>
            <a:r>
              <a:rPr lang="en-US" sz="2400" dirty="0">
                <a:cs typeface="Times New Roman" pitchFamily="18" charset="0"/>
              </a:rPr>
              <a:t>:	   3 dB</a:t>
            </a:r>
          </a:p>
          <a:p>
            <a:pPr algn="just">
              <a:lnSpc>
                <a:spcPct val="100000"/>
              </a:lnSpc>
              <a:spcBef>
                <a:spcPts val="0"/>
              </a:spcBef>
              <a:buFont typeface="Monotype Sorts" pitchFamily="2" charset="2"/>
              <a:buNone/>
            </a:pPr>
            <a:r>
              <a:rPr lang="en-US" sz="2400" dirty="0">
                <a:cs typeface="Times New Roman" pitchFamily="18" charset="0"/>
              </a:rPr>
              <a:t>	Height of base transmitter, </a:t>
            </a:r>
            <a:r>
              <a:rPr lang="en-US" sz="2400" dirty="0" err="1">
                <a:cs typeface="Times New Roman" pitchFamily="18" charset="0"/>
              </a:rPr>
              <a:t>h</a:t>
            </a:r>
            <a:r>
              <a:rPr lang="en-US" sz="2400" baseline="-30000" dirty="0" err="1">
                <a:cs typeface="Times New Roman" pitchFamily="18" charset="0"/>
              </a:rPr>
              <a:t>te</a:t>
            </a:r>
            <a:r>
              <a:rPr lang="en-US" sz="2400" dirty="0">
                <a:cs typeface="Times New Roman" pitchFamily="18" charset="0"/>
              </a:rPr>
              <a:t>:	   50 m</a:t>
            </a:r>
          </a:p>
          <a:p>
            <a:pPr algn="just">
              <a:lnSpc>
                <a:spcPct val="100000"/>
              </a:lnSpc>
              <a:spcBef>
                <a:spcPts val="0"/>
              </a:spcBef>
              <a:buFont typeface="Monotype Sorts" pitchFamily="2" charset="2"/>
              <a:buNone/>
            </a:pPr>
            <a:r>
              <a:rPr lang="en-US" sz="2400" dirty="0">
                <a:cs typeface="Times New Roman" pitchFamily="18" charset="0"/>
              </a:rPr>
              <a:t>	Height of mobile receiver, </a:t>
            </a:r>
            <a:r>
              <a:rPr lang="en-US" sz="2400" dirty="0" err="1">
                <a:cs typeface="Times New Roman" pitchFamily="18" charset="0"/>
              </a:rPr>
              <a:t>h</a:t>
            </a:r>
            <a:r>
              <a:rPr lang="en-US" sz="2400" baseline="-30000" dirty="0" err="1">
                <a:cs typeface="Times New Roman" pitchFamily="18" charset="0"/>
              </a:rPr>
              <a:t>re</a:t>
            </a:r>
            <a:r>
              <a:rPr lang="en-US" sz="2400" dirty="0">
                <a:cs typeface="Times New Roman" pitchFamily="18" charset="0"/>
              </a:rPr>
              <a:t>:	   2 m </a:t>
            </a:r>
          </a:p>
          <a:p>
            <a:pPr algn="just">
              <a:lnSpc>
                <a:spcPct val="100000"/>
              </a:lnSpc>
              <a:spcBef>
                <a:spcPts val="0"/>
              </a:spcBef>
            </a:pPr>
            <a:endParaRPr lang="en-US" sz="2400" b="1" dirty="0">
              <a:cs typeface="Times New Roman" pitchFamily="18" charset="0"/>
            </a:endParaRPr>
          </a:p>
          <a:p>
            <a:pPr algn="just">
              <a:lnSpc>
                <a:spcPct val="100000"/>
              </a:lnSpc>
              <a:spcBef>
                <a:spcPts val="0"/>
              </a:spcBef>
            </a:pPr>
            <a:r>
              <a:rPr lang="en-US" sz="2400" b="1" dirty="0">
                <a:cs typeface="Times New Roman" pitchFamily="18" charset="0"/>
              </a:rPr>
              <a:t>Assuming all other losses are negligible</a:t>
            </a:r>
            <a:r>
              <a:rPr lang="en-US" sz="2400" dirty="0">
                <a:cs typeface="Times New Roman" pitchFamily="18" charset="0"/>
              </a:rPr>
              <a:t> except path loss and Rayleigh fading. Provision for fade margin for 99.8% reliability may be calculated with the help of the Rayleigh distribution chart provided (Treat the Fade Margin as additional loss along the path)</a:t>
            </a:r>
            <a:endParaRPr lang="en-US" sz="2400" dirty="0"/>
          </a:p>
        </p:txBody>
      </p:sp>
      <p:sp>
        <p:nvSpPr>
          <p:cNvPr id="7"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Example</a:t>
            </a:r>
          </a:p>
        </p:txBody>
      </p:sp>
      <p:sp>
        <p:nvSpPr>
          <p:cNvPr id="12" name="Rectangle 11">
            <a:extLst>
              <a:ext uri="{FF2B5EF4-FFF2-40B4-BE49-F238E27FC236}">
                <a16:creationId xmlns:a16="http://schemas.microsoft.com/office/drawing/2014/main" id="{8B279D09-3451-4F22-B021-A80B817C7878}"/>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37">
            <a:hlinkClick r:id="" action="ppaction://media"/>
            <a:extLst>
              <a:ext uri="{FF2B5EF4-FFF2-40B4-BE49-F238E27FC236}">
                <a16:creationId xmlns:a16="http://schemas.microsoft.com/office/drawing/2014/main" id="{50470A0E-C6EA-4F89-8372-CF8DAE4B2CE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78387" y="5829385"/>
            <a:ext cx="609600" cy="609600"/>
          </a:xfrm>
          <a:prstGeom prst="rect">
            <a:avLst/>
          </a:prstGeom>
        </p:spPr>
      </p:pic>
      <p:sp>
        <p:nvSpPr>
          <p:cNvPr id="3" name="Rectangle 2">
            <a:extLst>
              <a:ext uri="{FF2B5EF4-FFF2-40B4-BE49-F238E27FC236}">
                <a16:creationId xmlns:a16="http://schemas.microsoft.com/office/drawing/2014/main" id="{3CE58321-0774-31F5-2667-C968E36A2E86}"/>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115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389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ine 7"/>
          <p:cNvSpPr>
            <a:spLocks noChangeShapeType="1"/>
          </p:cNvSpPr>
          <p:nvPr/>
        </p:nvSpPr>
        <p:spPr bwMode="auto">
          <a:xfrm>
            <a:off x="3681479" y="3055290"/>
            <a:ext cx="286420" cy="1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3" name="Line 9"/>
          <p:cNvSpPr>
            <a:spLocks noChangeShapeType="1"/>
          </p:cNvSpPr>
          <p:nvPr/>
        </p:nvSpPr>
        <p:spPr bwMode="auto">
          <a:xfrm flipV="1">
            <a:off x="3352172" y="2724961"/>
            <a:ext cx="370661" cy="17438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4" name="Line 10"/>
          <p:cNvSpPr>
            <a:spLocks noChangeShapeType="1"/>
          </p:cNvSpPr>
          <p:nvPr/>
        </p:nvSpPr>
        <p:spPr bwMode="auto">
          <a:xfrm>
            <a:off x="3902037" y="2727522"/>
            <a:ext cx="364535" cy="17425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5" name="Line 11"/>
          <p:cNvSpPr>
            <a:spLocks noChangeShapeType="1"/>
          </p:cNvSpPr>
          <p:nvPr/>
        </p:nvSpPr>
        <p:spPr bwMode="auto">
          <a:xfrm>
            <a:off x="3382805" y="4420139"/>
            <a:ext cx="877640" cy="25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6" name="Line 12"/>
          <p:cNvSpPr>
            <a:spLocks noChangeShapeType="1"/>
          </p:cNvSpPr>
          <p:nvPr/>
        </p:nvSpPr>
        <p:spPr bwMode="auto">
          <a:xfrm>
            <a:off x="3483895" y="3943851"/>
            <a:ext cx="687715" cy="25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7" name="Line 13"/>
          <p:cNvSpPr>
            <a:spLocks noChangeShapeType="1"/>
          </p:cNvSpPr>
          <p:nvPr/>
        </p:nvSpPr>
        <p:spPr bwMode="auto">
          <a:xfrm>
            <a:off x="3477768" y="3951533"/>
            <a:ext cx="753576" cy="48013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8" name="Line 14"/>
          <p:cNvSpPr>
            <a:spLocks noChangeShapeType="1"/>
          </p:cNvSpPr>
          <p:nvPr/>
        </p:nvSpPr>
        <p:spPr bwMode="auto">
          <a:xfrm flipH="1">
            <a:off x="3399653" y="3947692"/>
            <a:ext cx="753576" cy="475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19" name="Line 15"/>
          <p:cNvSpPr>
            <a:spLocks noChangeShapeType="1"/>
          </p:cNvSpPr>
          <p:nvPr/>
        </p:nvSpPr>
        <p:spPr bwMode="auto">
          <a:xfrm>
            <a:off x="3578857" y="3482926"/>
            <a:ext cx="477877" cy="25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0" name="Line 16"/>
          <p:cNvSpPr>
            <a:spLocks noChangeShapeType="1"/>
          </p:cNvSpPr>
          <p:nvPr/>
        </p:nvSpPr>
        <p:spPr bwMode="auto">
          <a:xfrm>
            <a:off x="3578857" y="3480365"/>
            <a:ext cx="568245" cy="46732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1" name="Line 17"/>
          <p:cNvSpPr>
            <a:spLocks noChangeShapeType="1"/>
          </p:cNvSpPr>
          <p:nvPr/>
        </p:nvSpPr>
        <p:spPr bwMode="auto">
          <a:xfrm flipV="1">
            <a:off x="3453261" y="3480365"/>
            <a:ext cx="586625" cy="46220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2" name="Line 18"/>
          <p:cNvSpPr>
            <a:spLocks noChangeShapeType="1"/>
          </p:cNvSpPr>
          <p:nvPr/>
        </p:nvSpPr>
        <p:spPr bwMode="auto">
          <a:xfrm>
            <a:off x="3638592" y="3055290"/>
            <a:ext cx="424269" cy="43147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3" name="Line 19"/>
          <p:cNvSpPr>
            <a:spLocks noChangeShapeType="1"/>
          </p:cNvSpPr>
          <p:nvPr/>
        </p:nvSpPr>
        <p:spPr bwMode="auto">
          <a:xfrm flipV="1">
            <a:off x="3549756" y="3048889"/>
            <a:ext cx="405889" cy="44043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4" name="Line 20"/>
          <p:cNvSpPr>
            <a:spLocks noChangeShapeType="1"/>
          </p:cNvSpPr>
          <p:nvPr/>
        </p:nvSpPr>
        <p:spPr bwMode="auto">
          <a:xfrm flipV="1">
            <a:off x="3626339" y="2728802"/>
            <a:ext cx="281825" cy="33545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5" name="Line 21"/>
          <p:cNvSpPr>
            <a:spLocks noChangeShapeType="1"/>
          </p:cNvSpPr>
          <p:nvPr/>
        </p:nvSpPr>
        <p:spPr bwMode="auto">
          <a:xfrm>
            <a:off x="3738150" y="2739045"/>
            <a:ext cx="1470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nvGrpSpPr>
          <p:cNvPr id="4" name="Group 3">
            <a:extLst>
              <a:ext uri="{FF2B5EF4-FFF2-40B4-BE49-F238E27FC236}">
                <a16:creationId xmlns:a16="http://schemas.microsoft.com/office/drawing/2014/main" id="{1B38B662-17B8-4502-858C-71726500F9D8}"/>
              </a:ext>
            </a:extLst>
          </p:cNvPr>
          <p:cNvGrpSpPr/>
          <p:nvPr/>
        </p:nvGrpSpPr>
        <p:grpSpPr>
          <a:xfrm>
            <a:off x="1828172" y="4698673"/>
            <a:ext cx="3087982" cy="914400"/>
            <a:chOff x="1828172" y="4698673"/>
            <a:chExt cx="3087982" cy="914400"/>
          </a:xfrm>
        </p:grpSpPr>
        <p:grpSp>
          <p:nvGrpSpPr>
            <p:cNvPr id="2" name="Group 1">
              <a:extLst>
                <a:ext uri="{FF2B5EF4-FFF2-40B4-BE49-F238E27FC236}">
                  <a16:creationId xmlns:a16="http://schemas.microsoft.com/office/drawing/2014/main" id="{4C1179A6-BF74-4193-ABE0-8BABB22FC684}"/>
                </a:ext>
              </a:extLst>
            </p:cNvPr>
            <p:cNvGrpSpPr/>
            <p:nvPr/>
          </p:nvGrpSpPr>
          <p:grpSpPr>
            <a:xfrm>
              <a:off x="1828172" y="4698673"/>
              <a:ext cx="1295400" cy="914400"/>
              <a:chOff x="1828172" y="4698673"/>
              <a:chExt cx="1295400" cy="914400"/>
            </a:xfrm>
          </p:grpSpPr>
          <p:sp>
            <p:nvSpPr>
              <p:cNvPr id="7" name="Rectangle 4"/>
              <p:cNvSpPr>
                <a:spLocks noChangeArrowheads="1"/>
              </p:cNvSpPr>
              <p:nvPr/>
            </p:nvSpPr>
            <p:spPr bwMode="auto">
              <a:xfrm>
                <a:off x="1828172" y="4698673"/>
                <a:ext cx="12954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Text Box 5"/>
              <p:cNvSpPr txBox="1">
                <a:spLocks noChangeArrowheads="1"/>
              </p:cNvSpPr>
              <p:nvPr/>
            </p:nvSpPr>
            <p:spPr bwMode="auto">
              <a:xfrm>
                <a:off x="1828172" y="4774873"/>
                <a:ext cx="12128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t>Transmitter</a:t>
                </a:r>
              </a:p>
              <a:p>
                <a:r>
                  <a:rPr lang="en-US" dirty="0"/>
                  <a:t>Power</a:t>
                </a:r>
              </a:p>
              <a:p>
                <a:r>
                  <a:rPr lang="en-US" dirty="0"/>
                  <a:t>Amplifier</a:t>
                </a:r>
              </a:p>
            </p:txBody>
          </p:sp>
        </p:grpSp>
        <p:sp>
          <p:nvSpPr>
            <p:cNvPr id="38" name="Text Box 34"/>
            <p:cNvSpPr txBox="1">
              <a:spLocks noChangeArrowheads="1"/>
            </p:cNvSpPr>
            <p:nvPr/>
          </p:nvSpPr>
          <p:spPr bwMode="auto">
            <a:xfrm>
              <a:off x="3252454" y="5003473"/>
              <a:ext cx="16637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Transmit Power </a:t>
              </a:r>
            </a:p>
            <a:p>
              <a:pPr algn="ctr"/>
              <a:r>
                <a:rPr lang="en-US" dirty="0">
                  <a:solidFill>
                    <a:srgbClr val="0000FF"/>
                  </a:solidFill>
                </a:rPr>
                <a:t>P</a:t>
              </a:r>
              <a:r>
                <a:rPr lang="en-US" baseline="-25000" dirty="0">
                  <a:solidFill>
                    <a:srgbClr val="0000FF"/>
                  </a:solidFill>
                </a:rPr>
                <a:t>T</a:t>
              </a:r>
              <a:r>
                <a:rPr lang="en-US" dirty="0">
                  <a:solidFill>
                    <a:srgbClr val="0000FF"/>
                  </a:solidFill>
                </a:rPr>
                <a:t> (</a:t>
              </a:r>
              <a:r>
                <a:rPr lang="en-US" dirty="0" err="1">
                  <a:solidFill>
                    <a:srgbClr val="0000FF"/>
                  </a:solidFill>
                </a:rPr>
                <a:t>dBm</a:t>
              </a:r>
              <a:r>
                <a:rPr lang="en-US" dirty="0">
                  <a:solidFill>
                    <a:srgbClr val="0000FF"/>
                  </a:solidFill>
                </a:rPr>
                <a:t>)</a:t>
              </a:r>
            </a:p>
          </p:txBody>
        </p:sp>
      </p:grpSp>
      <p:sp>
        <p:nvSpPr>
          <p:cNvPr id="41" name="Line 37"/>
          <p:cNvSpPr>
            <a:spLocks noChangeShapeType="1"/>
          </p:cNvSpPr>
          <p:nvPr/>
        </p:nvSpPr>
        <p:spPr bwMode="auto">
          <a:xfrm>
            <a:off x="2894972" y="3403273"/>
            <a:ext cx="3810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43" name="Line 39"/>
          <p:cNvSpPr>
            <a:spLocks noChangeShapeType="1"/>
          </p:cNvSpPr>
          <p:nvPr/>
        </p:nvSpPr>
        <p:spPr bwMode="auto">
          <a:xfrm>
            <a:off x="2742572" y="1803073"/>
            <a:ext cx="762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45" name="Line 41"/>
          <p:cNvSpPr>
            <a:spLocks noChangeShapeType="1"/>
          </p:cNvSpPr>
          <p:nvPr/>
        </p:nvSpPr>
        <p:spPr bwMode="auto">
          <a:xfrm flipH="1">
            <a:off x="8686172" y="3250873"/>
            <a:ext cx="3048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grpSp>
        <p:nvGrpSpPr>
          <p:cNvPr id="61" name="Group 60">
            <a:extLst>
              <a:ext uri="{FF2B5EF4-FFF2-40B4-BE49-F238E27FC236}">
                <a16:creationId xmlns:a16="http://schemas.microsoft.com/office/drawing/2014/main" id="{7D4FB030-9700-41C9-8035-2EB689FB749B}"/>
              </a:ext>
            </a:extLst>
          </p:cNvPr>
          <p:cNvGrpSpPr/>
          <p:nvPr/>
        </p:nvGrpSpPr>
        <p:grpSpPr>
          <a:xfrm>
            <a:off x="7350755" y="4470073"/>
            <a:ext cx="3240417" cy="1317443"/>
            <a:chOff x="7350755" y="4470073"/>
            <a:chExt cx="3240417" cy="1317443"/>
          </a:xfrm>
        </p:grpSpPr>
        <p:sp>
          <p:nvSpPr>
            <p:cNvPr id="30" name="Rectangle 26"/>
            <p:cNvSpPr>
              <a:spLocks noChangeArrowheads="1"/>
            </p:cNvSpPr>
            <p:nvPr/>
          </p:nvSpPr>
          <p:spPr bwMode="auto">
            <a:xfrm>
              <a:off x="9219572" y="4470073"/>
              <a:ext cx="13716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r>
                <a:rPr lang="en-US" sz="1800" dirty="0"/>
                <a:t>Receiver</a:t>
              </a:r>
            </a:p>
          </p:txBody>
        </p:sp>
        <p:sp>
          <p:nvSpPr>
            <p:cNvPr id="46" name="Text Box 42"/>
            <p:cNvSpPr txBox="1">
              <a:spLocks noChangeArrowheads="1"/>
            </p:cNvSpPr>
            <p:nvPr/>
          </p:nvSpPr>
          <p:spPr bwMode="auto">
            <a:xfrm>
              <a:off x="7350755" y="5206491"/>
              <a:ext cx="1717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Received Power </a:t>
              </a:r>
            </a:p>
            <a:p>
              <a:pPr algn="ctr"/>
              <a:r>
                <a:rPr lang="en-US" dirty="0">
                  <a:solidFill>
                    <a:srgbClr val="0000FF"/>
                  </a:solidFill>
                </a:rPr>
                <a:t>P</a:t>
              </a:r>
              <a:r>
                <a:rPr lang="en-US" baseline="-25000" dirty="0">
                  <a:solidFill>
                    <a:srgbClr val="0000FF"/>
                  </a:solidFill>
                </a:rPr>
                <a:t>R</a:t>
              </a:r>
              <a:r>
                <a:rPr lang="en-US" dirty="0">
                  <a:solidFill>
                    <a:srgbClr val="0000FF"/>
                  </a:solidFill>
                </a:rPr>
                <a:t> (</a:t>
              </a:r>
              <a:r>
                <a:rPr lang="en-US" dirty="0" err="1">
                  <a:solidFill>
                    <a:srgbClr val="0000FF"/>
                  </a:solidFill>
                </a:rPr>
                <a:t>dBm</a:t>
              </a:r>
              <a:r>
                <a:rPr lang="en-US" dirty="0">
                  <a:solidFill>
                    <a:srgbClr val="0000FF"/>
                  </a:solidFill>
                </a:rPr>
                <a:t>)</a:t>
              </a:r>
            </a:p>
          </p:txBody>
        </p:sp>
      </p:grpSp>
      <p:grpSp>
        <p:nvGrpSpPr>
          <p:cNvPr id="6" name="Group 5">
            <a:extLst>
              <a:ext uri="{FF2B5EF4-FFF2-40B4-BE49-F238E27FC236}">
                <a16:creationId xmlns:a16="http://schemas.microsoft.com/office/drawing/2014/main" id="{C69A7EE6-11C8-4DD6-886E-94A6B541E857}"/>
              </a:ext>
            </a:extLst>
          </p:cNvPr>
          <p:cNvGrpSpPr/>
          <p:nvPr/>
        </p:nvGrpSpPr>
        <p:grpSpPr>
          <a:xfrm>
            <a:off x="4342772" y="1882448"/>
            <a:ext cx="4594225" cy="1825625"/>
            <a:chOff x="4342772" y="1882448"/>
            <a:chExt cx="4594225" cy="1825625"/>
          </a:xfrm>
        </p:grpSpPr>
        <p:grpSp>
          <p:nvGrpSpPr>
            <p:cNvPr id="34" name="Group 30"/>
            <p:cNvGrpSpPr>
              <a:grpSpLocks/>
            </p:cNvGrpSpPr>
            <p:nvPr/>
          </p:nvGrpSpPr>
          <p:grpSpPr bwMode="auto">
            <a:xfrm>
              <a:off x="4342772" y="2107873"/>
              <a:ext cx="3581400" cy="1600200"/>
              <a:chOff x="1776" y="1440"/>
              <a:chExt cx="864" cy="768"/>
            </a:xfrm>
          </p:grpSpPr>
          <p:sp>
            <p:nvSpPr>
              <p:cNvPr id="35" name="Line 31"/>
              <p:cNvSpPr>
                <a:spLocks noChangeShapeType="1"/>
              </p:cNvSpPr>
              <p:nvPr/>
            </p:nvSpPr>
            <p:spPr bwMode="auto">
              <a:xfrm>
                <a:off x="1776" y="1440"/>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36" name="Line 32"/>
              <p:cNvSpPr>
                <a:spLocks noChangeShapeType="1"/>
              </p:cNvSpPr>
              <p:nvPr/>
            </p:nvSpPr>
            <p:spPr bwMode="auto">
              <a:xfrm flipH="1">
                <a:off x="2112" y="1824"/>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37" name="Line 33"/>
              <p:cNvSpPr>
                <a:spLocks noChangeShapeType="1"/>
              </p:cNvSpPr>
              <p:nvPr/>
            </p:nvSpPr>
            <p:spPr bwMode="auto">
              <a:xfrm>
                <a:off x="2112" y="1872"/>
                <a:ext cx="52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grpSp>
        <p:sp>
          <p:nvSpPr>
            <p:cNvPr id="47" name="Text Box 43"/>
            <p:cNvSpPr txBox="1">
              <a:spLocks noChangeArrowheads="1"/>
            </p:cNvSpPr>
            <p:nvPr/>
          </p:nvSpPr>
          <p:spPr bwMode="auto">
            <a:xfrm>
              <a:off x="5374647" y="1882448"/>
              <a:ext cx="3562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solidFill>
                    <a:srgbClr val="0000FF"/>
                  </a:solidFill>
                </a:rPr>
                <a:t>Path Loss PL (dB) and </a:t>
              </a:r>
            </a:p>
            <a:p>
              <a:r>
                <a:rPr lang="en-US" dirty="0">
                  <a:solidFill>
                    <a:srgbClr val="0000FF"/>
                  </a:solidFill>
                </a:rPr>
                <a:t>Fade Margin FM (dB)</a:t>
              </a:r>
            </a:p>
          </p:txBody>
        </p:sp>
      </p:grpSp>
      <p:grpSp>
        <p:nvGrpSpPr>
          <p:cNvPr id="8" name="Group 7">
            <a:extLst>
              <a:ext uri="{FF2B5EF4-FFF2-40B4-BE49-F238E27FC236}">
                <a16:creationId xmlns:a16="http://schemas.microsoft.com/office/drawing/2014/main" id="{025D4636-8288-4540-98E9-FB4D6A080669}"/>
              </a:ext>
            </a:extLst>
          </p:cNvPr>
          <p:cNvGrpSpPr/>
          <p:nvPr/>
        </p:nvGrpSpPr>
        <p:grpSpPr>
          <a:xfrm>
            <a:off x="8109094" y="2990523"/>
            <a:ext cx="2534466" cy="1089025"/>
            <a:chOff x="8109094" y="2990523"/>
            <a:chExt cx="2534466" cy="1089025"/>
          </a:xfrm>
        </p:grpSpPr>
        <p:sp>
          <p:nvSpPr>
            <p:cNvPr id="33" name="AutoShape 29"/>
            <p:cNvSpPr>
              <a:spLocks noChangeArrowheads="1"/>
            </p:cNvSpPr>
            <p:nvPr/>
          </p:nvSpPr>
          <p:spPr bwMode="auto">
            <a:xfrm flipV="1">
              <a:off x="8109094" y="3546148"/>
              <a:ext cx="533400" cy="5334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4" name="Text Box 40"/>
            <p:cNvSpPr txBox="1">
              <a:spLocks noChangeArrowheads="1"/>
            </p:cNvSpPr>
            <p:nvPr/>
          </p:nvSpPr>
          <p:spPr bwMode="auto">
            <a:xfrm>
              <a:off x="8914772" y="2990523"/>
              <a:ext cx="17287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Receive Antenna</a:t>
              </a:r>
            </a:p>
          </p:txBody>
        </p:sp>
        <p:sp>
          <p:nvSpPr>
            <p:cNvPr id="48" name="Text Box 44"/>
            <p:cNvSpPr txBox="1">
              <a:spLocks noChangeArrowheads="1"/>
            </p:cNvSpPr>
            <p:nvPr/>
          </p:nvSpPr>
          <p:spPr bwMode="auto">
            <a:xfrm>
              <a:off x="8914772" y="3203248"/>
              <a:ext cx="135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solidFill>
                    <a:srgbClr val="0000FF"/>
                  </a:solidFill>
                </a:rPr>
                <a:t>Gain G</a:t>
              </a:r>
              <a:r>
                <a:rPr lang="en-US" baseline="-25000" dirty="0">
                  <a:solidFill>
                    <a:srgbClr val="0000FF"/>
                  </a:solidFill>
                </a:rPr>
                <a:t>R </a:t>
              </a:r>
              <a:r>
                <a:rPr lang="en-US" dirty="0">
                  <a:solidFill>
                    <a:srgbClr val="0000FF"/>
                  </a:solidFill>
                </a:rPr>
                <a:t>(dB)</a:t>
              </a:r>
            </a:p>
          </p:txBody>
        </p:sp>
      </p:grpSp>
      <p:grpSp>
        <p:nvGrpSpPr>
          <p:cNvPr id="3" name="Group 2">
            <a:extLst>
              <a:ext uri="{FF2B5EF4-FFF2-40B4-BE49-F238E27FC236}">
                <a16:creationId xmlns:a16="http://schemas.microsoft.com/office/drawing/2014/main" id="{6892F162-84B3-433A-8A84-777F7678EA48}"/>
              </a:ext>
            </a:extLst>
          </p:cNvPr>
          <p:cNvGrpSpPr/>
          <p:nvPr/>
        </p:nvGrpSpPr>
        <p:grpSpPr>
          <a:xfrm>
            <a:off x="1785310" y="2399973"/>
            <a:ext cx="2024062" cy="3009900"/>
            <a:chOff x="1785310" y="2399973"/>
            <a:chExt cx="2024062" cy="3009900"/>
          </a:xfrm>
        </p:grpSpPr>
        <p:sp>
          <p:nvSpPr>
            <p:cNvPr id="39" name="Freeform 35"/>
            <p:cNvSpPr>
              <a:spLocks/>
            </p:cNvSpPr>
            <p:nvPr/>
          </p:nvSpPr>
          <p:spPr bwMode="auto">
            <a:xfrm>
              <a:off x="3123572" y="2399973"/>
              <a:ext cx="685800" cy="3009900"/>
            </a:xfrm>
            <a:custGeom>
              <a:avLst/>
              <a:gdLst>
                <a:gd name="T0" fmla="*/ 0 w 432"/>
                <a:gd name="T1" fmla="*/ 2147483647 h 1896"/>
                <a:gd name="T2" fmla="*/ 241935031 w 432"/>
                <a:gd name="T3" fmla="*/ 2147483647 h 1896"/>
                <a:gd name="T4" fmla="*/ 241935031 w 432"/>
                <a:gd name="T5" fmla="*/ 2147483647 h 1896"/>
                <a:gd name="T6" fmla="*/ 846772658 w 432"/>
                <a:gd name="T7" fmla="*/ 383063751 h 1896"/>
                <a:gd name="T8" fmla="*/ 1088707589 w 432"/>
                <a:gd name="T9" fmla="*/ 383063751 h 1896"/>
                <a:gd name="T10" fmla="*/ 0 60000 65536"/>
                <a:gd name="T11" fmla="*/ 0 60000 65536"/>
                <a:gd name="T12" fmla="*/ 0 60000 65536"/>
                <a:gd name="T13" fmla="*/ 0 60000 65536"/>
                <a:gd name="T14" fmla="*/ 0 60000 65536"/>
                <a:gd name="T15" fmla="*/ 0 w 432"/>
                <a:gd name="T16" fmla="*/ 0 h 1896"/>
                <a:gd name="T17" fmla="*/ 432 w 432"/>
                <a:gd name="T18" fmla="*/ 1896 h 1896"/>
              </a:gdLst>
              <a:ahLst/>
              <a:cxnLst>
                <a:cxn ang="T10">
                  <a:pos x="T0" y="T1"/>
                </a:cxn>
                <a:cxn ang="T11">
                  <a:pos x="T2" y="T3"/>
                </a:cxn>
                <a:cxn ang="T12">
                  <a:pos x="T4" y="T5"/>
                </a:cxn>
                <a:cxn ang="T13">
                  <a:pos x="T6" y="T7"/>
                </a:cxn>
                <a:cxn ang="T14">
                  <a:pos x="T8" y="T9"/>
                </a:cxn>
              </a:cxnLst>
              <a:rect l="T15" t="T16" r="T17" b="T18"/>
              <a:pathLst>
                <a:path w="432" h="1896">
                  <a:moveTo>
                    <a:pt x="0" y="1736"/>
                  </a:moveTo>
                  <a:cubicBezTo>
                    <a:pt x="40" y="1816"/>
                    <a:pt x="80" y="1896"/>
                    <a:pt x="96" y="1784"/>
                  </a:cubicBezTo>
                  <a:cubicBezTo>
                    <a:pt x="112" y="1672"/>
                    <a:pt x="56" y="1336"/>
                    <a:pt x="96" y="1064"/>
                  </a:cubicBezTo>
                  <a:cubicBezTo>
                    <a:pt x="136" y="792"/>
                    <a:pt x="280" y="304"/>
                    <a:pt x="336" y="152"/>
                  </a:cubicBezTo>
                  <a:cubicBezTo>
                    <a:pt x="392" y="0"/>
                    <a:pt x="412" y="76"/>
                    <a:pt x="432" y="152"/>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 name="Text Box 36"/>
            <p:cNvSpPr txBox="1">
              <a:spLocks noChangeArrowheads="1"/>
            </p:cNvSpPr>
            <p:nvPr/>
          </p:nvSpPr>
          <p:spPr bwMode="auto">
            <a:xfrm>
              <a:off x="1828172" y="3082598"/>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Feeder cable</a:t>
              </a:r>
            </a:p>
          </p:txBody>
        </p:sp>
        <p:sp>
          <p:nvSpPr>
            <p:cNvPr id="49" name="Text Box 45"/>
            <p:cNvSpPr txBox="1">
              <a:spLocks noChangeArrowheads="1"/>
            </p:cNvSpPr>
            <p:nvPr/>
          </p:nvSpPr>
          <p:spPr bwMode="auto">
            <a:xfrm>
              <a:off x="1785310" y="3371523"/>
              <a:ext cx="11874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Cable loss </a:t>
              </a:r>
            </a:p>
            <a:p>
              <a:pPr algn="ctr"/>
              <a:r>
                <a:rPr lang="en-US" dirty="0">
                  <a:solidFill>
                    <a:srgbClr val="0000FF"/>
                  </a:solidFill>
                </a:rPr>
                <a:t>L</a:t>
              </a:r>
              <a:r>
                <a:rPr lang="en-US" baseline="-25000" dirty="0">
                  <a:solidFill>
                    <a:srgbClr val="0000FF"/>
                  </a:solidFill>
                </a:rPr>
                <a:t>f</a:t>
              </a:r>
              <a:r>
                <a:rPr lang="en-US" dirty="0">
                  <a:solidFill>
                    <a:srgbClr val="0000FF"/>
                  </a:solidFill>
                </a:rPr>
                <a:t> (dB)</a:t>
              </a:r>
            </a:p>
          </p:txBody>
        </p:sp>
      </p:grpSp>
      <p:sp>
        <p:nvSpPr>
          <p:cNvPr id="51" name="Line 48"/>
          <p:cNvSpPr>
            <a:spLocks noChangeShapeType="1"/>
          </p:cNvSpPr>
          <p:nvPr/>
        </p:nvSpPr>
        <p:spPr bwMode="auto">
          <a:xfrm>
            <a:off x="7924172" y="4562148"/>
            <a:ext cx="3810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grpSp>
        <p:nvGrpSpPr>
          <p:cNvPr id="5" name="Group 4">
            <a:extLst>
              <a:ext uri="{FF2B5EF4-FFF2-40B4-BE49-F238E27FC236}">
                <a16:creationId xmlns:a16="http://schemas.microsoft.com/office/drawing/2014/main" id="{41586B10-5E3D-4A1B-B7A6-F173B002F534}"/>
              </a:ext>
            </a:extLst>
          </p:cNvPr>
          <p:cNvGrpSpPr/>
          <p:nvPr/>
        </p:nvGrpSpPr>
        <p:grpSpPr>
          <a:xfrm>
            <a:off x="1523372" y="1314123"/>
            <a:ext cx="2343437" cy="1421081"/>
            <a:chOff x="1523372" y="1314123"/>
            <a:chExt cx="2343437" cy="1421081"/>
          </a:xfrm>
        </p:grpSpPr>
        <p:sp>
          <p:nvSpPr>
            <p:cNvPr id="12" name="Line 8"/>
            <p:cNvSpPr>
              <a:spLocks noChangeShapeType="1"/>
            </p:cNvSpPr>
            <p:nvPr/>
          </p:nvSpPr>
          <p:spPr bwMode="auto">
            <a:xfrm flipV="1">
              <a:off x="3811669" y="2078386"/>
              <a:ext cx="9190" cy="6568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26" name="Line 22"/>
            <p:cNvSpPr>
              <a:spLocks noChangeShapeType="1"/>
            </p:cNvSpPr>
            <p:nvPr/>
          </p:nvSpPr>
          <p:spPr bwMode="auto">
            <a:xfrm>
              <a:off x="3719770" y="1955473"/>
              <a:ext cx="0" cy="4301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7" name="Line 23"/>
            <p:cNvSpPr>
              <a:spLocks noChangeShapeType="1"/>
            </p:cNvSpPr>
            <p:nvPr/>
          </p:nvSpPr>
          <p:spPr bwMode="auto">
            <a:xfrm>
              <a:off x="3866809" y="1955473"/>
              <a:ext cx="0" cy="4301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8" name="Line 24"/>
            <p:cNvSpPr>
              <a:spLocks noChangeShapeType="1"/>
            </p:cNvSpPr>
            <p:nvPr/>
          </p:nvSpPr>
          <p:spPr bwMode="auto">
            <a:xfrm>
              <a:off x="3719770" y="2139843"/>
              <a:ext cx="1470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9" name="Line 25"/>
            <p:cNvSpPr>
              <a:spLocks noChangeShapeType="1"/>
            </p:cNvSpPr>
            <p:nvPr/>
          </p:nvSpPr>
          <p:spPr bwMode="auto">
            <a:xfrm>
              <a:off x="3719770" y="2262756"/>
              <a:ext cx="14703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42" name="Text Box 38"/>
            <p:cNvSpPr txBox="1">
              <a:spLocks noChangeArrowheads="1"/>
            </p:cNvSpPr>
            <p:nvPr/>
          </p:nvSpPr>
          <p:spPr bwMode="auto">
            <a:xfrm>
              <a:off x="1523372" y="1314123"/>
              <a:ext cx="1787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Transmit Antenna</a:t>
              </a:r>
            </a:p>
          </p:txBody>
        </p:sp>
        <p:sp>
          <p:nvSpPr>
            <p:cNvPr id="52" name="Text Box 49"/>
            <p:cNvSpPr txBox="1">
              <a:spLocks noChangeArrowheads="1"/>
            </p:cNvSpPr>
            <p:nvPr/>
          </p:nvSpPr>
          <p:spPr bwMode="auto">
            <a:xfrm>
              <a:off x="1523372" y="1618923"/>
              <a:ext cx="1336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dirty="0">
                  <a:solidFill>
                    <a:srgbClr val="0000FF"/>
                  </a:solidFill>
                </a:rPr>
                <a:t>Gain G</a:t>
              </a:r>
              <a:r>
                <a:rPr lang="en-US" baseline="-25000" dirty="0">
                  <a:solidFill>
                    <a:srgbClr val="0000FF"/>
                  </a:solidFill>
                </a:rPr>
                <a:t>T </a:t>
              </a:r>
              <a:r>
                <a:rPr lang="en-US" dirty="0">
                  <a:solidFill>
                    <a:srgbClr val="0000FF"/>
                  </a:solidFill>
                </a:rPr>
                <a:t>(dB)</a:t>
              </a:r>
            </a:p>
          </p:txBody>
        </p:sp>
      </p:grpSp>
      <p:grpSp>
        <p:nvGrpSpPr>
          <p:cNvPr id="58" name="Group 57">
            <a:extLst>
              <a:ext uri="{FF2B5EF4-FFF2-40B4-BE49-F238E27FC236}">
                <a16:creationId xmlns:a16="http://schemas.microsoft.com/office/drawing/2014/main" id="{5F674CF8-E327-48C0-8217-C1720340E394}"/>
              </a:ext>
            </a:extLst>
          </p:cNvPr>
          <p:cNvGrpSpPr/>
          <p:nvPr/>
        </p:nvGrpSpPr>
        <p:grpSpPr>
          <a:xfrm>
            <a:off x="6857372" y="3555673"/>
            <a:ext cx="1509713" cy="1295400"/>
            <a:chOff x="6857372" y="3555673"/>
            <a:chExt cx="1509713" cy="1295400"/>
          </a:xfrm>
        </p:grpSpPr>
        <p:sp>
          <p:nvSpPr>
            <p:cNvPr id="32" name="Line 28"/>
            <p:cNvSpPr>
              <a:spLocks noChangeShapeType="1"/>
            </p:cNvSpPr>
            <p:nvPr/>
          </p:nvSpPr>
          <p:spPr bwMode="auto">
            <a:xfrm flipV="1">
              <a:off x="8367085" y="3555673"/>
              <a:ext cx="0"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50" name="Text Box 47"/>
            <p:cNvSpPr txBox="1">
              <a:spLocks noChangeArrowheads="1"/>
            </p:cNvSpPr>
            <p:nvPr/>
          </p:nvSpPr>
          <p:spPr bwMode="auto">
            <a:xfrm>
              <a:off x="6857372" y="4012873"/>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r>
                <a:rPr lang="en-US"/>
                <a:t>Feeder cable</a:t>
              </a:r>
            </a:p>
          </p:txBody>
        </p:sp>
        <p:sp>
          <p:nvSpPr>
            <p:cNvPr id="53" name="Text Box 50"/>
            <p:cNvSpPr txBox="1">
              <a:spLocks noChangeArrowheads="1"/>
            </p:cNvSpPr>
            <p:nvPr/>
          </p:nvSpPr>
          <p:spPr bwMode="auto">
            <a:xfrm>
              <a:off x="6857372" y="4241473"/>
              <a:ext cx="11874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a:r>
                <a:rPr lang="en-US" dirty="0">
                  <a:solidFill>
                    <a:srgbClr val="0000FF"/>
                  </a:solidFill>
                </a:rPr>
                <a:t>Cable loss </a:t>
              </a:r>
            </a:p>
            <a:p>
              <a:pPr algn="ctr"/>
              <a:r>
                <a:rPr lang="en-US" dirty="0">
                  <a:solidFill>
                    <a:srgbClr val="0000FF"/>
                  </a:solidFill>
                </a:rPr>
                <a:t>L</a:t>
              </a:r>
              <a:r>
                <a:rPr lang="en-US" baseline="-25000" dirty="0">
                  <a:solidFill>
                    <a:srgbClr val="0000FF"/>
                  </a:solidFill>
                </a:rPr>
                <a:t>f</a:t>
              </a:r>
              <a:r>
                <a:rPr lang="en-US" dirty="0">
                  <a:solidFill>
                    <a:srgbClr val="0000FF"/>
                  </a:solidFill>
                </a:rPr>
                <a:t> (dB)</a:t>
              </a:r>
            </a:p>
          </p:txBody>
        </p:sp>
      </p:grpSp>
      <p:cxnSp>
        <p:nvCxnSpPr>
          <p:cNvPr id="54" name="AutoShape 51"/>
          <p:cNvCxnSpPr>
            <a:cxnSpLocks noChangeShapeType="1"/>
            <a:stCxn id="32" idx="0"/>
            <a:endCxn id="30" idx="1"/>
          </p:cNvCxnSpPr>
          <p:nvPr/>
        </p:nvCxnSpPr>
        <p:spPr bwMode="auto">
          <a:xfrm>
            <a:off x="8367085" y="4851073"/>
            <a:ext cx="852487"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9"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Example</a:t>
            </a:r>
          </a:p>
        </p:txBody>
      </p:sp>
      <p:sp>
        <p:nvSpPr>
          <p:cNvPr id="55" name="Rectangle 54">
            <a:extLst>
              <a:ext uri="{FF2B5EF4-FFF2-40B4-BE49-F238E27FC236}">
                <a16:creationId xmlns:a16="http://schemas.microsoft.com/office/drawing/2014/main" id="{45FCE717-D4A4-45C2-8441-9EF26CE38877}"/>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sp>
        <p:nvSpPr>
          <p:cNvPr id="60" name="Line 48">
            <a:extLst>
              <a:ext uri="{FF2B5EF4-FFF2-40B4-BE49-F238E27FC236}">
                <a16:creationId xmlns:a16="http://schemas.microsoft.com/office/drawing/2014/main" id="{939218BC-766F-43A2-9A3C-6BE79E026068}"/>
              </a:ext>
            </a:extLst>
          </p:cNvPr>
          <p:cNvSpPr>
            <a:spLocks noChangeShapeType="1"/>
          </p:cNvSpPr>
          <p:nvPr/>
        </p:nvSpPr>
        <p:spPr bwMode="auto">
          <a:xfrm flipV="1">
            <a:off x="8503842" y="4911398"/>
            <a:ext cx="564587" cy="27921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pic>
        <p:nvPicPr>
          <p:cNvPr id="10" name="Pg38">
            <a:hlinkClick r:id="" action="ppaction://media"/>
            <a:extLst>
              <a:ext uri="{FF2B5EF4-FFF2-40B4-BE49-F238E27FC236}">
                <a16:creationId xmlns:a16="http://schemas.microsoft.com/office/drawing/2014/main" id="{100ECAF7-F07D-4A5B-AFC8-7EFA39BF61A2}"/>
              </a:ext>
            </a:extLst>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9962522" y="5760474"/>
            <a:ext cx="609600" cy="609600"/>
          </a:xfrm>
          <a:prstGeom prst="rect">
            <a:avLst/>
          </a:prstGeom>
        </p:spPr>
      </p:pic>
      <p:pic>
        <p:nvPicPr>
          <p:cNvPr id="31" name="Pg38a">
            <a:hlinkClick r:id="" action="ppaction://media"/>
            <a:extLst>
              <a:ext uri="{FF2B5EF4-FFF2-40B4-BE49-F238E27FC236}">
                <a16:creationId xmlns:a16="http://schemas.microsoft.com/office/drawing/2014/main" id="{4159307B-DB71-4643-9BD2-9329AD5392B4}"/>
              </a:ext>
            </a:extLst>
          </p:cNvPr>
          <p:cNvPicPr>
            <a:picLocks noChangeAspect="1"/>
          </p:cNvPicPr>
          <p:nvPr>
            <a:audioFile r:link="rId4"/>
            <p:extLst>
              <p:ext uri="{DAA4B4D4-6D71-4841-9C94-3DE7FCFB9230}">
                <p14:media xmlns:p14="http://schemas.microsoft.com/office/powerpoint/2010/main" r:embed="rId3"/>
              </p:ext>
            </p:extLst>
          </p:nvPr>
        </p:nvPicPr>
        <p:blipFill>
          <a:blip r:embed="rId18"/>
          <a:stretch>
            <a:fillRect/>
          </a:stretch>
        </p:blipFill>
        <p:spPr>
          <a:xfrm>
            <a:off x="9962522" y="5745253"/>
            <a:ext cx="609600" cy="609600"/>
          </a:xfrm>
          <a:prstGeom prst="rect">
            <a:avLst/>
          </a:prstGeom>
        </p:spPr>
      </p:pic>
      <p:pic>
        <p:nvPicPr>
          <p:cNvPr id="62" name="Pg38b">
            <a:hlinkClick r:id="" action="ppaction://media"/>
            <a:extLst>
              <a:ext uri="{FF2B5EF4-FFF2-40B4-BE49-F238E27FC236}">
                <a16:creationId xmlns:a16="http://schemas.microsoft.com/office/drawing/2014/main" id="{0A8580AF-09E0-4B46-AFD0-B2437B6D7069}"/>
              </a:ext>
            </a:extLst>
          </p:cNvPr>
          <p:cNvPicPr>
            <a:picLocks noChangeAspect="1"/>
          </p:cNvPicPr>
          <p:nvPr>
            <a:audioFile r:link="rId6"/>
            <p:extLst>
              <p:ext uri="{DAA4B4D4-6D71-4841-9C94-3DE7FCFB9230}">
                <p14:media xmlns:p14="http://schemas.microsoft.com/office/powerpoint/2010/main" r:embed="rId5"/>
              </p:ext>
            </p:extLst>
          </p:nvPr>
        </p:nvPicPr>
        <p:blipFill>
          <a:blip r:embed="rId18"/>
          <a:stretch>
            <a:fillRect/>
          </a:stretch>
        </p:blipFill>
        <p:spPr>
          <a:xfrm>
            <a:off x="9915613" y="5763465"/>
            <a:ext cx="609600" cy="609600"/>
          </a:xfrm>
          <a:prstGeom prst="rect">
            <a:avLst/>
          </a:prstGeom>
        </p:spPr>
      </p:pic>
      <p:pic>
        <p:nvPicPr>
          <p:cNvPr id="63" name="Pg38c">
            <a:hlinkClick r:id="" action="ppaction://media"/>
            <a:extLst>
              <a:ext uri="{FF2B5EF4-FFF2-40B4-BE49-F238E27FC236}">
                <a16:creationId xmlns:a16="http://schemas.microsoft.com/office/drawing/2014/main" id="{FF8A1176-27CD-43E2-B1C7-370B974A9196}"/>
              </a:ext>
            </a:extLst>
          </p:cNvPr>
          <p:cNvPicPr>
            <a:picLocks noChangeAspect="1"/>
          </p:cNvPicPr>
          <p:nvPr>
            <a:audioFile r:link="rId8"/>
            <p:extLst>
              <p:ext uri="{DAA4B4D4-6D71-4841-9C94-3DE7FCFB9230}">
                <p14:media xmlns:p14="http://schemas.microsoft.com/office/powerpoint/2010/main" r:embed="rId7"/>
              </p:ext>
            </p:extLst>
          </p:nvPr>
        </p:nvPicPr>
        <p:blipFill>
          <a:blip r:embed="rId18"/>
          <a:stretch>
            <a:fillRect/>
          </a:stretch>
        </p:blipFill>
        <p:spPr>
          <a:xfrm>
            <a:off x="9962522" y="5746748"/>
            <a:ext cx="609600" cy="609600"/>
          </a:xfrm>
          <a:prstGeom prst="rect">
            <a:avLst/>
          </a:prstGeom>
        </p:spPr>
      </p:pic>
      <p:pic>
        <p:nvPicPr>
          <p:cNvPr id="64" name="Pg38d">
            <a:hlinkClick r:id="" action="ppaction://media"/>
            <a:extLst>
              <a:ext uri="{FF2B5EF4-FFF2-40B4-BE49-F238E27FC236}">
                <a16:creationId xmlns:a16="http://schemas.microsoft.com/office/drawing/2014/main" id="{167AA154-8217-4D2E-88C1-2DA19CDC88BB}"/>
              </a:ext>
            </a:extLst>
          </p:cNvPr>
          <p:cNvPicPr>
            <a:picLocks noChangeAspect="1"/>
          </p:cNvPicPr>
          <p:nvPr>
            <a:audioFile r:link="rId10"/>
            <p:extLst>
              <p:ext uri="{DAA4B4D4-6D71-4841-9C94-3DE7FCFB9230}">
                <p14:media xmlns:p14="http://schemas.microsoft.com/office/powerpoint/2010/main" r:embed="rId9"/>
              </p:ext>
            </p:extLst>
          </p:nvPr>
        </p:nvPicPr>
        <p:blipFill>
          <a:blip r:embed="rId18"/>
          <a:stretch>
            <a:fillRect/>
          </a:stretch>
        </p:blipFill>
        <p:spPr>
          <a:xfrm>
            <a:off x="9975539" y="5825709"/>
            <a:ext cx="609600" cy="609600"/>
          </a:xfrm>
          <a:prstGeom prst="rect">
            <a:avLst/>
          </a:prstGeom>
        </p:spPr>
      </p:pic>
      <p:pic>
        <p:nvPicPr>
          <p:cNvPr id="65" name="Pg38e">
            <a:hlinkClick r:id="" action="ppaction://media"/>
            <a:extLst>
              <a:ext uri="{FF2B5EF4-FFF2-40B4-BE49-F238E27FC236}">
                <a16:creationId xmlns:a16="http://schemas.microsoft.com/office/drawing/2014/main" id="{89685026-411B-4E0A-B312-F9073E135F90}"/>
              </a:ext>
            </a:extLst>
          </p:cNvPr>
          <p:cNvPicPr>
            <a:picLocks noChangeAspect="1"/>
          </p:cNvPicPr>
          <p:nvPr>
            <a:audioFile r:link="rId12"/>
            <p:extLst>
              <p:ext uri="{DAA4B4D4-6D71-4841-9C94-3DE7FCFB9230}">
                <p14:media xmlns:p14="http://schemas.microsoft.com/office/powerpoint/2010/main" r:embed="rId11"/>
              </p:ext>
            </p:extLst>
          </p:nvPr>
        </p:nvPicPr>
        <p:blipFill>
          <a:blip r:embed="rId18"/>
          <a:stretch>
            <a:fillRect/>
          </a:stretch>
        </p:blipFill>
        <p:spPr>
          <a:xfrm>
            <a:off x="9958772" y="5808443"/>
            <a:ext cx="609600" cy="609600"/>
          </a:xfrm>
          <a:prstGeom prst="rect">
            <a:avLst/>
          </a:prstGeom>
        </p:spPr>
      </p:pic>
      <p:pic>
        <p:nvPicPr>
          <p:cNvPr id="66" name="Pg38f">
            <a:hlinkClick r:id="" action="ppaction://media"/>
            <a:extLst>
              <a:ext uri="{FF2B5EF4-FFF2-40B4-BE49-F238E27FC236}">
                <a16:creationId xmlns:a16="http://schemas.microsoft.com/office/drawing/2014/main" id="{83645FDF-04CE-414E-B84D-651BC55BB8D5}"/>
              </a:ext>
            </a:extLst>
          </p:cNvPr>
          <p:cNvPicPr>
            <a:picLocks noChangeAspect="1"/>
          </p:cNvPicPr>
          <p:nvPr>
            <a:audioFile r:link="rId12"/>
            <p:extLst>
              <p:ext uri="{DAA4B4D4-6D71-4841-9C94-3DE7FCFB9230}">
                <p14:media xmlns:p14="http://schemas.microsoft.com/office/powerpoint/2010/main" r:embed="rId11"/>
              </p:ext>
            </p:extLst>
          </p:nvPr>
        </p:nvPicPr>
        <p:blipFill>
          <a:blip r:embed="rId18"/>
          <a:stretch>
            <a:fillRect/>
          </a:stretch>
        </p:blipFill>
        <p:spPr>
          <a:xfrm>
            <a:off x="9905372" y="5775955"/>
            <a:ext cx="609600" cy="609600"/>
          </a:xfrm>
          <a:prstGeom prst="rect">
            <a:avLst/>
          </a:prstGeom>
        </p:spPr>
      </p:pic>
      <p:pic>
        <p:nvPicPr>
          <p:cNvPr id="67" name="Pg38g">
            <a:hlinkClick r:id="" action="ppaction://media"/>
            <a:extLst>
              <a:ext uri="{FF2B5EF4-FFF2-40B4-BE49-F238E27FC236}">
                <a16:creationId xmlns:a16="http://schemas.microsoft.com/office/drawing/2014/main" id="{42BFF8FB-A1C3-4194-9044-FEFDD2564541}"/>
              </a:ext>
            </a:extLst>
          </p:cNvPr>
          <p:cNvPicPr>
            <a:picLocks noChangeAspect="1"/>
          </p:cNvPicPr>
          <p:nvPr>
            <a:audioFile r:link="rId14"/>
            <p:extLst>
              <p:ext uri="{DAA4B4D4-6D71-4841-9C94-3DE7FCFB9230}">
                <p14:media xmlns:p14="http://schemas.microsoft.com/office/powerpoint/2010/main" r:embed="rId13"/>
              </p:ext>
            </p:extLst>
          </p:nvPr>
        </p:nvPicPr>
        <p:blipFill>
          <a:blip r:embed="rId18"/>
          <a:stretch>
            <a:fillRect/>
          </a:stretch>
        </p:blipFill>
        <p:spPr>
          <a:xfrm>
            <a:off x="9962522" y="5840930"/>
            <a:ext cx="609600" cy="609600"/>
          </a:xfrm>
          <a:prstGeom prst="rect">
            <a:avLst/>
          </a:prstGeom>
        </p:spPr>
      </p:pic>
      <p:pic>
        <p:nvPicPr>
          <p:cNvPr id="68" name="Pg38f">
            <a:hlinkClick r:id="" action="ppaction://media"/>
            <a:extLst>
              <a:ext uri="{FF2B5EF4-FFF2-40B4-BE49-F238E27FC236}">
                <a16:creationId xmlns:a16="http://schemas.microsoft.com/office/drawing/2014/main" id="{8F442F0A-C592-40A0-8907-14477BB2ABB2}"/>
              </a:ext>
            </a:extLst>
          </p:cNvPr>
          <p:cNvPicPr>
            <a:picLocks noChangeAspect="1"/>
          </p:cNvPicPr>
          <p:nvPr>
            <a:audioFile r:link="rId16"/>
            <p:extLst>
              <p:ext uri="{DAA4B4D4-6D71-4841-9C94-3DE7FCFB9230}">
                <p14:media xmlns:p14="http://schemas.microsoft.com/office/powerpoint/2010/main" r:embed="rId15"/>
              </p:ext>
            </p:extLst>
          </p:nvPr>
        </p:nvPicPr>
        <p:blipFill>
          <a:blip r:embed="rId18"/>
          <a:stretch>
            <a:fillRect/>
          </a:stretch>
        </p:blipFill>
        <p:spPr>
          <a:xfrm>
            <a:off x="9975539" y="5761444"/>
            <a:ext cx="609600" cy="609600"/>
          </a:xfrm>
          <a:prstGeom prst="rect">
            <a:avLst/>
          </a:prstGeom>
        </p:spPr>
      </p:pic>
      <p:sp>
        <p:nvSpPr>
          <p:cNvPr id="69" name="Rectangle 68">
            <a:extLst>
              <a:ext uri="{FF2B5EF4-FFF2-40B4-BE49-F238E27FC236}">
                <a16:creationId xmlns:a16="http://schemas.microsoft.com/office/drawing/2014/main" id="{C8C45654-E3AC-0EE5-0B2C-62CDBCE7B914}"/>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32687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80"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nodeType="clickEffect">
                                  <p:stCondLst>
                                    <p:cond delay="0"/>
                                  </p:stCondLst>
                                  <p:childTnLst>
                                    <p:animEffect transition="out" filter="fade">
                                      <p:cBhvr>
                                        <p:cTn id="10" dur="5000" tmFilter="0, 0; .2, .5; .8, .5; 1, 0"/>
                                        <p:tgtEl>
                                          <p:spTgt spid="4"/>
                                        </p:tgtEl>
                                      </p:cBhvr>
                                    </p:animEffect>
                                    <p:animScale>
                                      <p:cBhvr>
                                        <p:cTn id="11" dur="2500" autoRev="1" fill="hold"/>
                                        <p:tgtEl>
                                          <p:spTgt spid="4"/>
                                        </p:tgtEl>
                                      </p:cBhvr>
                                      <p:by x="105000" y="105000"/>
                                    </p:animScale>
                                  </p:childTnLst>
                                </p:cTn>
                              </p:par>
                              <p:par>
                                <p:cTn id="12" presetID="1" presetClass="mediacall" presetSubtype="0" fill="hold" nodeType="withEffect">
                                  <p:stCondLst>
                                    <p:cond delay="0"/>
                                  </p:stCondLst>
                                  <p:childTnLst>
                                    <p:cmd type="call" cmd="playFrom(0.0)">
                                      <p:cBhvr>
                                        <p:cTn id="13" dur="3526" fill="hold"/>
                                        <p:tgtEl>
                                          <p:spTgt spid="31"/>
                                        </p:tgtEl>
                                      </p:cBhvr>
                                    </p:cmd>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5000" tmFilter="0, 0; .2, .5; .8, .5; 1, 0"/>
                                        <p:tgtEl>
                                          <p:spTgt spid="3"/>
                                        </p:tgtEl>
                                      </p:cBhvr>
                                    </p:animEffect>
                                    <p:animScale>
                                      <p:cBhvr>
                                        <p:cTn id="18" dur="2500" autoRev="1" fill="hold"/>
                                        <p:tgtEl>
                                          <p:spTgt spid="3"/>
                                        </p:tgtEl>
                                      </p:cBhvr>
                                      <p:by x="105000" y="105000"/>
                                    </p:animScale>
                                  </p:childTnLst>
                                </p:cTn>
                              </p:par>
                              <p:par>
                                <p:cTn id="19" presetID="1" presetClass="mediacall" presetSubtype="0" fill="hold" nodeType="withEffect">
                                  <p:stCondLst>
                                    <p:cond delay="0"/>
                                  </p:stCondLst>
                                  <p:childTnLst>
                                    <p:cmd type="call" cmd="playFrom(0.0)">
                                      <p:cBhvr>
                                        <p:cTn id="20" dur="6008" fill="hold"/>
                                        <p:tgtEl>
                                          <p:spTgt spid="62"/>
                                        </p:tgtEl>
                                      </p:cBhvr>
                                    </p:cmd>
                                  </p:childTnLst>
                                </p:cTn>
                              </p:par>
                            </p:childTnLst>
                          </p:cTn>
                        </p:par>
                      </p:childTnLst>
                    </p:cTn>
                  </p:par>
                  <p:par>
                    <p:cTn id="21" fill="hold">
                      <p:stCondLst>
                        <p:cond delay="indefinite"/>
                      </p:stCondLst>
                      <p:childTnLst>
                        <p:par>
                          <p:cTn id="22" fill="hold">
                            <p:stCondLst>
                              <p:cond delay="0"/>
                            </p:stCondLst>
                            <p:childTnLst>
                              <p:par>
                                <p:cTn id="23" presetID="26" presetClass="emph" presetSubtype="0" fill="hold" nodeType="clickEffect">
                                  <p:stCondLst>
                                    <p:cond delay="0"/>
                                  </p:stCondLst>
                                  <p:childTnLst>
                                    <p:animEffect transition="out" filter="fade">
                                      <p:cBhvr>
                                        <p:cTn id="24" dur="5000" tmFilter="0, 0; .2, .5; .8, .5; 1, 0"/>
                                        <p:tgtEl>
                                          <p:spTgt spid="5"/>
                                        </p:tgtEl>
                                      </p:cBhvr>
                                    </p:animEffect>
                                    <p:animScale>
                                      <p:cBhvr>
                                        <p:cTn id="25" dur="2500" autoRev="1" fill="hold"/>
                                        <p:tgtEl>
                                          <p:spTgt spid="5"/>
                                        </p:tgtEl>
                                      </p:cBhvr>
                                      <p:by x="105000" y="105000"/>
                                    </p:animScale>
                                  </p:childTnLst>
                                </p:cTn>
                              </p:par>
                              <p:par>
                                <p:cTn id="26" presetID="1" presetClass="mediacall" presetSubtype="0" fill="hold" nodeType="withEffect">
                                  <p:stCondLst>
                                    <p:cond delay="0"/>
                                  </p:stCondLst>
                                  <p:childTnLst>
                                    <p:cmd type="call" cmd="playFrom(0.0)">
                                      <p:cBhvr>
                                        <p:cTn id="27" dur="5381" fill="hold"/>
                                        <p:tgtEl>
                                          <p:spTgt spid="63"/>
                                        </p:tgtEl>
                                      </p:cBhvr>
                                    </p:cmd>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0" tmFilter="0, 0; .2, .5; .8, .5; 1, 0"/>
                                        <p:tgtEl>
                                          <p:spTgt spid="6"/>
                                        </p:tgtEl>
                                      </p:cBhvr>
                                    </p:animEffect>
                                    <p:animScale>
                                      <p:cBhvr>
                                        <p:cTn id="32" dur="2500" autoRev="1" fill="hold"/>
                                        <p:tgtEl>
                                          <p:spTgt spid="6"/>
                                        </p:tgtEl>
                                      </p:cBhvr>
                                      <p:by x="105000" y="105000"/>
                                    </p:animScale>
                                  </p:childTnLst>
                                </p:cTn>
                              </p:par>
                              <p:par>
                                <p:cTn id="33" presetID="1" presetClass="mediacall" presetSubtype="0" fill="hold" nodeType="withEffect">
                                  <p:stCondLst>
                                    <p:cond delay="0"/>
                                  </p:stCondLst>
                                  <p:childTnLst>
                                    <p:cmd type="call" cmd="playFrom(0.0)">
                                      <p:cBhvr>
                                        <p:cTn id="34" dur="16431" fill="hold"/>
                                        <p:tgtEl>
                                          <p:spTgt spid="64"/>
                                        </p:tgtEl>
                                      </p:cBhvr>
                                    </p:cmd>
                                  </p:childTnLst>
                                </p:cTn>
                              </p:par>
                            </p:childTnLst>
                          </p:cTn>
                        </p:par>
                      </p:childTnLst>
                    </p:cTn>
                  </p:par>
                  <p:par>
                    <p:cTn id="35" fill="hold">
                      <p:stCondLst>
                        <p:cond delay="indefinite"/>
                      </p:stCondLst>
                      <p:childTnLst>
                        <p:par>
                          <p:cTn id="36" fill="hold">
                            <p:stCondLst>
                              <p:cond delay="0"/>
                            </p:stCondLst>
                            <p:childTnLst>
                              <p:par>
                                <p:cTn id="37" presetID="26" presetClass="emph" presetSubtype="0" fill="hold" nodeType="clickEffect">
                                  <p:stCondLst>
                                    <p:cond delay="0"/>
                                  </p:stCondLst>
                                  <p:childTnLst>
                                    <p:animEffect transition="out" filter="fade">
                                      <p:cBhvr>
                                        <p:cTn id="38" dur="5000" tmFilter="0, 0; .2, .5; .8, .5; 1, 0"/>
                                        <p:tgtEl>
                                          <p:spTgt spid="8"/>
                                        </p:tgtEl>
                                      </p:cBhvr>
                                    </p:animEffect>
                                    <p:animScale>
                                      <p:cBhvr>
                                        <p:cTn id="39" dur="2500" autoRev="1" fill="hold"/>
                                        <p:tgtEl>
                                          <p:spTgt spid="8"/>
                                        </p:tgtEl>
                                      </p:cBhvr>
                                      <p:by x="105000" y="105000"/>
                                    </p:animScale>
                                  </p:childTnLst>
                                </p:cTn>
                              </p:par>
                              <p:par>
                                <p:cTn id="40" presetID="1" presetClass="mediacall" presetSubtype="0" fill="hold" nodeType="withEffect">
                                  <p:stCondLst>
                                    <p:cond delay="0"/>
                                  </p:stCondLst>
                                  <p:childTnLst>
                                    <p:cmd type="call" cmd="playFrom(0.0)">
                                      <p:cBhvr>
                                        <p:cTn id="41" dur="8124" fill="hold"/>
                                        <p:tgtEl>
                                          <p:spTgt spid="65"/>
                                        </p:tgtEl>
                                      </p:cBhvr>
                                    </p:cmd>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nodeType="clickEffect">
                                  <p:stCondLst>
                                    <p:cond delay="0"/>
                                  </p:stCondLst>
                                  <p:childTnLst>
                                    <p:animEffect transition="out" filter="fade">
                                      <p:cBhvr>
                                        <p:cTn id="45" dur="5000" tmFilter="0, 0; .2, .5; .8, .5; 1, 0"/>
                                        <p:tgtEl>
                                          <p:spTgt spid="58"/>
                                        </p:tgtEl>
                                      </p:cBhvr>
                                    </p:animEffect>
                                    <p:animScale>
                                      <p:cBhvr>
                                        <p:cTn id="46" dur="2500" autoRev="1" fill="hold"/>
                                        <p:tgtEl>
                                          <p:spTgt spid="58"/>
                                        </p:tgtEl>
                                      </p:cBhvr>
                                      <p:by x="105000" y="105000"/>
                                    </p:animScale>
                                  </p:childTnLst>
                                </p:cTn>
                              </p:par>
                              <p:par>
                                <p:cTn id="47" presetID="1" presetClass="mediacall" presetSubtype="0" fill="hold" nodeType="withEffect">
                                  <p:stCondLst>
                                    <p:cond delay="0"/>
                                  </p:stCondLst>
                                  <p:childTnLst>
                                    <p:cmd type="call" cmd="playFrom(0.0)">
                                      <p:cBhvr>
                                        <p:cTn id="48" dur="5955" fill="hold"/>
                                        <p:tgtEl>
                                          <p:spTgt spid="68"/>
                                        </p:tgtEl>
                                      </p:cBhvr>
                                    </p:cmd>
                                  </p:childTnLst>
                                </p:cTn>
                              </p:par>
                            </p:childTnLst>
                          </p:cTn>
                        </p:par>
                      </p:childTnLst>
                    </p:cTn>
                  </p:par>
                  <p:par>
                    <p:cTn id="49" fill="hold">
                      <p:stCondLst>
                        <p:cond delay="indefinite"/>
                      </p:stCondLst>
                      <p:childTnLst>
                        <p:par>
                          <p:cTn id="50" fill="hold">
                            <p:stCondLst>
                              <p:cond delay="0"/>
                            </p:stCondLst>
                            <p:childTnLst>
                              <p:par>
                                <p:cTn id="51" presetID="26" presetClass="emph" presetSubtype="0" fill="hold" nodeType="clickEffect">
                                  <p:stCondLst>
                                    <p:cond delay="0"/>
                                  </p:stCondLst>
                                  <p:childTnLst>
                                    <p:animEffect transition="out" filter="fade">
                                      <p:cBhvr>
                                        <p:cTn id="52" dur="5000" tmFilter="0, 0; .2, .5; .8, .5; 1, 0"/>
                                        <p:tgtEl>
                                          <p:spTgt spid="61"/>
                                        </p:tgtEl>
                                      </p:cBhvr>
                                    </p:animEffect>
                                    <p:animScale>
                                      <p:cBhvr>
                                        <p:cTn id="53" dur="2500" autoRev="1" fill="hold"/>
                                        <p:tgtEl>
                                          <p:spTgt spid="61"/>
                                        </p:tgtEl>
                                      </p:cBhvr>
                                      <p:by x="105000" y="105000"/>
                                    </p:animScale>
                                  </p:childTnLst>
                                </p:cTn>
                              </p:par>
                              <p:par>
                                <p:cTn id="54" presetID="1" presetClass="mediacall" presetSubtype="0" fill="hold" nodeType="withEffect">
                                  <p:stCondLst>
                                    <p:cond delay="0"/>
                                  </p:stCondLst>
                                  <p:childTnLst>
                                    <p:cmd type="call" cmd="playFrom(0.0)">
                                      <p:cBhvr>
                                        <p:cTn id="55" dur="7105" fill="hold"/>
                                        <p:tgtEl>
                                          <p:spTgt spid="6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56" fill="hold" display="0">
                  <p:stCondLst>
                    <p:cond delay="indefinite"/>
                  </p:stCondLst>
                  <p:endCondLst>
                    <p:cond evt="onStopAudio" delay="0">
                      <p:tgtEl>
                        <p:sldTgt/>
                      </p:tgtEl>
                    </p:cond>
                  </p:endCondLst>
                </p:cTn>
                <p:tgtEl>
                  <p:spTgt spid="10"/>
                </p:tgtEl>
              </p:cMediaNode>
            </p:audio>
            <p:audio>
              <p:cMediaNode vol="80000">
                <p:cTn id="57" fill="hold" display="0">
                  <p:stCondLst>
                    <p:cond delay="indefinite"/>
                  </p:stCondLst>
                  <p:endCondLst>
                    <p:cond evt="onStopAudio" delay="0">
                      <p:tgtEl>
                        <p:sldTgt/>
                      </p:tgtEl>
                    </p:cond>
                  </p:endCondLst>
                </p:cTn>
                <p:tgtEl>
                  <p:spTgt spid="31"/>
                </p:tgtEl>
              </p:cMediaNode>
            </p:audio>
            <p:audio>
              <p:cMediaNode vol="80000">
                <p:cTn id="58" fill="hold" display="0">
                  <p:stCondLst>
                    <p:cond delay="indefinite"/>
                  </p:stCondLst>
                  <p:endCondLst>
                    <p:cond evt="onStopAudio" delay="0">
                      <p:tgtEl>
                        <p:sldTgt/>
                      </p:tgtEl>
                    </p:cond>
                  </p:endCondLst>
                </p:cTn>
                <p:tgtEl>
                  <p:spTgt spid="62"/>
                </p:tgtEl>
              </p:cMediaNode>
            </p:audio>
            <p:audio>
              <p:cMediaNode vol="80000">
                <p:cTn id="59" fill="hold" display="0">
                  <p:stCondLst>
                    <p:cond delay="indefinite"/>
                  </p:stCondLst>
                  <p:endCondLst>
                    <p:cond evt="onStopAudio" delay="0">
                      <p:tgtEl>
                        <p:sldTgt/>
                      </p:tgtEl>
                    </p:cond>
                  </p:endCondLst>
                </p:cTn>
                <p:tgtEl>
                  <p:spTgt spid="63"/>
                </p:tgtEl>
              </p:cMediaNode>
            </p:audio>
            <p:audio>
              <p:cMediaNode vol="80000">
                <p:cTn id="60" fill="hold" display="0">
                  <p:stCondLst>
                    <p:cond delay="indefinite"/>
                  </p:stCondLst>
                  <p:endCondLst>
                    <p:cond evt="onStopAudio" delay="0">
                      <p:tgtEl>
                        <p:sldTgt/>
                      </p:tgtEl>
                    </p:cond>
                  </p:endCondLst>
                </p:cTn>
                <p:tgtEl>
                  <p:spTgt spid="64"/>
                </p:tgtEl>
              </p:cMediaNode>
            </p:audio>
            <p:audio>
              <p:cMediaNode vol="80000">
                <p:cTn id="61" fill="hold" display="0">
                  <p:stCondLst>
                    <p:cond delay="indefinite"/>
                  </p:stCondLst>
                  <p:endCondLst>
                    <p:cond evt="onStopAudio" delay="0">
                      <p:tgtEl>
                        <p:sldTgt/>
                      </p:tgtEl>
                    </p:cond>
                  </p:endCondLst>
                </p:cTn>
                <p:tgtEl>
                  <p:spTgt spid="65"/>
                </p:tgtEl>
              </p:cMediaNode>
            </p:audio>
            <p:audio>
              <p:cMediaNode vol="80000">
                <p:cTn id="62" fill="hold" display="0">
                  <p:stCondLst>
                    <p:cond delay="indefinite"/>
                  </p:stCondLst>
                  <p:endCondLst>
                    <p:cond evt="onStopAudio" delay="0">
                      <p:tgtEl>
                        <p:sldTgt/>
                      </p:tgtEl>
                    </p:cond>
                  </p:endCondLst>
                </p:cTn>
                <p:tgtEl>
                  <p:spTgt spid="66"/>
                </p:tgtEl>
              </p:cMediaNode>
            </p:audio>
            <p:audio>
              <p:cMediaNode vol="80000">
                <p:cTn id="63" fill="hold" display="0">
                  <p:stCondLst>
                    <p:cond delay="indefinite"/>
                  </p:stCondLst>
                  <p:endCondLst>
                    <p:cond evt="onStopAudio" delay="0">
                      <p:tgtEl>
                        <p:sldTgt/>
                      </p:tgtEl>
                    </p:cond>
                  </p:endCondLst>
                </p:cTn>
                <p:tgtEl>
                  <p:spTgt spid="67"/>
                </p:tgtEl>
              </p:cMediaNode>
            </p:audio>
            <p:audio>
              <p:cMediaNode vol="80000">
                <p:cTn id="64" fill="hold" display="0">
                  <p:stCondLst>
                    <p:cond delay="indefinite"/>
                  </p:stCondLst>
                  <p:endCondLst>
                    <p:cond evt="onStopAudio" delay="0">
                      <p:tgtEl>
                        <p:sldTgt/>
                      </p:tgtEl>
                    </p:cond>
                  </p:endCondLst>
                </p:cTn>
                <p:tgtEl>
                  <p:spTgt spid="68"/>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919665" y="1138691"/>
            <a:ext cx="10340296" cy="536223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2" charset="2"/>
              <a:buNone/>
            </a:pPr>
            <a:r>
              <a:rPr lang="en-US" sz="1800" b="1" dirty="0" err="1">
                <a:cs typeface="Times New Roman" pitchFamily="18" charset="0"/>
              </a:rPr>
              <a:t>i</a:t>
            </a:r>
            <a:r>
              <a:rPr lang="en-US" sz="1800" b="1" dirty="0">
                <a:cs typeface="Times New Roman" pitchFamily="18" charset="0"/>
              </a:rPr>
              <a:t>) </a:t>
            </a:r>
            <a:r>
              <a:rPr lang="en-US" sz="2400" b="1" dirty="0">
                <a:cs typeface="Times New Roman" pitchFamily="18" charset="0"/>
              </a:rPr>
              <a:t>Write down the system equation.</a:t>
            </a:r>
          </a:p>
          <a:p>
            <a:pPr>
              <a:lnSpc>
                <a:spcPct val="80000"/>
              </a:lnSpc>
              <a:buFont typeface="Monotype Sorts" pitchFamily="2" charset="2"/>
              <a:buNone/>
            </a:pPr>
            <a:r>
              <a:rPr lang="en-US" sz="2400" dirty="0"/>
              <a:t>	</a:t>
            </a:r>
            <a:r>
              <a:rPr lang="en-US" sz="2400" b="1" dirty="0">
                <a:solidFill>
                  <a:srgbClr val="00B050"/>
                </a:solidFill>
              </a:rPr>
              <a:t>P</a:t>
            </a:r>
            <a:r>
              <a:rPr lang="en-US" sz="2400" b="1" baseline="-25000" dirty="0">
                <a:solidFill>
                  <a:srgbClr val="00B050"/>
                </a:solidFill>
              </a:rPr>
              <a:t>t</a:t>
            </a:r>
            <a:r>
              <a:rPr lang="en-US" sz="2400" b="1" dirty="0">
                <a:solidFill>
                  <a:srgbClr val="00B050"/>
                </a:solidFill>
              </a:rPr>
              <a:t> – L</a:t>
            </a:r>
            <a:r>
              <a:rPr lang="en-US" sz="2400" b="1" baseline="-25000" dirty="0">
                <a:solidFill>
                  <a:srgbClr val="00B050"/>
                </a:solidFill>
              </a:rPr>
              <a:t>f</a:t>
            </a:r>
            <a:r>
              <a:rPr lang="en-US" sz="2400" b="1" dirty="0">
                <a:solidFill>
                  <a:srgbClr val="00B050"/>
                </a:solidFill>
              </a:rPr>
              <a:t> + G</a:t>
            </a:r>
            <a:r>
              <a:rPr lang="en-US" sz="2400" b="1" baseline="-25000" dirty="0">
                <a:solidFill>
                  <a:srgbClr val="00B050"/>
                </a:solidFill>
              </a:rPr>
              <a:t>t</a:t>
            </a:r>
            <a:r>
              <a:rPr lang="en-US" sz="2400" b="1" dirty="0">
                <a:solidFill>
                  <a:srgbClr val="00B050"/>
                </a:solidFill>
              </a:rPr>
              <a:t> – </a:t>
            </a:r>
            <a:r>
              <a:rPr lang="en-US" sz="2400" b="1" dirty="0" err="1">
                <a:solidFill>
                  <a:srgbClr val="00B050"/>
                </a:solidFill>
              </a:rPr>
              <a:t>L</a:t>
            </a:r>
            <a:r>
              <a:rPr lang="en-US" sz="2400" b="1" baseline="-25000" dirty="0" err="1">
                <a:solidFill>
                  <a:srgbClr val="00B050"/>
                </a:solidFill>
              </a:rPr>
              <a:t>p</a:t>
            </a:r>
            <a:r>
              <a:rPr lang="en-US" sz="2400" b="1" dirty="0">
                <a:solidFill>
                  <a:srgbClr val="00B050"/>
                </a:solidFill>
              </a:rPr>
              <a:t> - FM + G</a:t>
            </a:r>
            <a:r>
              <a:rPr lang="en-US" sz="2400" b="1" baseline="-25000" dirty="0">
                <a:solidFill>
                  <a:srgbClr val="00B050"/>
                </a:solidFill>
              </a:rPr>
              <a:t>R</a:t>
            </a:r>
            <a:r>
              <a:rPr lang="en-US" sz="2400" b="1" dirty="0">
                <a:solidFill>
                  <a:srgbClr val="00B050"/>
                </a:solidFill>
              </a:rPr>
              <a:t> – L</a:t>
            </a:r>
            <a:r>
              <a:rPr lang="en-US" sz="2400" b="1" baseline="-25000" dirty="0">
                <a:solidFill>
                  <a:srgbClr val="00B050"/>
                </a:solidFill>
              </a:rPr>
              <a:t>f</a:t>
            </a:r>
            <a:r>
              <a:rPr lang="en-US" sz="2400" b="1" dirty="0">
                <a:solidFill>
                  <a:srgbClr val="00B050"/>
                </a:solidFill>
              </a:rPr>
              <a:t> = P</a:t>
            </a:r>
            <a:r>
              <a:rPr lang="en-US" sz="2400" b="1" baseline="-25000" dirty="0">
                <a:solidFill>
                  <a:srgbClr val="00B050"/>
                </a:solidFill>
              </a:rPr>
              <a:t>R </a:t>
            </a:r>
          </a:p>
          <a:p>
            <a:pPr>
              <a:lnSpc>
                <a:spcPct val="80000"/>
              </a:lnSpc>
              <a:buFont typeface="Monotype Sorts" pitchFamily="2" charset="2"/>
              <a:buNone/>
            </a:pPr>
            <a:r>
              <a:rPr lang="en-US" sz="2400" b="1" dirty="0">
                <a:solidFill>
                  <a:srgbClr val="0000FF"/>
                </a:solidFill>
              </a:rPr>
              <a:t>	Given that feeder losses are negligible, L</a:t>
            </a:r>
            <a:r>
              <a:rPr lang="en-US" sz="2400" b="1" baseline="-25000" dirty="0">
                <a:solidFill>
                  <a:srgbClr val="0000FF"/>
                </a:solidFill>
              </a:rPr>
              <a:t>f</a:t>
            </a:r>
            <a:r>
              <a:rPr lang="en-US" sz="2400" b="1" dirty="0">
                <a:solidFill>
                  <a:srgbClr val="0000FF"/>
                </a:solidFill>
              </a:rPr>
              <a:t> = 0 </a:t>
            </a:r>
          </a:p>
          <a:p>
            <a:pPr>
              <a:lnSpc>
                <a:spcPct val="80000"/>
              </a:lnSpc>
              <a:buFont typeface="Monotype Sorts" pitchFamily="2" charset="2"/>
              <a:buNone/>
            </a:pPr>
            <a:r>
              <a:rPr lang="en-US" sz="2400" b="1" dirty="0">
                <a:solidFill>
                  <a:srgbClr val="0000FF"/>
                </a:solidFill>
              </a:rPr>
              <a:t>	P</a:t>
            </a:r>
            <a:r>
              <a:rPr lang="en-US" sz="2400" b="1" baseline="-25000" dirty="0">
                <a:solidFill>
                  <a:srgbClr val="0000FF"/>
                </a:solidFill>
              </a:rPr>
              <a:t>t</a:t>
            </a:r>
            <a:r>
              <a:rPr lang="en-US" sz="2400" b="1" dirty="0">
                <a:solidFill>
                  <a:srgbClr val="0000FF"/>
                </a:solidFill>
              </a:rPr>
              <a:t> + G</a:t>
            </a:r>
            <a:r>
              <a:rPr lang="en-US" sz="2400" b="1" baseline="-25000" dirty="0">
                <a:solidFill>
                  <a:srgbClr val="0000FF"/>
                </a:solidFill>
              </a:rPr>
              <a:t>t</a:t>
            </a:r>
            <a:r>
              <a:rPr lang="en-US" sz="2400" b="1" dirty="0">
                <a:solidFill>
                  <a:srgbClr val="0000FF"/>
                </a:solidFill>
              </a:rPr>
              <a:t> – </a:t>
            </a:r>
            <a:r>
              <a:rPr lang="en-US" sz="2400" b="1" dirty="0" err="1">
                <a:solidFill>
                  <a:srgbClr val="0000FF"/>
                </a:solidFill>
              </a:rPr>
              <a:t>L</a:t>
            </a:r>
            <a:r>
              <a:rPr lang="en-US" sz="2400" b="1" baseline="-25000" dirty="0" err="1">
                <a:solidFill>
                  <a:srgbClr val="0000FF"/>
                </a:solidFill>
              </a:rPr>
              <a:t>p</a:t>
            </a:r>
            <a:r>
              <a:rPr lang="en-US" sz="2400" b="1" dirty="0">
                <a:solidFill>
                  <a:srgbClr val="0000FF"/>
                </a:solidFill>
              </a:rPr>
              <a:t> - FM + G</a:t>
            </a:r>
            <a:r>
              <a:rPr lang="en-US" sz="2400" b="1" baseline="-25000" dirty="0">
                <a:solidFill>
                  <a:srgbClr val="0000FF"/>
                </a:solidFill>
              </a:rPr>
              <a:t>R</a:t>
            </a:r>
            <a:r>
              <a:rPr lang="en-US" sz="2400" b="1" dirty="0">
                <a:solidFill>
                  <a:srgbClr val="0000FF"/>
                </a:solidFill>
              </a:rPr>
              <a:t> = P</a:t>
            </a:r>
            <a:r>
              <a:rPr lang="en-US" sz="2400" b="1" baseline="-25000" dirty="0">
                <a:solidFill>
                  <a:srgbClr val="0000FF"/>
                </a:solidFill>
              </a:rPr>
              <a:t>R</a:t>
            </a:r>
          </a:p>
          <a:p>
            <a:pPr>
              <a:lnSpc>
                <a:spcPct val="80000"/>
              </a:lnSpc>
              <a:buFont typeface="Monotype Sorts" pitchFamily="2" charset="2"/>
              <a:buNone/>
            </a:pPr>
            <a:r>
              <a:rPr lang="en-US" sz="2400" b="1" dirty="0"/>
              <a:t>ii) </a:t>
            </a:r>
            <a:r>
              <a:rPr lang="en-US" sz="2400" b="1" dirty="0">
                <a:cs typeface="Times New Roman" pitchFamily="18" charset="0"/>
              </a:rPr>
              <a:t>Given that a cell radius of 3 km is required, calculate the path loss.</a:t>
            </a:r>
          </a:p>
          <a:p>
            <a:pPr>
              <a:lnSpc>
                <a:spcPct val="80000"/>
              </a:lnSpc>
              <a:buFont typeface="Monotype Sorts" pitchFamily="2" charset="2"/>
              <a:buNone/>
            </a:pPr>
            <a:r>
              <a:rPr lang="en-US" sz="2400" dirty="0">
                <a:cs typeface="Times New Roman" pitchFamily="18" charset="0"/>
              </a:rPr>
              <a:t>	</a:t>
            </a:r>
            <a:r>
              <a:rPr lang="en-US" sz="2400" b="1" dirty="0">
                <a:solidFill>
                  <a:srgbClr val="FF0000"/>
                </a:solidFill>
                <a:cs typeface="Times New Roman" pitchFamily="18" charset="0"/>
              </a:rPr>
              <a:t>A(</a:t>
            </a:r>
            <a:r>
              <a:rPr lang="en-US" sz="2400" b="1" dirty="0" err="1">
                <a:solidFill>
                  <a:srgbClr val="FF0000"/>
                </a:solidFill>
                <a:cs typeface="Times New Roman" pitchFamily="18" charset="0"/>
              </a:rPr>
              <a:t>h</a:t>
            </a:r>
            <a:r>
              <a:rPr lang="en-US" sz="2400" b="1" baseline="-30000" dirty="0" err="1">
                <a:solidFill>
                  <a:srgbClr val="FF0000"/>
                </a:solidFill>
                <a:cs typeface="Times New Roman" pitchFamily="18" charset="0"/>
              </a:rPr>
              <a:t>re</a:t>
            </a:r>
            <a:r>
              <a:rPr lang="en-US" sz="2400" b="1" dirty="0">
                <a:solidFill>
                  <a:srgbClr val="FF0000"/>
                </a:solidFill>
                <a:cs typeface="Times New Roman" pitchFamily="18" charset="0"/>
              </a:rPr>
              <a:t>) = 3.2[ log(11.75 </a:t>
            </a:r>
            <a:r>
              <a:rPr lang="en-US" sz="2400" b="1" dirty="0" err="1">
                <a:solidFill>
                  <a:srgbClr val="FF0000"/>
                </a:solidFill>
                <a:cs typeface="Times New Roman" pitchFamily="18" charset="0"/>
              </a:rPr>
              <a:t>h</a:t>
            </a:r>
            <a:r>
              <a:rPr lang="en-US" sz="2400" b="1" baseline="-30000" dirty="0" err="1">
                <a:solidFill>
                  <a:srgbClr val="FF0000"/>
                </a:solidFill>
                <a:cs typeface="Times New Roman" pitchFamily="18" charset="0"/>
              </a:rPr>
              <a:t>re</a:t>
            </a:r>
            <a:r>
              <a:rPr lang="en-US" sz="2400" b="1" dirty="0">
                <a:solidFill>
                  <a:srgbClr val="FF0000"/>
                </a:solidFill>
                <a:cs typeface="Times New Roman" pitchFamily="18" charset="0"/>
              </a:rPr>
              <a:t>)]</a:t>
            </a:r>
            <a:r>
              <a:rPr lang="en-US" sz="2400" b="1" baseline="30000" dirty="0">
                <a:solidFill>
                  <a:srgbClr val="FF0000"/>
                </a:solidFill>
                <a:cs typeface="Times New Roman" pitchFamily="18" charset="0"/>
              </a:rPr>
              <a:t>2</a:t>
            </a:r>
            <a:r>
              <a:rPr lang="en-US" sz="2400" b="1" dirty="0">
                <a:solidFill>
                  <a:srgbClr val="FF0000"/>
                </a:solidFill>
                <a:cs typeface="Times New Roman" pitchFamily="18" charset="0"/>
              </a:rPr>
              <a:t> - 4.97</a:t>
            </a:r>
          </a:p>
          <a:p>
            <a:pPr>
              <a:lnSpc>
                <a:spcPct val="80000"/>
              </a:lnSpc>
              <a:buFont typeface="Monotype Sorts" pitchFamily="2" charset="2"/>
              <a:buNone/>
            </a:pPr>
            <a:r>
              <a:rPr lang="en-US" sz="2400" b="1" dirty="0">
                <a:solidFill>
                  <a:srgbClr val="0000FF"/>
                </a:solidFill>
                <a:cs typeface="Times New Roman" pitchFamily="18" charset="0"/>
              </a:rPr>
              <a:t>		= 3.2[log(11.75 x 2)]</a:t>
            </a:r>
            <a:r>
              <a:rPr lang="en-US" sz="2400" b="1" baseline="30000" dirty="0">
                <a:solidFill>
                  <a:srgbClr val="0000FF"/>
                </a:solidFill>
                <a:cs typeface="Times New Roman" pitchFamily="18" charset="0"/>
              </a:rPr>
              <a:t>2  </a:t>
            </a:r>
            <a:r>
              <a:rPr lang="en-US" sz="2400" b="1" dirty="0">
                <a:solidFill>
                  <a:srgbClr val="0000FF"/>
                </a:solidFill>
                <a:cs typeface="Times New Roman" pitchFamily="18" charset="0"/>
              </a:rPr>
              <a:t>- 4.97</a:t>
            </a:r>
          </a:p>
          <a:p>
            <a:pPr>
              <a:lnSpc>
                <a:spcPct val="80000"/>
              </a:lnSpc>
              <a:buFont typeface="Monotype Sorts" pitchFamily="2" charset="2"/>
              <a:buNone/>
            </a:pPr>
            <a:r>
              <a:rPr lang="en-US" sz="2400" b="1" baseline="-25000" dirty="0">
                <a:solidFill>
                  <a:srgbClr val="0000FF"/>
                </a:solidFill>
              </a:rPr>
              <a:t>            	</a:t>
            </a:r>
            <a:r>
              <a:rPr lang="en-US" sz="2400" b="1" dirty="0">
                <a:solidFill>
                  <a:srgbClr val="0000FF"/>
                </a:solidFill>
              </a:rPr>
              <a:t>= 1.045 dB</a:t>
            </a:r>
          </a:p>
          <a:p>
            <a:pPr>
              <a:lnSpc>
                <a:spcPct val="80000"/>
              </a:lnSpc>
              <a:buFont typeface="Monotype Sorts" pitchFamily="2" charset="2"/>
              <a:buNone/>
            </a:pPr>
            <a:r>
              <a:rPr lang="en-US" sz="2400" b="1" dirty="0">
                <a:solidFill>
                  <a:srgbClr val="0000FF"/>
                </a:solidFill>
              </a:rPr>
              <a:t>	</a:t>
            </a:r>
            <a:r>
              <a:rPr lang="en-US" sz="2400" b="1" dirty="0">
                <a:solidFill>
                  <a:srgbClr val="FF0000"/>
                </a:solidFill>
              </a:rPr>
              <a:t>PL = </a:t>
            </a:r>
            <a:r>
              <a:rPr lang="en-US" sz="2400" b="1" dirty="0">
                <a:solidFill>
                  <a:srgbClr val="FF0000"/>
                </a:solidFill>
                <a:cs typeface="Times New Roman" pitchFamily="18" charset="0"/>
              </a:rPr>
              <a:t>69.55 + 26.16log f - 13.82log </a:t>
            </a:r>
            <a:r>
              <a:rPr lang="en-US" sz="2400" b="1" dirty="0" err="1">
                <a:solidFill>
                  <a:srgbClr val="FF0000"/>
                </a:solidFill>
                <a:cs typeface="Times New Roman" pitchFamily="18" charset="0"/>
              </a:rPr>
              <a:t>h</a:t>
            </a:r>
            <a:r>
              <a:rPr lang="en-US" sz="2400" b="1" baseline="-30000" dirty="0" err="1">
                <a:solidFill>
                  <a:srgbClr val="FF0000"/>
                </a:solidFill>
                <a:cs typeface="Times New Roman" pitchFamily="18" charset="0"/>
              </a:rPr>
              <a:t>te</a:t>
            </a:r>
            <a:r>
              <a:rPr lang="en-US" sz="2400" b="1" dirty="0">
                <a:solidFill>
                  <a:srgbClr val="FF0000"/>
                </a:solidFill>
                <a:cs typeface="Times New Roman" pitchFamily="18" charset="0"/>
              </a:rPr>
              <a:t> - A(</a:t>
            </a:r>
            <a:r>
              <a:rPr lang="en-US" sz="2400" b="1" dirty="0" err="1">
                <a:solidFill>
                  <a:srgbClr val="FF0000"/>
                </a:solidFill>
                <a:cs typeface="Times New Roman" pitchFamily="18" charset="0"/>
              </a:rPr>
              <a:t>h</a:t>
            </a:r>
            <a:r>
              <a:rPr lang="en-US" sz="2400" b="1" baseline="-30000" dirty="0" err="1">
                <a:solidFill>
                  <a:srgbClr val="FF0000"/>
                </a:solidFill>
                <a:cs typeface="Times New Roman" pitchFamily="18" charset="0"/>
              </a:rPr>
              <a:t>re</a:t>
            </a:r>
            <a:r>
              <a:rPr lang="en-US" sz="2400" b="1" dirty="0">
                <a:solidFill>
                  <a:srgbClr val="FF0000"/>
                </a:solidFill>
                <a:cs typeface="Times New Roman" pitchFamily="18" charset="0"/>
              </a:rPr>
              <a:t>) + </a:t>
            </a:r>
          </a:p>
          <a:p>
            <a:pPr>
              <a:lnSpc>
                <a:spcPct val="80000"/>
              </a:lnSpc>
              <a:buFont typeface="Monotype Sorts" pitchFamily="2" charset="2"/>
              <a:buNone/>
            </a:pPr>
            <a:r>
              <a:rPr lang="en-US" sz="2400" b="1" dirty="0">
                <a:solidFill>
                  <a:srgbClr val="FF0000"/>
                </a:solidFill>
                <a:cs typeface="Times New Roman" pitchFamily="18" charset="0"/>
              </a:rPr>
              <a:t>		(44.9 - 6.55log </a:t>
            </a:r>
            <a:r>
              <a:rPr lang="en-US" sz="2400" b="1" dirty="0" err="1">
                <a:solidFill>
                  <a:srgbClr val="FF0000"/>
                </a:solidFill>
                <a:cs typeface="Times New Roman" pitchFamily="18" charset="0"/>
              </a:rPr>
              <a:t>h</a:t>
            </a:r>
            <a:r>
              <a:rPr lang="en-US" sz="2400" b="1" baseline="-30000" dirty="0" err="1">
                <a:solidFill>
                  <a:srgbClr val="FF0000"/>
                </a:solidFill>
                <a:cs typeface="Times New Roman" pitchFamily="18" charset="0"/>
              </a:rPr>
              <a:t>te</a:t>
            </a:r>
            <a:r>
              <a:rPr lang="en-US" sz="2400" b="1" baseline="-30000" dirty="0">
                <a:solidFill>
                  <a:srgbClr val="FF0000"/>
                </a:solidFill>
                <a:cs typeface="Times New Roman" pitchFamily="18" charset="0"/>
              </a:rPr>
              <a:t> </a:t>
            </a:r>
            <a:r>
              <a:rPr lang="en-US" sz="2400" b="1" dirty="0">
                <a:solidFill>
                  <a:srgbClr val="FF0000"/>
                </a:solidFill>
                <a:cs typeface="Times New Roman" pitchFamily="18" charset="0"/>
              </a:rPr>
              <a:t>)(log d)</a:t>
            </a:r>
          </a:p>
          <a:p>
            <a:pPr>
              <a:lnSpc>
                <a:spcPct val="80000"/>
              </a:lnSpc>
              <a:buFont typeface="Monotype Sorts" pitchFamily="2" charset="2"/>
              <a:buNone/>
            </a:pPr>
            <a:r>
              <a:rPr lang="en-US" sz="2400" b="1" dirty="0">
                <a:solidFill>
                  <a:srgbClr val="0000FF"/>
                </a:solidFill>
                <a:cs typeface="Times New Roman" pitchFamily="18" charset="0"/>
              </a:rPr>
              <a:t>	   = 69.55 + 26.16log(915) – 13.82log(50) – 1.045 + 	</a:t>
            </a:r>
          </a:p>
          <a:p>
            <a:pPr>
              <a:lnSpc>
                <a:spcPct val="80000"/>
              </a:lnSpc>
              <a:buFont typeface="Monotype Sorts" pitchFamily="2" charset="2"/>
              <a:buNone/>
            </a:pPr>
            <a:r>
              <a:rPr lang="en-US" sz="2400" b="1" dirty="0">
                <a:solidFill>
                  <a:srgbClr val="0000FF"/>
                </a:solidFill>
                <a:cs typeface="Times New Roman" pitchFamily="18" charset="0"/>
              </a:rPr>
              <a:t>		(44.9 – 6.55log(50))log(3) </a:t>
            </a:r>
          </a:p>
          <a:p>
            <a:pPr>
              <a:lnSpc>
                <a:spcPct val="80000"/>
              </a:lnSpc>
              <a:buFont typeface="Monotype Sorts" pitchFamily="2" charset="2"/>
              <a:buNone/>
            </a:pPr>
            <a:r>
              <a:rPr lang="en-US" sz="2400" b="1" dirty="0">
                <a:solidFill>
                  <a:srgbClr val="0000FF"/>
                </a:solidFill>
                <a:cs typeface="Times New Roman" pitchFamily="18" charset="0"/>
              </a:rPr>
              <a:t>	   = 138.14 dB</a:t>
            </a:r>
          </a:p>
        </p:txBody>
      </p:sp>
      <p:sp>
        <p:nvSpPr>
          <p:cNvPr id="12"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Example</a:t>
            </a:r>
          </a:p>
        </p:txBody>
      </p:sp>
      <p:sp>
        <p:nvSpPr>
          <p:cNvPr id="11" name="Rectangle 10">
            <a:extLst>
              <a:ext uri="{FF2B5EF4-FFF2-40B4-BE49-F238E27FC236}">
                <a16:creationId xmlns:a16="http://schemas.microsoft.com/office/drawing/2014/main" id="{39DB03DA-F6E6-43B3-ACED-84C348875EA1}"/>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39">
            <a:hlinkClick r:id="" action="ppaction://media"/>
            <a:extLst>
              <a:ext uri="{FF2B5EF4-FFF2-40B4-BE49-F238E27FC236}">
                <a16:creationId xmlns:a16="http://schemas.microsoft.com/office/drawing/2014/main" id="{22AB92AE-6FCB-49C6-BB1F-A56C332E145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62992" y="5678063"/>
            <a:ext cx="609600" cy="609600"/>
          </a:xfrm>
          <a:prstGeom prst="rect">
            <a:avLst/>
          </a:prstGeom>
        </p:spPr>
      </p:pic>
      <p:sp>
        <p:nvSpPr>
          <p:cNvPr id="3" name="Rectangle 2">
            <a:extLst>
              <a:ext uri="{FF2B5EF4-FFF2-40B4-BE49-F238E27FC236}">
                <a16:creationId xmlns:a16="http://schemas.microsoft.com/office/drawing/2014/main" id="{208BF2E2-1010-18E0-2762-54D56734E2D3}"/>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106369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10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317871" y="1122346"/>
            <a:ext cx="11719187" cy="51125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2" charset="2"/>
              <a:buNone/>
            </a:pPr>
            <a:r>
              <a:rPr lang="en-US" sz="2400" b="1" dirty="0">
                <a:cs typeface="Times New Roman" pitchFamily="18" charset="0"/>
              </a:rPr>
              <a:t>iii) Determine the required power of the transmitter, P</a:t>
            </a:r>
            <a:r>
              <a:rPr lang="en-US" sz="2400" b="1" baseline="-30000" dirty="0">
                <a:cs typeface="Times New Roman" pitchFamily="18" charset="0"/>
              </a:rPr>
              <a:t>T </a:t>
            </a:r>
            <a:r>
              <a:rPr lang="en-US" sz="2400" b="1" dirty="0">
                <a:cs typeface="Times New Roman" pitchFamily="18" charset="0"/>
              </a:rPr>
              <a:t>with 99.8% of communication link.</a:t>
            </a:r>
            <a:endParaRPr lang="en-US" sz="2400" b="1" dirty="0"/>
          </a:p>
          <a:p>
            <a:pPr>
              <a:lnSpc>
                <a:spcPct val="80000"/>
              </a:lnSpc>
              <a:buFont typeface="Monotype Sorts" pitchFamily="2" charset="2"/>
              <a:buNone/>
            </a:pPr>
            <a:r>
              <a:rPr lang="en-US" sz="2400" dirty="0"/>
              <a:t>From the </a:t>
            </a:r>
            <a:r>
              <a:rPr lang="en-US" sz="2400" dirty="0">
                <a:cs typeface="Times New Roman" pitchFamily="18" charset="0"/>
              </a:rPr>
              <a:t>Rayleigh distribution chart (99.8% reliability): </a:t>
            </a:r>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a:p>
            <a:pPr>
              <a:lnSpc>
                <a:spcPct val="80000"/>
              </a:lnSpc>
              <a:buFont typeface="Monotype Sorts" pitchFamily="2" charset="2"/>
              <a:buNone/>
            </a:pPr>
            <a:endParaRPr lang="en-US" sz="1800" dirty="0"/>
          </a:p>
        </p:txBody>
      </p:sp>
      <p:pic>
        <p:nvPicPr>
          <p:cNvPr id="8" name="Picture 4" descr="auto0"/>
          <p:cNvPicPr>
            <a:picLocks noGrp="1" noChangeAspect="1" noChangeArrowheads="1"/>
          </p:cNvPicPr>
          <p:nvPr>
            <p:ph sz="half" idx="4294967295"/>
          </p:nvPr>
        </p:nvPicPr>
        <p:blipFill>
          <a:blip r:embed="rId6">
            <a:extLst>
              <a:ext uri="{28A0092B-C50C-407E-A947-70E740481C1C}">
                <a14:useLocalDpi xmlns:a14="http://schemas.microsoft.com/office/drawing/2010/main" val="0"/>
              </a:ext>
            </a:extLst>
          </a:blip>
          <a:srcRect/>
          <a:stretch>
            <a:fillRect/>
          </a:stretch>
        </p:blipFill>
        <p:spPr>
          <a:xfrm>
            <a:off x="1952722" y="1888353"/>
            <a:ext cx="8286556" cy="4369540"/>
          </a:xfrm>
          <a:noFill/>
        </p:spPr>
      </p:pic>
      <p:sp>
        <p:nvSpPr>
          <p:cNvPr id="9"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Example</a:t>
            </a:r>
          </a:p>
        </p:txBody>
      </p:sp>
      <p:sp>
        <p:nvSpPr>
          <p:cNvPr id="10" name="Rectangle 9">
            <a:extLst>
              <a:ext uri="{FF2B5EF4-FFF2-40B4-BE49-F238E27FC236}">
                <a16:creationId xmlns:a16="http://schemas.microsoft.com/office/drawing/2014/main" id="{1EA8FFFE-514C-4FBA-81BA-72FBE91433DB}"/>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cxnSp>
        <p:nvCxnSpPr>
          <p:cNvPr id="4" name="Straight Connector 3">
            <a:extLst>
              <a:ext uri="{FF2B5EF4-FFF2-40B4-BE49-F238E27FC236}">
                <a16:creationId xmlns:a16="http://schemas.microsoft.com/office/drawing/2014/main" id="{6AD3BFF8-18F0-4461-981F-68A49CE57902}"/>
              </a:ext>
            </a:extLst>
          </p:cNvPr>
          <p:cNvCxnSpPr/>
          <p:nvPr/>
        </p:nvCxnSpPr>
        <p:spPr>
          <a:xfrm flipV="1">
            <a:off x="3687580" y="3837482"/>
            <a:ext cx="0" cy="1244184"/>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81CE7F11-68AD-40E1-9A87-BDCE196AAB81}"/>
              </a:ext>
            </a:extLst>
          </p:cNvPr>
          <p:cNvCxnSpPr/>
          <p:nvPr/>
        </p:nvCxnSpPr>
        <p:spPr>
          <a:xfrm flipH="1">
            <a:off x="1813810" y="3837482"/>
            <a:ext cx="187377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9EF3AE6-79A8-4131-B4E6-3E09C6023AAE}"/>
              </a:ext>
            </a:extLst>
          </p:cNvPr>
          <p:cNvSpPr txBox="1"/>
          <p:nvPr/>
        </p:nvSpPr>
        <p:spPr>
          <a:xfrm>
            <a:off x="919665" y="3606649"/>
            <a:ext cx="914400" cy="461665"/>
          </a:xfrm>
          <a:prstGeom prst="rect">
            <a:avLst/>
          </a:prstGeom>
          <a:noFill/>
        </p:spPr>
        <p:txBody>
          <a:bodyPr wrap="square" rtlCol="0">
            <a:spAutoFit/>
          </a:bodyPr>
          <a:lstStyle/>
          <a:p>
            <a:r>
              <a:rPr lang="en-US" sz="2400" dirty="0"/>
              <a:t>25 dB</a:t>
            </a:r>
          </a:p>
        </p:txBody>
      </p:sp>
      <p:pic>
        <p:nvPicPr>
          <p:cNvPr id="14" name="Pg40">
            <a:hlinkClick r:id="" action="ppaction://media"/>
            <a:extLst>
              <a:ext uri="{FF2B5EF4-FFF2-40B4-BE49-F238E27FC236}">
                <a16:creationId xmlns:a16="http://schemas.microsoft.com/office/drawing/2014/main" id="{9CB3E7C7-4A09-4C1A-8109-5791971014A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9934478" y="5659798"/>
            <a:ext cx="609600" cy="609600"/>
          </a:xfrm>
          <a:prstGeom prst="rect">
            <a:avLst/>
          </a:prstGeom>
        </p:spPr>
      </p:pic>
      <p:pic>
        <p:nvPicPr>
          <p:cNvPr id="15" name="Pg40a">
            <a:hlinkClick r:id="" action="ppaction://media"/>
            <a:extLst>
              <a:ext uri="{FF2B5EF4-FFF2-40B4-BE49-F238E27FC236}">
                <a16:creationId xmlns:a16="http://schemas.microsoft.com/office/drawing/2014/main" id="{9AB44578-FE13-4A9C-B360-23CC26394A57}"/>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10053269" y="5735243"/>
            <a:ext cx="609600" cy="609600"/>
          </a:xfrm>
          <a:prstGeom prst="rect">
            <a:avLst/>
          </a:prstGeom>
        </p:spPr>
      </p:pic>
      <p:sp>
        <p:nvSpPr>
          <p:cNvPr id="2" name="Rectangle 1">
            <a:extLst>
              <a:ext uri="{FF2B5EF4-FFF2-40B4-BE49-F238E27FC236}">
                <a16:creationId xmlns:a16="http://schemas.microsoft.com/office/drawing/2014/main" id="{77AF9E9C-C810-BE9C-4F59-B9C6DBCEFB43}"/>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7728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405" fill="hold"/>
                                        <p:tgtEl>
                                          <p:spTgt spid="1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mediacall" presetSubtype="0" fill="hold" nodeType="withEffect">
                                  <p:stCondLst>
                                    <p:cond delay="0"/>
                                  </p:stCondLst>
                                  <p:childTnLst>
                                    <p:cmd type="call" cmd="playFrom(0.0)">
                                      <p:cBhvr>
                                        <p:cTn id="16" dur="1893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7" fill="hold" display="0">
                  <p:stCondLst>
                    <p:cond delay="indefinite"/>
                  </p:stCondLst>
                  <p:endCondLst>
                    <p:cond evt="onStopAudio" delay="0">
                      <p:tgtEl>
                        <p:sldTgt/>
                      </p:tgtEl>
                    </p:cond>
                  </p:endCondLst>
                </p:cTn>
                <p:tgtEl>
                  <p:spTgt spid="14"/>
                </p:tgtEl>
              </p:cMediaNode>
            </p:audio>
            <p:audio>
              <p:cMediaNode vol="80000">
                <p:cTn id="18" fill="hold" display="0">
                  <p:stCondLst>
                    <p:cond delay="indefinite"/>
                  </p:stCondLst>
                  <p:endCondLst>
                    <p:cond evt="onStopAudio" delay="0">
                      <p:tgtEl>
                        <p:sldTgt/>
                      </p:tgtEl>
                    </p:cond>
                  </p:endCondLst>
                </p:cTn>
                <p:tgtEl>
                  <p:spTgt spid="15"/>
                </p:tgtEl>
              </p:cMediaNode>
            </p:audio>
          </p:childTnLst>
        </p:cTn>
      </p:par>
    </p:tnLst>
    <p:bldLst>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a:xfrm>
            <a:off x="919665" y="1359236"/>
            <a:ext cx="10340296" cy="53622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2" charset="2"/>
              <a:buNone/>
            </a:pPr>
            <a:r>
              <a:rPr lang="en-US" sz="1800" b="1" dirty="0">
                <a:cs typeface="Times New Roman" pitchFamily="18" charset="0"/>
              </a:rPr>
              <a:t>iii) </a:t>
            </a:r>
            <a:r>
              <a:rPr lang="en-US" sz="2400" dirty="0"/>
              <a:t>	</a:t>
            </a:r>
            <a:r>
              <a:rPr lang="en-US" sz="2400" b="1" dirty="0">
                <a:solidFill>
                  <a:srgbClr val="00B050"/>
                </a:solidFill>
              </a:rPr>
              <a:t>P</a:t>
            </a:r>
            <a:r>
              <a:rPr lang="en-US" sz="2400" b="1" baseline="-25000" dirty="0">
                <a:solidFill>
                  <a:srgbClr val="00B050"/>
                </a:solidFill>
              </a:rPr>
              <a:t>t</a:t>
            </a:r>
            <a:r>
              <a:rPr lang="en-US" sz="2400" b="1" dirty="0">
                <a:solidFill>
                  <a:srgbClr val="00B050"/>
                </a:solidFill>
              </a:rPr>
              <a:t> – L</a:t>
            </a:r>
            <a:r>
              <a:rPr lang="en-US" sz="2400" b="1" baseline="-25000" dirty="0">
                <a:solidFill>
                  <a:srgbClr val="00B050"/>
                </a:solidFill>
              </a:rPr>
              <a:t>f</a:t>
            </a:r>
            <a:r>
              <a:rPr lang="en-US" sz="2400" b="1" dirty="0">
                <a:solidFill>
                  <a:srgbClr val="00B050"/>
                </a:solidFill>
              </a:rPr>
              <a:t> + G</a:t>
            </a:r>
            <a:r>
              <a:rPr lang="en-US" sz="2400" b="1" baseline="-25000" dirty="0">
                <a:solidFill>
                  <a:srgbClr val="00B050"/>
                </a:solidFill>
              </a:rPr>
              <a:t>t</a:t>
            </a:r>
            <a:r>
              <a:rPr lang="en-US" sz="2400" b="1" dirty="0">
                <a:solidFill>
                  <a:srgbClr val="00B050"/>
                </a:solidFill>
              </a:rPr>
              <a:t> – </a:t>
            </a:r>
            <a:r>
              <a:rPr lang="en-US" sz="2400" b="1" dirty="0" err="1">
                <a:solidFill>
                  <a:srgbClr val="00B050"/>
                </a:solidFill>
              </a:rPr>
              <a:t>L</a:t>
            </a:r>
            <a:r>
              <a:rPr lang="en-US" sz="2400" b="1" baseline="-25000" dirty="0" err="1">
                <a:solidFill>
                  <a:srgbClr val="00B050"/>
                </a:solidFill>
              </a:rPr>
              <a:t>p</a:t>
            </a:r>
            <a:r>
              <a:rPr lang="en-US" sz="2400" b="1" dirty="0">
                <a:solidFill>
                  <a:srgbClr val="00B050"/>
                </a:solidFill>
              </a:rPr>
              <a:t> - FM + G</a:t>
            </a:r>
            <a:r>
              <a:rPr lang="en-US" sz="2400" b="1" baseline="-25000" dirty="0">
                <a:solidFill>
                  <a:srgbClr val="00B050"/>
                </a:solidFill>
              </a:rPr>
              <a:t>R</a:t>
            </a:r>
            <a:r>
              <a:rPr lang="en-US" sz="2400" b="1" dirty="0">
                <a:solidFill>
                  <a:srgbClr val="00B050"/>
                </a:solidFill>
              </a:rPr>
              <a:t> – L</a:t>
            </a:r>
            <a:r>
              <a:rPr lang="en-US" sz="2400" b="1" baseline="-25000" dirty="0">
                <a:solidFill>
                  <a:srgbClr val="00B050"/>
                </a:solidFill>
              </a:rPr>
              <a:t>f</a:t>
            </a:r>
            <a:r>
              <a:rPr lang="en-US" sz="2400" b="1" dirty="0">
                <a:solidFill>
                  <a:srgbClr val="00B050"/>
                </a:solidFill>
              </a:rPr>
              <a:t> = P</a:t>
            </a:r>
            <a:r>
              <a:rPr lang="en-US" sz="2400" b="1" baseline="-25000" dirty="0">
                <a:solidFill>
                  <a:srgbClr val="00B050"/>
                </a:solidFill>
              </a:rPr>
              <a:t>R </a:t>
            </a:r>
          </a:p>
          <a:p>
            <a:pPr>
              <a:lnSpc>
                <a:spcPct val="80000"/>
              </a:lnSpc>
              <a:buNone/>
            </a:pPr>
            <a:endParaRPr lang="en-US" sz="2400" b="1" dirty="0">
              <a:solidFill>
                <a:srgbClr val="0000FF"/>
              </a:solidFill>
            </a:endParaRPr>
          </a:p>
          <a:p>
            <a:pPr>
              <a:lnSpc>
                <a:spcPct val="80000"/>
              </a:lnSpc>
              <a:buNone/>
            </a:pPr>
            <a:r>
              <a:rPr lang="en-US" sz="2400" b="1" dirty="0">
                <a:solidFill>
                  <a:srgbClr val="0000FF"/>
                </a:solidFill>
              </a:rPr>
              <a:t>Transmit power required </a:t>
            </a:r>
            <a:r>
              <a:rPr lang="en-US" sz="2400" b="1" dirty="0">
                <a:solidFill>
                  <a:srgbClr val="0070C0"/>
                </a:solidFill>
              </a:rPr>
              <a:t>P</a:t>
            </a:r>
            <a:r>
              <a:rPr lang="en-US" sz="2400" b="1" baseline="-25000" dirty="0">
                <a:solidFill>
                  <a:srgbClr val="0070C0"/>
                </a:solidFill>
              </a:rPr>
              <a:t>t</a:t>
            </a:r>
            <a:r>
              <a:rPr lang="en-US" sz="2400" b="1" dirty="0">
                <a:solidFill>
                  <a:srgbClr val="0070C0"/>
                </a:solidFill>
              </a:rPr>
              <a:t> 	= P</a:t>
            </a:r>
            <a:r>
              <a:rPr lang="en-US" sz="2400" b="1" baseline="-25000" dirty="0">
                <a:solidFill>
                  <a:srgbClr val="0070C0"/>
                </a:solidFill>
              </a:rPr>
              <a:t>R</a:t>
            </a:r>
            <a:r>
              <a:rPr lang="en-US" sz="2400" b="1" dirty="0">
                <a:solidFill>
                  <a:srgbClr val="0070C0"/>
                </a:solidFill>
              </a:rPr>
              <a:t>     + </a:t>
            </a:r>
            <a:r>
              <a:rPr lang="en-US" sz="2400" b="1" dirty="0" err="1">
                <a:solidFill>
                  <a:srgbClr val="0070C0"/>
                </a:solidFill>
              </a:rPr>
              <a:t>L</a:t>
            </a:r>
            <a:r>
              <a:rPr lang="en-US" sz="2400" b="1" baseline="-25000" dirty="0" err="1">
                <a:solidFill>
                  <a:srgbClr val="0070C0"/>
                </a:solidFill>
              </a:rPr>
              <a:t>f</a:t>
            </a:r>
            <a:r>
              <a:rPr lang="en-US" sz="2400" b="1" dirty="0">
                <a:solidFill>
                  <a:srgbClr val="0070C0"/>
                </a:solidFill>
              </a:rPr>
              <a:t>  - G</a:t>
            </a:r>
            <a:r>
              <a:rPr lang="en-US" sz="2400" b="1" baseline="-25000" dirty="0">
                <a:solidFill>
                  <a:srgbClr val="0070C0"/>
                </a:solidFill>
              </a:rPr>
              <a:t>t</a:t>
            </a:r>
            <a:r>
              <a:rPr lang="en-US" sz="2400" b="1" dirty="0">
                <a:solidFill>
                  <a:srgbClr val="0070C0"/>
                </a:solidFill>
              </a:rPr>
              <a:t> + </a:t>
            </a:r>
            <a:r>
              <a:rPr lang="en-US" sz="2400" b="1" dirty="0" err="1">
                <a:solidFill>
                  <a:srgbClr val="0070C0"/>
                </a:solidFill>
              </a:rPr>
              <a:t>L</a:t>
            </a:r>
            <a:r>
              <a:rPr lang="en-US" sz="2400" b="1" baseline="-25000" dirty="0" err="1">
                <a:solidFill>
                  <a:srgbClr val="0070C0"/>
                </a:solidFill>
              </a:rPr>
              <a:t>p</a:t>
            </a:r>
            <a:r>
              <a:rPr lang="en-US" sz="2400" b="1" dirty="0">
                <a:solidFill>
                  <a:srgbClr val="0070C0"/>
                </a:solidFill>
              </a:rPr>
              <a:t>          + FM - G</a:t>
            </a:r>
            <a:r>
              <a:rPr lang="en-US" sz="2400" b="1" baseline="-25000" dirty="0">
                <a:solidFill>
                  <a:srgbClr val="0070C0"/>
                </a:solidFill>
              </a:rPr>
              <a:t>R</a:t>
            </a:r>
            <a:r>
              <a:rPr lang="en-US" sz="2400" b="1" dirty="0">
                <a:solidFill>
                  <a:srgbClr val="0070C0"/>
                </a:solidFill>
              </a:rPr>
              <a:t> + </a:t>
            </a:r>
            <a:r>
              <a:rPr lang="en-US" sz="2400" b="1" dirty="0" err="1">
                <a:solidFill>
                  <a:srgbClr val="0070C0"/>
                </a:solidFill>
              </a:rPr>
              <a:t>L</a:t>
            </a:r>
            <a:r>
              <a:rPr lang="en-US" sz="2400" b="1" baseline="-25000" dirty="0" err="1">
                <a:solidFill>
                  <a:srgbClr val="0070C0"/>
                </a:solidFill>
              </a:rPr>
              <a:t>f</a:t>
            </a:r>
            <a:r>
              <a:rPr lang="en-US" sz="2400" b="1" dirty="0">
                <a:solidFill>
                  <a:srgbClr val="0070C0"/>
                </a:solidFill>
              </a:rPr>
              <a:t> </a:t>
            </a:r>
          </a:p>
          <a:p>
            <a:pPr>
              <a:lnSpc>
                <a:spcPct val="80000"/>
              </a:lnSpc>
              <a:buNone/>
            </a:pPr>
            <a:r>
              <a:rPr lang="en-US" sz="2400" b="1" baseline="-25000" dirty="0">
                <a:solidFill>
                  <a:srgbClr val="0070C0"/>
                </a:solidFill>
              </a:rPr>
              <a:t>					</a:t>
            </a:r>
            <a:r>
              <a:rPr lang="en-US" sz="2400" b="1" dirty="0">
                <a:solidFill>
                  <a:srgbClr val="0070C0"/>
                </a:solidFill>
              </a:rPr>
              <a:t>=</a:t>
            </a:r>
            <a:r>
              <a:rPr lang="en-US" sz="2400" b="1" baseline="-25000" dirty="0">
                <a:solidFill>
                  <a:srgbClr val="0070C0"/>
                </a:solidFill>
              </a:rPr>
              <a:t> </a:t>
            </a:r>
            <a:r>
              <a:rPr lang="en-US" sz="2400" b="1" dirty="0">
                <a:solidFill>
                  <a:srgbClr val="0000FF"/>
                </a:solidFill>
              </a:rPr>
              <a:t>-113 + 0   – 6  + </a:t>
            </a:r>
            <a:r>
              <a:rPr lang="en-US" sz="2400" b="1" dirty="0">
                <a:solidFill>
                  <a:srgbClr val="0000FF"/>
                </a:solidFill>
                <a:cs typeface="Times New Roman" pitchFamily="18" charset="0"/>
              </a:rPr>
              <a:t>138.14</a:t>
            </a:r>
            <a:r>
              <a:rPr lang="en-US" sz="2400" b="1" dirty="0">
                <a:solidFill>
                  <a:srgbClr val="0000FF"/>
                </a:solidFill>
              </a:rPr>
              <a:t> + 25  - 3   + 0</a:t>
            </a:r>
          </a:p>
          <a:p>
            <a:pPr>
              <a:lnSpc>
                <a:spcPct val="80000"/>
              </a:lnSpc>
              <a:buNone/>
            </a:pPr>
            <a:r>
              <a:rPr lang="en-US" sz="2400" b="1" dirty="0">
                <a:solidFill>
                  <a:srgbClr val="0000FF"/>
                </a:solidFill>
              </a:rPr>
              <a:t>					= 41.14 dBm</a:t>
            </a:r>
            <a:endParaRPr lang="en-US" sz="2400" b="1" baseline="-25000" dirty="0">
              <a:solidFill>
                <a:srgbClr val="0000FF"/>
              </a:solidFill>
            </a:endParaRPr>
          </a:p>
          <a:p>
            <a:pPr>
              <a:lnSpc>
                <a:spcPct val="80000"/>
              </a:lnSpc>
              <a:buFont typeface="Monotype Sorts" pitchFamily="2" charset="2"/>
              <a:buNone/>
            </a:pPr>
            <a:endParaRPr lang="en-US" sz="2400" b="1" dirty="0">
              <a:solidFill>
                <a:srgbClr val="0000FF"/>
              </a:solidFill>
            </a:endParaRPr>
          </a:p>
          <a:p>
            <a:pPr marL="0" indent="0">
              <a:lnSpc>
                <a:spcPct val="80000"/>
              </a:lnSpc>
              <a:buFont typeface="Monotype Sorts" pitchFamily="2" charset="2"/>
              <a:buNone/>
            </a:pPr>
            <a:r>
              <a:rPr lang="en-US" sz="2400" dirty="0"/>
              <a:t>With transmit power of 41.14 dBm, we can be sure that the receiver will have the probability of 99.8% of receiving the signal.</a:t>
            </a:r>
          </a:p>
          <a:p>
            <a:pPr>
              <a:lnSpc>
                <a:spcPct val="80000"/>
              </a:lnSpc>
              <a:buNone/>
            </a:pPr>
            <a:r>
              <a:rPr lang="en-US" sz="2400" b="1" baseline="-25000" dirty="0">
                <a:solidFill>
                  <a:srgbClr val="0070C0"/>
                </a:solidFill>
              </a:rPr>
              <a:t> </a:t>
            </a:r>
          </a:p>
          <a:p>
            <a:pPr>
              <a:lnSpc>
                <a:spcPct val="80000"/>
              </a:lnSpc>
              <a:buFont typeface="Monotype Sorts" pitchFamily="2" charset="2"/>
              <a:buNone/>
            </a:pPr>
            <a:endParaRPr lang="en-US" sz="2400" b="1" dirty="0">
              <a:solidFill>
                <a:srgbClr val="0000FF"/>
              </a:solidFill>
              <a:cs typeface="Times New Roman" pitchFamily="18" charset="0"/>
            </a:endParaRPr>
          </a:p>
        </p:txBody>
      </p:sp>
      <p:sp>
        <p:nvSpPr>
          <p:cNvPr id="12"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Example</a:t>
            </a:r>
          </a:p>
        </p:txBody>
      </p:sp>
      <p:sp>
        <p:nvSpPr>
          <p:cNvPr id="11" name="Rectangle 10">
            <a:extLst>
              <a:ext uri="{FF2B5EF4-FFF2-40B4-BE49-F238E27FC236}">
                <a16:creationId xmlns:a16="http://schemas.microsoft.com/office/drawing/2014/main" id="{39DB03DA-F6E6-43B3-ACED-84C348875EA1}"/>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41">
            <a:hlinkClick r:id="" action="ppaction://media"/>
            <a:extLst>
              <a:ext uri="{FF2B5EF4-FFF2-40B4-BE49-F238E27FC236}">
                <a16:creationId xmlns:a16="http://schemas.microsoft.com/office/drawing/2014/main" id="{F04E8FD1-33A6-4AD9-8821-50FA6769BC0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23018" y="5626391"/>
            <a:ext cx="609600" cy="609600"/>
          </a:xfrm>
          <a:prstGeom prst="rect">
            <a:avLst/>
          </a:prstGeom>
        </p:spPr>
      </p:pic>
      <p:sp>
        <p:nvSpPr>
          <p:cNvPr id="3" name="Rectangle 2">
            <a:extLst>
              <a:ext uri="{FF2B5EF4-FFF2-40B4-BE49-F238E27FC236}">
                <a16:creationId xmlns:a16="http://schemas.microsoft.com/office/drawing/2014/main" id="{E43CC72A-A357-3E0A-AA1E-1DFAF817548D}"/>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4455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2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4"/>
          <p:cNvGraphicFramePr>
            <a:graphicFrameLocks noChangeAspect="1"/>
          </p:cNvGraphicFramePr>
          <p:nvPr>
            <p:extLst>
              <p:ext uri="{D42A27DB-BD31-4B8C-83A1-F6EECF244321}">
                <p14:modId xmlns:p14="http://schemas.microsoft.com/office/powerpoint/2010/main" val="3521879695"/>
              </p:ext>
            </p:extLst>
          </p:nvPr>
        </p:nvGraphicFramePr>
        <p:xfrm>
          <a:off x="1791138" y="951158"/>
          <a:ext cx="8178800" cy="1922463"/>
        </p:xfrm>
        <a:graphic>
          <a:graphicData uri="http://schemas.openxmlformats.org/presentationml/2006/ole">
            <mc:AlternateContent xmlns:mc="http://schemas.openxmlformats.org/markup-compatibility/2006">
              <mc:Choice xmlns:v="urn:schemas-microsoft-com:vml" Requires="v">
                <p:oleObj name="Picture" r:id="rId4" imgW="6400800" imgH="1504800" progId="Word.Picture.8">
                  <p:embed/>
                </p:oleObj>
              </mc:Choice>
              <mc:Fallback>
                <p:oleObj name="Picture" r:id="rId4" imgW="6400800" imgH="1504800" progId="Word.Picture.8">
                  <p:embed/>
                  <p:pic>
                    <p:nvPicPr>
                      <p:cNvPr id="0" name=""/>
                      <p:cNvPicPr>
                        <a:picLocks noChangeAspect="1" noChangeArrowheads="1"/>
                      </p:cNvPicPr>
                      <p:nvPr/>
                    </p:nvPicPr>
                    <p:blipFill>
                      <a:blip r:embed="rId5"/>
                      <a:srcRect/>
                      <a:stretch>
                        <a:fillRect/>
                      </a:stretch>
                    </p:blipFill>
                    <p:spPr bwMode="auto">
                      <a:xfrm>
                        <a:off x="1791138" y="951158"/>
                        <a:ext cx="8178800" cy="192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Group 2109"/>
          <p:cNvGraphicFramePr>
            <a:graphicFrameLocks/>
          </p:cNvGraphicFramePr>
          <p:nvPr>
            <p:extLst>
              <p:ext uri="{D42A27DB-BD31-4B8C-83A1-F6EECF244321}">
                <p14:modId xmlns:p14="http://schemas.microsoft.com/office/powerpoint/2010/main" val="3484720403"/>
              </p:ext>
            </p:extLst>
          </p:nvPr>
        </p:nvGraphicFramePr>
        <p:xfrm>
          <a:off x="583324" y="3026496"/>
          <a:ext cx="5139051" cy="2691905"/>
        </p:xfrm>
        <a:graphic>
          <a:graphicData uri="http://schemas.openxmlformats.org/drawingml/2006/table">
            <a:tbl>
              <a:tblPr/>
              <a:tblGrid>
                <a:gridCol w="3909511">
                  <a:extLst>
                    <a:ext uri="{9D8B030D-6E8A-4147-A177-3AD203B41FA5}">
                      <a16:colId xmlns:a16="http://schemas.microsoft.com/office/drawing/2014/main" val="20000"/>
                    </a:ext>
                  </a:extLst>
                </a:gridCol>
                <a:gridCol w="1229540">
                  <a:extLst>
                    <a:ext uri="{9D8B030D-6E8A-4147-A177-3AD203B41FA5}">
                      <a16:colId xmlns:a16="http://schemas.microsoft.com/office/drawing/2014/main" val="20001"/>
                    </a:ext>
                  </a:extLst>
                </a:gridCol>
              </a:tblGrid>
              <a:tr h="310535">
                <a:tc>
                  <a:txBody>
                    <a:bodyPr/>
                    <a:lstStyle/>
                    <a:p>
                      <a:pPr marL="0" marR="0" lvl="0" indent="0" algn="ctr"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Parameters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Values (dB)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err="1">
                          <a:ln>
                            <a:noFill/>
                          </a:ln>
                          <a:solidFill>
                            <a:schemeClr val="tx1"/>
                          </a:solidFill>
                          <a:effectLst/>
                          <a:latin typeface="Arial" charset="0"/>
                        </a:rPr>
                        <a:t>Tx</a:t>
                      </a:r>
                      <a:r>
                        <a:rPr kumimoji="1" lang="en-US" sz="1400" b="0" i="0" u="none" strike="noStrike" cap="none" normalizeH="0" baseline="0" dirty="0">
                          <a:ln>
                            <a:noFill/>
                          </a:ln>
                          <a:solidFill>
                            <a:schemeClr val="tx1"/>
                          </a:solidFill>
                          <a:effectLst/>
                          <a:latin typeface="Arial" charset="0"/>
                        </a:rPr>
                        <a:t> power(</a:t>
                      </a:r>
                      <a:r>
                        <a:rPr kumimoji="1" lang="en-US" sz="1400" b="0" i="0" u="none" strike="noStrike" cap="none" normalizeH="0" baseline="0" dirty="0" err="1">
                          <a:ln>
                            <a:noFill/>
                          </a:ln>
                          <a:solidFill>
                            <a:schemeClr val="tx1"/>
                          </a:solidFill>
                          <a:effectLst/>
                          <a:latin typeface="Arial" charset="0"/>
                        </a:rPr>
                        <a:t>dBm</a:t>
                      </a:r>
                      <a:r>
                        <a:rPr kumimoji="1" lang="en-US" sz="14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Antenna cable loss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err="1">
                          <a:ln>
                            <a:noFill/>
                          </a:ln>
                          <a:solidFill>
                            <a:schemeClr val="tx1"/>
                          </a:solidFill>
                          <a:effectLst/>
                          <a:latin typeface="Arial" charset="0"/>
                        </a:rPr>
                        <a:t>Tx</a:t>
                      </a:r>
                      <a:r>
                        <a:rPr kumimoji="1" lang="en-US" sz="1400" b="0" i="0" u="none" strike="noStrike" cap="none" normalizeH="0" baseline="0" dirty="0">
                          <a:ln>
                            <a:noFill/>
                          </a:ln>
                          <a:solidFill>
                            <a:schemeClr val="tx1"/>
                          </a:solidFill>
                          <a:effectLst/>
                          <a:latin typeface="Arial" charset="0"/>
                        </a:rPr>
                        <a:t> Antenna Gain (</a:t>
                      </a:r>
                      <a:r>
                        <a:rPr kumimoji="1" lang="en-US" sz="1400" b="0" i="0" u="none" strike="noStrike" cap="none" normalizeH="0" baseline="0" dirty="0" err="1">
                          <a:ln>
                            <a:noFill/>
                          </a:ln>
                          <a:solidFill>
                            <a:schemeClr val="tx1"/>
                          </a:solidFill>
                          <a:effectLst/>
                          <a:latin typeface="Arial" charset="0"/>
                        </a:rPr>
                        <a:t>dBi</a:t>
                      </a:r>
                      <a:r>
                        <a:rPr kumimoji="1" lang="en-US" sz="14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EIRP(</a:t>
                      </a:r>
                      <a:r>
                        <a:rPr kumimoji="1" lang="en-US" sz="1400" b="1" i="0" u="none" strike="noStrike" cap="none" normalizeH="0" baseline="0" dirty="0" err="1">
                          <a:ln>
                            <a:noFill/>
                          </a:ln>
                          <a:solidFill>
                            <a:schemeClr val="tx1"/>
                          </a:solidFill>
                          <a:effectLst/>
                          <a:latin typeface="Arial" charset="0"/>
                        </a:rPr>
                        <a:t>dBm</a:t>
                      </a:r>
                      <a:r>
                        <a:rPr kumimoji="1" lang="en-US" sz="1400" b="1" i="0" u="none" strike="noStrike" cap="none" normalizeH="0" baseline="0" dirty="0">
                          <a:ln>
                            <a:noFill/>
                          </a:ln>
                          <a:solidFill>
                            <a:schemeClr val="tx1"/>
                          </a:solidFill>
                          <a:effectLst/>
                          <a:latin typeface="Arial" charset="0"/>
                        </a:rPr>
                        <a:t>) </a:t>
                      </a:r>
                      <a:r>
                        <a:rPr kumimoji="1" lang="en-US" sz="1400" b="1" i="0" u="none" strike="noStrike" cap="none" normalizeH="0" baseline="0" dirty="0">
                          <a:ln>
                            <a:noFill/>
                          </a:ln>
                          <a:solidFill>
                            <a:srgbClr val="0000FF"/>
                          </a:solidFill>
                          <a:effectLst/>
                          <a:latin typeface="Arial" charset="0"/>
                        </a:rPr>
                        <a:t>(</a:t>
                      </a:r>
                      <a:r>
                        <a:rPr kumimoji="1" lang="en-US" sz="1400" b="0" i="0" u="none" strike="noStrike" cap="none" normalizeH="0" baseline="0" dirty="0">
                          <a:ln>
                            <a:noFill/>
                          </a:ln>
                          <a:solidFill>
                            <a:srgbClr val="0000FF"/>
                          </a:solidFill>
                          <a:effectLst/>
                          <a:latin typeface="Arial" charset="0"/>
                        </a:rPr>
                        <a:t>= 45 – 3 + 13)</a:t>
                      </a:r>
                      <a:endParaRPr kumimoji="1" lang="en-US" sz="1200" b="1" i="0" u="none" strike="noStrike" cap="none" normalizeH="0" baseline="0" dirty="0">
                        <a:ln>
                          <a:noFill/>
                        </a:ln>
                        <a:solidFill>
                          <a:srgbClr val="0000FF"/>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a:ln>
                            <a:noFill/>
                          </a:ln>
                          <a:solidFill>
                            <a:schemeClr val="tx1"/>
                          </a:solidFill>
                          <a:effectLst/>
                          <a:latin typeface="Arial" charset="0"/>
                        </a:rPr>
                        <a:t>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Path Loss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a:ln>
                            <a:noFill/>
                          </a:ln>
                          <a:solidFill>
                            <a:schemeClr val="tx1"/>
                          </a:solidFill>
                          <a:effectLst/>
                          <a:latin typeface="Arial" charset="0"/>
                        </a:rPr>
                        <a:t>150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Fade Margin(dB)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Other margin components(dB) such as building penetration loss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664086006"/>
              </p:ext>
            </p:extLst>
          </p:nvPr>
        </p:nvGraphicFramePr>
        <p:xfrm>
          <a:off x="6056587" y="3030757"/>
          <a:ext cx="5139051" cy="2691905"/>
        </p:xfrm>
        <a:graphic>
          <a:graphicData uri="http://schemas.openxmlformats.org/drawingml/2006/table">
            <a:tbl>
              <a:tblPr/>
              <a:tblGrid>
                <a:gridCol w="3909511">
                  <a:extLst>
                    <a:ext uri="{9D8B030D-6E8A-4147-A177-3AD203B41FA5}">
                      <a16:colId xmlns:a16="http://schemas.microsoft.com/office/drawing/2014/main" val="4031664721"/>
                    </a:ext>
                  </a:extLst>
                </a:gridCol>
                <a:gridCol w="1229540">
                  <a:extLst>
                    <a:ext uri="{9D8B030D-6E8A-4147-A177-3AD203B41FA5}">
                      <a16:colId xmlns:a16="http://schemas.microsoft.com/office/drawing/2014/main" val="1778973827"/>
                    </a:ext>
                  </a:extLst>
                </a:gridCol>
              </a:tblGrid>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Received isotropic power(</a:t>
                      </a:r>
                      <a:r>
                        <a:rPr kumimoji="1" lang="en-US" sz="1400" b="1" i="0" u="none" strike="noStrike" cap="none" normalizeH="0" baseline="0" dirty="0" err="1">
                          <a:ln>
                            <a:noFill/>
                          </a:ln>
                          <a:solidFill>
                            <a:schemeClr val="tx1"/>
                          </a:solidFill>
                          <a:effectLst/>
                          <a:latin typeface="Arial" charset="0"/>
                        </a:rPr>
                        <a:t>dBm</a:t>
                      </a:r>
                      <a:r>
                        <a:rPr kumimoji="1" lang="en-US" sz="1400" b="1" i="0" u="none" strike="noStrike" cap="none" normalizeH="0" baseline="0" dirty="0">
                          <a:ln>
                            <a:noFill/>
                          </a:ln>
                          <a:solidFill>
                            <a:schemeClr val="tx1"/>
                          </a:solidFill>
                          <a:effectLst/>
                          <a:latin typeface="Arial" charset="0"/>
                        </a:rPr>
                        <a:t>) </a:t>
                      </a:r>
                      <a:r>
                        <a:rPr kumimoji="1" lang="en-US" sz="1400" b="1" i="0" u="none" strike="noStrike" cap="none" normalizeH="0" baseline="0" dirty="0">
                          <a:ln>
                            <a:noFill/>
                          </a:ln>
                          <a:solidFill>
                            <a:srgbClr val="0000FF"/>
                          </a:solidFill>
                          <a:effectLst/>
                          <a:latin typeface="Arial" charset="0"/>
                        </a:rPr>
                        <a:t>(</a:t>
                      </a:r>
                      <a:r>
                        <a:rPr kumimoji="1" lang="en-US" sz="1400" b="0" i="0" u="none" strike="noStrike" cap="none" normalizeH="0" baseline="0" dirty="0">
                          <a:ln>
                            <a:noFill/>
                          </a:ln>
                          <a:solidFill>
                            <a:srgbClr val="0000FF"/>
                          </a:solidFill>
                          <a:effectLst/>
                          <a:latin typeface="Arial" charset="0"/>
                        </a:rPr>
                        <a:t>= 55 – 150 – 0 - 0)</a:t>
                      </a:r>
                      <a:endParaRPr kumimoji="1" lang="en-US" sz="1400" b="1" i="0" u="none" strike="noStrike" cap="none" normalizeH="0" baseline="0" dirty="0">
                        <a:ln>
                          <a:noFill/>
                        </a:ln>
                        <a:solidFill>
                          <a:srgbClr val="0000FF"/>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8230727"/>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Rx Antenna Gain (</a:t>
                      </a:r>
                      <a:r>
                        <a:rPr kumimoji="1" lang="en-US" sz="1400" b="0" i="0" u="none" strike="noStrike" cap="none" normalizeH="0" baseline="0" dirty="0" err="1">
                          <a:ln>
                            <a:noFill/>
                          </a:ln>
                          <a:solidFill>
                            <a:schemeClr val="tx1"/>
                          </a:solidFill>
                          <a:effectLst/>
                          <a:latin typeface="Arial" charset="0"/>
                        </a:rPr>
                        <a:t>dBi</a:t>
                      </a:r>
                      <a:r>
                        <a:rPr kumimoji="1" lang="en-US" sz="1400" b="0" i="0" u="none" strike="noStrike" cap="none" normalizeH="0" baseline="0" dirty="0">
                          <a:ln>
                            <a:noFill/>
                          </a:ln>
                          <a:solidFill>
                            <a:schemeClr val="tx1"/>
                          </a:solidFill>
                          <a:effectLst/>
                          <a:latin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5731633"/>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a:ln>
                            <a:noFill/>
                          </a:ln>
                          <a:solidFill>
                            <a:schemeClr val="tx1"/>
                          </a:solidFill>
                          <a:effectLst/>
                          <a:latin typeface="Arial" charset="0"/>
                        </a:rPr>
                        <a:t>Mobile antenna cable loss (dB)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1693679"/>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Rx signal power (</a:t>
                      </a:r>
                      <a:r>
                        <a:rPr kumimoji="1" lang="en-US" sz="1400" b="1" i="0" u="none" strike="noStrike" cap="none" normalizeH="0" baseline="0" dirty="0" err="1">
                          <a:ln>
                            <a:noFill/>
                          </a:ln>
                          <a:solidFill>
                            <a:schemeClr val="tx1"/>
                          </a:solidFill>
                          <a:effectLst/>
                          <a:latin typeface="Arial" charset="0"/>
                        </a:rPr>
                        <a:t>dBm</a:t>
                      </a:r>
                      <a:r>
                        <a:rPr kumimoji="1" lang="en-US" sz="1400" b="1" i="0" u="none" strike="noStrike" cap="none" normalizeH="0" baseline="0" dirty="0">
                          <a:ln>
                            <a:noFill/>
                          </a:ln>
                          <a:solidFill>
                            <a:schemeClr val="tx1"/>
                          </a:solidFill>
                          <a:effectLst/>
                          <a:latin typeface="Arial" charset="0"/>
                        </a:rPr>
                        <a:t>) </a:t>
                      </a:r>
                      <a:r>
                        <a:rPr kumimoji="1" lang="en-US" sz="1400" b="0" i="0" u="none" strike="noStrike" cap="none" normalizeH="0" baseline="0" dirty="0">
                          <a:ln>
                            <a:noFill/>
                          </a:ln>
                          <a:solidFill>
                            <a:srgbClr val="0000FF"/>
                          </a:solidFill>
                          <a:effectLst/>
                          <a:latin typeface="Arial" charset="0"/>
                        </a:rPr>
                        <a:t>(= -95 + 4 –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-92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0025344"/>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a:ln>
                            <a:noFill/>
                          </a:ln>
                          <a:solidFill>
                            <a:schemeClr val="tx1"/>
                          </a:solidFill>
                          <a:effectLst/>
                          <a:latin typeface="Arial" charset="0"/>
                        </a:rPr>
                        <a:t>Rx noise power kTB (dBm)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-126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65420790"/>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Rx CNR(dB) </a:t>
                      </a:r>
                      <a:r>
                        <a:rPr kumimoji="1" lang="en-US" sz="1400" b="0" i="0" u="none" strike="noStrike" cap="none" normalizeH="0" baseline="0" dirty="0">
                          <a:ln>
                            <a:noFill/>
                          </a:ln>
                          <a:solidFill>
                            <a:srgbClr val="0000FF"/>
                          </a:solidFill>
                          <a:effectLst/>
                          <a:latin typeface="Arial" charset="0"/>
                        </a:rPr>
                        <a:t>(= -92 – (-126))</a:t>
                      </a:r>
                      <a:endParaRPr kumimoji="1" lang="en-US" sz="1600" b="0" i="0" u="none" strike="noStrike" cap="none" normalizeH="0" baseline="0" dirty="0">
                        <a:ln>
                          <a:noFill/>
                        </a:ln>
                        <a:solidFill>
                          <a:srgbClr val="0000FF"/>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1371829"/>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a:ln>
                            <a:noFill/>
                          </a:ln>
                          <a:solidFill>
                            <a:schemeClr val="tx1"/>
                          </a:solidFill>
                          <a:effectLst/>
                          <a:latin typeface="Arial" charset="0"/>
                        </a:rPr>
                        <a:t>Target Rx CNR(dB)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0" i="0" u="none" strike="noStrike" cap="none" normalizeH="0" baseline="0" dirty="0">
                          <a:ln>
                            <a:noFill/>
                          </a:ln>
                          <a:solidFill>
                            <a:schemeClr val="tx1"/>
                          </a:solidFill>
                          <a:effectLst/>
                          <a:latin typeface="Arial" charset="0"/>
                        </a:rPr>
                        <a:t>13</a:t>
                      </a:r>
                      <a:endParaRPr kumimoji="1" lang="en-US" sz="14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1839064"/>
                  </a:ext>
                </a:extLst>
              </a:tr>
              <a:tr h="310535">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Margin(dB) </a:t>
                      </a:r>
                      <a:r>
                        <a:rPr kumimoji="1" lang="en-US" sz="1400" b="0" i="0" u="none" strike="noStrike" cap="none" normalizeH="0" baseline="0" dirty="0">
                          <a:ln>
                            <a:noFill/>
                          </a:ln>
                          <a:solidFill>
                            <a:srgbClr val="0000FF"/>
                          </a:solidFill>
                          <a:effectLst/>
                          <a:latin typeface="Arial" charset="0"/>
                        </a:rPr>
                        <a:t>(= 34 – 13)</a:t>
                      </a:r>
                      <a:endParaRPr kumimoji="1" lang="en-US" sz="1400" b="1" i="0" u="none" strike="noStrike" cap="none" normalizeH="0" baseline="0" dirty="0">
                        <a:ln>
                          <a:noFill/>
                        </a:ln>
                        <a:solidFill>
                          <a:srgbClr val="0000FF"/>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358900" rtl="0" eaLnBrk="0" fontAlgn="base" latinLnBrk="0" hangingPunct="0">
                        <a:lnSpc>
                          <a:spcPct val="100000"/>
                        </a:lnSpc>
                        <a:spcBef>
                          <a:spcPct val="20000"/>
                        </a:spcBef>
                        <a:spcAft>
                          <a:spcPct val="0"/>
                        </a:spcAft>
                        <a:buClr>
                          <a:schemeClr val="tx1"/>
                        </a:buClr>
                        <a:buSzPct val="60000"/>
                        <a:buFont typeface="Monotype Sorts" pitchFamily="2" charset="2"/>
                        <a:buNone/>
                        <a:tabLst/>
                      </a:pPr>
                      <a:r>
                        <a:rPr kumimoji="1" lang="en-US" sz="1400" b="1" i="0" u="none" strike="noStrike" cap="none" normalizeH="0" baseline="0" dirty="0">
                          <a:ln>
                            <a:noFill/>
                          </a:ln>
                          <a:solidFill>
                            <a:schemeClr val="tx1"/>
                          </a:solidFill>
                          <a:effectLst/>
                          <a:latin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09876102"/>
                  </a:ext>
                </a:extLst>
              </a:tr>
            </a:tbl>
          </a:graphicData>
        </a:graphic>
      </p:graphicFrame>
      <p:sp>
        <p:nvSpPr>
          <p:cNvPr id="14"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Radio Link Example</a:t>
            </a:r>
          </a:p>
        </p:txBody>
      </p:sp>
      <p:sp>
        <p:nvSpPr>
          <p:cNvPr id="15" name="Rectangle 14">
            <a:extLst>
              <a:ext uri="{FF2B5EF4-FFF2-40B4-BE49-F238E27FC236}">
                <a16:creationId xmlns:a16="http://schemas.microsoft.com/office/drawing/2014/main" id="{B45C667D-0FD5-4622-B57B-A2F93ADD2857}"/>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42">
            <a:hlinkClick r:id="" action="ppaction://media"/>
            <a:extLst>
              <a:ext uri="{FF2B5EF4-FFF2-40B4-BE49-F238E27FC236}">
                <a16:creationId xmlns:a16="http://schemas.microsoft.com/office/drawing/2014/main" id="{51302726-8285-470F-ABCC-112802E0644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45450" y="5802961"/>
            <a:ext cx="609600" cy="609600"/>
          </a:xfrm>
          <a:prstGeom prst="rect">
            <a:avLst/>
          </a:prstGeom>
        </p:spPr>
      </p:pic>
      <p:sp>
        <p:nvSpPr>
          <p:cNvPr id="3" name="Rectangle 2">
            <a:extLst>
              <a:ext uri="{FF2B5EF4-FFF2-40B4-BE49-F238E27FC236}">
                <a16:creationId xmlns:a16="http://schemas.microsoft.com/office/drawing/2014/main" id="{6234613F-B4EE-9BCC-12AC-A928661857B7}"/>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849673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4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C98708-38A9-95E6-463A-00F330A7FCE7}"/>
              </a:ext>
            </a:extLst>
          </p:cNvPr>
          <p:cNvSpPr/>
          <p:nvPr/>
        </p:nvSpPr>
        <p:spPr>
          <a:xfrm>
            <a:off x="0" y="0"/>
            <a:ext cx="925286" cy="276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8" name="Picture 7">
            <a:extLst>
              <a:ext uri="{FF2B5EF4-FFF2-40B4-BE49-F238E27FC236}">
                <a16:creationId xmlns:a16="http://schemas.microsoft.com/office/drawing/2014/main" id="{5100B354-AC29-9415-C079-6303DAE28A2B}"/>
              </a:ext>
            </a:extLst>
          </p:cNvPr>
          <p:cNvPicPr>
            <a:picLocks noChangeAspect="1"/>
          </p:cNvPicPr>
          <p:nvPr/>
        </p:nvPicPr>
        <p:blipFill>
          <a:blip r:embed="rId2"/>
          <a:stretch>
            <a:fillRect/>
          </a:stretch>
        </p:blipFill>
        <p:spPr>
          <a:xfrm>
            <a:off x="260654" y="5853409"/>
            <a:ext cx="1762125" cy="542925"/>
          </a:xfrm>
          <a:prstGeom prst="rect">
            <a:avLst/>
          </a:prstGeom>
        </p:spPr>
      </p:pic>
      <p:sp>
        <p:nvSpPr>
          <p:cNvPr id="10" name="TextBox 9">
            <a:hlinkClick r:id="rId3"/>
            <a:extLst>
              <a:ext uri="{FF2B5EF4-FFF2-40B4-BE49-F238E27FC236}">
                <a16:creationId xmlns:a16="http://schemas.microsoft.com/office/drawing/2014/main" id="{B25313B6-9315-861D-CF0C-337303B1DEF1}"/>
              </a:ext>
            </a:extLst>
          </p:cNvPr>
          <p:cNvSpPr txBox="1"/>
          <p:nvPr/>
        </p:nvSpPr>
        <p:spPr>
          <a:xfrm>
            <a:off x="2332238" y="5663207"/>
            <a:ext cx="7527524" cy="923330"/>
          </a:xfrm>
          <a:prstGeom prst="rect">
            <a:avLst/>
          </a:prstGeom>
          <a:noFill/>
        </p:spPr>
        <p:txBody>
          <a:bodyPr wrap="square">
            <a:spAutoFit/>
          </a:bodyPr>
          <a:lstStyle/>
          <a:p>
            <a:r>
              <a:rPr lang="en-SG" b="0" i="0" dirty="0">
                <a:solidFill>
                  <a:srgbClr val="0D0D0D"/>
                </a:solidFill>
                <a:effectLst/>
                <a:latin typeface="Roboto" panose="02000000000000000000" pitchFamily="2" charset="0"/>
              </a:rPr>
              <a:t>How to Calculate the Required Link Budget to Establish a Communication Link with a Case Study.</a:t>
            </a:r>
          </a:p>
          <a:p>
            <a:r>
              <a:rPr lang="en-SG" b="0" i="0" u="none" strike="noStrike" dirty="0">
                <a:effectLst/>
                <a:latin typeface="Roboto" panose="02000000000000000000" pitchFamily="2" charset="0"/>
                <a:hlinkClick r:id="rId4"/>
              </a:rPr>
              <a:t>https://youtu.be/meb4a5oeTDA</a:t>
            </a:r>
            <a:endParaRPr lang="en-SG" b="0" i="0" dirty="0">
              <a:solidFill>
                <a:srgbClr val="0D0D0D"/>
              </a:solidFill>
              <a:effectLst/>
              <a:latin typeface="Roboto" panose="02000000000000000000" pitchFamily="2" charset="0"/>
            </a:endParaRPr>
          </a:p>
        </p:txBody>
      </p:sp>
      <p:pic>
        <p:nvPicPr>
          <p:cNvPr id="4100" name="Picture 4" descr="Miscellaneous Video's – Centurian Park Family">
            <a:hlinkClick r:id="rId4"/>
            <a:extLst>
              <a:ext uri="{FF2B5EF4-FFF2-40B4-BE49-F238E27FC236}">
                <a16:creationId xmlns:a16="http://schemas.microsoft.com/office/drawing/2014/main" id="{F2FC59B5-8F70-388F-0F76-A765F7749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6552" y="942295"/>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hlinkClick r:id="rId4"/>
            <a:extLst>
              <a:ext uri="{FF2B5EF4-FFF2-40B4-BE49-F238E27FC236}">
                <a16:creationId xmlns:a16="http://schemas.microsoft.com/office/drawing/2014/main" id="{ABEF0202-9D09-6249-7FC1-94F81D53C14B}"/>
              </a:ext>
            </a:extLst>
          </p:cNvPr>
          <p:cNvSpPr txBox="1"/>
          <p:nvPr/>
        </p:nvSpPr>
        <p:spPr>
          <a:xfrm>
            <a:off x="9859762" y="3085420"/>
            <a:ext cx="2081188" cy="2554545"/>
          </a:xfrm>
          <a:prstGeom prst="rect">
            <a:avLst/>
          </a:prstGeom>
          <a:noFill/>
        </p:spPr>
        <p:txBody>
          <a:bodyPr wrap="square" rtlCol="0">
            <a:spAutoFit/>
          </a:bodyPr>
          <a:lstStyle/>
          <a:p>
            <a:r>
              <a:rPr lang="en-SG" sz="3200" dirty="0"/>
              <a:t>Pls see this </a:t>
            </a:r>
            <a:r>
              <a:rPr lang="en-SG" sz="3200" dirty="0" err="1"/>
              <a:t>Youtube</a:t>
            </a:r>
            <a:r>
              <a:rPr lang="en-SG" sz="3200" dirty="0"/>
              <a:t> video to understand more</a:t>
            </a:r>
            <a:r>
              <a:rPr lang="en-SG" dirty="0"/>
              <a:t>.</a:t>
            </a:r>
          </a:p>
        </p:txBody>
      </p:sp>
      <p:pic>
        <p:nvPicPr>
          <p:cNvPr id="4" name="Picture 3">
            <a:hlinkClick r:id="rId4"/>
            <a:extLst>
              <a:ext uri="{FF2B5EF4-FFF2-40B4-BE49-F238E27FC236}">
                <a16:creationId xmlns:a16="http://schemas.microsoft.com/office/drawing/2014/main" id="{E3F5391E-9E97-744F-E86D-671F82EC8599}"/>
              </a:ext>
            </a:extLst>
          </p:cNvPr>
          <p:cNvPicPr>
            <a:picLocks noChangeAspect="1"/>
          </p:cNvPicPr>
          <p:nvPr/>
        </p:nvPicPr>
        <p:blipFill>
          <a:blip r:embed="rId6"/>
          <a:stretch>
            <a:fillRect/>
          </a:stretch>
        </p:blipFill>
        <p:spPr>
          <a:xfrm>
            <a:off x="398474" y="271463"/>
            <a:ext cx="9158162" cy="5086600"/>
          </a:xfrm>
          <a:prstGeom prst="rect">
            <a:avLst/>
          </a:prstGeom>
        </p:spPr>
      </p:pic>
    </p:spTree>
    <p:extLst>
      <p:ext uri="{BB962C8B-B14F-4D97-AF65-F5344CB8AC3E}">
        <p14:creationId xmlns:p14="http://schemas.microsoft.com/office/powerpoint/2010/main" val="200781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1938126000"/>
              </p:ext>
            </p:extLst>
          </p:nvPr>
        </p:nvGraphicFramePr>
        <p:xfrm>
          <a:off x="772508" y="1237715"/>
          <a:ext cx="10629661" cy="4602480"/>
        </p:xfrm>
        <a:graphic>
          <a:graphicData uri="http://schemas.openxmlformats.org/drawingml/2006/table">
            <a:tbl>
              <a:tblPr firstRow="1" bandRow="1">
                <a:tableStyleId>{5C22544A-7EE6-4342-B048-85BDC9FD1C3A}</a:tableStyleId>
              </a:tblPr>
              <a:tblGrid>
                <a:gridCol w="4024081">
                  <a:extLst>
                    <a:ext uri="{9D8B030D-6E8A-4147-A177-3AD203B41FA5}">
                      <a16:colId xmlns:a16="http://schemas.microsoft.com/office/drawing/2014/main" val="2060043513"/>
                    </a:ext>
                  </a:extLst>
                </a:gridCol>
                <a:gridCol w="6605580">
                  <a:extLst>
                    <a:ext uri="{9D8B030D-6E8A-4147-A177-3AD203B41FA5}">
                      <a16:colId xmlns:a16="http://schemas.microsoft.com/office/drawing/2014/main" val="2031890161"/>
                    </a:ext>
                  </a:extLst>
                </a:gridCol>
              </a:tblGrid>
              <a:tr h="370840">
                <a:tc>
                  <a:txBody>
                    <a:bodyPr/>
                    <a:lstStyle/>
                    <a:p>
                      <a:r>
                        <a:rPr lang="en-SG" sz="3200" dirty="0"/>
                        <a:t>Model</a:t>
                      </a:r>
                    </a:p>
                  </a:txBody>
                  <a:tcPr/>
                </a:tc>
                <a:tc>
                  <a:txBody>
                    <a:bodyPr/>
                    <a:lstStyle/>
                    <a:p>
                      <a:r>
                        <a:rPr lang="en-SG" sz="3200" dirty="0"/>
                        <a:t>Formula</a:t>
                      </a:r>
                    </a:p>
                  </a:txBody>
                  <a:tcPr/>
                </a:tc>
                <a:extLst>
                  <a:ext uri="{0D108BD9-81ED-4DB2-BD59-A6C34878D82A}">
                    <a16:rowId xmlns:a16="http://schemas.microsoft.com/office/drawing/2014/main" val="4253211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C00000"/>
                          </a:solidFill>
                          <a:latin typeface="+mn-lt"/>
                          <a:ea typeface="+mn-ea"/>
                        </a:rPr>
                        <a:t>Free Space Propagation Model</a:t>
                      </a:r>
                      <a:endParaRPr lang="en-GB" sz="2400" dirty="0">
                        <a:solidFill>
                          <a:srgbClr val="C00000"/>
                        </a:solidFill>
                        <a:latin typeface="+mn-lt"/>
                      </a:endParaRPr>
                    </a:p>
                    <a:p>
                      <a:endParaRPr lang="en-SG"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ea typeface="Times New Roman" panose="02020603050405020304" pitchFamily="18" charset="0"/>
                          <a:cs typeface="Times New Roman" panose="02020603050405020304" pitchFamily="18" charset="0"/>
                        </a:rPr>
                        <a:t>L</a:t>
                      </a:r>
                      <a:r>
                        <a:rPr lang="en-US" sz="2400" b="0" baseline="-25000" dirty="0">
                          <a:solidFill>
                            <a:schemeClr val="tx1"/>
                          </a:solidFill>
                          <a:ea typeface="Times New Roman" panose="02020603050405020304" pitchFamily="18" charset="0"/>
                          <a:cs typeface="Times New Roman" panose="02020603050405020304" pitchFamily="18" charset="0"/>
                        </a:rPr>
                        <a:t>P</a:t>
                      </a:r>
                      <a:r>
                        <a:rPr lang="en-US" sz="2400" b="0" dirty="0">
                          <a:solidFill>
                            <a:schemeClr val="tx1"/>
                          </a:solidFill>
                          <a:ea typeface="Times New Roman" panose="02020603050405020304" pitchFamily="18" charset="0"/>
                          <a:cs typeface="Times New Roman" panose="02020603050405020304" pitchFamily="18" charset="0"/>
                        </a:rPr>
                        <a:t> (dB) 	= 32.44 + 20 log d (km) + 20 log f (MHz)</a:t>
                      </a:r>
                      <a:endParaRPr lang="en-SG" sz="2400" b="0" dirty="0">
                        <a:solidFill>
                          <a:schemeClr val="tx1"/>
                        </a:solidFill>
                        <a:ea typeface="Times New Roman" panose="02020603050405020304" pitchFamily="18" charset="0"/>
                        <a:cs typeface="Times New Roman" panose="02020603050405020304" pitchFamily="18" charset="0"/>
                      </a:endParaRPr>
                    </a:p>
                    <a:p>
                      <a:endParaRPr lang="en-SG" dirty="0"/>
                    </a:p>
                  </a:txBody>
                  <a:tcPr/>
                </a:tc>
                <a:extLst>
                  <a:ext uri="{0D108BD9-81ED-4DB2-BD59-A6C34878D82A}">
                    <a16:rowId xmlns:a16="http://schemas.microsoft.com/office/drawing/2014/main" val="4134909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C00000"/>
                          </a:solidFill>
                          <a:latin typeface="+mn-lt"/>
                          <a:ea typeface="+mn-ea"/>
                        </a:rPr>
                        <a:t>Okumura’s </a:t>
                      </a:r>
                      <a:r>
                        <a:rPr lang="en-US" altLang="zh-CN" sz="2400" dirty="0" err="1">
                          <a:solidFill>
                            <a:srgbClr val="C00000"/>
                          </a:solidFill>
                          <a:latin typeface="+mn-lt"/>
                          <a:ea typeface="+mn-ea"/>
                        </a:rPr>
                        <a:t>Hata</a:t>
                      </a:r>
                      <a:r>
                        <a:rPr lang="en-US" altLang="zh-CN" sz="2400" dirty="0">
                          <a:solidFill>
                            <a:srgbClr val="C00000"/>
                          </a:solidFill>
                          <a:latin typeface="+mn-lt"/>
                          <a:ea typeface="+mn-ea"/>
                        </a:rPr>
                        <a:t>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C00000"/>
                        </a:solidFill>
                        <a:latin typeface="+mn-lt"/>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C00000"/>
                        </a:solidFill>
                        <a:latin typeface="+mn-lt"/>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srgbClr val="C00000"/>
                        </a:solidFill>
                        <a:latin typeface="+mn-lt"/>
                      </a:endParaRPr>
                    </a:p>
                    <a:p>
                      <a:endParaRPr lang="en-SG"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dirty="0">
                          <a:solidFill>
                            <a:schemeClr val="tx1"/>
                          </a:solidFill>
                          <a:ea typeface="Times New Roman" panose="02020603050405020304" pitchFamily="18" charset="0"/>
                          <a:cs typeface="Arial" panose="020B0604020202020204" pitchFamily="34" charset="0"/>
                        </a:rPr>
                        <a:t>A</a:t>
                      </a:r>
                      <a:r>
                        <a:rPr lang="de-DE" sz="2400" b="0" baseline="-25000" dirty="0">
                          <a:solidFill>
                            <a:schemeClr val="tx1"/>
                          </a:solidFill>
                          <a:ea typeface="Times New Roman" panose="02020603050405020304" pitchFamily="18" charset="0"/>
                          <a:cs typeface="Arial" panose="020B0604020202020204" pitchFamily="34" charset="0"/>
                        </a:rPr>
                        <a:t>­ </a:t>
                      </a:r>
                      <a:r>
                        <a:rPr lang="de-DE" sz="2400" b="0" dirty="0">
                          <a:solidFill>
                            <a:schemeClr val="tx1"/>
                          </a:solidFill>
                          <a:ea typeface="Times New Roman" panose="02020603050405020304" pitchFamily="18" charset="0"/>
                          <a:cs typeface="Arial" panose="020B0604020202020204" pitchFamily="34" charset="0"/>
                        </a:rPr>
                        <a:t>(h</a:t>
                      </a:r>
                      <a:r>
                        <a:rPr lang="de-DE" sz="2400" b="0" baseline="-25000" dirty="0">
                          <a:solidFill>
                            <a:schemeClr val="tx1"/>
                          </a:solidFill>
                          <a:ea typeface="Times New Roman" panose="02020603050405020304" pitchFamily="18" charset="0"/>
                          <a:cs typeface="Arial" panose="020B0604020202020204" pitchFamily="34" charset="0"/>
                        </a:rPr>
                        <a:t>re</a:t>
                      </a:r>
                      <a:r>
                        <a:rPr lang="de-DE" sz="2400" b="0" dirty="0">
                          <a:solidFill>
                            <a:schemeClr val="tx1"/>
                          </a:solidFill>
                          <a:ea typeface="Times New Roman" panose="02020603050405020304" pitchFamily="18" charset="0"/>
                          <a:cs typeface="Arial" panose="020B0604020202020204" pitchFamily="34" charset="0"/>
                        </a:rPr>
                        <a:t>) = 3.2 [log (11.75h</a:t>
                      </a:r>
                      <a:r>
                        <a:rPr lang="de-DE" sz="2400" b="0" baseline="-25000" dirty="0">
                          <a:solidFill>
                            <a:schemeClr val="tx1"/>
                          </a:solidFill>
                          <a:ea typeface="Times New Roman" panose="02020603050405020304" pitchFamily="18" charset="0"/>
                          <a:cs typeface="Arial" panose="020B0604020202020204" pitchFamily="34" charset="0"/>
                        </a:rPr>
                        <a:t>re</a:t>
                      </a:r>
                      <a:r>
                        <a:rPr lang="de-DE" sz="2400" b="0" dirty="0">
                          <a:solidFill>
                            <a:schemeClr val="tx1"/>
                          </a:solidFill>
                          <a:ea typeface="Times New Roman" panose="02020603050405020304" pitchFamily="18" charset="0"/>
                          <a:cs typeface="Arial" panose="020B0604020202020204" pitchFamily="34" charset="0"/>
                        </a:rPr>
                        <a:t>)]</a:t>
                      </a:r>
                      <a:r>
                        <a:rPr lang="de-DE" sz="2400" b="0" baseline="30000" dirty="0">
                          <a:solidFill>
                            <a:schemeClr val="tx1"/>
                          </a:solidFill>
                          <a:ea typeface="Times New Roman" panose="02020603050405020304" pitchFamily="18" charset="0"/>
                          <a:cs typeface="Arial" panose="020B0604020202020204" pitchFamily="34" charset="0"/>
                        </a:rPr>
                        <a:t>2 </a:t>
                      </a:r>
                      <a:r>
                        <a:rPr lang="de-DE" sz="2400" b="0" dirty="0">
                          <a:solidFill>
                            <a:schemeClr val="tx1"/>
                          </a:solidFill>
                          <a:ea typeface="Times New Roman" panose="02020603050405020304" pitchFamily="18" charset="0"/>
                          <a:cs typeface="Arial" panose="020B0604020202020204" pitchFamily="34" charset="0"/>
                        </a:rPr>
                        <a:t>- 4.97 (dB) </a:t>
                      </a:r>
                      <a:endParaRPr lang="en-SG" sz="2400" b="0" dirty="0">
                        <a:solidFill>
                          <a:schemeClr val="tx1"/>
                        </a:solidFill>
                        <a:ea typeface="Times New Roman" panose="02020603050405020304" pitchFamily="18" charset="0"/>
                        <a:cs typeface="Times New Roman" panose="02020603050405020304" pitchFamily="18" charset="0"/>
                      </a:endParaRPr>
                    </a:p>
                    <a:p>
                      <a:endParaRPr lang="en-SG"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2400" b="0" dirty="0">
                          <a:solidFill>
                            <a:schemeClr val="tx1"/>
                          </a:solidFill>
                          <a:ea typeface="Times New Roman" panose="02020603050405020304" pitchFamily="18" charset="0"/>
                          <a:cs typeface="Arial" panose="020B0604020202020204" pitchFamily="34" charset="0"/>
                        </a:rPr>
                        <a:t>L</a:t>
                      </a:r>
                      <a:r>
                        <a:rPr lang="de-DE" sz="2400" b="0" baseline="-25000" dirty="0">
                          <a:solidFill>
                            <a:schemeClr val="tx1"/>
                          </a:solidFill>
                          <a:ea typeface="Times New Roman" panose="02020603050405020304" pitchFamily="18" charset="0"/>
                          <a:cs typeface="Arial" panose="020B0604020202020204" pitchFamily="34" charset="0"/>
                        </a:rPr>
                        <a:t>P</a:t>
                      </a:r>
                      <a:r>
                        <a:rPr lang="de-DE" sz="2400" b="0" dirty="0">
                          <a:solidFill>
                            <a:schemeClr val="tx1"/>
                          </a:solidFill>
                          <a:ea typeface="Times New Roman" panose="02020603050405020304" pitchFamily="18" charset="0"/>
                          <a:cs typeface="Arial" panose="020B0604020202020204" pitchFamily="34" charset="0"/>
                        </a:rPr>
                        <a:t> = 69.55 + 26.16 log f(MHz) – 13.82 log h</a:t>
                      </a:r>
                      <a:r>
                        <a:rPr lang="de-DE" sz="2400" b="0" baseline="-25000" dirty="0">
                          <a:solidFill>
                            <a:schemeClr val="tx1"/>
                          </a:solidFill>
                          <a:ea typeface="Times New Roman" panose="02020603050405020304" pitchFamily="18" charset="0"/>
                          <a:cs typeface="Arial" panose="020B0604020202020204" pitchFamily="34" charset="0"/>
                        </a:rPr>
                        <a:t>te</a:t>
                      </a:r>
                      <a:r>
                        <a:rPr lang="de-DE" sz="2400" b="0" dirty="0">
                          <a:solidFill>
                            <a:schemeClr val="tx1"/>
                          </a:solidFill>
                          <a:ea typeface="Times New Roman" panose="02020603050405020304" pitchFamily="18" charset="0"/>
                          <a:cs typeface="Arial" panose="020B0604020202020204" pitchFamily="34" charset="0"/>
                        </a:rPr>
                        <a:t> – A(h</a:t>
                      </a:r>
                      <a:r>
                        <a:rPr lang="de-DE" sz="2400" b="0" baseline="-25000" dirty="0">
                          <a:solidFill>
                            <a:schemeClr val="tx1"/>
                          </a:solidFill>
                          <a:ea typeface="Times New Roman" panose="02020603050405020304" pitchFamily="18" charset="0"/>
                          <a:cs typeface="Arial" panose="020B0604020202020204" pitchFamily="34" charset="0"/>
                        </a:rPr>
                        <a:t>re</a:t>
                      </a:r>
                      <a:r>
                        <a:rPr lang="de-DE" sz="2400" b="0" dirty="0">
                          <a:solidFill>
                            <a:schemeClr val="tx1"/>
                          </a:solidFill>
                          <a:ea typeface="Times New Roman" panose="02020603050405020304" pitchFamily="18" charset="0"/>
                          <a:cs typeface="Arial" panose="020B0604020202020204" pitchFamily="34" charset="0"/>
                        </a:rPr>
                        <a:t>) + [44.9 – 6.55 log h</a:t>
                      </a:r>
                      <a:r>
                        <a:rPr lang="de-DE" sz="2400" b="0" baseline="-25000" dirty="0">
                          <a:solidFill>
                            <a:schemeClr val="tx1"/>
                          </a:solidFill>
                          <a:ea typeface="Times New Roman" panose="02020603050405020304" pitchFamily="18" charset="0"/>
                          <a:cs typeface="Arial" panose="020B0604020202020204" pitchFamily="34" charset="0"/>
                        </a:rPr>
                        <a:t>te</a:t>
                      </a:r>
                      <a:r>
                        <a:rPr lang="de-DE" sz="2400" b="0" dirty="0">
                          <a:solidFill>
                            <a:schemeClr val="tx1"/>
                          </a:solidFill>
                          <a:ea typeface="Times New Roman" panose="02020603050405020304" pitchFamily="18" charset="0"/>
                          <a:cs typeface="Arial" panose="020B0604020202020204" pitchFamily="34" charset="0"/>
                        </a:rPr>
                        <a:t>] [log d (km)]</a:t>
                      </a:r>
                    </a:p>
                    <a:p>
                      <a:endParaRPr lang="en-SG" dirty="0"/>
                    </a:p>
                  </a:txBody>
                  <a:tcPr/>
                </a:tc>
                <a:extLst>
                  <a:ext uri="{0D108BD9-81ED-4DB2-BD59-A6C34878D82A}">
                    <a16:rowId xmlns:a16="http://schemas.microsoft.com/office/drawing/2014/main" val="3427444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C00000"/>
                          </a:solidFill>
                          <a:latin typeface="+mn-lt"/>
                          <a:ea typeface="+mn-ea"/>
                        </a:rPr>
                        <a:t>Plane Earth Model</a:t>
                      </a:r>
                      <a:endParaRPr lang="en-GB" sz="2400" dirty="0">
                        <a:solidFill>
                          <a:srgbClr val="C00000"/>
                        </a:solidFill>
                        <a:latin typeface="+mn-lt"/>
                      </a:endParaRPr>
                    </a:p>
                    <a:p>
                      <a:endParaRPr lang="en-SG"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ea typeface="Times New Roman" panose="02020603050405020304" pitchFamily="18" charset="0"/>
                          <a:cs typeface="Times New Roman" panose="02020603050405020304" pitchFamily="18" charset="0"/>
                        </a:rPr>
                        <a:t>L (dB) = 120 + 40 log </a:t>
                      </a:r>
                      <a:r>
                        <a:rPr lang="en-US" sz="2400" dirty="0" err="1">
                          <a:ea typeface="Times New Roman" panose="02020603050405020304" pitchFamily="18" charset="0"/>
                          <a:cs typeface="Times New Roman" panose="02020603050405020304" pitchFamily="18" charset="0"/>
                        </a:rPr>
                        <a:t>d</a:t>
                      </a:r>
                      <a:r>
                        <a:rPr lang="en-US" sz="2400" baseline="-25000" dirty="0" err="1">
                          <a:ea typeface="Times New Roman" panose="02020603050405020304" pitchFamily="18" charset="0"/>
                          <a:cs typeface="Times New Roman" panose="02020603050405020304" pitchFamily="18" charset="0"/>
                        </a:rPr>
                        <a:t>km</a:t>
                      </a:r>
                      <a:r>
                        <a:rPr lang="en-US" sz="2400" dirty="0">
                          <a:ea typeface="Times New Roman" panose="02020603050405020304" pitchFamily="18" charset="0"/>
                          <a:cs typeface="Times New Roman" panose="02020603050405020304" pitchFamily="18" charset="0"/>
                        </a:rPr>
                        <a:t> - 20 log[</a:t>
                      </a:r>
                      <a:r>
                        <a:rPr lang="en-US" sz="2400" dirty="0" err="1">
                          <a:ea typeface="Times New Roman" panose="02020603050405020304" pitchFamily="18" charset="0"/>
                          <a:cs typeface="Times New Roman" panose="02020603050405020304" pitchFamily="18" charset="0"/>
                        </a:rPr>
                        <a:t>h</a:t>
                      </a:r>
                      <a:r>
                        <a:rPr lang="en-US" sz="2400" baseline="-25000" dirty="0" err="1">
                          <a:ea typeface="Times New Roman" panose="02020603050405020304" pitchFamily="18" charset="0"/>
                          <a:cs typeface="Times New Roman" panose="02020603050405020304" pitchFamily="18" charset="0"/>
                        </a:rPr>
                        <a:t>r</a:t>
                      </a:r>
                      <a:r>
                        <a:rPr lang="en-US" sz="2400" dirty="0">
                          <a:ea typeface="Times New Roman" panose="02020603050405020304" pitchFamily="18" charset="0"/>
                          <a:cs typeface="Times New Roman" panose="02020603050405020304" pitchFamily="18" charset="0"/>
                        </a:rPr>
                        <a:t>(m)</a:t>
                      </a:r>
                      <a:r>
                        <a:rPr lang="en-US" sz="2400" baseline="-25000" dirty="0">
                          <a:ea typeface="Times New Roman" panose="02020603050405020304" pitchFamily="18" charset="0"/>
                          <a:cs typeface="Times New Roman" panose="02020603050405020304" pitchFamily="18" charset="0"/>
                        </a:rPr>
                        <a:t> </a:t>
                      </a:r>
                      <a:r>
                        <a:rPr lang="en-US" sz="2400" dirty="0" err="1">
                          <a:ea typeface="Times New Roman" panose="02020603050405020304" pitchFamily="18" charset="0"/>
                          <a:cs typeface="Times New Roman" panose="02020603050405020304" pitchFamily="18" charset="0"/>
                        </a:rPr>
                        <a:t>h</a:t>
                      </a:r>
                      <a:r>
                        <a:rPr lang="en-US" sz="2400" baseline="-25000" dirty="0" err="1">
                          <a:ea typeface="Times New Roman" panose="02020603050405020304" pitchFamily="18" charset="0"/>
                          <a:cs typeface="Times New Roman" panose="02020603050405020304" pitchFamily="18" charset="0"/>
                        </a:rPr>
                        <a:t>t</a:t>
                      </a:r>
                      <a:r>
                        <a:rPr lang="en-US" sz="2400" dirty="0">
                          <a:ea typeface="Times New Roman" panose="02020603050405020304" pitchFamily="18" charset="0"/>
                          <a:cs typeface="Times New Roman" panose="02020603050405020304" pitchFamily="18" charset="0"/>
                        </a:rPr>
                        <a:t>(m)]</a:t>
                      </a:r>
                      <a:endParaRPr lang="en-SG" sz="2400" dirty="0">
                        <a:ea typeface="Times New Roman" panose="02020603050405020304" pitchFamily="18" charset="0"/>
                        <a:cs typeface="Times New Roman" panose="02020603050405020304" pitchFamily="18" charset="0"/>
                      </a:endParaRPr>
                    </a:p>
                    <a:p>
                      <a:endParaRPr lang="en-SG" dirty="0"/>
                    </a:p>
                  </a:txBody>
                  <a:tcPr/>
                </a:tc>
                <a:extLst>
                  <a:ext uri="{0D108BD9-81ED-4DB2-BD59-A6C34878D82A}">
                    <a16:rowId xmlns:a16="http://schemas.microsoft.com/office/drawing/2014/main" val="233939302"/>
                  </a:ext>
                </a:extLst>
              </a:tr>
              <a:tr h="370840">
                <a:tc>
                  <a:txBody>
                    <a:bodyPr/>
                    <a:lstStyle/>
                    <a:p>
                      <a:r>
                        <a:rPr lang="en-US" altLang="zh-CN" sz="2400" dirty="0">
                          <a:solidFill>
                            <a:srgbClr val="C00000"/>
                          </a:solidFill>
                          <a:latin typeface="+mn-lt"/>
                          <a:ea typeface="+mn-ea"/>
                        </a:rPr>
                        <a:t>Link Budget </a:t>
                      </a:r>
                      <a:endParaRPr lang="en-SG"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P</a:t>
                      </a:r>
                      <a:r>
                        <a:rPr lang="en-US" sz="2400" b="0" baseline="-25000" dirty="0">
                          <a:solidFill>
                            <a:schemeClr val="tx1"/>
                          </a:solidFill>
                        </a:rPr>
                        <a:t>t</a:t>
                      </a:r>
                      <a:r>
                        <a:rPr lang="en-US" sz="2400" b="0" dirty="0">
                          <a:solidFill>
                            <a:schemeClr val="tx1"/>
                          </a:solidFill>
                        </a:rPr>
                        <a:t> – L</a:t>
                      </a:r>
                      <a:r>
                        <a:rPr lang="en-US" sz="2400" b="0" baseline="-25000" dirty="0">
                          <a:solidFill>
                            <a:schemeClr val="tx1"/>
                          </a:solidFill>
                        </a:rPr>
                        <a:t>f</a:t>
                      </a:r>
                      <a:r>
                        <a:rPr lang="en-US" sz="2400" b="0" dirty="0">
                          <a:solidFill>
                            <a:schemeClr val="tx1"/>
                          </a:solidFill>
                        </a:rPr>
                        <a:t> + G</a:t>
                      </a:r>
                      <a:r>
                        <a:rPr lang="en-US" sz="2400" b="0" baseline="-25000" dirty="0">
                          <a:solidFill>
                            <a:schemeClr val="tx1"/>
                          </a:solidFill>
                        </a:rPr>
                        <a:t>t</a:t>
                      </a:r>
                      <a:r>
                        <a:rPr lang="en-US" sz="2400" b="0" dirty="0">
                          <a:solidFill>
                            <a:schemeClr val="tx1"/>
                          </a:solidFill>
                        </a:rPr>
                        <a:t> – </a:t>
                      </a:r>
                      <a:r>
                        <a:rPr lang="en-US" sz="2400" b="0" dirty="0" err="1">
                          <a:solidFill>
                            <a:schemeClr val="tx1"/>
                          </a:solidFill>
                        </a:rPr>
                        <a:t>L</a:t>
                      </a:r>
                      <a:r>
                        <a:rPr lang="en-US" sz="2400" b="0" baseline="-25000" dirty="0" err="1">
                          <a:solidFill>
                            <a:schemeClr val="tx1"/>
                          </a:solidFill>
                        </a:rPr>
                        <a:t>p</a:t>
                      </a:r>
                      <a:r>
                        <a:rPr lang="en-US" sz="2400" b="0" dirty="0">
                          <a:solidFill>
                            <a:schemeClr val="tx1"/>
                          </a:solidFill>
                        </a:rPr>
                        <a:t> - FM + G</a:t>
                      </a:r>
                      <a:r>
                        <a:rPr lang="en-US" sz="2400" b="0" baseline="-25000" dirty="0">
                          <a:solidFill>
                            <a:schemeClr val="tx1"/>
                          </a:solidFill>
                        </a:rPr>
                        <a:t>R</a:t>
                      </a:r>
                      <a:r>
                        <a:rPr lang="en-US" sz="2400" b="0" dirty="0">
                          <a:solidFill>
                            <a:schemeClr val="tx1"/>
                          </a:solidFill>
                        </a:rPr>
                        <a:t> – L</a:t>
                      </a:r>
                      <a:r>
                        <a:rPr lang="en-US" sz="2400" b="0" baseline="-25000" dirty="0">
                          <a:solidFill>
                            <a:schemeClr val="tx1"/>
                          </a:solidFill>
                        </a:rPr>
                        <a:t>f</a:t>
                      </a:r>
                      <a:r>
                        <a:rPr lang="en-US" sz="2400" b="0" dirty="0">
                          <a:solidFill>
                            <a:schemeClr val="tx1"/>
                          </a:solidFill>
                        </a:rPr>
                        <a:t> = P</a:t>
                      </a:r>
                      <a:r>
                        <a:rPr lang="en-US" sz="2400" b="0" baseline="-25000" dirty="0">
                          <a:solidFill>
                            <a:schemeClr val="tx1"/>
                          </a:solidFill>
                        </a:rPr>
                        <a:t>R </a:t>
                      </a:r>
                    </a:p>
                    <a:p>
                      <a:endParaRPr lang="en-SG" dirty="0"/>
                    </a:p>
                  </a:txBody>
                  <a:tcPr/>
                </a:tc>
                <a:extLst>
                  <a:ext uri="{0D108BD9-81ED-4DB2-BD59-A6C34878D82A}">
                    <a16:rowId xmlns:a16="http://schemas.microsoft.com/office/drawing/2014/main" val="2622402796"/>
                  </a:ext>
                </a:extLst>
              </a:tr>
            </a:tbl>
          </a:graphicData>
        </a:graphic>
      </p:graphicFrame>
      <p:sp>
        <p:nvSpPr>
          <p:cNvPr id="9" name="Title 1"/>
          <p:cNvSpPr txBox="1">
            <a:spLocks/>
          </p:cNvSpPr>
          <p:nvPr/>
        </p:nvSpPr>
        <p:spPr>
          <a:xfrm>
            <a:off x="919665" y="0"/>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Propagation Path Loss Models</a:t>
            </a:r>
          </a:p>
          <a:p>
            <a:pPr fontAlgn="auto">
              <a:spcAft>
                <a:spcPts val="0"/>
              </a:spcAft>
            </a:pPr>
            <a:r>
              <a:rPr lang="en-SG" sz="2400" b="1" dirty="0">
                <a:solidFill>
                  <a:srgbClr val="C00000"/>
                </a:solidFill>
                <a:latin typeface="Arial Black" panose="020B0A04020102020204" pitchFamily="34" charset="0"/>
              </a:rPr>
              <a:t>Link Performance Analysis – Useful Formula</a:t>
            </a:r>
          </a:p>
        </p:txBody>
      </p:sp>
      <p:sp>
        <p:nvSpPr>
          <p:cNvPr id="8" name="Rectangle 7">
            <a:extLst>
              <a:ext uri="{FF2B5EF4-FFF2-40B4-BE49-F238E27FC236}">
                <a16:creationId xmlns:a16="http://schemas.microsoft.com/office/drawing/2014/main" id="{384214BC-09CC-4A3E-8DAC-EED47C5171A4}"/>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2" name="Pg43">
            <a:hlinkClick r:id="" action="ppaction://media"/>
            <a:extLst>
              <a:ext uri="{FF2B5EF4-FFF2-40B4-BE49-F238E27FC236}">
                <a16:creationId xmlns:a16="http://schemas.microsoft.com/office/drawing/2014/main" id="{CF226273-5229-4CBD-AB97-22562104474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848002" y="5793472"/>
            <a:ext cx="609600" cy="609600"/>
          </a:xfrm>
          <a:prstGeom prst="rect">
            <a:avLst/>
          </a:prstGeom>
        </p:spPr>
      </p:pic>
      <p:sp>
        <p:nvSpPr>
          <p:cNvPr id="3" name="Rectangle 2">
            <a:extLst>
              <a:ext uri="{FF2B5EF4-FFF2-40B4-BE49-F238E27FC236}">
                <a16:creationId xmlns:a16="http://schemas.microsoft.com/office/drawing/2014/main" id="{FD715F3F-121C-98CC-C1E3-5B4B04794000}"/>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82047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593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Homework</a:t>
            </a:r>
            <a:endParaRPr lang="en-SG" sz="2400" b="1" dirty="0">
              <a:solidFill>
                <a:srgbClr val="C00000"/>
              </a:solidFill>
              <a:latin typeface="Arial Black" panose="020B0A04020102020204" pitchFamily="34" charset="0"/>
            </a:endParaRPr>
          </a:p>
        </p:txBody>
      </p:sp>
      <p:sp>
        <p:nvSpPr>
          <p:cNvPr id="13" name="Rectangle 12">
            <a:extLst>
              <a:ext uri="{FF2B5EF4-FFF2-40B4-BE49-F238E27FC236}">
                <a16:creationId xmlns:a16="http://schemas.microsoft.com/office/drawing/2014/main" id="{298E2755-A021-4693-8A73-0E774C582339}"/>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pic>
        <p:nvPicPr>
          <p:cNvPr id="6" name="Pg26">
            <a:hlinkClick r:id="" action="ppaction://media"/>
            <a:extLst>
              <a:ext uri="{FF2B5EF4-FFF2-40B4-BE49-F238E27FC236}">
                <a16:creationId xmlns:a16="http://schemas.microsoft.com/office/drawing/2014/main" id="{DF93316B-15B3-4A27-9D05-2ABB47F82DB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018426" y="5865968"/>
            <a:ext cx="609600" cy="609600"/>
          </a:xfrm>
          <a:prstGeom prst="rect">
            <a:avLst/>
          </a:prstGeom>
        </p:spPr>
      </p:pic>
      <p:sp>
        <p:nvSpPr>
          <p:cNvPr id="2" name="Rectangle 1">
            <a:extLst>
              <a:ext uri="{FF2B5EF4-FFF2-40B4-BE49-F238E27FC236}">
                <a16:creationId xmlns:a16="http://schemas.microsoft.com/office/drawing/2014/main" id="{F09B1376-1748-47AA-8388-253C8F971076}"/>
              </a:ext>
            </a:extLst>
          </p:cNvPr>
          <p:cNvSpPr/>
          <p:nvPr/>
        </p:nvSpPr>
        <p:spPr>
          <a:xfrm>
            <a:off x="1151349" y="1200685"/>
            <a:ext cx="10239671" cy="4154984"/>
          </a:xfrm>
          <a:prstGeom prst="rect">
            <a:avLst/>
          </a:prstGeom>
        </p:spPr>
        <p:txBody>
          <a:bodyPr wrap="square">
            <a:spAutoFit/>
          </a:bodyPr>
          <a:lstStyle/>
          <a:p>
            <a:pPr marR="0" lvl="0" algn="just">
              <a:spcBef>
                <a:spcPts val="0"/>
              </a:spcBef>
              <a:spcAft>
                <a:spcPts val="0"/>
              </a:spcAft>
              <a:tabLst>
                <a:tab pos="450215" algn="l"/>
              </a:tabLst>
            </a:pPr>
            <a:r>
              <a:rPr lang="en-US" sz="2400" dirty="0">
                <a:ea typeface="Times New Roman" panose="02020603050405020304" pitchFamily="18" charset="0"/>
                <a:cs typeface="Times New Roman" panose="02020603050405020304" pitchFamily="18" charset="0"/>
              </a:rPr>
              <a:t>A RF engineer is tasked to set up a base station within a cell radius d = 2 km in a new town. The operator team has provided the following parameters:</a:t>
            </a:r>
          </a:p>
          <a:p>
            <a:pPr marL="685800" marR="0" algn="just">
              <a:spcBef>
                <a:spcPts val="0"/>
              </a:spcBef>
              <a:spcAft>
                <a:spcPts val="0"/>
              </a:spcAft>
            </a:pPr>
            <a:r>
              <a:rPr lang="en-US" sz="2400" dirty="0">
                <a:ea typeface="Times New Roman" panose="02020603050405020304" pitchFamily="18" charset="0"/>
                <a:cs typeface="Times New Roman" panose="02020603050405020304" pitchFamily="18" charset="0"/>
              </a:rPr>
              <a:t> </a:t>
            </a:r>
          </a:p>
          <a:p>
            <a:pPr marL="742950" marR="0" lvl="1" indent="-285750" algn="just">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Frequency of operation = 920 MHz</a:t>
            </a:r>
          </a:p>
          <a:p>
            <a:pPr marL="742950" marR="0" lvl="1" indent="-285750">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Base Station feeder loss, L</a:t>
            </a:r>
            <a:r>
              <a:rPr lang="en-US" sz="2400" baseline="-25000" dirty="0">
                <a:ea typeface="Times New Roman" panose="02020603050405020304" pitchFamily="18" charset="0"/>
                <a:cs typeface="Times New Roman" panose="02020603050405020304" pitchFamily="18" charset="0"/>
              </a:rPr>
              <a:t>F</a:t>
            </a:r>
            <a:r>
              <a:rPr lang="en-US" sz="2400" dirty="0">
                <a:ea typeface="Times New Roman" panose="02020603050405020304" pitchFamily="18" charset="0"/>
                <a:cs typeface="Times New Roman" panose="02020603050405020304" pitchFamily="18" charset="0"/>
              </a:rPr>
              <a:t> = 2 dB</a:t>
            </a:r>
          </a:p>
          <a:p>
            <a:pPr marL="742950" marR="0" lvl="1" indent="-285750" algn="just">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Base station transmitting antenna gain, G</a:t>
            </a:r>
            <a:r>
              <a:rPr lang="en-US" sz="2400" baseline="-25000" dirty="0">
                <a:ea typeface="Times New Roman" panose="02020603050405020304" pitchFamily="18" charset="0"/>
                <a:cs typeface="Times New Roman" panose="02020603050405020304" pitchFamily="18" charset="0"/>
              </a:rPr>
              <a:t>T</a:t>
            </a:r>
            <a:r>
              <a:rPr lang="en-US" sz="2400" dirty="0">
                <a:ea typeface="Times New Roman" panose="02020603050405020304" pitchFamily="18" charset="0"/>
                <a:cs typeface="Times New Roman" panose="02020603050405020304" pitchFamily="18" charset="0"/>
              </a:rPr>
              <a:t> = 10 dB</a:t>
            </a:r>
          </a:p>
          <a:p>
            <a:pPr marL="742950" marR="0" lvl="1" indent="-285750" algn="just">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Height of Base station, </a:t>
            </a:r>
            <a:r>
              <a:rPr lang="en-US" sz="2400" dirty="0" err="1">
                <a:ea typeface="Times New Roman" panose="02020603050405020304" pitchFamily="18" charset="0"/>
                <a:cs typeface="Times New Roman" panose="02020603050405020304" pitchFamily="18" charset="0"/>
              </a:rPr>
              <a:t>h</a:t>
            </a:r>
            <a:r>
              <a:rPr lang="en-US" sz="2400" baseline="-25000" dirty="0" err="1">
                <a:ea typeface="Times New Roman" panose="02020603050405020304" pitchFamily="18" charset="0"/>
                <a:cs typeface="Times New Roman" panose="02020603050405020304" pitchFamily="18" charset="0"/>
              </a:rPr>
              <a:t>T</a:t>
            </a:r>
            <a:r>
              <a:rPr lang="en-US" sz="2400" dirty="0">
                <a:ea typeface="Times New Roman" panose="02020603050405020304" pitchFamily="18" charset="0"/>
                <a:cs typeface="Times New Roman" panose="02020603050405020304" pitchFamily="18" charset="0"/>
              </a:rPr>
              <a:t> = 40 m</a:t>
            </a:r>
          </a:p>
          <a:p>
            <a:pPr marL="742950" marR="0" lvl="1" indent="-285750" algn="just">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Mobile station sensitivity, P</a:t>
            </a:r>
            <a:r>
              <a:rPr lang="en-US" sz="2400" baseline="-25000" dirty="0">
                <a:ea typeface="Times New Roman" panose="02020603050405020304" pitchFamily="18" charset="0"/>
                <a:cs typeface="Times New Roman" panose="02020603050405020304" pitchFamily="18" charset="0"/>
              </a:rPr>
              <a:t>R</a:t>
            </a:r>
            <a:r>
              <a:rPr lang="en-US" sz="2400" dirty="0">
                <a:ea typeface="Times New Roman" panose="02020603050405020304" pitchFamily="18" charset="0"/>
                <a:cs typeface="Times New Roman" panose="02020603050405020304" pitchFamily="18" charset="0"/>
              </a:rPr>
              <a:t> = -113 dBm</a:t>
            </a:r>
          </a:p>
          <a:p>
            <a:pPr marL="742950" marR="0" lvl="1" indent="-285750" algn="just">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Mobile station receiving antenna gain, G</a:t>
            </a:r>
            <a:r>
              <a:rPr lang="en-US" sz="2400" baseline="-25000" dirty="0">
                <a:ea typeface="Times New Roman" panose="02020603050405020304" pitchFamily="18" charset="0"/>
                <a:cs typeface="Times New Roman" panose="02020603050405020304" pitchFamily="18" charset="0"/>
              </a:rPr>
              <a:t>R</a:t>
            </a:r>
            <a:r>
              <a:rPr lang="en-US" sz="2400" dirty="0">
                <a:ea typeface="Times New Roman" panose="02020603050405020304" pitchFamily="18" charset="0"/>
                <a:cs typeface="Times New Roman" panose="02020603050405020304" pitchFamily="18" charset="0"/>
              </a:rPr>
              <a:t> = 3 dB</a:t>
            </a:r>
          </a:p>
          <a:p>
            <a:pPr marL="742950" marR="0" lvl="1" indent="-285750" algn="just">
              <a:spcBef>
                <a:spcPts val="0"/>
              </a:spcBef>
              <a:spcAft>
                <a:spcPts val="0"/>
              </a:spcAft>
              <a:buFont typeface="Symbol" panose="05050102010706020507" pitchFamily="18" charset="2"/>
              <a:buChar char=""/>
              <a:tabLst>
                <a:tab pos="914400" algn="l"/>
              </a:tabLst>
            </a:pPr>
            <a:r>
              <a:rPr lang="en-US" sz="2400" dirty="0">
                <a:ea typeface="Times New Roman" panose="02020603050405020304" pitchFamily="18" charset="0"/>
                <a:cs typeface="Times New Roman" panose="02020603050405020304" pitchFamily="18" charset="0"/>
              </a:rPr>
              <a:t>Height of Mobile station, </a:t>
            </a:r>
            <a:r>
              <a:rPr lang="en-US" sz="2400" dirty="0" err="1">
                <a:ea typeface="Times New Roman" panose="02020603050405020304" pitchFamily="18" charset="0"/>
                <a:cs typeface="Times New Roman" panose="02020603050405020304" pitchFamily="18" charset="0"/>
              </a:rPr>
              <a:t>h</a:t>
            </a:r>
            <a:r>
              <a:rPr lang="en-US" sz="2400" baseline="-25000" dirty="0" err="1">
                <a:ea typeface="Times New Roman" panose="02020603050405020304" pitchFamily="18" charset="0"/>
                <a:cs typeface="Times New Roman" panose="02020603050405020304" pitchFamily="18" charset="0"/>
              </a:rPr>
              <a:t>R</a:t>
            </a:r>
            <a:r>
              <a:rPr lang="en-US" sz="2400" dirty="0">
                <a:ea typeface="Times New Roman" panose="02020603050405020304" pitchFamily="18" charset="0"/>
                <a:cs typeface="Times New Roman" panose="02020603050405020304" pitchFamily="18" charset="0"/>
              </a:rPr>
              <a:t> = 2 m</a:t>
            </a:r>
          </a:p>
          <a:p>
            <a:pPr marL="685800" marR="0" algn="just">
              <a:spcBef>
                <a:spcPts val="0"/>
              </a:spcBef>
              <a:spcAft>
                <a:spcPts val="0"/>
              </a:spcAft>
            </a:pPr>
            <a:endParaRPr lang="en-US" sz="2400" dirty="0">
              <a:ea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A1C8F45-A672-C1A6-1202-C6AF64324CEE}"/>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2498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78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875420" y="-33466"/>
            <a:ext cx="10515600" cy="1038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SG" sz="3600" b="1" dirty="0">
                <a:solidFill>
                  <a:srgbClr val="C00000"/>
                </a:solidFill>
                <a:latin typeface="+mn-lt"/>
              </a:rPr>
              <a:t>Homework</a:t>
            </a:r>
            <a:endParaRPr lang="en-SG" sz="2400" b="1" dirty="0">
              <a:solidFill>
                <a:srgbClr val="C00000"/>
              </a:solidFill>
              <a:latin typeface="Arial Black" panose="020B0A04020102020204" pitchFamily="34" charset="0"/>
            </a:endParaRPr>
          </a:p>
        </p:txBody>
      </p:sp>
      <p:sp>
        <p:nvSpPr>
          <p:cNvPr id="13" name="Rectangle 12">
            <a:extLst>
              <a:ext uri="{FF2B5EF4-FFF2-40B4-BE49-F238E27FC236}">
                <a16:creationId xmlns:a16="http://schemas.microsoft.com/office/drawing/2014/main" id="{298E2755-A021-4693-8A73-0E774C582339}"/>
              </a:ext>
            </a:extLst>
          </p:cNvPr>
          <p:cNvSpPr/>
          <p:nvPr/>
        </p:nvSpPr>
        <p:spPr>
          <a:xfrm>
            <a:off x="-241011" y="6318610"/>
            <a:ext cx="3090013" cy="523220"/>
          </a:xfrm>
          <a:prstGeom prst="rect">
            <a:avLst/>
          </a:prstGeom>
        </p:spPr>
        <p:txBody>
          <a:bodyPr wrap="none">
            <a:spAutoFit/>
          </a:bodyPr>
          <a:lstStyle/>
          <a:p>
            <a:pPr lvl="1"/>
            <a:r>
              <a:rPr lang="en-SG" sz="1200" dirty="0"/>
              <a:t>2.2 Radio Propagation and Link Budget </a:t>
            </a:r>
            <a:endParaRPr lang="en-US" sz="1200" dirty="0"/>
          </a:p>
          <a:p>
            <a:pPr lvl="1"/>
            <a:endParaRPr lang="en-SG" sz="1600" dirty="0"/>
          </a:p>
        </p:txBody>
      </p:sp>
      <p:sp>
        <p:nvSpPr>
          <p:cNvPr id="3" name="Rectangle 2">
            <a:extLst>
              <a:ext uri="{FF2B5EF4-FFF2-40B4-BE49-F238E27FC236}">
                <a16:creationId xmlns:a16="http://schemas.microsoft.com/office/drawing/2014/main" id="{4C90ED71-3FCB-4043-A636-DF2F2DAED065}"/>
              </a:ext>
            </a:extLst>
          </p:cNvPr>
          <p:cNvSpPr/>
          <p:nvPr/>
        </p:nvSpPr>
        <p:spPr>
          <a:xfrm>
            <a:off x="875420" y="1185066"/>
            <a:ext cx="9671422" cy="3785652"/>
          </a:xfrm>
          <a:prstGeom prst="rect">
            <a:avLst/>
          </a:prstGeom>
        </p:spPr>
        <p:txBody>
          <a:bodyPr wrap="square">
            <a:spAutoFit/>
          </a:bodyPr>
          <a:lstStyle/>
          <a:p>
            <a:pPr marR="0" lvl="1" algn="just">
              <a:spcBef>
                <a:spcPts val="0"/>
              </a:spcBef>
              <a:spcAft>
                <a:spcPts val="0"/>
              </a:spcAft>
              <a:tabLst>
                <a:tab pos="914400" algn="l"/>
              </a:tabLst>
            </a:pPr>
            <a:r>
              <a:rPr lang="en-US" sz="2400" dirty="0">
                <a:ea typeface="Times New Roman" panose="02020603050405020304" pitchFamily="18" charset="0"/>
                <a:cs typeface="Calibri" panose="020F0502020204030204" pitchFamily="34" charset="0"/>
              </a:rPr>
              <a:t>1) The required fade margin for 99% reliability.</a:t>
            </a:r>
          </a:p>
          <a:p>
            <a:pPr marL="1170305" marR="0" algn="r">
              <a:spcBef>
                <a:spcPts val="0"/>
              </a:spcBef>
              <a:spcAft>
                <a:spcPts val="0"/>
              </a:spcAft>
            </a:pPr>
            <a:r>
              <a:rPr lang="en-US" sz="2400" dirty="0">
                <a:ea typeface="Times New Roman" panose="02020603050405020304" pitchFamily="18" charset="0"/>
                <a:cs typeface="Times New Roman" panose="02020603050405020304" pitchFamily="18" charset="0"/>
              </a:rPr>
              <a:t>			</a:t>
            </a:r>
          </a:p>
          <a:p>
            <a:pPr marL="1170305" marR="0" algn="r">
              <a:spcBef>
                <a:spcPts val="0"/>
              </a:spcBef>
              <a:spcAft>
                <a:spcPts val="0"/>
              </a:spcAft>
            </a:pPr>
            <a:r>
              <a:rPr lang="en-US" sz="2400" dirty="0">
                <a:ea typeface="Times New Roman" panose="02020603050405020304" pitchFamily="18" charset="0"/>
                <a:cs typeface="Times New Roman" panose="02020603050405020304" pitchFamily="18" charset="0"/>
              </a:rPr>
              <a:t> </a:t>
            </a:r>
          </a:p>
          <a:p>
            <a:pPr marR="0" lvl="1" algn="just">
              <a:spcBef>
                <a:spcPts val="0"/>
              </a:spcBef>
              <a:spcAft>
                <a:spcPts val="0"/>
              </a:spcAft>
              <a:tabLst>
                <a:tab pos="914400" algn="l"/>
              </a:tabLst>
            </a:pPr>
            <a:r>
              <a:rPr lang="en-US" sz="2400" dirty="0">
                <a:ea typeface="Times New Roman" panose="02020603050405020304" pitchFamily="18" charset="0"/>
                <a:cs typeface="Calibri" panose="020F0502020204030204" pitchFamily="34" charset="0"/>
              </a:rPr>
              <a:t>2) Write down the system equation in terms of the given parameters.</a:t>
            </a:r>
          </a:p>
          <a:p>
            <a:pPr marL="900430" marR="0">
              <a:spcBef>
                <a:spcPts val="0"/>
              </a:spcBef>
              <a:spcAft>
                <a:spcPts val="0"/>
              </a:spcAft>
            </a:pPr>
            <a:r>
              <a:rPr lang="en-US" sz="2400" baseline="-25000" dirty="0">
                <a:ea typeface="Times New Roman" panose="02020603050405020304" pitchFamily="18" charset="0"/>
                <a:cs typeface="Times New Roman" panose="02020603050405020304" pitchFamily="18" charset="0"/>
              </a:rPr>
              <a:t>		</a:t>
            </a:r>
            <a:endParaRPr lang="en-US" sz="2400" dirty="0">
              <a:ea typeface="Times New Roman" panose="02020603050405020304" pitchFamily="18" charset="0"/>
              <a:cs typeface="Times New Roman" panose="02020603050405020304" pitchFamily="18" charset="0"/>
            </a:endParaRPr>
          </a:p>
          <a:p>
            <a:pPr marL="1170305" marR="0" algn="just">
              <a:spcBef>
                <a:spcPts val="0"/>
              </a:spcBef>
              <a:spcAft>
                <a:spcPts val="0"/>
              </a:spcAft>
            </a:pPr>
            <a:r>
              <a:rPr lang="en-US" sz="2400" dirty="0">
                <a:ea typeface="Times New Roman" panose="02020603050405020304" pitchFamily="18" charset="0"/>
                <a:cs typeface="Times New Roman" panose="02020603050405020304" pitchFamily="18" charset="0"/>
              </a:rPr>
              <a:t> </a:t>
            </a:r>
          </a:p>
          <a:p>
            <a:pPr marR="0" lvl="1" algn="just">
              <a:spcBef>
                <a:spcPts val="0"/>
              </a:spcBef>
              <a:spcAft>
                <a:spcPts val="0"/>
              </a:spcAft>
              <a:tabLst>
                <a:tab pos="914400" algn="l"/>
              </a:tabLst>
            </a:pPr>
            <a:r>
              <a:rPr lang="en-US" sz="2400" dirty="0">
                <a:ea typeface="Times New Roman" panose="02020603050405020304" pitchFamily="18" charset="0"/>
                <a:cs typeface="Calibri" panose="020F0502020204030204" pitchFamily="34" charset="0"/>
              </a:rPr>
              <a:t>3) The path loss, </a:t>
            </a:r>
            <a:r>
              <a:rPr lang="en-US" sz="2400" dirty="0" err="1">
                <a:ea typeface="Times New Roman" panose="02020603050405020304" pitchFamily="18" charset="0"/>
                <a:cs typeface="Calibri" panose="020F0502020204030204" pitchFamily="34" charset="0"/>
              </a:rPr>
              <a:t>L</a:t>
            </a:r>
            <a:r>
              <a:rPr lang="en-US" sz="2400" baseline="-25000" dirty="0" err="1">
                <a:ea typeface="Times New Roman" panose="02020603050405020304" pitchFamily="18" charset="0"/>
                <a:cs typeface="Calibri" panose="020F0502020204030204" pitchFamily="34" charset="0"/>
              </a:rPr>
              <a:t>p</a:t>
            </a:r>
            <a:r>
              <a:rPr lang="en-US" sz="2400" dirty="0">
                <a:ea typeface="Times New Roman" panose="02020603050405020304" pitchFamily="18" charset="0"/>
                <a:cs typeface="Calibri" panose="020F0502020204030204" pitchFamily="34" charset="0"/>
              </a:rPr>
              <a:t>, using Okumura </a:t>
            </a:r>
            <a:r>
              <a:rPr lang="en-US" sz="2400" dirty="0" err="1">
                <a:ea typeface="Times New Roman" panose="02020603050405020304" pitchFamily="18" charset="0"/>
                <a:cs typeface="Calibri" panose="020F0502020204030204" pitchFamily="34" charset="0"/>
              </a:rPr>
              <a:t>Hata</a:t>
            </a:r>
            <a:r>
              <a:rPr lang="en-US" sz="2400" dirty="0">
                <a:ea typeface="Times New Roman" panose="02020603050405020304" pitchFamily="18" charset="0"/>
                <a:cs typeface="Calibri" panose="020F0502020204030204" pitchFamily="34" charset="0"/>
              </a:rPr>
              <a:t> Model.</a:t>
            </a:r>
          </a:p>
          <a:p>
            <a:pPr marL="900430" marR="0">
              <a:spcBef>
                <a:spcPts val="0"/>
              </a:spcBef>
              <a:spcAft>
                <a:spcPts val="0"/>
              </a:spcAft>
              <a:tabLst>
                <a:tab pos="900430" algn="l"/>
              </a:tabLst>
            </a:pPr>
            <a:r>
              <a:rPr lang="en-US" sz="2400" dirty="0">
                <a:ea typeface="Times New Roman" panose="02020603050405020304" pitchFamily="18" charset="0"/>
                <a:cs typeface="Times New Roman" panose="02020603050405020304" pitchFamily="18" charset="0"/>
              </a:rPr>
              <a:t>			</a:t>
            </a:r>
          </a:p>
          <a:p>
            <a:pPr marL="1170305" marR="0" algn="r">
              <a:spcBef>
                <a:spcPts val="0"/>
              </a:spcBef>
              <a:spcAft>
                <a:spcPts val="0"/>
              </a:spcAft>
            </a:pPr>
            <a:r>
              <a:rPr lang="en-US" sz="2400" dirty="0">
                <a:ea typeface="Times New Roman" panose="02020603050405020304" pitchFamily="18" charset="0"/>
                <a:cs typeface="Times New Roman" panose="02020603050405020304" pitchFamily="18" charset="0"/>
              </a:rPr>
              <a:t> </a:t>
            </a:r>
          </a:p>
          <a:p>
            <a:pPr marR="0" lvl="1" algn="just">
              <a:spcBef>
                <a:spcPts val="0"/>
              </a:spcBef>
              <a:spcAft>
                <a:spcPts val="0"/>
              </a:spcAft>
              <a:tabLst>
                <a:tab pos="914400" algn="l"/>
              </a:tabLst>
            </a:pPr>
            <a:r>
              <a:rPr lang="en-US" sz="2400" dirty="0">
                <a:ea typeface="Times New Roman" panose="02020603050405020304" pitchFamily="18" charset="0"/>
                <a:cs typeface="Calibri" panose="020F0502020204030204" pitchFamily="34" charset="0"/>
              </a:rPr>
              <a:t>4) The required Base station transmitter power P</a:t>
            </a:r>
            <a:r>
              <a:rPr lang="en-US" sz="2400" baseline="-25000" dirty="0">
                <a:ea typeface="Times New Roman" panose="02020603050405020304" pitchFamily="18" charset="0"/>
                <a:cs typeface="Calibri" panose="020F0502020204030204" pitchFamily="34" charset="0"/>
              </a:rPr>
              <a:t>T</a:t>
            </a:r>
            <a:r>
              <a:rPr lang="en-US" sz="2400" dirty="0">
                <a:ea typeface="Times New Roman" panose="02020603050405020304" pitchFamily="18" charset="0"/>
                <a:cs typeface="Calibri" panose="020F0502020204030204" pitchFamily="34" charset="0"/>
              </a:rPr>
              <a:t>.</a:t>
            </a:r>
            <a:endParaRPr lang="en-US" sz="2400" dirty="0">
              <a:effectLst/>
              <a:ea typeface="Times New Roman" panose="02020603050405020304" pitchFamily="18" charset="0"/>
              <a:cs typeface="Calibri" panose="020F0502020204030204" pitchFamily="34" charset="0"/>
            </a:endParaRPr>
          </a:p>
        </p:txBody>
      </p:sp>
      <p:sp>
        <p:nvSpPr>
          <p:cNvPr id="2" name="Rectangle 1">
            <a:extLst>
              <a:ext uri="{FF2B5EF4-FFF2-40B4-BE49-F238E27FC236}">
                <a16:creationId xmlns:a16="http://schemas.microsoft.com/office/drawing/2014/main" id="{A64B4227-327A-8110-C6C3-ED5EE732AE27}"/>
              </a:ext>
            </a:extLst>
          </p:cNvPr>
          <p:cNvSpPr/>
          <p:nvPr/>
        </p:nvSpPr>
        <p:spPr>
          <a:xfrm>
            <a:off x="0" y="16170"/>
            <a:ext cx="800980" cy="212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82472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883268" y="891425"/>
            <a:ext cx="9650415" cy="9906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endParaRPr lang="en-US" sz="3600" b="1" dirty="0">
              <a:solidFill>
                <a:srgbClr val="C00000"/>
              </a:solidFill>
            </a:endParaRPr>
          </a:p>
        </p:txBody>
      </p:sp>
      <p:sp>
        <p:nvSpPr>
          <p:cNvPr id="7" name="Rectangle 6">
            <a:extLst>
              <a:ext uri="{FF2B5EF4-FFF2-40B4-BE49-F238E27FC236}">
                <a16:creationId xmlns:a16="http://schemas.microsoft.com/office/drawing/2014/main" id="{21D88621-BFD5-4167-A859-84DBDA46622A}"/>
              </a:ext>
            </a:extLst>
          </p:cNvPr>
          <p:cNvSpPr/>
          <p:nvPr/>
        </p:nvSpPr>
        <p:spPr>
          <a:xfrm>
            <a:off x="4183201" y="1454940"/>
            <a:ext cx="3825598" cy="2123658"/>
          </a:xfrm>
          <a:prstGeom prst="rect">
            <a:avLst/>
          </a:prstGeom>
          <a:noFill/>
        </p:spPr>
        <p:txBody>
          <a:bodyPr wrap="none" lIns="91440" tIns="45720" rIns="91440" bIns="45720">
            <a:spAutoFit/>
          </a:bodyPr>
          <a:lstStyle/>
          <a:p>
            <a:pPr algn="ctr"/>
            <a:r>
              <a:rPr lang="en-SG" sz="6600" b="1" dirty="0">
                <a:ln w="22225">
                  <a:solidFill>
                    <a:schemeClr val="accent2"/>
                  </a:solidFill>
                  <a:prstDash val="solid"/>
                </a:ln>
                <a:solidFill>
                  <a:schemeClr val="accent2">
                    <a:lumMod val="40000"/>
                    <a:lumOff val="60000"/>
                  </a:schemeClr>
                </a:solidFill>
                <a:cs typeface="Calibri" panose="020F0502020204030204" pitchFamily="34" charset="0"/>
              </a:rPr>
              <a:t>Thank you</a:t>
            </a:r>
          </a:p>
          <a:p>
            <a:pPr algn="ctr"/>
            <a:endParaRPr lang="en-SG" sz="6600" b="1" dirty="0">
              <a:ln w="22225">
                <a:solidFill>
                  <a:schemeClr val="accent2"/>
                </a:solidFill>
                <a:prstDash val="solid"/>
              </a:ln>
              <a:solidFill>
                <a:schemeClr val="accent2">
                  <a:lumMod val="40000"/>
                  <a:lumOff val="60000"/>
                </a:schemeClr>
              </a:solidFill>
              <a:cs typeface="Calibri" panose="020F0502020204030204" pitchFamily="34" charset="0"/>
            </a:endParaRPr>
          </a:p>
        </p:txBody>
      </p:sp>
      <p:pic>
        <p:nvPicPr>
          <p:cNvPr id="2" name="Pg37">
            <a:hlinkClick r:id="" action="ppaction://media"/>
            <a:extLst>
              <a:ext uri="{FF2B5EF4-FFF2-40B4-BE49-F238E27FC236}">
                <a16:creationId xmlns:a16="http://schemas.microsoft.com/office/drawing/2014/main" id="{E2AE13B3-2B90-425A-A467-E5115A8D3BD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924083" y="5403060"/>
            <a:ext cx="609600" cy="609600"/>
          </a:xfrm>
          <a:prstGeom prst="rect">
            <a:avLst/>
          </a:prstGeom>
        </p:spPr>
      </p:pic>
      <p:sp>
        <p:nvSpPr>
          <p:cNvPr id="3" name="Rectangle 2">
            <a:extLst>
              <a:ext uri="{FF2B5EF4-FFF2-40B4-BE49-F238E27FC236}">
                <a16:creationId xmlns:a16="http://schemas.microsoft.com/office/drawing/2014/main" id="{3C283207-8931-EBB4-46DA-7958BF0E6011}"/>
              </a:ext>
            </a:extLst>
          </p:cNvPr>
          <p:cNvSpPr/>
          <p:nvPr/>
        </p:nvSpPr>
        <p:spPr>
          <a:xfrm>
            <a:off x="0" y="0"/>
            <a:ext cx="882032" cy="202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3054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6644</TotalTime>
  <Words>2439</Words>
  <Application>Microsoft Office PowerPoint</Application>
  <PresentationFormat>Widescreen</PresentationFormat>
  <Paragraphs>313</Paragraphs>
  <Slides>24</Slides>
  <Notes>1</Notes>
  <HiddenSlides>0</HiddenSlides>
  <MMClips>30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36" baseType="lpstr">
      <vt:lpstr>Monotype Sorts</vt:lpstr>
      <vt:lpstr>SimSun</vt:lpstr>
      <vt:lpstr>Arial</vt:lpstr>
      <vt:lpstr>Arial Black</vt:lpstr>
      <vt:lpstr>Calibri</vt:lpstr>
      <vt:lpstr>Calibri Light</vt:lpstr>
      <vt:lpstr>Roboto</vt:lpstr>
      <vt:lpstr>Symbol</vt:lpstr>
      <vt:lpstr>Times New Roman</vt:lpstr>
      <vt:lpstr>Office Theme</vt:lpstr>
      <vt:lpstr>Equation</vt:lpstr>
      <vt:lpstr>Picture</vt:lpstr>
      <vt:lpstr>Module EGE321 Wireless Communication &amp; Networking Chapter 2.2 Radio Propagation and Link Budget</vt:lpstr>
      <vt:lpstr>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Wireless System Implemetation &amp; Tests 1. Wireless Network Deployment</dc:title>
  <dc:creator>LIM TECK BENG</dc:creator>
  <cp:lastModifiedBy>Chang Fatt LEE (NYP)</cp:lastModifiedBy>
  <cp:revision>234</cp:revision>
  <dcterms:created xsi:type="dcterms:W3CDTF">2016-03-19T14:52:50Z</dcterms:created>
  <dcterms:modified xsi:type="dcterms:W3CDTF">2025-10-24T04:03:46Z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abe128f-e2ab-4b18-9c62-301caee5e80a_Enabled">
    <vt:lpwstr>true</vt:lpwstr>
  </property>
  <property fmtid="{D5CDD505-2E9C-101B-9397-08002B2CF9AE}" pid="3" name="MSIP_Label_babe128f-e2ab-4b18-9c62-301caee5e80a_SetDate">
    <vt:lpwstr>2023-11-13T14:49:20Z</vt:lpwstr>
  </property>
  <property fmtid="{D5CDD505-2E9C-101B-9397-08002B2CF9AE}" pid="4" name="MSIP_Label_babe128f-e2ab-4b18-9c62-301caee5e80a_Method">
    <vt:lpwstr>Privileged</vt:lpwstr>
  </property>
  <property fmtid="{D5CDD505-2E9C-101B-9397-08002B2CF9AE}" pid="5" name="MSIP_Label_babe128f-e2ab-4b18-9c62-301caee5e80a_Name">
    <vt:lpwstr>OFFICIAL [OPEN]</vt:lpwstr>
  </property>
  <property fmtid="{D5CDD505-2E9C-101B-9397-08002B2CF9AE}" pid="6" name="MSIP_Label_babe128f-e2ab-4b18-9c62-301caee5e80a_SiteId">
    <vt:lpwstr>243ebaed-00d0-4690-a7dc-75893b0d9f98</vt:lpwstr>
  </property>
  <property fmtid="{D5CDD505-2E9C-101B-9397-08002B2CF9AE}" pid="7" name="MSIP_Label_babe128f-e2ab-4b18-9c62-301caee5e80a_ActionId">
    <vt:lpwstr>558723e6-c5b8-4088-b916-5819d57d0c67</vt:lpwstr>
  </property>
  <property fmtid="{D5CDD505-2E9C-101B-9397-08002B2CF9AE}" pid="8" name="MSIP_Label_babe128f-e2ab-4b18-9c62-301caee5e80a_ContentBits">
    <vt:lpwstr>1</vt:lpwstr>
  </property>
  <property fmtid="{D5CDD505-2E9C-101B-9397-08002B2CF9AE}" pid="9" name="ClassificationContentMarkingHeaderLocations">
    <vt:lpwstr>Office Theme:5</vt:lpwstr>
  </property>
  <property fmtid="{D5CDD505-2E9C-101B-9397-08002B2CF9AE}" pid="10" name="ClassificationContentMarkingHeaderText">
    <vt:lpwstr>Official (Open)</vt:lpwstr>
  </property>
</Properties>
</file>