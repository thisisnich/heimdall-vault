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handoutMasterIdLst>
    <p:handoutMasterId r:id="rId30"/>
  </p:handoutMasterIdLst>
  <p:sldIdLst>
    <p:sldId id="256" r:id="rId2"/>
    <p:sldId id="257" r:id="rId3"/>
    <p:sldId id="486" r:id="rId4"/>
    <p:sldId id="726" r:id="rId5"/>
    <p:sldId id="477" r:id="rId6"/>
    <p:sldId id="727" r:id="rId7"/>
    <p:sldId id="728" r:id="rId8"/>
    <p:sldId id="733" r:id="rId9"/>
    <p:sldId id="729" r:id="rId10"/>
    <p:sldId id="730" r:id="rId11"/>
    <p:sldId id="718" r:id="rId12"/>
    <p:sldId id="717" r:id="rId13"/>
    <p:sldId id="731" r:id="rId14"/>
    <p:sldId id="719" r:id="rId15"/>
    <p:sldId id="720" r:id="rId16"/>
    <p:sldId id="498" r:id="rId17"/>
    <p:sldId id="499" r:id="rId18"/>
    <p:sldId id="500" r:id="rId19"/>
    <p:sldId id="507" r:id="rId20"/>
    <p:sldId id="509" r:id="rId21"/>
    <p:sldId id="606" r:id="rId22"/>
    <p:sldId id="732" r:id="rId23"/>
    <p:sldId id="479" r:id="rId24"/>
    <p:sldId id="447" r:id="rId25"/>
    <p:sldId id="481" r:id="rId26"/>
    <p:sldId id="483" r:id="rId27"/>
    <p:sldId id="602" r:id="rId28"/>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384" autoAdjust="0"/>
  </p:normalViewPr>
  <p:slideViewPr>
    <p:cSldViewPr snapToGrid="0">
      <p:cViewPr varScale="1">
        <p:scale>
          <a:sx n="166" d="100"/>
          <a:sy n="166" d="100"/>
        </p:scale>
        <p:origin x="104" y="28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200" d="100"/>
        <a:sy n="200" d="100"/>
      </p:scale>
      <p:origin x="0" y="0"/>
    </p:cViewPr>
  </p:sorterViewPr>
  <p:notesViewPr>
    <p:cSldViewPr snapToGrid="0">
      <p:cViewPr varScale="1">
        <p:scale>
          <a:sx n="48" d="100"/>
          <a:sy n="48" d="100"/>
        </p:scale>
        <p:origin x="2940" y="6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8C27E94-49A3-42EC-A911-5E7CEA744011}"/>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8821F18-F59C-44D8-8E05-B529CD1D4C35}"/>
              </a:ext>
            </a:extLst>
          </p:cNvPr>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60A7028F-1D05-4FF2-A73E-E893CE5A838D}" type="datetimeFigureOut">
              <a:rPr lang="en-US" smtClean="0"/>
              <a:t>10/24/2025</a:t>
            </a:fld>
            <a:endParaRPr lang="en-US"/>
          </a:p>
        </p:txBody>
      </p:sp>
      <p:sp>
        <p:nvSpPr>
          <p:cNvPr id="4" name="Footer Placeholder 3">
            <a:extLst>
              <a:ext uri="{FF2B5EF4-FFF2-40B4-BE49-F238E27FC236}">
                <a16:creationId xmlns:a16="http://schemas.microsoft.com/office/drawing/2014/main" id="{89E8E644-ADCA-41E8-8C88-2E1CFA61649F}"/>
              </a:ext>
            </a:extLst>
          </p:cNvPr>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86A4D37-7F6B-40B6-AC90-FF5B6703A725}"/>
              </a:ext>
            </a:extLst>
          </p:cNvPr>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5B3732F4-41BD-4B8E-9B8D-045C4A944A78}" type="slidenum">
              <a:rPr lang="en-US" smtClean="0"/>
              <a:t>‹#›</a:t>
            </a:fld>
            <a:endParaRPr lang="en-US"/>
          </a:p>
        </p:txBody>
      </p:sp>
    </p:spTree>
    <p:extLst>
      <p:ext uri="{BB962C8B-B14F-4D97-AF65-F5344CB8AC3E}">
        <p14:creationId xmlns:p14="http://schemas.microsoft.com/office/powerpoint/2010/main" val="1154344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67403C14-3C46-449B-91D3-779C3EAC3963}" type="datetimeFigureOut">
              <a:rPr lang="en-US" smtClean="0"/>
              <a:t>10/24/2025</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783627CE-1CF8-444E-9F93-C191CD3011DB}" type="slidenum">
              <a:rPr lang="en-US" smtClean="0"/>
              <a:t>‹#›</a:t>
            </a:fld>
            <a:endParaRPr lang="en-US"/>
          </a:p>
        </p:txBody>
      </p:sp>
    </p:spTree>
    <p:extLst>
      <p:ext uri="{BB962C8B-B14F-4D97-AF65-F5344CB8AC3E}">
        <p14:creationId xmlns:p14="http://schemas.microsoft.com/office/powerpoint/2010/main" val="3927139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83627CE-1CF8-444E-9F93-C191CD3011DB}" type="slidenum">
              <a:rPr lang="en-US" smtClean="0"/>
              <a:t>1</a:t>
            </a:fld>
            <a:endParaRPr lang="en-US"/>
          </a:p>
        </p:txBody>
      </p:sp>
    </p:spTree>
    <p:extLst>
      <p:ext uri="{BB962C8B-B14F-4D97-AF65-F5344CB8AC3E}">
        <p14:creationId xmlns:p14="http://schemas.microsoft.com/office/powerpoint/2010/main" val="1357792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362">
              <a:spcBef>
                <a:spcPct val="30000"/>
              </a:spcBef>
              <a:defRPr sz="1200">
                <a:solidFill>
                  <a:schemeClr val="tx1"/>
                </a:solidFill>
                <a:latin typeface="Times New Roman" pitchFamily="18" charset="0"/>
              </a:defRPr>
            </a:lvl1pPr>
            <a:lvl2pPr marL="753203" indent="-289693" defTabSz="917362">
              <a:spcBef>
                <a:spcPct val="30000"/>
              </a:spcBef>
              <a:defRPr sz="1200">
                <a:solidFill>
                  <a:schemeClr val="tx1"/>
                </a:solidFill>
                <a:latin typeface="Times New Roman" pitchFamily="18" charset="0"/>
              </a:defRPr>
            </a:lvl2pPr>
            <a:lvl3pPr marL="1158773" indent="-231755" defTabSz="917362">
              <a:spcBef>
                <a:spcPct val="30000"/>
              </a:spcBef>
              <a:defRPr sz="1200">
                <a:solidFill>
                  <a:schemeClr val="tx1"/>
                </a:solidFill>
                <a:latin typeface="Times New Roman" pitchFamily="18" charset="0"/>
              </a:defRPr>
            </a:lvl3pPr>
            <a:lvl4pPr marL="1622283" indent="-231755" defTabSz="917362">
              <a:spcBef>
                <a:spcPct val="30000"/>
              </a:spcBef>
              <a:defRPr sz="1200">
                <a:solidFill>
                  <a:schemeClr val="tx1"/>
                </a:solidFill>
                <a:latin typeface="Times New Roman" pitchFamily="18" charset="0"/>
              </a:defRPr>
            </a:lvl4pPr>
            <a:lvl5pPr marL="2085792" indent="-231755" defTabSz="917362">
              <a:spcBef>
                <a:spcPct val="30000"/>
              </a:spcBef>
              <a:defRPr sz="1200">
                <a:solidFill>
                  <a:schemeClr val="tx1"/>
                </a:solidFill>
                <a:latin typeface="Times New Roman" pitchFamily="18" charset="0"/>
              </a:defRPr>
            </a:lvl5pPr>
            <a:lvl6pPr marL="2549301" indent="-231755" defTabSz="917362" eaLnBrk="0" fontAlgn="base" hangingPunct="0">
              <a:spcBef>
                <a:spcPct val="30000"/>
              </a:spcBef>
              <a:spcAft>
                <a:spcPct val="0"/>
              </a:spcAft>
              <a:defRPr sz="1200">
                <a:solidFill>
                  <a:schemeClr val="tx1"/>
                </a:solidFill>
                <a:latin typeface="Times New Roman" pitchFamily="18" charset="0"/>
              </a:defRPr>
            </a:lvl6pPr>
            <a:lvl7pPr marL="3012811" indent="-231755" defTabSz="917362" eaLnBrk="0" fontAlgn="base" hangingPunct="0">
              <a:spcBef>
                <a:spcPct val="30000"/>
              </a:spcBef>
              <a:spcAft>
                <a:spcPct val="0"/>
              </a:spcAft>
              <a:defRPr sz="1200">
                <a:solidFill>
                  <a:schemeClr val="tx1"/>
                </a:solidFill>
                <a:latin typeface="Times New Roman" pitchFamily="18" charset="0"/>
              </a:defRPr>
            </a:lvl7pPr>
            <a:lvl8pPr marL="3476320" indent="-231755" defTabSz="917362" eaLnBrk="0" fontAlgn="base" hangingPunct="0">
              <a:spcBef>
                <a:spcPct val="30000"/>
              </a:spcBef>
              <a:spcAft>
                <a:spcPct val="0"/>
              </a:spcAft>
              <a:defRPr sz="1200">
                <a:solidFill>
                  <a:schemeClr val="tx1"/>
                </a:solidFill>
                <a:latin typeface="Times New Roman" pitchFamily="18" charset="0"/>
              </a:defRPr>
            </a:lvl8pPr>
            <a:lvl9pPr marL="3939830" indent="-231755" defTabSz="917362"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E463C95C-D4B2-4B65-83AA-B249F2B6AF27}" type="slidenum">
              <a:rPr lang="en-US" altLang="en-US"/>
              <a:pPr>
                <a:spcBef>
                  <a:spcPct val="0"/>
                </a:spcBef>
              </a:pPr>
              <a:t>5</a:t>
            </a:fld>
            <a:endParaRPr lang="en-US" altLang="en-US"/>
          </a:p>
        </p:txBody>
      </p:sp>
      <p:sp>
        <p:nvSpPr>
          <p:cNvPr id="40963" name="Rectangle 2"/>
          <p:cNvSpPr>
            <a:spLocks noGrp="1" noRot="1" noChangeAspect="1" noChangeArrowheads="1" noTextEdit="1"/>
          </p:cNvSpPr>
          <p:nvPr>
            <p:ph type="sldImg"/>
          </p:nvPr>
        </p:nvSpPr>
        <p:spPr>
          <a:xfrm>
            <a:off x="-1700213" y="808038"/>
            <a:ext cx="10217151" cy="5748337"/>
          </a:xfrm>
          <a:ln/>
        </p:spPr>
      </p:sp>
      <p:sp>
        <p:nvSpPr>
          <p:cNvPr id="40964" name="Rectangle 3"/>
          <p:cNvSpPr>
            <a:spLocks noGrp="1" noChangeArrowheads="1"/>
          </p:cNvSpPr>
          <p:nvPr>
            <p:ph type="body" idx="1"/>
          </p:nvPr>
        </p:nvSpPr>
        <p:spPr>
          <a:xfrm>
            <a:off x="899027" y="6734730"/>
            <a:ext cx="4939828" cy="3232531"/>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p>
        </p:txBody>
      </p:sp>
    </p:spTree>
    <p:extLst>
      <p:ext uri="{BB962C8B-B14F-4D97-AF65-F5344CB8AC3E}">
        <p14:creationId xmlns:p14="http://schemas.microsoft.com/office/powerpoint/2010/main" val="2803518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362">
              <a:spcBef>
                <a:spcPct val="30000"/>
              </a:spcBef>
              <a:defRPr sz="1200">
                <a:solidFill>
                  <a:schemeClr val="tx1"/>
                </a:solidFill>
                <a:latin typeface="Times New Roman" pitchFamily="18" charset="0"/>
              </a:defRPr>
            </a:lvl1pPr>
            <a:lvl2pPr marL="753203" indent="-289693" defTabSz="917362">
              <a:spcBef>
                <a:spcPct val="30000"/>
              </a:spcBef>
              <a:defRPr sz="1200">
                <a:solidFill>
                  <a:schemeClr val="tx1"/>
                </a:solidFill>
                <a:latin typeface="Times New Roman" pitchFamily="18" charset="0"/>
              </a:defRPr>
            </a:lvl2pPr>
            <a:lvl3pPr marL="1158773" indent="-231755" defTabSz="917362">
              <a:spcBef>
                <a:spcPct val="30000"/>
              </a:spcBef>
              <a:defRPr sz="1200">
                <a:solidFill>
                  <a:schemeClr val="tx1"/>
                </a:solidFill>
                <a:latin typeface="Times New Roman" pitchFamily="18" charset="0"/>
              </a:defRPr>
            </a:lvl3pPr>
            <a:lvl4pPr marL="1622283" indent="-231755" defTabSz="917362">
              <a:spcBef>
                <a:spcPct val="30000"/>
              </a:spcBef>
              <a:defRPr sz="1200">
                <a:solidFill>
                  <a:schemeClr val="tx1"/>
                </a:solidFill>
                <a:latin typeface="Times New Roman" pitchFamily="18" charset="0"/>
              </a:defRPr>
            </a:lvl4pPr>
            <a:lvl5pPr marL="2085792" indent="-231755" defTabSz="917362">
              <a:spcBef>
                <a:spcPct val="30000"/>
              </a:spcBef>
              <a:defRPr sz="1200">
                <a:solidFill>
                  <a:schemeClr val="tx1"/>
                </a:solidFill>
                <a:latin typeface="Times New Roman" pitchFamily="18" charset="0"/>
              </a:defRPr>
            </a:lvl5pPr>
            <a:lvl6pPr marL="2549301" indent="-231755" defTabSz="917362" eaLnBrk="0" fontAlgn="base" hangingPunct="0">
              <a:spcBef>
                <a:spcPct val="30000"/>
              </a:spcBef>
              <a:spcAft>
                <a:spcPct val="0"/>
              </a:spcAft>
              <a:defRPr sz="1200">
                <a:solidFill>
                  <a:schemeClr val="tx1"/>
                </a:solidFill>
                <a:latin typeface="Times New Roman" pitchFamily="18" charset="0"/>
              </a:defRPr>
            </a:lvl6pPr>
            <a:lvl7pPr marL="3012811" indent="-231755" defTabSz="917362" eaLnBrk="0" fontAlgn="base" hangingPunct="0">
              <a:spcBef>
                <a:spcPct val="30000"/>
              </a:spcBef>
              <a:spcAft>
                <a:spcPct val="0"/>
              </a:spcAft>
              <a:defRPr sz="1200">
                <a:solidFill>
                  <a:schemeClr val="tx1"/>
                </a:solidFill>
                <a:latin typeface="Times New Roman" pitchFamily="18" charset="0"/>
              </a:defRPr>
            </a:lvl7pPr>
            <a:lvl8pPr marL="3476320" indent="-231755" defTabSz="917362" eaLnBrk="0" fontAlgn="base" hangingPunct="0">
              <a:spcBef>
                <a:spcPct val="30000"/>
              </a:spcBef>
              <a:spcAft>
                <a:spcPct val="0"/>
              </a:spcAft>
              <a:defRPr sz="1200">
                <a:solidFill>
                  <a:schemeClr val="tx1"/>
                </a:solidFill>
                <a:latin typeface="Times New Roman" pitchFamily="18" charset="0"/>
              </a:defRPr>
            </a:lvl8pPr>
            <a:lvl9pPr marL="3939830" indent="-231755" defTabSz="917362"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9BE79B9C-7B80-4FCE-9418-6CF17D0ACD0F}" type="slidenum">
              <a:rPr lang="en-US" altLang="en-US"/>
              <a:pPr>
                <a:spcBef>
                  <a:spcPct val="0"/>
                </a:spcBef>
              </a:pPr>
              <a:t>23</a:t>
            </a:fld>
            <a:endParaRPr lang="en-US" altLang="en-US"/>
          </a:p>
        </p:txBody>
      </p:sp>
      <p:sp>
        <p:nvSpPr>
          <p:cNvPr id="44035" name="Rectangle 2"/>
          <p:cNvSpPr>
            <a:spLocks noGrp="1" noRot="1" noChangeAspect="1" noChangeArrowheads="1" noTextEdit="1"/>
          </p:cNvSpPr>
          <p:nvPr>
            <p:ph type="sldImg"/>
          </p:nvPr>
        </p:nvSpPr>
        <p:spPr>
          <a:xfrm>
            <a:off x="-1700213" y="808038"/>
            <a:ext cx="10217151" cy="5748337"/>
          </a:xfrm>
          <a:ln/>
        </p:spPr>
      </p:sp>
      <p:sp>
        <p:nvSpPr>
          <p:cNvPr id="44036" name="Rectangle 3"/>
          <p:cNvSpPr>
            <a:spLocks noGrp="1" noChangeArrowheads="1"/>
          </p:cNvSpPr>
          <p:nvPr>
            <p:ph type="body" idx="1"/>
          </p:nvPr>
        </p:nvSpPr>
        <p:spPr>
          <a:xfrm>
            <a:off x="899027" y="6734730"/>
            <a:ext cx="4939828" cy="3232531"/>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p>
        </p:txBody>
      </p:sp>
    </p:spTree>
    <p:extLst>
      <p:ext uri="{BB962C8B-B14F-4D97-AF65-F5344CB8AC3E}">
        <p14:creationId xmlns:p14="http://schemas.microsoft.com/office/powerpoint/2010/main" val="32338750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362">
              <a:spcBef>
                <a:spcPct val="30000"/>
              </a:spcBef>
              <a:defRPr sz="1200">
                <a:solidFill>
                  <a:schemeClr val="tx1"/>
                </a:solidFill>
                <a:latin typeface="Times New Roman" pitchFamily="18" charset="0"/>
              </a:defRPr>
            </a:lvl1pPr>
            <a:lvl2pPr marL="753203" indent="-289693" defTabSz="917362">
              <a:spcBef>
                <a:spcPct val="30000"/>
              </a:spcBef>
              <a:defRPr sz="1200">
                <a:solidFill>
                  <a:schemeClr val="tx1"/>
                </a:solidFill>
                <a:latin typeface="Times New Roman" pitchFamily="18" charset="0"/>
              </a:defRPr>
            </a:lvl2pPr>
            <a:lvl3pPr marL="1158773" indent="-231755" defTabSz="917362">
              <a:spcBef>
                <a:spcPct val="30000"/>
              </a:spcBef>
              <a:defRPr sz="1200">
                <a:solidFill>
                  <a:schemeClr val="tx1"/>
                </a:solidFill>
                <a:latin typeface="Times New Roman" pitchFamily="18" charset="0"/>
              </a:defRPr>
            </a:lvl3pPr>
            <a:lvl4pPr marL="1622283" indent="-231755" defTabSz="917362">
              <a:spcBef>
                <a:spcPct val="30000"/>
              </a:spcBef>
              <a:defRPr sz="1200">
                <a:solidFill>
                  <a:schemeClr val="tx1"/>
                </a:solidFill>
                <a:latin typeface="Times New Roman" pitchFamily="18" charset="0"/>
              </a:defRPr>
            </a:lvl4pPr>
            <a:lvl5pPr marL="2085792" indent="-231755" defTabSz="917362">
              <a:spcBef>
                <a:spcPct val="30000"/>
              </a:spcBef>
              <a:defRPr sz="1200">
                <a:solidFill>
                  <a:schemeClr val="tx1"/>
                </a:solidFill>
                <a:latin typeface="Times New Roman" pitchFamily="18" charset="0"/>
              </a:defRPr>
            </a:lvl5pPr>
            <a:lvl6pPr marL="2549301" indent="-231755" defTabSz="917362" eaLnBrk="0" fontAlgn="base" hangingPunct="0">
              <a:spcBef>
                <a:spcPct val="30000"/>
              </a:spcBef>
              <a:spcAft>
                <a:spcPct val="0"/>
              </a:spcAft>
              <a:defRPr sz="1200">
                <a:solidFill>
                  <a:schemeClr val="tx1"/>
                </a:solidFill>
                <a:latin typeface="Times New Roman" pitchFamily="18" charset="0"/>
              </a:defRPr>
            </a:lvl6pPr>
            <a:lvl7pPr marL="3012811" indent="-231755" defTabSz="917362" eaLnBrk="0" fontAlgn="base" hangingPunct="0">
              <a:spcBef>
                <a:spcPct val="30000"/>
              </a:spcBef>
              <a:spcAft>
                <a:spcPct val="0"/>
              </a:spcAft>
              <a:defRPr sz="1200">
                <a:solidFill>
                  <a:schemeClr val="tx1"/>
                </a:solidFill>
                <a:latin typeface="Times New Roman" pitchFamily="18" charset="0"/>
              </a:defRPr>
            </a:lvl7pPr>
            <a:lvl8pPr marL="3476320" indent="-231755" defTabSz="917362" eaLnBrk="0" fontAlgn="base" hangingPunct="0">
              <a:spcBef>
                <a:spcPct val="30000"/>
              </a:spcBef>
              <a:spcAft>
                <a:spcPct val="0"/>
              </a:spcAft>
              <a:defRPr sz="1200">
                <a:solidFill>
                  <a:schemeClr val="tx1"/>
                </a:solidFill>
                <a:latin typeface="Times New Roman" pitchFamily="18" charset="0"/>
              </a:defRPr>
            </a:lvl8pPr>
            <a:lvl9pPr marL="3939830" indent="-231755" defTabSz="917362"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93799598-22FF-4EBE-B1B9-E2CAEDAF2F04}" type="slidenum">
              <a:rPr lang="en-US" altLang="en-US"/>
              <a:pPr>
                <a:spcBef>
                  <a:spcPct val="0"/>
                </a:spcBef>
              </a:pPr>
              <a:t>25</a:t>
            </a:fld>
            <a:endParaRPr lang="en-US" altLang="en-US"/>
          </a:p>
        </p:txBody>
      </p:sp>
      <p:sp>
        <p:nvSpPr>
          <p:cNvPr id="47107" name="Rectangle 2"/>
          <p:cNvSpPr>
            <a:spLocks noGrp="1" noRot="1" noChangeAspect="1" noChangeArrowheads="1" noTextEdit="1"/>
          </p:cNvSpPr>
          <p:nvPr>
            <p:ph type="sldImg"/>
          </p:nvPr>
        </p:nvSpPr>
        <p:spPr>
          <a:xfrm>
            <a:off x="-1700213" y="808038"/>
            <a:ext cx="10217151" cy="5748337"/>
          </a:xfrm>
          <a:ln/>
        </p:spPr>
      </p:sp>
      <p:sp>
        <p:nvSpPr>
          <p:cNvPr id="47108" name="Rectangle 3"/>
          <p:cNvSpPr>
            <a:spLocks noGrp="1" noChangeArrowheads="1"/>
          </p:cNvSpPr>
          <p:nvPr>
            <p:ph type="body" idx="1"/>
          </p:nvPr>
        </p:nvSpPr>
        <p:spPr>
          <a:xfrm>
            <a:off x="899027" y="6734730"/>
            <a:ext cx="4939828" cy="3232531"/>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p>
        </p:txBody>
      </p:sp>
    </p:spTree>
    <p:extLst>
      <p:ext uri="{BB962C8B-B14F-4D97-AF65-F5344CB8AC3E}">
        <p14:creationId xmlns:p14="http://schemas.microsoft.com/office/powerpoint/2010/main" val="35080739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362">
              <a:spcBef>
                <a:spcPct val="30000"/>
              </a:spcBef>
              <a:defRPr sz="1200">
                <a:solidFill>
                  <a:schemeClr val="tx1"/>
                </a:solidFill>
                <a:latin typeface="Times New Roman" pitchFamily="18" charset="0"/>
              </a:defRPr>
            </a:lvl1pPr>
            <a:lvl2pPr marL="753203" indent="-289693" defTabSz="917362">
              <a:spcBef>
                <a:spcPct val="30000"/>
              </a:spcBef>
              <a:defRPr sz="1200">
                <a:solidFill>
                  <a:schemeClr val="tx1"/>
                </a:solidFill>
                <a:latin typeface="Times New Roman" pitchFamily="18" charset="0"/>
              </a:defRPr>
            </a:lvl2pPr>
            <a:lvl3pPr marL="1158773" indent="-231755" defTabSz="917362">
              <a:spcBef>
                <a:spcPct val="30000"/>
              </a:spcBef>
              <a:defRPr sz="1200">
                <a:solidFill>
                  <a:schemeClr val="tx1"/>
                </a:solidFill>
                <a:latin typeface="Times New Roman" pitchFamily="18" charset="0"/>
              </a:defRPr>
            </a:lvl3pPr>
            <a:lvl4pPr marL="1622283" indent="-231755" defTabSz="917362">
              <a:spcBef>
                <a:spcPct val="30000"/>
              </a:spcBef>
              <a:defRPr sz="1200">
                <a:solidFill>
                  <a:schemeClr val="tx1"/>
                </a:solidFill>
                <a:latin typeface="Times New Roman" pitchFamily="18" charset="0"/>
              </a:defRPr>
            </a:lvl4pPr>
            <a:lvl5pPr marL="2085792" indent="-231755" defTabSz="917362">
              <a:spcBef>
                <a:spcPct val="30000"/>
              </a:spcBef>
              <a:defRPr sz="1200">
                <a:solidFill>
                  <a:schemeClr val="tx1"/>
                </a:solidFill>
                <a:latin typeface="Times New Roman" pitchFamily="18" charset="0"/>
              </a:defRPr>
            </a:lvl5pPr>
            <a:lvl6pPr marL="2549301" indent="-231755" defTabSz="917362" eaLnBrk="0" fontAlgn="base" hangingPunct="0">
              <a:spcBef>
                <a:spcPct val="30000"/>
              </a:spcBef>
              <a:spcAft>
                <a:spcPct val="0"/>
              </a:spcAft>
              <a:defRPr sz="1200">
                <a:solidFill>
                  <a:schemeClr val="tx1"/>
                </a:solidFill>
                <a:latin typeface="Times New Roman" pitchFamily="18" charset="0"/>
              </a:defRPr>
            </a:lvl6pPr>
            <a:lvl7pPr marL="3012811" indent="-231755" defTabSz="917362" eaLnBrk="0" fontAlgn="base" hangingPunct="0">
              <a:spcBef>
                <a:spcPct val="30000"/>
              </a:spcBef>
              <a:spcAft>
                <a:spcPct val="0"/>
              </a:spcAft>
              <a:defRPr sz="1200">
                <a:solidFill>
                  <a:schemeClr val="tx1"/>
                </a:solidFill>
                <a:latin typeface="Times New Roman" pitchFamily="18" charset="0"/>
              </a:defRPr>
            </a:lvl7pPr>
            <a:lvl8pPr marL="3476320" indent="-231755" defTabSz="917362" eaLnBrk="0" fontAlgn="base" hangingPunct="0">
              <a:spcBef>
                <a:spcPct val="30000"/>
              </a:spcBef>
              <a:spcAft>
                <a:spcPct val="0"/>
              </a:spcAft>
              <a:defRPr sz="1200">
                <a:solidFill>
                  <a:schemeClr val="tx1"/>
                </a:solidFill>
                <a:latin typeface="Times New Roman" pitchFamily="18" charset="0"/>
              </a:defRPr>
            </a:lvl8pPr>
            <a:lvl9pPr marL="3939830" indent="-231755" defTabSz="917362"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1BC88E04-4EB2-4B71-A935-5DE1F92D9896}" type="slidenum">
              <a:rPr lang="en-US" altLang="en-US"/>
              <a:pPr>
                <a:spcBef>
                  <a:spcPct val="0"/>
                </a:spcBef>
              </a:pPr>
              <a:t>26</a:t>
            </a:fld>
            <a:endParaRPr lang="en-US" altLang="en-US"/>
          </a:p>
        </p:txBody>
      </p:sp>
      <p:sp>
        <p:nvSpPr>
          <p:cNvPr id="50179" name="Rectangle 2"/>
          <p:cNvSpPr>
            <a:spLocks noGrp="1" noRot="1" noChangeAspect="1" noChangeArrowheads="1" noTextEdit="1"/>
          </p:cNvSpPr>
          <p:nvPr>
            <p:ph type="sldImg"/>
          </p:nvPr>
        </p:nvSpPr>
        <p:spPr>
          <a:xfrm>
            <a:off x="-1700213" y="808038"/>
            <a:ext cx="10217151" cy="5748337"/>
          </a:xfrm>
          <a:ln/>
        </p:spPr>
      </p:sp>
      <p:sp>
        <p:nvSpPr>
          <p:cNvPr id="50180" name="Rectangle 3"/>
          <p:cNvSpPr>
            <a:spLocks noGrp="1" noChangeArrowheads="1"/>
          </p:cNvSpPr>
          <p:nvPr>
            <p:ph type="body" idx="1"/>
          </p:nvPr>
        </p:nvSpPr>
        <p:spPr>
          <a:xfrm>
            <a:off x="899027" y="6734730"/>
            <a:ext cx="4939828" cy="3232531"/>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a:t>   </a:t>
            </a:r>
          </a:p>
        </p:txBody>
      </p:sp>
    </p:spTree>
    <p:extLst>
      <p:ext uri="{BB962C8B-B14F-4D97-AF65-F5344CB8AC3E}">
        <p14:creationId xmlns:p14="http://schemas.microsoft.com/office/powerpoint/2010/main" val="1581070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7" name="Picture 8" descr="Corporate NYP Logo_Horizontal_RGB"/>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976383" y="161019"/>
            <a:ext cx="2101771" cy="550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Slide Number Placeholder 5"/>
          <p:cNvSpPr>
            <a:spLocks noGrp="1"/>
          </p:cNvSpPr>
          <p:nvPr>
            <p:ph type="sldNum" sz="quarter" idx="4"/>
          </p:nvPr>
        </p:nvSpPr>
        <p:spPr>
          <a:xfrm>
            <a:off x="4710752" y="6383645"/>
            <a:ext cx="27432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Page </a:t>
            </a:r>
            <a:fld id="{A862897D-0F50-4425-B5E1-82FAA232DFBF}" type="slidenum">
              <a:rPr lang="en-US" smtClean="0"/>
              <a:pPr/>
              <a:t>‹#›</a:t>
            </a:fld>
            <a:r>
              <a:rPr lang="en-US"/>
              <a:t> of 60</a:t>
            </a:r>
          </a:p>
          <a:p>
            <a:endParaRPr lang="en-US" dirty="0"/>
          </a:p>
        </p:txBody>
      </p:sp>
    </p:spTree>
    <p:extLst>
      <p:ext uri="{BB962C8B-B14F-4D97-AF65-F5344CB8AC3E}">
        <p14:creationId xmlns:p14="http://schemas.microsoft.com/office/powerpoint/2010/main" val="37559589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53090"/>
            <a:ext cx="10515600" cy="1325563"/>
          </a:xfrm>
        </p:spPr>
        <p:txBody>
          <a:bodyPr/>
          <a:lstStyle/>
          <a:p>
            <a:r>
              <a:rPr lang="en-US"/>
              <a:t>Click to edit Master title style</a:t>
            </a:r>
          </a:p>
        </p:txBody>
      </p:sp>
      <p:sp>
        <p:nvSpPr>
          <p:cNvPr id="3" name="Content Placeholder 2"/>
          <p:cNvSpPr>
            <a:spLocks noGrp="1"/>
          </p:cNvSpPr>
          <p:nvPr>
            <p:ph idx="1"/>
          </p:nvPr>
        </p:nvSpPr>
        <p:spPr>
          <a:xfrm>
            <a:off x="838200" y="1611175"/>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5"/>
          <p:cNvSpPr>
            <a:spLocks noGrp="1"/>
          </p:cNvSpPr>
          <p:nvPr>
            <p:ph type="sldNum" sz="quarter" idx="4"/>
          </p:nvPr>
        </p:nvSpPr>
        <p:spPr>
          <a:xfrm>
            <a:off x="4710752" y="6383645"/>
            <a:ext cx="27432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Page </a:t>
            </a:r>
            <a:fld id="{A862897D-0F50-4425-B5E1-82FAA232DFBF}" type="slidenum">
              <a:rPr lang="en-US" smtClean="0"/>
              <a:pPr/>
              <a:t>‹#›</a:t>
            </a:fld>
            <a:r>
              <a:rPr lang="en-US"/>
              <a:t> of 60</a:t>
            </a:r>
          </a:p>
          <a:p>
            <a:endParaRPr lang="en-US" dirty="0"/>
          </a:p>
        </p:txBody>
      </p:sp>
    </p:spTree>
    <p:extLst>
      <p:ext uri="{BB962C8B-B14F-4D97-AF65-F5344CB8AC3E}">
        <p14:creationId xmlns:p14="http://schemas.microsoft.com/office/powerpoint/2010/main" val="1473570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39838"/>
            <a:ext cx="10515600" cy="1325563"/>
          </a:xfrm>
        </p:spPr>
        <p:txBody>
          <a:bodyPr/>
          <a:lstStyle/>
          <a:p>
            <a:r>
              <a:rPr lang="en-US"/>
              <a:t>Click to edit Master title style</a:t>
            </a:r>
          </a:p>
        </p:txBody>
      </p:sp>
      <p:sp>
        <p:nvSpPr>
          <p:cNvPr id="3" name="Content Placeholder 2"/>
          <p:cNvSpPr>
            <a:spLocks noGrp="1"/>
          </p:cNvSpPr>
          <p:nvPr>
            <p:ph sz="half" idx="1"/>
          </p:nvPr>
        </p:nvSpPr>
        <p:spPr>
          <a:xfrm>
            <a:off x="838200" y="1644787"/>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644787"/>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p:cNvSpPr>
            <a:spLocks noGrp="1"/>
          </p:cNvSpPr>
          <p:nvPr>
            <p:ph type="sldNum" sz="quarter" idx="4"/>
          </p:nvPr>
        </p:nvSpPr>
        <p:spPr>
          <a:xfrm>
            <a:off x="4710752" y="6383645"/>
            <a:ext cx="27432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Page </a:t>
            </a:r>
            <a:fld id="{A862897D-0F50-4425-B5E1-82FAA232DFBF}" type="slidenum">
              <a:rPr lang="en-US" smtClean="0"/>
              <a:pPr/>
              <a:t>‹#›</a:t>
            </a:fld>
            <a:r>
              <a:rPr lang="en-US"/>
              <a:t> of 60</a:t>
            </a:r>
          </a:p>
          <a:p>
            <a:endParaRPr lang="en-US" dirty="0"/>
          </a:p>
        </p:txBody>
      </p:sp>
    </p:spTree>
    <p:extLst>
      <p:ext uri="{BB962C8B-B14F-4D97-AF65-F5344CB8AC3E}">
        <p14:creationId xmlns:p14="http://schemas.microsoft.com/office/powerpoint/2010/main" val="472257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8200" y="134662"/>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p:cNvSpPr>
            <a:spLocks noGrp="1"/>
          </p:cNvSpPr>
          <p:nvPr>
            <p:ph type="sldNum" sz="quarter" idx="10"/>
          </p:nvPr>
        </p:nvSpPr>
        <p:spPr>
          <a:xfrm>
            <a:off x="4710752" y="6383645"/>
            <a:ext cx="27432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Page </a:t>
            </a:r>
            <a:fld id="{A862897D-0F50-4425-B5E1-82FAA232DFBF}" type="slidenum">
              <a:rPr lang="en-US" smtClean="0"/>
              <a:pPr/>
              <a:t>‹#›</a:t>
            </a:fld>
            <a:r>
              <a:rPr lang="en-US"/>
              <a:t> of 60</a:t>
            </a:r>
          </a:p>
          <a:p>
            <a:endParaRPr lang="en-US" dirty="0"/>
          </a:p>
        </p:txBody>
      </p:sp>
    </p:spTree>
    <p:extLst>
      <p:ext uri="{BB962C8B-B14F-4D97-AF65-F5344CB8AC3E}">
        <p14:creationId xmlns:p14="http://schemas.microsoft.com/office/powerpoint/2010/main" val="2751503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179595"/>
            <a:ext cx="10515600" cy="1325563"/>
          </a:xfrm>
        </p:spPr>
        <p:txBody>
          <a:bodyPr/>
          <a:lstStyle/>
          <a:p>
            <a:r>
              <a:rPr lang="en-US"/>
              <a:t>Click to edit Master title style</a:t>
            </a:r>
          </a:p>
        </p:txBody>
      </p:sp>
      <p:sp>
        <p:nvSpPr>
          <p:cNvPr id="4" name="Slide Number Placeholder 5"/>
          <p:cNvSpPr>
            <a:spLocks noGrp="1"/>
          </p:cNvSpPr>
          <p:nvPr>
            <p:ph type="sldNum" sz="quarter" idx="4"/>
          </p:nvPr>
        </p:nvSpPr>
        <p:spPr>
          <a:xfrm>
            <a:off x="4710752" y="6383645"/>
            <a:ext cx="27432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Page </a:t>
            </a:r>
            <a:fld id="{A862897D-0F50-4425-B5E1-82FAA232DFBF}" type="slidenum">
              <a:rPr lang="en-US" smtClean="0"/>
              <a:pPr/>
              <a:t>‹#›</a:t>
            </a:fld>
            <a:r>
              <a:rPr lang="en-US"/>
              <a:t> of 60</a:t>
            </a:r>
          </a:p>
          <a:p>
            <a:endParaRPr lang="en-US" dirty="0"/>
          </a:p>
        </p:txBody>
      </p:sp>
    </p:spTree>
    <p:extLst>
      <p:ext uri="{BB962C8B-B14F-4D97-AF65-F5344CB8AC3E}">
        <p14:creationId xmlns:p14="http://schemas.microsoft.com/office/powerpoint/2010/main" val="4125160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Slide Number Placeholder 5"/>
          <p:cNvSpPr>
            <a:spLocks noGrp="1"/>
          </p:cNvSpPr>
          <p:nvPr>
            <p:ph type="sldNum" sz="quarter" idx="4"/>
          </p:nvPr>
        </p:nvSpPr>
        <p:spPr>
          <a:xfrm>
            <a:off x="4710752" y="6383645"/>
            <a:ext cx="27432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Page </a:t>
            </a:r>
            <a:fld id="{A862897D-0F50-4425-B5E1-82FAA232DFBF}" type="slidenum">
              <a:rPr lang="en-US" smtClean="0"/>
              <a:pPr/>
              <a:t>‹#›</a:t>
            </a:fld>
            <a:r>
              <a:rPr lang="en-US"/>
              <a:t> of 60</a:t>
            </a:r>
          </a:p>
          <a:p>
            <a:endParaRPr lang="en-US" dirty="0"/>
          </a:p>
        </p:txBody>
      </p:sp>
    </p:spTree>
    <p:extLst>
      <p:ext uri="{BB962C8B-B14F-4D97-AF65-F5344CB8AC3E}">
        <p14:creationId xmlns:p14="http://schemas.microsoft.com/office/powerpoint/2010/main" val="2325135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690688"/>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4710752" y="6383645"/>
            <a:ext cx="27432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Page </a:t>
            </a:r>
            <a:fld id="{A862897D-0F50-4425-B5E1-82FAA232DFBF}" type="slidenum">
              <a:rPr lang="en-US" smtClean="0"/>
              <a:pPr/>
              <a:t>‹#›</a:t>
            </a:fld>
            <a:r>
              <a:rPr lang="en-US"/>
              <a:t> of 60</a:t>
            </a:r>
          </a:p>
          <a:p>
            <a:endParaRPr lang="en-US" dirty="0"/>
          </a:p>
        </p:txBody>
      </p:sp>
      <p:pic>
        <p:nvPicPr>
          <p:cNvPr id="8" name="Picture 8" descr="Corporate NYP Logo_Horizontal_RGB"/>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9976383" y="161019"/>
            <a:ext cx="2101771" cy="550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Placeholder 4"/>
          <p:cNvSpPr txBox="1">
            <a:spLocks/>
          </p:cNvSpPr>
          <p:nvPr userDrawn="1"/>
        </p:nvSpPr>
        <p:spPr>
          <a:xfrm>
            <a:off x="39912" y="6383644"/>
            <a:ext cx="312643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dirty="0"/>
              <a:t>2.1 Communication System Architecture</a:t>
            </a:r>
            <a:endParaRPr lang="en-US" dirty="0"/>
          </a:p>
        </p:txBody>
      </p:sp>
      <p:sp>
        <p:nvSpPr>
          <p:cNvPr id="5" name="TextBox 4">
            <a:extLst>
              <a:ext uri="{FF2B5EF4-FFF2-40B4-BE49-F238E27FC236}">
                <a16:creationId xmlns:a16="http://schemas.microsoft.com/office/drawing/2014/main" id="{EEEF10B4-1878-405D-B8DB-AEEE5B2234F6}"/>
              </a:ext>
            </a:extLst>
          </p:cNvPr>
          <p:cNvSpPr txBox="1"/>
          <p:nvPr userDrawn="1">
            <p:extLst>
              <p:ext uri="{1162E1C5-73C7-4A58-AE30-91384D911F3F}">
                <p184:classification xmlns:p184="http://schemas.microsoft.com/office/powerpoint/2018/4/main" val="hdr"/>
              </p:ext>
            </p:extLst>
          </p:nvPr>
        </p:nvSpPr>
        <p:spPr>
          <a:xfrm>
            <a:off x="0" y="0"/>
            <a:ext cx="774700" cy="152400"/>
          </a:xfrm>
          <a:prstGeom prst="rect">
            <a:avLst/>
          </a:prstGeom>
        </p:spPr>
        <p:txBody>
          <a:bodyPr horzOverflow="overflow" lIns="0" tIns="0" rIns="0" bIns="0">
            <a:spAutoFit/>
          </a:bodyPr>
          <a:lstStyle/>
          <a:p>
            <a:pPr algn="l"/>
            <a:r>
              <a:rPr lang="en-SG" sz="1000">
                <a:solidFill>
                  <a:srgbClr val="000000"/>
                </a:solidFill>
                <a:latin typeface="Calibri" panose="020F0502020204030204" pitchFamily="34" charset="0"/>
                <a:cs typeface="Calibri" panose="020F0502020204030204" pitchFamily="34" charset="0"/>
              </a:rPr>
              <a:t>Official (Open)</a:t>
            </a:r>
          </a:p>
        </p:txBody>
      </p:sp>
    </p:spTree>
    <p:extLst>
      <p:ext uri="{BB962C8B-B14F-4D97-AF65-F5344CB8AC3E}">
        <p14:creationId xmlns:p14="http://schemas.microsoft.com/office/powerpoint/2010/main" val="35033979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p3"/><Relationship Id="rId1" Type="http://schemas.microsoft.com/office/2007/relationships/media" Target="../media/media2.mp3"/><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3" Type="http://schemas.microsoft.com/office/2007/relationships/media" Target="../media/media4.mp3"/><Relationship Id="rId7"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audio" Target="../media/media5.mp3"/><Relationship Id="rId5" Type="http://schemas.microsoft.com/office/2007/relationships/media" Target="../media/media5.mp3"/><Relationship Id="rId4" Type="http://schemas.openxmlformats.org/officeDocument/2006/relationships/audio" Target="../media/media4.mp3"/></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p3"/><Relationship Id="rId1" Type="http://schemas.microsoft.com/office/2007/relationships/media" Target="../media/media6.mp3"/><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p3"/><Relationship Id="rId1" Type="http://schemas.microsoft.com/office/2007/relationships/media" Target="../media/media8.mp3"/><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p3"/><Relationship Id="rId1" Type="http://schemas.microsoft.com/office/2007/relationships/media" Target="../media/media9.mp3"/><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hyperlink" Target="https://youtu.be/LkG0iXV4d2E" TargetMode="External"/><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2.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8" Type="http://schemas.openxmlformats.org/officeDocument/2006/relationships/audio" Target="../media/media14.mp3"/><Relationship Id="rId13" Type="http://schemas.openxmlformats.org/officeDocument/2006/relationships/image" Target="../media/image9.png"/><Relationship Id="rId3" Type="http://schemas.microsoft.com/office/2007/relationships/media" Target="../media/media12.mp3"/><Relationship Id="rId7" Type="http://schemas.microsoft.com/office/2007/relationships/media" Target="../media/media14.mp3"/><Relationship Id="rId12" Type="http://schemas.openxmlformats.org/officeDocument/2006/relationships/image" Target="../media/image7.png"/><Relationship Id="rId2" Type="http://schemas.openxmlformats.org/officeDocument/2006/relationships/audio" Target="../media/media11.mp3"/><Relationship Id="rId16" Type="http://schemas.openxmlformats.org/officeDocument/2006/relationships/image" Target="../media/image2.png"/><Relationship Id="rId1" Type="http://schemas.microsoft.com/office/2007/relationships/media" Target="../media/media11.mp3"/><Relationship Id="rId6" Type="http://schemas.openxmlformats.org/officeDocument/2006/relationships/audio" Target="../media/media13.mp3"/><Relationship Id="rId11" Type="http://schemas.openxmlformats.org/officeDocument/2006/relationships/slideLayout" Target="../slideLayouts/slideLayout2.xml"/><Relationship Id="rId5" Type="http://schemas.microsoft.com/office/2007/relationships/media" Target="../media/media13.mp3"/><Relationship Id="rId15" Type="http://schemas.openxmlformats.org/officeDocument/2006/relationships/image" Target="../media/image11.png"/><Relationship Id="rId10" Type="http://schemas.openxmlformats.org/officeDocument/2006/relationships/audio" Target="../media/media15.mp3"/><Relationship Id="rId4" Type="http://schemas.openxmlformats.org/officeDocument/2006/relationships/audio" Target="../media/media12.mp3"/><Relationship Id="rId9" Type="http://schemas.microsoft.com/office/2007/relationships/media" Target="../media/media15.mp3"/><Relationship Id="rId1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6.mp3"/><Relationship Id="rId1" Type="http://schemas.microsoft.com/office/2007/relationships/media" Target="../media/media16.mp3"/><Relationship Id="rId5" Type="http://schemas.openxmlformats.org/officeDocument/2006/relationships/image" Target="../media/image2.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2.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8.mp3"/><Relationship Id="rId1" Type="http://schemas.microsoft.com/office/2007/relationships/media" Target="../media/media18.mp3"/><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9.mp3"/><Relationship Id="rId1" Type="http://schemas.microsoft.com/office/2007/relationships/media" Target="../media/media19.mp3"/><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0.mp3"/><Relationship Id="rId1" Type="http://schemas.microsoft.com/office/2007/relationships/media" Target="../media/media20.mp3"/><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1.mp3"/><Relationship Id="rId1" Type="http://schemas.microsoft.com/office/2007/relationships/media" Target="../media/media21.mp3"/><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22.mp3"/><Relationship Id="rId1" Type="http://schemas.microsoft.com/office/2007/relationships/media" Target="../media/media22.mp3"/><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23.mp3"/><Relationship Id="rId1" Type="http://schemas.microsoft.com/office/2007/relationships/media" Target="../media/media23.mp3"/><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24.mp3"/><Relationship Id="rId1" Type="http://schemas.microsoft.com/office/2007/relationships/media" Target="../media/media24.mp3"/><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25.mp3"/><Relationship Id="rId1" Type="http://schemas.microsoft.com/office/2007/relationships/media" Target="../media/media25.mp3"/><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hyperlink" Target="https://youtu.be/ymF3ZMlp4f8" TargetMode="External"/><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5.jpeg"/></Relationships>
</file>

<file path=ppt/slides/_rels/slide22.xml.rels><?xml version="1.0" encoding="UTF-8" standalone="yes"?>
<Relationships xmlns="http://schemas.openxmlformats.org/package/2006/relationships"><Relationship Id="rId3" Type="http://schemas.openxmlformats.org/officeDocument/2006/relationships/hyperlink" Target="https://youtu.be/EzkrhXHouNg" TargetMode="External"/><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5.jpe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6.mp3"/><Relationship Id="rId1" Type="http://schemas.microsoft.com/office/2007/relationships/media" Target="../media/media26.mp3"/><Relationship Id="rId5" Type="http://schemas.openxmlformats.org/officeDocument/2006/relationships/image" Target="../media/image2.png"/><Relationship Id="rId4" Type="http://schemas.openxmlformats.org/officeDocument/2006/relationships/notesSlide" Target="../notesSlides/notesSlide3.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27.mp3"/><Relationship Id="rId1" Type="http://schemas.microsoft.com/office/2007/relationships/media" Target="../media/media27.mp3"/><Relationship Id="rId5" Type="http://schemas.openxmlformats.org/officeDocument/2006/relationships/image" Target="../media/image2.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8.mp3"/><Relationship Id="rId1" Type="http://schemas.microsoft.com/office/2007/relationships/media" Target="../media/media28.mp3"/><Relationship Id="rId6" Type="http://schemas.openxmlformats.org/officeDocument/2006/relationships/image" Target="../media/image2.png"/><Relationship Id="rId5" Type="http://schemas.openxmlformats.org/officeDocument/2006/relationships/image" Target="../media/image14.png"/><Relationship Id="rId4" Type="http://schemas.openxmlformats.org/officeDocument/2006/relationships/notesSlide" Target="../notesSlides/notesSlide4.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9.mp3"/><Relationship Id="rId1" Type="http://schemas.microsoft.com/office/2007/relationships/media" Target="../media/media29.mp3"/><Relationship Id="rId5" Type="http://schemas.openxmlformats.org/officeDocument/2006/relationships/image" Target="../media/image2.png"/><Relationship Id="rId4" Type="http://schemas.openxmlformats.org/officeDocument/2006/relationships/notesSlide" Target="../notesSlides/notesSlide5.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30.mp3"/><Relationship Id="rId1" Type="http://schemas.microsoft.com/office/2007/relationships/media" Target="../media/media30.mp3"/><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SG" sz="2800" b="1" dirty="0"/>
              <a:t>Module EGE321</a:t>
            </a:r>
            <a:br>
              <a:rPr lang="en-SG" sz="2800" b="1" dirty="0"/>
            </a:br>
            <a:r>
              <a:rPr lang="en-SG" sz="4000" b="1" dirty="0"/>
              <a:t>Wireless Communication &amp; Networking</a:t>
            </a:r>
            <a:br>
              <a:rPr lang="en-SG" sz="4000" b="1" dirty="0"/>
            </a:br>
            <a:r>
              <a:rPr lang="en-SG" sz="2800" dirty="0"/>
              <a:t>Chapter 2 Wireless Communications System</a:t>
            </a:r>
            <a:endParaRPr lang="en-US" sz="2800" dirty="0"/>
          </a:p>
        </p:txBody>
      </p:sp>
      <p:pic>
        <p:nvPicPr>
          <p:cNvPr id="3" name="Pg1">
            <a:hlinkClick r:id="" action="ppaction://media"/>
            <a:extLst>
              <a:ext uri="{FF2B5EF4-FFF2-40B4-BE49-F238E27FC236}">
                <a16:creationId xmlns:a16="http://schemas.microsoft.com/office/drawing/2014/main" id="{04A811C3-6A6B-422A-962C-96A42400060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0250658" y="5735637"/>
            <a:ext cx="609600" cy="609600"/>
          </a:xfrm>
          <a:prstGeom prst="rect">
            <a:avLst/>
          </a:prstGeom>
        </p:spPr>
      </p:pic>
      <p:sp>
        <p:nvSpPr>
          <p:cNvPr id="4" name="Rectangle 3">
            <a:extLst>
              <a:ext uri="{FF2B5EF4-FFF2-40B4-BE49-F238E27FC236}">
                <a16:creationId xmlns:a16="http://schemas.microsoft.com/office/drawing/2014/main" id="{7145B1B7-BF87-E55E-B484-C53F5A1747A8}"/>
              </a:ext>
            </a:extLst>
          </p:cNvPr>
          <p:cNvSpPr/>
          <p:nvPr/>
        </p:nvSpPr>
        <p:spPr>
          <a:xfrm>
            <a:off x="0" y="0"/>
            <a:ext cx="1026160" cy="2438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703964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13"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SG" sz="3200" b="1" dirty="0">
                <a:effectLst>
                  <a:outerShdw blurRad="38100" dist="38100" dir="2700000" algn="tl">
                    <a:srgbClr val="000000">
                      <a:alpha val="43137"/>
                    </a:srgbClr>
                  </a:outerShdw>
                </a:effectLst>
              </a:rPr>
              <a:t>Contents</a:t>
            </a:r>
            <a:r>
              <a:rPr lang="en-SG" sz="3200" dirty="0"/>
              <a:t> </a:t>
            </a:r>
            <a:endParaRPr lang="en-US" sz="3200" dirty="0"/>
          </a:p>
        </p:txBody>
      </p:sp>
      <p:sp>
        <p:nvSpPr>
          <p:cNvPr id="3" name="Content Placeholder 2"/>
          <p:cNvSpPr>
            <a:spLocks noGrp="1"/>
          </p:cNvSpPr>
          <p:nvPr>
            <p:ph idx="1"/>
          </p:nvPr>
        </p:nvSpPr>
        <p:spPr>
          <a:xfrm>
            <a:off x="1369142" y="1741832"/>
            <a:ext cx="10515600" cy="4351338"/>
          </a:xfrm>
        </p:spPr>
        <p:txBody>
          <a:bodyPr>
            <a:normAutofit/>
          </a:bodyPr>
          <a:lstStyle/>
          <a:p>
            <a:pPr marL="457200" lvl="1" indent="0">
              <a:buNone/>
            </a:pPr>
            <a:r>
              <a:rPr lang="en-GB" sz="2800" dirty="0"/>
              <a:t>2. 	Wireless Communications System</a:t>
            </a:r>
          </a:p>
          <a:p>
            <a:pPr marL="457200" lvl="1" indent="0">
              <a:buNone/>
            </a:pPr>
            <a:r>
              <a:rPr lang="en-GB" sz="2800" dirty="0"/>
              <a:t>	</a:t>
            </a:r>
            <a:r>
              <a:rPr lang="en-GB" sz="2800" b="1" dirty="0">
                <a:highlight>
                  <a:srgbClr val="00FF00"/>
                </a:highlight>
              </a:rPr>
              <a:t>2.1	</a:t>
            </a:r>
            <a:r>
              <a:rPr lang="en-SG" sz="2800" b="1" dirty="0">
                <a:highlight>
                  <a:srgbClr val="00FF00"/>
                </a:highlight>
              </a:rPr>
              <a:t>Communication System Architecture</a:t>
            </a:r>
          </a:p>
          <a:p>
            <a:pPr marL="457200" lvl="1" indent="0">
              <a:buNone/>
            </a:pPr>
            <a:r>
              <a:rPr lang="en-SG" sz="2800" dirty="0"/>
              <a:t>	2.2	Radio Propagation and Link Budget Analysis</a:t>
            </a:r>
          </a:p>
          <a:p>
            <a:pPr marL="457200" lvl="1" indent="0">
              <a:buNone/>
            </a:pPr>
            <a:r>
              <a:rPr lang="en-SG" sz="2800" dirty="0"/>
              <a:t>	2.3	Digital Modulation Technique</a:t>
            </a:r>
          </a:p>
          <a:p>
            <a:pPr marL="457200" lvl="1" indent="0">
              <a:buNone/>
            </a:pPr>
            <a:endParaRPr lang="en-SG" dirty="0"/>
          </a:p>
          <a:p>
            <a:pPr marL="457200" lvl="1" indent="0">
              <a:buNone/>
            </a:pPr>
            <a:r>
              <a:rPr lang="en-SG" dirty="0"/>
              <a:t>		</a:t>
            </a:r>
          </a:p>
          <a:p>
            <a:pPr marL="457200" lvl="1" indent="0">
              <a:buNone/>
            </a:pPr>
            <a:r>
              <a:rPr lang="en-SG" dirty="0"/>
              <a:t>		</a:t>
            </a:r>
            <a:endParaRPr lang="en-US" dirty="0"/>
          </a:p>
        </p:txBody>
      </p:sp>
      <p:sp>
        <p:nvSpPr>
          <p:cNvPr id="5" name="Slide Number Placeholder 4"/>
          <p:cNvSpPr>
            <a:spLocks noGrp="1"/>
          </p:cNvSpPr>
          <p:nvPr>
            <p:ph type="sldNum" sz="quarter" idx="4"/>
          </p:nvPr>
        </p:nvSpPr>
        <p:spPr>
          <a:xfrm>
            <a:off x="4724400" y="6356349"/>
            <a:ext cx="2743200" cy="365125"/>
          </a:xfrm>
        </p:spPr>
        <p:txBody>
          <a:bodyPr/>
          <a:lstStyle/>
          <a:p>
            <a:r>
              <a:rPr lang="en-US" dirty="0"/>
              <a:t>Page </a:t>
            </a:r>
            <a:fld id="{A862897D-0F50-4425-B5E1-82FAA232DFBF}" type="slidenum">
              <a:rPr lang="en-US" smtClean="0"/>
              <a:pPr/>
              <a:t>2</a:t>
            </a:fld>
            <a:r>
              <a:rPr lang="en-US" dirty="0"/>
              <a:t> of 23</a:t>
            </a:r>
          </a:p>
        </p:txBody>
      </p:sp>
      <p:pic>
        <p:nvPicPr>
          <p:cNvPr id="4" name="Pg2">
            <a:hlinkClick r:id="" action="ppaction://media"/>
            <a:extLst>
              <a:ext uri="{FF2B5EF4-FFF2-40B4-BE49-F238E27FC236}">
                <a16:creationId xmlns:a16="http://schemas.microsoft.com/office/drawing/2014/main" id="{2BDCDCAE-E03B-4824-B775-0E9618D32AC2}"/>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0213258" y="5746749"/>
            <a:ext cx="609600" cy="609600"/>
          </a:xfrm>
          <a:prstGeom prst="rect">
            <a:avLst/>
          </a:prstGeom>
        </p:spPr>
      </p:pic>
      <p:sp>
        <p:nvSpPr>
          <p:cNvPr id="6" name="Rectangle 5">
            <a:extLst>
              <a:ext uri="{FF2B5EF4-FFF2-40B4-BE49-F238E27FC236}">
                <a16:creationId xmlns:a16="http://schemas.microsoft.com/office/drawing/2014/main" id="{64229F9C-EAEB-1257-866C-272AA1A87933}"/>
              </a:ext>
            </a:extLst>
          </p:cNvPr>
          <p:cNvSpPr/>
          <p:nvPr/>
        </p:nvSpPr>
        <p:spPr>
          <a:xfrm>
            <a:off x="0" y="0"/>
            <a:ext cx="1026160" cy="2438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649411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345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3"/>
          <p:cNvSpPr>
            <a:spLocks noGrp="1" noChangeArrowheads="1"/>
          </p:cNvSpPr>
          <p:nvPr>
            <p:ph type="body" sz="half" idx="1"/>
          </p:nvPr>
        </p:nvSpPr>
        <p:spPr>
          <a:xfrm>
            <a:off x="841376" y="1423988"/>
            <a:ext cx="6599987" cy="4351338"/>
          </a:xfrm>
        </p:spPr>
        <p:txBody>
          <a:bodyPr>
            <a:normAutofit/>
          </a:bodyPr>
          <a:lstStyle/>
          <a:p>
            <a:r>
              <a:rPr lang="en-US" sz="2400" dirty="0"/>
              <a:t>Analogue</a:t>
            </a:r>
          </a:p>
          <a:p>
            <a:pPr lvl="1"/>
            <a:r>
              <a:rPr lang="en-US" dirty="0"/>
              <a:t>An analogue signal is defined as a physical time-varying quantity and is usually smooth and continuous.</a:t>
            </a:r>
          </a:p>
          <a:p>
            <a:pPr marL="457200" lvl="1" indent="0">
              <a:buNone/>
            </a:pPr>
            <a:endParaRPr lang="en-US" dirty="0"/>
          </a:p>
          <a:p>
            <a:pPr marL="457200" lvl="1" indent="0">
              <a:buNone/>
            </a:pPr>
            <a:endParaRPr lang="en-US" dirty="0"/>
          </a:p>
          <a:p>
            <a:r>
              <a:rPr lang="en-US" sz="2400" b="1" dirty="0">
                <a:solidFill>
                  <a:srgbClr val="FF0000"/>
                </a:solidFill>
              </a:rPr>
              <a:t>Digital</a:t>
            </a:r>
          </a:p>
          <a:p>
            <a:pPr lvl="1"/>
            <a:r>
              <a:rPr lang="en-US" b="1" dirty="0">
                <a:solidFill>
                  <a:srgbClr val="FF0000"/>
                </a:solidFill>
              </a:rPr>
              <a:t>A digital signal, on the other hand, is made up of discrete symbols selected from a finite set.</a:t>
            </a:r>
          </a:p>
        </p:txBody>
      </p:sp>
      <p:grpSp>
        <p:nvGrpSpPr>
          <p:cNvPr id="4" name="Group 3">
            <a:extLst>
              <a:ext uri="{FF2B5EF4-FFF2-40B4-BE49-F238E27FC236}">
                <a16:creationId xmlns:a16="http://schemas.microsoft.com/office/drawing/2014/main" id="{98CA565B-A6CF-450F-9FF4-159C382533AD}"/>
              </a:ext>
            </a:extLst>
          </p:cNvPr>
          <p:cNvGrpSpPr/>
          <p:nvPr/>
        </p:nvGrpSpPr>
        <p:grpSpPr>
          <a:xfrm>
            <a:off x="8177563" y="3105392"/>
            <a:ext cx="3595509" cy="2579097"/>
            <a:chOff x="8258928" y="3531281"/>
            <a:chExt cx="2568026" cy="2107673"/>
          </a:xfrm>
        </p:grpSpPr>
        <p:sp>
          <p:nvSpPr>
            <p:cNvPr id="11269" name="Line 7"/>
            <p:cNvSpPr>
              <a:spLocks noChangeShapeType="1"/>
            </p:cNvSpPr>
            <p:nvPr/>
          </p:nvSpPr>
          <p:spPr bwMode="auto">
            <a:xfrm flipV="1">
              <a:off x="8695491" y="3818619"/>
              <a:ext cx="0" cy="1411287"/>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en-SG"/>
            </a:p>
          </p:txBody>
        </p:sp>
        <p:sp>
          <p:nvSpPr>
            <p:cNvPr id="11270" name="Line 8"/>
            <p:cNvSpPr>
              <a:spLocks noChangeShapeType="1"/>
            </p:cNvSpPr>
            <p:nvPr/>
          </p:nvSpPr>
          <p:spPr bwMode="auto">
            <a:xfrm>
              <a:off x="8695491" y="4625068"/>
              <a:ext cx="1909762" cy="0"/>
            </a:xfrm>
            <a:prstGeom prst="line">
              <a:avLst/>
            </a:prstGeom>
            <a:noFill/>
            <a:ln w="28575">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en-SG"/>
            </a:p>
          </p:txBody>
        </p:sp>
        <p:cxnSp>
          <p:nvCxnSpPr>
            <p:cNvPr id="11271" name="AutoShape 9"/>
            <p:cNvCxnSpPr>
              <a:cxnSpLocks noChangeShapeType="1"/>
            </p:cNvCxnSpPr>
            <p:nvPr/>
          </p:nvCxnSpPr>
          <p:spPr bwMode="auto">
            <a:xfrm>
              <a:off x="8955842" y="4048805"/>
              <a:ext cx="261937" cy="0"/>
            </a:xfrm>
            <a:prstGeom prst="straightConnector1">
              <a:avLst/>
            </a:prstGeom>
            <a:noFill/>
            <a:ln w="28575">
              <a:solidFill>
                <a:srgbClr val="CC3300"/>
              </a:solidFill>
              <a:round/>
              <a:headEnd/>
              <a:tailEnd/>
            </a:ln>
            <a:extLst>
              <a:ext uri="{909E8E84-426E-40DD-AFC4-6F175D3DCCD1}">
                <a14:hiddenFill xmlns:a14="http://schemas.microsoft.com/office/drawing/2010/main">
                  <a:noFill/>
                </a14:hiddenFill>
              </a:ext>
            </a:extLst>
          </p:spPr>
        </p:cxnSp>
        <p:cxnSp>
          <p:nvCxnSpPr>
            <p:cNvPr id="11272" name="AutoShape 10"/>
            <p:cNvCxnSpPr>
              <a:cxnSpLocks noChangeShapeType="1"/>
            </p:cNvCxnSpPr>
            <p:nvPr/>
          </p:nvCxnSpPr>
          <p:spPr bwMode="auto">
            <a:xfrm>
              <a:off x="9217778" y="4048805"/>
              <a:ext cx="0" cy="1181100"/>
            </a:xfrm>
            <a:prstGeom prst="straightConnector1">
              <a:avLst/>
            </a:prstGeom>
            <a:noFill/>
            <a:ln w="28575">
              <a:solidFill>
                <a:srgbClr val="CC3300"/>
              </a:solidFill>
              <a:round/>
              <a:headEnd/>
              <a:tailEnd/>
            </a:ln>
            <a:extLst>
              <a:ext uri="{909E8E84-426E-40DD-AFC4-6F175D3DCCD1}">
                <a14:hiddenFill xmlns:a14="http://schemas.microsoft.com/office/drawing/2010/main">
                  <a:noFill/>
                </a14:hiddenFill>
              </a:ext>
            </a:extLst>
          </p:spPr>
        </p:cxnSp>
        <p:cxnSp>
          <p:nvCxnSpPr>
            <p:cNvPr id="11273" name="AutoShape 11"/>
            <p:cNvCxnSpPr>
              <a:cxnSpLocks noChangeShapeType="1"/>
            </p:cNvCxnSpPr>
            <p:nvPr/>
          </p:nvCxnSpPr>
          <p:spPr bwMode="auto">
            <a:xfrm>
              <a:off x="9217779" y="5229905"/>
              <a:ext cx="258763" cy="0"/>
            </a:xfrm>
            <a:prstGeom prst="straightConnector1">
              <a:avLst/>
            </a:prstGeom>
            <a:noFill/>
            <a:ln w="28575">
              <a:solidFill>
                <a:srgbClr val="CC3300"/>
              </a:solidFill>
              <a:round/>
              <a:headEnd/>
              <a:tailEnd/>
            </a:ln>
            <a:extLst>
              <a:ext uri="{909E8E84-426E-40DD-AFC4-6F175D3DCCD1}">
                <a14:hiddenFill xmlns:a14="http://schemas.microsoft.com/office/drawing/2010/main">
                  <a:noFill/>
                </a14:hiddenFill>
              </a:ext>
            </a:extLst>
          </p:spPr>
        </p:cxnSp>
        <p:cxnSp>
          <p:nvCxnSpPr>
            <p:cNvPr id="11274" name="AutoShape 12"/>
            <p:cNvCxnSpPr>
              <a:cxnSpLocks noChangeShapeType="1"/>
            </p:cNvCxnSpPr>
            <p:nvPr/>
          </p:nvCxnSpPr>
          <p:spPr bwMode="auto">
            <a:xfrm>
              <a:off x="9476541" y="4048805"/>
              <a:ext cx="0" cy="1181100"/>
            </a:xfrm>
            <a:prstGeom prst="straightConnector1">
              <a:avLst/>
            </a:prstGeom>
            <a:noFill/>
            <a:ln w="28575">
              <a:solidFill>
                <a:srgbClr val="CC3300"/>
              </a:solidFill>
              <a:round/>
              <a:headEnd/>
              <a:tailEnd/>
            </a:ln>
            <a:extLst>
              <a:ext uri="{909E8E84-426E-40DD-AFC4-6F175D3DCCD1}">
                <a14:hiddenFill xmlns:a14="http://schemas.microsoft.com/office/drawing/2010/main">
                  <a:noFill/>
                </a14:hiddenFill>
              </a:ext>
            </a:extLst>
          </p:spPr>
        </p:cxnSp>
        <p:cxnSp>
          <p:nvCxnSpPr>
            <p:cNvPr id="11275" name="AutoShape 13"/>
            <p:cNvCxnSpPr>
              <a:cxnSpLocks noChangeShapeType="1"/>
            </p:cNvCxnSpPr>
            <p:nvPr/>
          </p:nvCxnSpPr>
          <p:spPr bwMode="auto">
            <a:xfrm>
              <a:off x="8960603" y="4048805"/>
              <a:ext cx="0" cy="1181100"/>
            </a:xfrm>
            <a:prstGeom prst="straightConnector1">
              <a:avLst/>
            </a:prstGeom>
            <a:noFill/>
            <a:ln w="28575">
              <a:solidFill>
                <a:srgbClr val="CC3300"/>
              </a:solidFill>
              <a:round/>
              <a:headEnd/>
              <a:tailEnd/>
            </a:ln>
            <a:extLst>
              <a:ext uri="{909E8E84-426E-40DD-AFC4-6F175D3DCCD1}">
                <a14:hiddenFill xmlns:a14="http://schemas.microsoft.com/office/drawing/2010/main">
                  <a:noFill/>
                </a14:hiddenFill>
              </a:ext>
            </a:extLst>
          </p:spPr>
        </p:cxnSp>
        <p:cxnSp>
          <p:nvCxnSpPr>
            <p:cNvPr id="11276" name="AutoShape 14"/>
            <p:cNvCxnSpPr>
              <a:cxnSpLocks noChangeShapeType="1"/>
            </p:cNvCxnSpPr>
            <p:nvPr/>
          </p:nvCxnSpPr>
          <p:spPr bwMode="auto">
            <a:xfrm>
              <a:off x="9476541" y="4048805"/>
              <a:ext cx="260350" cy="0"/>
            </a:xfrm>
            <a:prstGeom prst="straightConnector1">
              <a:avLst/>
            </a:prstGeom>
            <a:noFill/>
            <a:ln w="28575">
              <a:solidFill>
                <a:srgbClr val="CC3300"/>
              </a:solidFill>
              <a:round/>
              <a:headEnd/>
              <a:tailEnd/>
            </a:ln>
            <a:extLst>
              <a:ext uri="{909E8E84-426E-40DD-AFC4-6F175D3DCCD1}">
                <a14:hiddenFill xmlns:a14="http://schemas.microsoft.com/office/drawing/2010/main">
                  <a:noFill/>
                </a14:hiddenFill>
              </a:ext>
            </a:extLst>
          </p:spPr>
        </p:cxnSp>
        <p:cxnSp>
          <p:nvCxnSpPr>
            <p:cNvPr id="11277" name="AutoShape 15"/>
            <p:cNvCxnSpPr>
              <a:cxnSpLocks noChangeShapeType="1"/>
            </p:cNvCxnSpPr>
            <p:nvPr/>
          </p:nvCxnSpPr>
          <p:spPr bwMode="auto">
            <a:xfrm>
              <a:off x="9736891" y="4048805"/>
              <a:ext cx="258762" cy="0"/>
            </a:xfrm>
            <a:prstGeom prst="straightConnector1">
              <a:avLst/>
            </a:prstGeom>
            <a:noFill/>
            <a:ln w="28575">
              <a:solidFill>
                <a:srgbClr val="CC3300"/>
              </a:solidFill>
              <a:round/>
              <a:headEnd/>
              <a:tailEnd/>
            </a:ln>
            <a:extLst>
              <a:ext uri="{909E8E84-426E-40DD-AFC4-6F175D3DCCD1}">
                <a14:hiddenFill xmlns:a14="http://schemas.microsoft.com/office/drawing/2010/main">
                  <a:noFill/>
                </a14:hiddenFill>
              </a:ext>
            </a:extLst>
          </p:spPr>
        </p:cxnSp>
        <p:cxnSp>
          <p:nvCxnSpPr>
            <p:cNvPr id="11278" name="AutoShape 16"/>
            <p:cNvCxnSpPr>
              <a:cxnSpLocks noChangeShapeType="1"/>
            </p:cNvCxnSpPr>
            <p:nvPr/>
          </p:nvCxnSpPr>
          <p:spPr bwMode="auto">
            <a:xfrm>
              <a:off x="9995653" y="4048805"/>
              <a:ext cx="0" cy="1181100"/>
            </a:xfrm>
            <a:prstGeom prst="straightConnector1">
              <a:avLst/>
            </a:prstGeom>
            <a:noFill/>
            <a:ln w="28575">
              <a:solidFill>
                <a:srgbClr val="CC3300"/>
              </a:solidFill>
              <a:round/>
              <a:headEnd/>
              <a:tailEnd/>
            </a:ln>
            <a:extLst>
              <a:ext uri="{909E8E84-426E-40DD-AFC4-6F175D3DCCD1}">
                <a14:hiddenFill xmlns:a14="http://schemas.microsoft.com/office/drawing/2010/main">
                  <a:noFill/>
                </a14:hiddenFill>
              </a:ext>
            </a:extLst>
          </p:spPr>
        </p:cxnSp>
        <p:cxnSp>
          <p:nvCxnSpPr>
            <p:cNvPr id="11279" name="AutoShape 17"/>
            <p:cNvCxnSpPr>
              <a:cxnSpLocks noChangeShapeType="1"/>
            </p:cNvCxnSpPr>
            <p:nvPr/>
          </p:nvCxnSpPr>
          <p:spPr bwMode="auto">
            <a:xfrm>
              <a:off x="9995653" y="5229905"/>
              <a:ext cx="260350" cy="0"/>
            </a:xfrm>
            <a:prstGeom prst="straightConnector1">
              <a:avLst/>
            </a:prstGeom>
            <a:noFill/>
            <a:ln w="28575">
              <a:solidFill>
                <a:srgbClr val="CC3300"/>
              </a:solidFill>
              <a:round/>
              <a:headEnd/>
              <a:tailEnd/>
            </a:ln>
            <a:extLst>
              <a:ext uri="{909E8E84-426E-40DD-AFC4-6F175D3DCCD1}">
                <a14:hiddenFill xmlns:a14="http://schemas.microsoft.com/office/drawing/2010/main">
                  <a:noFill/>
                </a14:hiddenFill>
              </a:ext>
            </a:extLst>
          </p:spPr>
        </p:cxnSp>
        <p:sp>
          <p:nvSpPr>
            <p:cNvPr id="11280" name="Text Box 18"/>
            <p:cNvSpPr txBox="1">
              <a:spLocks noChangeArrowheads="1"/>
            </p:cNvSpPr>
            <p:nvPr/>
          </p:nvSpPr>
          <p:spPr bwMode="auto">
            <a:xfrm>
              <a:off x="10149642" y="4024994"/>
              <a:ext cx="35718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1422" tIns="45711" rIns="91422" bIns="45711">
              <a:spAutoFit/>
            </a:bodyPr>
            <a:lstStyle>
              <a:lvl1pPr>
                <a:defRPr kumimoji="1" sz="1600">
                  <a:solidFill>
                    <a:schemeClr val="tx2"/>
                  </a:solidFill>
                  <a:latin typeface="Arial" pitchFamily="34" charset="0"/>
                </a:defRPr>
              </a:lvl1pPr>
              <a:lvl2pPr marL="742950" indent="-285750">
                <a:defRPr kumimoji="1" sz="1600">
                  <a:solidFill>
                    <a:schemeClr val="tx2"/>
                  </a:solidFill>
                  <a:latin typeface="Arial" pitchFamily="34" charset="0"/>
                </a:defRPr>
              </a:lvl2pPr>
              <a:lvl3pPr marL="1143000" indent="-228600">
                <a:defRPr kumimoji="1" sz="1600">
                  <a:solidFill>
                    <a:schemeClr val="tx2"/>
                  </a:solidFill>
                  <a:latin typeface="Arial" pitchFamily="34" charset="0"/>
                </a:defRPr>
              </a:lvl3pPr>
              <a:lvl4pPr marL="1600200" indent="-228600">
                <a:defRPr kumimoji="1" sz="1600">
                  <a:solidFill>
                    <a:schemeClr val="tx2"/>
                  </a:solidFill>
                  <a:latin typeface="Arial" pitchFamily="34" charset="0"/>
                </a:defRPr>
              </a:lvl4pPr>
              <a:lvl5pPr marL="2057400" indent="-228600">
                <a:defRPr kumimoji="1" sz="1600">
                  <a:solidFill>
                    <a:schemeClr val="tx2"/>
                  </a:solidFill>
                  <a:latin typeface="Arial" pitchFamily="34" charset="0"/>
                </a:defRPr>
              </a:lvl5pPr>
              <a:lvl6pPr marL="2514600" indent="-228600" eaLnBrk="0" fontAlgn="base" hangingPunct="0">
                <a:spcBef>
                  <a:spcPct val="0"/>
                </a:spcBef>
                <a:spcAft>
                  <a:spcPct val="0"/>
                </a:spcAft>
                <a:defRPr kumimoji="1" sz="1600">
                  <a:solidFill>
                    <a:schemeClr val="tx2"/>
                  </a:solidFill>
                  <a:latin typeface="Arial" pitchFamily="34" charset="0"/>
                </a:defRPr>
              </a:lvl6pPr>
              <a:lvl7pPr marL="2971800" indent="-228600" eaLnBrk="0" fontAlgn="base" hangingPunct="0">
                <a:spcBef>
                  <a:spcPct val="0"/>
                </a:spcBef>
                <a:spcAft>
                  <a:spcPct val="0"/>
                </a:spcAft>
                <a:defRPr kumimoji="1" sz="1600">
                  <a:solidFill>
                    <a:schemeClr val="tx2"/>
                  </a:solidFill>
                  <a:latin typeface="Arial" pitchFamily="34" charset="0"/>
                </a:defRPr>
              </a:lvl7pPr>
              <a:lvl8pPr marL="3429000" indent="-228600" eaLnBrk="0" fontAlgn="base" hangingPunct="0">
                <a:spcBef>
                  <a:spcPct val="0"/>
                </a:spcBef>
                <a:spcAft>
                  <a:spcPct val="0"/>
                </a:spcAft>
                <a:defRPr kumimoji="1" sz="1600">
                  <a:solidFill>
                    <a:schemeClr val="tx2"/>
                  </a:solidFill>
                  <a:latin typeface="Arial" pitchFamily="34" charset="0"/>
                </a:defRPr>
              </a:lvl8pPr>
              <a:lvl9pPr marL="3886200" indent="-228600" eaLnBrk="0" fontAlgn="base" hangingPunct="0">
                <a:spcBef>
                  <a:spcPct val="0"/>
                </a:spcBef>
                <a:spcAft>
                  <a:spcPct val="0"/>
                </a:spcAft>
                <a:defRPr kumimoji="1" sz="1600">
                  <a:solidFill>
                    <a:schemeClr val="tx2"/>
                  </a:solidFill>
                  <a:latin typeface="Arial" pitchFamily="34" charset="0"/>
                </a:defRPr>
              </a:lvl9pPr>
            </a:lstStyle>
            <a:p>
              <a:r>
                <a:rPr kumimoji="0" lang="en-US">
                  <a:solidFill>
                    <a:schemeClr val="tx1"/>
                  </a:solidFill>
                </a:rPr>
                <a:t>...</a:t>
              </a:r>
            </a:p>
          </p:txBody>
        </p:sp>
        <p:sp>
          <p:nvSpPr>
            <p:cNvPr id="11281" name="Text Box 19"/>
            <p:cNvSpPr txBox="1">
              <a:spLocks noChangeArrowheads="1"/>
            </p:cNvSpPr>
            <p:nvPr/>
          </p:nvSpPr>
          <p:spPr bwMode="auto">
            <a:xfrm>
              <a:off x="10584616" y="4253593"/>
              <a:ext cx="242338" cy="338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2" tIns="45711" rIns="91422" bIns="45711">
              <a:spAutoFit/>
            </a:bodyPr>
            <a:lstStyle>
              <a:lvl1pPr>
                <a:defRPr kumimoji="1" sz="1600">
                  <a:solidFill>
                    <a:schemeClr val="tx2"/>
                  </a:solidFill>
                  <a:latin typeface="Arial" pitchFamily="34" charset="0"/>
                </a:defRPr>
              </a:lvl1pPr>
              <a:lvl2pPr marL="742950" indent="-285750">
                <a:defRPr kumimoji="1" sz="1600">
                  <a:solidFill>
                    <a:schemeClr val="tx2"/>
                  </a:solidFill>
                  <a:latin typeface="Arial" pitchFamily="34" charset="0"/>
                </a:defRPr>
              </a:lvl2pPr>
              <a:lvl3pPr marL="1143000" indent="-228600">
                <a:defRPr kumimoji="1" sz="1600">
                  <a:solidFill>
                    <a:schemeClr val="tx2"/>
                  </a:solidFill>
                  <a:latin typeface="Arial" pitchFamily="34" charset="0"/>
                </a:defRPr>
              </a:lvl3pPr>
              <a:lvl4pPr marL="1600200" indent="-228600">
                <a:defRPr kumimoji="1" sz="1600">
                  <a:solidFill>
                    <a:schemeClr val="tx2"/>
                  </a:solidFill>
                  <a:latin typeface="Arial" pitchFamily="34" charset="0"/>
                </a:defRPr>
              </a:lvl4pPr>
              <a:lvl5pPr marL="2057400" indent="-228600">
                <a:defRPr kumimoji="1" sz="1600">
                  <a:solidFill>
                    <a:schemeClr val="tx2"/>
                  </a:solidFill>
                  <a:latin typeface="Arial" pitchFamily="34" charset="0"/>
                </a:defRPr>
              </a:lvl5pPr>
              <a:lvl6pPr marL="2514600" indent="-228600" eaLnBrk="0" fontAlgn="base" hangingPunct="0">
                <a:spcBef>
                  <a:spcPct val="0"/>
                </a:spcBef>
                <a:spcAft>
                  <a:spcPct val="0"/>
                </a:spcAft>
                <a:defRPr kumimoji="1" sz="1600">
                  <a:solidFill>
                    <a:schemeClr val="tx2"/>
                  </a:solidFill>
                  <a:latin typeface="Arial" pitchFamily="34" charset="0"/>
                </a:defRPr>
              </a:lvl6pPr>
              <a:lvl7pPr marL="2971800" indent="-228600" eaLnBrk="0" fontAlgn="base" hangingPunct="0">
                <a:spcBef>
                  <a:spcPct val="0"/>
                </a:spcBef>
                <a:spcAft>
                  <a:spcPct val="0"/>
                </a:spcAft>
                <a:defRPr kumimoji="1" sz="1600">
                  <a:solidFill>
                    <a:schemeClr val="tx2"/>
                  </a:solidFill>
                  <a:latin typeface="Arial" pitchFamily="34" charset="0"/>
                </a:defRPr>
              </a:lvl7pPr>
              <a:lvl8pPr marL="3429000" indent="-228600" eaLnBrk="0" fontAlgn="base" hangingPunct="0">
                <a:spcBef>
                  <a:spcPct val="0"/>
                </a:spcBef>
                <a:spcAft>
                  <a:spcPct val="0"/>
                </a:spcAft>
                <a:defRPr kumimoji="1" sz="1600">
                  <a:solidFill>
                    <a:schemeClr val="tx2"/>
                  </a:solidFill>
                  <a:latin typeface="Arial" pitchFamily="34" charset="0"/>
                </a:defRPr>
              </a:lvl8pPr>
              <a:lvl9pPr marL="3886200" indent="-228600" eaLnBrk="0" fontAlgn="base" hangingPunct="0">
                <a:spcBef>
                  <a:spcPct val="0"/>
                </a:spcBef>
                <a:spcAft>
                  <a:spcPct val="0"/>
                </a:spcAft>
                <a:defRPr kumimoji="1" sz="1600">
                  <a:solidFill>
                    <a:schemeClr val="tx2"/>
                  </a:solidFill>
                  <a:latin typeface="Arial" pitchFamily="34" charset="0"/>
                </a:defRPr>
              </a:lvl9pPr>
            </a:lstStyle>
            <a:p>
              <a:r>
                <a:rPr kumimoji="0" lang="en-US">
                  <a:solidFill>
                    <a:schemeClr val="tx1"/>
                  </a:solidFill>
                </a:rPr>
                <a:t>t</a:t>
              </a:r>
            </a:p>
          </p:txBody>
        </p:sp>
        <p:sp>
          <p:nvSpPr>
            <p:cNvPr id="11282" name="Text Box 25"/>
            <p:cNvSpPr txBox="1">
              <a:spLocks noChangeArrowheads="1"/>
            </p:cNvSpPr>
            <p:nvPr/>
          </p:nvSpPr>
          <p:spPr bwMode="auto">
            <a:xfrm>
              <a:off x="8258928" y="3531281"/>
              <a:ext cx="8588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91422" tIns="45711" rIns="91422" bIns="45711" anchor="b">
              <a:spAutoFit/>
            </a:bodyPr>
            <a:lstStyle>
              <a:lvl1pPr>
                <a:defRPr kumimoji="1" sz="1600">
                  <a:solidFill>
                    <a:schemeClr val="tx2"/>
                  </a:solidFill>
                  <a:latin typeface="Arial" pitchFamily="34" charset="0"/>
                </a:defRPr>
              </a:lvl1pPr>
              <a:lvl2pPr marL="742950" indent="-285750">
                <a:defRPr kumimoji="1" sz="1600">
                  <a:solidFill>
                    <a:schemeClr val="tx2"/>
                  </a:solidFill>
                  <a:latin typeface="Arial" pitchFamily="34" charset="0"/>
                </a:defRPr>
              </a:lvl2pPr>
              <a:lvl3pPr marL="1143000" indent="-228600">
                <a:defRPr kumimoji="1" sz="1600">
                  <a:solidFill>
                    <a:schemeClr val="tx2"/>
                  </a:solidFill>
                  <a:latin typeface="Arial" pitchFamily="34" charset="0"/>
                </a:defRPr>
              </a:lvl3pPr>
              <a:lvl4pPr marL="1600200" indent="-228600">
                <a:defRPr kumimoji="1" sz="1600">
                  <a:solidFill>
                    <a:schemeClr val="tx2"/>
                  </a:solidFill>
                  <a:latin typeface="Arial" pitchFamily="34" charset="0"/>
                </a:defRPr>
              </a:lvl4pPr>
              <a:lvl5pPr marL="2057400" indent="-228600">
                <a:defRPr kumimoji="1" sz="1600">
                  <a:solidFill>
                    <a:schemeClr val="tx2"/>
                  </a:solidFill>
                  <a:latin typeface="Arial" pitchFamily="34" charset="0"/>
                </a:defRPr>
              </a:lvl5pPr>
              <a:lvl6pPr marL="2514600" indent="-228600" eaLnBrk="0" fontAlgn="base" hangingPunct="0">
                <a:spcBef>
                  <a:spcPct val="0"/>
                </a:spcBef>
                <a:spcAft>
                  <a:spcPct val="0"/>
                </a:spcAft>
                <a:defRPr kumimoji="1" sz="1600">
                  <a:solidFill>
                    <a:schemeClr val="tx2"/>
                  </a:solidFill>
                  <a:latin typeface="Arial" pitchFamily="34" charset="0"/>
                </a:defRPr>
              </a:lvl6pPr>
              <a:lvl7pPr marL="2971800" indent="-228600" eaLnBrk="0" fontAlgn="base" hangingPunct="0">
                <a:spcBef>
                  <a:spcPct val="0"/>
                </a:spcBef>
                <a:spcAft>
                  <a:spcPct val="0"/>
                </a:spcAft>
                <a:defRPr kumimoji="1" sz="1600">
                  <a:solidFill>
                    <a:schemeClr val="tx2"/>
                  </a:solidFill>
                  <a:latin typeface="Arial" pitchFamily="34" charset="0"/>
                </a:defRPr>
              </a:lvl7pPr>
              <a:lvl8pPr marL="3429000" indent="-228600" eaLnBrk="0" fontAlgn="base" hangingPunct="0">
                <a:spcBef>
                  <a:spcPct val="0"/>
                </a:spcBef>
                <a:spcAft>
                  <a:spcPct val="0"/>
                </a:spcAft>
                <a:defRPr kumimoji="1" sz="1600">
                  <a:solidFill>
                    <a:schemeClr val="tx2"/>
                  </a:solidFill>
                  <a:latin typeface="Arial" pitchFamily="34" charset="0"/>
                </a:defRPr>
              </a:lvl8pPr>
              <a:lvl9pPr marL="3886200" indent="-228600" eaLnBrk="0" fontAlgn="base" hangingPunct="0">
                <a:spcBef>
                  <a:spcPct val="0"/>
                </a:spcBef>
                <a:spcAft>
                  <a:spcPct val="0"/>
                </a:spcAft>
                <a:defRPr kumimoji="1" sz="1600">
                  <a:solidFill>
                    <a:schemeClr val="tx2"/>
                  </a:solidFill>
                  <a:latin typeface="Arial" pitchFamily="34" charset="0"/>
                </a:defRPr>
              </a:lvl9pPr>
            </a:lstStyle>
            <a:p>
              <a:r>
                <a:rPr lang="en-US" sz="1200"/>
                <a:t>Amplitude</a:t>
              </a:r>
              <a:endParaRPr lang="en-US" sz="1000">
                <a:latin typeface="Arial Black" pitchFamily="34" charset="0"/>
              </a:endParaRPr>
            </a:p>
          </p:txBody>
        </p:sp>
        <p:sp>
          <p:nvSpPr>
            <p:cNvPr id="11283" name="Text Box 26"/>
            <p:cNvSpPr txBox="1">
              <a:spLocks noChangeArrowheads="1"/>
            </p:cNvSpPr>
            <p:nvPr/>
          </p:nvSpPr>
          <p:spPr bwMode="auto">
            <a:xfrm>
              <a:off x="9135449" y="5362298"/>
              <a:ext cx="1061540" cy="276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91422" tIns="45711" rIns="91422" bIns="45711" anchor="b">
              <a:spAutoFit/>
            </a:bodyPr>
            <a:lstStyle>
              <a:lvl1pPr>
                <a:defRPr kumimoji="1" sz="1600">
                  <a:solidFill>
                    <a:schemeClr val="tx2"/>
                  </a:solidFill>
                  <a:latin typeface="Arial" pitchFamily="34" charset="0"/>
                </a:defRPr>
              </a:lvl1pPr>
              <a:lvl2pPr marL="742950" indent="-285750">
                <a:defRPr kumimoji="1" sz="1600">
                  <a:solidFill>
                    <a:schemeClr val="tx2"/>
                  </a:solidFill>
                  <a:latin typeface="Arial" pitchFamily="34" charset="0"/>
                </a:defRPr>
              </a:lvl2pPr>
              <a:lvl3pPr marL="1143000" indent="-228600">
                <a:defRPr kumimoji="1" sz="1600">
                  <a:solidFill>
                    <a:schemeClr val="tx2"/>
                  </a:solidFill>
                  <a:latin typeface="Arial" pitchFamily="34" charset="0"/>
                </a:defRPr>
              </a:lvl3pPr>
              <a:lvl4pPr marL="1600200" indent="-228600">
                <a:defRPr kumimoji="1" sz="1600">
                  <a:solidFill>
                    <a:schemeClr val="tx2"/>
                  </a:solidFill>
                  <a:latin typeface="Arial" pitchFamily="34" charset="0"/>
                </a:defRPr>
              </a:lvl4pPr>
              <a:lvl5pPr marL="2057400" indent="-228600">
                <a:defRPr kumimoji="1" sz="1600">
                  <a:solidFill>
                    <a:schemeClr val="tx2"/>
                  </a:solidFill>
                  <a:latin typeface="Arial" pitchFamily="34" charset="0"/>
                </a:defRPr>
              </a:lvl5pPr>
              <a:lvl6pPr marL="2514600" indent="-228600" eaLnBrk="0" fontAlgn="base" hangingPunct="0">
                <a:spcBef>
                  <a:spcPct val="0"/>
                </a:spcBef>
                <a:spcAft>
                  <a:spcPct val="0"/>
                </a:spcAft>
                <a:defRPr kumimoji="1" sz="1600">
                  <a:solidFill>
                    <a:schemeClr val="tx2"/>
                  </a:solidFill>
                  <a:latin typeface="Arial" pitchFamily="34" charset="0"/>
                </a:defRPr>
              </a:lvl6pPr>
              <a:lvl7pPr marL="2971800" indent="-228600" eaLnBrk="0" fontAlgn="base" hangingPunct="0">
                <a:spcBef>
                  <a:spcPct val="0"/>
                </a:spcBef>
                <a:spcAft>
                  <a:spcPct val="0"/>
                </a:spcAft>
                <a:defRPr kumimoji="1" sz="1600">
                  <a:solidFill>
                    <a:schemeClr val="tx2"/>
                  </a:solidFill>
                  <a:latin typeface="Arial" pitchFamily="34" charset="0"/>
                </a:defRPr>
              </a:lvl7pPr>
              <a:lvl8pPr marL="3429000" indent="-228600" eaLnBrk="0" fontAlgn="base" hangingPunct="0">
                <a:spcBef>
                  <a:spcPct val="0"/>
                </a:spcBef>
                <a:spcAft>
                  <a:spcPct val="0"/>
                </a:spcAft>
                <a:defRPr kumimoji="1" sz="1600">
                  <a:solidFill>
                    <a:schemeClr val="tx2"/>
                  </a:solidFill>
                  <a:latin typeface="Arial" pitchFamily="34" charset="0"/>
                </a:defRPr>
              </a:lvl8pPr>
              <a:lvl9pPr marL="3886200" indent="-228600" eaLnBrk="0" fontAlgn="base" hangingPunct="0">
                <a:spcBef>
                  <a:spcPct val="0"/>
                </a:spcBef>
                <a:spcAft>
                  <a:spcPct val="0"/>
                </a:spcAft>
                <a:defRPr kumimoji="1" sz="1600">
                  <a:solidFill>
                    <a:schemeClr val="tx2"/>
                  </a:solidFill>
                  <a:latin typeface="Arial" pitchFamily="34" charset="0"/>
                </a:defRPr>
              </a:lvl9pPr>
            </a:lstStyle>
            <a:p>
              <a:r>
                <a:rPr lang="en-US" b="1" dirty="0"/>
                <a:t>Digital Signal</a:t>
              </a:r>
              <a:endParaRPr lang="en-US" dirty="0">
                <a:latin typeface="Arial Black" pitchFamily="34" charset="0"/>
              </a:endParaRPr>
            </a:p>
          </p:txBody>
        </p:sp>
      </p:grpSp>
      <p:grpSp>
        <p:nvGrpSpPr>
          <p:cNvPr id="2" name="Group 1">
            <a:extLst>
              <a:ext uri="{FF2B5EF4-FFF2-40B4-BE49-F238E27FC236}">
                <a16:creationId xmlns:a16="http://schemas.microsoft.com/office/drawing/2014/main" id="{CBA38318-90DE-47FD-86EB-0BCD9C0CF5BC}"/>
              </a:ext>
            </a:extLst>
          </p:cNvPr>
          <p:cNvGrpSpPr/>
          <p:nvPr/>
        </p:nvGrpSpPr>
        <p:grpSpPr>
          <a:xfrm>
            <a:off x="8146567" y="806931"/>
            <a:ext cx="3346495" cy="2207467"/>
            <a:chOff x="8246228" y="1294494"/>
            <a:chExt cx="2571201" cy="1780401"/>
          </a:xfrm>
        </p:grpSpPr>
        <p:sp>
          <p:nvSpPr>
            <p:cNvPr id="11284" name="Line 28"/>
            <p:cNvSpPr>
              <a:spLocks noChangeShapeType="1"/>
            </p:cNvSpPr>
            <p:nvPr/>
          </p:nvSpPr>
          <p:spPr bwMode="auto">
            <a:xfrm flipV="1">
              <a:off x="8682791" y="1521506"/>
              <a:ext cx="0" cy="1408113"/>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en-SG"/>
            </a:p>
          </p:txBody>
        </p:sp>
        <p:sp>
          <p:nvSpPr>
            <p:cNvPr id="11285" name="Line 29"/>
            <p:cNvSpPr>
              <a:spLocks noChangeShapeType="1"/>
            </p:cNvSpPr>
            <p:nvPr/>
          </p:nvSpPr>
          <p:spPr bwMode="auto">
            <a:xfrm>
              <a:off x="8682791" y="2324780"/>
              <a:ext cx="1909762" cy="0"/>
            </a:xfrm>
            <a:prstGeom prst="line">
              <a:avLst/>
            </a:prstGeom>
            <a:noFill/>
            <a:ln w="28575">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en-SG"/>
            </a:p>
          </p:txBody>
        </p:sp>
        <p:sp>
          <p:nvSpPr>
            <p:cNvPr id="11286" name="Text Box 39"/>
            <p:cNvSpPr txBox="1">
              <a:spLocks noChangeArrowheads="1"/>
            </p:cNvSpPr>
            <p:nvPr/>
          </p:nvSpPr>
          <p:spPr bwMode="auto">
            <a:xfrm>
              <a:off x="10138528" y="1727880"/>
              <a:ext cx="357754" cy="338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1422" tIns="45711" rIns="91422" bIns="45711">
              <a:spAutoFit/>
            </a:bodyPr>
            <a:lstStyle>
              <a:lvl1pPr>
                <a:defRPr kumimoji="1" sz="1600">
                  <a:solidFill>
                    <a:schemeClr val="tx2"/>
                  </a:solidFill>
                  <a:latin typeface="Arial" pitchFamily="34" charset="0"/>
                </a:defRPr>
              </a:lvl1pPr>
              <a:lvl2pPr marL="742950" indent="-285750">
                <a:defRPr kumimoji="1" sz="1600">
                  <a:solidFill>
                    <a:schemeClr val="tx2"/>
                  </a:solidFill>
                  <a:latin typeface="Arial" pitchFamily="34" charset="0"/>
                </a:defRPr>
              </a:lvl2pPr>
              <a:lvl3pPr marL="1143000" indent="-228600">
                <a:defRPr kumimoji="1" sz="1600">
                  <a:solidFill>
                    <a:schemeClr val="tx2"/>
                  </a:solidFill>
                  <a:latin typeface="Arial" pitchFamily="34" charset="0"/>
                </a:defRPr>
              </a:lvl3pPr>
              <a:lvl4pPr marL="1600200" indent="-228600">
                <a:defRPr kumimoji="1" sz="1600">
                  <a:solidFill>
                    <a:schemeClr val="tx2"/>
                  </a:solidFill>
                  <a:latin typeface="Arial" pitchFamily="34" charset="0"/>
                </a:defRPr>
              </a:lvl4pPr>
              <a:lvl5pPr marL="2057400" indent="-228600">
                <a:defRPr kumimoji="1" sz="1600">
                  <a:solidFill>
                    <a:schemeClr val="tx2"/>
                  </a:solidFill>
                  <a:latin typeface="Arial" pitchFamily="34" charset="0"/>
                </a:defRPr>
              </a:lvl5pPr>
              <a:lvl6pPr marL="2514600" indent="-228600" eaLnBrk="0" fontAlgn="base" hangingPunct="0">
                <a:spcBef>
                  <a:spcPct val="0"/>
                </a:spcBef>
                <a:spcAft>
                  <a:spcPct val="0"/>
                </a:spcAft>
                <a:defRPr kumimoji="1" sz="1600">
                  <a:solidFill>
                    <a:schemeClr val="tx2"/>
                  </a:solidFill>
                  <a:latin typeface="Arial" pitchFamily="34" charset="0"/>
                </a:defRPr>
              </a:lvl6pPr>
              <a:lvl7pPr marL="2971800" indent="-228600" eaLnBrk="0" fontAlgn="base" hangingPunct="0">
                <a:spcBef>
                  <a:spcPct val="0"/>
                </a:spcBef>
                <a:spcAft>
                  <a:spcPct val="0"/>
                </a:spcAft>
                <a:defRPr kumimoji="1" sz="1600">
                  <a:solidFill>
                    <a:schemeClr val="tx2"/>
                  </a:solidFill>
                  <a:latin typeface="Arial" pitchFamily="34" charset="0"/>
                </a:defRPr>
              </a:lvl7pPr>
              <a:lvl8pPr marL="3429000" indent="-228600" eaLnBrk="0" fontAlgn="base" hangingPunct="0">
                <a:spcBef>
                  <a:spcPct val="0"/>
                </a:spcBef>
                <a:spcAft>
                  <a:spcPct val="0"/>
                </a:spcAft>
                <a:defRPr kumimoji="1" sz="1600">
                  <a:solidFill>
                    <a:schemeClr val="tx2"/>
                  </a:solidFill>
                  <a:latin typeface="Arial" pitchFamily="34" charset="0"/>
                </a:defRPr>
              </a:lvl8pPr>
              <a:lvl9pPr marL="3886200" indent="-228600" eaLnBrk="0" fontAlgn="base" hangingPunct="0">
                <a:spcBef>
                  <a:spcPct val="0"/>
                </a:spcBef>
                <a:spcAft>
                  <a:spcPct val="0"/>
                </a:spcAft>
                <a:defRPr kumimoji="1" sz="1600">
                  <a:solidFill>
                    <a:schemeClr val="tx2"/>
                  </a:solidFill>
                  <a:latin typeface="Arial" pitchFamily="34" charset="0"/>
                </a:defRPr>
              </a:lvl9pPr>
            </a:lstStyle>
            <a:p>
              <a:r>
                <a:rPr kumimoji="0" lang="en-US">
                  <a:solidFill>
                    <a:schemeClr val="tx1"/>
                  </a:solidFill>
                </a:rPr>
                <a:t>...</a:t>
              </a:r>
            </a:p>
          </p:txBody>
        </p:sp>
        <p:sp>
          <p:nvSpPr>
            <p:cNvPr id="11287" name="Text Box 40"/>
            <p:cNvSpPr txBox="1">
              <a:spLocks noChangeArrowheads="1"/>
            </p:cNvSpPr>
            <p:nvPr/>
          </p:nvSpPr>
          <p:spPr bwMode="auto">
            <a:xfrm>
              <a:off x="10575091" y="1953305"/>
              <a:ext cx="242338" cy="338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2" tIns="45711" rIns="91422" bIns="45711">
              <a:spAutoFit/>
            </a:bodyPr>
            <a:lstStyle>
              <a:lvl1pPr>
                <a:defRPr kumimoji="1" sz="1600">
                  <a:solidFill>
                    <a:schemeClr val="tx2"/>
                  </a:solidFill>
                  <a:latin typeface="Arial" pitchFamily="34" charset="0"/>
                </a:defRPr>
              </a:lvl1pPr>
              <a:lvl2pPr marL="742950" indent="-285750">
                <a:defRPr kumimoji="1" sz="1600">
                  <a:solidFill>
                    <a:schemeClr val="tx2"/>
                  </a:solidFill>
                  <a:latin typeface="Arial" pitchFamily="34" charset="0"/>
                </a:defRPr>
              </a:lvl2pPr>
              <a:lvl3pPr marL="1143000" indent="-228600">
                <a:defRPr kumimoji="1" sz="1600">
                  <a:solidFill>
                    <a:schemeClr val="tx2"/>
                  </a:solidFill>
                  <a:latin typeface="Arial" pitchFamily="34" charset="0"/>
                </a:defRPr>
              </a:lvl3pPr>
              <a:lvl4pPr marL="1600200" indent="-228600">
                <a:defRPr kumimoji="1" sz="1600">
                  <a:solidFill>
                    <a:schemeClr val="tx2"/>
                  </a:solidFill>
                  <a:latin typeface="Arial" pitchFamily="34" charset="0"/>
                </a:defRPr>
              </a:lvl4pPr>
              <a:lvl5pPr marL="2057400" indent="-228600">
                <a:defRPr kumimoji="1" sz="1600">
                  <a:solidFill>
                    <a:schemeClr val="tx2"/>
                  </a:solidFill>
                  <a:latin typeface="Arial" pitchFamily="34" charset="0"/>
                </a:defRPr>
              </a:lvl5pPr>
              <a:lvl6pPr marL="2514600" indent="-228600" eaLnBrk="0" fontAlgn="base" hangingPunct="0">
                <a:spcBef>
                  <a:spcPct val="0"/>
                </a:spcBef>
                <a:spcAft>
                  <a:spcPct val="0"/>
                </a:spcAft>
                <a:defRPr kumimoji="1" sz="1600">
                  <a:solidFill>
                    <a:schemeClr val="tx2"/>
                  </a:solidFill>
                  <a:latin typeface="Arial" pitchFamily="34" charset="0"/>
                </a:defRPr>
              </a:lvl6pPr>
              <a:lvl7pPr marL="2971800" indent="-228600" eaLnBrk="0" fontAlgn="base" hangingPunct="0">
                <a:spcBef>
                  <a:spcPct val="0"/>
                </a:spcBef>
                <a:spcAft>
                  <a:spcPct val="0"/>
                </a:spcAft>
                <a:defRPr kumimoji="1" sz="1600">
                  <a:solidFill>
                    <a:schemeClr val="tx2"/>
                  </a:solidFill>
                  <a:latin typeface="Arial" pitchFamily="34" charset="0"/>
                </a:defRPr>
              </a:lvl7pPr>
              <a:lvl8pPr marL="3429000" indent="-228600" eaLnBrk="0" fontAlgn="base" hangingPunct="0">
                <a:spcBef>
                  <a:spcPct val="0"/>
                </a:spcBef>
                <a:spcAft>
                  <a:spcPct val="0"/>
                </a:spcAft>
                <a:defRPr kumimoji="1" sz="1600">
                  <a:solidFill>
                    <a:schemeClr val="tx2"/>
                  </a:solidFill>
                  <a:latin typeface="Arial" pitchFamily="34" charset="0"/>
                </a:defRPr>
              </a:lvl8pPr>
              <a:lvl9pPr marL="3886200" indent="-228600" eaLnBrk="0" fontAlgn="base" hangingPunct="0">
                <a:spcBef>
                  <a:spcPct val="0"/>
                </a:spcBef>
                <a:spcAft>
                  <a:spcPct val="0"/>
                </a:spcAft>
                <a:defRPr kumimoji="1" sz="1600">
                  <a:solidFill>
                    <a:schemeClr val="tx2"/>
                  </a:solidFill>
                  <a:latin typeface="Arial" pitchFamily="34" charset="0"/>
                </a:defRPr>
              </a:lvl9pPr>
            </a:lstStyle>
            <a:p>
              <a:r>
                <a:rPr kumimoji="0" lang="en-US">
                  <a:solidFill>
                    <a:schemeClr val="tx1"/>
                  </a:solidFill>
                </a:rPr>
                <a:t>t</a:t>
              </a:r>
            </a:p>
          </p:txBody>
        </p:sp>
        <p:sp>
          <p:nvSpPr>
            <p:cNvPr id="11288" name="Freeform 42"/>
            <p:cNvSpPr>
              <a:spLocks/>
            </p:cNvSpPr>
            <p:nvPr/>
          </p:nvSpPr>
          <p:spPr bwMode="auto">
            <a:xfrm>
              <a:off x="8482765" y="1550874"/>
              <a:ext cx="2070100" cy="1147763"/>
            </a:xfrm>
            <a:custGeom>
              <a:avLst/>
              <a:gdLst>
                <a:gd name="T0" fmla="*/ 0 w 1304"/>
                <a:gd name="T1" fmla="*/ 831413 h 722"/>
                <a:gd name="T2" fmla="*/ 215900 w 1304"/>
                <a:gd name="T3" fmla="*/ 1111200 h 722"/>
                <a:gd name="T4" fmla="*/ 520700 w 1304"/>
                <a:gd name="T5" fmla="*/ 1047612 h 722"/>
                <a:gd name="T6" fmla="*/ 774700 w 1304"/>
                <a:gd name="T7" fmla="*/ 538908 h 722"/>
                <a:gd name="T8" fmla="*/ 1130300 w 1304"/>
                <a:gd name="T9" fmla="*/ 577061 h 722"/>
                <a:gd name="T10" fmla="*/ 1346200 w 1304"/>
                <a:gd name="T11" fmla="*/ 475320 h 722"/>
                <a:gd name="T12" fmla="*/ 1549400 w 1304"/>
                <a:gd name="T13" fmla="*/ 106510 h 722"/>
                <a:gd name="T14" fmla="*/ 2070100 w 1304"/>
                <a:gd name="T15" fmla="*/ 1111200 h 722"/>
                <a:gd name="T16" fmla="*/ 0 60000 65536"/>
                <a:gd name="T17" fmla="*/ 0 60000 65536"/>
                <a:gd name="T18" fmla="*/ 0 60000 65536"/>
                <a:gd name="T19" fmla="*/ 0 60000 65536"/>
                <a:gd name="T20" fmla="*/ 0 60000 65536"/>
                <a:gd name="T21" fmla="*/ 0 60000 65536"/>
                <a:gd name="T22" fmla="*/ 0 60000 65536"/>
                <a:gd name="T23" fmla="*/ 0 60000 65536"/>
                <a:gd name="T24" fmla="*/ 0 w 1304"/>
                <a:gd name="T25" fmla="*/ 0 h 722"/>
                <a:gd name="T26" fmla="*/ 1304 w 1304"/>
                <a:gd name="T27" fmla="*/ 722 h 7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04" h="722">
                  <a:moveTo>
                    <a:pt x="0" y="523"/>
                  </a:moveTo>
                  <a:cubicBezTo>
                    <a:pt x="40" y="599"/>
                    <a:pt x="81" y="676"/>
                    <a:pt x="136" y="699"/>
                  </a:cubicBezTo>
                  <a:cubicBezTo>
                    <a:pt x="191" y="722"/>
                    <a:pt x="269" y="719"/>
                    <a:pt x="328" y="659"/>
                  </a:cubicBezTo>
                  <a:cubicBezTo>
                    <a:pt x="387" y="599"/>
                    <a:pt x="424" y="388"/>
                    <a:pt x="488" y="339"/>
                  </a:cubicBezTo>
                  <a:cubicBezTo>
                    <a:pt x="552" y="290"/>
                    <a:pt x="652" y="370"/>
                    <a:pt x="712" y="363"/>
                  </a:cubicBezTo>
                  <a:cubicBezTo>
                    <a:pt x="772" y="356"/>
                    <a:pt x="804" y="348"/>
                    <a:pt x="848" y="299"/>
                  </a:cubicBezTo>
                  <a:cubicBezTo>
                    <a:pt x="892" y="250"/>
                    <a:pt x="900" y="0"/>
                    <a:pt x="976" y="67"/>
                  </a:cubicBezTo>
                  <a:cubicBezTo>
                    <a:pt x="1052" y="134"/>
                    <a:pt x="1178" y="416"/>
                    <a:pt x="1304" y="699"/>
                  </a:cubicBezTo>
                </a:path>
              </a:pathLst>
            </a:custGeom>
            <a:noFill/>
            <a:ln w="28575" cap="flat" cmpd="sng">
              <a:solidFill>
                <a:srgbClr val="0033CC"/>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SG"/>
            </a:p>
          </p:txBody>
        </p:sp>
        <p:sp>
          <p:nvSpPr>
            <p:cNvPr id="11289" name="Text Box 43"/>
            <p:cNvSpPr txBox="1">
              <a:spLocks noChangeArrowheads="1"/>
            </p:cNvSpPr>
            <p:nvPr/>
          </p:nvSpPr>
          <p:spPr bwMode="auto">
            <a:xfrm>
              <a:off x="8246228" y="1294494"/>
              <a:ext cx="8588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91422" tIns="45711" rIns="91422" bIns="45711" anchor="b">
              <a:spAutoFit/>
            </a:bodyPr>
            <a:lstStyle>
              <a:lvl1pPr>
                <a:defRPr kumimoji="1" sz="1600">
                  <a:solidFill>
                    <a:schemeClr val="tx2"/>
                  </a:solidFill>
                  <a:latin typeface="Arial" pitchFamily="34" charset="0"/>
                </a:defRPr>
              </a:lvl1pPr>
              <a:lvl2pPr marL="742950" indent="-285750">
                <a:defRPr kumimoji="1" sz="1600">
                  <a:solidFill>
                    <a:schemeClr val="tx2"/>
                  </a:solidFill>
                  <a:latin typeface="Arial" pitchFamily="34" charset="0"/>
                </a:defRPr>
              </a:lvl2pPr>
              <a:lvl3pPr marL="1143000" indent="-228600">
                <a:defRPr kumimoji="1" sz="1600">
                  <a:solidFill>
                    <a:schemeClr val="tx2"/>
                  </a:solidFill>
                  <a:latin typeface="Arial" pitchFamily="34" charset="0"/>
                </a:defRPr>
              </a:lvl3pPr>
              <a:lvl4pPr marL="1600200" indent="-228600">
                <a:defRPr kumimoji="1" sz="1600">
                  <a:solidFill>
                    <a:schemeClr val="tx2"/>
                  </a:solidFill>
                  <a:latin typeface="Arial" pitchFamily="34" charset="0"/>
                </a:defRPr>
              </a:lvl4pPr>
              <a:lvl5pPr marL="2057400" indent="-228600">
                <a:defRPr kumimoji="1" sz="1600">
                  <a:solidFill>
                    <a:schemeClr val="tx2"/>
                  </a:solidFill>
                  <a:latin typeface="Arial" pitchFamily="34" charset="0"/>
                </a:defRPr>
              </a:lvl5pPr>
              <a:lvl6pPr marL="2514600" indent="-228600" eaLnBrk="0" fontAlgn="base" hangingPunct="0">
                <a:spcBef>
                  <a:spcPct val="0"/>
                </a:spcBef>
                <a:spcAft>
                  <a:spcPct val="0"/>
                </a:spcAft>
                <a:defRPr kumimoji="1" sz="1600">
                  <a:solidFill>
                    <a:schemeClr val="tx2"/>
                  </a:solidFill>
                  <a:latin typeface="Arial" pitchFamily="34" charset="0"/>
                </a:defRPr>
              </a:lvl6pPr>
              <a:lvl7pPr marL="2971800" indent="-228600" eaLnBrk="0" fontAlgn="base" hangingPunct="0">
                <a:spcBef>
                  <a:spcPct val="0"/>
                </a:spcBef>
                <a:spcAft>
                  <a:spcPct val="0"/>
                </a:spcAft>
                <a:defRPr kumimoji="1" sz="1600">
                  <a:solidFill>
                    <a:schemeClr val="tx2"/>
                  </a:solidFill>
                  <a:latin typeface="Arial" pitchFamily="34" charset="0"/>
                </a:defRPr>
              </a:lvl7pPr>
              <a:lvl8pPr marL="3429000" indent="-228600" eaLnBrk="0" fontAlgn="base" hangingPunct="0">
                <a:spcBef>
                  <a:spcPct val="0"/>
                </a:spcBef>
                <a:spcAft>
                  <a:spcPct val="0"/>
                </a:spcAft>
                <a:defRPr kumimoji="1" sz="1600">
                  <a:solidFill>
                    <a:schemeClr val="tx2"/>
                  </a:solidFill>
                  <a:latin typeface="Arial" pitchFamily="34" charset="0"/>
                </a:defRPr>
              </a:lvl8pPr>
              <a:lvl9pPr marL="3886200" indent="-228600" eaLnBrk="0" fontAlgn="base" hangingPunct="0">
                <a:spcBef>
                  <a:spcPct val="0"/>
                </a:spcBef>
                <a:spcAft>
                  <a:spcPct val="0"/>
                </a:spcAft>
                <a:defRPr kumimoji="1" sz="1600">
                  <a:solidFill>
                    <a:schemeClr val="tx2"/>
                  </a:solidFill>
                  <a:latin typeface="Arial" pitchFamily="34" charset="0"/>
                </a:defRPr>
              </a:lvl9pPr>
            </a:lstStyle>
            <a:p>
              <a:r>
                <a:rPr lang="en-US" sz="1200"/>
                <a:t>Amplitude</a:t>
              </a:r>
              <a:endParaRPr lang="en-US" sz="1000">
                <a:latin typeface="Arial Black" pitchFamily="34" charset="0"/>
              </a:endParaRPr>
            </a:p>
          </p:txBody>
        </p:sp>
        <p:sp>
          <p:nvSpPr>
            <p:cNvPr id="11290" name="Text Box 44"/>
            <p:cNvSpPr txBox="1">
              <a:spLocks noChangeArrowheads="1"/>
            </p:cNvSpPr>
            <p:nvPr/>
          </p:nvSpPr>
          <p:spPr bwMode="auto">
            <a:xfrm>
              <a:off x="9189135" y="2801854"/>
              <a:ext cx="1375949" cy="273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91422" tIns="45711" rIns="91422" bIns="45711" anchor="b">
              <a:spAutoFit/>
            </a:bodyPr>
            <a:lstStyle>
              <a:lvl1pPr>
                <a:defRPr kumimoji="1" sz="1600">
                  <a:solidFill>
                    <a:schemeClr val="tx2"/>
                  </a:solidFill>
                  <a:latin typeface="Arial" pitchFamily="34" charset="0"/>
                </a:defRPr>
              </a:lvl1pPr>
              <a:lvl2pPr marL="742950" indent="-285750">
                <a:defRPr kumimoji="1" sz="1600">
                  <a:solidFill>
                    <a:schemeClr val="tx2"/>
                  </a:solidFill>
                  <a:latin typeface="Arial" pitchFamily="34" charset="0"/>
                </a:defRPr>
              </a:lvl2pPr>
              <a:lvl3pPr marL="1143000" indent="-228600">
                <a:defRPr kumimoji="1" sz="1600">
                  <a:solidFill>
                    <a:schemeClr val="tx2"/>
                  </a:solidFill>
                  <a:latin typeface="Arial" pitchFamily="34" charset="0"/>
                </a:defRPr>
              </a:lvl3pPr>
              <a:lvl4pPr marL="1600200" indent="-228600">
                <a:defRPr kumimoji="1" sz="1600">
                  <a:solidFill>
                    <a:schemeClr val="tx2"/>
                  </a:solidFill>
                  <a:latin typeface="Arial" pitchFamily="34" charset="0"/>
                </a:defRPr>
              </a:lvl4pPr>
              <a:lvl5pPr marL="2057400" indent="-228600">
                <a:defRPr kumimoji="1" sz="1600">
                  <a:solidFill>
                    <a:schemeClr val="tx2"/>
                  </a:solidFill>
                  <a:latin typeface="Arial" pitchFamily="34" charset="0"/>
                </a:defRPr>
              </a:lvl5pPr>
              <a:lvl6pPr marL="2514600" indent="-228600" eaLnBrk="0" fontAlgn="base" hangingPunct="0">
                <a:spcBef>
                  <a:spcPct val="0"/>
                </a:spcBef>
                <a:spcAft>
                  <a:spcPct val="0"/>
                </a:spcAft>
                <a:defRPr kumimoji="1" sz="1600">
                  <a:solidFill>
                    <a:schemeClr val="tx2"/>
                  </a:solidFill>
                  <a:latin typeface="Arial" pitchFamily="34" charset="0"/>
                </a:defRPr>
              </a:lvl6pPr>
              <a:lvl7pPr marL="2971800" indent="-228600" eaLnBrk="0" fontAlgn="base" hangingPunct="0">
                <a:spcBef>
                  <a:spcPct val="0"/>
                </a:spcBef>
                <a:spcAft>
                  <a:spcPct val="0"/>
                </a:spcAft>
                <a:defRPr kumimoji="1" sz="1600">
                  <a:solidFill>
                    <a:schemeClr val="tx2"/>
                  </a:solidFill>
                  <a:latin typeface="Arial" pitchFamily="34" charset="0"/>
                </a:defRPr>
              </a:lvl7pPr>
              <a:lvl8pPr marL="3429000" indent="-228600" eaLnBrk="0" fontAlgn="base" hangingPunct="0">
                <a:spcBef>
                  <a:spcPct val="0"/>
                </a:spcBef>
                <a:spcAft>
                  <a:spcPct val="0"/>
                </a:spcAft>
                <a:defRPr kumimoji="1" sz="1600">
                  <a:solidFill>
                    <a:schemeClr val="tx2"/>
                  </a:solidFill>
                  <a:latin typeface="Arial" pitchFamily="34" charset="0"/>
                </a:defRPr>
              </a:lvl8pPr>
              <a:lvl9pPr marL="3886200" indent="-228600" eaLnBrk="0" fontAlgn="base" hangingPunct="0">
                <a:spcBef>
                  <a:spcPct val="0"/>
                </a:spcBef>
                <a:spcAft>
                  <a:spcPct val="0"/>
                </a:spcAft>
                <a:defRPr kumimoji="1" sz="1600">
                  <a:solidFill>
                    <a:schemeClr val="tx2"/>
                  </a:solidFill>
                  <a:latin typeface="Arial" pitchFamily="34" charset="0"/>
                </a:defRPr>
              </a:lvl9pPr>
            </a:lstStyle>
            <a:p>
              <a:r>
                <a:rPr lang="en-US" b="1" dirty="0"/>
                <a:t>Analogue Signal</a:t>
              </a:r>
              <a:endParaRPr lang="en-US" dirty="0">
                <a:latin typeface="Arial Black" pitchFamily="34" charset="0"/>
              </a:endParaRPr>
            </a:p>
          </p:txBody>
        </p:sp>
      </p:grpSp>
      <p:sp>
        <p:nvSpPr>
          <p:cNvPr id="28" name="Title 1"/>
          <p:cNvSpPr txBox="1">
            <a:spLocks/>
          </p:cNvSpPr>
          <p:nvPr/>
        </p:nvSpPr>
        <p:spPr>
          <a:xfrm>
            <a:off x="857251" y="-510381"/>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SG" sz="3600" b="1" dirty="0">
                <a:solidFill>
                  <a:srgbClr val="C00000"/>
                </a:solidFill>
                <a:latin typeface="+mn-lt"/>
              </a:rPr>
              <a:t>Fundamentals - Analog &amp; Digital Signals</a:t>
            </a:r>
            <a:endParaRPr lang="en-US" sz="3600" b="1" dirty="0">
              <a:solidFill>
                <a:srgbClr val="C00000"/>
              </a:solidFill>
              <a:latin typeface="+mn-lt"/>
            </a:endParaRPr>
          </a:p>
        </p:txBody>
      </p:sp>
      <p:sp>
        <p:nvSpPr>
          <p:cNvPr id="3" name="Slide Number Placeholder 2"/>
          <p:cNvSpPr>
            <a:spLocks noGrp="1"/>
          </p:cNvSpPr>
          <p:nvPr>
            <p:ph type="sldNum" sz="quarter" idx="4"/>
          </p:nvPr>
        </p:nvSpPr>
        <p:spPr>
          <a:xfrm>
            <a:off x="4724400" y="6356349"/>
            <a:ext cx="2743200" cy="365125"/>
          </a:xfrm>
        </p:spPr>
        <p:txBody>
          <a:bodyPr/>
          <a:lstStyle/>
          <a:p>
            <a:r>
              <a:rPr lang="en-US" dirty="0"/>
              <a:t>Page </a:t>
            </a:r>
            <a:fld id="{A862897D-0F50-4425-B5E1-82FAA232DFBF}" type="slidenum">
              <a:rPr lang="en-US" smtClean="0"/>
              <a:pPr/>
              <a:t>3</a:t>
            </a:fld>
            <a:r>
              <a:rPr lang="en-US" dirty="0"/>
              <a:t> of 23</a:t>
            </a:r>
          </a:p>
        </p:txBody>
      </p:sp>
      <p:pic>
        <p:nvPicPr>
          <p:cNvPr id="5" name="Pg3">
            <a:hlinkClick r:id="" action="ppaction://media"/>
            <a:extLst>
              <a:ext uri="{FF2B5EF4-FFF2-40B4-BE49-F238E27FC236}">
                <a16:creationId xmlns:a16="http://schemas.microsoft.com/office/drawing/2014/main" id="{F3091EE4-BD9B-45C0-BB9A-346B7D5E7F43}"/>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0150825" y="5810661"/>
            <a:ext cx="609600" cy="609600"/>
          </a:xfrm>
          <a:prstGeom prst="rect">
            <a:avLst/>
          </a:prstGeom>
        </p:spPr>
      </p:pic>
      <p:grpSp>
        <p:nvGrpSpPr>
          <p:cNvPr id="30" name="Group 29">
            <a:extLst>
              <a:ext uri="{FF2B5EF4-FFF2-40B4-BE49-F238E27FC236}">
                <a16:creationId xmlns:a16="http://schemas.microsoft.com/office/drawing/2014/main" id="{CB6F65F8-90AD-41CA-99A3-3451FFDD6C95}"/>
              </a:ext>
            </a:extLst>
          </p:cNvPr>
          <p:cNvGrpSpPr/>
          <p:nvPr/>
        </p:nvGrpSpPr>
        <p:grpSpPr>
          <a:xfrm>
            <a:off x="8143987" y="804345"/>
            <a:ext cx="3346495" cy="2207467"/>
            <a:chOff x="8246228" y="1294494"/>
            <a:chExt cx="2571201" cy="1780401"/>
          </a:xfrm>
        </p:grpSpPr>
        <p:sp>
          <p:nvSpPr>
            <p:cNvPr id="31" name="Line 28">
              <a:extLst>
                <a:ext uri="{FF2B5EF4-FFF2-40B4-BE49-F238E27FC236}">
                  <a16:creationId xmlns:a16="http://schemas.microsoft.com/office/drawing/2014/main" id="{2B87F0D7-CC26-45F6-B496-C864080AF8B5}"/>
                </a:ext>
              </a:extLst>
            </p:cNvPr>
            <p:cNvSpPr>
              <a:spLocks noChangeShapeType="1"/>
            </p:cNvSpPr>
            <p:nvPr/>
          </p:nvSpPr>
          <p:spPr bwMode="auto">
            <a:xfrm flipV="1">
              <a:off x="8682791" y="1521506"/>
              <a:ext cx="0" cy="1408113"/>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en-SG"/>
            </a:p>
          </p:txBody>
        </p:sp>
        <p:sp>
          <p:nvSpPr>
            <p:cNvPr id="32" name="Line 29">
              <a:extLst>
                <a:ext uri="{FF2B5EF4-FFF2-40B4-BE49-F238E27FC236}">
                  <a16:creationId xmlns:a16="http://schemas.microsoft.com/office/drawing/2014/main" id="{B39DC5D6-CF54-4E16-9919-8C4E5600A713}"/>
                </a:ext>
              </a:extLst>
            </p:cNvPr>
            <p:cNvSpPr>
              <a:spLocks noChangeShapeType="1"/>
            </p:cNvSpPr>
            <p:nvPr/>
          </p:nvSpPr>
          <p:spPr bwMode="auto">
            <a:xfrm>
              <a:off x="8682791" y="2324780"/>
              <a:ext cx="1909762" cy="0"/>
            </a:xfrm>
            <a:prstGeom prst="line">
              <a:avLst/>
            </a:prstGeom>
            <a:noFill/>
            <a:ln w="28575">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en-SG"/>
            </a:p>
          </p:txBody>
        </p:sp>
        <p:sp>
          <p:nvSpPr>
            <p:cNvPr id="33" name="Text Box 39">
              <a:extLst>
                <a:ext uri="{FF2B5EF4-FFF2-40B4-BE49-F238E27FC236}">
                  <a16:creationId xmlns:a16="http://schemas.microsoft.com/office/drawing/2014/main" id="{F73BA3A4-78C8-4FC9-9452-DAE0B895C608}"/>
                </a:ext>
              </a:extLst>
            </p:cNvPr>
            <p:cNvSpPr txBox="1">
              <a:spLocks noChangeArrowheads="1"/>
            </p:cNvSpPr>
            <p:nvPr/>
          </p:nvSpPr>
          <p:spPr bwMode="auto">
            <a:xfrm>
              <a:off x="10138528" y="1727880"/>
              <a:ext cx="357754" cy="338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1422" tIns="45711" rIns="91422" bIns="45711">
              <a:spAutoFit/>
            </a:bodyPr>
            <a:lstStyle>
              <a:lvl1pPr>
                <a:defRPr kumimoji="1" sz="1600">
                  <a:solidFill>
                    <a:schemeClr val="tx2"/>
                  </a:solidFill>
                  <a:latin typeface="Arial" pitchFamily="34" charset="0"/>
                </a:defRPr>
              </a:lvl1pPr>
              <a:lvl2pPr marL="742950" indent="-285750">
                <a:defRPr kumimoji="1" sz="1600">
                  <a:solidFill>
                    <a:schemeClr val="tx2"/>
                  </a:solidFill>
                  <a:latin typeface="Arial" pitchFamily="34" charset="0"/>
                </a:defRPr>
              </a:lvl2pPr>
              <a:lvl3pPr marL="1143000" indent="-228600">
                <a:defRPr kumimoji="1" sz="1600">
                  <a:solidFill>
                    <a:schemeClr val="tx2"/>
                  </a:solidFill>
                  <a:latin typeface="Arial" pitchFamily="34" charset="0"/>
                </a:defRPr>
              </a:lvl3pPr>
              <a:lvl4pPr marL="1600200" indent="-228600">
                <a:defRPr kumimoji="1" sz="1600">
                  <a:solidFill>
                    <a:schemeClr val="tx2"/>
                  </a:solidFill>
                  <a:latin typeface="Arial" pitchFamily="34" charset="0"/>
                </a:defRPr>
              </a:lvl4pPr>
              <a:lvl5pPr marL="2057400" indent="-228600">
                <a:defRPr kumimoji="1" sz="1600">
                  <a:solidFill>
                    <a:schemeClr val="tx2"/>
                  </a:solidFill>
                  <a:latin typeface="Arial" pitchFamily="34" charset="0"/>
                </a:defRPr>
              </a:lvl5pPr>
              <a:lvl6pPr marL="2514600" indent="-228600" eaLnBrk="0" fontAlgn="base" hangingPunct="0">
                <a:spcBef>
                  <a:spcPct val="0"/>
                </a:spcBef>
                <a:spcAft>
                  <a:spcPct val="0"/>
                </a:spcAft>
                <a:defRPr kumimoji="1" sz="1600">
                  <a:solidFill>
                    <a:schemeClr val="tx2"/>
                  </a:solidFill>
                  <a:latin typeface="Arial" pitchFamily="34" charset="0"/>
                </a:defRPr>
              </a:lvl6pPr>
              <a:lvl7pPr marL="2971800" indent="-228600" eaLnBrk="0" fontAlgn="base" hangingPunct="0">
                <a:spcBef>
                  <a:spcPct val="0"/>
                </a:spcBef>
                <a:spcAft>
                  <a:spcPct val="0"/>
                </a:spcAft>
                <a:defRPr kumimoji="1" sz="1600">
                  <a:solidFill>
                    <a:schemeClr val="tx2"/>
                  </a:solidFill>
                  <a:latin typeface="Arial" pitchFamily="34" charset="0"/>
                </a:defRPr>
              </a:lvl7pPr>
              <a:lvl8pPr marL="3429000" indent="-228600" eaLnBrk="0" fontAlgn="base" hangingPunct="0">
                <a:spcBef>
                  <a:spcPct val="0"/>
                </a:spcBef>
                <a:spcAft>
                  <a:spcPct val="0"/>
                </a:spcAft>
                <a:defRPr kumimoji="1" sz="1600">
                  <a:solidFill>
                    <a:schemeClr val="tx2"/>
                  </a:solidFill>
                  <a:latin typeface="Arial" pitchFamily="34" charset="0"/>
                </a:defRPr>
              </a:lvl8pPr>
              <a:lvl9pPr marL="3886200" indent="-228600" eaLnBrk="0" fontAlgn="base" hangingPunct="0">
                <a:spcBef>
                  <a:spcPct val="0"/>
                </a:spcBef>
                <a:spcAft>
                  <a:spcPct val="0"/>
                </a:spcAft>
                <a:defRPr kumimoji="1" sz="1600">
                  <a:solidFill>
                    <a:schemeClr val="tx2"/>
                  </a:solidFill>
                  <a:latin typeface="Arial" pitchFamily="34" charset="0"/>
                </a:defRPr>
              </a:lvl9pPr>
            </a:lstStyle>
            <a:p>
              <a:r>
                <a:rPr kumimoji="0" lang="en-US">
                  <a:solidFill>
                    <a:schemeClr val="tx1"/>
                  </a:solidFill>
                </a:rPr>
                <a:t>...</a:t>
              </a:r>
            </a:p>
          </p:txBody>
        </p:sp>
        <p:sp>
          <p:nvSpPr>
            <p:cNvPr id="34" name="Text Box 40">
              <a:extLst>
                <a:ext uri="{FF2B5EF4-FFF2-40B4-BE49-F238E27FC236}">
                  <a16:creationId xmlns:a16="http://schemas.microsoft.com/office/drawing/2014/main" id="{59CDD075-BF6A-4695-BB7A-348B7E55664E}"/>
                </a:ext>
              </a:extLst>
            </p:cNvPr>
            <p:cNvSpPr txBox="1">
              <a:spLocks noChangeArrowheads="1"/>
            </p:cNvSpPr>
            <p:nvPr/>
          </p:nvSpPr>
          <p:spPr bwMode="auto">
            <a:xfrm>
              <a:off x="10575091" y="1953305"/>
              <a:ext cx="242338" cy="338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2" tIns="45711" rIns="91422" bIns="45711">
              <a:spAutoFit/>
            </a:bodyPr>
            <a:lstStyle>
              <a:lvl1pPr>
                <a:defRPr kumimoji="1" sz="1600">
                  <a:solidFill>
                    <a:schemeClr val="tx2"/>
                  </a:solidFill>
                  <a:latin typeface="Arial" pitchFamily="34" charset="0"/>
                </a:defRPr>
              </a:lvl1pPr>
              <a:lvl2pPr marL="742950" indent="-285750">
                <a:defRPr kumimoji="1" sz="1600">
                  <a:solidFill>
                    <a:schemeClr val="tx2"/>
                  </a:solidFill>
                  <a:latin typeface="Arial" pitchFamily="34" charset="0"/>
                </a:defRPr>
              </a:lvl2pPr>
              <a:lvl3pPr marL="1143000" indent="-228600">
                <a:defRPr kumimoji="1" sz="1600">
                  <a:solidFill>
                    <a:schemeClr val="tx2"/>
                  </a:solidFill>
                  <a:latin typeface="Arial" pitchFamily="34" charset="0"/>
                </a:defRPr>
              </a:lvl3pPr>
              <a:lvl4pPr marL="1600200" indent="-228600">
                <a:defRPr kumimoji="1" sz="1600">
                  <a:solidFill>
                    <a:schemeClr val="tx2"/>
                  </a:solidFill>
                  <a:latin typeface="Arial" pitchFamily="34" charset="0"/>
                </a:defRPr>
              </a:lvl4pPr>
              <a:lvl5pPr marL="2057400" indent="-228600">
                <a:defRPr kumimoji="1" sz="1600">
                  <a:solidFill>
                    <a:schemeClr val="tx2"/>
                  </a:solidFill>
                  <a:latin typeface="Arial" pitchFamily="34" charset="0"/>
                </a:defRPr>
              </a:lvl5pPr>
              <a:lvl6pPr marL="2514600" indent="-228600" eaLnBrk="0" fontAlgn="base" hangingPunct="0">
                <a:spcBef>
                  <a:spcPct val="0"/>
                </a:spcBef>
                <a:spcAft>
                  <a:spcPct val="0"/>
                </a:spcAft>
                <a:defRPr kumimoji="1" sz="1600">
                  <a:solidFill>
                    <a:schemeClr val="tx2"/>
                  </a:solidFill>
                  <a:latin typeface="Arial" pitchFamily="34" charset="0"/>
                </a:defRPr>
              </a:lvl6pPr>
              <a:lvl7pPr marL="2971800" indent="-228600" eaLnBrk="0" fontAlgn="base" hangingPunct="0">
                <a:spcBef>
                  <a:spcPct val="0"/>
                </a:spcBef>
                <a:spcAft>
                  <a:spcPct val="0"/>
                </a:spcAft>
                <a:defRPr kumimoji="1" sz="1600">
                  <a:solidFill>
                    <a:schemeClr val="tx2"/>
                  </a:solidFill>
                  <a:latin typeface="Arial" pitchFamily="34" charset="0"/>
                </a:defRPr>
              </a:lvl7pPr>
              <a:lvl8pPr marL="3429000" indent="-228600" eaLnBrk="0" fontAlgn="base" hangingPunct="0">
                <a:spcBef>
                  <a:spcPct val="0"/>
                </a:spcBef>
                <a:spcAft>
                  <a:spcPct val="0"/>
                </a:spcAft>
                <a:defRPr kumimoji="1" sz="1600">
                  <a:solidFill>
                    <a:schemeClr val="tx2"/>
                  </a:solidFill>
                  <a:latin typeface="Arial" pitchFamily="34" charset="0"/>
                </a:defRPr>
              </a:lvl8pPr>
              <a:lvl9pPr marL="3886200" indent="-228600" eaLnBrk="0" fontAlgn="base" hangingPunct="0">
                <a:spcBef>
                  <a:spcPct val="0"/>
                </a:spcBef>
                <a:spcAft>
                  <a:spcPct val="0"/>
                </a:spcAft>
                <a:defRPr kumimoji="1" sz="1600">
                  <a:solidFill>
                    <a:schemeClr val="tx2"/>
                  </a:solidFill>
                  <a:latin typeface="Arial" pitchFamily="34" charset="0"/>
                </a:defRPr>
              </a:lvl9pPr>
            </a:lstStyle>
            <a:p>
              <a:r>
                <a:rPr kumimoji="0" lang="en-US">
                  <a:solidFill>
                    <a:schemeClr val="tx1"/>
                  </a:solidFill>
                </a:rPr>
                <a:t>t</a:t>
              </a:r>
            </a:p>
          </p:txBody>
        </p:sp>
        <p:sp>
          <p:nvSpPr>
            <p:cNvPr id="35" name="Freeform 42">
              <a:extLst>
                <a:ext uri="{FF2B5EF4-FFF2-40B4-BE49-F238E27FC236}">
                  <a16:creationId xmlns:a16="http://schemas.microsoft.com/office/drawing/2014/main" id="{87CDA8AC-4AF2-4409-8690-2F888394A9F2}"/>
                </a:ext>
              </a:extLst>
            </p:cNvPr>
            <p:cNvSpPr>
              <a:spLocks/>
            </p:cNvSpPr>
            <p:nvPr/>
          </p:nvSpPr>
          <p:spPr bwMode="auto">
            <a:xfrm>
              <a:off x="8482765" y="1550874"/>
              <a:ext cx="2070100" cy="1147763"/>
            </a:xfrm>
            <a:custGeom>
              <a:avLst/>
              <a:gdLst>
                <a:gd name="T0" fmla="*/ 0 w 1304"/>
                <a:gd name="T1" fmla="*/ 831413 h 722"/>
                <a:gd name="T2" fmla="*/ 215900 w 1304"/>
                <a:gd name="T3" fmla="*/ 1111200 h 722"/>
                <a:gd name="T4" fmla="*/ 520700 w 1304"/>
                <a:gd name="T5" fmla="*/ 1047612 h 722"/>
                <a:gd name="T6" fmla="*/ 774700 w 1304"/>
                <a:gd name="T7" fmla="*/ 538908 h 722"/>
                <a:gd name="T8" fmla="*/ 1130300 w 1304"/>
                <a:gd name="T9" fmla="*/ 577061 h 722"/>
                <a:gd name="T10" fmla="*/ 1346200 w 1304"/>
                <a:gd name="T11" fmla="*/ 475320 h 722"/>
                <a:gd name="T12" fmla="*/ 1549400 w 1304"/>
                <a:gd name="T13" fmla="*/ 106510 h 722"/>
                <a:gd name="T14" fmla="*/ 2070100 w 1304"/>
                <a:gd name="T15" fmla="*/ 1111200 h 722"/>
                <a:gd name="T16" fmla="*/ 0 60000 65536"/>
                <a:gd name="T17" fmla="*/ 0 60000 65536"/>
                <a:gd name="T18" fmla="*/ 0 60000 65536"/>
                <a:gd name="T19" fmla="*/ 0 60000 65536"/>
                <a:gd name="T20" fmla="*/ 0 60000 65536"/>
                <a:gd name="T21" fmla="*/ 0 60000 65536"/>
                <a:gd name="T22" fmla="*/ 0 60000 65536"/>
                <a:gd name="T23" fmla="*/ 0 60000 65536"/>
                <a:gd name="T24" fmla="*/ 0 w 1304"/>
                <a:gd name="T25" fmla="*/ 0 h 722"/>
                <a:gd name="T26" fmla="*/ 1304 w 1304"/>
                <a:gd name="T27" fmla="*/ 722 h 7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04" h="722">
                  <a:moveTo>
                    <a:pt x="0" y="523"/>
                  </a:moveTo>
                  <a:cubicBezTo>
                    <a:pt x="40" y="599"/>
                    <a:pt x="81" y="676"/>
                    <a:pt x="136" y="699"/>
                  </a:cubicBezTo>
                  <a:cubicBezTo>
                    <a:pt x="191" y="722"/>
                    <a:pt x="269" y="719"/>
                    <a:pt x="328" y="659"/>
                  </a:cubicBezTo>
                  <a:cubicBezTo>
                    <a:pt x="387" y="599"/>
                    <a:pt x="424" y="388"/>
                    <a:pt x="488" y="339"/>
                  </a:cubicBezTo>
                  <a:cubicBezTo>
                    <a:pt x="552" y="290"/>
                    <a:pt x="652" y="370"/>
                    <a:pt x="712" y="363"/>
                  </a:cubicBezTo>
                  <a:cubicBezTo>
                    <a:pt x="772" y="356"/>
                    <a:pt x="804" y="348"/>
                    <a:pt x="848" y="299"/>
                  </a:cubicBezTo>
                  <a:cubicBezTo>
                    <a:pt x="892" y="250"/>
                    <a:pt x="900" y="0"/>
                    <a:pt x="976" y="67"/>
                  </a:cubicBezTo>
                  <a:cubicBezTo>
                    <a:pt x="1052" y="134"/>
                    <a:pt x="1178" y="416"/>
                    <a:pt x="1304" y="699"/>
                  </a:cubicBezTo>
                </a:path>
              </a:pathLst>
            </a:custGeom>
            <a:noFill/>
            <a:ln w="28575" cap="flat" cmpd="sng">
              <a:solidFill>
                <a:srgbClr val="0033CC"/>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SG"/>
            </a:p>
          </p:txBody>
        </p:sp>
        <p:sp>
          <p:nvSpPr>
            <p:cNvPr id="36" name="Text Box 43">
              <a:extLst>
                <a:ext uri="{FF2B5EF4-FFF2-40B4-BE49-F238E27FC236}">
                  <a16:creationId xmlns:a16="http://schemas.microsoft.com/office/drawing/2014/main" id="{EE556A4D-D7E0-453F-900A-150539311047}"/>
                </a:ext>
              </a:extLst>
            </p:cNvPr>
            <p:cNvSpPr txBox="1">
              <a:spLocks noChangeArrowheads="1"/>
            </p:cNvSpPr>
            <p:nvPr/>
          </p:nvSpPr>
          <p:spPr bwMode="auto">
            <a:xfrm>
              <a:off x="8246228" y="1294494"/>
              <a:ext cx="8588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91422" tIns="45711" rIns="91422" bIns="45711" anchor="b">
              <a:spAutoFit/>
            </a:bodyPr>
            <a:lstStyle>
              <a:lvl1pPr>
                <a:defRPr kumimoji="1" sz="1600">
                  <a:solidFill>
                    <a:schemeClr val="tx2"/>
                  </a:solidFill>
                  <a:latin typeface="Arial" pitchFamily="34" charset="0"/>
                </a:defRPr>
              </a:lvl1pPr>
              <a:lvl2pPr marL="742950" indent="-285750">
                <a:defRPr kumimoji="1" sz="1600">
                  <a:solidFill>
                    <a:schemeClr val="tx2"/>
                  </a:solidFill>
                  <a:latin typeface="Arial" pitchFamily="34" charset="0"/>
                </a:defRPr>
              </a:lvl2pPr>
              <a:lvl3pPr marL="1143000" indent="-228600">
                <a:defRPr kumimoji="1" sz="1600">
                  <a:solidFill>
                    <a:schemeClr val="tx2"/>
                  </a:solidFill>
                  <a:latin typeface="Arial" pitchFamily="34" charset="0"/>
                </a:defRPr>
              </a:lvl3pPr>
              <a:lvl4pPr marL="1600200" indent="-228600">
                <a:defRPr kumimoji="1" sz="1600">
                  <a:solidFill>
                    <a:schemeClr val="tx2"/>
                  </a:solidFill>
                  <a:latin typeface="Arial" pitchFamily="34" charset="0"/>
                </a:defRPr>
              </a:lvl4pPr>
              <a:lvl5pPr marL="2057400" indent="-228600">
                <a:defRPr kumimoji="1" sz="1600">
                  <a:solidFill>
                    <a:schemeClr val="tx2"/>
                  </a:solidFill>
                  <a:latin typeface="Arial" pitchFamily="34" charset="0"/>
                </a:defRPr>
              </a:lvl5pPr>
              <a:lvl6pPr marL="2514600" indent="-228600" eaLnBrk="0" fontAlgn="base" hangingPunct="0">
                <a:spcBef>
                  <a:spcPct val="0"/>
                </a:spcBef>
                <a:spcAft>
                  <a:spcPct val="0"/>
                </a:spcAft>
                <a:defRPr kumimoji="1" sz="1600">
                  <a:solidFill>
                    <a:schemeClr val="tx2"/>
                  </a:solidFill>
                  <a:latin typeface="Arial" pitchFamily="34" charset="0"/>
                </a:defRPr>
              </a:lvl6pPr>
              <a:lvl7pPr marL="2971800" indent="-228600" eaLnBrk="0" fontAlgn="base" hangingPunct="0">
                <a:spcBef>
                  <a:spcPct val="0"/>
                </a:spcBef>
                <a:spcAft>
                  <a:spcPct val="0"/>
                </a:spcAft>
                <a:defRPr kumimoji="1" sz="1600">
                  <a:solidFill>
                    <a:schemeClr val="tx2"/>
                  </a:solidFill>
                  <a:latin typeface="Arial" pitchFamily="34" charset="0"/>
                </a:defRPr>
              </a:lvl7pPr>
              <a:lvl8pPr marL="3429000" indent="-228600" eaLnBrk="0" fontAlgn="base" hangingPunct="0">
                <a:spcBef>
                  <a:spcPct val="0"/>
                </a:spcBef>
                <a:spcAft>
                  <a:spcPct val="0"/>
                </a:spcAft>
                <a:defRPr kumimoji="1" sz="1600">
                  <a:solidFill>
                    <a:schemeClr val="tx2"/>
                  </a:solidFill>
                  <a:latin typeface="Arial" pitchFamily="34" charset="0"/>
                </a:defRPr>
              </a:lvl8pPr>
              <a:lvl9pPr marL="3886200" indent="-228600" eaLnBrk="0" fontAlgn="base" hangingPunct="0">
                <a:spcBef>
                  <a:spcPct val="0"/>
                </a:spcBef>
                <a:spcAft>
                  <a:spcPct val="0"/>
                </a:spcAft>
                <a:defRPr kumimoji="1" sz="1600">
                  <a:solidFill>
                    <a:schemeClr val="tx2"/>
                  </a:solidFill>
                  <a:latin typeface="Arial" pitchFamily="34" charset="0"/>
                </a:defRPr>
              </a:lvl9pPr>
            </a:lstStyle>
            <a:p>
              <a:r>
                <a:rPr lang="en-US" sz="1200"/>
                <a:t>Amplitude</a:t>
              </a:r>
              <a:endParaRPr lang="en-US" sz="1000">
                <a:latin typeface="Arial Black" pitchFamily="34" charset="0"/>
              </a:endParaRPr>
            </a:p>
          </p:txBody>
        </p:sp>
        <p:sp>
          <p:nvSpPr>
            <p:cNvPr id="37" name="Text Box 44">
              <a:extLst>
                <a:ext uri="{FF2B5EF4-FFF2-40B4-BE49-F238E27FC236}">
                  <a16:creationId xmlns:a16="http://schemas.microsoft.com/office/drawing/2014/main" id="{3110612A-B31A-4CD5-9CF3-7E12FC666B45}"/>
                </a:ext>
              </a:extLst>
            </p:cNvPr>
            <p:cNvSpPr txBox="1">
              <a:spLocks noChangeArrowheads="1"/>
            </p:cNvSpPr>
            <p:nvPr/>
          </p:nvSpPr>
          <p:spPr bwMode="auto">
            <a:xfrm>
              <a:off x="9189135" y="2801854"/>
              <a:ext cx="1375949" cy="273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91422" tIns="45711" rIns="91422" bIns="45711" anchor="b">
              <a:spAutoFit/>
            </a:bodyPr>
            <a:lstStyle>
              <a:lvl1pPr>
                <a:defRPr kumimoji="1" sz="1600">
                  <a:solidFill>
                    <a:schemeClr val="tx2"/>
                  </a:solidFill>
                  <a:latin typeface="Arial" pitchFamily="34" charset="0"/>
                </a:defRPr>
              </a:lvl1pPr>
              <a:lvl2pPr marL="742950" indent="-285750">
                <a:defRPr kumimoji="1" sz="1600">
                  <a:solidFill>
                    <a:schemeClr val="tx2"/>
                  </a:solidFill>
                  <a:latin typeface="Arial" pitchFamily="34" charset="0"/>
                </a:defRPr>
              </a:lvl2pPr>
              <a:lvl3pPr marL="1143000" indent="-228600">
                <a:defRPr kumimoji="1" sz="1600">
                  <a:solidFill>
                    <a:schemeClr val="tx2"/>
                  </a:solidFill>
                  <a:latin typeface="Arial" pitchFamily="34" charset="0"/>
                </a:defRPr>
              </a:lvl3pPr>
              <a:lvl4pPr marL="1600200" indent="-228600">
                <a:defRPr kumimoji="1" sz="1600">
                  <a:solidFill>
                    <a:schemeClr val="tx2"/>
                  </a:solidFill>
                  <a:latin typeface="Arial" pitchFamily="34" charset="0"/>
                </a:defRPr>
              </a:lvl4pPr>
              <a:lvl5pPr marL="2057400" indent="-228600">
                <a:defRPr kumimoji="1" sz="1600">
                  <a:solidFill>
                    <a:schemeClr val="tx2"/>
                  </a:solidFill>
                  <a:latin typeface="Arial" pitchFamily="34" charset="0"/>
                </a:defRPr>
              </a:lvl5pPr>
              <a:lvl6pPr marL="2514600" indent="-228600" eaLnBrk="0" fontAlgn="base" hangingPunct="0">
                <a:spcBef>
                  <a:spcPct val="0"/>
                </a:spcBef>
                <a:spcAft>
                  <a:spcPct val="0"/>
                </a:spcAft>
                <a:defRPr kumimoji="1" sz="1600">
                  <a:solidFill>
                    <a:schemeClr val="tx2"/>
                  </a:solidFill>
                  <a:latin typeface="Arial" pitchFamily="34" charset="0"/>
                </a:defRPr>
              </a:lvl6pPr>
              <a:lvl7pPr marL="2971800" indent="-228600" eaLnBrk="0" fontAlgn="base" hangingPunct="0">
                <a:spcBef>
                  <a:spcPct val="0"/>
                </a:spcBef>
                <a:spcAft>
                  <a:spcPct val="0"/>
                </a:spcAft>
                <a:defRPr kumimoji="1" sz="1600">
                  <a:solidFill>
                    <a:schemeClr val="tx2"/>
                  </a:solidFill>
                  <a:latin typeface="Arial" pitchFamily="34" charset="0"/>
                </a:defRPr>
              </a:lvl7pPr>
              <a:lvl8pPr marL="3429000" indent="-228600" eaLnBrk="0" fontAlgn="base" hangingPunct="0">
                <a:spcBef>
                  <a:spcPct val="0"/>
                </a:spcBef>
                <a:spcAft>
                  <a:spcPct val="0"/>
                </a:spcAft>
                <a:defRPr kumimoji="1" sz="1600">
                  <a:solidFill>
                    <a:schemeClr val="tx2"/>
                  </a:solidFill>
                  <a:latin typeface="Arial" pitchFamily="34" charset="0"/>
                </a:defRPr>
              </a:lvl8pPr>
              <a:lvl9pPr marL="3886200" indent="-228600" eaLnBrk="0" fontAlgn="base" hangingPunct="0">
                <a:spcBef>
                  <a:spcPct val="0"/>
                </a:spcBef>
                <a:spcAft>
                  <a:spcPct val="0"/>
                </a:spcAft>
                <a:defRPr kumimoji="1" sz="1600">
                  <a:solidFill>
                    <a:schemeClr val="tx2"/>
                  </a:solidFill>
                  <a:latin typeface="Arial" pitchFamily="34" charset="0"/>
                </a:defRPr>
              </a:lvl9pPr>
            </a:lstStyle>
            <a:p>
              <a:r>
                <a:rPr lang="en-US" b="1" dirty="0"/>
                <a:t>Analogue Signal</a:t>
              </a:r>
              <a:endParaRPr lang="en-US" dirty="0">
                <a:latin typeface="Arial Black" pitchFamily="34" charset="0"/>
              </a:endParaRPr>
            </a:p>
          </p:txBody>
        </p:sp>
      </p:grpSp>
      <p:pic>
        <p:nvPicPr>
          <p:cNvPr id="6" name="Pg3a">
            <a:hlinkClick r:id="" action="ppaction://media"/>
            <a:extLst>
              <a:ext uri="{FF2B5EF4-FFF2-40B4-BE49-F238E27FC236}">
                <a16:creationId xmlns:a16="http://schemas.microsoft.com/office/drawing/2014/main" id="{E385715A-EA92-494B-A1AF-22843ABB1331}"/>
              </a:ext>
            </a:extLst>
          </p:cNvPr>
          <p:cNvPicPr>
            <a:picLocks noChangeAspect="1"/>
          </p:cNvPicPr>
          <p:nvPr>
            <a:audioFile r:link="rId4"/>
            <p:extLst>
              <p:ext uri="{DAA4B4D4-6D71-4841-9C94-3DE7FCFB9230}">
                <p14:media xmlns:p14="http://schemas.microsoft.com/office/powerpoint/2010/main" r:embed="rId3"/>
              </p:ext>
            </p:extLst>
          </p:nvPr>
        </p:nvPicPr>
        <p:blipFill>
          <a:blip r:embed="rId8"/>
          <a:stretch>
            <a:fillRect/>
          </a:stretch>
        </p:blipFill>
        <p:spPr>
          <a:xfrm>
            <a:off x="10116923" y="5841320"/>
            <a:ext cx="609600" cy="609600"/>
          </a:xfrm>
          <a:prstGeom prst="rect">
            <a:avLst/>
          </a:prstGeom>
        </p:spPr>
      </p:pic>
      <p:grpSp>
        <p:nvGrpSpPr>
          <p:cNvPr id="39" name="Group 38">
            <a:extLst>
              <a:ext uri="{FF2B5EF4-FFF2-40B4-BE49-F238E27FC236}">
                <a16:creationId xmlns:a16="http://schemas.microsoft.com/office/drawing/2014/main" id="{60D49396-D89A-43E3-9136-9EDDE7E11EBD}"/>
              </a:ext>
            </a:extLst>
          </p:cNvPr>
          <p:cNvGrpSpPr/>
          <p:nvPr/>
        </p:nvGrpSpPr>
        <p:grpSpPr>
          <a:xfrm>
            <a:off x="8177563" y="3097965"/>
            <a:ext cx="3595509" cy="2579097"/>
            <a:chOff x="8258928" y="3531281"/>
            <a:chExt cx="2568026" cy="2107673"/>
          </a:xfrm>
        </p:grpSpPr>
        <p:sp>
          <p:nvSpPr>
            <p:cNvPr id="40" name="Line 7">
              <a:extLst>
                <a:ext uri="{FF2B5EF4-FFF2-40B4-BE49-F238E27FC236}">
                  <a16:creationId xmlns:a16="http://schemas.microsoft.com/office/drawing/2014/main" id="{79C384F3-B6CD-461D-95FC-BC4D4D43C8A0}"/>
                </a:ext>
              </a:extLst>
            </p:cNvPr>
            <p:cNvSpPr>
              <a:spLocks noChangeShapeType="1"/>
            </p:cNvSpPr>
            <p:nvPr/>
          </p:nvSpPr>
          <p:spPr bwMode="auto">
            <a:xfrm flipV="1">
              <a:off x="8695491" y="3818619"/>
              <a:ext cx="0" cy="1411287"/>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en-SG"/>
            </a:p>
          </p:txBody>
        </p:sp>
        <p:sp>
          <p:nvSpPr>
            <p:cNvPr id="41" name="Line 8">
              <a:extLst>
                <a:ext uri="{FF2B5EF4-FFF2-40B4-BE49-F238E27FC236}">
                  <a16:creationId xmlns:a16="http://schemas.microsoft.com/office/drawing/2014/main" id="{DD8A578E-86ED-49C0-BFBC-178917D7A484}"/>
                </a:ext>
              </a:extLst>
            </p:cNvPr>
            <p:cNvSpPr>
              <a:spLocks noChangeShapeType="1"/>
            </p:cNvSpPr>
            <p:nvPr/>
          </p:nvSpPr>
          <p:spPr bwMode="auto">
            <a:xfrm>
              <a:off x="8695491" y="4625068"/>
              <a:ext cx="1909762" cy="0"/>
            </a:xfrm>
            <a:prstGeom prst="line">
              <a:avLst/>
            </a:prstGeom>
            <a:noFill/>
            <a:ln w="28575">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en-SG"/>
            </a:p>
          </p:txBody>
        </p:sp>
        <p:cxnSp>
          <p:nvCxnSpPr>
            <p:cNvPr id="42" name="AutoShape 9">
              <a:extLst>
                <a:ext uri="{FF2B5EF4-FFF2-40B4-BE49-F238E27FC236}">
                  <a16:creationId xmlns:a16="http://schemas.microsoft.com/office/drawing/2014/main" id="{0B223C64-5F3B-47E1-8E16-F980CCBE5009}"/>
                </a:ext>
              </a:extLst>
            </p:cNvPr>
            <p:cNvCxnSpPr>
              <a:cxnSpLocks noChangeShapeType="1"/>
            </p:cNvCxnSpPr>
            <p:nvPr/>
          </p:nvCxnSpPr>
          <p:spPr bwMode="auto">
            <a:xfrm>
              <a:off x="8955842" y="4048805"/>
              <a:ext cx="261937" cy="0"/>
            </a:xfrm>
            <a:prstGeom prst="straightConnector1">
              <a:avLst/>
            </a:prstGeom>
            <a:noFill/>
            <a:ln w="28575">
              <a:solidFill>
                <a:srgbClr val="CC3300"/>
              </a:solidFill>
              <a:round/>
              <a:headEnd/>
              <a:tailEnd/>
            </a:ln>
            <a:extLst>
              <a:ext uri="{909E8E84-426E-40DD-AFC4-6F175D3DCCD1}">
                <a14:hiddenFill xmlns:a14="http://schemas.microsoft.com/office/drawing/2010/main">
                  <a:noFill/>
                </a14:hiddenFill>
              </a:ext>
            </a:extLst>
          </p:spPr>
        </p:cxnSp>
        <p:cxnSp>
          <p:nvCxnSpPr>
            <p:cNvPr id="43" name="AutoShape 10">
              <a:extLst>
                <a:ext uri="{FF2B5EF4-FFF2-40B4-BE49-F238E27FC236}">
                  <a16:creationId xmlns:a16="http://schemas.microsoft.com/office/drawing/2014/main" id="{2E0F9E97-B852-4ABF-9973-7C08BF0B9372}"/>
                </a:ext>
              </a:extLst>
            </p:cNvPr>
            <p:cNvCxnSpPr>
              <a:cxnSpLocks noChangeShapeType="1"/>
            </p:cNvCxnSpPr>
            <p:nvPr/>
          </p:nvCxnSpPr>
          <p:spPr bwMode="auto">
            <a:xfrm>
              <a:off x="9217778" y="4048805"/>
              <a:ext cx="0" cy="1181100"/>
            </a:xfrm>
            <a:prstGeom prst="straightConnector1">
              <a:avLst/>
            </a:prstGeom>
            <a:noFill/>
            <a:ln w="28575">
              <a:solidFill>
                <a:srgbClr val="CC3300"/>
              </a:solidFill>
              <a:round/>
              <a:headEnd/>
              <a:tailEnd/>
            </a:ln>
            <a:extLst>
              <a:ext uri="{909E8E84-426E-40DD-AFC4-6F175D3DCCD1}">
                <a14:hiddenFill xmlns:a14="http://schemas.microsoft.com/office/drawing/2010/main">
                  <a:noFill/>
                </a14:hiddenFill>
              </a:ext>
            </a:extLst>
          </p:spPr>
        </p:cxnSp>
        <p:cxnSp>
          <p:nvCxnSpPr>
            <p:cNvPr id="44" name="AutoShape 11">
              <a:extLst>
                <a:ext uri="{FF2B5EF4-FFF2-40B4-BE49-F238E27FC236}">
                  <a16:creationId xmlns:a16="http://schemas.microsoft.com/office/drawing/2014/main" id="{0D108DED-5B9B-4A0B-9BFD-BA8E6939D788}"/>
                </a:ext>
              </a:extLst>
            </p:cNvPr>
            <p:cNvCxnSpPr>
              <a:cxnSpLocks noChangeShapeType="1"/>
            </p:cNvCxnSpPr>
            <p:nvPr/>
          </p:nvCxnSpPr>
          <p:spPr bwMode="auto">
            <a:xfrm>
              <a:off x="9217779" y="5229905"/>
              <a:ext cx="258763" cy="0"/>
            </a:xfrm>
            <a:prstGeom prst="straightConnector1">
              <a:avLst/>
            </a:prstGeom>
            <a:noFill/>
            <a:ln w="28575">
              <a:solidFill>
                <a:srgbClr val="CC3300"/>
              </a:solidFill>
              <a:round/>
              <a:headEnd/>
              <a:tailEnd/>
            </a:ln>
            <a:extLst>
              <a:ext uri="{909E8E84-426E-40DD-AFC4-6F175D3DCCD1}">
                <a14:hiddenFill xmlns:a14="http://schemas.microsoft.com/office/drawing/2010/main">
                  <a:noFill/>
                </a14:hiddenFill>
              </a:ext>
            </a:extLst>
          </p:spPr>
        </p:cxnSp>
        <p:cxnSp>
          <p:nvCxnSpPr>
            <p:cNvPr id="45" name="AutoShape 12">
              <a:extLst>
                <a:ext uri="{FF2B5EF4-FFF2-40B4-BE49-F238E27FC236}">
                  <a16:creationId xmlns:a16="http://schemas.microsoft.com/office/drawing/2014/main" id="{BAF0CC7B-94BF-41C2-927A-DD47E09B311E}"/>
                </a:ext>
              </a:extLst>
            </p:cNvPr>
            <p:cNvCxnSpPr>
              <a:cxnSpLocks noChangeShapeType="1"/>
            </p:cNvCxnSpPr>
            <p:nvPr/>
          </p:nvCxnSpPr>
          <p:spPr bwMode="auto">
            <a:xfrm>
              <a:off x="9476541" y="4048805"/>
              <a:ext cx="0" cy="1181100"/>
            </a:xfrm>
            <a:prstGeom prst="straightConnector1">
              <a:avLst/>
            </a:prstGeom>
            <a:noFill/>
            <a:ln w="28575">
              <a:solidFill>
                <a:srgbClr val="CC3300"/>
              </a:solidFill>
              <a:round/>
              <a:headEnd/>
              <a:tailEnd/>
            </a:ln>
            <a:extLst>
              <a:ext uri="{909E8E84-426E-40DD-AFC4-6F175D3DCCD1}">
                <a14:hiddenFill xmlns:a14="http://schemas.microsoft.com/office/drawing/2010/main">
                  <a:noFill/>
                </a14:hiddenFill>
              </a:ext>
            </a:extLst>
          </p:spPr>
        </p:cxnSp>
        <p:cxnSp>
          <p:nvCxnSpPr>
            <p:cNvPr id="46" name="AutoShape 13">
              <a:extLst>
                <a:ext uri="{FF2B5EF4-FFF2-40B4-BE49-F238E27FC236}">
                  <a16:creationId xmlns:a16="http://schemas.microsoft.com/office/drawing/2014/main" id="{50B63D59-FA8E-42EF-9365-EB3CBD38724E}"/>
                </a:ext>
              </a:extLst>
            </p:cNvPr>
            <p:cNvCxnSpPr>
              <a:cxnSpLocks noChangeShapeType="1"/>
            </p:cNvCxnSpPr>
            <p:nvPr/>
          </p:nvCxnSpPr>
          <p:spPr bwMode="auto">
            <a:xfrm>
              <a:off x="8960603" y="4048805"/>
              <a:ext cx="0" cy="1181100"/>
            </a:xfrm>
            <a:prstGeom prst="straightConnector1">
              <a:avLst/>
            </a:prstGeom>
            <a:noFill/>
            <a:ln w="28575">
              <a:solidFill>
                <a:srgbClr val="CC3300"/>
              </a:solidFill>
              <a:round/>
              <a:headEnd/>
              <a:tailEnd/>
            </a:ln>
            <a:extLst>
              <a:ext uri="{909E8E84-426E-40DD-AFC4-6F175D3DCCD1}">
                <a14:hiddenFill xmlns:a14="http://schemas.microsoft.com/office/drawing/2010/main">
                  <a:noFill/>
                </a14:hiddenFill>
              </a:ext>
            </a:extLst>
          </p:spPr>
        </p:cxnSp>
        <p:cxnSp>
          <p:nvCxnSpPr>
            <p:cNvPr id="47" name="AutoShape 14">
              <a:extLst>
                <a:ext uri="{FF2B5EF4-FFF2-40B4-BE49-F238E27FC236}">
                  <a16:creationId xmlns:a16="http://schemas.microsoft.com/office/drawing/2014/main" id="{4D56BFC8-E674-484D-8A07-7380972EA67E}"/>
                </a:ext>
              </a:extLst>
            </p:cNvPr>
            <p:cNvCxnSpPr>
              <a:cxnSpLocks noChangeShapeType="1"/>
            </p:cNvCxnSpPr>
            <p:nvPr/>
          </p:nvCxnSpPr>
          <p:spPr bwMode="auto">
            <a:xfrm>
              <a:off x="9476541" y="4048805"/>
              <a:ext cx="260350" cy="0"/>
            </a:xfrm>
            <a:prstGeom prst="straightConnector1">
              <a:avLst/>
            </a:prstGeom>
            <a:noFill/>
            <a:ln w="28575">
              <a:solidFill>
                <a:srgbClr val="CC3300"/>
              </a:solidFill>
              <a:round/>
              <a:headEnd/>
              <a:tailEnd/>
            </a:ln>
            <a:extLst>
              <a:ext uri="{909E8E84-426E-40DD-AFC4-6F175D3DCCD1}">
                <a14:hiddenFill xmlns:a14="http://schemas.microsoft.com/office/drawing/2010/main">
                  <a:noFill/>
                </a14:hiddenFill>
              </a:ext>
            </a:extLst>
          </p:spPr>
        </p:cxnSp>
        <p:cxnSp>
          <p:nvCxnSpPr>
            <p:cNvPr id="48" name="AutoShape 15">
              <a:extLst>
                <a:ext uri="{FF2B5EF4-FFF2-40B4-BE49-F238E27FC236}">
                  <a16:creationId xmlns:a16="http://schemas.microsoft.com/office/drawing/2014/main" id="{27D6340D-C2D4-442F-B95C-3E6D1BAEEF14}"/>
                </a:ext>
              </a:extLst>
            </p:cNvPr>
            <p:cNvCxnSpPr>
              <a:cxnSpLocks noChangeShapeType="1"/>
            </p:cNvCxnSpPr>
            <p:nvPr/>
          </p:nvCxnSpPr>
          <p:spPr bwMode="auto">
            <a:xfrm>
              <a:off x="9736891" y="4048805"/>
              <a:ext cx="258762" cy="0"/>
            </a:xfrm>
            <a:prstGeom prst="straightConnector1">
              <a:avLst/>
            </a:prstGeom>
            <a:noFill/>
            <a:ln w="28575">
              <a:solidFill>
                <a:srgbClr val="CC3300"/>
              </a:solidFill>
              <a:round/>
              <a:headEnd/>
              <a:tailEnd/>
            </a:ln>
            <a:extLst>
              <a:ext uri="{909E8E84-426E-40DD-AFC4-6F175D3DCCD1}">
                <a14:hiddenFill xmlns:a14="http://schemas.microsoft.com/office/drawing/2010/main">
                  <a:noFill/>
                </a14:hiddenFill>
              </a:ext>
            </a:extLst>
          </p:spPr>
        </p:cxnSp>
        <p:cxnSp>
          <p:nvCxnSpPr>
            <p:cNvPr id="49" name="AutoShape 16">
              <a:extLst>
                <a:ext uri="{FF2B5EF4-FFF2-40B4-BE49-F238E27FC236}">
                  <a16:creationId xmlns:a16="http://schemas.microsoft.com/office/drawing/2014/main" id="{3E26A194-7E33-4D6A-92FA-CD370F3E7133}"/>
                </a:ext>
              </a:extLst>
            </p:cNvPr>
            <p:cNvCxnSpPr>
              <a:cxnSpLocks noChangeShapeType="1"/>
            </p:cNvCxnSpPr>
            <p:nvPr/>
          </p:nvCxnSpPr>
          <p:spPr bwMode="auto">
            <a:xfrm>
              <a:off x="9995653" y="4048805"/>
              <a:ext cx="0" cy="1181100"/>
            </a:xfrm>
            <a:prstGeom prst="straightConnector1">
              <a:avLst/>
            </a:prstGeom>
            <a:noFill/>
            <a:ln w="28575">
              <a:solidFill>
                <a:srgbClr val="CC3300"/>
              </a:solidFill>
              <a:round/>
              <a:headEnd/>
              <a:tailEnd/>
            </a:ln>
            <a:extLst>
              <a:ext uri="{909E8E84-426E-40DD-AFC4-6F175D3DCCD1}">
                <a14:hiddenFill xmlns:a14="http://schemas.microsoft.com/office/drawing/2010/main">
                  <a:noFill/>
                </a14:hiddenFill>
              </a:ext>
            </a:extLst>
          </p:spPr>
        </p:cxnSp>
        <p:cxnSp>
          <p:nvCxnSpPr>
            <p:cNvPr id="50" name="AutoShape 17">
              <a:extLst>
                <a:ext uri="{FF2B5EF4-FFF2-40B4-BE49-F238E27FC236}">
                  <a16:creationId xmlns:a16="http://schemas.microsoft.com/office/drawing/2014/main" id="{9A98A839-4D98-4DF5-B54F-24DE3DECF100}"/>
                </a:ext>
              </a:extLst>
            </p:cNvPr>
            <p:cNvCxnSpPr>
              <a:cxnSpLocks noChangeShapeType="1"/>
            </p:cNvCxnSpPr>
            <p:nvPr/>
          </p:nvCxnSpPr>
          <p:spPr bwMode="auto">
            <a:xfrm>
              <a:off x="9995653" y="5229905"/>
              <a:ext cx="260350" cy="0"/>
            </a:xfrm>
            <a:prstGeom prst="straightConnector1">
              <a:avLst/>
            </a:prstGeom>
            <a:noFill/>
            <a:ln w="28575">
              <a:solidFill>
                <a:srgbClr val="CC3300"/>
              </a:solidFill>
              <a:round/>
              <a:headEnd/>
              <a:tailEnd/>
            </a:ln>
            <a:extLst>
              <a:ext uri="{909E8E84-426E-40DD-AFC4-6F175D3DCCD1}">
                <a14:hiddenFill xmlns:a14="http://schemas.microsoft.com/office/drawing/2010/main">
                  <a:noFill/>
                </a14:hiddenFill>
              </a:ext>
            </a:extLst>
          </p:spPr>
        </p:cxnSp>
        <p:sp>
          <p:nvSpPr>
            <p:cNvPr id="51" name="Text Box 18">
              <a:extLst>
                <a:ext uri="{FF2B5EF4-FFF2-40B4-BE49-F238E27FC236}">
                  <a16:creationId xmlns:a16="http://schemas.microsoft.com/office/drawing/2014/main" id="{AFC1D642-07F9-4780-8B40-4F2FE59C6125}"/>
                </a:ext>
              </a:extLst>
            </p:cNvPr>
            <p:cNvSpPr txBox="1">
              <a:spLocks noChangeArrowheads="1"/>
            </p:cNvSpPr>
            <p:nvPr/>
          </p:nvSpPr>
          <p:spPr bwMode="auto">
            <a:xfrm>
              <a:off x="10149642" y="4024994"/>
              <a:ext cx="35718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1422" tIns="45711" rIns="91422" bIns="45711">
              <a:spAutoFit/>
            </a:bodyPr>
            <a:lstStyle>
              <a:lvl1pPr>
                <a:defRPr kumimoji="1" sz="1600">
                  <a:solidFill>
                    <a:schemeClr val="tx2"/>
                  </a:solidFill>
                  <a:latin typeface="Arial" pitchFamily="34" charset="0"/>
                </a:defRPr>
              </a:lvl1pPr>
              <a:lvl2pPr marL="742950" indent="-285750">
                <a:defRPr kumimoji="1" sz="1600">
                  <a:solidFill>
                    <a:schemeClr val="tx2"/>
                  </a:solidFill>
                  <a:latin typeface="Arial" pitchFamily="34" charset="0"/>
                </a:defRPr>
              </a:lvl2pPr>
              <a:lvl3pPr marL="1143000" indent="-228600">
                <a:defRPr kumimoji="1" sz="1600">
                  <a:solidFill>
                    <a:schemeClr val="tx2"/>
                  </a:solidFill>
                  <a:latin typeface="Arial" pitchFamily="34" charset="0"/>
                </a:defRPr>
              </a:lvl3pPr>
              <a:lvl4pPr marL="1600200" indent="-228600">
                <a:defRPr kumimoji="1" sz="1600">
                  <a:solidFill>
                    <a:schemeClr val="tx2"/>
                  </a:solidFill>
                  <a:latin typeface="Arial" pitchFamily="34" charset="0"/>
                </a:defRPr>
              </a:lvl4pPr>
              <a:lvl5pPr marL="2057400" indent="-228600">
                <a:defRPr kumimoji="1" sz="1600">
                  <a:solidFill>
                    <a:schemeClr val="tx2"/>
                  </a:solidFill>
                  <a:latin typeface="Arial" pitchFamily="34" charset="0"/>
                </a:defRPr>
              </a:lvl5pPr>
              <a:lvl6pPr marL="2514600" indent="-228600" eaLnBrk="0" fontAlgn="base" hangingPunct="0">
                <a:spcBef>
                  <a:spcPct val="0"/>
                </a:spcBef>
                <a:spcAft>
                  <a:spcPct val="0"/>
                </a:spcAft>
                <a:defRPr kumimoji="1" sz="1600">
                  <a:solidFill>
                    <a:schemeClr val="tx2"/>
                  </a:solidFill>
                  <a:latin typeface="Arial" pitchFamily="34" charset="0"/>
                </a:defRPr>
              </a:lvl6pPr>
              <a:lvl7pPr marL="2971800" indent="-228600" eaLnBrk="0" fontAlgn="base" hangingPunct="0">
                <a:spcBef>
                  <a:spcPct val="0"/>
                </a:spcBef>
                <a:spcAft>
                  <a:spcPct val="0"/>
                </a:spcAft>
                <a:defRPr kumimoji="1" sz="1600">
                  <a:solidFill>
                    <a:schemeClr val="tx2"/>
                  </a:solidFill>
                  <a:latin typeface="Arial" pitchFamily="34" charset="0"/>
                </a:defRPr>
              </a:lvl7pPr>
              <a:lvl8pPr marL="3429000" indent="-228600" eaLnBrk="0" fontAlgn="base" hangingPunct="0">
                <a:spcBef>
                  <a:spcPct val="0"/>
                </a:spcBef>
                <a:spcAft>
                  <a:spcPct val="0"/>
                </a:spcAft>
                <a:defRPr kumimoji="1" sz="1600">
                  <a:solidFill>
                    <a:schemeClr val="tx2"/>
                  </a:solidFill>
                  <a:latin typeface="Arial" pitchFamily="34" charset="0"/>
                </a:defRPr>
              </a:lvl8pPr>
              <a:lvl9pPr marL="3886200" indent="-228600" eaLnBrk="0" fontAlgn="base" hangingPunct="0">
                <a:spcBef>
                  <a:spcPct val="0"/>
                </a:spcBef>
                <a:spcAft>
                  <a:spcPct val="0"/>
                </a:spcAft>
                <a:defRPr kumimoji="1" sz="1600">
                  <a:solidFill>
                    <a:schemeClr val="tx2"/>
                  </a:solidFill>
                  <a:latin typeface="Arial" pitchFamily="34" charset="0"/>
                </a:defRPr>
              </a:lvl9pPr>
            </a:lstStyle>
            <a:p>
              <a:r>
                <a:rPr kumimoji="0" lang="en-US">
                  <a:solidFill>
                    <a:schemeClr val="tx1"/>
                  </a:solidFill>
                </a:rPr>
                <a:t>...</a:t>
              </a:r>
            </a:p>
          </p:txBody>
        </p:sp>
        <p:sp>
          <p:nvSpPr>
            <p:cNvPr id="52" name="Text Box 19">
              <a:extLst>
                <a:ext uri="{FF2B5EF4-FFF2-40B4-BE49-F238E27FC236}">
                  <a16:creationId xmlns:a16="http://schemas.microsoft.com/office/drawing/2014/main" id="{88A19EFE-1141-407B-A2B1-A64D09372602}"/>
                </a:ext>
              </a:extLst>
            </p:cNvPr>
            <p:cNvSpPr txBox="1">
              <a:spLocks noChangeArrowheads="1"/>
            </p:cNvSpPr>
            <p:nvPr/>
          </p:nvSpPr>
          <p:spPr bwMode="auto">
            <a:xfrm>
              <a:off x="10584616" y="4253593"/>
              <a:ext cx="242338" cy="338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2" tIns="45711" rIns="91422" bIns="45711">
              <a:spAutoFit/>
            </a:bodyPr>
            <a:lstStyle>
              <a:lvl1pPr>
                <a:defRPr kumimoji="1" sz="1600">
                  <a:solidFill>
                    <a:schemeClr val="tx2"/>
                  </a:solidFill>
                  <a:latin typeface="Arial" pitchFamily="34" charset="0"/>
                </a:defRPr>
              </a:lvl1pPr>
              <a:lvl2pPr marL="742950" indent="-285750">
                <a:defRPr kumimoji="1" sz="1600">
                  <a:solidFill>
                    <a:schemeClr val="tx2"/>
                  </a:solidFill>
                  <a:latin typeface="Arial" pitchFamily="34" charset="0"/>
                </a:defRPr>
              </a:lvl2pPr>
              <a:lvl3pPr marL="1143000" indent="-228600">
                <a:defRPr kumimoji="1" sz="1600">
                  <a:solidFill>
                    <a:schemeClr val="tx2"/>
                  </a:solidFill>
                  <a:latin typeface="Arial" pitchFamily="34" charset="0"/>
                </a:defRPr>
              </a:lvl3pPr>
              <a:lvl4pPr marL="1600200" indent="-228600">
                <a:defRPr kumimoji="1" sz="1600">
                  <a:solidFill>
                    <a:schemeClr val="tx2"/>
                  </a:solidFill>
                  <a:latin typeface="Arial" pitchFamily="34" charset="0"/>
                </a:defRPr>
              </a:lvl4pPr>
              <a:lvl5pPr marL="2057400" indent="-228600">
                <a:defRPr kumimoji="1" sz="1600">
                  <a:solidFill>
                    <a:schemeClr val="tx2"/>
                  </a:solidFill>
                  <a:latin typeface="Arial" pitchFamily="34" charset="0"/>
                </a:defRPr>
              </a:lvl5pPr>
              <a:lvl6pPr marL="2514600" indent="-228600" eaLnBrk="0" fontAlgn="base" hangingPunct="0">
                <a:spcBef>
                  <a:spcPct val="0"/>
                </a:spcBef>
                <a:spcAft>
                  <a:spcPct val="0"/>
                </a:spcAft>
                <a:defRPr kumimoji="1" sz="1600">
                  <a:solidFill>
                    <a:schemeClr val="tx2"/>
                  </a:solidFill>
                  <a:latin typeface="Arial" pitchFamily="34" charset="0"/>
                </a:defRPr>
              </a:lvl6pPr>
              <a:lvl7pPr marL="2971800" indent="-228600" eaLnBrk="0" fontAlgn="base" hangingPunct="0">
                <a:spcBef>
                  <a:spcPct val="0"/>
                </a:spcBef>
                <a:spcAft>
                  <a:spcPct val="0"/>
                </a:spcAft>
                <a:defRPr kumimoji="1" sz="1600">
                  <a:solidFill>
                    <a:schemeClr val="tx2"/>
                  </a:solidFill>
                  <a:latin typeface="Arial" pitchFamily="34" charset="0"/>
                </a:defRPr>
              </a:lvl7pPr>
              <a:lvl8pPr marL="3429000" indent="-228600" eaLnBrk="0" fontAlgn="base" hangingPunct="0">
                <a:spcBef>
                  <a:spcPct val="0"/>
                </a:spcBef>
                <a:spcAft>
                  <a:spcPct val="0"/>
                </a:spcAft>
                <a:defRPr kumimoji="1" sz="1600">
                  <a:solidFill>
                    <a:schemeClr val="tx2"/>
                  </a:solidFill>
                  <a:latin typeface="Arial" pitchFamily="34" charset="0"/>
                </a:defRPr>
              </a:lvl8pPr>
              <a:lvl9pPr marL="3886200" indent="-228600" eaLnBrk="0" fontAlgn="base" hangingPunct="0">
                <a:spcBef>
                  <a:spcPct val="0"/>
                </a:spcBef>
                <a:spcAft>
                  <a:spcPct val="0"/>
                </a:spcAft>
                <a:defRPr kumimoji="1" sz="1600">
                  <a:solidFill>
                    <a:schemeClr val="tx2"/>
                  </a:solidFill>
                  <a:latin typeface="Arial" pitchFamily="34" charset="0"/>
                </a:defRPr>
              </a:lvl9pPr>
            </a:lstStyle>
            <a:p>
              <a:r>
                <a:rPr kumimoji="0" lang="en-US">
                  <a:solidFill>
                    <a:schemeClr val="tx1"/>
                  </a:solidFill>
                </a:rPr>
                <a:t>t</a:t>
              </a:r>
            </a:p>
          </p:txBody>
        </p:sp>
        <p:sp>
          <p:nvSpPr>
            <p:cNvPr id="53" name="Text Box 25">
              <a:extLst>
                <a:ext uri="{FF2B5EF4-FFF2-40B4-BE49-F238E27FC236}">
                  <a16:creationId xmlns:a16="http://schemas.microsoft.com/office/drawing/2014/main" id="{D4CD0D12-D5D6-4DBC-B11F-D4F9F7DC4490}"/>
                </a:ext>
              </a:extLst>
            </p:cNvPr>
            <p:cNvSpPr txBox="1">
              <a:spLocks noChangeArrowheads="1"/>
            </p:cNvSpPr>
            <p:nvPr/>
          </p:nvSpPr>
          <p:spPr bwMode="auto">
            <a:xfrm>
              <a:off x="8258928" y="3531281"/>
              <a:ext cx="8588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91422" tIns="45711" rIns="91422" bIns="45711" anchor="b">
              <a:spAutoFit/>
            </a:bodyPr>
            <a:lstStyle>
              <a:lvl1pPr>
                <a:defRPr kumimoji="1" sz="1600">
                  <a:solidFill>
                    <a:schemeClr val="tx2"/>
                  </a:solidFill>
                  <a:latin typeface="Arial" pitchFamily="34" charset="0"/>
                </a:defRPr>
              </a:lvl1pPr>
              <a:lvl2pPr marL="742950" indent="-285750">
                <a:defRPr kumimoji="1" sz="1600">
                  <a:solidFill>
                    <a:schemeClr val="tx2"/>
                  </a:solidFill>
                  <a:latin typeface="Arial" pitchFamily="34" charset="0"/>
                </a:defRPr>
              </a:lvl2pPr>
              <a:lvl3pPr marL="1143000" indent="-228600">
                <a:defRPr kumimoji="1" sz="1600">
                  <a:solidFill>
                    <a:schemeClr val="tx2"/>
                  </a:solidFill>
                  <a:latin typeface="Arial" pitchFamily="34" charset="0"/>
                </a:defRPr>
              </a:lvl3pPr>
              <a:lvl4pPr marL="1600200" indent="-228600">
                <a:defRPr kumimoji="1" sz="1600">
                  <a:solidFill>
                    <a:schemeClr val="tx2"/>
                  </a:solidFill>
                  <a:latin typeface="Arial" pitchFamily="34" charset="0"/>
                </a:defRPr>
              </a:lvl4pPr>
              <a:lvl5pPr marL="2057400" indent="-228600">
                <a:defRPr kumimoji="1" sz="1600">
                  <a:solidFill>
                    <a:schemeClr val="tx2"/>
                  </a:solidFill>
                  <a:latin typeface="Arial" pitchFamily="34" charset="0"/>
                </a:defRPr>
              </a:lvl5pPr>
              <a:lvl6pPr marL="2514600" indent="-228600" eaLnBrk="0" fontAlgn="base" hangingPunct="0">
                <a:spcBef>
                  <a:spcPct val="0"/>
                </a:spcBef>
                <a:spcAft>
                  <a:spcPct val="0"/>
                </a:spcAft>
                <a:defRPr kumimoji="1" sz="1600">
                  <a:solidFill>
                    <a:schemeClr val="tx2"/>
                  </a:solidFill>
                  <a:latin typeface="Arial" pitchFamily="34" charset="0"/>
                </a:defRPr>
              </a:lvl6pPr>
              <a:lvl7pPr marL="2971800" indent="-228600" eaLnBrk="0" fontAlgn="base" hangingPunct="0">
                <a:spcBef>
                  <a:spcPct val="0"/>
                </a:spcBef>
                <a:spcAft>
                  <a:spcPct val="0"/>
                </a:spcAft>
                <a:defRPr kumimoji="1" sz="1600">
                  <a:solidFill>
                    <a:schemeClr val="tx2"/>
                  </a:solidFill>
                  <a:latin typeface="Arial" pitchFamily="34" charset="0"/>
                </a:defRPr>
              </a:lvl7pPr>
              <a:lvl8pPr marL="3429000" indent="-228600" eaLnBrk="0" fontAlgn="base" hangingPunct="0">
                <a:spcBef>
                  <a:spcPct val="0"/>
                </a:spcBef>
                <a:spcAft>
                  <a:spcPct val="0"/>
                </a:spcAft>
                <a:defRPr kumimoji="1" sz="1600">
                  <a:solidFill>
                    <a:schemeClr val="tx2"/>
                  </a:solidFill>
                  <a:latin typeface="Arial" pitchFamily="34" charset="0"/>
                </a:defRPr>
              </a:lvl8pPr>
              <a:lvl9pPr marL="3886200" indent="-228600" eaLnBrk="0" fontAlgn="base" hangingPunct="0">
                <a:spcBef>
                  <a:spcPct val="0"/>
                </a:spcBef>
                <a:spcAft>
                  <a:spcPct val="0"/>
                </a:spcAft>
                <a:defRPr kumimoji="1" sz="1600">
                  <a:solidFill>
                    <a:schemeClr val="tx2"/>
                  </a:solidFill>
                  <a:latin typeface="Arial" pitchFamily="34" charset="0"/>
                </a:defRPr>
              </a:lvl9pPr>
            </a:lstStyle>
            <a:p>
              <a:r>
                <a:rPr lang="en-US" sz="1200"/>
                <a:t>Amplitude</a:t>
              </a:r>
              <a:endParaRPr lang="en-US" sz="1000">
                <a:latin typeface="Arial Black" pitchFamily="34" charset="0"/>
              </a:endParaRPr>
            </a:p>
          </p:txBody>
        </p:sp>
        <p:sp>
          <p:nvSpPr>
            <p:cNvPr id="54" name="Text Box 26">
              <a:extLst>
                <a:ext uri="{FF2B5EF4-FFF2-40B4-BE49-F238E27FC236}">
                  <a16:creationId xmlns:a16="http://schemas.microsoft.com/office/drawing/2014/main" id="{A8901E87-6011-44E6-8CE2-B6B6293E36CE}"/>
                </a:ext>
              </a:extLst>
            </p:cNvPr>
            <p:cNvSpPr txBox="1">
              <a:spLocks noChangeArrowheads="1"/>
            </p:cNvSpPr>
            <p:nvPr/>
          </p:nvSpPr>
          <p:spPr bwMode="auto">
            <a:xfrm>
              <a:off x="9135449" y="5362298"/>
              <a:ext cx="1061540" cy="276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91422" tIns="45711" rIns="91422" bIns="45711" anchor="b">
              <a:spAutoFit/>
            </a:bodyPr>
            <a:lstStyle>
              <a:lvl1pPr>
                <a:defRPr kumimoji="1" sz="1600">
                  <a:solidFill>
                    <a:schemeClr val="tx2"/>
                  </a:solidFill>
                  <a:latin typeface="Arial" pitchFamily="34" charset="0"/>
                </a:defRPr>
              </a:lvl1pPr>
              <a:lvl2pPr marL="742950" indent="-285750">
                <a:defRPr kumimoji="1" sz="1600">
                  <a:solidFill>
                    <a:schemeClr val="tx2"/>
                  </a:solidFill>
                  <a:latin typeface="Arial" pitchFamily="34" charset="0"/>
                </a:defRPr>
              </a:lvl2pPr>
              <a:lvl3pPr marL="1143000" indent="-228600">
                <a:defRPr kumimoji="1" sz="1600">
                  <a:solidFill>
                    <a:schemeClr val="tx2"/>
                  </a:solidFill>
                  <a:latin typeface="Arial" pitchFamily="34" charset="0"/>
                </a:defRPr>
              </a:lvl3pPr>
              <a:lvl4pPr marL="1600200" indent="-228600">
                <a:defRPr kumimoji="1" sz="1600">
                  <a:solidFill>
                    <a:schemeClr val="tx2"/>
                  </a:solidFill>
                  <a:latin typeface="Arial" pitchFamily="34" charset="0"/>
                </a:defRPr>
              </a:lvl4pPr>
              <a:lvl5pPr marL="2057400" indent="-228600">
                <a:defRPr kumimoji="1" sz="1600">
                  <a:solidFill>
                    <a:schemeClr val="tx2"/>
                  </a:solidFill>
                  <a:latin typeface="Arial" pitchFamily="34" charset="0"/>
                </a:defRPr>
              </a:lvl5pPr>
              <a:lvl6pPr marL="2514600" indent="-228600" eaLnBrk="0" fontAlgn="base" hangingPunct="0">
                <a:spcBef>
                  <a:spcPct val="0"/>
                </a:spcBef>
                <a:spcAft>
                  <a:spcPct val="0"/>
                </a:spcAft>
                <a:defRPr kumimoji="1" sz="1600">
                  <a:solidFill>
                    <a:schemeClr val="tx2"/>
                  </a:solidFill>
                  <a:latin typeface="Arial" pitchFamily="34" charset="0"/>
                </a:defRPr>
              </a:lvl6pPr>
              <a:lvl7pPr marL="2971800" indent="-228600" eaLnBrk="0" fontAlgn="base" hangingPunct="0">
                <a:spcBef>
                  <a:spcPct val="0"/>
                </a:spcBef>
                <a:spcAft>
                  <a:spcPct val="0"/>
                </a:spcAft>
                <a:defRPr kumimoji="1" sz="1600">
                  <a:solidFill>
                    <a:schemeClr val="tx2"/>
                  </a:solidFill>
                  <a:latin typeface="Arial" pitchFamily="34" charset="0"/>
                </a:defRPr>
              </a:lvl7pPr>
              <a:lvl8pPr marL="3429000" indent="-228600" eaLnBrk="0" fontAlgn="base" hangingPunct="0">
                <a:spcBef>
                  <a:spcPct val="0"/>
                </a:spcBef>
                <a:spcAft>
                  <a:spcPct val="0"/>
                </a:spcAft>
                <a:defRPr kumimoji="1" sz="1600">
                  <a:solidFill>
                    <a:schemeClr val="tx2"/>
                  </a:solidFill>
                  <a:latin typeface="Arial" pitchFamily="34" charset="0"/>
                </a:defRPr>
              </a:lvl8pPr>
              <a:lvl9pPr marL="3886200" indent="-228600" eaLnBrk="0" fontAlgn="base" hangingPunct="0">
                <a:spcBef>
                  <a:spcPct val="0"/>
                </a:spcBef>
                <a:spcAft>
                  <a:spcPct val="0"/>
                </a:spcAft>
                <a:defRPr kumimoji="1" sz="1600">
                  <a:solidFill>
                    <a:schemeClr val="tx2"/>
                  </a:solidFill>
                  <a:latin typeface="Arial" pitchFamily="34" charset="0"/>
                </a:defRPr>
              </a:lvl9pPr>
            </a:lstStyle>
            <a:p>
              <a:r>
                <a:rPr lang="en-US" b="1" dirty="0"/>
                <a:t>Digital Signal</a:t>
              </a:r>
              <a:endParaRPr lang="en-US" dirty="0">
                <a:latin typeface="Arial Black" pitchFamily="34" charset="0"/>
              </a:endParaRPr>
            </a:p>
          </p:txBody>
        </p:sp>
      </p:grpSp>
      <p:pic>
        <p:nvPicPr>
          <p:cNvPr id="7" name="Pg3b">
            <a:hlinkClick r:id="" action="ppaction://media"/>
            <a:extLst>
              <a:ext uri="{FF2B5EF4-FFF2-40B4-BE49-F238E27FC236}">
                <a16:creationId xmlns:a16="http://schemas.microsoft.com/office/drawing/2014/main" id="{5A56A7B8-0EA8-48FB-A41F-F311ED6052F6}"/>
              </a:ext>
            </a:extLst>
          </p:cNvPr>
          <p:cNvPicPr>
            <a:picLocks noChangeAspect="1"/>
          </p:cNvPicPr>
          <p:nvPr>
            <a:audioFile r:link="rId6"/>
            <p:extLst>
              <p:ext uri="{DAA4B4D4-6D71-4841-9C94-3DE7FCFB9230}">
                <p14:media xmlns:p14="http://schemas.microsoft.com/office/powerpoint/2010/main" r:embed="rId5"/>
              </p:ext>
            </p:extLst>
          </p:nvPr>
        </p:nvPicPr>
        <p:blipFill>
          <a:blip r:embed="rId8"/>
          <a:stretch>
            <a:fillRect/>
          </a:stretch>
        </p:blipFill>
        <p:spPr>
          <a:xfrm>
            <a:off x="10150825" y="5803234"/>
            <a:ext cx="609600" cy="609600"/>
          </a:xfrm>
          <a:prstGeom prst="rect">
            <a:avLst/>
          </a:prstGeom>
        </p:spPr>
      </p:pic>
      <p:sp>
        <p:nvSpPr>
          <p:cNvPr id="8" name="Rectangle 7">
            <a:extLst>
              <a:ext uri="{FF2B5EF4-FFF2-40B4-BE49-F238E27FC236}">
                <a16:creationId xmlns:a16="http://schemas.microsoft.com/office/drawing/2014/main" id="{9D0C9F87-B6C0-A61D-6C86-469854DBF778}"/>
              </a:ext>
            </a:extLst>
          </p:cNvPr>
          <p:cNvSpPr/>
          <p:nvPr/>
        </p:nvSpPr>
        <p:spPr>
          <a:xfrm>
            <a:off x="0" y="0"/>
            <a:ext cx="1026160" cy="2438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4497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795" fill="hold"/>
                                        <p:tgtEl>
                                          <p:spTgt spid="5"/>
                                        </p:tgtEl>
                                      </p:cBhvr>
                                    </p:cmd>
                                  </p:childTnLst>
                                </p:cTn>
                              </p:par>
                            </p:childTnLst>
                          </p:cTn>
                        </p:par>
                      </p:childTnLst>
                    </p:cTn>
                  </p:par>
                  <p:par>
                    <p:cTn id="7" fill="hold">
                      <p:stCondLst>
                        <p:cond delay="indefinite"/>
                      </p:stCondLst>
                      <p:childTnLst>
                        <p:par>
                          <p:cTn id="8" fill="hold">
                            <p:stCondLst>
                              <p:cond delay="0"/>
                            </p:stCondLst>
                            <p:childTnLst>
                              <p:par>
                                <p:cTn id="9" presetID="45"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0"/>
                                        <p:tgtEl>
                                          <p:spTgt spid="2"/>
                                        </p:tgtEl>
                                      </p:cBhvr>
                                    </p:animEffect>
                                    <p:anim calcmode="lin" valueType="num">
                                      <p:cBhvr>
                                        <p:cTn id="12" dur="5000" fill="hold"/>
                                        <p:tgtEl>
                                          <p:spTgt spid="2"/>
                                        </p:tgtEl>
                                        <p:attrNameLst>
                                          <p:attrName>ppt_w</p:attrName>
                                        </p:attrNameLst>
                                      </p:cBhvr>
                                      <p:tavLst>
                                        <p:tav tm="0" fmla="#ppt_w*sin(2.5*pi*$)">
                                          <p:val>
                                            <p:fltVal val="0"/>
                                          </p:val>
                                        </p:tav>
                                        <p:tav tm="100000">
                                          <p:val>
                                            <p:fltVal val="1"/>
                                          </p:val>
                                        </p:tav>
                                      </p:tavLst>
                                    </p:anim>
                                    <p:anim calcmode="lin" valueType="num">
                                      <p:cBhvr>
                                        <p:cTn id="13" dur="5000" fill="hold"/>
                                        <p:tgtEl>
                                          <p:spTgt spid="2"/>
                                        </p:tgtEl>
                                        <p:attrNameLst>
                                          <p:attrName>ppt_h</p:attrName>
                                        </p:attrNameLst>
                                      </p:cBhvr>
                                      <p:tavLst>
                                        <p:tav tm="0">
                                          <p:val>
                                            <p:strVal val="#ppt_h"/>
                                          </p:val>
                                        </p:tav>
                                        <p:tav tm="100000">
                                          <p:val>
                                            <p:strVal val="#ppt_h"/>
                                          </p:val>
                                        </p:tav>
                                      </p:tavLst>
                                    </p:anim>
                                  </p:childTnLst>
                                </p:cTn>
                              </p:par>
                              <p:par>
                                <p:cTn id="14" presetID="1" presetClass="mediacall" presetSubtype="0" fill="hold" nodeType="withEffect">
                                  <p:stCondLst>
                                    <p:cond delay="0"/>
                                  </p:stCondLst>
                                  <p:childTnLst>
                                    <p:cmd type="call" cmd="playFrom(0.0)">
                                      <p:cBhvr>
                                        <p:cTn id="15" dur="7157" fill="hold"/>
                                        <p:tgtEl>
                                          <p:spTgt spid="6"/>
                                        </p:tgtEl>
                                      </p:cBhvr>
                                    </p:cmd>
                                  </p:childTnLst>
                                </p:cTn>
                              </p:par>
                            </p:childTnLst>
                          </p:cTn>
                        </p:par>
                      </p:childTnLst>
                    </p:cTn>
                  </p:par>
                  <p:par>
                    <p:cTn id="16" fill="hold">
                      <p:stCondLst>
                        <p:cond delay="indefinite"/>
                      </p:stCondLst>
                      <p:childTnLst>
                        <p:par>
                          <p:cTn id="17" fill="hold">
                            <p:stCondLst>
                              <p:cond delay="0"/>
                            </p:stCondLst>
                            <p:childTnLst>
                              <p:par>
                                <p:cTn id="18" presetID="45" presetClass="entr" presetSubtype="0" fill="hold" nodeType="click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fade">
                                      <p:cBhvr>
                                        <p:cTn id="20" dur="5000"/>
                                        <p:tgtEl>
                                          <p:spTgt spid="39"/>
                                        </p:tgtEl>
                                      </p:cBhvr>
                                    </p:animEffect>
                                    <p:anim calcmode="lin" valueType="num">
                                      <p:cBhvr>
                                        <p:cTn id="21" dur="5000" fill="hold"/>
                                        <p:tgtEl>
                                          <p:spTgt spid="39"/>
                                        </p:tgtEl>
                                        <p:attrNameLst>
                                          <p:attrName>ppt_w</p:attrName>
                                        </p:attrNameLst>
                                      </p:cBhvr>
                                      <p:tavLst>
                                        <p:tav tm="0" fmla="#ppt_w*sin(2.5*pi*$)">
                                          <p:val>
                                            <p:fltVal val="0"/>
                                          </p:val>
                                        </p:tav>
                                        <p:tav tm="100000">
                                          <p:val>
                                            <p:fltVal val="1"/>
                                          </p:val>
                                        </p:tav>
                                      </p:tavLst>
                                    </p:anim>
                                    <p:anim calcmode="lin" valueType="num">
                                      <p:cBhvr>
                                        <p:cTn id="22" dur="5000" fill="hold"/>
                                        <p:tgtEl>
                                          <p:spTgt spid="39"/>
                                        </p:tgtEl>
                                        <p:attrNameLst>
                                          <p:attrName>ppt_h</p:attrName>
                                        </p:attrNameLst>
                                      </p:cBhvr>
                                      <p:tavLst>
                                        <p:tav tm="0">
                                          <p:val>
                                            <p:strVal val="#ppt_h"/>
                                          </p:val>
                                        </p:tav>
                                        <p:tav tm="100000">
                                          <p:val>
                                            <p:strVal val="#ppt_h"/>
                                          </p:val>
                                        </p:tav>
                                      </p:tavLst>
                                    </p:anim>
                                  </p:childTnLst>
                                </p:cTn>
                              </p:par>
                              <p:par>
                                <p:cTn id="23" presetID="1" presetClass="mediacall" presetSubtype="0" fill="hold" nodeType="withEffect">
                                  <p:stCondLst>
                                    <p:cond delay="0"/>
                                  </p:stCondLst>
                                  <p:childTnLst>
                                    <p:cmd type="call" cmd="playFrom(0.0)">
                                      <p:cBhvr>
                                        <p:cTn id="24" dur="1368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25" fill="hold" display="0">
                  <p:stCondLst>
                    <p:cond delay="indefinite"/>
                  </p:stCondLst>
                  <p:endCondLst>
                    <p:cond evt="onStopAudio" delay="0">
                      <p:tgtEl>
                        <p:sldTgt/>
                      </p:tgtEl>
                    </p:cond>
                  </p:endCondLst>
                </p:cTn>
                <p:tgtEl>
                  <p:spTgt spid="5"/>
                </p:tgtEl>
              </p:cMediaNode>
            </p:audio>
            <p:audio>
              <p:cMediaNode vol="80000">
                <p:cTn id="26" fill="hold" display="0">
                  <p:stCondLst>
                    <p:cond delay="indefinite"/>
                  </p:stCondLst>
                  <p:endCondLst>
                    <p:cond evt="onStopAudio" delay="0">
                      <p:tgtEl>
                        <p:sldTgt/>
                      </p:tgtEl>
                    </p:cond>
                  </p:endCondLst>
                </p:cTn>
                <p:tgtEl>
                  <p:spTgt spid="6"/>
                </p:tgtEl>
              </p:cMediaNode>
            </p:audio>
            <p:audio>
              <p:cMediaNode vol="80000">
                <p:cTn id="27" fill="hold" display="0">
                  <p:stCondLst>
                    <p:cond delay="indefinite"/>
                  </p:stCondLst>
                  <p:endCondLst>
                    <p:cond evt="onStopAudio" delay="0">
                      <p:tgtEl>
                        <p:sldTgt/>
                      </p:tgtEl>
                    </p:cond>
                  </p:endCondLst>
                </p:cTn>
                <p:tgtEl>
                  <p:spTgt spid="7"/>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4"/>
          </p:nvPr>
        </p:nvSpPr>
        <p:spPr>
          <a:xfrm>
            <a:off x="4724400" y="6356349"/>
            <a:ext cx="2743200" cy="365125"/>
          </a:xfrm>
        </p:spPr>
        <p:txBody>
          <a:bodyPr/>
          <a:lstStyle/>
          <a:p>
            <a:r>
              <a:rPr lang="en-US" dirty="0"/>
              <a:t>Page </a:t>
            </a:r>
            <a:fld id="{A862897D-0F50-4425-B5E1-82FAA232DFBF}" type="slidenum">
              <a:rPr lang="en-US" smtClean="0"/>
              <a:pPr/>
              <a:t>4</a:t>
            </a:fld>
            <a:r>
              <a:rPr lang="en-US" dirty="0"/>
              <a:t> of 23</a:t>
            </a:r>
          </a:p>
        </p:txBody>
      </p:sp>
      <p:sp>
        <p:nvSpPr>
          <p:cNvPr id="7" name="Rectangle 2"/>
          <p:cNvSpPr txBox="1">
            <a:spLocks noChangeArrowheads="1"/>
          </p:cNvSpPr>
          <p:nvPr/>
        </p:nvSpPr>
        <p:spPr>
          <a:xfrm>
            <a:off x="809717" y="12431"/>
            <a:ext cx="9650415" cy="9906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GB" sz="3600" b="1" dirty="0">
                <a:solidFill>
                  <a:srgbClr val="C00000"/>
                </a:solidFill>
                <a:latin typeface="+mn-lt"/>
              </a:rPr>
              <a:t>Digital Transceiver Architecture</a:t>
            </a:r>
            <a:endParaRPr lang="en-US" sz="3600" b="1" dirty="0">
              <a:solidFill>
                <a:srgbClr val="C00000"/>
              </a:solidFill>
              <a:latin typeface="+mn-lt"/>
            </a:endParaRPr>
          </a:p>
        </p:txBody>
      </p:sp>
      <p:grpSp>
        <p:nvGrpSpPr>
          <p:cNvPr id="6" name="Group 5"/>
          <p:cNvGrpSpPr/>
          <p:nvPr/>
        </p:nvGrpSpPr>
        <p:grpSpPr>
          <a:xfrm>
            <a:off x="1719262" y="1003031"/>
            <a:ext cx="8753475" cy="5008306"/>
            <a:chOff x="523875" y="1725869"/>
            <a:chExt cx="8753475" cy="5008306"/>
          </a:xfrm>
        </p:grpSpPr>
        <p:sp>
          <p:nvSpPr>
            <p:cNvPr id="8" name="object 12"/>
            <p:cNvSpPr/>
            <p:nvPr/>
          </p:nvSpPr>
          <p:spPr>
            <a:xfrm>
              <a:off x="1638300" y="2400300"/>
              <a:ext cx="638175" cy="571500"/>
            </a:xfrm>
            <a:custGeom>
              <a:avLst/>
              <a:gdLst/>
              <a:ahLst/>
              <a:cxnLst/>
              <a:rect l="l" t="t" r="r" b="b"/>
              <a:pathLst>
                <a:path w="638175" h="571500">
                  <a:moveTo>
                    <a:pt x="0" y="571500"/>
                  </a:moveTo>
                  <a:lnTo>
                    <a:pt x="638175" y="571500"/>
                  </a:lnTo>
                  <a:lnTo>
                    <a:pt x="638175" y="0"/>
                  </a:lnTo>
                  <a:lnTo>
                    <a:pt x="0" y="0"/>
                  </a:lnTo>
                  <a:lnTo>
                    <a:pt x="0" y="571500"/>
                  </a:lnTo>
                  <a:close/>
                </a:path>
              </a:pathLst>
            </a:custGeom>
            <a:solidFill>
              <a:srgbClr val="B3B3B3"/>
            </a:solidFill>
          </p:spPr>
          <p:txBody>
            <a:bodyPr wrap="square" lIns="0" tIns="0" rIns="0" bIns="0" rtlCol="0">
              <a:noAutofit/>
            </a:bodyPr>
            <a:lstStyle/>
            <a:p>
              <a:endParaRPr/>
            </a:p>
          </p:txBody>
        </p:sp>
        <p:sp>
          <p:nvSpPr>
            <p:cNvPr id="9" name="object 13"/>
            <p:cNvSpPr/>
            <p:nvPr/>
          </p:nvSpPr>
          <p:spPr>
            <a:xfrm>
              <a:off x="1524000" y="2286000"/>
              <a:ext cx="638175" cy="571500"/>
            </a:xfrm>
            <a:custGeom>
              <a:avLst/>
              <a:gdLst/>
              <a:ahLst/>
              <a:cxnLst/>
              <a:rect l="l" t="t" r="r" b="b"/>
              <a:pathLst>
                <a:path w="638175" h="571500">
                  <a:moveTo>
                    <a:pt x="0" y="571500"/>
                  </a:moveTo>
                  <a:lnTo>
                    <a:pt x="638175" y="571500"/>
                  </a:lnTo>
                  <a:lnTo>
                    <a:pt x="638175" y="0"/>
                  </a:lnTo>
                  <a:lnTo>
                    <a:pt x="0" y="0"/>
                  </a:lnTo>
                  <a:lnTo>
                    <a:pt x="0" y="571500"/>
                  </a:lnTo>
                  <a:close/>
                </a:path>
              </a:pathLst>
            </a:custGeom>
            <a:solidFill>
              <a:srgbClr val="00FFFF"/>
            </a:solidFill>
          </p:spPr>
          <p:txBody>
            <a:bodyPr wrap="square" lIns="0" tIns="0" rIns="0" bIns="0" rtlCol="0">
              <a:noAutofit/>
            </a:bodyPr>
            <a:lstStyle/>
            <a:p>
              <a:endParaRPr/>
            </a:p>
          </p:txBody>
        </p:sp>
        <p:sp>
          <p:nvSpPr>
            <p:cNvPr id="10" name="object 14"/>
            <p:cNvSpPr/>
            <p:nvPr/>
          </p:nvSpPr>
          <p:spPr>
            <a:xfrm>
              <a:off x="1524000" y="2286000"/>
              <a:ext cx="638175" cy="571500"/>
            </a:xfrm>
            <a:custGeom>
              <a:avLst/>
              <a:gdLst/>
              <a:ahLst/>
              <a:cxnLst/>
              <a:rect l="l" t="t" r="r" b="b"/>
              <a:pathLst>
                <a:path w="638175" h="571500">
                  <a:moveTo>
                    <a:pt x="0" y="571500"/>
                  </a:moveTo>
                  <a:lnTo>
                    <a:pt x="638175" y="571500"/>
                  </a:lnTo>
                  <a:lnTo>
                    <a:pt x="638175" y="0"/>
                  </a:lnTo>
                  <a:lnTo>
                    <a:pt x="0" y="0"/>
                  </a:lnTo>
                  <a:lnTo>
                    <a:pt x="0" y="571500"/>
                  </a:lnTo>
                  <a:close/>
                </a:path>
              </a:pathLst>
            </a:custGeom>
            <a:ln w="9525">
              <a:solidFill>
                <a:srgbClr val="000000"/>
              </a:solidFill>
            </a:ln>
          </p:spPr>
          <p:txBody>
            <a:bodyPr wrap="square" lIns="0" tIns="0" rIns="0" bIns="0" rtlCol="0">
              <a:noAutofit/>
            </a:bodyPr>
            <a:lstStyle/>
            <a:p>
              <a:endParaRPr/>
            </a:p>
          </p:txBody>
        </p:sp>
        <p:sp>
          <p:nvSpPr>
            <p:cNvPr id="11" name="object 15"/>
            <p:cNvSpPr txBox="1"/>
            <p:nvPr/>
          </p:nvSpPr>
          <p:spPr>
            <a:xfrm>
              <a:off x="1577975" y="2466975"/>
              <a:ext cx="540385" cy="194310"/>
            </a:xfrm>
            <a:prstGeom prst="rect">
              <a:avLst/>
            </a:prstGeom>
          </p:spPr>
          <p:txBody>
            <a:bodyPr vert="horz" wrap="square" lIns="0" tIns="0" rIns="0" bIns="0" rtlCol="0">
              <a:noAutofit/>
            </a:bodyPr>
            <a:lstStyle/>
            <a:p>
              <a:pPr marL="12700">
                <a:lnSpc>
                  <a:spcPct val="100000"/>
                </a:lnSpc>
              </a:pPr>
              <a:r>
                <a:rPr sz="1200" b="1" spc="-5" dirty="0">
                  <a:latin typeface="Arial"/>
                  <a:cs typeface="Arial"/>
                </a:rPr>
                <a:t>Format</a:t>
              </a:r>
              <a:endParaRPr sz="1200">
                <a:latin typeface="Arial"/>
                <a:cs typeface="Arial"/>
              </a:endParaRPr>
            </a:p>
          </p:txBody>
        </p:sp>
        <p:sp>
          <p:nvSpPr>
            <p:cNvPr id="12" name="object 16"/>
            <p:cNvSpPr/>
            <p:nvPr/>
          </p:nvSpPr>
          <p:spPr>
            <a:xfrm>
              <a:off x="4752975" y="2400300"/>
              <a:ext cx="800100" cy="571500"/>
            </a:xfrm>
            <a:custGeom>
              <a:avLst/>
              <a:gdLst/>
              <a:ahLst/>
              <a:cxnLst/>
              <a:rect l="l" t="t" r="r" b="b"/>
              <a:pathLst>
                <a:path w="800100" h="571500">
                  <a:moveTo>
                    <a:pt x="0" y="571500"/>
                  </a:moveTo>
                  <a:lnTo>
                    <a:pt x="800100" y="571500"/>
                  </a:lnTo>
                  <a:lnTo>
                    <a:pt x="800100" y="0"/>
                  </a:lnTo>
                  <a:lnTo>
                    <a:pt x="0" y="0"/>
                  </a:lnTo>
                  <a:lnTo>
                    <a:pt x="0" y="571500"/>
                  </a:lnTo>
                  <a:close/>
                </a:path>
              </a:pathLst>
            </a:custGeom>
            <a:solidFill>
              <a:srgbClr val="B3B3B3"/>
            </a:solidFill>
          </p:spPr>
          <p:txBody>
            <a:bodyPr wrap="square" lIns="0" tIns="0" rIns="0" bIns="0" rtlCol="0">
              <a:noAutofit/>
            </a:bodyPr>
            <a:lstStyle/>
            <a:p>
              <a:endParaRPr/>
            </a:p>
          </p:txBody>
        </p:sp>
        <p:sp>
          <p:nvSpPr>
            <p:cNvPr id="13" name="object 17"/>
            <p:cNvSpPr/>
            <p:nvPr/>
          </p:nvSpPr>
          <p:spPr>
            <a:xfrm>
              <a:off x="4638675" y="2286000"/>
              <a:ext cx="800100" cy="571500"/>
            </a:xfrm>
            <a:custGeom>
              <a:avLst/>
              <a:gdLst/>
              <a:ahLst/>
              <a:cxnLst/>
              <a:rect l="l" t="t" r="r" b="b"/>
              <a:pathLst>
                <a:path w="800100" h="571500">
                  <a:moveTo>
                    <a:pt x="0" y="571500"/>
                  </a:moveTo>
                  <a:lnTo>
                    <a:pt x="800100" y="571500"/>
                  </a:lnTo>
                  <a:lnTo>
                    <a:pt x="800100" y="0"/>
                  </a:lnTo>
                  <a:lnTo>
                    <a:pt x="0" y="0"/>
                  </a:lnTo>
                  <a:lnTo>
                    <a:pt x="0" y="571500"/>
                  </a:lnTo>
                  <a:close/>
                </a:path>
              </a:pathLst>
            </a:custGeom>
            <a:solidFill>
              <a:srgbClr val="FFFFFF"/>
            </a:solidFill>
          </p:spPr>
          <p:txBody>
            <a:bodyPr wrap="square" lIns="0" tIns="0" rIns="0" bIns="0" rtlCol="0">
              <a:noAutofit/>
            </a:bodyPr>
            <a:lstStyle/>
            <a:p>
              <a:endParaRPr/>
            </a:p>
          </p:txBody>
        </p:sp>
        <p:sp>
          <p:nvSpPr>
            <p:cNvPr id="14" name="object 18"/>
            <p:cNvSpPr/>
            <p:nvPr/>
          </p:nvSpPr>
          <p:spPr>
            <a:xfrm>
              <a:off x="4638675" y="2286000"/>
              <a:ext cx="800100" cy="571500"/>
            </a:xfrm>
            <a:custGeom>
              <a:avLst/>
              <a:gdLst/>
              <a:ahLst/>
              <a:cxnLst/>
              <a:rect l="l" t="t" r="r" b="b"/>
              <a:pathLst>
                <a:path w="800100" h="571500">
                  <a:moveTo>
                    <a:pt x="0" y="571500"/>
                  </a:moveTo>
                  <a:lnTo>
                    <a:pt x="800100" y="571500"/>
                  </a:lnTo>
                  <a:lnTo>
                    <a:pt x="800100" y="0"/>
                  </a:lnTo>
                  <a:lnTo>
                    <a:pt x="0" y="0"/>
                  </a:lnTo>
                  <a:lnTo>
                    <a:pt x="0" y="571500"/>
                  </a:lnTo>
                  <a:close/>
                </a:path>
              </a:pathLst>
            </a:custGeom>
            <a:ln w="9525">
              <a:solidFill>
                <a:srgbClr val="000000"/>
              </a:solidFill>
            </a:ln>
          </p:spPr>
          <p:txBody>
            <a:bodyPr wrap="square" lIns="0" tIns="0" rIns="0" bIns="0" rtlCol="0">
              <a:noAutofit/>
            </a:bodyPr>
            <a:lstStyle/>
            <a:p>
              <a:endParaRPr/>
            </a:p>
          </p:txBody>
        </p:sp>
        <p:sp>
          <p:nvSpPr>
            <p:cNvPr id="15" name="object 19"/>
            <p:cNvSpPr txBox="1"/>
            <p:nvPr/>
          </p:nvSpPr>
          <p:spPr>
            <a:xfrm>
              <a:off x="4692650" y="2466975"/>
              <a:ext cx="682625" cy="194310"/>
            </a:xfrm>
            <a:prstGeom prst="rect">
              <a:avLst/>
            </a:prstGeom>
          </p:spPr>
          <p:txBody>
            <a:bodyPr vert="horz" wrap="square" lIns="0" tIns="0" rIns="0" bIns="0" rtlCol="0">
              <a:noAutofit/>
            </a:bodyPr>
            <a:lstStyle/>
            <a:p>
              <a:pPr marL="12700">
                <a:lnSpc>
                  <a:spcPct val="100000"/>
                </a:lnSpc>
              </a:pPr>
              <a:r>
                <a:rPr sz="1200" b="1" spc="-15" dirty="0">
                  <a:latin typeface="Arial"/>
                  <a:cs typeface="Arial"/>
                </a:rPr>
                <a:t>Multiplex</a:t>
              </a:r>
              <a:endParaRPr sz="1200" dirty="0">
                <a:latin typeface="Arial"/>
                <a:cs typeface="Arial"/>
              </a:endParaRPr>
            </a:p>
          </p:txBody>
        </p:sp>
        <p:sp>
          <p:nvSpPr>
            <p:cNvPr id="16" name="object 20"/>
            <p:cNvSpPr/>
            <p:nvPr/>
          </p:nvSpPr>
          <p:spPr>
            <a:xfrm>
              <a:off x="3657600" y="2400300"/>
              <a:ext cx="742950" cy="571500"/>
            </a:xfrm>
            <a:custGeom>
              <a:avLst/>
              <a:gdLst/>
              <a:ahLst/>
              <a:cxnLst/>
              <a:rect l="l" t="t" r="r" b="b"/>
              <a:pathLst>
                <a:path w="742950" h="571500">
                  <a:moveTo>
                    <a:pt x="0" y="571500"/>
                  </a:moveTo>
                  <a:lnTo>
                    <a:pt x="742950" y="571500"/>
                  </a:lnTo>
                  <a:lnTo>
                    <a:pt x="742950" y="0"/>
                  </a:lnTo>
                  <a:lnTo>
                    <a:pt x="0" y="0"/>
                  </a:lnTo>
                  <a:lnTo>
                    <a:pt x="0" y="571500"/>
                  </a:lnTo>
                  <a:close/>
                </a:path>
              </a:pathLst>
            </a:custGeom>
            <a:solidFill>
              <a:srgbClr val="B3B3B3"/>
            </a:solidFill>
          </p:spPr>
          <p:txBody>
            <a:bodyPr wrap="square" lIns="0" tIns="0" rIns="0" bIns="0" rtlCol="0">
              <a:noAutofit/>
            </a:bodyPr>
            <a:lstStyle/>
            <a:p>
              <a:endParaRPr/>
            </a:p>
          </p:txBody>
        </p:sp>
        <p:sp>
          <p:nvSpPr>
            <p:cNvPr id="17" name="object 21"/>
            <p:cNvSpPr/>
            <p:nvPr/>
          </p:nvSpPr>
          <p:spPr>
            <a:xfrm>
              <a:off x="3543300" y="2286000"/>
              <a:ext cx="742950" cy="571500"/>
            </a:xfrm>
            <a:custGeom>
              <a:avLst/>
              <a:gdLst/>
              <a:ahLst/>
              <a:cxnLst/>
              <a:rect l="l" t="t" r="r" b="b"/>
              <a:pathLst>
                <a:path w="742950" h="571500">
                  <a:moveTo>
                    <a:pt x="0" y="571500"/>
                  </a:moveTo>
                  <a:lnTo>
                    <a:pt x="742950" y="571500"/>
                  </a:lnTo>
                  <a:lnTo>
                    <a:pt x="742950" y="0"/>
                  </a:lnTo>
                  <a:lnTo>
                    <a:pt x="0" y="0"/>
                  </a:lnTo>
                  <a:lnTo>
                    <a:pt x="0" y="571500"/>
                  </a:lnTo>
                  <a:close/>
                </a:path>
              </a:pathLst>
            </a:custGeom>
            <a:solidFill>
              <a:srgbClr val="FFFFFF"/>
            </a:solidFill>
          </p:spPr>
          <p:txBody>
            <a:bodyPr wrap="square" lIns="0" tIns="0" rIns="0" bIns="0" rtlCol="0">
              <a:noAutofit/>
            </a:bodyPr>
            <a:lstStyle/>
            <a:p>
              <a:endParaRPr/>
            </a:p>
          </p:txBody>
        </p:sp>
        <p:sp>
          <p:nvSpPr>
            <p:cNvPr id="18" name="object 22"/>
            <p:cNvSpPr/>
            <p:nvPr/>
          </p:nvSpPr>
          <p:spPr>
            <a:xfrm>
              <a:off x="3543300" y="2286000"/>
              <a:ext cx="742950" cy="571500"/>
            </a:xfrm>
            <a:custGeom>
              <a:avLst/>
              <a:gdLst/>
              <a:ahLst/>
              <a:cxnLst/>
              <a:rect l="l" t="t" r="r" b="b"/>
              <a:pathLst>
                <a:path w="742950" h="571500">
                  <a:moveTo>
                    <a:pt x="0" y="571500"/>
                  </a:moveTo>
                  <a:lnTo>
                    <a:pt x="742950" y="571500"/>
                  </a:lnTo>
                  <a:lnTo>
                    <a:pt x="742950" y="0"/>
                  </a:lnTo>
                  <a:lnTo>
                    <a:pt x="0" y="0"/>
                  </a:lnTo>
                  <a:lnTo>
                    <a:pt x="0" y="571500"/>
                  </a:lnTo>
                  <a:close/>
                </a:path>
              </a:pathLst>
            </a:custGeom>
            <a:ln w="9525">
              <a:solidFill>
                <a:srgbClr val="000000"/>
              </a:solidFill>
            </a:ln>
          </p:spPr>
          <p:txBody>
            <a:bodyPr wrap="square" lIns="0" tIns="0" rIns="0" bIns="0" rtlCol="0">
              <a:noAutofit/>
            </a:bodyPr>
            <a:lstStyle/>
            <a:p>
              <a:endParaRPr/>
            </a:p>
          </p:txBody>
        </p:sp>
        <p:sp>
          <p:nvSpPr>
            <p:cNvPr id="19" name="object 23"/>
            <p:cNvSpPr txBox="1"/>
            <p:nvPr/>
          </p:nvSpPr>
          <p:spPr>
            <a:xfrm>
              <a:off x="3597275" y="2371725"/>
              <a:ext cx="625475" cy="194310"/>
            </a:xfrm>
            <a:prstGeom prst="rect">
              <a:avLst/>
            </a:prstGeom>
          </p:spPr>
          <p:txBody>
            <a:bodyPr vert="horz" wrap="square" lIns="0" tIns="0" rIns="0" bIns="0" rtlCol="0">
              <a:noAutofit/>
            </a:bodyPr>
            <a:lstStyle/>
            <a:p>
              <a:pPr marL="12700">
                <a:lnSpc>
                  <a:spcPct val="100000"/>
                </a:lnSpc>
              </a:pPr>
              <a:r>
                <a:rPr sz="1200" b="1" spc="-15" dirty="0">
                  <a:latin typeface="Arial"/>
                  <a:cs typeface="Arial"/>
                </a:rPr>
                <a:t>Channel</a:t>
              </a:r>
              <a:endParaRPr sz="1200">
                <a:latin typeface="Arial"/>
                <a:cs typeface="Arial"/>
              </a:endParaRPr>
            </a:p>
          </p:txBody>
        </p:sp>
        <p:sp>
          <p:nvSpPr>
            <p:cNvPr id="20" name="object 24"/>
            <p:cNvSpPr txBox="1"/>
            <p:nvPr/>
          </p:nvSpPr>
          <p:spPr>
            <a:xfrm>
              <a:off x="3597275" y="2562225"/>
              <a:ext cx="635000" cy="194310"/>
            </a:xfrm>
            <a:prstGeom prst="rect">
              <a:avLst/>
            </a:prstGeom>
          </p:spPr>
          <p:txBody>
            <a:bodyPr vert="horz" wrap="square" lIns="0" tIns="0" rIns="0" bIns="0" rtlCol="0">
              <a:noAutofit/>
            </a:bodyPr>
            <a:lstStyle/>
            <a:p>
              <a:pPr marL="12700">
                <a:lnSpc>
                  <a:spcPct val="100000"/>
                </a:lnSpc>
              </a:pPr>
              <a:r>
                <a:rPr sz="1200" b="1" spc="-15" dirty="0">
                  <a:latin typeface="Arial"/>
                  <a:cs typeface="Arial"/>
                </a:rPr>
                <a:t>Encoder</a:t>
              </a:r>
              <a:endParaRPr sz="1200">
                <a:latin typeface="Arial"/>
                <a:cs typeface="Arial"/>
              </a:endParaRPr>
            </a:p>
          </p:txBody>
        </p:sp>
        <p:sp>
          <p:nvSpPr>
            <p:cNvPr id="21" name="object 25"/>
            <p:cNvSpPr/>
            <p:nvPr/>
          </p:nvSpPr>
          <p:spPr>
            <a:xfrm>
              <a:off x="2600325" y="2400300"/>
              <a:ext cx="742950" cy="571500"/>
            </a:xfrm>
            <a:custGeom>
              <a:avLst/>
              <a:gdLst/>
              <a:ahLst/>
              <a:cxnLst/>
              <a:rect l="l" t="t" r="r" b="b"/>
              <a:pathLst>
                <a:path w="742950" h="571500">
                  <a:moveTo>
                    <a:pt x="0" y="571500"/>
                  </a:moveTo>
                  <a:lnTo>
                    <a:pt x="742950" y="571500"/>
                  </a:lnTo>
                  <a:lnTo>
                    <a:pt x="742950" y="0"/>
                  </a:lnTo>
                  <a:lnTo>
                    <a:pt x="0" y="0"/>
                  </a:lnTo>
                  <a:lnTo>
                    <a:pt x="0" y="571500"/>
                  </a:lnTo>
                  <a:close/>
                </a:path>
              </a:pathLst>
            </a:custGeom>
            <a:solidFill>
              <a:srgbClr val="B3B3B3"/>
            </a:solidFill>
          </p:spPr>
          <p:txBody>
            <a:bodyPr wrap="square" lIns="0" tIns="0" rIns="0" bIns="0" rtlCol="0">
              <a:noAutofit/>
            </a:bodyPr>
            <a:lstStyle/>
            <a:p>
              <a:endParaRPr/>
            </a:p>
          </p:txBody>
        </p:sp>
        <p:sp>
          <p:nvSpPr>
            <p:cNvPr id="22" name="object 26"/>
            <p:cNvSpPr/>
            <p:nvPr/>
          </p:nvSpPr>
          <p:spPr>
            <a:xfrm>
              <a:off x="2476500" y="2286000"/>
              <a:ext cx="742950" cy="571500"/>
            </a:xfrm>
            <a:custGeom>
              <a:avLst/>
              <a:gdLst/>
              <a:ahLst/>
              <a:cxnLst/>
              <a:rect l="l" t="t" r="r" b="b"/>
              <a:pathLst>
                <a:path w="742950" h="571500">
                  <a:moveTo>
                    <a:pt x="0" y="571500"/>
                  </a:moveTo>
                  <a:lnTo>
                    <a:pt x="742950" y="571500"/>
                  </a:lnTo>
                  <a:lnTo>
                    <a:pt x="742950" y="0"/>
                  </a:lnTo>
                  <a:lnTo>
                    <a:pt x="0" y="0"/>
                  </a:lnTo>
                  <a:lnTo>
                    <a:pt x="0" y="571500"/>
                  </a:lnTo>
                  <a:close/>
                </a:path>
              </a:pathLst>
            </a:custGeom>
            <a:solidFill>
              <a:srgbClr val="00FFFF"/>
            </a:solidFill>
          </p:spPr>
          <p:txBody>
            <a:bodyPr wrap="square" lIns="0" tIns="0" rIns="0" bIns="0" rtlCol="0">
              <a:noAutofit/>
            </a:bodyPr>
            <a:lstStyle/>
            <a:p>
              <a:endParaRPr/>
            </a:p>
          </p:txBody>
        </p:sp>
        <p:sp>
          <p:nvSpPr>
            <p:cNvPr id="23" name="object 27"/>
            <p:cNvSpPr/>
            <p:nvPr/>
          </p:nvSpPr>
          <p:spPr>
            <a:xfrm>
              <a:off x="2476500" y="2286000"/>
              <a:ext cx="742950" cy="571500"/>
            </a:xfrm>
            <a:custGeom>
              <a:avLst/>
              <a:gdLst/>
              <a:ahLst/>
              <a:cxnLst/>
              <a:rect l="l" t="t" r="r" b="b"/>
              <a:pathLst>
                <a:path w="742950" h="571500">
                  <a:moveTo>
                    <a:pt x="0" y="571500"/>
                  </a:moveTo>
                  <a:lnTo>
                    <a:pt x="742950" y="571500"/>
                  </a:lnTo>
                  <a:lnTo>
                    <a:pt x="742950" y="0"/>
                  </a:lnTo>
                  <a:lnTo>
                    <a:pt x="0" y="0"/>
                  </a:lnTo>
                  <a:lnTo>
                    <a:pt x="0" y="571500"/>
                  </a:lnTo>
                  <a:close/>
                </a:path>
              </a:pathLst>
            </a:custGeom>
            <a:ln w="9525">
              <a:solidFill>
                <a:srgbClr val="000000"/>
              </a:solidFill>
            </a:ln>
          </p:spPr>
          <p:txBody>
            <a:bodyPr wrap="square" lIns="0" tIns="0" rIns="0" bIns="0" rtlCol="0">
              <a:noAutofit/>
            </a:bodyPr>
            <a:lstStyle/>
            <a:p>
              <a:endParaRPr/>
            </a:p>
          </p:txBody>
        </p:sp>
        <p:sp>
          <p:nvSpPr>
            <p:cNvPr id="24" name="object 28"/>
            <p:cNvSpPr txBox="1"/>
            <p:nvPr/>
          </p:nvSpPr>
          <p:spPr>
            <a:xfrm>
              <a:off x="2587625" y="2371725"/>
              <a:ext cx="540385" cy="194310"/>
            </a:xfrm>
            <a:prstGeom prst="rect">
              <a:avLst/>
            </a:prstGeom>
          </p:spPr>
          <p:txBody>
            <a:bodyPr vert="horz" wrap="square" lIns="0" tIns="0" rIns="0" bIns="0" rtlCol="0">
              <a:noAutofit/>
            </a:bodyPr>
            <a:lstStyle/>
            <a:p>
              <a:pPr marL="12700">
                <a:lnSpc>
                  <a:spcPct val="100000"/>
                </a:lnSpc>
              </a:pPr>
              <a:r>
                <a:rPr sz="1200" b="1" spc="-5" dirty="0">
                  <a:latin typeface="Arial"/>
                  <a:cs typeface="Arial"/>
                </a:rPr>
                <a:t>Source</a:t>
              </a:r>
              <a:endParaRPr sz="1200">
                <a:latin typeface="Arial"/>
                <a:cs typeface="Arial"/>
              </a:endParaRPr>
            </a:p>
          </p:txBody>
        </p:sp>
        <p:sp>
          <p:nvSpPr>
            <p:cNvPr id="25" name="object 29"/>
            <p:cNvSpPr txBox="1"/>
            <p:nvPr/>
          </p:nvSpPr>
          <p:spPr>
            <a:xfrm>
              <a:off x="2530475" y="2562225"/>
              <a:ext cx="635000" cy="194310"/>
            </a:xfrm>
            <a:prstGeom prst="rect">
              <a:avLst/>
            </a:prstGeom>
          </p:spPr>
          <p:txBody>
            <a:bodyPr vert="horz" wrap="square" lIns="0" tIns="0" rIns="0" bIns="0" rtlCol="0">
              <a:noAutofit/>
            </a:bodyPr>
            <a:lstStyle/>
            <a:p>
              <a:pPr marL="12700">
                <a:lnSpc>
                  <a:spcPct val="100000"/>
                </a:lnSpc>
              </a:pPr>
              <a:r>
                <a:rPr sz="1200" b="1" spc="-15" dirty="0">
                  <a:latin typeface="Arial"/>
                  <a:cs typeface="Arial"/>
                </a:rPr>
                <a:t>Encoder</a:t>
              </a:r>
              <a:endParaRPr sz="1200">
                <a:latin typeface="Arial"/>
                <a:cs typeface="Arial"/>
              </a:endParaRPr>
            </a:p>
          </p:txBody>
        </p:sp>
        <p:sp>
          <p:nvSpPr>
            <p:cNvPr id="26" name="object 30"/>
            <p:cNvSpPr/>
            <p:nvPr/>
          </p:nvSpPr>
          <p:spPr>
            <a:xfrm>
              <a:off x="7153275" y="2400300"/>
              <a:ext cx="638175" cy="571500"/>
            </a:xfrm>
            <a:custGeom>
              <a:avLst/>
              <a:gdLst/>
              <a:ahLst/>
              <a:cxnLst/>
              <a:rect l="l" t="t" r="r" b="b"/>
              <a:pathLst>
                <a:path w="638175" h="571500">
                  <a:moveTo>
                    <a:pt x="0" y="571500"/>
                  </a:moveTo>
                  <a:lnTo>
                    <a:pt x="638175" y="571500"/>
                  </a:lnTo>
                  <a:lnTo>
                    <a:pt x="638175" y="0"/>
                  </a:lnTo>
                  <a:lnTo>
                    <a:pt x="0" y="0"/>
                  </a:lnTo>
                  <a:lnTo>
                    <a:pt x="0" y="571500"/>
                  </a:lnTo>
                  <a:close/>
                </a:path>
              </a:pathLst>
            </a:custGeom>
            <a:solidFill>
              <a:srgbClr val="B3B3B3"/>
            </a:solidFill>
          </p:spPr>
          <p:txBody>
            <a:bodyPr wrap="square" lIns="0" tIns="0" rIns="0" bIns="0" rtlCol="0">
              <a:noAutofit/>
            </a:bodyPr>
            <a:lstStyle/>
            <a:p>
              <a:endParaRPr/>
            </a:p>
          </p:txBody>
        </p:sp>
        <p:sp>
          <p:nvSpPr>
            <p:cNvPr id="27" name="object 31"/>
            <p:cNvSpPr/>
            <p:nvPr/>
          </p:nvSpPr>
          <p:spPr>
            <a:xfrm>
              <a:off x="7038975" y="2286000"/>
              <a:ext cx="638175" cy="571500"/>
            </a:xfrm>
            <a:custGeom>
              <a:avLst/>
              <a:gdLst/>
              <a:ahLst/>
              <a:cxnLst/>
              <a:rect l="l" t="t" r="r" b="b"/>
              <a:pathLst>
                <a:path w="638175" h="571500">
                  <a:moveTo>
                    <a:pt x="0" y="571500"/>
                  </a:moveTo>
                  <a:lnTo>
                    <a:pt x="638175" y="571500"/>
                  </a:lnTo>
                  <a:lnTo>
                    <a:pt x="638175" y="0"/>
                  </a:lnTo>
                  <a:lnTo>
                    <a:pt x="0" y="0"/>
                  </a:lnTo>
                  <a:lnTo>
                    <a:pt x="0" y="571500"/>
                  </a:lnTo>
                  <a:close/>
                </a:path>
              </a:pathLst>
            </a:custGeom>
            <a:solidFill>
              <a:srgbClr val="FFFFFF"/>
            </a:solidFill>
          </p:spPr>
          <p:txBody>
            <a:bodyPr wrap="square" lIns="0" tIns="0" rIns="0" bIns="0" rtlCol="0">
              <a:noAutofit/>
            </a:bodyPr>
            <a:lstStyle/>
            <a:p>
              <a:endParaRPr/>
            </a:p>
          </p:txBody>
        </p:sp>
        <p:sp>
          <p:nvSpPr>
            <p:cNvPr id="28" name="object 32"/>
            <p:cNvSpPr/>
            <p:nvPr/>
          </p:nvSpPr>
          <p:spPr>
            <a:xfrm>
              <a:off x="7038975" y="2286000"/>
              <a:ext cx="638175" cy="571500"/>
            </a:xfrm>
            <a:custGeom>
              <a:avLst/>
              <a:gdLst/>
              <a:ahLst/>
              <a:cxnLst/>
              <a:rect l="l" t="t" r="r" b="b"/>
              <a:pathLst>
                <a:path w="638175" h="571500">
                  <a:moveTo>
                    <a:pt x="0" y="571500"/>
                  </a:moveTo>
                  <a:lnTo>
                    <a:pt x="638175" y="571500"/>
                  </a:lnTo>
                  <a:lnTo>
                    <a:pt x="638175" y="0"/>
                  </a:lnTo>
                  <a:lnTo>
                    <a:pt x="0" y="0"/>
                  </a:lnTo>
                  <a:lnTo>
                    <a:pt x="0" y="571500"/>
                  </a:lnTo>
                  <a:close/>
                </a:path>
              </a:pathLst>
            </a:custGeom>
            <a:ln w="9525">
              <a:solidFill>
                <a:srgbClr val="000000"/>
              </a:solidFill>
            </a:ln>
          </p:spPr>
          <p:txBody>
            <a:bodyPr wrap="square" lIns="0" tIns="0" rIns="0" bIns="0" rtlCol="0">
              <a:noAutofit/>
            </a:bodyPr>
            <a:lstStyle/>
            <a:p>
              <a:endParaRPr/>
            </a:p>
          </p:txBody>
        </p:sp>
        <p:sp>
          <p:nvSpPr>
            <p:cNvPr id="29" name="object 33"/>
            <p:cNvSpPr txBox="1"/>
            <p:nvPr/>
          </p:nvSpPr>
          <p:spPr>
            <a:xfrm>
              <a:off x="7083425" y="2466975"/>
              <a:ext cx="530860" cy="194310"/>
            </a:xfrm>
            <a:prstGeom prst="rect">
              <a:avLst/>
            </a:prstGeom>
          </p:spPr>
          <p:txBody>
            <a:bodyPr vert="horz" wrap="square" lIns="0" tIns="0" rIns="0" bIns="0" rtlCol="0">
              <a:noAutofit/>
            </a:bodyPr>
            <a:lstStyle/>
            <a:p>
              <a:pPr marL="12700">
                <a:lnSpc>
                  <a:spcPct val="100000"/>
                </a:lnSpc>
              </a:pPr>
              <a:r>
                <a:rPr sz="1200" b="1" spc="-20" dirty="0">
                  <a:latin typeface="Arial"/>
                  <a:cs typeface="Arial"/>
                </a:rPr>
                <a:t>Spread</a:t>
              </a:r>
              <a:endParaRPr sz="1200">
                <a:latin typeface="Arial"/>
                <a:cs typeface="Arial"/>
              </a:endParaRPr>
            </a:p>
          </p:txBody>
        </p:sp>
        <p:sp>
          <p:nvSpPr>
            <p:cNvPr id="30" name="object 34"/>
            <p:cNvSpPr/>
            <p:nvPr/>
          </p:nvSpPr>
          <p:spPr>
            <a:xfrm>
              <a:off x="1657350" y="5248275"/>
              <a:ext cx="638175" cy="571500"/>
            </a:xfrm>
            <a:custGeom>
              <a:avLst/>
              <a:gdLst/>
              <a:ahLst/>
              <a:cxnLst/>
              <a:rect l="l" t="t" r="r" b="b"/>
              <a:pathLst>
                <a:path w="638175" h="571500">
                  <a:moveTo>
                    <a:pt x="0" y="571500"/>
                  </a:moveTo>
                  <a:lnTo>
                    <a:pt x="638175" y="571500"/>
                  </a:lnTo>
                  <a:lnTo>
                    <a:pt x="638175" y="0"/>
                  </a:lnTo>
                  <a:lnTo>
                    <a:pt x="0" y="0"/>
                  </a:lnTo>
                  <a:lnTo>
                    <a:pt x="0" y="571500"/>
                  </a:lnTo>
                  <a:close/>
                </a:path>
              </a:pathLst>
            </a:custGeom>
            <a:solidFill>
              <a:srgbClr val="B3B3B3"/>
            </a:solidFill>
          </p:spPr>
          <p:txBody>
            <a:bodyPr wrap="square" lIns="0" tIns="0" rIns="0" bIns="0" rtlCol="0">
              <a:noAutofit/>
            </a:bodyPr>
            <a:lstStyle/>
            <a:p>
              <a:endParaRPr/>
            </a:p>
          </p:txBody>
        </p:sp>
        <p:sp>
          <p:nvSpPr>
            <p:cNvPr id="31" name="object 35"/>
            <p:cNvSpPr/>
            <p:nvPr/>
          </p:nvSpPr>
          <p:spPr>
            <a:xfrm>
              <a:off x="1543050" y="5133975"/>
              <a:ext cx="638175" cy="571500"/>
            </a:xfrm>
            <a:custGeom>
              <a:avLst/>
              <a:gdLst/>
              <a:ahLst/>
              <a:cxnLst/>
              <a:rect l="l" t="t" r="r" b="b"/>
              <a:pathLst>
                <a:path w="638175" h="571500">
                  <a:moveTo>
                    <a:pt x="0" y="571500"/>
                  </a:moveTo>
                  <a:lnTo>
                    <a:pt x="638175" y="571500"/>
                  </a:lnTo>
                  <a:lnTo>
                    <a:pt x="638175" y="0"/>
                  </a:lnTo>
                  <a:lnTo>
                    <a:pt x="0" y="0"/>
                  </a:lnTo>
                  <a:lnTo>
                    <a:pt x="0" y="571500"/>
                  </a:lnTo>
                  <a:close/>
                </a:path>
              </a:pathLst>
            </a:custGeom>
            <a:solidFill>
              <a:srgbClr val="00FFFF"/>
            </a:solidFill>
          </p:spPr>
          <p:txBody>
            <a:bodyPr wrap="square" lIns="0" tIns="0" rIns="0" bIns="0" rtlCol="0">
              <a:noAutofit/>
            </a:bodyPr>
            <a:lstStyle/>
            <a:p>
              <a:endParaRPr/>
            </a:p>
          </p:txBody>
        </p:sp>
        <p:sp>
          <p:nvSpPr>
            <p:cNvPr id="32" name="object 36"/>
            <p:cNvSpPr/>
            <p:nvPr/>
          </p:nvSpPr>
          <p:spPr>
            <a:xfrm>
              <a:off x="1543050" y="5133975"/>
              <a:ext cx="638175" cy="571500"/>
            </a:xfrm>
            <a:custGeom>
              <a:avLst/>
              <a:gdLst/>
              <a:ahLst/>
              <a:cxnLst/>
              <a:rect l="l" t="t" r="r" b="b"/>
              <a:pathLst>
                <a:path w="638175" h="571500">
                  <a:moveTo>
                    <a:pt x="0" y="571500"/>
                  </a:moveTo>
                  <a:lnTo>
                    <a:pt x="638175" y="571500"/>
                  </a:lnTo>
                  <a:lnTo>
                    <a:pt x="638175" y="0"/>
                  </a:lnTo>
                  <a:lnTo>
                    <a:pt x="0" y="0"/>
                  </a:lnTo>
                  <a:lnTo>
                    <a:pt x="0" y="571500"/>
                  </a:lnTo>
                  <a:close/>
                </a:path>
              </a:pathLst>
            </a:custGeom>
            <a:ln w="9525">
              <a:solidFill>
                <a:srgbClr val="000000"/>
              </a:solidFill>
            </a:ln>
          </p:spPr>
          <p:txBody>
            <a:bodyPr wrap="square" lIns="0" tIns="0" rIns="0" bIns="0" rtlCol="0">
              <a:noAutofit/>
            </a:bodyPr>
            <a:lstStyle/>
            <a:p>
              <a:endParaRPr/>
            </a:p>
          </p:txBody>
        </p:sp>
        <p:sp>
          <p:nvSpPr>
            <p:cNvPr id="33" name="object 37"/>
            <p:cNvSpPr txBox="1"/>
            <p:nvPr/>
          </p:nvSpPr>
          <p:spPr>
            <a:xfrm>
              <a:off x="1587500" y="5314950"/>
              <a:ext cx="540385" cy="194310"/>
            </a:xfrm>
            <a:prstGeom prst="rect">
              <a:avLst/>
            </a:prstGeom>
          </p:spPr>
          <p:txBody>
            <a:bodyPr vert="horz" wrap="square" lIns="0" tIns="0" rIns="0" bIns="0" rtlCol="0">
              <a:noAutofit/>
            </a:bodyPr>
            <a:lstStyle/>
            <a:p>
              <a:pPr marL="12700">
                <a:lnSpc>
                  <a:spcPct val="100000"/>
                </a:lnSpc>
              </a:pPr>
              <a:r>
                <a:rPr sz="1200" b="1" spc="-5" dirty="0">
                  <a:latin typeface="Arial"/>
                  <a:cs typeface="Arial"/>
                </a:rPr>
                <a:t>Format</a:t>
              </a:r>
              <a:endParaRPr sz="1200">
                <a:latin typeface="Arial"/>
                <a:cs typeface="Arial"/>
              </a:endParaRPr>
            </a:p>
          </p:txBody>
        </p:sp>
        <p:sp>
          <p:nvSpPr>
            <p:cNvPr id="34" name="object 38"/>
            <p:cNvSpPr/>
            <p:nvPr/>
          </p:nvSpPr>
          <p:spPr>
            <a:xfrm>
              <a:off x="4695825" y="5248275"/>
              <a:ext cx="990600" cy="571500"/>
            </a:xfrm>
            <a:custGeom>
              <a:avLst/>
              <a:gdLst/>
              <a:ahLst/>
              <a:cxnLst/>
              <a:rect l="l" t="t" r="r" b="b"/>
              <a:pathLst>
                <a:path w="990600" h="571500">
                  <a:moveTo>
                    <a:pt x="0" y="571500"/>
                  </a:moveTo>
                  <a:lnTo>
                    <a:pt x="990600" y="571500"/>
                  </a:lnTo>
                  <a:lnTo>
                    <a:pt x="990600" y="0"/>
                  </a:lnTo>
                  <a:lnTo>
                    <a:pt x="0" y="0"/>
                  </a:lnTo>
                  <a:lnTo>
                    <a:pt x="0" y="571500"/>
                  </a:lnTo>
                  <a:close/>
                </a:path>
              </a:pathLst>
            </a:custGeom>
            <a:solidFill>
              <a:srgbClr val="B3B3B3"/>
            </a:solidFill>
          </p:spPr>
          <p:txBody>
            <a:bodyPr wrap="square" lIns="0" tIns="0" rIns="0" bIns="0" rtlCol="0">
              <a:noAutofit/>
            </a:bodyPr>
            <a:lstStyle/>
            <a:p>
              <a:endParaRPr/>
            </a:p>
          </p:txBody>
        </p:sp>
        <p:sp>
          <p:nvSpPr>
            <p:cNvPr id="35" name="object 39"/>
            <p:cNvSpPr/>
            <p:nvPr/>
          </p:nvSpPr>
          <p:spPr>
            <a:xfrm>
              <a:off x="4581525" y="5133975"/>
              <a:ext cx="981075" cy="571500"/>
            </a:xfrm>
            <a:custGeom>
              <a:avLst/>
              <a:gdLst/>
              <a:ahLst/>
              <a:cxnLst/>
              <a:rect l="l" t="t" r="r" b="b"/>
              <a:pathLst>
                <a:path w="981075" h="571500">
                  <a:moveTo>
                    <a:pt x="0" y="571500"/>
                  </a:moveTo>
                  <a:lnTo>
                    <a:pt x="981075" y="571500"/>
                  </a:lnTo>
                  <a:lnTo>
                    <a:pt x="981075" y="0"/>
                  </a:lnTo>
                  <a:lnTo>
                    <a:pt x="0" y="0"/>
                  </a:lnTo>
                  <a:lnTo>
                    <a:pt x="0" y="571500"/>
                  </a:lnTo>
                  <a:close/>
                </a:path>
              </a:pathLst>
            </a:custGeom>
            <a:solidFill>
              <a:srgbClr val="FFFFFF"/>
            </a:solidFill>
          </p:spPr>
          <p:txBody>
            <a:bodyPr wrap="square" lIns="0" tIns="0" rIns="0" bIns="0" rtlCol="0">
              <a:noAutofit/>
            </a:bodyPr>
            <a:lstStyle/>
            <a:p>
              <a:endParaRPr/>
            </a:p>
          </p:txBody>
        </p:sp>
        <p:sp>
          <p:nvSpPr>
            <p:cNvPr id="36" name="object 40"/>
            <p:cNvSpPr/>
            <p:nvPr/>
          </p:nvSpPr>
          <p:spPr>
            <a:xfrm>
              <a:off x="4581525" y="5133975"/>
              <a:ext cx="981075" cy="571500"/>
            </a:xfrm>
            <a:custGeom>
              <a:avLst/>
              <a:gdLst/>
              <a:ahLst/>
              <a:cxnLst/>
              <a:rect l="l" t="t" r="r" b="b"/>
              <a:pathLst>
                <a:path w="981075" h="571500">
                  <a:moveTo>
                    <a:pt x="0" y="571500"/>
                  </a:moveTo>
                  <a:lnTo>
                    <a:pt x="981075" y="571500"/>
                  </a:lnTo>
                  <a:lnTo>
                    <a:pt x="981075" y="0"/>
                  </a:lnTo>
                  <a:lnTo>
                    <a:pt x="0" y="0"/>
                  </a:lnTo>
                  <a:lnTo>
                    <a:pt x="0" y="571500"/>
                  </a:lnTo>
                  <a:close/>
                </a:path>
              </a:pathLst>
            </a:custGeom>
            <a:ln w="9525">
              <a:solidFill>
                <a:srgbClr val="000000"/>
              </a:solidFill>
            </a:ln>
          </p:spPr>
          <p:txBody>
            <a:bodyPr wrap="square" lIns="0" tIns="0" rIns="0" bIns="0" rtlCol="0">
              <a:noAutofit/>
            </a:bodyPr>
            <a:lstStyle/>
            <a:p>
              <a:endParaRPr/>
            </a:p>
          </p:txBody>
        </p:sp>
        <p:sp>
          <p:nvSpPr>
            <p:cNvPr id="37" name="object 41"/>
            <p:cNvSpPr txBox="1"/>
            <p:nvPr/>
          </p:nvSpPr>
          <p:spPr>
            <a:xfrm>
              <a:off x="4625975" y="5314950"/>
              <a:ext cx="892175" cy="194310"/>
            </a:xfrm>
            <a:prstGeom prst="rect">
              <a:avLst/>
            </a:prstGeom>
          </p:spPr>
          <p:txBody>
            <a:bodyPr vert="horz" wrap="square" lIns="0" tIns="0" rIns="0" bIns="0" rtlCol="0">
              <a:noAutofit/>
            </a:bodyPr>
            <a:lstStyle/>
            <a:p>
              <a:pPr marL="12700">
                <a:lnSpc>
                  <a:spcPct val="100000"/>
                </a:lnSpc>
              </a:pPr>
              <a:r>
                <a:rPr sz="1200" b="1" spc="-10" dirty="0">
                  <a:latin typeface="Arial"/>
                  <a:cs typeface="Arial"/>
                </a:rPr>
                <a:t>Demultiplex</a:t>
              </a:r>
              <a:endParaRPr sz="1200">
                <a:latin typeface="Arial"/>
                <a:cs typeface="Arial"/>
              </a:endParaRPr>
            </a:p>
          </p:txBody>
        </p:sp>
        <p:sp>
          <p:nvSpPr>
            <p:cNvPr id="38" name="object 42"/>
            <p:cNvSpPr/>
            <p:nvPr/>
          </p:nvSpPr>
          <p:spPr>
            <a:xfrm>
              <a:off x="3667125" y="5248275"/>
              <a:ext cx="723900" cy="571500"/>
            </a:xfrm>
            <a:custGeom>
              <a:avLst/>
              <a:gdLst/>
              <a:ahLst/>
              <a:cxnLst/>
              <a:rect l="l" t="t" r="r" b="b"/>
              <a:pathLst>
                <a:path w="723900" h="571500">
                  <a:moveTo>
                    <a:pt x="0" y="571500"/>
                  </a:moveTo>
                  <a:lnTo>
                    <a:pt x="723900" y="571500"/>
                  </a:lnTo>
                  <a:lnTo>
                    <a:pt x="723900" y="0"/>
                  </a:lnTo>
                  <a:lnTo>
                    <a:pt x="0" y="0"/>
                  </a:lnTo>
                  <a:lnTo>
                    <a:pt x="0" y="571500"/>
                  </a:lnTo>
                  <a:close/>
                </a:path>
              </a:pathLst>
            </a:custGeom>
            <a:solidFill>
              <a:srgbClr val="B3B3B3"/>
            </a:solidFill>
          </p:spPr>
          <p:txBody>
            <a:bodyPr wrap="square" lIns="0" tIns="0" rIns="0" bIns="0" rtlCol="0">
              <a:noAutofit/>
            </a:bodyPr>
            <a:lstStyle/>
            <a:p>
              <a:endParaRPr/>
            </a:p>
          </p:txBody>
        </p:sp>
        <p:sp>
          <p:nvSpPr>
            <p:cNvPr id="39" name="object 43"/>
            <p:cNvSpPr/>
            <p:nvPr/>
          </p:nvSpPr>
          <p:spPr>
            <a:xfrm>
              <a:off x="3552825" y="5133975"/>
              <a:ext cx="714375" cy="571500"/>
            </a:xfrm>
            <a:custGeom>
              <a:avLst/>
              <a:gdLst/>
              <a:ahLst/>
              <a:cxnLst/>
              <a:rect l="l" t="t" r="r" b="b"/>
              <a:pathLst>
                <a:path w="714375" h="571500">
                  <a:moveTo>
                    <a:pt x="0" y="571500"/>
                  </a:moveTo>
                  <a:lnTo>
                    <a:pt x="714375" y="571500"/>
                  </a:lnTo>
                  <a:lnTo>
                    <a:pt x="714375" y="0"/>
                  </a:lnTo>
                  <a:lnTo>
                    <a:pt x="0" y="0"/>
                  </a:lnTo>
                  <a:lnTo>
                    <a:pt x="0" y="571500"/>
                  </a:lnTo>
                  <a:close/>
                </a:path>
              </a:pathLst>
            </a:custGeom>
            <a:solidFill>
              <a:srgbClr val="FFFFFF"/>
            </a:solidFill>
          </p:spPr>
          <p:txBody>
            <a:bodyPr wrap="square" lIns="0" tIns="0" rIns="0" bIns="0" rtlCol="0">
              <a:noAutofit/>
            </a:bodyPr>
            <a:lstStyle/>
            <a:p>
              <a:endParaRPr/>
            </a:p>
          </p:txBody>
        </p:sp>
        <p:sp>
          <p:nvSpPr>
            <p:cNvPr id="40" name="object 44"/>
            <p:cNvSpPr/>
            <p:nvPr/>
          </p:nvSpPr>
          <p:spPr>
            <a:xfrm>
              <a:off x="3552825" y="5133975"/>
              <a:ext cx="714375" cy="571500"/>
            </a:xfrm>
            <a:custGeom>
              <a:avLst/>
              <a:gdLst/>
              <a:ahLst/>
              <a:cxnLst/>
              <a:rect l="l" t="t" r="r" b="b"/>
              <a:pathLst>
                <a:path w="714375" h="571500">
                  <a:moveTo>
                    <a:pt x="0" y="571500"/>
                  </a:moveTo>
                  <a:lnTo>
                    <a:pt x="714375" y="571500"/>
                  </a:lnTo>
                  <a:lnTo>
                    <a:pt x="714375" y="0"/>
                  </a:lnTo>
                  <a:lnTo>
                    <a:pt x="0" y="0"/>
                  </a:lnTo>
                  <a:lnTo>
                    <a:pt x="0" y="571500"/>
                  </a:lnTo>
                  <a:close/>
                </a:path>
              </a:pathLst>
            </a:custGeom>
            <a:ln w="9525">
              <a:solidFill>
                <a:srgbClr val="000000"/>
              </a:solidFill>
            </a:ln>
          </p:spPr>
          <p:txBody>
            <a:bodyPr wrap="square" lIns="0" tIns="0" rIns="0" bIns="0" rtlCol="0">
              <a:noAutofit/>
            </a:bodyPr>
            <a:lstStyle/>
            <a:p>
              <a:endParaRPr/>
            </a:p>
          </p:txBody>
        </p:sp>
        <p:sp>
          <p:nvSpPr>
            <p:cNvPr id="41" name="object 45"/>
            <p:cNvSpPr txBox="1"/>
            <p:nvPr/>
          </p:nvSpPr>
          <p:spPr>
            <a:xfrm>
              <a:off x="3597275" y="5219700"/>
              <a:ext cx="625475" cy="194310"/>
            </a:xfrm>
            <a:prstGeom prst="rect">
              <a:avLst/>
            </a:prstGeom>
          </p:spPr>
          <p:txBody>
            <a:bodyPr vert="horz" wrap="square" lIns="0" tIns="0" rIns="0" bIns="0" rtlCol="0">
              <a:noAutofit/>
            </a:bodyPr>
            <a:lstStyle/>
            <a:p>
              <a:pPr marL="12700">
                <a:lnSpc>
                  <a:spcPct val="100000"/>
                </a:lnSpc>
              </a:pPr>
              <a:r>
                <a:rPr sz="1200" b="1" spc="-15" dirty="0">
                  <a:latin typeface="Arial"/>
                  <a:cs typeface="Arial"/>
                </a:rPr>
                <a:t>Channel</a:t>
              </a:r>
              <a:endParaRPr sz="1200">
                <a:latin typeface="Arial"/>
                <a:cs typeface="Arial"/>
              </a:endParaRPr>
            </a:p>
          </p:txBody>
        </p:sp>
        <p:sp>
          <p:nvSpPr>
            <p:cNvPr id="42" name="object 46"/>
            <p:cNvSpPr txBox="1"/>
            <p:nvPr/>
          </p:nvSpPr>
          <p:spPr>
            <a:xfrm>
              <a:off x="3587750" y="5410200"/>
              <a:ext cx="635635" cy="194310"/>
            </a:xfrm>
            <a:prstGeom prst="rect">
              <a:avLst/>
            </a:prstGeom>
          </p:spPr>
          <p:txBody>
            <a:bodyPr vert="horz" wrap="square" lIns="0" tIns="0" rIns="0" bIns="0" rtlCol="0">
              <a:noAutofit/>
            </a:bodyPr>
            <a:lstStyle/>
            <a:p>
              <a:pPr marL="12700">
                <a:lnSpc>
                  <a:spcPct val="100000"/>
                </a:lnSpc>
              </a:pPr>
              <a:r>
                <a:rPr sz="1200" b="1" spc="-5" dirty="0">
                  <a:latin typeface="Arial"/>
                  <a:cs typeface="Arial"/>
                </a:rPr>
                <a:t>Decoder</a:t>
              </a:r>
              <a:endParaRPr sz="1200">
                <a:latin typeface="Arial"/>
                <a:cs typeface="Arial"/>
              </a:endParaRPr>
            </a:p>
          </p:txBody>
        </p:sp>
        <p:sp>
          <p:nvSpPr>
            <p:cNvPr id="43" name="object 47"/>
            <p:cNvSpPr/>
            <p:nvPr/>
          </p:nvSpPr>
          <p:spPr>
            <a:xfrm>
              <a:off x="2609850" y="5248275"/>
              <a:ext cx="742950" cy="571500"/>
            </a:xfrm>
            <a:custGeom>
              <a:avLst/>
              <a:gdLst/>
              <a:ahLst/>
              <a:cxnLst/>
              <a:rect l="l" t="t" r="r" b="b"/>
              <a:pathLst>
                <a:path w="742950" h="571500">
                  <a:moveTo>
                    <a:pt x="0" y="571500"/>
                  </a:moveTo>
                  <a:lnTo>
                    <a:pt x="742950" y="571500"/>
                  </a:lnTo>
                  <a:lnTo>
                    <a:pt x="742950" y="0"/>
                  </a:lnTo>
                  <a:lnTo>
                    <a:pt x="0" y="0"/>
                  </a:lnTo>
                  <a:lnTo>
                    <a:pt x="0" y="571500"/>
                  </a:lnTo>
                  <a:close/>
                </a:path>
              </a:pathLst>
            </a:custGeom>
            <a:solidFill>
              <a:srgbClr val="B3B3B3"/>
            </a:solidFill>
          </p:spPr>
          <p:txBody>
            <a:bodyPr wrap="square" lIns="0" tIns="0" rIns="0" bIns="0" rtlCol="0">
              <a:noAutofit/>
            </a:bodyPr>
            <a:lstStyle/>
            <a:p>
              <a:endParaRPr/>
            </a:p>
          </p:txBody>
        </p:sp>
        <p:sp>
          <p:nvSpPr>
            <p:cNvPr id="44" name="object 48"/>
            <p:cNvSpPr/>
            <p:nvPr/>
          </p:nvSpPr>
          <p:spPr>
            <a:xfrm>
              <a:off x="2495550" y="5133975"/>
              <a:ext cx="742950" cy="571500"/>
            </a:xfrm>
            <a:custGeom>
              <a:avLst/>
              <a:gdLst/>
              <a:ahLst/>
              <a:cxnLst/>
              <a:rect l="l" t="t" r="r" b="b"/>
              <a:pathLst>
                <a:path w="742950" h="571500">
                  <a:moveTo>
                    <a:pt x="0" y="571500"/>
                  </a:moveTo>
                  <a:lnTo>
                    <a:pt x="742950" y="571500"/>
                  </a:lnTo>
                  <a:lnTo>
                    <a:pt x="742950" y="0"/>
                  </a:lnTo>
                  <a:lnTo>
                    <a:pt x="0" y="0"/>
                  </a:lnTo>
                  <a:lnTo>
                    <a:pt x="0" y="571500"/>
                  </a:lnTo>
                  <a:close/>
                </a:path>
              </a:pathLst>
            </a:custGeom>
            <a:solidFill>
              <a:srgbClr val="00FFFF"/>
            </a:solidFill>
          </p:spPr>
          <p:txBody>
            <a:bodyPr wrap="square" lIns="0" tIns="0" rIns="0" bIns="0" rtlCol="0">
              <a:noAutofit/>
            </a:bodyPr>
            <a:lstStyle/>
            <a:p>
              <a:endParaRPr/>
            </a:p>
          </p:txBody>
        </p:sp>
        <p:sp>
          <p:nvSpPr>
            <p:cNvPr id="45" name="object 49"/>
            <p:cNvSpPr/>
            <p:nvPr/>
          </p:nvSpPr>
          <p:spPr>
            <a:xfrm>
              <a:off x="2495550" y="5133975"/>
              <a:ext cx="742950" cy="571500"/>
            </a:xfrm>
            <a:custGeom>
              <a:avLst/>
              <a:gdLst/>
              <a:ahLst/>
              <a:cxnLst/>
              <a:rect l="l" t="t" r="r" b="b"/>
              <a:pathLst>
                <a:path w="742950" h="571500">
                  <a:moveTo>
                    <a:pt x="0" y="571500"/>
                  </a:moveTo>
                  <a:lnTo>
                    <a:pt x="742950" y="571500"/>
                  </a:lnTo>
                  <a:lnTo>
                    <a:pt x="742950" y="0"/>
                  </a:lnTo>
                  <a:lnTo>
                    <a:pt x="0" y="0"/>
                  </a:lnTo>
                  <a:lnTo>
                    <a:pt x="0" y="571500"/>
                  </a:lnTo>
                  <a:close/>
                </a:path>
              </a:pathLst>
            </a:custGeom>
            <a:ln w="9525">
              <a:solidFill>
                <a:srgbClr val="000000"/>
              </a:solidFill>
            </a:ln>
          </p:spPr>
          <p:txBody>
            <a:bodyPr wrap="square" lIns="0" tIns="0" rIns="0" bIns="0" rtlCol="0">
              <a:noAutofit/>
            </a:bodyPr>
            <a:lstStyle/>
            <a:p>
              <a:endParaRPr/>
            </a:p>
          </p:txBody>
        </p:sp>
        <p:sp>
          <p:nvSpPr>
            <p:cNvPr id="46" name="object 50"/>
            <p:cNvSpPr txBox="1"/>
            <p:nvPr/>
          </p:nvSpPr>
          <p:spPr>
            <a:xfrm>
              <a:off x="2597150" y="5219700"/>
              <a:ext cx="540385" cy="194310"/>
            </a:xfrm>
            <a:prstGeom prst="rect">
              <a:avLst/>
            </a:prstGeom>
          </p:spPr>
          <p:txBody>
            <a:bodyPr vert="horz" wrap="square" lIns="0" tIns="0" rIns="0" bIns="0" rtlCol="0">
              <a:noAutofit/>
            </a:bodyPr>
            <a:lstStyle/>
            <a:p>
              <a:pPr marL="12700">
                <a:lnSpc>
                  <a:spcPct val="100000"/>
                </a:lnSpc>
              </a:pPr>
              <a:r>
                <a:rPr sz="1200" b="1" spc="-5" dirty="0">
                  <a:latin typeface="Arial"/>
                  <a:cs typeface="Arial"/>
                </a:rPr>
                <a:t>Source</a:t>
              </a:r>
              <a:endParaRPr sz="1200">
                <a:latin typeface="Arial"/>
                <a:cs typeface="Arial"/>
              </a:endParaRPr>
            </a:p>
          </p:txBody>
        </p:sp>
        <p:sp>
          <p:nvSpPr>
            <p:cNvPr id="47" name="object 51"/>
            <p:cNvSpPr txBox="1"/>
            <p:nvPr/>
          </p:nvSpPr>
          <p:spPr>
            <a:xfrm>
              <a:off x="2549525" y="5410200"/>
              <a:ext cx="635635" cy="194310"/>
            </a:xfrm>
            <a:prstGeom prst="rect">
              <a:avLst/>
            </a:prstGeom>
          </p:spPr>
          <p:txBody>
            <a:bodyPr vert="horz" wrap="square" lIns="0" tIns="0" rIns="0" bIns="0" rtlCol="0">
              <a:noAutofit/>
            </a:bodyPr>
            <a:lstStyle/>
            <a:p>
              <a:pPr marL="12700">
                <a:lnSpc>
                  <a:spcPct val="100000"/>
                </a:lnSpc>
              </a:pPr>
              <a:r>
                <a:rPr sz="1200" b="1" spc="-5" dirty="0">
                  <a:latin typeface="Arial"/>
                  <a:cs typeface="Arial"/>
                </a:rPr>
                <a:t>Decoder</a:t>
              </a:r>
              <a:endParaRPr sz="1200">
                <a:latin typeface="Arial"/>
                <a:cs typeface="Arial"/>
              </a:endParaRPr>
            </a:p>
          </p:txBody>
        </p:sp>
        <p:sp>
          <p:nvSpPr>
            <p:cNvPr id="48" name="object 52"/>
            <p:cNvSpPr/>
            <p:nvPr/>
          </p:nvSpPr>
          <p:spPr>
            <a:xfrm>
              <a:off x="7153275" y="5248275"/>
              <a:ext cx="800100" cy="571500"/>
            </a:xfrm>
            <a:custGeom>
              <a:avLst/>
              <a:gdLst/>
              <a:ahLst/>
              <a:cxnLst/>
              <a:rect l="l" t="t" r="r" b="b"/>
              <a:pathLst>
                <a:path w="800100" h="571500">
                  <a:moveTo>
                    <a:pt x="0" y="571500"/>
                  </a:moveTo>
                  <a:lnTo>
                    <a:pt x="800100" y="571500"/>
                  </a:lnTo>
                  <a:lnTo>
                    <a:pt x="800100" y="0"/>
                  </a:lnTo>
                  <a:lnTo>
                    <a:pt x="0" y="0"/>
                  </a:lnTo>
                  <a:lnTo>
                    <a:pt x="0" y="571500"/>
                  </a:lnTo>
                  <a:close/>
                </a:path>
              </a:pathLst>
            </a:custGeom>
            <a:solidFill>
              <a:srgbClr val="B3B3B3"/>
            </a:solidFill>
          </p:spPr>
          <p:txBody>
            <a:bodyPr wrap="square" lIns="0" tIns="0" rIns="0" bIns="0" rtlCol="0">
              <a:noAutofit/>
            </a:bodyPr>
            <a:lstStyle/>
            <a:p>
              <a:endParaRPr/>
            </a:p>
          </p:txBody>
        </p:sp>
        <p:sp>
          <p:nvSpPr>
            <p:cNvPr id="49" name="object 53"/>
            <p:cNvSpPr/>
            <p:nvPr/>
          </p:nvSpPr>
          <p:spPr>
            <a:xfrm>
              <a:off x="7038975" y="5133975"/>
              <a:ext cx="800100" cy="571500"/>
            </a:xfrm>
            <a:custGeom>
              <a:avLst/>
              <a:gdLst/>
              <a:ahLst/>
              <a:cxnLst/>
              <a:rect l="l" t="t" r="r" b="b"/>
              <a:pathLst>
                <a:path w="800100" h="571500">
                  <a:moveTo>
                    <a:pt x="0" y="571500"/>
                  </a:moveTo>
                  <a:lnTo>
                    <a:pt x="800100" y="571500"/>
                  </a:lnTo>
                  <a:lnTo>
                    <a:pt x="800100" y="0"/>
                  </a:lnTo>
                  <a:lnTo>
                    <a:pt x="0" y="0"/>
                  </a:lnTo>
                  <a:lnTo>
                    <a:pt x="0" y="571500"/>
                  </a:lnTo>
                  <a:close/>
                </a:path>
              </a:pathLst>
            </a:custGeom>
            <a:solidFill>
              <a:srgbClr val="FFFFFF"/>
            </a:solidFill>
          </p:spPr>
          <p:txBody>
            <a:bodyPr wrap="square" lIns="0" tIns="0" rIns="0" bIns="0" rtlCol="0">
              <a:noAutofit/>
            </a:bodyPr>
            <a:lstStyle/>
            <a:p>
              <a:endParaRPr/>
            </a:p>
          </p:txBody>
        </p:sp>
        <p:sp>
          <p:nvSpPr>
            <p:cNvPr id="50" name="object 54"/>
            <p:cNvSpPr/>
            <p:nvPr/>
          </p:nvSpPr>
          <p:spPr>
            <a:xfrm>
              <a:off x="7038975" y="5133975"/>
              <a:ext cx="800100" cy="571500"/>
            </a:xfrm>
            <a:custGeom>
              <a:avLst/>
              <a:gdLst/>
              <a:ahLst/>
              <a:cxnLst/>
              <a:rect l="l" t="t" r="r" b="b"/>
              <a:pathLst>
                <a:path w="800100" h="571500">
                  <a:moveTo>
                    <a:pt x="0" y="571500"/>
                  </a:moveTo>
                  <a:lnTo>
                    <a:pt x="800100" y="571500"/>
                  </a:lnTo>
                  <a:lnTo>
                    <a:pt x="800100" y="0"/>
                  </a:lnTo>
                  <a:lnTo>
                    <a:pt x="0" y="0"/>
                  </a:lnTo>
                  <a:lnTo>
                    <a:pt x="0" y="571500"/>
                  </a:lnTo>
                  <a:close/>
                </a:path>
              </a:pathLst>
            </a:custGeom>
            <a:ln w="9525">
              <a:solidFill>
                <a:srgbClr val="000000"/>
              </a:solidFill>
            </a:ln>
          </p:spPr>
          <p:txBody>
            <a:bodyPr wrap="square" lIns="0" tIns="0" rIns="0" bIns="0" rtlCol="0">
              <a:noAutofit/>
            </a:bodyPr>
            <a:lstStyle/>
            <a:p>
              <a:endParaRPr/>
            </a:p>
          </p:txBody>
        </p:sp>
        <p:sp>
          <p:nvSpPr>
            <p:cNvPr id="51" name="object 55"/>
            <p:cNvSpPr txBox="1"/>
            <p:nvPr/>
          </p:nvSpPr>
          <p:spPr>
            <a:xfrm>
              <a:off x="7073900" y="5314950"/>
              <a:ext cx="721360" cy="194310"/>
            </a:xfrm>
            <a:prstGeom prst="rect">
              <a:avLst/>
            </a:prstGeom>
          </p:spPr>
          <p:txBody>
            <a:bodyPr vert="horz" wrap="square" lIns="0" tIns="0" rIns="0" bIns="0" rtlCol="0">
              <a:noAutofit/>
            </a:bodyPr>
            <a:lstStyle/>
            <a:p>
              <a:pPr marL="12700">
                <a:lnSpc>
                  <a:spcPct val="100000"/>
                </a:lnSpc>
              </a:pPr>
              <a:r>
                <a:rPr sz="1200" b="1" dirty="0">
                  <a:latin typeface="Arial"/>
                  <a:cs typeface="Arial"/>
                </a:rPr>
                <a:t>Despread</a:t>
              </a:r>
              <a:endParaRPr sz="1200">
                <a:latin typeface="Arial"/>
                <a:cs typeface="Arial"/>
              </a:endParaRPr>
            </a:p>
          </p:txBody>
        </p:sp>
        <p:sp>
          <p:nvSpPr>
            <p:cNvPr id="52" name="object 56"/>
            <p:cNvSpPr/>
            <p:nvPr/>
          </p:nvSpPr>
          <p:spPr>
            <a:xfrm>
              <a:off x="2162175" y="2571750"/>
              <a:ext cx="190500" cy="0"/>
            </a:xfrm>
            <a:custGeom>
              <a:avLst/>
              <a:gdLst/>
              <a:ahLst/>
              <a:cxnLst/>
              <a:rect l="l" t="t" r="r" b="b"/>
              <a:pathLst>
                <a:path w="190500">
                  <a:moveTo>
                    <a:pt x="0" y="0"/>
                  </a:moveTo>
                  <a:lnTo>
                    <a:pt x="190500" y="0"/>
                  </a:lnTo>
                </a:path>
              </a:pathLst>
            </a:custGeom>
            <a:ln w="19050">
              <a:solidFill>
                <a:srgbClr val="000000"/>
              </a:solidFill>
            </a:ln>
          </p:spPr>
          <p:txBody>
            <a:bodyPr wrap="square" lIns="0" tIns="0" rIns="0" bIns="0" rtlCol="0">
              <a:noAutofit/>
            </a:bodyPr>
            <a:lstStyle/>
            <a:p>
              <a:endParaRPr/>
            </a:p>
          </p:txBody>
        </p:sp>
        <p:sp>
          <p:nvSpPr>
            <p:cNvPr id="53" name="object 57"/>
            <p:cNvSpPr/>
            <p:nvPr/>
          </p:nvSpPr>
          <p:spPr>
            <a:xfrm>
              <a:off x="2343150" y="2524125"/>
              <a:ext cx="133350" cy="95250"/>
            </a:xfrm>
            <a:custGeom>
              <a:avLst/>
              <a:gdLst/>
              <a:ahLst/>
              <a:cxnLst/>
              <a:rect l="l" t="t" r="r" b="b"/>
              <a:pathLst>
                <a:path w="133350" h="95250">
                  <a:moveTo>
                    <a:pt x="0" y="0"/>
                  </a:moveTo>
                  <a:lnTo>
                    <a:pt x="0" y="95250"/>
                  </a:lnTo>
                  <a:lnTo>
                    <a:pt x="133350" y="47625"/>
                  </a:lnTo>
                  <a:lnTo>
                    <a:pt x="0" y="0"/>
                  </a:lnTo>
                  <a:close/>
                </a:path>
              </a:pathLst>
            </a:custGeom>
            <a:solidFill>
              <a:srgbClr val="000000"/>
            </a:solidFill>
          </p:spPr>
          <p:txBody>
            <a:bodyPr wrap="square" lIns="0" tIns="0" rIns="0" bIns="0" rtlCol="0">
              <a:noAutofit/>
            </a:bodyPr>
            <a:lstStyle/>
            <a:p>
              <a:endParaRPr/>
            </a:p>
          </p:txBody>
        </p:sp>
        <p:sp>
          <p:nvSpPr>
            <p:cNvPr id="54" name="object 58"/>
            <p:cNvSpPr/>
            <p:nvPr/>
          </p:nvSpPr>
          <p:spPr>
            <a:xfrm>
              <a:off x="3219450" y="2571750"/>
              <a:ext cx="190500" cy="0"/>
            </a:xfrm>
            <a:custGeom>
              <a:avLst/>
              <a:gdLst/>
              <a:ahLst/>
              <a:cxnLst/>
              <a:rect l="l" t="t" r="r" b="b"/>
              <a:pathLst>
                <a:path w="190500">
                  <a:moveTo>
                    <a:pt x="0" y="0"/>
                  </a:moveTo>
                  <a:lnTo>
                    <a:pt x="190500" y="0"/>
                  </a:lnTo>
                </a:path>
              </a:pathLst>
            </a:custGeom>
            <a:ln w="19050">
              <a:solidFill>
                <a:srgbClr val="000000"/>
              </a:solidFill>
            </a:ln>
          </p:spPr>
          <p:txBody>
            <a:bodyPr wrap="square" lIns="0" tIns="0" rIns="0" bIns="0" rtlCol="0">
              <a:noAutofit/>
            </a:bodyPr>
            <a:lstStyle/>
            <a:p>
              <a:endParaRPr/>
            </a:p>
          </p:txBody>
        </p:sp>
        <p:sp>
          <p:nvSpPr>
            <p:cNvPr id="55" name="object 59"/>
            <p:cNvSpPr/>
            <p:nvPr/>
          </p:nvSpPr>
          <p:spPr>
            <a:xfrm>
              <a:off x="3400425" y="2524125"/>
              <a:ext cx="142875" cy="95250"/>
            </a:xfrm>
            <a:custGeom>
              <a:avLst/>
              <a:gdLst/>
              <a:ahLst/>
              <a:cxnLst/>
              <a:rect l="l" t="t" r="r" b="b"/>
              <a:pathLst>
                <a:path w="142875" h="95250">
                  <a:moveTo>
                    <a:pt x="0" y="0"/>
                  </a:moveTo>
                  <a:lnTo>
                    <a:pt x="0" y="95250"/>
                  </a:lnTo>
                  <a:lnTo>
                    <a:pt x="142875" y="47625"/>
                  </a:lnTo>
                  <a:lnTo>
                    <a:pt x="0" y="0"/>
                  </a:lnTo>
                  <a:close/>
                </a:path>
              </a:pathLst>
            </a:custGeom>
            <a:solidFill>
              <a:srgbClr val="000000"/>
            </a:solidFill>
          </p:spPr>
          <p:txBody>
            <a:bodyPr wrap="square" lIns="0" tIns="0" rIns="0" bIns="0" rtlCol="0">
              <a:noAutofit/>
            </a:bodyPr>
            <a:lstStyle/>
            <a:p>
              <a:endParaRPr/>
            </a:p>
          </p:txBody>
        </p:sp>
        <p:sp>
          <p:nvSpPr>
            <p:cNvPr id="56" name="object 60"/>
            <p:cNvSpPr/>
            <p:nvPr/>
          </p:nvSpPr>
          <p:spPr>
            <a:xfrm>
              <a:off x="4286250" y="2571750"/>
              <a:ext cx="219075" cy="0"/>
            </a:xfrm>
            <a:custGeom>
              <a:avLst/>
              <a:gdLst/>
              <a:ahLst/>
              <a:cxnLst/>
              <a:rect l="l" t="t" r="r" b="b"/>
              <a:pathLst>
                <a:path w="219075">
                  <a:moveTo>
                    <a:pt x="0" y="0"/>
                  </a:moveTo>
                  <a:lnTo>
                    <a:pt x="219075" y="0"/>
                  </a:lnTo>
                </a:path>
              </a:pathLst>
            </a:custGeom>
            <a:ln w="19050">
              <a:solidFill>
                <a:srgbClr val="000000"/>
              </a:solidFill>
            </a:ln>
          </p:spPr>
          <p:txBody>
            <a:bodyPr wrap="square" lIns="0" tIns="0" rIns="0" bIns="0" rtlCol="0">
              <a:noAutofit/>
            </a:bodyPr>
            <a:lstStyle/>
            <a:p>
              <a:endParaRPr/>
            </a:p>
          </p:txBody>
        </p:sp>
        <p:sp>
          <p:nvSpPr>
            <p:cNvPr id="57" name="object 61"/>
            <p:cNvSpPr/>
            <p:nvPr/>
          </p:nvSpPr>
          <p:spPr>
            <a:xfrm>
              <a:off x="4495800" y="2524125"/>
              <a:ext cx="142875" cy="95250"/>
            </a:xfrm>
            <a:custGeom>
              <a:avLst/>
              <a:gdLst/>
              <a:ahLst/>
              <a:cxnLst/>
              <a:rect l="l" t="t" r="r" b="b"/>
              <a:pathLst>
                <a:path w="142875" h="95250">
                  <a:moveTo>
                    <a:pt x="0" y="0"/>
                  </a:moveTo>
                  <a:lnTo>
                    <a:pt x="0" y="95250"/>
                  </a:lnTo>
                  <a:lnTo>
                    <a:pt x="142875" y="47625"/>
                  </a:lnTo>
                  <a:lnTo>
                    <a:pt x="0" y="0"/>
                  </a:lnTo>
                  <a:close/>
                </a:path>
              </a:pathLst>
            </a:custGeom>
            <a:solidFill>
              <a:srgbClr val="000000"/>
            </a:solidFill>
          </p:spPr>
          <p:txBody>
            <a:bodyPr wrap="square" lIns="0" tIns="0" rIns="0" bIns="0" rtlCol="0">
              <a:noAutofit/>
            </a:bodyPr>
            <a:lstStyle/>
            <a:p>
              <a:endParaRPr/>
            </a:p>
          </p:txBody>
        </p:sp>
        <p:sp>
          <p:nvSpPr>
            <p:cNvPr id="58" name="object 62"/>
            <p:cNvSpPr/>
            <p:nvPr/>
          </p:nvSpPr>
          <p:spPr>
            <a:xfrm>
              <a:off x="4400550" y="5419725"/>
              <a:ext cx="180975" cy="0"/>
            </a:xfrm>
            <a:custGeom>
              <a:avLst/>
              <a:gdLst/>
              <a:ahLst/>
              <a:cxnLst/>
              <a:rect l="l" t="t" r="r" b="b"/>
              <a:pathLst>
                <a:path w="180975">
                  <a:moveTo>
                    <a:pt x="180975" y="0"/>
                  </a:moveTo>
                  <a:lnTo>
                    <a:pt x="0" y="0"/>
                  </a:lnTo>
                </a:path>
              </a:pathLst>
            </a:custGeom>
            <a:ln w="19050">
              <a:solidFill>
                <a:srgbClr val="000000"/>
              </a:solidFill>
            </a:ln>
          </p:spPr>
          <p:txBody>
            <a:bodyPr wrap="square" lIns="0" tIns="0" rIns="0" bIns="0" rtlCol="0">
              <a:noAutofit/>
            </a:bodyPr>
            <a:lstStyle/>
            <a:p>
              <a:endParaRPr/>
            </a:p>
          </p:txBody>
        </p:sp>
        <p:sp>
          <p:nvSpPr>
            <p:cNvPr id="59" name="object 63"/>
            <p:cNvSpPr/>
            <p:nvPr/>
          </p:nvSpPr>
          <p:spPr>
            <a:xfrm>
              <a:off x="4267200" y="5372100"/>
              <a:ext cx="142875" cy="95250"/>
            </a:xfrm>
            <a:custGeom>
              <a:avLst/>
              <a:gdLst/>
              <a:ahLst/>
              <a:cxnLst/>
              <a:rect l="l" t="t" r="r" b="b"/>
              <a:pathLst>
                <a:path w="142875" h="95250">
                  <a:moveTo>
                    <a:pt x="142875" y="0"/>
                  </a:moveTo>
                  <a:lnTo>
                    <a:pt x="0" y="47625"/>
                  </a:lnTo>
                  <a:lnTo>
                    <a:pt x="142875" y="95250"/>
                  </a:lnTo>
                  <a:lnTo>
                    <a:pt x="142875" y="0"/>
                  </a:lnTo>
                  <a:close/>
                </a:path>
              </a:pathLst>
            </a:custGeom>
            <a:solidFill>
              <a:srgbClr val="000000"/>
            </a:solidFill>
          </p:spPr>
          <p:txBody>
            <a:bodyPr wrap="square" lIns="0" tIns="0" rIns="0" bIns="0" rtlCol="0">
              <a:noAutofit/>
            </a:bodyPr>
            <a:lstStyle/>
            <a:p>
              <a:endParaRPr/>
            </a:p>
          </p:txBody>
        </p:sp>
        <p:sp>
          <p:nvSpPr>
            <p:cNvPr id="60" name="object 64"/>
            <p:cNvSpPr/>
            <p:nvPr/>
          </p:nvSpPr>
          <p:spPr>
            <a:xfrm>
              <a:off x="2305050" y="5419725"/>
              <a:ext cx="190500" cy="0"/>
            </a:xfrm>
            <a:custGeom>
              <a:avLst/>
              <a:gdLst/>
              <a:ahLst/>
              <a:cxnLst/>
              <a:rect l="l" t="t" r="r" b="b"/>
              <a:pathLst>
                <a:path w="190500">
                  <a:moveTo>
                    <a:pt x="190500" y="0"/>
                  </a:moveTo>
                  <a:lnTo>
                    <a:pt x="0" y="0"/>
                  </a:lnTo>
                </a:path>
              </a:pathLst>
            </a:custGeom>
            <a:ln w="19050">
              <a:solidFill>
                <a:srgbClr val="000000"/>
              </a:solidFill>
            </a:ln>
          </p:spPr>
          <p:txBody>
            <a:bodyPr wrap="square" lIns="0" tIns="0" rIns="0" bIns="0" rtlCol="0">
              <a:noAutofit/>
            </a:bodyPr>
            <a:lstStyle/>
            <a:p>
              <a:endParaRPr/>
            </a:p>
          </p:txBody>
        </p:sp>
        <p:sp>
          <p:nvSpPr>
            <p:cNvPr id="61" name="object 65"/>
            <p:cNvSpPr/>
            <p:nvPr/>
          </p:nvSpPr>
          <p:spPr>
            <a:xfrm>
              <a:off x="2181225" y="5372100"/>
              <a:ext cx="142875" cy="95250"/>
            </a:xfrm>
            <a:custGeom>
              <a:avLst/>
              <a:gdLst/>
              <a:ahLst/>
              <a:cxnLst/>
              <a:rect l="l" t="t" r="r" b="b"/>
              <a:pathLst>
                <a:path w="142875" h="95250">
                  <a:moveTo>
                    <a:pt x="142875" y="0"/>
                  </a:moveTo>
                  <a:lnTo>
                    <a:pt x="0" y="47625"/>
                  </a:lnTo>
                  <a:lnTo>
                    <a:pt x="142875" y="95250"/>
                  </a:lnTo>
                  <a:lnTo>
                    <a:pt x="142875" y="0"/>
                  </a:lnTo>
                  <a:close/>
                </a:path>
              </a:pathLst>
            </a:custGeom>
            <a:solidFill>
              <a:srgbClr val="000000"/>
            </a:solidFill>
          </p:spPr>
          <p:txBody>
            <a:bodyPr wrap="square" lIns="0" tIns="0" rIns="0" bIns="0" rtlCol="0">
              <a:noAutofit/>
            </a:bodyPr>
            <a:lstStyle/>
            <a:p>
              <a:endParaRPr/>
            </a:p>
          </p:txBody>
        </p:sp>
        <p:sp>
          <p:nvSpPr>
            <p:cNvPr id="62" name="object 66"/>
            <p:cNvSpPr txBox="1"/>
            <p:nvPr/>
          </p:nvSpPr>
          <p:spPr>
            <a:xfrm>
              <a:off x="3835400" y="3907094"/>
              <a:ext cx="577850" cy="392430"/>
            </a:xfrm>
            <a:prstGeom prst="rect">
              <a:avLst/>
            </a:prstGeom>
          </p:spPr>
          <p:txBody>
            <a:bodyPr vert="horz" wrap="square" lIns="0" tIns="0" rIns="0" bIns="0" rtlCol="0">
              <a:noAutofit/>
            </a:bodyPr>
            <a:lstStyle/>
            <a:p>
              <a:pPr marL="12700" marR="12700" indent="38100">
                <a:lnSpc>
                  <a:spcPct val="104200"/>
                </a:lnSpc>
              </a:pPr>
              <a:r>
                <a:rPr sz="1200" b="1" spc="-5" dirty="0">
                  <a:latin typeface="Arial"/>
                  <a:cs typeface="Arial"/>
                </a:rPr>
                <a:t>Bit</a:t>
              </a:r>
              <a:r>
                <a:rPr sz="1200" b="1" spc="0" dirty="0">
                  <a:latin typeface="Arial"/>
                  <a:cs typeface="Arial"/>
                </a:rPr>
                <a:t>s</a:t>
              </a:r>
              <a:r>
                <a:rPr sz="1200" b="1" spc="35" dirty="0">
                  <a:latin typeface="Arial"/>
                  <a:cs typeface="Arial"/>
                </a:rPr>
                <a:t> </a:t>
              </a:r>
              <a:r>
                <a:rPr sz="1200" b="1" spc="-5" dirty="0">
                  <a:latin typeface="Arial"/>
                  <a:cs typeface="Arial"/>
                </a:rPr>
                <a:t>or </a:t>
              </a:r>
              <a:r>
                <a:rPr sz="1200" b="1" spc="-10" dirty="0">
                  <a:latin typeface="Arial"/>
                  <a:cs typeface="Arial"/>
                </a:rPr>
                <a:t>Symbol</a:t>
              </a:r>
              <a:endParaRPr sz="1200" dirty="0">
                <a:latin typeface="Arial"/>
                <a:cs typeface="Arial"/>
              </a:endParaRPr>
            </a:p>
          </p:txBody>
        </p:sp>
        <p:sp>
          <p:nvSpPr>
            <p:cNvPr id="63" name="object 67"/>
            <p:cNvSpPr/>
            <p:nvPr/>
          </p:nvSpPr>
          <p:spPr>
            <a:xfrm>
              <a:off x="2390775" y="2924175"/>
              <a:ext cx="1362075" cy="923925"/>
            </a:xfrm>
            <a:custGeom>
              <a:avLst/>
              <a:gdLst/>
              <a:ahLst/>
              <a:cxnLst/>
              <a:rect l="l" t="t" r="r" b="b"/>
              <a:pathLst>
                <a:path w="1362075" h="923925">
                  <a:moveTo>
                    <a:pt x="1362075" y="923925"/>
                  </a:moveTo>
                  <a:lnTo>
                    <a:pt x="0" y="0"/>
                  </a:lnTo>
                </a:path>
              </a:pathLst>
            </a:custGeom>
            <a:ln w="9525">
              <a:solidFill>
                <a:srgbClr val="000000"/>
              </a:solidFill>
            </a:ln>
          </p:spPr>
          <p:txBody>
            <a:bodyPr wrap="square" lIns="0" tIns="0" rIns="0" bIns="0" rtlCol="0">
              <a:noAutofit/>
            </a:bodyPr>
            <a:lstStyle/>
            <a:p>
              <a:endParaRPr/>
            </a:p>
          </p:txBody>
        </p:sp>
        <p:sp>
          <p:nvSpPr>
            <p:cNvPr id="64" name="object 68"/>
            <p:cNvSpPr/>
            <p:nvPr/>
          </p:nvSpPr>
          <p:spPr>
            <a:xfrm>
              <a:off x="2295525" y="2857500"/>
              <a:ext cx="123825" cy="104775"/>
            </a:xfrm>
            <a:custGeom>
              <a:avLst/>
              <a:gdLst/>
              <a:ahLst/>
              <a:cxnLst/>
              <a:rect l="l" t="t" r="r" b="b"/>
              <a:pathLst>
                <a:path w="123825" h="104775">
                  <a:moveTo>
                    <a:pt x="0" y="0"/>
                  </a:moveTo>
                  <a:lnTo>
                    <a:pt x="76200" y="104775"/>
                  </a:lnTo>
                  <a:lnTo>
                    <a:pt x="123825" y="38100"/>
                  </a:lnTo>
                  <a:lnTo>
                    <a:pt x="0" y="0"/>
                  </a:lnTo>
                  <a:close/>
                </a:path>
              </a:pathLst>
            </a:custGeom>
            <a:solidFill>
              <a:srgbClr val="000000"/>
            </a:solidFill>
          </p:spPr>
          <p:txBody>
            <a:bodyPr wrap="square" lIns="0" tIns="0" rIns="0" bIns="0" rtlCol="0">
              <a:noAutofit/>
            </a:bodyPr>
            <a:lstStyle/>
            <a:p>
              <a:endParaRPr/>
            </a:p>
          </p:txBody>
        </p:sp>
        <p:sp>
          <p:nvSpPr>
            <p:cNvPr id="65" name="object 69"/>
            <p:cNvSpPr/>
            <p:nvPr/>
          </p:nvSpPr>
          <p:spPr>
            <a:xfrm>
              <a:off x="3495675" y="2952750"/>
              <a:ext cx="466725" cy="895350"/>
            </a:xfrm>
            <a:custGeom>
              <a:avLst/>
              <a:gdLst/>
              <a:ahLst/>
              <a:cxnLst/>
              <a:rect l="l" t="t" r="r" b="b"/>
              <a:pathLst>
                <a:path w="466725" h="895350">
                  <a:moveTo>
                    <a:pt x="466725" y="895350"/>
                  </a:moveTo>
                  <a:lnTo>
                    <a:pt x="0" y="0"/>
                  </a:lnTo>
                </a:path>
              </a:pathLst>
            </a:custGeom>
            <a:ln w="9525">
              <a:solidFill>
                <a:srgbClr val="000000"/>
              </a:solidFill>
            </a:ln>
          </p:spPr>
          <p:txBody>
            <a:bodyPr wrap="square" lIns="0" tIns="0" rIns="0" bIns="0" rtlCol="0">
              <a:noAutofit/>
            </a:bodyPr>
            <a:lstStyle/>
            <a:p>
              <a:endParaRPr/>
            </a:p>
          </p:txBody>
        </p:sp>
        <p:sp>
          <p:nvSpPr>
            <p:cNvPr id="66" name="object 70"/>
            <p:cNvSpPr/>
            <p:nvPr/>
          </p:nvSpPr>
          <p:spPr>
            <a:xfrm>
              <a:off x="3438525" y="2857500"/>
              <a:ext cx="95250" cy="123825"/>
            </a:xfrm>
            <a:custGeom>
              <a:avLst/>
              <a:gdLst/>
              <a:ahLst/>
              <a:cxnLst/>
              <a:rect l="l" t="t" r="r" b="b"/>
              <a:pathLst>
                <a:path w="95250" h="123825">
                  <a:moveTo>
                    <a:pt x="0" y="0"/>
                  </a:moveTo>
                  <a:lnTo>
                    <a:pt x="19050" y="123825"/>
                  </a:lnTo>
                  <a:lnTo>
                    <a:pt x="95250" y="85725"/>
                  </a:lnTo>
                  <a:lnTo>
                    <a:pt x="0" y="0"/>
                  </a:lnTo>
                  <a:close/>
                </a:path>
              </a:pathLst>
            </a:custGeom>
            <a:solidFill>
              <a:srgbClr val="000000"/>
            </a:solidFill>
          </p:spPr>
          <p:txBody>
            <a:bodyPr wrap="square" lIns="0" tIns="0" rIns="0" bIns="0" rtlCol="0">
              <a:noAutofit/>
            </a:bodyPr>
            <a:lstStyle/>
            <a:p>
              <a:endParaRPr/>
            </a:p>
          </p:txBody>
        </p:sp>
        <p:sp>
          <p:nvSpPr>
            <p:cNvPr id="67" name="object 71"/>
            <p:cNvSpPr/>
            <p:nvPr/>
          </p:nvSpPr>
          <p:spPr>
            <a:xfrm>
              <a:off x="4181475" y="2962275"/>
              <a:ext cx="247650" cy="885825"/>
            </a:xfrm>
            <a:custGeom>
              <a:avLst/>
              <a:gdLst/>
              <a:ahLst/>
              <a:cxnLst/>
              <a:rect l="l" t="t" r="r" b="b"/>
              <a:pathLst>
                <a:path w="247650" h="885825">
                  <a:moveTo>
                    <a:pt x="0" y="885825"/>
                  </a:moveTo>
                  <a:lnTo>
                    <a:pt x="247650" y="0"/>
                  </a:lnTo>
                </a:path>
              </a:pathLst>
            </a:custGeom>
            <a:ln w="9525">
              <a:solidFill>
                <a:srgbClr val="000000"/>
              </a:solidFill>
            </a:ln>
          </p:spPr>
          <p:txBody>
            <a:bodyPr wrap="square" lIns="0" tIns="0" rIns="0" bIns="0" rtlCol="0">
              <a:noAutofit/>
            </a:bodyPr>
            <a:lstStyle/>
            <a:p>
              <a:endParaRPr/>
            </a:p>
          </p:txBody>
        </p:sp>
        <p:sp>
          <p:nvSpPr>
            <p:cNvPr id="68" name="object 72"/>
            <p:cNvSpPr/>
            <p:nvPr/>
          </p:nvSpPr>
          <p:spPr>
            <a:xfrm>
              <a:off x="4391025" y="2857500"/>
              <a:ext cx="76200" cy="133350"/>
            </a:xfrm>
            <a:custGeom>
              <a:avLst/>
              <a:gdLst/>
              <a:ahLst/>
              <a:cxnLst/>
              <a:rect l="l" t="t" r="r" b="b"/>
              <a:pathLst>
                <a:path w="76200" h="133350">
                  <a:moveTo>
                    <a:pt x="76200" y="0"/>
                  </a:moveTo>
                  <a:lnTo>
                    <a:pt x="0" y="104775"/>
                  </a:lnTo>
                  <a:lnTo>
                    <a:pt x="76200" y="133350"/>
                  </a:lnTo>
                  <a:lnTo>
                    <a:pt x="76200" y="0"/>
                  </a:lnTo>
                  <a:close/>
                </a:path>
              </a:pathLst>
            </a:custGeom>
            <a:solidFill>
              <a:srgbClr val="000000"/>
            </a:solidFill>
          </p:spPr>
          <p:txBody>
            <a:bodyPr wrap="square" lIns="0" tIns="0" rIns="0" bIns="0" rtlCol="0">
              <a:noAutofit/>
            </a:bodyPr>
            <a:lstStyle/>
            <a:p>
              <a:endParaRPr/>
            </a:p>
          </p:txBody>
        </p:sp>
        <p:sp>
          <p:nvSpPr>
            <p:cNvPr id="69" name="object 73"/>
            <p:cNvSpPr/>
            <p:nvPr/>
          </p:nvSpPr>
          <p:spPr>
            <a:xfrm>
              <a:off x="4391025" y="3038475"/>
              <a:ext cx="1123950" cy="809625"/>
            </a:xfrm>
            <a:custGeom>
              <a:avLst/>
              <a:gdLst/>
              <a:ahLst/>
              <a:cxnLst/>
              <a:rect l="l" t="t" r="r" b="b"/>
              <a:pathLst>
                <a:path w="1123950" h="809625">
                  <a:moveTo>
                    <a:pt x="0" y="809625"/>
                  </a:moveTo>
                  <a:lnTo>
                    <a:pt x="1123950" y="0"/>
                  </a:lnTo>
                </a:path>
              </a:pathLst>
            </a:custGeom>
            <a:ln w="9525">
              <a:solidFill>
                <a:srgbClr val="000000"/>
              </a:solidFill>
            </a:ln>
          </p:spPr>
          <p:txBody>
            <a:bodyPr wrap="square" lIns="0" tIns="0" rIns="0" bIns="0" rtlCol="0">
              <a:noAutofit/>
            </a:bodyPr>
            <a:lstStyle/>
            <a:p>
              <a:endParaRPr/>
            </a:p>
          </p:txBody>
        </p:sp>
        <p:sp>
          <p:nvSpPr>
            <p:cNvPr id="70" name="object 74"/>
            <p:cNvSpPr/>
            <p:nvPr/>
          </p:nvSpPr>
          <p:spPr>
            <a:xfrm>
              <a:off x="5486400" y="2971800"/>
              <a:ext cx="123825" cy="104775"/>
            </a:xfrm>
            <a:custGeom>
              <a:avLst/>
              <a:gdLst/>
              <a:ahLst/>
              <a:cxnLst/>
              <a:rect l="l" t="t" r="r" b="b"/>
              <a:pathLst>
                <a:path w="123825" h="104775">
                  <a:moveTo>
                    <a:pt x="123825" y="0"/>
                  </a:moveTo>
                  <a:lnTo>
                    <a:pt x="0" y="38100"/>
                  </a:lnTo>
                  <a:lnTo>
                    <a:pt x="47625" y="104775"/>
                  </a:lnTo>
                  <a:lnTo>
                    <a:pt x="123825" y="0"/>
                  </a:lnTo>
                  <a:close/>
                </a:path>
              </a:pathLst>
            </a:custGeom>
            <a:solidFill>
              <a:srgbClr val="000000"/>
            </a:solidFill>
          </p:spPr>
          <p:txBody>
            <a:bodyPr wrap="square" lIns="0" tIns="0" rIns="0" bIns="0" rtlCol="0">
              <a:noAutofit/>
            </a:bodyPr>
            <a:lstStyle/>
            <a:p>
              <a:endParaRPr/>
            </a:p>
          </p:txBody>
        </p:sp>
        <p:sp>
          <p:nvSpPr>
            <p:cNvPr id="71" name="object 75"/>
            <p:cNvSpPr/>
            <p:nvPr/>
          </p:nvSpPr>
          <p:spPr>
            <a:xfrm>
              <a:off x="2390775" y="4391025"/>
              <a:ext cx="1390650" cy="800100"/>
            </a:xfrm>
            <a:custGeom>
              <a:avLst/>
              <a:gdLst/>
              <a:ahLst/>
              <a:cxnLst/>
              <a:rect l="l" t="t" r="r" b="b"/>
              <a:pathLst>
                <a:path w="1390650" h="800100">
                  <a:moveTo>
                    <a:pt x="0" y="800100"/>
                  </a:moveTo>
                  <a:lnTo>
                    <a:pt x="1390650" y="0"/>
                  </a:lnTo>
                </a:path>
              </a:pathLst>
            </a:custGeom>
            <a:ln w="9525">
              <a:solidFill>
                <a:srgbClr val="000000"/>
              </a:solidFill>
            </a:ln>
          </p:spPr>
          <p:txBody>
            <a:bodyPr wrap="square" lIns="0" tIns="0" rIns="0" bIns="0" rtlCol="0">
              <a:noAutofit/>
            </a:bodyPr>
            <a:lstStyle/>
            <a:p>
              <a:endParaRPr/>
            </a:p>
          </p:txBody>
        </p:sp>
        <p:sp>
          <p:nvSpPr>
            <p:cNvPr id="72" name="object 76"/>
            <p:cNvSpPr/>
            <p:nvPr/>
          </p:nvSpPr>
          <p:spPr>
            <a:xfrm>
              <a:off x="2295525" y="5153025"/>
              <a:ext cx="123825" cy="95250"/>
            </a:xfrm>
            <a:custGeom>
              <a:avLst/>
              <a:gdLst/>
              <a:ahLst/>
              <a:cxnLst/>
              <a:rect l="l" t="t" r="r" b="b"/>
              <a:pathLst>
                <a:path w="123825" h="95250">
                  <a:moveTo>
                    <a:pt x="85725" y="0"/>
                  </a:moveTo>
                  <a:lnTo>
                    <a:pt x="0" y="95250"/>
                  </a:lnTo>
                  <a:lnTo>
                    <a:pt x="123825" y="66675"/>
                  </a:lnTo>
                  <a:lnTo>
                    <a:pt x="85725" y="0"/>
                  </a:lnTo>
                  <a:close/>
                </a:path>
              </a:pathLst>
            </a:custGeom>
            <a:solidFill>
              <a:srgbClr val="000000"/>
            </a:solidFill>
          </p:spPr>
          <p:txBody>
            <a:bodyPr wrap="square" lIns="0" tIns="0" rIns="0" bIns="0" rtlCol="0">
              <a:noAutofit/>
            </a:bodyPr>
            <a:lstStyle/>
            <a:p>
              <a:endParaRPr/>
            </a:p>
          </p:txBody>
        </p:sp>
        <p:sp>
          <p:nvSpPr>
            <p:cNvPr id="73" name="object 77"/>
            <p:cNvSpPr/>
            <p:nvPr/>
          </p:nvSpPr>
          <p:spPr>
            <a:xfrm>
              <a:off x="3390900" y="4381500"/>
              <a:ext cx="571500" cy="781050"/>
            </a:xfrm>
            <a:custGeom>
              <a:avLst/>
              <a:gdLst/>
              <a:ahLst/>
              <a:cxnLst/>
              <a:rect l="l" t="t" r="r" b="b"/>
              <a:pathLst>
                <a:path w="571500" h="781050">
                  <a:moveTo>
                    <a:pt x="571500" y="0"/>
                  </a:moveTo>
                  <a:lnTo>
                    <a:pt x="0" y="781050"/>
                  </a:lnTo>
                </a:path>
              </a:pathLst>
            </a:custGeom>
            <a:ln w="9525">
              <a:solidFill>
                <a:srgbClr val="000000"/>
              </a:solidFill>
            </a:ln>
          </p:spPr>
          <p:txBody>
            <a:bodyPr wrap="square" lIns="0" tIns="0" rIns="0" bIns="0" rtlCol="0">
              <a:noAutofit/>
            </a:bodyPr>
            <a:lstStyle/>
            <a:p>
              <a:endParaRPr/>
            </a:p>
          </p:txBody>
        </p:sp>
        <p:sp>
          <p:nvSpPr>
            <p:cNvPr id="74" name="object 78"/>
            <p:cNvSpPr/>
            <p:nvPr/>
          </p:nvSpPr>
          <p:spPr>
            <a:xfrm>
              <a:off x="3324225" y="5124450"/>
              <a:ext cx="104775" cy="123825"/>
            </a:xfrm>
            <a:custGeom>
              <a:avLst/>
              <a:gdLst/>
              <a:ahLst/>
              <a:cxnLst/>
              <a:rect l="l" t="t" r="r" b="b"/>
              <a:pathLst>
                <a:path w="104775" h="123825">
                  <a:moveTo>
                    <a:pt x="38100" y="0"/>
                  </a:moveTo>
                  <a:lnTo>
                    <a:pt x="0" y="123825"/>
                  </a:lnTo>
                  <a:lnTo>
                    <a:pt x="104775" y="47625"/>
                  </a:lnTo>
                  <a:lnTo>
                    <a:pt x="38100" y="0"/>
                  </a:lnTo>
                  <a:close/>
                </a:path>
              </a:pathLst>
            </a:custGeom>
            <a:solidFill>
              <a:srgbClr val="000000"/>
            </a:solidFill>
          </p:spPr>
          <p:txBody>
            <a:bodyPr wrap="square" lIns="0" tIns="0" rIns="0" bIns="0" rtlCol="0">
              <a:noAutofit/>
            </a:bodyPr>
            <a:lstStyle/>
            <a:p>
              <a:endParaRPr/>
            </a:p>
          </p:txBody>
        </p:sp>
        <p:sp>
          <p:nvSpPr>
            <p:cNvPr id="75" name="object 79"/>
            <p:cNvSpPr/>
            <p:nvPr/>
          </p:nvSpPr>
          <p:spPr>
            <a:xfrm>
              <a:off x="4181475" y="4381500"/>
              <a:ext cx="247650" cy="762000"/>
            </a:xfrm>
            <a:custGeom>
              <a:avLst/>
              <a:gdLst/>
              <a:ahLst/>
              <a:cxnLst/>
              <a:rect l="l" t="t" r="r" b="b"/>
              <a:pathLst>
                <a:path w="247650" h="762000">
                  <a:moveTo>
                    <a:pt x="0" y="0"/>
                  </a:moveTo>
                  <a:lnTo>
                    <a:pt x="247650" y="762000"/>
                  </a:lnTo>
                </a:path>
              </a:pathLst>
            </a:custGeom>
            <a:ln w="9525">
              <a:solidFill>
                <a:srgbClr val="000000"/>
              </a:solidFill>
            </a:ln>
          </p:spPr>
          <p:txBody>
            <a:bodyPr wrap="square" lIns="0" tIns="0" rIns="0" bIns="0" rtlCol="0">
              <a:noAutofit/>
            </a:bodyPr>
            <a:lstStyle/>
            <a:p>
              <a:endParaRPr/>
            </a:p>
          </p:txBody>
        </p:sp>
        <p:sp>
          <p:nvSpPr>
            <p:cNvPr id="76" name="object 80"/>
            <p:cNvSpPr/>
            <p:nvPr/>
          </p:nvSpPr>
          <p:spPr>
            <a:xfrm>
              <a:off x="4391025" y="5124450"/>
              <a:ext cx="76200" cy="123825"/>
            </a:xfrm>
            <a:custGeom>
              <a:avLst/>
              <a:gdLst/>
              <a:ahLst/>
              <a:cxnLst/>
              <a:rect l="l" t="t" r="r" b="b"/>
              <a:pathLst>
                <a:path w="76200" h="123825">
                  <a:moveTo>
                    <a:pt x="76200" y="0"/>
                  </a:moveTo>
                  <a:lnTo>
                    <a:pt x="0" y="19050"/>
                  </a:lnTo>
                  <a:lnTo>
                    <a:pt x="76200" y="123825"/>
                  </a:lnTo>
                  <a:lnTo>
                    <a:pt x="76200" y="0"/>
                  </a:lnTo>
                  <a:close/>
                </a:path>
              </a:pathLst>
            </a:custGeom>
            <a:solidFill>
              <a:srgbClr val="000000"/>
            </a:solidFill>
          </p:spPr>
          <p:txBody>
            <a:bodyPr wrap="square" lIns="0" tIns="0" rIns="0" bIns="0" rtlCol="0">
              <a:noAutofit/>
            </a:bodyPr>
            <a:lstStyle/>
            <a:p>
              <a:endParaRPr/>
            </a:p>
          </p:txBody>
        </p:sp>
        <p:sp>
          <p:nvSpPr>
            <p:cNvPr id="77" name="object 81"/>
            <p:cNvSpPr/>
            <p:nvPr/>
          </p:nvSpPr>
          <p:spPr>
            <a:xfrm>
              <a:off x="4352925" y="4391025"/>
              <a:ext cx="1219200" cy="742950"/>
            </a:xfrm>
            <a:custGeom>
              <a:avLst/>
              <a:gdLst/>
              <a:ahLst/>
              <a:cxnLst/>
              <a:rect l="l" t="t" r="r" b="b"/>
              <a:pathLst>
                <a:path w="1219200" h="742950">
                  <a:moveTo>
                    <a:pt x="0" y="0"/>
                  </a:moveTo>
                  <a:lnTo>
                    <a:pt x="1219200" y="742950"/>
                  </a:lnTo>
                </a:path>
              </a:pathLst>
            </a:custGeom>
            <a:ln w="9525">
              <a:solidFill>
                <a:srgbClr val="000000"/>
              </a:solidFill>
            </a:ln>
          </p:spPr>
          <p:txBody>
            <a:bodyPr wrap="square" lIns="0" tIns="0" rIns="0" bIns="0" rtlCol="0">
              <a:noAutofit/>
            </a:bodyPr>
            <a:lstStyle/>
            <a:p>
              <a:endParaRPr/>
            </a:p>
          </p:txBody>
        </p:sp>
        <p:sp>
          <p:nvSpPr>
            <p:cNvPr id="78" name="object 82"/>
            <p:cNvSpPr/>
            <p:nvPr/>
          </p:nvSpPr>
          <p:spPr>
            <a:xfrm>
              <a:off x="5543550" y="5095875"/>
              <a:ext cx="123825" cy="95250"/>
            </a:xfrm>
            <a:custGeom>
              <a:avLst/>
              <a:gdLst/>
              <a:ahLst/>
              <a:cxnLst/>
              <a:rect l="l" t="t" r="r" b="b"/>
              <a:pathLst>
                <a:path w="123825" h="95250">
                  <a:moveTo>
                    <a:pt x="38100" y="0"/>
                  </a:moveTo>
                  <a:lnTo>
                    <a:pt x="0" y="66675"/>
                  </a:lnTo>
                  <a:lnTo>
                    <a:pt x="123825" y="95250"/>
                  </a:lnTo>
                  <a:lnTo>
                    <a:pt x="38100" y="0"/>
                  </a:lnTo>
                  <a:close/>
                </a:path>
              </a:pathLst>
            </a:custGeom>
            <a:solidFill>
              <a:srgbClr val="000000"/>
            </a:solidFill>
          </p:spPr>
          <p:txBody>
            <a:bodyPr wrap="square" lIns="0" tIns="0" rIns="0" bIns="0" rtlCol="0">
              <a:noAutofit/>
            </a:bodyPr>
            <a:lstStyle/>
            <a:p>
              <a:endParaRPr/>
            </a:p>
          </p:txBody>
        </p:sp>
        <p:sp>
          <p:nvSpPr>
            <p:cNvPr id="79" name="object 83"/>
            <p:cNvSpPr/>
            <p:nvPr/>
          </p:nvSpPr>
          <p:spPr>
            <a:xfrm>
              <a:off x="7038975" y="2952750"/>
              <a:ext cx="628650" cy="933450"/>
            </a:xfrm>
            <a:custGeom>
              <a:avLst/>
              <a:gdLst/>
              <a:ahLst/>
              <a:cxnLst/>
              <a:rect l="l" t="t" r="r" b="b"/>
              <a:pathLst>
                <a:path w="628650" h="933450">
                  <a:moveTo>
                    <a:pt x="628650" y="933450"/>
                  </a:moveTo>
                  <a:lnTo>
                    <a:pt x="0" y="0"/>
                  </a:lnTo>
                </a:path>
              </a:pathLst>
            </a:custGeom>
            <a:ln w="9525">
              <a:solidFill>
                <a:srgbClr val="000000"/>
              </a:solidFill>
            </a:ln>
          </p:spPr>
          <p:txBody>
            <a:bodyPr wrap="square" lIns="0" tIns="0" rIns="0" bIns="0" rtlCol="0">
              <a:noAutofit/>
            </a:bodyPr>
            <a:lstStyle/>
            <a:p>
              <a:endParaRPr/>
            </a:p>
          </p:txBody>
        </p:sp>
        <p:sp>
          <p:nvSpPr>
            <p:cNvPr id="80" name="object 84"/>
            <p:cNvSpPr/>
            <p:nvPr/>
          </p:nvSpPr>
          <p:spPr>
            <a:xfrm>
              <a:off x="6981825" y="2857500"/>
              <a:ext cx="95250" cy="123825"/>
            </a:xfrm>
            <a:custGeom>
              <a:avLst/>
              <a:gdLst/>
              <a:ahLst/>
              <a:cxnLst/>
              <a:rect l="l" t="t" r="r" b="b"/>
              <a:pathLst>
                <a:path w="95250" h="123825">
                  <a:moveTo>
                    <a:pt x="0" y="0"/>
                  </a:moveTo>
                  <a:lnTo>
                    <a:pt x="28575" y="123825"/>
                  </a:lnTo>
                  <a:lnTo>
                    <a:pt x="95250" y="76200"/>
                  </a:lnTo>
                  <a:lnTo>
                    <a:pt x="0" y="0"/>
                  </a:lnTo>
                  <a:close/>
                </a:path>
              </a:pathLst>
            </a:custGeom>
            <a:solidFill>
              <a:srgbClr val="000000"/>
            </a:solidFill>
          </p:spPr>
          <p:txBody>
            <a:bodyPr wrap="square" lIns="0" tIns="0" rIns="0" bIns="0" rtlCol="0">
              <a:noAutofit/>
            </a:bodyPr>
            <a:lstStyle/>
            <a:p>
              <a:endParaRPr/>
            </a:p>
          </p:txBody>
        </p:sp>
        <p:sp>
          <p:nvSpPr>
            <p:cNvPr id="81" name="object 85"/>
            <p:cNvSpPr/>
            <p:nvPr/>
          </p:nvSpPr>
          <p:spPr>
            <a:xfrm>
              <a:off x="6991350" y="4343400"/>
              <a:ext cx="676275" cy="819150"/>
            </a:xfrm>
            <a:custGeom>
              <a:avLst/>
              <a:gdLst/>
              <a:ahLst/>
              <a:cxnLst/>
              <a:rect l="l" t="t" r="r" b="b"/>
              <a:pathLst>
                <a:path w="676275" h="819150">
                  <a:moveTo>
                    <a:pt x="676275" y="0"/>
                  </a:moveTo>
                  <a:lnTo>
                    <a:pt x="0" y="819150"/>
                  </a:lnTo>
                </a:path>
              </a:pathLst>
            </a:custGeom>
            <a:ln w="9525">
              <a:solidFill>
                <a:srgbClr val="000000"/>
              </a:solidFill>
            </a:ln>
          </p:spPr>
          <p:txBody>
            <a:bodyPr wrap="square" lIns="0" tIns="0" rIns="0" bIns="0" rtlCol="0">
              <a:noAutofit/>
            </a:bodyPr>
            <a:lstStyle/>
            <a:p>
              <a:endParaRPr/>
            </a:p>
          </p:txBody>
        </p:sp>
        <p:sp>
          <p:nvSpPr>
            <p:cNvPr id="82" name="object 86"/>
            <p:cNvSpPr/>
            <p:nvPr/>
          </p:nvSpPr>
          <p:spPr>
            <a:xfrm>
              <a:off x="6924675" y="5133975"/>
              <a:ext cx="104775" cy="114300"/>
            </a:xfrm>
            <a:custGeom>
              <a:avLst/>
              <a:gdLst/>
              <a:ahLst/>
              <a:cxnLst/>
              <a:rect l="l" t="t" r="r" b="b"/>
              <a:pathLst>
                <a:path w="104775" h="114300">
                  <a:moveTo>
                    <a:pt x="47625" y="0"/>
                  </a:moveTo>
                  <a:lnTo>
                    <a:pt x="0" y="114300"/>
                  </a:lnTo>
                  <a:lnTo>
                    <a:pt x="104775" y="47625"/>
                  </a:lnTo>
                  <a:lnTo>
                    <a:pt x="47625" y="0"/>
                  </a:lnTo>
                  <a:close/>
                </a:path>
              </a:pathLst>
            </a:custGeom>
            <a:solidFill>
              <a:srgbClr val="000000"/>
            </a:solidFill>
          </p:spPr>
          <p:txBody>
            <a:bodyPr wrap="square" lIns="0" tIns="0" rIns="0" bIns="0" rtlCol="0">
              <a:noAutofit/>
            </a:bodyPr>
            <a:lstStyle/>
            <a:p>
              <a:endParaRPr/>
            </a:p>
          </p:txBody>
        </p:sp>
        <p:sp>
          <p:nvSpPr>
            <p:cNvPr id="83" name="object 87"/>
            <p:cNvSpPr/>
            <p:nvPr/>
          </p:nvSpPr>
          <p:spPr>
            <a:xfrm>
              <a:off x="5038725" y="2000250"/>
              <a:ext cx="0" cy="152400"/>
            </a:xfrm>
            <a:custGeom>
              <a:avLst/>
              <a:gdLst/>
              <a:ahLst/>
              <a:cxnLst/>
              <a:rect l="l" t="t" r="r" b="b"/>
              <a:pathLst>
                <a:path h="152400">
                  <a:moveTo>
                    <a:pt x="0" y="0"/>
                  </a:moveTo>
                  <a:lnTo>
                    <a:pt x="0" y="152400"/>
                  </a:lnTo>
                </a:path>
              </a:pathLst>
            </a:custGeom>
            <a:ln w="19050">
              <a:solidFill>
                <a:srgbClr val="000000"/>
              </a:solidFill>
            </a:ln>
          </p:spPr>
          <p:txBody>
            <a:bodyPr wrap="square" lIns="0" tIns="0" rIns="0" bIns="0" rtlCol="0">
              <a:noAutofit/>
            </a:bodyPr>
            <a:lstStyle/>
            <a:p>
              <a:endParaRPr/>
            </a:p>
          </p:txBody>
        </p:sp>
        <p:sp>
          <p:nvSpPr>
            <p:cNvPr id="84" name="object 88"/>
            <p:cNvSpPr/>
            <p:nvPr/>
          </p:nvSpPr>
          <p:spPr>
            <a:xfrm>
              <a:off x="4991100" y="2143125"/>
              <a:ext cx="95250" cy="142875"/>
            </a:xfrm>
            <a:custGeom>
              <a:avLst/>
              <a:gdLst/>
              <a:ahLst/>
              <a:cxnLst/>
              <a:rect l="l" t="t" r="r" b="b"/>
              <a:pathLst>
                <a:path w="95250" h="142875">
                  <a:moveTo>
                    <a:pt x="95250" y="0"/>
                  </a:moveTo>
                  <a:lnTo>
                    <a:pt x="0" y="0"/>
                  </a:lnTo>
                  <a:lnTo>
                    <a:pt x="47625" y="142875"/>
                  </a:lnTo>
                  <a:lnTo>
                    <a:pt x="95250" y="0"/>
                  </a:lnTo>
                  <a:close/>
                </a:path>
              </a:pathLst>
            </a:custGeom>
            <a:solidFill>
              <a:srgbClr val="000000"/>
            </a:solidFill>
          </p:spPr>
          <p:txBody>
            <a:bodyPr wrap="square" lIns="0" tIns="0" rIns="0" bIns="0" rtlCol="0">
              <a:noAutofit/>
            </a:bodyPr>
            <a:lstStyle/>
            <a:p>
              <a:endParaRPr/>
            </a:p>
          </p:txBody>
        </p:sp>
        <p:sp>
          <p:nvSpPr>
            <p:cNvPr id="85" name="object 89"/>
            <p:cNvSpPr/>
            <p:nvPr/>
          </p:nvSpPr>
          <p:spPr>
            <a:xfrm>
              <a:off x="5076825" y="5705475"/>
              <a:ext cx="0" cy="466725"/>
            </a:xfrm>
            <a:custGeom>
              <a:avLst/>
              <a:gdLst/>
              <a:ahLst/>
              <a:cxnLst/>
              <a:rect l="l" t="t" r="r" b="b"/>
              <a:pathLst>
                <a:path h="466725">
                  <a:moveTo>
                    <a:pt x="0" y="0"/>
                  </a:moveTo>
                  <a:lnTo>
                    <a:pt x="0" y="466725"/>
                  </a:lnTo>
                </a:path>
              </a:pathLst>
            </a:custGeom>
            <a:ln w="19050">
              <a:solidFill>
                <a:srgbClr val="000000"/>
              </a:solidFill>
            </a:ln>
          </p:spPr>
          <p:txBody>
            <a:bodyPr wrap="square" lIns="0" tIns="0" rIns="0" bIns="0" rtlCol="0">
              <a:noAutofit/>
            </a:bodyPr>
            <a:lstStyle/>
            <a:p>
              <a:endParaRPr/>
            </a:p>
          </p:txBody>
        </p:sp>
        <p:sp>
          <p:nvSpPr>
            <p:cNvPr id="86" name="object 90"/>
            <p:cNvSpPr/>
            <p:nvPr/>
          </p:nvSpPr>
          <p:spPr>
            <a:xfrm>
              <a:off x="5029200" y="6162675"/>
              <a:ext cx="95250" cy="142875"/>
            </a:xfrm>
            <a:custGeom>
              <a:avLst/>
              <a:gdLst/>
              <a:ahLst/>
              <a:cxnLst/>
              <a:rect l="l" t="t" r="r" b="b"/>
              <a:pathLst>
                <a:path w="95250" h="142875">
                  <a:moveTo>
                    <a:pt x="95250" y="0"/>
                  </a:moveTo>
                  <a:lnTo>
                    <a:pt x="0" y="0"/>
                  </a:lnTo>
                  <a:lnTo>
                    <a:pt x="47625" y="142875"/>
                  </a:lnTo>
                  <a:lnTo>
                    <a:pt x="95250" y="0"/>
                  </a:lnTo>
                  <a:close/>
                </a:path>
              </a:pathLst>
            </a:custGeom>
            <a:solidFill>
              <a:srgbClr val="000000"/>
            </a:solidFill>
          </p:spPr>
          <p:txBody>
            <a:bodyPr wrap="square" lIns="0" tIns="0" rIns="0" bIns="0" rtlCol="0">
              <a:noAutofit/>
            </a:bodyPr>
            <a:lstStyle/>
            <a:p>
              <a:endParaRPr/>
            </a:p>
          </p:txBody>
        </p:sp>
        <p:sp>
          <p:nvSpPr>
            <p:cNvPr id="87" name="object 91"/>
            <p:cNvSpPr txBox="1"/>
            <p:nvPr/>
          </p:nvSpPr>
          <p:spPr>
            <a:xfrm>
              <a:off x="5226050" y="6124575"/>
              <a:ext cx="644525" cy="194310"/>
            </a:xfrm>
            <a:prstGeom prst="rect">
              <a:avLst/>
            </a:prstGeom>
          </p:spPr>
          <p:txBody>
            <a:bodyPr vert="horz" wrap="square" lIns="0" tIns="0" rIns="0" bIns="0" rtlCol="0">
              <a:noAutofit/>
            </a:bodyPr>
            <a:lstStyle/>
            <a:p>
              <a:pPr marL="12700">
                <a:lnSpc>
                  <a:spcPct val="100000"/>
                </a:lnSpc>
              </a:pPr>
              <a:r>
                <a:rPr sz="1200" b="1" spc="-10" dirty="0">
                  <a:latin typeface="Arial"/>
                  <a:cs typeface="Arial"/>
                </a:rPr>
                <a:t>To</a:t>
              </a:r>
              <a:r>
                <a:rPr sz="1200" b="1" spc="45" dirty="0">
                  <a:latin typeface="Arial"/>
                  <a:cs typeface="Arial"/>
                </a:rPr>
                <a:t> </a:t>
              </a:r>
              <a:r>
                <a:rPr sz="1200" b="1" spc="0" dirty="0">
                  <a:latin typeface="Arial"/>
                  <a:cs typeface="Arial"/>
                </a:rPr>
                <a:t>other</a:t>
              </a:r>
              <a:endParaRPr sz="1200">
                <a:latin typeface="Arial"/>
                <a:cs typeface="Arial"/>
              </a:endParaRPr>
            </a:p>
          </p:txBody>
        </p:sp>
        <p:sp>
          <p:nvSpPr>
            <p:cNvPr id="88" name="object 92"/>
            <p:cNvSpPr txBox="1"/>
            <p:nvPr/>
          </p:nvSpPr>
          <p:spPr>
            <a:xfrm>
              <a:off x="5083175" y="6305550"/>
              <a:ext cx="930275" cy="194310"/>
            </a:xfrm>
            <a:prstGeom prst="rect">
              <a:avLst/>
            </a:prstGeom>
          </p:spPr>
          <p:txBody>
            <a:bodyPr vert="horz" wrap="square" lIns="0" tIns="0" rIns="0" bIns="0" rtlCol="0">
              <a:noAutofit/>
            </a:bodyPr>
            <a:lstStyle/>
            <a:p>
              <a:pPr marL="12700">
                <a:lnSpc>
                  <a:spcPct val="100000"/>
                </a:lnSpc>
              </a:pPr>
              <a:r>
                <a:rPr sz="1200" b="1" spc="-10" dirty="0">
                  <a:latin typeface="Arial"/>
                  <a:cs typeface="Arial"/>
                </a:rPr>
                <a:t>destinations</a:t>
              </a:r>
              <a:endParaRPr sz="1200">
                <a:latin typeface="Arial"/>
                <a:cs typeface="Arial"/>
              </a:endParaRPr>
            </a:p>
          </p:txBody>
        </p:sp>
        <p:sp>
          <p:nvSpPr>
            <p:cNvPr id="89" name="object 93"/>
            <p:cNvSpPr txBox="1"/>
            <p:nvPr/>
          </p:nvSpPr>
          <p:spPr>
            <a:xfrm>
              <a:off x="5006975" y="1725869"/>
              <a:ext cx="825500" cy="392430"/>
            </a:xfrm>
            <a:prstGeom prst="rect">
              <a:avLst/>
            </a:prstGeom>
          </p:spPr>
          <p:txBody>
            <a:bodyPr vert="horz" wrap="square" lIns="0" tIns="0" rIns="0" bIns="0" rtlCol="0">
              <a:noAutofit/>
            </a:bodyPr>
            <a:lstStyle/>
            <a:p>
              <a:pPr marL="117475" marR="12700" indent="-104775">
                <a:lnSpc>
                  <a:spcPct val="104200"/>
                </a:lnSpc>
              </a:pPr>
              <a:r>
                <a:rPr sz="1200" b="1" dirty="0">
                  <a:latin typeface="Arial"/>
                  <a:cs typeface="Arial"/>
                </a:rPr>
                <a:t>From</a:t>
              </a:r>
              <a:r>
                <a:rPr sz="1200" b="1" spc="-35" dirty="0">
                  <a:latin typeface="Arial"/>
                  <a:cs typeface="Arial"/>
                </a:rPr>
                <a:t> </a:t>
              </a:r>
              <a:r>
                <a:rPr sz="1200" b="1" spc="0" dirty="0">
                  <a:latin typeface="Arial"/>
                  <a:cs typeface="Arial"/>
                </a:rPr>
                <a:t>other </a:t>
              </a:r>
              <a:r>
                <a:rPr sz="1200" b="1" spc="-15" dirty="0">
                  <a:latin typeface="Arial"/>
                  <a:cs typeface="Arial"/>
                </a:rPr>
                <a:t>sources</a:t>
              </a:r>
              <a:endParaRPr sz="1200">
                <a:latin typeface="Arial"/>
                <a:cs typeface="Arial"/>
              </a:endParaRPr>
            </a:p>
          </p:txBody>
        </p:sp>
        <p:sp>
          <p:nvSpPr>
            <p:cNvPr id="90" name="object 94"/>
            <p:cNvSpPr/>
            <p:nvPr/>
          </p:nvSpPr>
          <p:spPr>
            <a:xfrm>
              <a:off x="4467225" y="2114550"/>
              <a:ext cx="0" cy="247650"/>
            </a:xfrm>
            <a:custGeom>
              <a:avLst/>
              <a:gdLst/>
              <a:ahLst/>
              <a:cxnLst/>
              <a:rect l="l" t="t" r="r" b="b"/>
              <a:pathLst>
                <a:path h="247650">
                  <a:moveTo>
                    <a:pt x="0" y="0"/>
                  </a:moveTo>
                  <a:lnTo>
                    <a:pt x="0" y="247650"/>
                  </a:lnTo>
                </a:path>
              </a:pathLst>
            </a:custGeom>
            <a:ln w="19050">
              <a:solidFill>
                <a:srgbClr val="000000"/>
              </a:solidFill>
            </a:ln>
          </p:spPr>
          <p:txBody>
            <a:bodyPr wrap="square" lIns="0" tIns="0" rIns="0" bIns="0" rtlCol="0">
              <a:noAutofit/>
            </a:bodyPr>
            <a:lstStyle/>
            <a:p>
              <a:endParaRPr/>
            </a:p>
          </p:txBody>
        </p:sp>
        <p:sp>
          <p:nvSpPr>
            <p:cNvPr id="91" name="object 95"/>
            <p:cNvSpPr/>
            <p:nvPr/>
          </p:nvSpPr>
          <p:spPr>
            <a:xfrm>
              <a:off x="4419600" y="2352675"/>
              <a:ext cx="95250" cy="142875"/>
            </a:xfrm>
            <a:custGeom>
              <a:avLst/>
              <a:gdLst/>
              <a:ahLst/>
              <a:cxnLst/>
              <a:rect l="l" t="t" r="r" b="b"/>
              <a:pathLst>
                <a:path w="95250" h="142875">
                  <a:moveTo>
                    <a:pt x="95250" y="0"/>
                  </a:moveTo>
                  <a:lnTo>
                    <a:pt x="0" y="0"/>
                  </a:lnTo>
                  <a:lnTo>
                    <a:pt x="47625" y="142875"/>
                  </a:lnTo>
                  <a:lnTo>
                    <a:pt x="95250" y="0"/>
                  </a:lnTo>
                  <a:close/>
                </a:path>
              </a:pathLst>
            </a:custGeom>
            <a:solidFill>
              <a:srgbClr val="000000"/>
            </a:solidFill>
          </p:spPr>
          <p:txBody>
            <a:bodyPr wrap="square" lIns="0" tIns="0" rIns="0" bIns="0" rtlCol="0">
              <a:noAutofit/>
            </a:bodyPr>
            <a:lstStyle/>
            <a:p>
              <a:endParaRPr/>
            </a:p>
          </p:txBody>
        </p:sp>
        <p:sp>
          <p:nvSpPr>
            <p:cNvPr id="92" name="object 96"/>
            <p:cNvSpPr/>
            <p:nvPr/>
          </p:nvSpPr>
          <p:spPr>
            <a:xfrm>
              <a:off x="3438525" y="2133600"/>
              <a:ext cx="0" cy="190500"/>
            </a:xfrm>
            <a:custGeom>
              <a:avLst/>
              <a:gdLst/>
              <a:ahLst/>
              <a:cxnLst/>
              <a:rect l="l" t="t" r="r" b="b"/>
              <a:pathLst>
                <a:path h="190500">
                  <a:moveTo>
                    <a:pt x="0" y="0"/>
                  </a:moveTo>
                  <a:lnTo>
                    <a:pt x="0" y="190500"/>
                  </a:lnTo>
                </a:path>
              </a:pathLst>
            </a:custGeom>
            <a:ln w="19050">
              <a:solidFill>
                <a:srgbClr val="000000"/>
              </a:solidFill>
            </a:ln>
          </p:spPr>
          <p:txBody>
            <a:bodyPr wrap="square" lIns="0" tIns="0" rIns="0" bIns="0" rtlCol="0">
              <a:noAutofit/>
            </a:bodyPr>
            <a:lstStyle/>
            <a:p>
              <a:endParaRPr/>
            </a:p>
          </p:txBody>
        </p:sp>
        <p:sp>
          <p:nvSpPr>
            <p:cNvPr id="93" name="object 97"/>
            <p:cNvSpPr/>
            <p:nvPr/>
          </p:nvSpPr>
          <p:spPr>
            <a:xfrm>
              <a:off x="3390900" y="2314575"/>
              <a:ext cx="95250" cy="142875"/>
            </a:xfrm>
            <a:custGeom>
              <a:avLst/>
              <a:gdLst/>
              <a:ahLst/>
              <a:cxnLst/>
              <a:rect l="l" t="t" r="r" b="b"/>
              <a:pathLst>
                <a:path w="95250" h="142875">
                  <a:moveTo>
                    <a:pt x="95250" y="0"/>
                  </a:moveTo>
                  <a:lnTo>
                    <a:pt x="0" y="0"/>
                  </a:lnTo>
                  <a:lnTo>
                    <a:pt x="47625" y="142875"/>
                  </a:lnTo>
                  <a:lnTo>
                    <a:pt x="95250" y="0"/>
                  </a:lnTo>
                  <a:close/>
                </a:path>
              </a:pathLst>
            </a:custGeom>
            <a:solidFill>
              <a:srgbClr val="000000"/>
            </a:solidFill>
          </p:spPr>
          <p:txBody>
            <a:bodyPr wrap="square" lIns="0" tIns="0" rIns="0" bIns="0" rtlCol="0">
              <a:noAutofit/>
            </a:bodyPr>
            <a:lstStyle/>
            <a:p>
              <a:endParaRPr/>
            </a:p>
          </p:txBody>
        </p:sp>
        <p:sp>
          <p:nvSpPr>
            <p:cNvPr id="94" name="object 98"/>
            <p:cNvSpPr/>
            <p:nvPr/>
          </p:nvSpPr>
          <p:spPr>
            <a:xfrm>
              <a:off x="2409825" y="5638800"/>
              <a:ext cx="0" cy="295275"/>
            </a:xfrm>
            <a:custGeom>
              <a:avLst/>
              <a:gdLst/>
              <a:ahLst/>
              <a:cxnLst/>
              <a:rect l="l" t="t" r="r" b="b"/>
              <a:pathLst>
                <a:path h="295275">
                  <a:moveTo>
                    <a:pt x="0" y="295275"/>
                  </a:moveTo>
                  <a:lnTo>
                    <a:pt x="0" y="0"/>
                  </a:lnTo>
                </a:path>
              </a:pathLst>
            </a:custGeom>
            <a:ln w="19050">
              <a:solidFill>
                <a:srgbClr val="000000"/>
              </a:solidFill>
            </a:ln>
          </p:spPr>
          <p:txBody>
            <a:bodyPr wrap="square" lIns="0" tIns="0" rIns="0" bIns="0" rtlCol="0">
              <a:noAutofit/>
            </a:bodyPr>
            <a:lstStyle/>
            <a:p>
              <a:endParaRPr/>
            </a:p>
          </p:txBody>
        </p:sp>
        <p:sp>
          <p:nvSpPr>
            <p:cNvPr id="95" name="object 99"/>
            <p:cNvSpPr/>
            <p:nvPr/>
          </p:nvSpPr>
          <p:spPr>
            <a:xfrm>
              <a:off x="2362200" y="5505450"/>
              <a:ext cx="95250" cy="142875"/>
            </a:xfrm>
            <a:custGeom>
              <a:avLst/>
              <a:gdLst/>
              <a:ahLst/>
              <a:cxnLst/>
              <a:rect l="l" t="t" r="r" b="b"/>
              <a:pathLst>
                <a:path w="95250" h="142875">
                  <a:moveTo>
                    <a:pt x="47625" y="0"/>
                  </a:moveTo>
                  <a:lnTo>
                    <a:pt x="0" y="142875"/>
                  </a:lnTo>
                  <a:lnTo>
                    <a:pt x="95250" y="142875"/>
                  </a:lnTo>
                  <a:lnTo>
                    <a:pt x="47625" y="0"/>
                  </a:lnTo>
                  <a:close/>
                </a:path>
              </a:pathLst>
            </a:custGeom>
            <a:solidFill>
              <a:srgbClr val="000000"/>
            </a:solidFill>
          </p:spPr>
          <p:txBody>
            <a:bodyPr wrap="square" lIns="0" tIns="0" rIns="0" bIns="0" rtlCol="0">
              <a:noAutofit/>
            </a:bodyPr>
            <a:lstStyle/>
            <a:p>
              <a:endParaRPr/>
            </a:p>
          </p:txBody>
        </p:sp>
        <p:sp>
          <p:nvSpPr>
            <p:cNvPr id="96" name="object 100"/>
            <p:cNvSpPr/>
            <p:nvPr/>
          </p:nvSpPr>
          <p:spPr>
            <a:xfrm>
              <a:off x="2352675" y="2171700"/>
              <a:ext cx="0" cy="190500"/>
            </a:xfrm>
            <a:custGeom>
              <a:avLst/>
              <a:gdLst/>
              <a:ahLst/>
              <a:cxnLst/>
              <a:rect l="l" t="t" r="r" b="b"/>
              <a:pathLst>
                <a:path h="190500">
                  <a:moveTo>
                    <a:pt x="0" y="0"/>
                  </a:moveTo>
                  <a:lnTo>
                    <a:pt x="0" y="190500"/>
                  </a:lnTo>
                </a:path>
              </a:pathLst>
            </a:custGeom>
            <a:ln w="19050">
              <a:solidFill>
                <a:srgbClr val="000000"/>
              </a:solidFill>
            </a:ln>
          </p:spPr>
          <p:txBody>
            <a:bodyPr wrap="square" lIns="0" tIns="0" rIns="0" bIns="0" rtlCol="0">
              <a:noAutofit/>
            </a:bodyPr>
            <a:lstStyle/>
            <a:p>
              <a:endParaRPr/>
            </a:p>
          </p:txBody>
        </p:sp>
        <p:sp>
          <p:nvSpPr>
            <p:cNvPr id="97" name="object 101"/>
            <p:cNvSpPr/>
            <p:nvPr/>
          </p:nvSpPr>
          <p:spPr>
            <a:xfrm>
              <a:off x="2305050" y="2352675"/>
              <a:ext cx="95250" cy="142875"/>
            </a:xfrm>
            <a:custGeom>
              <a:avLst/>
              <a:gdLst/>
              <a:ahLst/>
              <a:cxnLst/>
              <a:rect l="l" t="t" r="r" b="b"/>
              <a:pathLst>
                <a:path w="95250" h="142875">
                  <a:moveTo>
                    <a:pt x="95250" y="0"/>
                  </a:moveTo>
                  <a:lnTo>
                    <a:pt x="0" y="0"/>
                  </a:lnTo>
                  <a:lnTo>
                    <a:pt x="47625" y="142875"/>
                  </a:lnTo>
                  <a:lnTo>
                    <a:pt x="95250" y="0"/>
                  </a:lnTo>
                  <a:close/>
                </a:path>
              </a:pathLst>
            </a:custGeom>
            <a:solidFill>
              <a:srgbClr val="000000"/>
            </a:solidFill>
          </p:spPr>
          <p:txBody>
            <a:bodyPr wrap="square" lIns="0" tIns="0" rIns="0" bIns="0" rtlCol="0">
              <a:noAutofit/>
            </a:bodyPr>
            <a:lstStyle/>
            <a:p>
              <a:endParaRPr/>
            </a:p>
          </p:txBody>
        </p:sp>
        <p:sp>
          <p:nvSpPr>
            <p:cNvPr id="98" name="object 102"/>
            <p:cNvSpPr txBox="1"/>
            <p:nvPr/>
          </p:nvSpPr>
          <p:spPr>
            <a:xfrm>
              <a:off x="2101850" y="1759711"/>
              <a:ext cx="501650" cy="368300"/>
            </a:xfrm>
            <a:prstGeom prst="rect">
              <a:avLst/>
            </a:prstGeom>
          </p:spPr>
          <p:txBody>
            <a:bodyPr vert="horz" wrap="square" lIns="0" tIns="0" rIns="0" bIns="0" rtlCol="0">
              <a:noAutofit/>
            </a:bodyPr>
            <a:lstStyle/>
            <a:p>
              <a:pPr marL="60325" marR="12700" indent="-47625">
                <a:lnSpc>
                  <a:spcPts val="1430"/>
                </a:lnSpc>
              </a:pPr>
              <a:r>
                <a:rPr sz="1200" b="1" spc="0" dirty="0">
                  <a:latin typeface="Arial"/>
                  <a:cs typeface="Arial"/>
                </a:rPr>
                <a:t>Digital input</a:t>
              </a:r>
              <a:endParaRPr sz="1200">
                <a:latin typeface="Arial"/>
                <a:cs typeface="Arial"/>
              </a:endParaRPr>
            </a:p>
          </p:txBody>
        </p:sp>
        <p:sp>
          <p:nvSpPr>
            <p:cNvPr id="99" name="object 103"/>
            <p:cNvSpPr txBox="1"/>
            <p:nvPr/>
          </p:nvSpPr>
          <p:spPr>
            <a:xfrm>
              <a:off x="2159000" y="5926394"/>
              <a:ext cx="501650" cy="392430"/>
            </a:xfrm>
            <a:prstGeom prst="rect">
              <a:avLst/>
            </a:prstGeom>
          </p:spPr>
          <p:txBody>
            <a:bodyPr vert="horz" wrap="square" lIns="0" tIns="0" rIns="0" bIns="0" rtlCol="0">
              <a:noAutofit/>
            </a:bodyPr>
            <a:lstStyle/>
            <a:p>
              <a:pPr marL="12700" marR="12700">
                <a:lnSpc>
                  <a:spcPct val="104200"/>
                </a:lnSpc>
              </a:pPr>
              <a:r>
                <a:rPr sz="1200" b="1" spc="0" dirty="0">
                  <a:latin typeface="Arial"/>
                  <a:cs typeface="Arial"/>
                </a:rPr>
                <a:t>Digital </a:t>
              </a:r>
              <a:r>
                <a:rPr sz="1200" b="1" spc="-20" dirty="0">
                  <a:latin typeface="Arial"/>
                  <a:cs typeface="Arial"/>
                </a:rPr>
                <a:t>output</a:t>
              </a:r>
              <a:endParaRPr sz="1200">
                <a:latin typeface="Arial"/>
                <a:cs typeface="Arial"/>
              </a:endParaRPr>
            </a:p>
          </p:txBody>
        </p:sp>
        <p:sp>
          <p:nvSpPr>
            <p:cNvPr id="100" name="object 104"/>
            <p:cNvSpPr/>
            <p:nvPr/>
          </p:nvSpPr>
          <p:spPr>
            <a:xfrm>
              <a:off x="3438525" y="5743575"/>
              <a:ext cx="0" cy="190500"/>
            </a:xfrm>
            <a:custGeom>
              <a:avLst/>
              <a:gdLst/>
              <a:ahLst/>
              <a:cxnLst/>
              <a:rect l="l" t="t" r="r" b="b"/>
              <a:pathLst>
                <a:path h="190500">
                  <a:moveTo>
                    <a:pt x="0" y="190500"/>
                  </a:moveTo>
                  <a:lnTo>
                    <a:pt x="0" y="0"/>
                  </a:lnTo>
                </a:path>
              </a:pathLst>
            </a:custGeom>
            <a:ln w="19050">
              <a:solidFill>
                <a:srgbClr val="000000"/>
              </a:solidFill>
            </a:ln>
          </p:spPr>
          <p:txBody>
            <a:bodyPr wrap="square" lIns="0" tIns="0" rIns="0" bIns="0" rtlCol="0">
              <a:noAutofit/>
            </a:bodyPr>
            <a:lstStyle/>
            <a:p>
              <a:endParaRPr/>
            </a:p>
          </p:txBody>
        </p:sp>
        <p:sp>
          <p:nvSpPr>
            <p:cNvPr id="101" name="object 105"/>
            <p:cNvSpPr/>
            <p:nvPr/>
          </p:nvSpPr>
          <p:spPr>
            <a:xfrm>
              <a:off x="3390900" y="5610225"/>
              <a:ext cx="95250" cy="142875"/>
            </a:xfrm>
            <a:custGeom>
              <a:avLst/>
              <a:gdLst/>
              <a:ahLst/>
              <a:cxnLst/>
              <a:rect l="l" t="t" r="r" b="b"/>
              <a:pathLst>
                <a:path w="95250" h="142875">
                  <a:moveTo>
                    <a:pt x="47625" y="0"/>
                  </a:moveTo>
                  <a:lnTo>
                    <a:pt x="0" y="142875"/>
                  </a:lnTo>
                  <a:lnTo>
                    <a:pt x="95250" y="142875"/>
                  </a:lnTo>
                  <a:lnTo>
                    <a:pt x="47625" y="0"/>
                  </a:lnTo>
                  <a:close/>
                </a:path>
              </a:pathLst>
            </a:custGeom>
            <a:solidFill>
              <a:srgbClr val="000000"/>
            </a:solidFill>
          </p:spPr>
          <p:txBody>
            <a:bodyPr wrap="square" lIns="0" tIns="0" rIns="0" bIns="0" rtlCol="0">
              <a:noAutofit/>
            </a:bodyPr>
            <a:lstStyle/>
            <a:p>
              <a:endParaRPr/>
            </a:p>
          </p:txBody>
        </p:sp>
        <p:sp>
          <p:nvSpPr>
            <p:cNvPr id="102" name="object 106"/>
            <p:cNvSpPr txBox="1"/>
            <p:nvPr/>
          </p:nvSpPr>
          <p:spPr>
            <a:xfrm>
              <a:off x="3168650" y="5960236"/>
              <a:ext cx="540385" cy="368300"/>
            </a:xfrm>
            <a:prstGeom prst="rect">
              <a:avLst/>
            </a:prstGeom>
          </p:spPr>
          <p:txBody>
            <a:bodyPr vert="horz" wrap="square" lIns="0" tIns="0" rIns="0" bIns="0" rtlCol="0">
              <a:noAutofit/>
            </a:bodyPr>
            <a:lstStyle/>
            <a:p>
              <a:pPr marL="127000" marR="12700" indent="-114300">
                <a:lnSpc>
                  <a:spcPts val="1430"/>
                </a:lnSpc>
              </a:pPr>
              <a:r>
                <a:rPr sz="1200" b="1" spc="-5" dirty="0">
                  <a:latin typeface="Arial"/>
                  <a:cs typeface="Arial"/>
                </a:rPr>
                <a:t>Source </a:t>
              </a:r>
              <a:r>
                <a:rPr sz="1200" b="1" spc="15" dirty="0">
                  <a:latin typeface="Arial"/>
                  <a:cs typeface="Arial"/>
                </a:rPr>
                <a:t>bits</a:t>
              </a:r>
              <a:endParaRPr sz="1200">
                <a:latin typeface="Arial"/>
                <a:cs typeface="Arial"/>
              </a:endParaRPr>
            </a:p>
          </p:txBody>
        </p:sp>
        <p:sp>
          <p:nvSpPr>
            <p:cNvPr id="103" name="object 107"/>
            <p:cNvSpPr txBox="1"/>
            <p:nvPr/>
          </p:nvSpPr>
          <p:spPr>
            <a:xfrm>
              <a:off x="3197225" y="1759711"/>
              <a:ext cx="540385" cy="368300"/>
            </a:xfrm>
            <a:prstGeom prst="rect">
              <a:avLst/>
            </a:prstGeom>
          </p:spPr>
          <p:txBody>
            <a:bodyPr vert="horz" wrap="square" lIns="0" tIns="0" rIns="0" bIns="0" rtlCol="0">
              <a:noAutofit/>
            </a:bodyPr>
            <a:lstStyle/>
            <a:p>
              <a:pPr marL="127000" marR="12700" indent="-114300">
                <a:lnSpc>
                  <a:spcPts val="1430"/>
                </a:lnSpc>
              </a:pPr>
              <a:r>
                <a:rPr sz="1200" b="1" spc="-5" dirty="0">
                  <a:latin typeface="Arial"/>
                  <a:cs typeface="Arial"/>
                </a:rPr>
                <a:t>Source </a:t>
              </a:r>
              <a:r>
                <a:rPr sz="1200" b="1" spc="15" dirty="0">
                  <a:latin typeface="Arial"/>
                  <a:cs typeface="Arial"/>
                </a:rPr>
                <a:t>bits</a:t>
              </a:r>
              <a:endParaRPr sz="1200">
                <a:latin typeface="Arial"/>
                <a:cs typeface="Arial"/>
              </a:endParaRPr>
            </a:p>
          </p:txBody>
        </p:sp>
        <p:sp>
          <p:nvSpPr>
            <p:cNvPr id="104" name="object 108"/>
            <p:cNvSpPr txBox="1"/>
            <p:nvPr/>
          </p:nvSpPr>
          <p:spPr>
            <a:xfrm>
              <a:off x="4159250" y="1750186"/>
              <a:ext cx="625475" cy="368300"/>
            </a:xfrm>
            <a:prstGeom prst="rect">
              <a:avLst/>
            </a:prstGeom>
          </p:spPr>
          <p:txBody>
            <a:bodyPr vert="horz" wrap="square" lIns="0" tIns="0" rIns="0" bIns="0" rtlCol="0">
              <a:noAutofit/>
            </a:bodyPr>
            <a:lstStyle/>
            <a:p>
              <a:pPr marL="174625" marR="12700" indent="-161925">
                <a:lnSpc>
                  <a:spcPts val="1430"/>
                </a:lnSpc>
              </a:pPr>
              <a:r>
                <a:rPr sz="1200" b="1" spc="-15" dirty="0">
                  <a:latin typeface="Arial"/>
                  <a:cs typeface="Arial"/>
                </a:rPr>
                <a:t>Channel </a:t>
              </a:r>
              <a:r>
                <a:rPr sz="1200" b="1" spc="15" dirty="0">
                  <a:latin typeface="Arial"/>
                  <a:cs typeface="Arial"/>
                </a:rPr>
                <a:t>bits</a:t>
              </a:r>
              <a:endParaRPr sz="1200">
                <a:latin typeface="Arial"/>
                <a:cs typeface="Arial"/>
              </a:endParaRPr>
            </a:p>
          </p:txBody>
        </p:sp>
        <p:sp>
          <p:nvSpPr>
            <p:cNvPr id="105" name="object 109"/>
            <p:cNvSpPr/>
            <p:nvPr/>
          </p:nvSpPr>
          <p:spPr>
            <a:xfrm>
              <a:off x="6810375" y="6219825"/>
              <a:ext cx="1485900" cy="514350"/>
            </a:xfrm>
            <a:custGeom>
              <a:avLst/>
              <a:gdLst/>
              <a:ahLst/>
              <a:cxnLst/>
              <a:rect l="l" t="t" r="r" b="b"/>
              <a:pathLst>
                <a:path w="1485900" h="514350">
                  <a:moveTo>
                    <a:pt x="0" y="514350"/>
                  </a:moveTo>
                  <a:lnTo>
                    <a:pt x="1485900" y="514350"/>
                  </a:lnTo>
                  <a:lnTo>
                    <a:pt x="1485900" y="0"/>
                  </a:lnTo>
                  <a:lnTo>
                    <a:pt x="0" y="0"/>
                  </a:lnTo>
                  <a:lnTo>
                    <a:pt x="0" y="514350"/>
                  </a:lnTo>
                  <a:close/>
                </a:path>
              </a:pathLst>
            </a:custGeom>
            <a:solidFill>
              <a:srgbClr val="B3B3B3"/>
            </a:solidFill>
          </p:spPr>
          <p:txBody>
            <a:bodyPr wrap="square" lIns="0" tIns="0" rIns="0" bIns="0" rtlCol="0">
              <a:noAutofit/>
            </a:bodyPr>
            <a:lstStyle/>
            <a:p>
              <a:endParaRPr/>
            </a:p>
          </p:txBody>
        </p:sp>
        <p:sp>
          <p:nvSpPr>
            <p:cNvPr id="106" name="object 110"/>
            <p:cNvSpPr/>
            <p:nvPr/>
          </p:nvSpPr>
          <p:spPr>
            <a:xfrm>
              <a:off x="6696075" y="6105525"/>
              <a:ext cx="1485900" cy="514350"/>
            </a:xfrm>
            <a:custGeom>
              <a:avLst/>
              <a:gdLst/>
              <a:ahLst/>
              <a:cxnLst/>
              <a:rect l="l" t="t" r="r" b="b"/>
              <a:pathLst>
                <a:path w="1485900" h="514350">
                  <a:moveTo>
                    <a:pt x="0" y="514350"/>
                  </a:moveTo>
                  <a:lnTo>
                    <a:pt x="1485900" y="514350"/>
                  </a:lnTo>
                  <a:lnTo>
                    <a:pt x="1485900" y="0"/>
                  </a:lnTo>
                  <a:lnTo>
                    <a:pt x="0" y="0"/>
                  </a:lnTo>
                  <a:lnTo>
                    <a:pt x="0" y="514350"/>
                  </a:lnTo>
                  <a:close/>
                </a:path>
              </a:pathLst>
            </a:custGeom>
            <a:solidFill>
              <a:srgbClr val="00FFFF"/>
            </a:solidFill>
          </p:spPr>
          <p:txBody>
            <a:bodyPr wrap="square" lIns="0" tIns="0" rIns="0" bIns="0" rtlCol="0">
              <a:noAutofit/>
            </a:bodyPr>
            <a:lstStyle/>
            <a:p>
              <a:endParaRPr/>
            </a:p>
          </p:txBody>
        </p:sp>
        <p:sp>
          <p:nvSpPr>
            <p:cNvPr id="107" name="object 111"/>
            <p:cNvSpPr/>
            <p:nvPr/>
          </p:nvSpPr>
          <p:spPr>
            <a:xfrm>
              <a:off x="6696075" y="6105525"/>
              <a:ext cx="1485900" cy="514350"/>
            </a:xfrm>
            <a:custGeom>
              <a:avLst/>
              <a:gdLst/>
              <a:ahLst/>
              <a:cxnLst/>
              <a:rect l="l" t="t" r="r" b="b"/>
              <a:pathLst>
                <a:path w="1485900" h="514350">
                  <a:moveTo>
                    <a:pt x="0" y="514350"/>
                  </a:moveTo>
                  <a:lnTo>
                    <a:pt x="1485900" y="514350"/>
                  </a:lnTo>
                  <a:lnTo>
                    <a:pt x="1485900" y="0"/>
                  </a:lnTo>
                  <a:lnTo>
                    <a:pt x="0" y="0"/>
                  </a:lnTo>
                  <a:lnTo>
                    <a:pt x="0" y="514350"/>
                  </a:lnTo>
                  <a:close/>
                </a:path>
              </a:pathLst>
            </a:custGeom>
            <a:ln w="9525">
              <a:solidFill>
                <a:srgbClr val="000000"/>
              </a:solidFill>
            </a:ln>
          </p:spPr>
          <p:txBody>
            <a:bodyPr wrap="square" lIns="0" tIns="0" rIns="0" bIns="0" rtlCol="0">
              <a:noAutofit/>
            </a:bodyPr>
            <a:lstStyle/>
            <a:p>
              <a:endParaRPr/>
            </a:p>
          </p:txBody>
        </p:sp>
        <p:sp>
          <p:nvSpPr>
            <p:cNvPr id="108" name="object 112"/>
            <p:cNvSpPr txBox="1"/>
            <p:nvPr/>
          </p:nvSpPr>
          <p:spPr>
            <a:xfrm>
              <a:off x="6816725" y="6162675"/>
              <a:ext cx="1254125" cy="194310"/>
            </a:xfrm>
            <a:prstGeom prst="rect">
              <a:avLst/>
            </a:prstGeom>
          </p:spPr>
          <p:txBody>
            <a:bodyPr vert="horz" wrap="square" lIns="0" tIns="0" rIns="0" bIns="0" rtlCol="0">
              <a:noAutofit/>
            </a:bodyPr>
            <a:lstStyle/>
            <a:p>
              <a:pPr marL="12700">
                <a:lnSpc>
                  <a:spcPct val="100000"/>
                </a:lnSpc>
              </a:pPr>
              <a:r>
                <a:rPr sz="1200" b="1" spc="-10" dirty="0">
                  <a:latin typeface="Arial"/>
                  <a:cs typeface="Arial"/>
                </a:rPr>
                <a:t>Carrie</a:t>
              </a:r>
              <a:r>
                <a:rPr sz="1200" b="1" spc="0" dirty="0">
                  <a:latin typeface="Arial"/>
                  <a:cs typeface="Arial"/>
                </a:rPr>
                <a:t>r</a:t>
              </a:r>
              <a:r>
                <a:rPr sz="1200" b="1" spc="35" dirty="0">
                  <a:latin typeface="Arial"/>
                  <a:cs typeface="Arial"/>
                </a:rPr>
                <a:t> </a:t>
              </a:r>
              <a:r>
                <a:rPr sz="1200" b="1" spc="0" dirty="0">
                  <a:latin typeface="Arial"/>
                  <a:cs typeface="Arial"/>
                </a:rPr>
                <a:t>&amp;</a:t>
              </a:r>
              <a:r>
                <a:rPr sz="1200" b="1" spc="35" dirty="0">
                  <a:latin typeface="Arial"/>
                  <a:cs typeface="Arial"/>
                </a:rPr>
                <a:t> </a:t>
              </a:r>
              <a:r>
                <a:rPr sz="1200" b="1" spc="-20" dirty="0">
                  <a:latin typeface="Arial"/>
                  <a:cs typeface="Arial"/>
                </a:rPr>
                <a:t>symbol</a:t>
              </a:r>
              <a:endParaRPr sz="1200">
                <a:latin typeface="Arial"/>
                <a:cs typeface="Arial"/>
              </a:endParaRPr>
            </a:p>
          </p:txBody>
        </p:sp>
        <p:sp>
          <p:nvSpPr>
            <p:cNvPr id="109" name="object 113"/>
            <p:cNvSpPr txBox="1"/>
            <p:nvPr/>
          </p:nvSpPr>
          <p:spPr>
            <a:xfrm>
              <a:off x="6845300" y="6343650"/>
              <a:ext cx="1196975" cy="194310"/>
            </a:xfrm>
            <a:prstGeom prst="rect">
              <a:avLst/>
            </a:prstGeom>
          </p:spPr>
          <p:txBody>
            <a:bodyPr vert="horz" wrap="square" lIns="0" tIns="0" rIns="0" bIns="0" rtlCol="0">
              <a:noAutofit/>
            </a:bodyPr>
            <a:lstStyle/>
            <a:p>
              <a:pPr marL="12700">
                <a:lnSpc>
                  <a:spcPct val="100000"/>
                </a:lnSpc>
              </a:pPr>
              <a:r>
                <a:rPr sz="1200" b="1" spc="-10" dirty="0">
                  <a:latin typeface="Arial"/>
                  <a:cs typeface="Arial"/>
                </a:rPr>
                <a:t>synchronization</a:t>
              </a:r>
              <a:endParaRPr sz="1200">
                <a:latin typeface="Arial"/>
                <a:cs typeface="Arial"/>
              </a:endParaRPr>
            </a:p>
          </p:txBody>
        </p:sp>
        <p:sp>
          <p:nvSpPr>
            <p:cNvPr id="110" name="object 114"/>
            <p:cNvSpPr/>
            <p:nvPr/>
          </p:nvSpPr>
          <p:spPr>
            <a:xfrm>
              <a:off x="8305800" y="5010150"/>
              <a:ext cx="733425" cy="1352550"/>
            </a:xfrm>
            <a:custGeom>
              <a:avLst/>
              <a:gdLst/>
              <a:ahLst/>
              <a:cxnLst/>
              <a:rect l="l" t="t" r="r" b="b"/>
              <a:pathLst>
                <a:path w="733425" h="1352550">
                  <a:moveTo>
                    <a:pt x="733425" y="0"/>
                  </a:moveTo>
                  <a:lnTo>
                    <a:pt x="733425" y="1352550"/>
                  </a:lnTo>
                  <a:lnTo>
                    <a:pt x="0" y="1352550"/>
                  </a:lnTo>
                </a:path>
              </a:pathLst>
            </a:custGeom>
            <a:ln w="19050">
              <a:solidFill>
                <a:srgbClr val="000000"/>
              </a:solidFill>
            </a:ln>
          </p:spPr>
          <p:txBody>
            <a:bodyPr wrap="square" lIns="0" tIns="0" rIns="0" bIns="0" rtlCol="0">
              <a:noAutofit/>
            </a:bodyPr>
            <a:lstStyle/>
            <a:p>
              <a:endParaRPr/>
            </a:p>
          </p:txBody>
        </p:sp>
        <p:sp>
          <p:nvSpPr>
            <p:cNvPr id="111" name="object 115"/>
            <p:cNvSpPr/>
            <p:nvPr/>
          </p:nvSpPr>
          <p:spPr>
            <a:xfrm>
              <a:off x="8181975" y="6315075"/>
              <a:ext cx="142875" cy="95250"/>
            </a:xfrm>
            <a:custGeom>
              <a:avLst/>
              <a:gdLst/>
              <a:ahLst/>
              <a:cxnLst/>
              <a:rect l="l" t="t" r="r" b="b"/>
              <a:pathLst>
                <a:path w="142875" h="95250">
                  <a:moveTo>
                    <a:pt x="142875" y="0"/>
                  </a:moveTo>
                  <a:lnTo>
                    <a:pt x="0" y="47625"/>
                  </a:lnTo>
                  <a:lnTo>
                    <a:pt x="142875" y="95250"/>
                  </a:lnTo>
                  <a:lnTo>
                    <a:pt x="142875" y="0"/>
                  </a:lnTo>
                  <a:close/>
                </a:path>
              </a:pathLst>
            </a:custGeom>
            <a:solidFill>
              <a:srgbClr val="000000"/>
            </a:solidFill>
          </p:spPr>
          <p:txBody>
            <a:bodyPr wrap="square" lIns="0" tIns="0" rIns="0" bIns="0" rtlCol="0">
              <a:noAutofit/>
            </a:bodyPr>
            <a:lstStyle/>
            <a:p>
              <a:endParaRPr/>
            </a:p>
          </p:txBody>
        </p:sp>
        <p:sp>
          <p:nvSpPr>
            <p:cNvPr id="112" name="object 116"/>
            <p:cNvSpPr/>
            <p:nvPr/>
          </p:nvSpPr>
          <p:spPr>
            <a:xfrm>
              <a:off x="4495800" y="5724525"/>
              <a:ext cx="0" cy="190500"/>
            </a:xfrm>
            <a:custGeom>
              <a:avLst/>
              <a:gdLst/>
              <a:ahLst/>
              <a:cxnLst/>
              <a:rect l="l" t="t" r="r" b="b"/>
              <a:pathLst>
                <a:path h="190500">
                  <a:moveTo>
                    <a:pt x="0" y="190500"/>
                  </a:moveTo>
                  <a:lnTo>
                    <a:pt x="0" y="0"/>
                  </a:lnTo>
                </a:path>
              </a:pathLst>
            </a:custGeom>
            <a:ln w="19050">
              <a:solidFill>
                <a:srgbClr val="000000"/>
              </a:solidFill>
            </a:ln>
          </p:spPr>
          <p:txBody>
            <a:bodyPr wrap="square" lIns="0" tIns="0" rIns="0" bIns="0" rtlCol="0">
              <a:noAutofit/>
            </a:bodyPr>
            <a:lstStyle/>
            <a:p>
              <a:endParaRPr/>
            </a:p>
          </p:txBody>
        </p:sp>
        <p:sp>
          <p:nvSpPr>
            <p:cNvPr id="113" name="object 117"/>
            <p:cNvSpPr/>
            <p:nvPr/>
          </p:nvSpPr>
          <p:spPr>
            <a:xfrm>
              <a:off x="4448175" y="5591175"/>
              <a:ext cx="95250" cy="142875"/>
            </a:xfrm>
            <a:custGeom>
              <a:avLst/>
              <a:gdLst/>
              <a:ahLst/>
              <a:cxnLst/>
              <a:rect l="l" t="t" r="r" b="b"/>
              <a:pathLst>
                <a:path w="95250" h="142875">
                  <a:moveTo>
                    <a:pt x="47625" y="0"/>
                  </a:moveTo>
                  <a:lnTo>
                    <a:pt x="0" y="142875"/>
                  </a:lnTo>
                  <a:lnTo>
                    <a:pt x="95250" y="142875"/>
                  </a:lnTo>
                  <a:lnTo>
                    <a:pt x="47625" y="0"/>
                  </a:lnTo>
                  <a:close/>
                </a:path>
              </a:pathLst>
            </a:custGeom>
            <a:solidFill>
              <a:srgbClr val="000000"/>
            </a:solidFill>
          </p:spPr>
          <p:txBody>
            <a:bodyPr wrap="square" lIns="0" tIns="0" rIns="0" bIns="0" rtlCol="0">
              <a:noAutofit/>
            </a:bodyPr>
            <a:lstStyle/>
            <a:p>
              <a:endParaRPr/>
            </a:p>
          </p:txBody>
        </p:sp>
        <p:sp>
          <p:nvSpPr>
            <p:cNvPr id="114" name="object 118"/>
            <p:cNvSpPr txBox="1"/>
            <p:nvPr/>
          </p:nvSpPr>
          <p:spPr>
            <a:xfrm>
              <a:off x="4168775" y="5962650"/>
              <a:ext cx="625475" cy="194310"/>
            </a:xfrm>
            <a:prstGeom prst="rect">
              <a:avLst/>
            </a:prstGeom>
          </p:spPr>
          <p:txBody>
            <a:bodyPr vert="horz" wrap="square" lIns="0" tIns="0" rIns="0" bIns="0" rtlCol="0">
              <a:noAutofit/>
            </a:bodyPr>
            <a:lstStyle/>
            <a:p>
              <a:pPr marL="12700">
                <a:lnSpc>
                  <a:spcPct val="100000"/>
                </a:lnSpc>
              </a:pPr>
              <a:r>
                <a:rPr sz="1200" b="1" spc="-15" dirty="0">
                  <a:latin typeface="Arial"/>
                  <a:cs typeface="Arial"/>
                </a:rPr>
                <a:t>Channel</a:t>
              </a:r>
              <a:endParaRPr sz="1200">
                <a:latin typeface="Arial"/>
                <a:cs typeface="Arial"/>
              </a:endParaRPr>
            </a:p>
          </p:txBody>
        </p:sp>
        <p:sp>
          <p:nvSpPr>
            <p:cNvPr id="115" name="object 119"/>
            <p:cNvSpPr txBox="1"/>
            <p:nvPr/>
          </p:nvSpPr>
          <p:spPr>
            <a:xfrm>
              <a:off x="4330700" y="6143625"/>
              <a:ext cx="311150" cy="194310"/>
            </a:xfrm>
            <a:prstGeom prst="rect">
              <a:avLst/>
            </a:prstGeom>
          </p:spPr>
          <p:txBody>
            <a:bodyPr vert="horz" wrap="square" lIns="0" tIns="0" rIns="0" bIns="0" rtlCol="0">
              <a:noAutofit/>
            </a:bodyPr>
            <a:lstStyle/>
            <a:p>
              <a:pPr marL="12700">
                <a:lnSpc>
                  <a:spcPct val="100000"/>
                </a:lnSpc>
              </a:pPr>
              <a:r>
                <a:rPr sz="1200" b="1" spc="15" dirty="0">
                  <a:latin typeface="Arial"/>
                  <a:cs typeface="Arial"/>
                </a:rPr>
                <a:t>bits</a:t>
              </a:r>
              <a:endParaRPr sz="1200">
                <a:latin typeface="Arial"/>
                <a:cs typeface="Arial"/>
              </a:endParaRPr>
            </a:p>
          </p:txBody>
        </p:sp>
        <p:sp>
          <p:nvSpPr>
            <p:cNvPr id="118" name="object 122"/>
            <p:cNvSpPr/>
            <p:nvPr/>
          </p:nvSpPr>
          <p:spPr>
            <a:xfrm>
              <a:off x="8124825" y="2400300"/>
              <a:ext cx="800100" cy="561975"/>
            </a:xfrm>
            <a:custGeom>
              <a:avLst/>
              <a:gdLst/>
              <a:ahLst/>
              <a:cxnLst/>
              <a:rect l="l" t="t" r="r" b="b"/>
              <a:pathLst>
                <a:path w="800100" h="561975">
                  <a:moveTo>
                    <a:pt x="0" y="561975"/>
                  </a:moveTo>
                  <a:lnTo>
                    <a:pt x="800100" y="561975"/>
                  </a:lnTo>
                  <a:lnTo>
                    <a:pt x="800100" y="0"/>
                  </a:lnTo>
                  <a:lnTo>
                    <a:pt x="0" y="0"/>
                  </a:lnTo>
                  <a:lnTo>
                    <a:pt x="0" y="561975"/>
                  </a:lnTo>
                  <a:close/>
                </a:path>
              </a:pathLst>
            </a:custGeom>
            <a:solidFill>
              <a:srgbClr val="B3B3B3"/>
            </a:solidFill>
          </p:spPr>
          <p:txBody>
            <a:bodyPr wrap="square" lIns="0" tIns="0" rIns="0" bIns="0" rtlCol="0">
              <a:noAutofit/>
            </a:bodyPr>
            <a:lstStyle/>
            <a:p>
              <a:endParaRPr/>
            </a:p>
          </p:txBody>
        </p:sp>
        <p:sp>
          <p:nvSpPr>
            <p:cNvPr id="119" name="object 123"/>
            <p:cNvSpPr/>
            <p:nvPr/>
          </p:nvSpPr>
          <p:spPr>
            <a:xfrm>
              <a:off x="8010525" y="2286000"/>
              <a:ext cx="800100" cy="571500"/>
            </a:xfrm>
            <a:custGeom>
              <a:avLst/>
              <a:gdLst/>
              <a:ahLst/>
              <a:cxnLst/>
              <a:rect l="l" t="t" r="r" b="b"/>
              <a:pathLst>
                <a:path w="800100" h="571500">
                  <a:moveTo>
                    <a:pt x="0" y="571500"/>
                  </a:moveTo>
                  <a:lnTo>
                    <a:pt x="800100" y="571500"/>
                  </a:lnTo>
                  <a:lnTo>
                    <a:pt x="800100" y="0"/>
                  </a:lnTo>
                  <a:lnTo>
                    <a:pt x="0" y="0"/>
                  </a:lnTo>
                  <a:lnTo>
                    <a:pt x="0" y="571500"/>
                  </a:lnTo>
                  <a:close/>
                </a:path>
              </a:pathLst>
            </a:custGeom>
            <a:solidFill>
              <a:srgbClr val="FFFFFF"/>
            </a:solidFill>
          </p:spPr>
          <p:txBody>
            <a:bodyPr wrap="square" lIns="0" tIns="0" rIns="0" bIns="0" rtlCol="0">
              <a:noAutofit/>
            </a:bodyPr>
            <a:lstStyle/>
            <a:p>
              <a:endParaRPr/>
            </a:p>
          </p:txBody>
        </p:sp>
        <p:sp>
          <p:nvSpPr>
            <p:cNvPr id="120" name="object 124"/>
            <p:cNvSpPr/>
            <p:nvPr/>
          </p:nvSpPr>
          <p:spPr>
            <a:xfrm>
              <a:off x="8010525" y="2286000"/>
              <a:ext cx="800100" cy="571500"/>
            </a:xfrm>
            <a:custGeom>
              <a:avLst/>
              <a:gdLst/>
              <a:ahLst/>
              <a:cxnLst/>
              <a:rect l="l" t="t" r="r" b="b"/>
              <a:pathLst>
                <a:path w="800100" h="571500">
                  <a:moveTo>
                    <a:pt x="0" y="571500"/>
                  </a:moveTo>
                  <a:lnTo>
                    <a:pt x="800100" y="571500"/>
                  </a:lnTo>
                  <a:lnTo>
                    <a:pt x="800100" y="0"/>
                  </a:lnTo>
                  <a:lnTo>
                    <a:pt x="0" y="0"/>
                  </a:lnTo>
                  <a:lnTo>
                    <a:pt x="0" y="571500"/>
                  </a:lnTo>
                  <a:close/>
                </a:path>
              </a:pathLst>
            </a:custGeom>
            <a:ln w="9525">
              <a:solidFill>
                <a:srgbClr val="000000"/>
              </a:solidFill>
            </a:ln>
          </p:spPr>
          <p:txBody>
            <a:bodyPr wrap="square" lIns="0" tIns="0" rIns="0" bIns="0" rtlCol="0">
              <a:noAutofit/>
            </a:bodyPr>
            <a:lstStyle/>
            <a:p>
              <a:endParaRPr/>
            </a:p>
          </p:txBody>
        </p:sp>
        <p:sp>
          <p:nvSpPr>
            <p:cNvPr id="121" name="object 125"/>
            <p:cNvSpPr txBox="1"/>
            <p:nvPr/>
          </p:nvSpPr>
          <p:spPr>
            <a:xfrm>
              <a:off x="8102600" y="2371725"/>
              <a:ext cx="587375" cy="194310"/>
            </a:xfrm>
            <a:prstGeom prst="rect">
              <a:avLst/>
            </a:prstGeom>
          </p:spPr>
          <p:txBody>
            <a:bodyPr vert="horz" wrap="square" lIns="0" tIns="0" rIns="0" bIns="0" rtlCol="0">
              <a:noAutofit/>
            </a:bodyPr>
            <a:lstStyle/>
            <a:p>
              <a:pPr marL="12700">
                <a:lnSpc>
                  <a:spcPct val="100000"/>
                </a:lnSpc>
              </a:pPr>
              <a:r>
                <a:rPr sz="1200" b="1" spc="-25" dirty="0">
                  <a:latin typeface="Arial"/>
                  <a:cs typeface="Arial"/>
                </a:rPr>
                <a:t>Multiple</a:t>
              </a:r>
              <a:endParaRPr sz="1200">
                <a:latin typeface="Arial"/>
                <a:cs typeface="Arial"/>
              </a:endParaRPr>
            </a:p>
          </p:txBody>
        </p:sp>
        <p:sp>
          <p:nvSpPr>
            <p:cNvPr id="122" name="object 126"/>
            <p:cNvSpPr txBox="1"/>
            <p:nvPr/>
          </p:nvSpPr>
          <p:spPr>
            <a:xfrm>
              <a:off x="8131175" y="2552700"/>
              <a:ext cx="559435" cy="194310"/>
            </a:xfrm>
            <a:prstGeom prst="rect">
              <a:avLst/>
            </a:prstGeom>
          </p:spPr>
          <p:txBody>
            <a:bodyPr vert="horz" wrap="square" lIns="0" tIns="0" rIns="0" bIns="0" rtlCol="0">
              <a:noAutofit/>
            </a:bodyPr>
            <a:lstStyle/>
            <a:p>
              <a:pPr marL="12700">
                <a:lnSpc>
                  <a:spcPct val="100000"/>
                </a:lnSpc>
              </a:pPr>
              <a:r>
                <a:rPr sz="1200" b="1" spc="-5" dirty="0">
                  <a:latin typeface="Arial"/>
                  <a:cs typeface="Arial"/>
                </a:rPr>
                <a:t>Access</a:t>
              </a:r>
              <a:endParaRPr sz="1200">
                <a:latin typeface="Arial"/>
                <a:cs typeface="Arial"/>
              </a:endParaRPr>
            </a:p>
          </p:txBody>
        </p:sp>
        <p:sp>
          <p:nvSpPr>
            <p:cNvPr id="123" name="object 127"/>
            <p:cNvSpPr/>
            <p:nvPr/>
          </p:nvSpPr>
          <p:spPr>
            <a:xfrm>
              <a:off x="8124825" y="3057525"/>
              <a:ext cx="723900" cy="828675"/>
            </a:xfrm>
            <a:custGeom>
              <a:avLst/>
              <a:gdLst/>
              <a:ahLst/>
              <a:cxnLst/>
              <a:rect l="l" t="t" r="r" b="b"/>
              <a:pathLst>
                <a:path w="723900" h="828675">
                  <a:moveTo>
                    <a:pt x="0" y="828675"/>
                  </a:moveTo>
                  <a:lnTo>
                    <a:pt x="723900" y="0"/>
                  </a:lnTo>
                </a:path>
              </a:pathLst>
            </a:custGeom>
            <a:ln w="9525">
              <a:solidFill>
                <a:srgbClr val="000000"/>
              </a:solidFill>
            </a:ln>
          </p:spPr>
          <p:txBody>
            <a:bodyPr wrap="square" lIns="0" tIns="0" rIns="0" bIns="0" rtlCol="0">
              <a:noAutofit/>
            </a:bodyPr>
            <a:lstStyle/>
            <a:p>
              <a:endParaRPr/>
            </a:p>
          </p:txBody>
        </p:sp>
        <p:sp>
          <p:nvSpPr>
            <p:cNvPr id="124" name="object 128"/>
            <p:cNvSpPr/>
            <p:nvPr/>
          </p:nvSpPr>
          <p:spPr>
            <a:xfrm>
              <a:off x="8810625" y="2971800"/>
              <a:ext cx="114300" cy="114300"/>
            </a:xfrm>
            <a:custGeom>
              <a:avLst/>
              <a:gdLst/>
              <a:ahLst/>
              <a:cxnLst/>
              <a:rect l="l" t="t" r="r" b="b"/>
              <a:pathLst>
                <a:path w="114300" h="114300">
                  <a:moveTo>
                    <a:pt x="114300" y="0"/>
                  </a:moveTo>
                  <a:lnTo>
                    <a:pt x="0" y="66675"/>
                  </a:lnTo>
                  <a:lnTo>
                    <a:pt x="57150" y="114300"/>
                  </a:lnTo>
                  <a:lnTo>
                    <a:pt x="114300" y="0"/>
                  </a:lnTo>
                  <a:close/>
                </a:path>
              </a:pathLst>
            </a:custGeom>
            <a:solidFill>
              <a:srgbClr val="000000"/>
            </a:solidFill>
          </p:spPr>
          <p:txBody>
            <a:bodyPr wrap="square" lIns="0" tIns="0" rIns="0" bIns="0" rtlCol="0">
              <a:noAutofit/>
            </a:bodyPr>
            <a:lstStyle/>
            <a:p>
              <a:endParaRPr/>
            </a:p>
          </p:txBody>
        </p:sp>
        <p:sp>
          <p:nvSpPr>
            <p:cNvPr id="125" name="object 129"/>
            <p:cNvSpPr/>
            <p:nvPr/>
          </p:nvSpPr>
          <p:spPr>
            <a:xfrm>
              <a:off x="8791575" y="3171825"/>
              <a:ext cx="485775" cy="457200"/>
            </a:xfrm>
            <a:custGeom>
              <a:avLst/>
              <a:gdLst/>
              <a:ahLst/>
              <a:cxnLst/>
              <a:rect l="l" t="t" r="r" b="b"/>
              <a:pathLst>
                <a:path w="485775" h="457200">
                  <a:moveTo>
                    <a:pt x="247650" y="0"/>
                  </a:moveTo>
                  <a:lnTo>
                    <a:pt x="0" y="457200"/>
                  </a:lnTo>
                  <a:lnTo>
                    <a:pt x="485775" y="457200"/>
                  </a:lnTo>
                  <a:lnTo>
                    <a:pt x="247650" y="0"/>
                  </a:lnTo>
                  <a:close/>
                </a:path>
              </a:pathLst>
            </a:custGeom>
            <a:solidFill>
              <a:srgbClr val="00FFFF"/>
            </a:solidFill>
          </p:spPr>
          <p:txBody>
            <a:bodyPr wrap="square" lIns="0" tIns="0" rIns="0" bIns="0" rtlCol="0">
              <a:noAutofit/>
            </a:bodyPr>
            <a:lstStyle/>
            <a:p>
              <a:endParaRPr/>
            </a:p>
          </p:txBody>
        </p:sp>
        <p:sp>
          <p:nvSpPr>
            <p:cNvPr id="126" name="object 130"/>
            <p:cNvSpPr/>
            <p:nvPr/>
          </p:nvSpPr>
          <p:spPr>
            <a:xfrm>
              <a:off x="8791575" y="3171825"/>
              <a:ext cx="485775" cy="457200"/>
            </a:xfrm>
            <a:custGeom>
              <a:avLst/>
              <a:gdLst/>
              <a:ahLst/>
              <a:cxnLst/>
              <a:rect l="l" t="t" r="r" b="b"/>
              <a:pathLst>
                <a:path w="485775" h="457200">
                  <a:moveTo>
                    <a:pt x="485775" y="457200"/>
                  </a:moveTo>
                  <a:lnTo>
                    <a:pt x="247650" y="0"/>
                  </a:lnTo>
                  <a:lnTo>
                    <a:pt x="0" y="457200"/>
                  </a:lnTo>
                  <a:lnTo>
                    <a:pt x="485775" y="457200"/>
                  </a:lnTo>
                  <a:close/>
                </a:path>
              </a:pathLst>
            </a:custGeom>
            <a:ln w="19050">
              <a:solidFill>
                <a:srgbClr val="000000"/>
              </a:solidFill>
            </a:ln>
          </p:spPr>
          <p:txBody>
            <a:bodyPr wrap="square" lIns="0" tIns="0" rIns="0" bIns="0" rtlCol="0">
              <a:noAutofit/>
            </a:bodyPr>
            <a:lstStyle/>
            <a:p>
              <a:endParaRPr/>
            </a:p>
          </p:txBody>
        </p:sp>
        <p:sp>
          <p:nvSpPr>
            <p:cNvPr id="127" name="object 131"/>
            <p:cNvSpPr/>
            <p:nvPr/>
          </p:nvSpPr>
          <p:spPr>
            <a:xfrm>
              <a:off x="8810625" y="2571750"/>
              <a:ext cx="228600" cy="466725"/>
            </a:xfrm>
            <a:custGeom>
              <a:avLst/>
              <a:gdLst/>
              <a:ahLst/>
              <a:cxnLst/>
              <a:rect l="l" t="t" r="r" b="b"/>
              <a:pathLst>
                <a:path w="228600" h="466725">
                  <a:moveTo>
                    <a:pt x="0" y="0"/>
                  </a:moveTo>
                  <a:lnTo>
                    <a:pt x="228600" y="0"/>
                  </a:lnTo>
                  <a:lnTo>
                    <a:pt x="228600" y="466725"/>
                  </a:lnTo>
                </a:path>
              </a:pathLst>
            </a:custGeom>
            <a:ln w="19050">
              <a:solidFill>
                <a:srgbClr val="000000"/>
              </a:solidFill>
            </a:ln>
          </p:spPr>
          <p:txBody>
            <a:bodyPr wrap="square" lIns="0" tIns="0" rIns="0" bIns="0" rtlCol="0">
              <a:noAutofit/>
            </a:bodyPr>
            <a:lstStyle/>
            <a:p>
              <a:endParaRPr/>
            </a:p>
          </p:txBody>
        </p:sp>
        <p:sp>
          <p:nvSpPr>
            <p:cNvPr id="128" name="object 132"/>
            <p:cNvSpPr/>
            <p:nvPr/>
          </p:nvSpPr>
          <p:spPr>
            <a:xfrm>
              <a:off x="8991600" y="3028950"/>
              <a:ext cx="95250" cy="142875"/>
            </a:xfrm>
            <a:custGeom>
              <a:avLst/>
              <a:gdLst/>
              <a:ahLst/>
              <a:cxnLst/>
              <a:rect l="l" t="t" r="r" b="b"/>
              <a:pathLst>
                <a:path w="95250" h="142875">
                  <a:moveTo>
                    <a:pt x="95250" y="0"/>
                  </a:moveTo>
                  <a:lnTo>
                    <a:pt x="0" y="0"/>
                  </a:lnTo>
                  <a:lnTo>
                    <a:pt x="47625" y="142875"/>
                  </a:lnTo>
                  <a:lnTo>
                    <a:pt x="95250" y="0"/>
                  </a:lnTo>
                  <a:close/>
                </a:path>
              </a:pathLst>
            </a:custGeom>
            <a:solidFill>
              <a:srgbClr val="000000"/>
            </a:solidFill>
          </p:spPr>
          <p:txBody>
            <a:bodyPr wrap="square" lIns="0" tIns="0" rIns="0" bIns="0" rtlCol="0">
              <a:noAutofit/>
            </a:bodyPr>
            <a:lstStyle/>
            <a:p>
              <a:endParaRPr/>
            </a:p>
          </p:txBody>
        </p:sp>
        <p:sp>
          <p:nvSpPr>
            <p:cNvPr id="129" name="object 133"/>
            <p:cNvSpPr/>
            <p:nvPr/>
          </p:nvSpPr>
          <p:spPr>
            <a:xfrm>
              <a:off x="8982075" y="3762375"/>
              <a:ext cx="104775" cy="647700"/>
            </a:xfrm>
            <a:custGeom>
              <a:avLst/>
              <a:gdLst/>
              <a:ahLst/>
              <a:cxnLst/>
              <a:rect l="l" t="t" r="r" b="b"/>
              <a:pathLst>
                <a:path w="104775" h="647700">
                  <a:moveTo>
                    <a:pt x="38100" y="0"/>
                  </a:moveTo>
                  <a:lnTo>
                    <a:pt x="0" y="381000"/>
                  </a:lnTo>
                  <a:lnTo>
                    <a:pt x="104775" y="257175"/>
                  </a:lnTo>
                  <a:lnTo>
                    <a:pt x="66675" y="647700"/>
                  </a:lnTo>
                </a:path>
              </a:pathLst>
            </a:custGeom>
            <a:ln w="19050">
              <a:solidFill>
                <a:srgbClr val="000000"/>
              </a:solidFill>
            </a:ln>
          </p:spPr>
          <p:txBody>
            <a:bodyPr wrap="square" lIns="0" tIns="0" rIns="0" bIns="0" rtlCol="0">
              <a:noAutofit/>
            </a:bodyPr>
            <a:lstStyle/>
            <a:p>
              <a:endParaRPr/>
            </a:p>
          </p:txBody>
        </p:sp>
        <p:sp>
          <p:nvSpPr>
            <p:cNvPr id="130" name="object 134"/>
            <p:cNvSpPr/>
            <p:nvPr/>
          </p:nvSpPr>
          <p:spPr>
            <a:xfrm>
              <a:off x="8982075" y="3657600"/>
              <a:ext cx="76200" cy="114300"/>
            </a:xfrm>
            <a:custGeom>
              <a:avLst/>
              <a:gdLst/>
              <a:ahLst/>
              <a:cxnLst/>
              <a:rect l="l" t="t" r="r" b="b"/>
              <a:pathLst>
                <a:path w="76200" h="114300">
                  <a:moveTo>
                    <a:pt x="57150" y="0"/>
                  </a:moveTo>
                  <a:lnTo>
                    <a:pt x="0" y="104775"/>
                  </a:lnTo>
                  <a:lnTo>
                    <a:pt x="76200" y="114300"/>
                  </a:lnTo>
                  <a:lnTo>
                    <a:pt x="57150" y="0"/>
                  </a:lnTo>
                  <a:close/>
                </a:path>
              </a:pathLst>
            </a:custGeom>
            <a:solidFill>
              <a:srgbClr val="000000"/>
            </a:solidFill>
          </p:spPr>
          <p:txBody>
            <a:bodyPr wrap="square" lIns="0" tIns="0" rIns="0" bIns="0" rtlCol="0">
              <a:noAutofit/>
            </a:bodyPr>
            <a:lstStyle/>
            <a:p>
              <a:endParaRPr/>
            </a:p>
          </p:txBody>
        </p:sp>
        <p:sp>
          <p:nvSpPr>
            <p:cNvPr id="131" name="object 135"/>
            <p:cNvSpPr/>
            <p:nvPr/>
          </p:nvSpPr>
          <p:spPr>
            <a:xfrm>
              <a:off x="9010650" y="4400550"/>
              <a:ext cx="76200" cy="114300"/>
            </a:xfrm>
            <a:custGeom>
              <a:avLst/>
              <a:gdLst/>
              <a:ahLst/>
              <a:cxnLst/>
              <a:rect l="l" t="t" r="r" b="b"/>
              <a:pathLst>
                <a:path w="76200" h="114300">
                  <a:moveTo>
                    <a:pt x="0" y="0"/>
                  </a:moveTo>
                  <a:lnTo>
                    <a:pt x="28575" y="114300"/>
                  </a:lnTo>
                  <a:lnTo>
                    <a:pt x="76200" y="9525"/>
                  </a:lnTo>
                  <a:lnTo>
                    <a:pt x="0" y="0"/>
                  </a:lnTo>
                  <a:close/>
                </a:path>
              </a:pathLst>
            </a:custGeom>
            <a:solidFill>
              <a:srgbClr val="000000"/>
            </a:solidFill>
          </p:spPr>
          <p:txBody>
            <a:bodyPr wrap="square" lIns="0" tIns="0" rIns="0" bIns="0" rtlCol="0">
              <a:noAutofit/>
            </a:bodyPr>
            <a:lstStyle/>
            <a:p>
              <a:endParaRPr/>
            </a:p>
          </p:txBody>
        </p:sp>
        <p:sp>
          <p:nvSpPr>
            <p:cNvPr id="132" name="object 136"/>
            <p:cNvSpPr/>
            <p:nvPr/>
          </p:nvSpPr>
          <p:spPr>
            <a:xfrm>
              <a:off x="8124825" y="4343400"/>
              <a:ext cx="723900" cy="771525"/>
            </a:xfrm>
            <a:custGeom>
              <a:avLst/>
              <a:gdLst/>
              <a:ahLst/>
              <a:cxnLst/>
              <a:rect l="l" t="t" r="r" b="b"/>
              <a:pathLst>
                <a:path w="723900" h="771525">
                  <a:moveTo>
                    <a:pt x="0" y="0"/>
                  </a:moveTo>
                  <a:lnTo>
                    <a:pt x="723900" y="771525"/>
                  </a:lnTo>
                </a:path>
              </a:pathLst>
            </a:custGeom>
            <a:ln w="9525">
              <a:solidFill>
                <a:srgbClr val="000000"/>
              </a:solidFill>
            </a:ln>
          </p:spPr>
          <p:txBody>
            <a:bodyPr wrap="square" lIns="0" tIns="0" rIns="0" bIns="0" rtlCol="0">
              <a:noAutofit/>
            </a:bodyPr>
            <a:lstStyle/>
            <a:p>
              <a:endParaRPr/>
            </a:p>
          </p:txBody>
        </p:sp>
        <p:sp>
          <p:nvSpPr>
            <p:cNvPr id="133" name="object 137"/>
            <p:cNvSpPr/>
            <p:nvPr/>
          </p:nvSpPr>
          <p:spPr>
            <a:xfrm>
              <a:off x="8810625" y="5076825"/>
              <a:ext cx="114300" cy="114300"/>
            </a:xfrm>
            <a:custGeom>
              <a:avLst/>
              <a:gdLst/>
              <a:ahLst/>
              <a:cxnLst/>
              <a:rect l="l" t="t" r="r" b="b"/>
              <a:pathLst>
                <a:path w="114300" h="114300">
                  <a:moveTo>
                    <a:pt x="57150" y="0"/>
                  </a:moveTo>
                  <a:lnTo>
                    <a:pt x="0" y="57150"/>
                  </a:lnTo>
                  <a:lnTo>
                    <a:pt x="114300" y="114300"/>
                  </a:lnTo>
                  <a:lnTo>
                    <a:pt x="57150" y="0"/>
                  </a:lnTo>
                  <a:close/>
                </a:path>
              </a:pathLst>
            </a:custGeom>
            <a:solidFill>
              <a:srgbClr val="000000"/>
            </a:solidFill>
          </p:spPr>
          <p:txBody>
            <a:bodyPr wrap="square" lIns="0" tIns="0" rIns="0" bIns="0" rtlCol="0">
              <a:noAutofit/>
            </a:bodyPr>
            <a:lstStyle/>
            <a:p>
              <a:endParaRPr/>
            </a:p>
          </p:txBody>
        </p:sp>
        <p:sp>
          <p:nvSpPr>
            <p:cNvPr id="134" name="object 138"/>
            <p:cNvSpPr txBox="1"/>
            <p:nvPr/>
          </p:nvSpPr>
          <p:spPr>
            <a:xfrm>
              <a:off x="7531100" y="3952875"/>
              <a:ext cx="845185" cy="194310"/>
            </a:xfrm>
            <a:prstGeom prst="rect">
              <a:avLst/>
            </a:prstGeom>
          </p:spPr>
          <p:txBody>
            <a:bodyPr vert="horz" wrap="square" lIns="0" tIns="0" rIns="0" bIns="0" rtlCol="0">
              <a:noAutofit/>
            </a:bodyPr>
            <a:lstStyle/>
            <a:p>
              <a:pPr marL="12700">
                <a:lnSpc>
                  <a:spcPct val="100000"/>
                </a:lnSpc>
              </a:pPr>
              <a:r>
                <a:rPr sz="1200" b="1" spc="-5" dirty="0">
                  <a:latin typeface="Arial"/>
                  <a:cs typeface="Arial"/>
                </a:rPr>
                <a:t>Waveforms</a:t>
              </a:r>
              <a:endParaRPr sz="1200">
                <a:latin typeface="Arial"/>
                <a:cs typeface="Arial"/>
              </a:endParaRPr>
            </a:p>
          </p:txBody>
        </p:sp>
        <p:sp>
          <p:nvSpPr>
            <p:cNvPr id="135" name="object 139"/>
            <p:cNvSpPr/>
            <p:nvPr/>
          </p:nvSpPr>
          <p:spPr>
            <a:xfrm>
              <a:off x="8791575" y="4581525"/>
              <a:ext cx="485775" cy="428625"/>
            </a:xfrm>
            <a:custGeom>
              <a:avLst/>
              <a:gdLst/>
              <a:ahLst/>
              <a:cxnLst/>
              <a:rect l="l" t="t" r="r" b="b"/>
              <a:pathLst>
                <a:path w="485775" h="428625">
                  <a:moveTo>
                    <a:pt x="485775" y="0"/>
                  </a:moveTo>
                  <a:lnTo>
                    <a:pt x="0" y="0"/>
                  </a:lnTo>
                  <a:lnTo>
                    <a:pt x="247650" y="428625"/>
                  </a:lnTo>
                  <a:lnTo>
                    <a:pt x="485775" y="0"/>
                  </a:lnTo>
                  <a:close/>
                </a:path>
              </a:pathLst>
            </a:custGeom>
            <a:solidFill>
              <a:srgbClr val="00FFFF"/>
            </a:solidFill>
          </p:spPr>
          <p:txBody>
            <a:bodyPr wrap="square" lIns="0" tIns="0" rIns="0" bIns="0" rtlCol="0">
              <a:noAutofit/>
            </a:bodyPr>
            <a:lstStyle/>
            <a:p>
              <a:endParaRPr/>
            </a:p>
          </p:txBody>
        </p:sp>
        <p:sp>
          <p:nvSpPr>
            <p:cNvPr id="136" name="object 140"/>
            <p:cNvSpPr/>
            <p:nvPr/>
          </p:nvSpPr>
          <p:spPr>
            <a:xfrm>
              <a:off x="8791575" y="4581525"/>
              <a:ext cx="485775" cy="428625"/>
            </a:xfrm>
            <a:custGeom>
              <a:avLst/>
              <a:gdLst/>
              <a:ahLst/>
              <a:cxnLst/>
              <a:rect l="l" t="t" r="r" b="b"/>
              <a:pathLst>
                <a:path w="485775" h="428625">
                  <a:moveTo>
                    <a:pt x="485775" y="0"/>
                  </a:moveTo>
                  <a:lnTo>
                    <a:pt x="247650" y="428625"/>
                  </a:lnTo>
                  <a:lnTo>
                    <a:pt x="0" y="0"/>
                  </a:lnTo>
                  <a:lnTo>
                    <a:pt x="485775" y="0"/>
                  </a:lnTo>
                  <a:close/>
                </a:path>
              </a:pathLst>
            </a:custGeom>
            <a:ln w="19050">
              <a:solidFill>
                <a:srgbClr val="000000"/>
              </a:solidFill>
            </a:ln>
          </p:spPr>
          <p:txBody>
            <a:bodyPr wrap="square" lIns="0" tIns="0" rIns="0" bIns="0" rtlCol="0">
              <a:noAutofit/>
            </a:bodyPr>
            <a:lstStyle/>
            <a:p>
              <a:endParaRPr/>
            </a:p>
          </p:txBody>
        </p:sp>
        <p:sp>
          <p:nvSpPr>
            <p:cNvPr id="137" name="object 141"/>
            <p:cNvSpPr/>
            <p:nvPr/>
          </p:nvSpPr>
          <p:spPr>
            <a:xfrm>
              <a:off x="7677150" y="2571750"/>
              <a:ext cx="200025" cy="0"/>
            </a:xfrm>
            <a:custGeom>
              <a:avLst/>
              <a:gdLst/>
              <a:ahLst/>
              <a:cxnLst/>
              <a:rect l="l" t="t" r="r" b="b"/>
              <a:pathLst>
                <a:path w="200025">
                  <a:moveTo>
                    <a:pt x="0" y="0"/>
                  </a:moveTo>
                  <a:lnTo>
                    <a:pt x="171450" y="0"/>
                  </a:lnTo>
                  <a:lnTo>
                    <a:pt x="200025" y="0"/>
                  </a:lnTo>
                </a:path>
              </a:pathLst>
            </a:custGeom>
            <a:ln w="19050">
              <a:solidFill>
                <a:srgbClr val="000000"/>
              </a:solidFill>
            </a:ln>
          </p:spPr>
          <p:txBody>
            <a:bodyPr wrap="square" lIns="0" tIns="0" rIns="0" bIns="0" rtlCol="0">
              <a:noAutofit/>
            </a:bodyPr>
            <a:lstStyle/>
            <a:p>
              <a:endParaRPr/>
            </a:p>
          </p:txBody>
        </p:sp>
        <p:sp>
          <p:nvSpPr>
            <p:cNvPr id="138" name="object 142"/>
            <p:cNvSpPr/>
            <p:nvPr/>
          </p:nvSpPr>
          <p:spPr>
            <a:xfrm>
              <a:off x="7867650" y="2524125"/>
              <a:ext cx="142875" cy="95250"/>
            </a:xfrm>
            <a:custGeom>
              <a:avLst/>
              <a:gdLst/>
              <a:ahLst/>
              <a:cxnLst/>
              <a:rect l="l" t="t" r="r" b="b"/>
              <a:pathLst>
                <a:path w="142875" h="95250">
                  <a:moveTo>
                    <a:pt x="0" y="0"/>
                  </a:moveTo>
                  <a:lnTo>
                    <a:pt x="0" y="95250"/>
                  </a:lnTo>
                  <a:lnTo>
                    <a:pt x="142875" y="47625"/>
                  </a:lnTo>
                  <a:lnTo>
                    <a:pt x="0" y="0"/>
                  </a:lnTo>
                  <a:close/>
                </a:path>
              </a:pathLst>
            </a:custGeom>
            <a:solidFill>
              <a:srgbClr val="000000"/>
            </a:solidFill>
          </p:spPr>
          <p:txBody>
            <a:bodyPr wrap="square" lIns="0" tIns="0" rIns="0" bIns="0" rtlCol="0">
              <a:noAutofit/>
            </a:bodyPr>
            <a:lstStyle/>
            <a:p>
              <a:endParaRPr/>
            </a:p>
          </p:txBody>
        </p:sp>
        <p:sp>
          <p:nvSpPr>
            <p:cNvPr id="139" name="object 143"/>
            <p:cNvSpPr/>
            <p:nvPr/>
          </p:nvSpPr>
          <p:spPr>
            <a:xfrm>
              <a:off x="7896225" y="2809875"/>
              <a:ext cx="0" cy="1076325"/>
            </a:xfrm>
            <a:custGeom>
              <a:avLst/>
              <a:gdLst/>
              <a:ahLst/>
              <a:cxnLst/>
              <a:rect l="l" t="t" r="r" b="b"/>
              <a:pathLst>
                <a:path h="1076325">
                  <a:moveTo>
                    <a:pt x="0" y="1076325"/>
                  </a:moveTo>
                  <a:lnTo>
                    <a:pt x="0" y="0"/>
                  </a:lnTo>
                </a:path>
              </a:pathLst>
            </a:custGeom>
            <a:ln w="9525">
              <a:solidFill>
                <a:srgbClr val="000000"/>
              </a:solidFill>
            </a:ln>
          </p:spPr>
          <p:txBody>
            <a:bodyPr wrap="square" lIns="0" tIns="0" rIns="0" bIns="0" rtlCol="0">
              <a:noAutofit/>
            </a:bodyPr>
            <a:lstStyle/>
            <a:p>
              <a:endParaRPr/>
            </a:p>
          </p:txBody>
        </p:sp>
        <p:sp>
          <p:nvSpPr>
            <p:cNvPr id="140" name="object 144"/>
            <p:cNvSpPr/>
            <p:nvPr/>
          </p:nvSpPr>
          <p:spPr>
            <a:xfrm>
              <a:off x="7848600" y="2695575"/>
              <a:ext cx="85725" cy="123825"/>
            </a:xfrm>
            <a:custGeom>
              <a:avLst/>
              <a:gdLst/>
              <a:ahLst/>
              <a:cxnLst/>
              <a:rect l="l" t="t" r="r" b="b"/>
              <a:pathLst>
                <a:path w="85725" h="123825">
                  <a:moveTo>
                    <a:pt x="47625" y="0"/>
                  </a:moveTo>
                  <a:lnTo>
                    <a:pt x="0" y="123825"/>
                  </a:lnTo>
                  <a:lnTo>
                    <a:pt x="85725" y="123825"/>
                  </a:lnTo>
                  <a:lnTo>
                    <a:pt x="47625" y="0"/>
                  </a:lnTo>
                  <a:close/>
                </a:path>
              </a:pathLst>
            </a:custGeom>
            <a:solidFill>
              <a:srgbClr val="000000"/>
            </a:solidFill>
          </p:spPr>
          <p:txBody>
            <a:bodyPr wrap="square" lIns="0" tIns="0" rIns="0" bIns="0" rtlCol="0">
              <a:noAutofit/>
            </a:bodyPr>
            <a:lstStyle/>
            <a:p>
              <a:endParaRPr/>
            </a:p>
          </p:txBody>
        </p:sp>
        <p:sp>
          <p:nvSpPr>
            <p:cNvPr id="141" name="object 145"/>
            <p:cNvSpPr/>
            <p:nvPr/>
          </p:nvSpPr>
          <p:spPr>
            <a:xfrm>
              <a:off x="7953375" y="4343400"/>
              <a:ext cx="0" cy="781050"/>
            </a:xfrm>
            <a:custGeom>
              <a:avLst/>
              <a:gdLst/>
              <a:ahLst/>
              <a:cxnLst/>
              <a:rect l="l" t="t" r="r" b="b"/>
              <a:pathLst>
                <a:path h="781050">
                  <a:moveTo>
                    <a:pt x="0" y="0"/>
                  </a:moveTo>
                  <a:lnTo>
                    <a:pt x="0" y="781050"/>
                  </a:lnTo>
                </a:path>
              </a:pathLst>
            </a:custGeom>
            <a:ln w="9525">
              <a:solidFill>
                <a:srgbClr val="000000"/>
              </a:solidFill>
            </a:ln>
          </p:spPr>
          <p:txBody>
            <a:bodyPr wrap="square" lIns="0" tIns="0" rIns="0" bIns="0" rtlCol="0">
              <a:noAutofit/>
            </a:bodyPr>
            <a:lstStyle/>
            <a:p>
              <a:endParaRPr/>
            </a:p>
          </p:txBody>
        </p:sp>
        <p:sp>
          <p:nvSpPr>
            <p:cNvPr id="142" name="object 146"/>
            <p:cNvSpPr/>
            <p:nvPr/>
          </p:nvSpPr>
          <p:spPr>
            <a:xfrm>
              <a:off x="7905750" y="5114925"/>
              <a:ext cx="85725" cy="123825"/>
            </a:xfrm>
            <a:custGeom>
              <a:avLst/>
              <a:gdLst/>
              <a:ahLst/>
              <a:cxnLst/>
              <a:rect l="l" t="t" r="r" b="b"/>
              <a:pathLst>
                <a:path w="85725" h="123825">
                  <a:moveTo>
                    <a:pt x="85725" y="0"/>
                  </a:moveTo>
                  <a:lnTo>
                    <a:pt x="0" y="0"/>
                  </a:lnTo>
                  <a:lnTo>
                    <a:pt x="47625" y="123825"/>
                  </a:lnTo>
                  <a:lnTo>
                    <a:pt x="85725" y="0"/>
                  </a:lnTo>
                  <a:close/>
                </a:path>
              </a:pathLst>
            </a:custGeom>
            <a:solidFill>
              <a:srgbClr val="000000"/>
            </a:solidFill>
          </p:spPr>
          <p:txBody>
            <a:bodyPr wrap="square" lIns="0" tIns="0" rIns="0" bIns="0" rtlCol="0">
              <a:noAutofit/>
            </a:bodyPr>
            <a:lstStyle/>
            <a:p>
              <a:endParaRPr/>
            </a:p>
          </p:txBody>
        </p:sp>
        <p:sp>
          <p:nvSpPr>
            <p:cNvPr id="143" name="object 147"/>
            <p:cNvSpPr/>
            <p:nvPr/>
          </p:nvSpPr>
          <p:spPr>
            <a:xfrm>
              <a:off x="7962900" y="5419725"/>
              <a:ext cx="142875" cy="0"/>
            </a:xfrm>
            <a:custGeom>
              <a:avLst/>
              <a:gdLst/>
              <a:ahLst/>
              <a:cxnLst/>
              <a:rect l="l" t="t" r="r" b="b"/>
              <a:pathLst>
                <a:path w="142875">
                  <a:moveTo>
                    <a:pt x="142875" y="0"/>
                  </a:moveTo>
                  <a:lnTo>
                    <a:pt x="0" y="0"/>
                  </a:lnTo>
                </a:path>
              </a:pathLst>
            </a:custGeom>
            <a:ln w="19050">
              <a:solidFill>
                <a:srgbClr val="000000"/>
              </a:solidFill>
            </a:ln>
          </p:spPr>
          <p:txBody>
            <a:bodyPr wrap="square" lIns="0" tIns="0" rIns="0" bIns="0" rtlCol="0">
              <a:noAutofit/>
            </a:bodyPr>
            <a:lstStyle/>
            <a:p>
              <a:endParaRPr/>
            </a:p>
          </p:txBody>
        </p:sp>
        <p:sp>
          <p:nvSpPr>
            <p:cNvPr id="144" name="object 148"/>
            <p:cNvSpPr/>
            <p:nvPr/>
          </p:nvSpPr>
          <p:spPr>
            <a:xfrm>
              <a:off x="7839075" y="5372100"/>
              <a:ext cx="133350" cy="95250"/>
            </a:xfrm>
            <a:custGeom>
              <a:avLst/>
              <a:gdLst/>
              <a:ahLst/>
              <a:cxnLst/>
              <a:rect l="l" t="t" r="r" b="b"/>
              <a:pathLst>
                <a:path w="133350" h="95250">
                  <a:moveTo>
                    <a:pt x="133350" y="0"/>
                  </a:moveTo>
                  <a:lnTo>
                    <a:pt x="0" y="47625"/>
                  </a:lnTo>
                  <a:lnTo>
                    <a:pt x="133350" y="95250"/>
                  </a:lnTo>
                  <a:lnTo>
                    <a:pt x="133350" y="0"/>
                  </a:lnTo>
                  <a:close/>
                </a:path>
              </a:pathLst>
            </a:custGeom>
            <a:solidFill>
              <a:srgbClr val="000000"/>
            </a:solidFill>
          </p:spPr>
          <p:txBody>
            <a:bodyPr wrap="square" lIns="0" tIns="0" rIns="0" bIns="0" rtlCol="0">
              <a:noAutofit/>
            </a:bodyPr>
            <a:lstStyle/>
            <a:p>
              <a:endParaRPr/>
            </a:p>
          </p:txBody>
        </p:sp>
        <p:sp>
          <p:nvSpPr>
            <p:cNvPr id="145" name="object 149"/>
            <p:cNvSpPr/>
            <p:nvPr/>
          </p:nvSpPr>
          <p:spPr>
            <a:xfrm>
              <a:off x="8220075" y="5248275"/>
              <a:ext cx="714375" cy="571500"/>
            </a:xfrm>
            <a:custGeom>
              <a:avLst/>
              <a:gdLst/>
              <a:ahLst/>
              <a:cxnLst/>
              <a:rect l="l" t="t" r="r" b="b"/>
              <a:pathLst>
                <a:path w="714375" h="571500">
                  <a:moveTo>
                    <a:pt x="0" y="571500"/>
                  </a:moveTo>
                  <a:lnTo>
                    <a:pt x="714375" y="571500"/>
                  </a:lnTo>
                  <a:lnTo>
                    <a:pt x="714375" y="0"/>
                  </a:lnTo>
                  <a:lnTo>
                    <a:pt x="0" y="0"/>
                  </a:lnTo>
                  <a:lnTo>
                    <a:pt x="0" y="571500"/>
                  </a:lnTo>
                  <a:close/>
                </a:path>
              </a:pathLst>
            </a:custGeom>
            <a:solidFill>
              <a:srgbClr val="B3B3B3"/>
            </a:solidFill>
          </p:spPr>
          <p:txBody>
            <a:bodyPr wrap="square" lIns="0" tIns="0" rIns="0" bIns="0" rtlCol="0">
              <a:noAutofit/>
            </a:bodyPr>
            <a:lstStyle/>
            <a:p>
              <a:endParaRPr/>
            </a:p>
          </p:txBody>
        </p:sp>
        <p:sp>
          <p:nvSpPr>
            <p:cNvPr id="146" name="object 150"/>
            <p:cNvSpPr/>
            <p:nvPr/>
          </p:nvSpPr>
          <p:spPr>
            <a:xfrm>
              <a:off x="8105775" y="5133975"/>
              <a:ext cx="714375" cy="571500"/>
            </a:xfrm>
            <a:custGeom>
              <a:avLst/>
              <a:gdLst/>
              <a:ahLst/>
              <a:cxnLst/>
              <a:rect l="l" t="t" r="r" b="b"/>
              <a:pathLst>
                <a:path w="714375" h="571500">
                  <a:moveTo>
                    <a:pt x="0" y="571500"/>
                  </a:moveTo>
                  <a:lnTo>
                    <a:pt x="714375" y="571500"/>
                  </a:lnTo>
                  <a:lnTo>
                    <a:pt x="714375" y="0"/>
                  </a:lnTo>
                  <a:lnTo>
                    <a:pt x="0" y="0"/>
                  </a:lnTo>
                  <a:lnTo>
                    <a:pt x="0" y="571500"/>
                  </a:lnTo>
                  <a:close/>
                </a:path>
              </a:pathLst>
            </a:custGeom>
            <a:solidFill>
              <a:srgbClr val="FFFFFF"/>
            </a:solidFill>
          </p:spPr>
          <p:txBody>
            <a:bodyPr wrap="square" lIns="0" tIns="0" rIns="0" bIns="0" rtlCol="0">
              <a:noAutofit/>
            </a:bodyPr>
            <a:lstStyle/>
            <a:p>
              <a:endParaRPr/>
            </a:p>
          </p:txBody>
        </p:sp>
        <p:sp>
          <p:nvSpPr>
            <p:cNvPr id="147" name="object 151"/>
            <p:cNvSpPr/>
            <p:nvPr/>
          </p:nvSpPr>
          <p:spPr>
            <a:xfrm>
              <a:off x="8105775" y="5133975"/>
              <a:ext cx="714375" cy="571500"/>
            </a:xfrm>
            <a:custGeom>
              <a:avLst/>
              <a:gdLst/>
              <a:ahLst/>
              <a:cxnLst/>
              <a:rect l="l" t="t" r="r" b="b"/>
              <a:pathLst>
                <a:path w="714375" h="571500">
                  <a:moveTo>
                    <a:pt x="0" y="571500"/>
                  </a:moveTo>
                  <a:lnTo>
                    <a:pt x="714375" y="571500"/>
                  </a:lnTo>
                  <a:lnTo>
                    <a:pt x="714375" y="0"/>
                  </a:lnTo>
                  <a:lnTo>
                    <a:pt x="0" y="0"/>
                  </a:lnTo>
                  <a:lnTo>
                    <a:pt x="0" y="571500"/>
                  </a:lnTo>
                  <a:close/>
                </a:path>
              </a:pathLst>
            </a:custGeom>
            <a:ln w="9525">
              <a:solidFill>
                <a:srgbClr val="000000"/>
              </a:solidFill>
            </a:ln>
          </p:spPr>
          <p:txBody>
            <a:bodyPr wrap="square" lIns="0" tIns="0" rIns="0" bIns="0" rtlCol="0">
              <a:noAutofit/>
            </a:bodyPr>
            <a:lstStyle/>
            <a:p>
              <a:endParaRPr/>
            </a:p>
          </p:txBody>
        </p:sp>
        <p:sp>
          <p:nvSpPr>
            <p:cNvPr id="148" name="object 152"/>
            <p:cNvSpPr txBox="1"/>
            <p:nvPr/>
          </p:nvSpPr>
          <p:spPr>
            <a:xfrm>
              <a:off x="8169275" y="5219700"/>
              <a:ext cx="587375" cy="194310"/>
            </a:xfrm>
            <a:prstGeom prst="rect">
              <a:avLst/>
            </a:prstGeom>
          </p:spPr>
          <p:txBody>
            <a:bodyPr vert="horz" wrap="square" lIns="0" tIns="0" rIns="0" bIns="0" rtlCol="0">
              <a:noAutofit/>
            </a:bodyPr>
            <a:lstStyle/>
            <a:p>
              <a:pPr marL="12700">
                <a:lnSpc>
                  <a:spcPct val="100000"/>
                </a:lnSpc>
              </a:pPr>
              <a:r>
                <a:rPr sz="1200" b="1" spc="-25" dirty="0">
                  <a:latin typeface="Arial"/>
                  <a:cs typeface="Arial"/>
                </a:rPr>
                <a:t>Multiple</a:t>
              </a:r>
              <a:endParaRPr sz="1200">
                <a:latin typeface="Arial"/>
                <a:cs typeface="Arial"/>
              </a:endParaRPr>
            </a:p>
          </p:txBody>
        </p:sp>
        <p:sp>
          <p:nvSpPr>
            <p:cNvPr id="149" name="object 153"/>
            <p:cNvSpPr txBox="1"/>
            <p:nvPr/>
          </p:nvSpPr>
          <p:spPr>
            <a:xfrm>
              <a:off x="8188325" y="5410200"/>
              <a:ext cx="559435" cy="194310"/>
            </a:xfrm>
            <a:prstGeom prst="rect">
              <a:avLst/>
            </a:prstGeom>
          </p:spPr>
          <p:txBody>
            <a:bodyPr vert="horz" wrap="square" lIns="0" tIns="0" rIns="0" bIns="0" rtlCol="0">
              <a:noAutofit/>
            </a:bodyPr>
            <a:lstStyle/>
            <a:p>
              <a:pPr marL="12700">
                <a:lnSpc>
                  <a:spcPct val="100000"/>
                </a:lnSpc>
              </a:pPr>
              <a:r>
                <a:rPr sz="1200" b="1" spc="-5" dirty="0">
                  <a:latin typeface="Arial"/>
                  <a:cs typeface="Arial"/>
                </a:rPr>
                <a:t>Access</a:t>
              </a:r>
              <a:endParaRPr sz="1200">
                <a:latin typeface="Arial"/>
                <a:cs typeface="Arial"/>
              </a:endParaRPr>
            </a:p>
          </p:txBody>
        </p:sp>
        <p:sp>
          <p:nvSpPr>
            <p:cNvPr id="150" name="object 154"/>
            <p:cNvSpPr/>
            <p:nvPr/>
          </p:nvSpPr>
          <p:spPr>
            <a:xfrm>
              <a:off x="8953500" y="5010150"/>
              <a:ext cx="85725" cy="409575"/>
            </a:xfrm>
            <a:custGeom>
              <a:avLst/>
              <a:gdLst/>
              <a:ahLst/>
              <a:cxnLst/>
              <a:rect l="l" t="t" r="r" b="b"/>
              <a:pathLst>
                <a:path w="85725" h="409575">
                  <a:moveTo>
                    <a:pt x="85725" y="0"/>
                  </a:moveTo>
                  <a:lnTo>
                    <a:pt x="85725" y="409575"/>
                  </a:lnTo>
                  <a:lnTo>
                    <a:pt x="0" y="409575"/>
                  </a:lnTo>
                </a:path>
              </a:pathLst>
            </a:custGeom>
            <a:ln w="19050">
              <a:solidFill>
                <a:srgbClr val="000000"/>
              </a:solidFill>
            </a:ln>
          </p:spPr>
          <p:txBody>
            <a:bodyPr wrap="square" lIns="0" tIns="0" rIns="0" bIns="0" rtlCol="0">
              <a:noAutofit/>
            </a:bodyPr>
            <a:lstStyle/>
            <a:p>
              <a:endParaRPr/>
            </a:p>
          </p:txBody>
        </p:sp>
        <p:sp>
          <p:nvSpPr>
            <p:cNvPr id="151" name="object 155"/>
            <p:cNvSpPr/>
            <p:nvPr/>
          </p:nvSpPr>
          <p:spPr>
            <a:xfrm>
              <a:off x="8820150" y="5372100"/>
              <a:ext cx="142875" cy="95250"/>
            </a:xfrm>
            <a:custGeom>
              <a:avLst/>
              <a:gdLst/>
              <a:ahLst/>
              <a:cxnLst/>
              <a:rect l="l" t="t" r="r" b="b"/>
              <a:pathLst>
                <a:path w="142875" h="95250">
                  <a:moveTo>
                    <a:pt x="142875" y="0"/>
                  </a:moveTo>
                  <a:lnTo>
                    <a:pt x="0" y="47625"/>
                  </a:lnTo>
                  <a:lnTo>
                    <a:pt x="142875" y="95250"/>
                  </a:lnTo>
                  <a:lnTo>
                    <a:pt x="142875" y="0"/>
                  </a:lnTo>
                  <a:close/>
                </a:path>
              </a:pathLst>
            </a:custGeom>
            <a:solidFill>
              <a:srgbClr val="000000"/>
            </a:solidFill>
          </p:spPr>
          <p:txBody>
            <a:bodyPr wrap="square" lIns="0" tIns="0" rIns="0" bIns="0" rtlCol="0">
              <a:noAutofit/>
            </a:bodyPr>
            <a:lstStyle/>
            <a:p>
              <a:endParaRPr/>
            </a:p>
          </p:txBody>
        </p:sp>
        <p:sp>
          <p:nvSpPr>
            <p:cNvPr id="152" name="object 156"/>
            <p:cNvSpPr/>
            <p:nvPr/>
          </p:nvSpPr>
          <p:spPr>
            <a:xfrm>
              <a:off x="7439025" y="5838825"/>
              <a:ext cx="1028700" cy="266700"/>
            </a:xfrm>
            <a:custGeom>
              <a:avLst/>
              <a:gdLst/>
              <a:ahLst/>
              <a:cxnLst/>
              <a:rect l="l" t="t" r="r" b="b"/>
              <a:pathLst>
                <a:path w="1028700" h="266700">
                  <a:moveTo>
                    <a:pt x="0" y="266700"/>
                  </a:moveTo>
                  <a:lnTo>
                    <a:pt x="0" y="95250"/>
                  </a:lnTo>
                  <a:lnTo>
                    <a:pt x="1028700" y="95250"/>
                  </a:lnTo>
                  <a:lnTo>
                    <a:pt x="1028700" y="0"/>
                  </a:lnTo>
                </a:path>
              </a:pathLst>
            </a:custGeom>
            <a:ln w="19050">
              <a:solidFill>
                <a:srgbClr val="000000"/>
              </a:solidFill>
            </a:ln>
          </p:spPr>
          <p:txBody>
            <a:bodyPr wrap="square" lIns="0" tIns="0" rIns="0" bIns="0" rtlCol="0">
              <a:noAutofit/>
            </a:bodyPr>
            <a:lstStyle/>
            <a:p>
              <a:endParaRPr/>
            </a:p>
          </p:txBody>
        </p:sp>
        <p:sp>
          <p:nvSpPr>
            <p:cNvPr id="153" name="object 157"/>
            <p:cNvSpPr/>
            <p:nvPr/>
          </p:nvSpPr>
          <p:spPr>
            <a:xfrm>
              <a:off x="8420100" y="5705475"/>
              <a:ext cx="95250" cy="142875"/>
            </a:xfrm>
            <a:custGeom>
              <a:avLst/>
              <a:gdLst/>
              <a:ahLst/>
              <a:cxnLst/>
              <a:rect l="l" t="t" r="r" b="b"/>
              <a:pathLst>
                <a:path w="95250" h="142875">
                  <a:moveTo>
                    <a:pt x="47625" y="0"/>
                  </a:moveTo>
                  <a:lnTo>
                    <a:pt x="0" y="142875"/>
                  </a:lnTo>
                  <a:lnTo>
                    <a:pt x="95250" y="142875"/>
                  </a:lnTo>
                  <a:lnTo>
                    <a:pt x="47625" y="0"/>
                  </a:lnTo>
                  <a:close/>
                </a:path>
              </a:pathLst>
            </a:custGeom>
            <a:solidFill>
              <a:srgbClr val="000000"/>
            </a:solidFill>
          </p:spPr>
          <p:txBody>
            <a:bodyPr wrap="square" lIns="0" tIns="0" rIns="0" bIns="0" rtlCol="0">
              <a:noAutofit/>
            </a:bodyPr>
            <a:lstStyle/>
            <a:p>
              <a:endParaRPr/>
            </a:p>
          </p:txBody>
        </p:sp>
        <p:sp>
          <p:nvSpPr>
            <p:cNvPr id="154" name="object 158"/>
            <p:cNvSpPr/>
            <p:nvPr/>
          </p:nvSpPr>
          <p:spPr>
            <a:xfrm>
              <a:off x="7439025" y="5838825"/>
              <a:ext cx="0" cy="266700"/>
            </a:xfrm>
            <a:custGeom>
              <a:avLst/>
              <a:gdLst/>
              <a:ahLst/>
              <a:cxnLst/>
              <a:rect l="l" t="t" r="r" b="b"/>
              <a:pathLst>
                <a:path h="266700">
                  <a:moveTo>
                    <a:pt x="0" y="266700"/>
                  </a:moveTo>
                  <a:lnTo>
                    <a:pt x="0" y="0"/>
                  </a:lnTo>
                </a:path>
              </a:pathLst>
            </a:custGeom>
            <a:ln w="19050">
              <a:solidFill>
                <a:srgbClr val="000000"/>
              </a:solidFill>
            </a:ln>
          </p:spPr>
          <p:txBody>
            <a:bodyPr wrap="square" lIns="0" tIns="0" rIns="0" bIns="0" rtlCol="0">
              <a:noAutofit/>
            </a:bodyPr>
            <a:lstStyle/>
            <a:p>
              <a:endParaRPr/>
            </a:p>
          </p:txBody>
        </p:sp>
        <p:sp>
          <p:nvSpPr>
            <p:cNvPr id="155" name="object 159"/>
            <p:cNvSpPr/>
            <p:nvPr/>
          </p:nvSpPr>
          <p:spPr>
            <a:xfrm>
              <a:off x="7391400" y="5705475"/>
              <a:ext cx="95250" cy="142875"/>
            </a:xfrm>
            <a:custGeom>
              <a:avLst/>
              <a:gdLst/>
              <a:ahLst/>
              <a:cxnLst/>
              <a:rect l="l" t="t" r="r" b="b"/>
              <a:pathLst>
                <a:path w="95250" h="142875">
                  <a:moveTo>
                    <a:pt x="47625" y="0"/>
                  </a:moveTo>
                  <a:lnTo>
                    <a:pt x="0" y="142875"/>
                  </a:lnTo>
                  <a:lnTo>
                    <a:pt x="95250" y="142875"/>
                  </a:lnTo>
                  <a:lnTo>
                    <a:pt x="47625" y="0"/>
                  </a:lnTo>
                  <a:close/>
                </a:path>
              </a:pathLst>
            </a:custGeom>
            <a:solidFill>
              <a:srgbClr val="000000"/>
            </a:solidFill>
          </p:spPr>
          <p:txBody>
            <a:bodyPr wrap="square" lIns="0" tIns="0" rIns="0" bIns="0" rtlCol="0">
              <a:noAutofit/>
            </a:bodyPr>
            <a:lstStyle/>
            <a:p>
              <a:endParaRPr/>
            </a:p>
          </p:txBody>
        </p:sp>
        <p:sp>
          <p:nvSpPr>
            <p:cNvPr id="156" name="object 160"/>
            <p:cNvSpPr txBox="1"/>
            <p:nvPr/>
          </p:nvSpPr>
          <p:spPr>
            <a:xfrm>
              <a:off x="8921750" y="3346450"/>
              <a:ext cx="225425" cy="225425"/>
            </a:xfrm>
            <a:prstGeom prst="rect">
              <a:avLst/>
            </a:prstGeom>
          </p:spPr>
          <p:txBody>
            <a:bodyPr vert="horz" wrap="square" lIns="0" tIns="0" rIns="0" bIns="0" rtlCol="0">
              <a:noAutofit/>
            </a:bodyPr>
            <a:lstStyle/>
            <a:p>
              <a:pPr marL="12700">
                <a:lnSpc>
                  <a:spcPct val="100000"/>
                </a:lnSpc>
              </a:pPr>
              <a:r>
                <a:rPr sz="1400" b="1" spc="-40" dirty="0">
                  <a:latin typeface="Arial"/>
                  <a:cs typeface="Arial"/>
                </a:rPr>
                <a:t>Tx</a:t>
              </a:r>
              <a:endParaRPr sz="1400">
                <a:latin typeface="Arial"/>
                <a:cs typeface="Arial"/>
              </a:endParaRPr>
            </a:p>
          </p:txBody>
        </p:sp>
        <p:sp>
          <p:nvSpPr>
            <p:cNvPr id="157" name="object 161"/>
            <p:cNvSpPr txBox="1"/>
            <p:nvPr/>
          </p:nvSpPr>
          <p:spPr>
            <a:xfrm>
              <a:off x="8912225" y="4603750"/>
              <a:ext cx="245110" cy="225425"/>
            </a:xfrm>
            <a:prstGeom prst="rect">
              <a:avLst/>
            </a:prstGeom>
          </p:spPr>
          <p:txBody>
            <a:bodyPr vert="horz" wrap="square" lIns="0" tIns="0" rIns="0" bIns="0" rtlCol="0">
              <a:noAutofit/>
            </a:bodyPr>
            <a:lstStyle/>
            <a:p>
              <a:pPr marL="12700">
                <a:lnSpc>
                  <a:spcPct val="100000"/>
                </a:lnSpc>
              </a:pPr>
              <a:r>
                <a:rPr sz="1400" b="1" spc="-45" dirty="0">
                  <a:latin typeface="Arial"/>
                  <a:cs typeface="Arial"/>
                </a:rPr>
                <a:t>Rx</a:t>
              </a:r>
              <a:endParaRPr sz="1400">
                <a:latin typeface="Arial"/>
                <a:cs typeface="Arial"/>
              </a:endParaRPr>
            </a:p>
          </p:txBody>
        </p:sp>
        <p:sp>
          <p:nvSpPr>
            <p:cNvPr id="158" name="object 162"/>
            <p:cNvSpPr/>
            <p:nvPr/>
          </p:nvSpPr>
          <p:spPr>
            <a:xfrm>
              <a:off x="723900" y="2571750"/>
              <a:ext cx="676275" cy="0"/>
            </a:xfrm>
            <a:custGeom>
              <a:avLst/>
              <a:gdLst/>
              <a:ahLst/>
              <a:cxnLst/>
              <a:rect l="l" t="t" r="r" b="b"/>
              <a:pathLst>
                <a:path w="676275">
                  <a:moveTo>
                    <a:pt x="0" y="0"/>
                  </a:moveTo>
                  <a:lnTo>
                    <a:pt x="676275" y="0"/>
                  </a:lnTo>
                </a:path>
              </a:pathLst>
            </a:custGeom>
            <a:ln w="19050">
              <a:solidFill>
                <a:srgbClr val="000000"/>
              </a:solidFill>
            </a:ln>
          </p:spPr>
          <p:txBody>
            <a:bodyPr wrap="square" lIns="0" tIns="0" rIns="0" bIns="0" rtlCol="0">
              <a:noAutofit/>
            </a:bodyPr>
            <a:lstStyle/>
            <a:p>
              <a:endParaRPr/>
            </a:p>
          </p:txBody>
        </p:sp>
        <p:sp>
          <p:nvSpPr>
            <p:cNvPr id="159" name="object 163"/>
            <p:cNvSpPr/>
            <p:nvPr/>
          </p:nvSpPr>
          <p:spPr>
            <a:xfrm>
              <a:off x="1390650" y="2524125"/>
              <a:ext cx="133350" cy="95250"/>
            </a:xfrm>
            <a:custGeom>
              <a:avLst/>
              <a:gdLst/>
              <a:ahLst/>
              <a:cxnLst/>
              <a:rect l="l" t="t" r="r" b="b"/>
              <a:pathLst>
                <a:path w="133350" h="95250">
                  <a:moveTo>
                    <a:pt x="0" y="0"/>
                  </a:moveTo>
                  <a:lnTo>
                    <a:pt x="0" y="95250"/>
                  </a:lnTo>
                  <a:lnTo>
                    <a:pt x="133350" y="47625"/>
                  </a:lnTo>
                  <a:lnTo>
                    <a:pt x="0" y="0"/>
                  </a:lnTo>
                  <a:close/>
                </a:path>
              </a:pathLst>
            </a:custGeom>
            <a:solidFill>
              <a:srgbClr val="000000"/>
            </a:solidFill>
          </p:spPr>
          <p:txBody>
            <a:bodyPr wrap="square" lIns="0" tIns="0" rIns="0" bIns="0" rtlCol="0">
              <a:noAutofit/>
            </a:bodyPr>
            <a:lstStyle/>
            <a:p>
              <a:endParaRPr/>
            </a:p>
          </p:txBody>
        </p:sp>
        <p:sp>
          <p:nvSpPr>
            <p:cNvPr id="160" name="object 164"/>
            <p:cNvSpPr/>
            <p:nvPr/>
          </p:nvSpPr>
          <p:spPr>
            <a:xfrm>
              <a:off x="885825" y="5419725"/>
              <a:ext cx="657225" cy="0"/>
            </a:xfrm>
            <a:custGeom>
              <a:avLst/>
              <a:gdLst/>
              <a:ahLst/>
              <a:cxnLst/>
              <a:rect l="l" t="t" r="r" b="b"/>
              <a:pathLst>
                <a:path w="657225">
                  <a:moveTo>
                    <a:pt x="0" y="0"/>
                  </a:moveTo>
                  <a:lnTo>
                    <a:pt x="657225" y="0"/>
                  </a:lnTo>
                </a:path>
              </a:pathLst>
            </a:custGeom>
            <a:ln w="19050">
              <a:solidFill>
                <a:srgbClr val="000000"/>
              </a:solidFill>
            </a:ln>
          </p:spPr>
          <p:txBody>
            <a:bodyPr wrap="square" lIns="0" tIns="0" rIns="0" bIns="0" rtlCol="0">
              <a:noAutofit/>
            </a:bodyPr>
            <a:lstStyle/>
            <a:p>
              <a:endParaRPr/>
            </a:p>
          </p:txBody>
        </p:sp>
        <p:sp>
          <p:nvSpPr>
            <p:cNvPr id="161" name="object 165"/>
            <p:cNvSpPr/>
            <p:nvPr/>
          </p:nvSpPr>
          <p:spPr>
            <a:xfrm>
              <a:off x="752475" y="5372100"/>
              <a:ext cx="142875" cy="95250"/>
            </a:xfrm>
            <a:custGeom>
              <a:avLst/>
              <a:gdLst/>
              <a:ahLst/>
              <a:cxnLst/>
              <a:rect l="l" t="t" r="r" b="b"/>
              <a:pathLst>
                <a:path w="142875" h="95250">
                  <a:moveTo>
                    <a:pt x="142875" y="0"/>
                  </a:moveTo>
                  <a:lnTo>
                    <a:pt x="0" y="47625"/>
                  </a:lnTo>
                  <a:lnTo>
                    <a:pt x="142875" y="95250"/>
                  </a:lnTo>
                  <a:lnTo>
                    <a:pt x="142875" y="0"/>
                  </a:lnTo>
                  <a:close/>
                </a:path>
              </a:pathLst>
            </a:custGeom>
            <a:solidFill>
              <a:srgbClr val="000000"/>
            </a:solidFill>
          </p:spPr>
          <p:txBody>
            <a:bodyPr wrap="square" lIns="0" tIns="0" rIns="0" bIns="0" rtlCol="0">
              <a:noAutofit/>
            </a:bodyPr>
            <a:lstStyle/>
            <a:p>
              <a:endParaRPr/>
            </a:p>
          </p:txBody>
        </p:sp>
        <p:sp>
          <p:nvSpPr>
            <p:cNvPr id="162" name="object 166"/>
            <p:cNvSpPr/>
            <p:nvPr/>
          </p:nvSpPr>
          <p:spPr>
            <a:xfrm>
              <a:off x="923925" y="3829050"/>
              <a:ext cx="1038225" cy="561975"/>
            </a:xfrm>
            <a:custGeom>
              <a:avLst/>
              <a:gdLst/>
              <a:ahLst/>
              <a:cxnLst/>
              <a:rect l="l" t="t" r="r" b="b"/>
              <a:pathLst>
                <a:path w="1038225" h="561975">
                  <a:moveTo>
                    <a:pt x="0" y="561975"/>
                  </a:moveTo>
                  <a:lnTo>
                    <a:pt x="1038225" y="561975"/>
                  </a:lnTo>
                  <a:lnTo>
                    <a:pt x="1038225" y="0"/>
                  </a:lnTo>
                  <a:lnTo>
                    <a:pt x="0" y="0"/>
                  </a:lnTo>
                  <a:lnTo>
                    <a:pt x="0" y="561975"/>
                  </a:lnTo>
                  <a:close/>
                </a:path>
              </a:pathLst>
            </a:custGeom>
            <a:solidFill>
              <a:srgbClr val="B3B3B3"/>
            </a:solidFill>
          </p:spPr>
          <p:txBody>
            <a:bodyPr wrap="square" lIns="0" tIns="0" rIns="0" bIns="0" rtlCol="0">
              <a:noAutofit/>
            </a:bodyPr>
            <a:lstStyle/>
            <a:p>
              <a:endParaRPr/>
            </a:p>
          </p:txBody>
        </p:sp>
        <p:sp>
          <p:nvSpPr>
            <p:cNvPr id="163" name="object 167"/>
            <p:cNvSpPr/>
            <p:nvPr/>
          </p:nvSpPr>
          <p:spPr>
            <a:xfrm>
              <a:off x="809625" y="3714750"/>
              <a:ext cx="1038225" cy="561975"/>
            </a:xfrm>
            <a:custGeom>
              <a:avLst/>
              <a:gdLst/>
              <a:ahLst/>
              <a:cxnLst/>
              <a:rect l="l" t="t" r="r" b="b"/>
              <a:pathLst>
                <a:path w="1038225" h="561975">
                  <a:moveTo>
                    <a:pt x="0" y="561975"/>
                  </a:moveTo>
                  <a:lnTo>
                    <a:pt x="1038225" y="561975"/>
                  </a:lnTo>
                  <a:lnTo>
                    <a:pt x="1038225" y="0"/>
                  </a:lnTo>
                  <a:lnTo>
                    <a:pt x="0" y="0"/>
                  </a:lnTo>
                  <a:lnTo>
                    <a:pt x="0" y="561975"/>
                  </a:lnTo>
                  <a:close/>
                </a:path>
              </a:pathLst>
            </a:custGeom>
            <a:solidFill>
              <a:srgbClr val="FFFFFF"/>
            </a:solidFill>
          </p:spPr>
          <p:txBody>
            <a:bodyPr wrap="square" lIns="0" tIns="0" rIns="0" bIns="0" rtlCol="0">
              <a:noAutofit/>
            </a:bodyPr>
            <a:lstStyle/>
            <a:p>
              <a:endParaRPr/>
            </a:p>
          </p:txBody>
        </p:sp>
        <p:sp>
          <p:nvSpPr>
            <p:cNvPr id="164" name="object 168"/>
            <p:cNvSpPr/>
            <p:nvPr/>
          </p:nvSpPr>
          <p:spPr>
            <a:xfrm>
              <a:off x="809625" y="3714750"/>
              <a:ext cx="1038225" cy="561975"/>
            </a:xfrm>
            <a:custGeom>
              <a:avLst/>
              <a:gdLst/>
              <a:ahLst/>
              <a:cxnLst/>
              <a:rect l="l" t="t" r="r" b="b"/>
              <a:pathLst>
                <a:path w="1038225" h="561975">
                  <a:moveTo>
                    <a:pt x="0" y="561975"/>
                  </a:moveTo>
                  <a:lnTo>
                    <a:pt x="1038225" y="561975"/>
                  </a:lnTo>
                  <a:lnTo>
                    <a:pt x="1038225" y="0"/>
                  </a:lnTo>
                  <a:lnTo>
                    <a:pt x="0" y="0"/>
                  </a:lnTo>
                  <a:lnTo>
                    <a:pt x="0" y="561975"/>
                  </a:lnTo>
                  <a:close/>
                </a:path>
              </a:pathLst>
            </a:custGeom>
            <a:ln w="9525">
              <a:solidFill>
                <a:srgbClr val="000000"/>
              </a:solidFill>
            </a:ln>
          </p:spPr>
          <p:txBody>
            <a:bodyPr wrap="square" lIns="0" tIns="0" rIns="0" bIns="0" rtlCol="0">
              <a:noAutofit/>
            </a:bodyPr>
            <a:lstStyle/>
            <a:p>
              <a:endParaRPr/>
            </a:p>
          </p:txBody>
        </p:sp>
        <p:sp>
          <p:nvSpPr>
            <p:cNvPr id="165" name="object 169"/>
            <p:cNvSpPr txBox="1"/>
            <p:nvPr/>
          </p:nvSpPr>
          <p:spPr>
            <a:xfrm>
              <a:off x="854075" y="3800475"/>
              <a:ext cx="959485" cy="194310"/>
            </a:xfrm>
            <a:prstGeom prst="rect">
              <a:avLst/>
            </a:prstGeom>
          </p:spPr>
          <p:txBody>
            <a:bodyPr vert="horz" wrap="square" lIns="0" tIns="0" rIns="0" bIns="0" rtlCol="0">
              <a:noAutofit/>
            </a:bodyPr>
            <a:lstStyle/>
            <a:p>
              <a:pPr marL="12700">
                <a:lnSpc>
                  <a:spcPct val="100000"/>
                </a:lnSpc>
              </a:pPr>
              <a:r>
                <a:rPr sz="1200" b="1" dirty="0">
                  <a:latin typeface="Arial"/>
                  <a:cs typeface="Arial"/>
                </a:rPr>
                <a:t>Performance</a:t>
              </a:r>
              <a:endParaRPr sz="1200">
                <a:latin typeface="Arial"/>
                <a:cs typeface="Arial"/>
              </a:endParaRPr>
            </a:p>
          </p:txBody>
        </p:sp>
        <p:sp>
          <p:nvSpPr>
            <p:cNvPr id="166" name="object 170"/>
            <p:cNvSpPr txBox="1"/>
            <p:nvPr/>
          </p:nvSpPr>
          <p:spPr>
            <a:xfrm>
              <a:off x="1006475" y="3981450"/>
              <a:ext cx="645160" cy="194310"/>
            </a:xfrm>
            <a:prstGeom prst="rect">
              <a:avLst/>
            </a:prstGeom>
          </p:spPr>
          <p:txBody>
            <a:bodyPr vert="horz" wrap="square" lIns="0" tIns="0" rIns="0" bIns="0" rtlCol="0">
              <a:noAutofit/>
            </a:bodyPr>
            <a:lstStyle/>
            <a:p>
              <a:pPr marL="12700">
                <a:lnSpc>
                  <a:spcPct val="100000"/>
                </a:lnSpc>
              </a:pPr>
              <a:r>
                <a:rPr sz="1200" b="1" dirty="0">
                  <a:latin typeface="Arial"/>
                  <a:cs typeface="Arial"/>
                </a:rPr>
                <a:t>Measure</a:t>
              </a:r>
              <a:endParaRPr sz="1200">
                <a:latin typeface="Arial"/>
                <a:cs typeface="Arial"/>
              </a:endParaRPr>
            </a:p>
          </p:txBody>
        </p:sp>
        <p:sp>
          <p:nvSpPr>
            <p:cNvPr id="167" name="object 171"/>
            <p:cNvSpPr/>
            <p:nvPr/>
          </p:nvSpPr>
          <p:spPr>
            <a:xfrm>
              <a:off x="1323975" y="2571750"/>
              <a:ext cx="0" cy="1009650"/>
            </a:xfrm>
            <a:custGeom>
              <a:avLst/>
              <a:gdLst/>
              <a:ahLst/>
              <a:cxnLst/>
              <a:rect l="l" t="t" r="r" b="b"/>
              <a:pathLst>
                <a:path h="1009650">
                  <a:moveTo>
                    <a:pt x="0" y="0"/>
                  </a:moveTo>
                  <a:lnTo>
                    <a:pt x="0" y="1009650"/>
                  </a:lnTo>
                </a:path>
              </a:pathLst>
            </a:custGeom>
            <a:ln w="19050">
              <a:solidFill>
                <a:srgbClr val="000000"/>
              </a:solidFill>
            </a:ln>
          </p:spPr>
          <p:txBody>
            <a:bodyPr wrap="square" lIns="0" tIns="0" rIns="0" bIns="0" rtlCol="0">
              <a:noAutofit/>
            </a:bodyPr>
            <a:lstStyle/>
            <a:p>
              <a:endParaRPr/>
            </a:p>
          </p:txBody>
        </p:sp>
        <p:sp>
          <p:nvSpPr>
            <p:cNvPr id="168" name="object 172"/>
            <p:cNvSpPr/>
            <p:nvPr/>
          </p:nvSpPr>
          <p:spPr>
            <a:xfrm>
              <a:off x="1276350" y="3571875"/>
              <a:ext cx="95250" cy="142875"/>
            </a:xfrm>
            <a:custGeom>
              <a:avLst/>
              <a:gdLst/>
              <a:ahLst/>
              <a:cxnLst/>
              <a:rect l="l" t="t" r="r" b="b"/>
              <a:pathLst>
                <a:path w="95250" h="142875">
                  <a:moveTo>
                    <a:pt x="95250" y="0"/>
                  </a:moveTo>
                  <a:lnTo>
                    <a:pt x="0" y="0"/>
                  </a:lnTo>
                  <a:lnTo>
                    <a:pt x="47625" y="142875"/>
                  </a:lnTo>
                  <a:lnTo>
                    <a:pt x="95250" y="0"/>
                  </a:lnTo>
                  <a:close/>
                </a:path>
              </a:pathLst>
            </a:custGeom>
            <a:solidFill>
              <a:srgbClr val="000000"/>
            </a:solidFill>
          </p:spPr>
          <p:txBody>
            <a:bodyPr wrap="square" lIns="0" tIns="0" rIns="0" bIns="0" rtlCol="0">
              <a:noAutofit/>
            </a:bodyPr>
            <a:lstStyle/>
            <a:p>
              <a:endParaRPr/>
            </a:p>
          </p:txBody>
        </p:sp>
        <p:sp>
          <p:nvSpPr>
            <p:cNvPr id="169" name="object 173"/>
            <p:cNvSpPr/>
            <p:nvPr/>
          </p:nvSpPr>
          <p:spPr>
            <a:xfrm>
              <a:off x="1323975" y="4410075"/>
              <a:ext cx="0" cy="1009650"/>
            </a:xfrm>
            <a:custGeom>
              <a:avLst/>
              <a:gdLst/>
              <a:ahLst/>
              <a:cxnLst/>
              <a:rect l="l" t="t" r="r" b="b"/>
              <a:pathLst>
                <a:path h="1009650">
                  <a:moveTo>
                    <a:pt x="0" y="1009650"/>
                  </a:moveTo>
                  <a:lnTo>
                    <a:pt x="0" y="0"/>
                  </a:lnTo>
                </a:path>
              </a:pathLst>
            </a:custGeom>
            <a:ln w="19050">
              <a:solidFill>
                <a:srgbClr val="000000"/>
              </a:solidFill>
            </a:ln>
          </p:spPr>
          <p:txBody>
            <a:bodyPr wrap="square" lIns="0" tIns="0" rIns="0" bIns="0" rtlCol="0">
              <a:noAutofit/>
            </a:bodyPr>
            <a:lstStyle/>
            <a:p>
              <a:endParaRPr/>
            </a:p>
          </p:txBody>
        </p:sp>
        <p:sp>
          <p:nvSpPr>
            <p:cNvPr id="170" name="object 174"/>
            <p:cNvSpPr/>
            <p:nvPr/>
          </p:nvSpPr>
          <p:spPr>
            <a:xfrm>
              <a:off x="1276350" y="4276725"/>
              <a:ext cx="95250" cy="142875"/>
            </a:xfrm>
            <a:custGeom>
              <a:avLst/>
              <a:gdLst/>
              <a:ahLst/>
              <a:cxnLst/>
              <a:rect l="l" t="t" r="r" b="b"/>
              <a:pathLst>
                <a:path w="95250" h="142875">
                  <a:moveTo>
                    <a:pt x="47625" y="0"/>
                  </a:moveTo>
                  <a:lnTo>
                    <a:pt x="0" y="142875"/>
                  </a:lnTo>
                  <a:lnTo>
                    <a:pt x="95250" y="142875"/>
                  </a:lnTo>
                  <a:lnTo>
                    <a:pt x="47625" y="0"/>
                  </a:lnTo>
                  <a:close/>
                </a:path>
              </a:pathLst>
            </a:custGeom>
            <a:solidFill>
              <a:srgbClr val="000000"/>
            </a:solidFill>
          </p:spPr>
          <p:txBody>
            <a:bodyPr wrap="square" lIns="0" tIns="0" rIns="0" bIns="0" rtlCol="0">
              <a:noAutofit/>
            </a:bodyPr>
            <a:lstStyle/>
            <a:p>
              <a:endParaRPr/>
            </a:p>
          </p:txBody>
        </p:sp>
        <p:sp>
          <p:nvSpPr>
            <p:cNvPr id="171" name="object 175"/>
            <p:cNvSpPr/>
            <p:nvPr/>
          </p:nvSpPr>
          <p:spPr>
            <a:xfrm>
              <a:off x="657225" y="4000500"/>
              <a:ext cx="152400" cy="0"/>
            </a:xfrm>
            <a:custGeom>
              <a:avLst/>
              <a:gdLst/>
              <a:ahLst/>
              <a:cxnLst/>
              <a:rect l="l" t="t" r="r" b="b"/>
              <a:pathLst>
                <a:path w="152400">
                  <a:moveTo>
                    <a:pt x="152400" y="0"/>
                  </a:moveTo>
                  <a:lnTo>
                    <a:pt x="0" y="0"/>
                  </a:lnTo>
                </a:path>
              </a:pathLst>
            </a:custGeom>
            <a:ln w="19050">
              <a:solidFill>
                <a:srgbClr val="000000"/>
              </a:solidFill>
            </a:ln>
          </p:spPr>
          <p:txBody>
            <a:bodyPr wrap="square" lIns="0" tIns="0" rIns="0" bIns="0" rtlCol="0">
              <a:noAutofit/>
            </a:bodyPr>
            <a:lstStyle/>
            <a:p>
              <a:endParaRPr/>
            </a:p>
          </p:txBody>
        </p:sp>
        <p:sp>
          <p:nvSpPr>
            <p:cNvPr id="172" name="object 176"/>
            <p:cNvSpPr/>
            <p:nvPr/>
          </p:nvSpPr>
          <p:spPr>
            <a:xfrm>
              <a:off x="523875" y="3952875"/>
              <a:ext cx="142875" cy="95250"/>
            </a:xfrm>
            <a:custGeom>
              <a:avLst/>
              <a:gdLst/>
              <a:ahLst/>
              <a:cxnLst/>
              <a:rect l="l" t="t" r="r" b="b"/>
              <a:pathLst>
                <a:path w="142875" h="95250">
                  <a:moveTo>
                    <a:pt x="142875" y="0"/>
                  </a:moveTo>
                  <a:lnTo>
                    <a:pt x="0" y="47625"/>
                  </a:lnTo>
                  <a:lnTo>
                    <a:pt x="142875" y="95250"/>
                  </a:lnTo>
                  <a:lnTo>
                    <a:pt x="142875" y="0"/>
                  </a:lnTo>
                  <a:close/>
                </a:path>
              </a:pathLst>
            </a:custGeom>
            <a:solidFill>
              <a:srgbClr val="000000"/>
            </a:solidFill>
          </p:spPr>
          <p:txBody>
            <a:bodyPr wrap="square" lIns="0" tIns="0" rIns="0" bIns="0" rtlCol="0">
              <a:noAutofit/>
            </a:bodyPr>
            <a:lstStyle/>
            <a:p>
              <a:endParaRPr/>
            </a:p>
          </p:txBody>
        </p:sp>
        <p:sp>
          <p:nvSpPr>
            <p:cNvPr id="174" name="object 178"/>
            <p:cNvSpPr/>
            <p:nvPr/>
          </p:nvSpPr>
          <p:spPr>
            <a:xfrm>
              <a:off x="5724525" y="2171700"/>
              <a:ext cx="1143000" cy="3876675"/>
            </a:xfrm>
            <a:custGeom>
              <a:avLst/>
              <a:gdLst/>
              <a:ahLst/>
              <a:cxnLst/>
              <a:rect l="l" t="t" r="r" b="b"/>
              <a:pathLst>
                <a:path w="1143000" h="3876675">
                  <a:moveTo>
                    <a:pt x="0" y="3876675"/>
                  </a:moveTo>
                  <a:lnTo>
                    <a:pt x="1143000" y="3876675"/>
                  </a:lnTo>
                  <a:lnTo>
                    <a:pt x="1143000" y="0"/>
                  </a:lnTo>
                  <a:lnTo>
                    <a:pt x="0" y="0"/>
                  </a:lnTo>
                  <a:lnTo>
                    <a:pt x="0" y="3876675"/>
                  </a:lnTo>
                  <a:close/>
                </a:path>
              </a:pathLst>
            </a:custGeom>
            <a:solidFill>
              <a:srgbClr val="7E7E00"/>
            </a:solidFill>
          </p:spPr>
          <p:txBody>
            <a:bodyPr wrap="square" lIns="0" tIns="0" rIns="0" bIns="0" rtlCol="0">
              <a:noAutofit/>
            </a:bodyPr>
            <a:lstStyle/>
            <a:p>
              <a:endParaRPr/>
            </a:p>
          </p:txBody>
        </p:sp>
        <p:sp>
          <p:nvSpPr>
            <p:cNvPr id="175" name="object 179"/>
            <p:cNvSpPr/>
            <p:nvPr/>
          </p:nvSpPr>
          <p:spPr>
            <a:xfrm>
              <a:off x="5724525" y="2171700"/>
              <a:ext cx="1143000" cy="3876675"/>
            </a:xfrm>
            <a:custGeom>
              <a:avLst/>
              <a:gdLst/>
              <a:ahLst/>
              <a:cxnLst/>
              <a:rect l="l" t="t" r="r" b="b"/>
              <a:pathLst>
                <a:path w="1143000" h="3876675">
                  <a:moveTo>
                    <a:pt x="0" y="3876675"/>
                  </a:moveTo>
                  <a:lnTo>
                    <a:pt x="1143000" y="3876675"/>
                  </a:lnTo>
                  <a:lnTo>
                    <a:pt x="1143000" y="0"/>
                  </a:lnTo>
                  <a:lnTo>
                    <a:pt x="0" y="0"/>
                  </a:lnTo>
                  <a:lnTo>
                    <a:pt x="0" y="3876675"/>
                  </a:lnTo>
                  <a:close/>
                </a:path>
              </a:pathLst>
            </a:custGeom>
            <a:ln w="9525">
              <a:solidFill>
                <a:srgbClr val="000000"/>
              </a:solidFill>
            </a:ln>
          </p:spPr>
          <p:txBody>
            <a:bodyPr wrap="square" lIns="0" tIns="0" rIns="0" bIns="0" rtlCol="0">
              <a:noAutofit/>
            </a:bodyPr>
            <a:lstStyle/>
            <a:p>
              <a:endParaRPr/>
            </a:p>
          </p:txBody>
        </p:sp>
        <p:sp>
          <p:nvSpPr>
            <p:cNvPr id="176" name="object 180"/>
            <p:cNvSpPr/>
            <p:nvPr/>
          </p:nvSpPr>
          <p:spPr>
            <a:xfrm>
              <a:off x="5905500" y="2400300"/>
              <a:ext cx="962025" cy="571500"/>
            </a:xfrm>
            <a:custGeom>
              <a:avLst/>
              <a:gdLst/>
              <a:ahLst/>
              <a:cxnLst/>
              <a:rect l="l" t="t" r="r" b="b"/>
              <a:pathLst>
                <a:path w="962025" h="571500">
                  <a:moveTo>
                    <a:pt x="0" y="571500"/>
                  </a:moveTo>
                  <a:lnTo>
                    <a:pt x="962025" y="571500"/>
                  </a:lnTo>
                  <a:lnTo>
                    <a:pt x="962025" y="0"/>
                  </a:lnTo>
                  <a:lnTo>
                    <a:pt x="0" y="0"/>
                  </a:lnTo>
                  <a:lnTo>
                    <a:pt x="0" y="571500"/>
                  </a:lnTo>
                  <a:close/>
                </a:path>
              </a:pathLst>
            </a:custGeom>
            <a:solidFill>
              <a:srgbClr val="B3B3B3"/>
            </a:solidFill>
          </p:spPr>
          <p:txBody>
            <a:bodyPr wrap="square" lIns="0" tIns="0" rIns="0" bIns="0" rtlCol="0">
              <a:noAutofit/>
            </a:bodyPr>
            <a:lstStyle/>
            <a:p>
              <a:endParaRPr/>
            </a:p>
          </p:txBody>
        </p:sp>
        <p:sp>
          <p:nvSpPr>
            <p:cNvPr id="177" name="object 181"/>
            <p:cNvSpPr/>
            <p:nvPr/>
          </p:nvSpPr>
          <p:spPr>
            <a:xfrm>
              <a:off x="5791200" y="2286000"/>
              <a:ext cx="962025" cy="571500"/>
            </a:xfrm>
            <a:custGeom>
              <a:avLst/>
              <a:gdLst/>
              <a:ahLst/>
              <a:cxnLst/>
              <a:rect l="l" t="t" r="r" b="b"/>
              <a:pathLst>
                <a:path w="962025" h="571500">
                  <a:moveTo>
                    <a:pt x="0" y="571500"/>
                  </a:moveTo>
                  <a:lnTo>
                    <a:pt x="962025" y="571500"/>
                  </a:lnTo>
                  <a:lnTo>
                    <a:pt x="962025" y="0"/>
                  </a:lnTo>
                  <a:lnTo>
                    <a:pt x="0" y="0"/>
                  </a:lnTo>
                  <a:lnTo>
                    <a:pt x="0" y="571500"/>
                  </a:lnTo>
                  <a:close/>
                </a:path>
              </a:pathLst>
            </a:custGeom>
            <a:solidFill>
              <a:srgbClr val="00FFFF"/>
            </a:solidFill>
          </p:spPr>
          <p:txBody>
            <a:bodyPr wrap="square" lIns="0" tIns="0" rIns="0" bIns="0" rtlCol="0">
              <a:noAutofit/>
            </a:bodyPr>
            <a:lstStyle/>
            <a:p>
              <a:endParaRPr/>
            </a:p>
          </p:txBody>
        </p:sp>
        <p:sp>
          <p:nvSpPr>
            <p:cNvPr id="178" name="object 182"/>
            <p:cNvSpPr/>
            <p:nvPr/>
          </p:nvSpPr>
          <p:spPr>
            <a:xfrm>
              <a:off x="5791200" y="2286000"/>
              <a:ext cx="962025" cy="571500"/>
            </a:xfrm>
            <a:custGeom>
              <a:avLst/>
              <a:gdLst/>
              <a:ahLst/>
              <a:cxnLst/>
              <a:rect l="l" t="t" r="r" b="b"/>
              <a:pathLst>
                <a:path w="962025" h="571500">
                  <a:moveTo>
                    <a:pt x="0" y="571500"/>
                  </a:moveTo>
                  <a:lnTo>
                    <a:pt x="962025" y="571500"/>
                  </a:lnTo>
                  <a:lnTo>
                    <a:pt x="962025" y="0"/>
                  </a:lnTo>
                  <a:lnTo>
                    <a:pt x="0" y="0"/>
                  </a:lnTo>
                  <a:lnTo>
                    <a:pt x="0" y="571500"/>
                  </a:lnTo>
                  <a:close/>
                </a:path>
              </a:pathLst>
            </a:custGeom>
            <a:ln w="9525">
              <a:solidFill>
                <a:srgbClr val="000000"/>
              </a:solidFill>
            </a:ln>
          </p:spPr>
          <p:txBody>
            <a:bodyPr wrap="square" lIns="0" tIns="0" rIns="0" bIns="0" rtlCol="0">
              <a:noAutofit/>
            </a:bodyPr>
            <a:lstStyle/>
            <a:p>
              <a:endParaRPr/>
            </a:p>
          </p:txBody>
        </p:sp>
        <p:sp>
          <p:nvSpPr>
            <p:cNvPr id="179" name="object 183"/>
            <p:cNvSpPr txBox="1"/>
            <p:nvPr/>
          </p:nvSpPr>
          <p:spPr>
            <a:xfrm>
              <a:off x="5921375" y="2466975"/>
              <a:ext cx="692150" cy="194310"/>
            </a:xfrm>
            <a:prstGeom prst="rect">
              <a:avLst/>
            </a:prstGeom>
          </p:spPr>
          <p:txBody>
            <a:bodyPr vert="horz" wrap="square" lIns="0" tIns="0" rIns="0" bIns="0" rtlCol="0">
              <a:noAutofit/>
            </a:bodyPr>
            <a:lstStyle/>
            <a:p>
              <a:pPr marL="12700">
                <a:lnSpc>
                  <a:spcPct val="100000"/>
                </a:lnSpc>
              </a:pPr>
              <a:r>
                <a:rPr sz="1200" b="1" spc="-15" dirty="0">
                  <a:latin typeface="Arial"/>
                  <a:cs typeface="Arial"/>
                </a:rPr>
                <a:t>Modulate</a:t>
              </a:r>
              <a:endParaRPr sz="1200">
                <a:latin typeface="Arial"/>
                <a:cs typeface="Arial"/>
              </a:endParaRPr>
            </a:p>
          </p:txBody>
        </p:sp>
        <p:sp>
          <p:nvSpPr>
            <p:cNvPr id="180" name="object 184"/>
            <p:cNvSpPr/>
            <p:nvPr/>
          </p:nvSpPr>
          <p:spPr>
            <a:xfrm>
              <a:off x="5438775" y="2571750"/>
              <a:ext cx="219075" cy="0"/>
            </a:xfrm>
            <a:custGeom>
              <a:avLst/>
              <a:gdLst/>
              <a:ahLst/>
              <a:cxnLst/>
              <a:rect l="l" t="t" r="r" b="b"/>
              <a:pathLst>
                <a:path w="219075">
                  <a:moveTo>
                    <a:pt x="0" y="0"/>
                  </a:moveTo>
                  <a:lnTo>
                    <a:pt x="219075" y="0"/>
                  </a:lnTo>
                </a:path>
              </a:pathLst>
            </a:custGeom>
            <a:ln w="19050">
              <a:solidFill>
                <a:srgbClr val="000000"/>
              </a:solidFill>
            </a:ln>
          </p:spPr>
          <p:txBody>
            <a:bodyPr wrap="square" lIns="0" tIns="0" rIns="0" bIns="0" rtlCol="0">
              <a:noAutofit/>
            </a:bodyPr>
            <a:lstStyle/>
            <a:p>
              <a:endParaRPr/>
            </a:p>
          </p:txBody>
        </p:sp>
        <p:sp>
          <p:nvSpPr>
            <p:cNvPr id="181" name="object 185"/>
            <p:cNvSpPr/>
            <p:nvPr/>
          </p:nvSpPr>
          <p:spPr>
            <a:xfrm>
              <a:off x="5648325" y="2524125"/>
              <a:ext cx="142875" cy="95250"/>
            </a:xfrm>
            <a:custGeom>
              <a:avLst/>
              <a:gdLst/>
              <a:ahLst/>
              <a:cxnLst/>
              <a:rect l="l" t="t" r="r" b="b"/>
              <a:pathLst>
                <a:path w="142875" h="95250">
                  <a:moveTo>
                    <a:pt x="0" y="0"/>
                  </a:moveTo>
                  <a:lnTo>
                    <a:pt x="0" y="95250"/>
                  </a:lnTo>
                  <a:lnTo>
                    <a:pt x="142875" y="47625"/>
                  </a:lnTo>
                  <a:lnTo>
                    <a:pt x="0" y="0"/>
                  </a:lnTo>
                  <a:close/>
                </a:path>
              </a:pathLst>
            </a:custGeom>
            <a:solidFill>
              <a:srgbClr val="000000"/>
            </a:solidFill>
          </p:spPr>
          <p:txBody>
            <a:bodyPr wrap="square" lIns="0" tIns="0" rIns="0" bIns="0" rtlCol="0">
              <a:noAutofit/>
            </a:bodyPr>
            <a:lstStyle/>
            <a:p>
              <a:endParaRPr/>
            </a:p>
          </p:txBody>
        </p:sp>
        <p:sp>
          <p:nvSpPr>
            <p:cNvPr id="182" name="object 186"/>
            <p:cNvSpPr/>
            <p:nvPr/>
          </p:nvSpPr>
          <p:spPr>
            <a:xfrm>
              <a:off x="6753225" y="2571750"/>
              <a:ext cx="152400" cy="0"/>
            </a:xfrm>
            <a:custGeom>
              <a:avLst/>
              <a:gdLst/>
              <a:ahLst/>
              <a:cxnLst/>
              <a:rect l="l" t="t" r="r" b="b"/>
              <a:pathLst>
                <a:path w="152400">
                  <a:moveTo>
                    <a:pt x="0" y="0"/>
                  </a:moveTo>
                  <a:lnTo>
                    <a:pt x="152400" y="0"/>
                  </a:lnTo>
                </a:path>
              </a:pathLst>
            </a:custGeom>
            <a:ln w="19050">
              <a:solidFill>
                <a:srgbClr val="000000"/>
              </a:solidFill>
            </a:ln>
          </p:spPr>
          <p:txBody>
            <a:bodyPr wrap="square" lIns="0" tIns="0" rIns="0" bIns="0" rtlCol="0">
              <a:noAutofit/>
            </a:bodyPr>
            <a:lstStyle/>
            <a:p>
              <a:endParaRPr/>
            </a:p>
          </p:txBody>
        </p:sp>
        <p:sp>
          <p:nvSpPr>
            <p:cNvPr id="183" name="object 187"/>
            <p:cNvSpPr/>
            <p:nvPr/>
          </p:nvSpPr>
          <p:spPr>
            <a:xfrm>
              <a:off x="6896100" y="2524125"/>
              <a:ext cx="142875" cy="95250"/>
            </a:xfrm>
            <a:custGeom>
              <a:avLst/>
              <a:gdLst/>
              <a:ahLst/>
              <a:cxnLst/>
              <a:rect l="l" t="t" r="r" b="b"/>
              <a:pathLst>
                <a:path w="142875" h="95250">
                  <a:moveTo>
                    <a:pt x="0" y="0"/>
                  </a:moveTo>
                  <a:lnTo>
                    <a:pt x="0" y="95250"/>
                  </a:lnTo>
                  <a:lnTo>
                    <a:pt x="142875" y="47625"/>
                  </a:lnTo>
                  <a:lnTo>
                    <a:pt x="0" y="0"/>
                  </a:lnTo>
                  <a:close/>
                </a:path>
              </a:pathLst>
            </a:custGeom>
            <a:solidFill>
              <a:srgbClr val="000000"/>
            </a:solidFill>
          </p:spPr>
          <p:txBody>
            <a:bodyPr wrap="square" lIns="0" tIns="0" rIns="0" bIns="0" rtlCol="0">
              <a:noAutofit/>
            </a:bodyPr>
            <a:lstStyle/>
            <a:p>
              <a:endParaRPr/>
            </a:p>
          </p:txBody>
        </p:sp>
        <p:sp>
          <p:nvSpPr>
            <p:cNvPr id="184" name="object 188"/>
            <p:cNvSpPr/>
            <p:nvPr/>
          </p:nvSpPr>
          <p:spPr>
            <a:xfrm>
              <a:off x="5915025" y="5248275"/>
              <a:ext cx="990600" cy="571500"/>
            </a:xfrm>
            <a:custGeom>
              <a:avLst/>
              <a:gdLst/>
              <a:ahLst/>
              <a:cxnLst/>
              <a:rect l="l" t="t" r="r" b="b"/>
              <a:pathLst>
                <a:path w="990600" h="571500">
                  <a:moveTo>
                    <a:pt x="0" y="571500"/>
                  </a:moveTo>
                  <a:lnTo>
                    <a:pt x="990600" y="571500"/>
                  </a:lnTo>
                  <a:lnTo>
                    <a:pt x="990600" y="0"/>
                  </a:lnTo>
                  <a:lnTo>
                    <a:pt x="0" y="0"/>
                  </a:lnTo>
                  <a:lnTo>
                    <a:pt x="0" y="571500"/>
                  </a:lnTo>
                  <a:close/>
                </a:path>
              </a:pathLst>
            </a:custGeom>
            <a:solidFill>
              <a:srgbClr val="B3B3B3"/>
            </a:solidFill>
          </p:spPr>
          <p:txBody>
            <a:bodyPr wrap="square" lIns="0" tIns="0" rIns="0" bIns="0" rtlCol="0">
              <a:noAutofit/>
            </a:bodyPr>
            <a:lstStyle/>
            <a:p>
              <a:endParaRPr/>
            </a:p>
          </p:txBody>
        </p:sp>
        <p:sp>
          <p:nvSpPr>
            <p:cNvPr id="185" name="object 189"/>
            <p:cNvSpPr/>
            <p:nvPr/>
          </p:nvSpPr>
          <p:spPr>
            <a:xfrm>
              <a:off x="5800725" y="5133975"/>
              <a:ext cx="990600" cy="571500"/>
            </a:xfrm>
            <a:custGeom>
              <a:avLst/>
              <a:gdLst/>
              <a:ahLst/>
              <a:cxnLst/>
              <a:rect l="l" t="t" r="r" b="b"/>
              <a:pathLst>
                <a:path w="990600" h="571500">
                  <a:moveTo>
                    <a:pt x="0" y="571500"/>
                  </a:moveTo>
                  <a:lnTo>
                    <a:pt x="990600" y="571500"/>
                  </a:lnTo>
                  <a:lnTo>
                    <a:pt x="990600" y="0"/>
                  </a:lnTo>
                  <a:lnTo>
                    <a:pt x="0" y="0"/>
                  </a:lnTo>
                  <a:lnTo>
                    <a:pt x="0" y="571500"/>
                  </a:lnTo>
                  <a:close/>
                </a:path>
              </a:pathLst>
            </a:custGeom>
            <a:solidFill>
              <a:srgbClr val="00FFFF"/>
            </a:solidFill>
          </p:spPr>
          <p:txBody>
            <a:bodyPr wrap="square" lIns="0" tIns="0" rIns="0" bIns="0" rtlCol="0">
              <a:noAutofit/>
            </a:bodyPr>
            <a:lstStyle/>
            <a:p>
              <a:endParaRPr/>
            </a:p>
          </p:txBody>
        </p:sp>
        <p:sp>
          <p:nvSpPr>
            <p:cNvPr id="186" name="object 190"/>
            <p:cNvSpPr/>
            <p:nvPr/>
          </p:nvSpPr>
          <p:spPr>
            <a:xfrm>
              <a:off x="5800725" y="5133975"/>
              <a:ext cx="990600" cy="571500"/>
            </a:xfrm>
            <a:custGeom>
              <a:avLst/>
              <a:gdLst/>
              <a:ahLst/>
              <a:cxnLst/>
              <a:rect l="l" t="t" r="r" b="b"/>
              <a:pathLst>
                <a:path w="990600" h="571500">
                  <a:moveTo>
                    <a:pt x="0" y="571500"/>
                  </a:moveTo>
                  <a:lnTo>
                    <a:pt x="990600" y="571500"/>
                  </a:lnTo>
                  <a:lnTo>
                    <a:pt x="990600" y="0"/>
                  </a:lnTo>
                  <a:lnTo>
                    <a:pt x="0" y="0"/>
                  </a:lnTo>
                  <a:lnTo>
                    <a:pt x="0" y="571500"/>
                  </a:lnTo>
                  <a:close/>
                </a:path>
              </a:pathLst>
            </a:custGeom>
            <a:ln w="9525">
              <a:solidFill>
                <a:srgbClr val="000000"/>
              </a:solidFill>
            </a:ln>
          </p:spPr>
          <p:txBody>
            <a:bodyPr wrap="square" lIns="0" tIns="0" rIns="0" bIns="0" rtlCol="0">
              <a:noAutofit/>
            </a:bodyPr>
            <a:lstStyle/>
            <a:p>
              <a:endParaRPr/>
            </a:p>
          </p:txBody>
        </p:sp>
        <p:sp>
          <p:nvSpPr>
            <p:cNvPr id="187" name="object 191"/>
            <p:cNvSpPr txBox="1"/>
            <p:nvPr/>
          </p:nvSpPr>
          <p:spPr>
            <a:xfrm>
              <a:off x="5845175" y="5133975"/>
              <a:ext cx="911860" cy="194310"/>
            </a:xfrm>
            <a:prstGeom prst="rect">
              <a:avLst/>
            </a:prstGeom>
          </p:spPr>
          <p:txBody>
            <a:bodyPr vert="horz" wrap="square" lIns="0" tIns="0" rIns="0" bIns="0" rtlCol="0">
              <a:noAutofit/>
            </a:bodyPr>
            <a:lstStyle/>
            <a:p>
              <a:pPr marL="12700">
                <a:lnSpc>
                  <a:spcPct val="100000"/>
                </a:lnSpc>
              </a:pPr>
              <a:r>
                <a:rPr sz="1200" b="1" spc="10" dirty="0">
                  <a:latin typeface="Arial"/>
                  <a:cs typeface="Arial"/>
                </a:rPr>
                <a:t>Demodulate</a:t>
              </a:r>
              <a:endParaRPr sz="1200">
                <a:latin typeface="Arial"/>
                <a:cs typeface="Arial"/>
              </a:endParaRPr>
            </a:p>
          </p:txBody>
        </p:sp>
        <p:sp>
          <p:nvSpPr>
            <p:cNvPr id="188" name="object 192"/>
            <p:cNvSpPr txBox="1"/>
            <p:nvPr/>
          </p:nvSpPr>
          <p:spPr>
            <a:xfrm>
              <a:off x="6045200" y="5322061"/>
              <a:ext cx="492759" cy="368300"/>
            </a:xfrm>
            <a:prstGeom prst="rect">
              <a:avLst/>
            </a:prstGeom>
          </p:spPr>
          <p:txBody>
            <a:bodyPr vert="horz" wrap="square" lIns="0" tIns="0" rIns="0" bIns="0" rtlCol="0">
              <a:noAutofit/>
            </a:bodyPr>
            <a:lstStyle/>
            <a:p>
              <a:pPr marL="12700" marR="12700" indent="180975">
                <a:lnSpc>
                  <a:spcPts val="1430"/>
                </a:lnSpc>
              </a:pPr>
              <a:r>
                <a:rPr sz="1200" b="1" dirty="0">
                  <a:latin typeface="Arial"/>
                  <a:cs typeface="Arial"/>
                </a:rPr>
                <a:t>&amp; Detect</a:t>
              </a:r>
              <a:endParaRPr sz="1200">
                <a:latin typeface="Arial"/>
                <a:cs typeface="Arial"/>
              </a:endParaRPr>
            </a:p>
          </p:txBody>
        </p:sp>
        <p:sp>
          <p:nvSpPr>
            <p:cNvPr id="189" name="object 193"/>
            <p:cNvSpPr/>
            <p:nvPr/>
          </p:nvSpPr>
          <p:spPr>
            <a:xfrm>
              <a:off x="6915150" y="5419725"/>
              <a:ext cx="123825" cy="0"/>
            </a:xfrm>
            <a:custGeom>
              <a:avLst/>
              <a:gdLst/>
              <a:ahLst/>
              <a:cxnLst/>
              <a:rect l="l" t="t" r="r" b="b"/>
              <a:pathLst>
                <a:path w="123825">
                  <a:moveTo>
                    <a:pt x="123825" y="0"/>
                  </a:moveTo>
                  <a:lnTo>
                    <a:pt x="0" y="0"/>
                  </a:lnTo>
                </a:path>
              </a:pathLst>
            </a:custGeom>
            <a:ln w="19050">
              <a:solidFill>
                <a:srgbClr val="000000"/>
              </a:solidFill>
            </a:ln>
          </p:spPr>
          <p:txBody>
            <a:bodyPr wrap="square" lIns="0" tIns="0" rIns="0" bIns="0" rtlCol="0">
              <a:noAutofit/>
            </a:bodyPr>
            <a:lstStyle/>
            <a:p>
              <a:endParaRPr/>
            </a:p>
          </p:txBody>
        </p:sp>
        <p:sp>
          <p:nvSpPr>
            <p:cNvPr id="190" name="object 194"/>
            <p:cNvSpPr/>
            <p:nvPr/>
          </p:nvSpPr>
          <p:spPr>
            <a:xfrm>
              <a:off x="6791325" y="5372100"/>
              <a:ext cx="133350" cy="95250"/>
            </a:xfrm>
            <a:custGeom>
              <a:avLst/>
              <a:gdLst/>
              <a:ahLst/>
              <a:cxnLst/>
              <a:rect l="l" t="t" r="r" b="b"/>
              <a:pathLst>
                <a:path w="133350" h="95250">
                  <a:moveTo>
                    <a:pt x="133350" y="0"/>
                  </a:moveTo>
                  <a:lnTo>
                    <a:pt x="0" y="47625"/>
                  </a:lnTo>
                  <a:lnTo>
                    <a:pt x="133350" y="95250"/>
                  </a:lnTo>
                  <a:lnTo>
                    <a:pt x="133350" y="0"/>
                  </a:lnTo>
                  <a:close/>
                </a:path>
              </a:pathLst>
            </a:custGeom>
            <a:solidFill>
              <a:srgbClr val="000000"/>
            </a:solidFill>
          </p:spPr>
          <p:txBody>
            <a:bodyPr wrap="square" lIns="0" tIns="0" rIns="0" bIns="0" rtlCol="0">
              <a:noAutofit/>
            </a:bodyPr>
            <a:lstStyle/>
            <a:p>
              <a:endParaRPr/>
            </a:p>
          </p:txBody>
        </p:sp>
        <p:sp>
          <p:nvSpPr>
            <p:cNvPr id="191" name="object 195"/>
            <p:cNvSpPr/>
            <p:nvPr/>
          </p:nvSpPr>
          <p:spPr>
            <a:xfrm>
              <a:off x="5695950" y="5419725"/>
              <a:ext cx="104775" cy="0"/>
            </a:xfrm>
            <a:custGeom>
              <a:avLst/>
              <a:gdLst/>
              <a:ahLst/>
              <a:cxnLst/>
              <a:rect l="l" t="t" r="r" b="b"/>
              <a:pathLst>
                <a:path w="104775">
                  <a:moveTo>
                    <a:pt x="104775" y="0"/>
                  </a:moveTo>
                  <a:lnTo>
                    <a:pt x="0" y="0"/>
                  </a:lnTo>
                </a:path>
              </a:pathLst>
            </a:custGeom>
            <a:ln w="19050">
              <a:solidFill>
                <a:srgbClr val="000000"/>
              </a:solidFill>
            </a:ln>
          </p:spPr>
          <p:txBody>
            <a:bodyPr wrap="square" lIns="0" tIns="0" rIns="0" bIns="0" rtlCol="0">
              <a:noAutofit/>
            </a:bodyPr>
            <a:lstStyle/>
            <a:p>
              <a:endParaRPr/>
            </a:p>
          </p:txBody>
        </p:sp>
        <p:sp>
          <p:nvSpPr>
            <p:cNvPr id="192" name="object 196"/>
            <p:cNvSpPr/>
            <p:nvPr/>
          </p:nvSpPr>
          <p:spPr>
            <a:xfrm>
              <a:off x="5562600" y="5372100"/>
              <a:ext cx="142875" cy="95250"/>
            </a:xfrm>
            <a:custGeom>
              <a:avLst/>
              <a:gdLst/>
              <a:ahLst/>
              <a:cxnLst/>
              <a:rect l="l" t="t" r="r" b="b"/>
              <a:pathLst>
                <a:path w="142875" h="95250">
                  <a:moveTo>
                    <a:pt x="142875" y="0"/>
                  </a:moveTo>
                  <a:lnTo>
                    <a:pt x="0" y="47625"/>
                  </a:lnTo>
                  <a:lnTo>
                    <a:pt x="142875" y="95250"/>
                  </a:lnTo>
                  <a:lnTo>
                    <a:pt x="142875" y="0"/>
                  </a:lnTo>
                  <a:close/>
                </a:path>
              </a:pathLst>
            </a:custGeom>
            <a:solidFill>
              <a:srgbClr val="000000"/>
            </a:solidFill>
          </p:spPr>
          <p:txBody>
            <a:bodyPr wrap="square" lIns="0" tIns="0" rIns="0" bIns="0" rtlCol="0">
              <a:noAutofit/>
            </a:bodyPr>
            <a:lstStyle/>
            <a:p>
              <a:endParaRPr/>
            </a:p>
          </p:txBody>
        </p:sp>
        <p:sp>
          <p:nvSpPr>
            <p:cNvPr id="193" name="object 197"/>
            <p:cNvSpPr/>
            <p:nvPr/>
          </p:nvSpPr>
          <p:spPr>
            <a:xfrm>
              <a:off x="6296025" y="5838825"/>
              <a:ext cx="1143000" cy="266700"/>
            </a:xfrm>
            <a:custGeom>
              <a:avLst/>
              <a:gdLst/>
              <a:ahLst/>
              <a:cxnLst/>
              <a:rect l="l" t="t" r="r" b="b"/>
              <a:pathLst>
                <a:path w="1143000" h="266700">
                  <a:moveTo>
                    <a:pt x="1143000" y="266700"/>
                  </a:moveTo>
                  <a:lnTo>
                    <a:pt x="1143000" y="95250"/>
                  </a:lnTo>
                  <a:lnTo>
                    <a:pt x="0" y="95250"/>
                  </a:lnTo>
                  <a:lnTo>
                    <a:pt x="0" y="0"/>
                  </a:lnTo>
                </a:path>
              </a:pathLst>
            </a:custGeom>
            <a:ln w="19050">
              <a:solidFill>
                <a:srgbClr val="000000"/>
              </a:solidFill>
            </a:ln>
          </p:spPr>
          <p:txBody>
            <a:bodyPr wrap="square" lIns="0" tIns="0" rIns="0" bIns="0" rtlCol="0">
              <a:noAutofit/>
            </a:bodyPr>
            <a:lstStyle/>
            <a:p>
              <a:endParaRPr/>
            </a:p>
          </p:txBody>
        </p:sp>
        <p:sp>
          <p:nvSpPr>
            <p:cNvPr id="194" name="object 198"/>
            <p:cNvSpPr/>
            <p:nvPr/>
          </p:nvSpPr>
          <p:spPr>
            <a:xfrm>
              <a:off x="6248400" y="5705475"/>
              <a:ext cx="95250" cy="142875"/>
            </a:xfrm>
            <a:custGeom>
              <a:avLst/>
              <a:gdLst/>
              <a:ahLst/>
              <a:cxnLst/>
              <a:rect l="l" t="t" r="r" b="b"/>
              <a:pathLst>
                <a:path w="95250" h="142875">
                  <a:moveTo>
                    <a:pt x="47625" y="0"/>
                  </a:moveTo>
                  <a:lnTo>
                    <a:pt x="0" y="142875"/>
                  </a:lnTo>
                  <a:lnTo>
                    <a:pt x="95250" y="142875"/>
                  </a:lnTo>
                  <a:lnTo>
                    <a:pt x="47625" y="0"/>
                  </a:lnTo>
                  <a:close/>
                </a:path>
              </a:pathLst>
            </a:custGeom>
            <a:solidFill>
              <a:srgbClr val="000000"/>
            </a:solidFill>
          </p:spPr>
          <p:txBody>
            <a:bodyPr wrap="square" lIns="0" tIns="0" rIns="0" bIns="0" rtlCol="0">
              <a:noAutofit/>
            </a:bodyPr>
            <a:lstStyle/>
            <a:p>
              <a:endParaRPr/>
            </a:p>
          </p:txBody>
        </p:sp>
        <p:sp>
          <p:nvSpPr>
            <p:cNvPr id="195" name="object 199"/>
            <p:cNvSpPr/>
            <p:nvPr/>
          </p:nvSpPr>
          <p:spPr>
            <a:xfrm>
              <a:off x="3362325" y="5419725"/>
              <a:ext cx="190500" cy="0"/>
            </a:xfrm>
            <a:custGeom>
              <a:avLst/>
              <a:gdLst/>
              <a:ahLst/>
              <a:cxnLst/>
              <a:rect l="l" t="t" r="r" b="b"/>
              <a:pathLst>
                <a:path w="190500">
                  <a:moveTo>
                    <a:pt x="190500" y="0"/>
                  </a:moveTo>
                  <a:lnTo>
                    <a:pt x="0" y="0"/>
                  </a:lnTo>
                </a:path>
              </a:pathLst>
            </a:custGeom>
            <a:ln w="19050">
              <a:solidFill>
                <a:srgbClr val="000000"/>
              </a:solidFill>
            </a:ln>
          </p:spPr>
          <p:txBody>
            <a:bodyPr wrap="square" lIns="0" tIns="0" rIns="0" bIns="0" rtlCol="0">
              <a:noAutofit/>
            </a:bodyPr>
            <a:lstStyle/>
            <a:p>
              <a:endParaRPr/>
            </a:p>
          </p:txBody>
        </p:sp>
        <p:sp>
          <p:nvSpPr>
            <p:cNvPr id="196" name="object 200"/>
            <p:cNvSpPr/>
            <p:nvPr/>
          </p:nvSpPr>
          <p:spPr>
            <a:xfrm>
              <a:off x="3238500" y="5372100"/>
              <a:ext cx="142875" cy="95250"/>
            </a:xfrm>
            <a:custGeom>
              <a:avLst/>
              <a:gdLst/>
              <a:ahLst/>
              <a:cxnLst/>
              <a:rect l="l" t="t" r="r" b="b"/>
              <a:pathLst>
                <a:path w="142875" h="95250">
                  <a:moveTo>
                    <a:pt x="142875" y="0"/>
                  </a:moveTo>
                  <a:lnTo>
                    <a:pt x="0" y="47625"/>
                  </a:lnTo>
                  <a:lnTo>
                    <a:pt x="142875" y="95250"/>
                  </a:lnTo>
                  <a:lnTo>
                    <a:pt x="142875" y="0"/>
                  </a:lnTo>
                  <a:close/>
                </a:path>
              </a:pathLst>
            </a:custGeom>
            <a:solidFill>
              <a:srgbClr val="000000"/>
            </a:solidFill>
          </p:spPr>
          <p:txBody>
            <a:bodyPr wrap="square" lIns="0" tIns="0" rIns="0" bIns="0" rtlCol="0">
              <a:noAutofit/>
            </a:bodyPr>
            <a:lstStyle/>
            <a:p>
              <a:endParaRPr/>
            </a:p>
          </p:txBody>
        </p:sp>
      </p:grpSp>
      <p:sp>
        <p:nvSpPr>
          <p:cNvPr id="3" name="TextBox 2">
            <a:extLst>
              <a:ext uri="{FF2B5EF4-FFF2-40B4-BE49-F238E27FC236}">
                <a16:creationId xmlns:a16="http://schemas.microsoft.com/office/drawing/2014/main" id="{6C78FB6B-F77C-4319-B3ED-B88AF04D45BD}"/>
              </a:ext>
            </a:extLst>
          </p:cNvPr>
          <p:cNvSpPr txBox="1"/>
          <p:nvPr/>
        </p:nvSpPr>
        <p:spPr>
          <a:xfrm>
            <a:off x="979487" y="1486798"/>
            <a:ext cx="1568450" cy="369332"/>
          </a:xfrm>
          <a:prstGeom prst="rect">
            <a:avLst/>
          </a:prstGeom>
          <a:noFill/>
        </p:spPr>
        <p:txBody>
          <a:bodyPr wrap="square" rtlCol="0">
            <a:spAutoFit/>
          </a:bodyPr>
          <a:lstStyle/>
          <a:p>
            <a:r>
              <a:rPr lang="en-US" dirty="0"/>
              <a:t>Input signal</a:t>
            </a:r>
          </a:p>
        </p:txBody>
      </p:sp>
      <p:pic>
        <p:nvPicPr>
          <p:cNvPr id="4" name="Pg4">
            <a:hlinkClick r:id="" action="ppaction://media"/>
            <a:extLst>
              <a:ext uri="{FF2B5EF4-FFF2-40B4-BE49-F238E27FC236}">
                <a16:creationId xmlns:a16="http://schemas.microsoft.com/office/drawing/2014/main" id="{76B03511-66D6-4F91-9FC2-4B0EA3551F9B}"/>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0253662" y="5777277"/>
            <a:ext cx="609600" cy="609600"/>
          </a:xfrm>
          <a:prstGeom prst="rect">
            <a:avLst/>
          </a:prstGeom>
        </p:spPr>
      </p:pic>
      <p:sp>
        <p:nvSpPr>
          <p:cNvPr id="2" name="Rectangle 1">
            <a:extLst>
              <a:ext uri="{FF2B5EF4-FFF2-40B4-BE49-F238E27FC236}">
                <a16:creationId xmlns:a16="http://schemas.microsoft.com/office/drawing/2014/main" id="{79463BAB-8E77-BD2C-E857-D627604D868B}"/>
              </a:ext>
            </a:extLst>
          </p:cNvPr>
          <p:cNvSpPr/>
          <p:nvPr/>
        </p:nvSpPr>
        <p:spPr>
          <a:xfrm>
            <a:off x="0" y="0"/>
            <a:ext cx="1026160" cy="2438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986947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9330" fill="hold"/>
                                        <p:tgtEl>
                                          <p:spTgt spid="4"/>
                                        </p:tgtEl>
                                      </p:cBhvr>
                                    </p:cmd>
                                  </p:childTnLst>
                                </p:cTn>
                              </p:par>
                              <p:par>
                                <p:cTn id="7" presetID="26" presetClass="emph" presetSubtype="0" fill="remove" grpId="0" nodeType="withEffect">
                                  <p:stCondLst>
                                    <p:cond delay="0"/>
                                  </p:stCondLst>
                                  <p:childTnLst>
                                    <p:animEffect transition="out" filter="fade">
                                      <p:cBhvr>
                                        <p:cTn id="8" dur="3000" tmFilter="0, 0; .2, .5; .8, .5; 1, 0"/>
                                        <p:tgtEl>
                                          <p:spTgt spid="3"/>
                                        </p:tgtEl>
                                      </p:cBhvr>
                                    </p:animEffect>
                                    <p:animScale>
                                      <p:cBhvr>
                                        <p:cTn id="9" dur="1500"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10" fill="hold" display="0">
                  <p:stCondLst>
                    <p:cond delay="indefinite"/>
                  </p:stCondLst>
                  <p:endCondLst>
                    <p:cond evt="onStopAudio" delay="0">
                      <p:tgtEl>
                        <p:sldTgt/>
                      </p:tgtEl>
                    </p:cond>
                  </p:endCondLst>
                </p:cTn>
                <p:tgtEl>
                  <p:spTgt spid="4"/>
                </p:tgtEl>
              </p:cMediaNode>
            </p:audio>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ext Box 3"/>
          <p:cNvSpPr txBox="1">
            <a:spLocks noChangeArrowheads="1"/>
          </p:cNvSpPr>
          <p:nvPr/>
        </p:nvSpPr>
        <p:spPr bwMode="auto">
          <a:xfrm>
            <a:off x="6713539" y="3265488"/>
            <a:ext cx="6111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itchFamily="34" charset="0"/>
              </a:defRPr>
            </a:lvl1pPr>
            <a:lvl2pPr marL="742950" indent="-285750">
              <a:spcBef>
                <a:spcPct val="20000"/>
              </a:spcBef>
              <a:buClr>
                <a:schemeClr val="bg2"/>
              </a:buClr>
              <a:buSzPct val="70000"/>
              <a:buFont typeface="Wingdings" pitchFamily="2" charset="2"/>
              <a:buChar char="n"/>
              <a:defRPr>
                <a:solidFill>
                  <a:schemeClr val="tx1"/>
                </a:solidFill>
                <a:latin typeface="Arial" pitchFamily="34" charset="0"/>
              </a:defRPr>
            </a:lvl2pPr>
            <a:lvl3pPr marL="1143000" indent="-228600">
              <a:spcBef>
                <a:spcPct val="20000"/>
              </a:spcBef>
              <a:buSzPct val="70000"/>
              <a:buFont typeface="Wingdings" pitchFamily="2" charset="2"/>
              <a:buChar char="n"/>
              <a:defRPr>
                <a:solidFill>
                  <a:schemeClr val="tx1"/>
                </a:solidFill>
                <a:latin typeface="Arial" pitchFamily="34" charset="0"/>
              </a:defRPr>
            </a:lvl3pPr>
            <a:lvl4pPr marL="1600200" indent="-228600">
              <a:spcBef>
                <a:spcPct val="20000"/>
              </a:spcBef>
              <a:buSzPct val="70000"/>
              <a:buFont typeface="Wingdings" pitchFamily="2" charset="2"/>
              <a:buChar char="n"/>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spcBef>
                <a:spcPct val="0"/>
              </a:spcBef>
              <a:buSzTx/>
              <a:buFontTx/>
              <a:buNone/>
            </a:pPr>
            <a:r>
              <a:rPr lang="en-US" altLang="en-US" sz="1600">
                <a:latin typeface="Times New Roman" pitchFamily="18" charset="0"/>
              </a:rPr>
              <a:t>ADC</a:t>
            </a:r>
          </a:p>
        </p:txBody>
      </p:sp>
      <p:sp>
        <p:nvSpPr>
          <p:cNvPr id="8196" name="Line 4"/>
          <p:cNvSpPr>
            <a:spLocks noChangeShapeType="1"/>
          </p:cNvSpPr>
          <p:nvPr/>
        </p:nvSpPr>
        <p:spPr bwMode="auto">
          <a:xfrm flipV="1">
            <a:off x="2403475" y="2216150"/>
            <a:ext cx="0" cy="1219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SG"/>
          </a:p>
        </p:txBody>
      </p:sp>
      <p:sp>
        <p:nvSpPr>
          <p:cNvPr id="8197" name="Line 5"/>
          <p:cNvSpPr>
            <a:spLocks noChangeShapeType="1"/>
          </p:cNvSpPr>
          <p:nvPr/>
        </p:nvSpPr>
        <p:spPr bwMode="auto">
          <a:xfrm rot="5400000" flipV="1">
            <a:off x="3464719" y="2374106"/>
            <a:ext cx="0" cy="21224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SG"/>
          </a:p>
        </p:txBody>
      </p:sp>
      <p:sp>
        <p:nvSpPr>
          <p:cNvPr id="8198" name="Line 6"/>
          <p:cNvSpPr>
            <a:spLocks noChangeShapeType="1"/>
          </p:cNvSpPr>
          <p:nvPr/>
        </p:nvSpPr>
        <p:spPr bwMode="auto">
          <a:xfrm flipV="1">
            <a:off x="2971800" y="3984625"/>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199" name="Line 7"/>
          <p:cNvSpPr>
            <a:spLocks noChangeShapeType="1"/>
          </p:cNvSpPr>
          <p:nvPr/>
        </p:nvSpPr>
        <p:spPr bwMode="auto">
          <a:xfrm>
            <a:off x="2971800" y="3984625"/>
            <a:ext cx="101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00" name="Line 8"/>
          <p:cNvSpPr>
            <a:spLocks noChangeShapeType="1"/>
          </p:cNvSpPr>
          <p:nvPr/>
        </p:nvSpPr>
        <p:spPr bwMode="auto">
          <a:xfrm>
            <a:off x="3073400" y="3984625"/>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01" name="Line 9"/>
          <p:cNvSpPr>
            <a:spLocks noChangeShapeType="1"/>
          </p:cNvSpPr>
          <p:nvPr/>
        </p:nvSpPr>
        <p:spPr bwMode="auto">
          <a:xfrm>
            <a:off x="3073400" y="4594225"/>
            <a:ext cx="368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02" name="Line 10"/>
          <p:cNvSpPr>
            <a:spLocks noChangeShapeType="1"/>
          </p:cNvSpPr>
          <p:nvPr/>
        </p:nvSpPr>
        <p:spPr bwMode="auto">
          <a:xfrm flipV="1">
            <a:off x="3441700" y="3984625"/>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03" name="Line 11"/>
          <p:cNvSpPr>
            <a:spLocks noChangeShapeType="1"/>
          </p:cNvSpPr>
          <p:nvPr/>
        </p:nvSpPr>
        <p:spPr bwMode="auto">
          <a:xfrm>
            <a:off x="3441701" y="3984625"/>
            <a:ext cx="1000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04" name="Line 12"/>
          <p:cNvSpPr>
            <a:spLocks noChangeShapeType="1"/>
          </p:cNvSpPr>
          <p:nvPr/>
        </p:nvSpPr>
        <p:spPr bwMode="auto">
          <a:xfrm>
            <a:off x="3541713" y="3984625"/>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05" name="Line 13"/>
          <p:cNvSpPr>
            <a:spLocks noChangeShapeType="1"/>
          </p:cNvSpPr>
          <p:nvPr/>
        </p:nvSpPr>
        <p:spPr bwMode="auto">
          <a:xfrm>
            <a:off x="3541714" y="4594225"/>
            <a:ext cx="3714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06" name="Line 14"/>
          <p:cNvSpPr>
            <a:spLocks noChangeShapeType="1"/>
          </p:cNvSpPr>
          <p:nvPr/>
        </p:nvSpPr>
        <p:spPr bwMode="auto">
          <a:xfrm flipH="1">
            <a:off x="2803526" y="4594225"/>
            <a:ext cx="1682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07" name="Line 15"/>
          <p:cNvSpPr>
            <a:spLocks noChangeShapeType="1"/>
          </p:cNvSpPr>
          <p:nvPr/>
        </p:nvSpPr>
        <p:spPr bwMode="auto">
          <a:xfrm flipV="1">
            <a:off x="3917950" y="3984625"/>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08" name="Line 16"/>
          <p:cNvSpPr>
            <a:spLocks noChangeShapeType="1"/>
          </p:cNvSpPr>
          <p:nvPr/>
        </p:nvSpPr>
        <p:spPr bwMode="auto">
          <a:xfrm>
            <a:off x="3917950" y="3984625"/>
            <a:ext cx="101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09" name="Line 17"/>
          <p:cNvSpPr>
            <a:spLocks noChangeShapeType="1"/>
          </p:cNvSpPr>
          <p:nvPr/>
        </p:nvSpPr>
        <p:spPr bwMode="auto">
          <a:xfrm>
            <a:off x="4019550" y="3984625"/>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10" name="Line 18"/>
          <p:cNvSpPr>
            <a:spLocks noChangeShapeType="1"/>
          </p:cNvSpPr>
          <p:nvPr/>
        </p:nvSpPr>
        <p:spPr bwMode="auto">
          <a:xfrm>
            <a:off x="4019550" y="4594225"/>
            <a:ext cx="3698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11" name="Line 19"/>
          <p:cNvSpPr>
            <a:spLocks noChangeShapeType="1"/>
          </p:cNvSpPr>
          <p:nvPr/>
        </p:nvSpPr>
        <p:spPr bwMode="auto">
          <a:xfrm flipV="1">
            <a:off x="4389438" y="3984625"/>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12" name="Line 20"/>
          <p:cNvSpPr>
            <a:spLocks noChangeShapeType="1"/>
          </p:cNvSpPr>
          <p:nvPr/>
        </p:nvSpPr>
        <p:spPr bwMode="auto">
          <a:xfrm>
            <a:off x="4389438" y="3984625"/>
            <a:ext cx="1000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13" name="Line 21"/>
          <p:cNvSpPr>
            <a:spLocks noChangeShapeType="1"/>
          </p:cNvSpPr>
          <p:nvPr/>
        </p:nvSpPr>
        <p:spPr bwMode="auto">
          <a:xfrm>
            <a:off x="4489450" y="3984625"/>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14" name="Line 22"/>
          <p:cNvSpPr>
            <a:spLocks noChangeShapeType="1"/>
          </p:cNvSpPr>
          <p:nvPr/>
        </p:nvSpPr>
        <p:spPr bwMode="auto">
          <a:xfrm>
            <a:off x="4489450" y="4594225"/>
            <a:ext cx="3698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SG"/>
          </a:p>
        </p:txBody>
      </p:sp>
      <p:sp>
        <p:nvSpPr>
          <p:cNvPr id="8215" name="Freeform 23"/>
          <p:cNvSpPr>
            <a:spLocks/>
          </p:cNvSpPr>
          <p:nvPr/>
        </p:nvSpPr>
        <p:spPr bwMode="auto">
          <a:xfrm>
            <a:off x="2508251" y="2292351"/>
            <a:ext cx="1928813" cy="919163"/>
          </a:xfrm>
          <a:custGeom>
            <a:avLst/>
            <a:gdLst>
              <a:gd name="T0" fmla="*/ 0 w 1332"/>
              <a:gd name="T1" fmla="*/ 2147483647 h 717"/>
              <a:gd name="T2" fmla="*/ 2147483647 w 1332"/>
              <a:gd name="T3" fmla="*/ 2147483647 h 717"/>
              <a:gd name="T4" fmla="*/ 2147483647 w 1332"/>
              <a:gd name="T5" fmla="*/ 2147483647 h 717"/>
              <a:gd name="T6" fmla="*/ 2147483647 w 1332"/>
              <a:gd name="T7" fmla="*/ 2147483647 h 717"/>
              <a:gd name="T8" fmla="*/ 2147483647 w 1332"/>
              <a:gd name="T9" fmla="*/ 2147483647 h 717"/>
              <a:gd name="T10" fmla="*/ 2147483647 w 1332"/>
              <a:gd name="T11" fmla="*/ 2147483647 h 717"/>
              <a:gd name="T12" fmla="*/ 0 60000 65536"/>
              <a:gd name="T13" fmla="*/ 0 60000 65536"/>
              <a:gd name="T14" fmla="*/ 0 60000 65536"/>
              <a:gd name="T15" fmla="*/ 0 60000 65536"/>
              <a:gd name="T16" fmla="*/ 0 60000 65536"/>
              <a:gd name="T17" fmla="*/ 0 60000 65536"/>
              <a:gd name="T18" fmla="*/ 0 w 1332"/>
              <a:gd name="T19" fmla="*/ 0 h 717"/>
              <a:gd name="T20" fmla="*/ 1332 w 1332"/>
              <a:gd name="T21" fmla="*/ 717 h 717"/>
            </a:gdLst>
            <a:ahLst/>
            <a:cxnLst>
              <a:cxn ang="T12">
                <a:pos x="T0" y="T1"/>
              </a:cxn>
              <a:cxn ang="T13">
                <a:pos x="T2" y="T3"/>
              </a:cxn>
              <a:cxn ang="T14">
                <a:pos x="T4" y="T5"/>
              </a:cxn>
              <a:cxn ang="T15">
                <a:pos x="T6" y="T7"/>
              </a:cxn>
              <a:cxn ang="T16">
                <a:pos x="T8" y="T9"/>
              </a:cxn>
              <a:cxn ang="T17">
                <a:pos x="T10" y="T11"/>
              </a:cxn>
            </a:cxnLst>
            <a:rect l="T18" t="T19" r="T20" b="T21"/>
            <a:pathLst>
              <a:path w="1332" h="717">
                <a:moveTo>
                  <a:pt x="0" y="716"/>
                </a:moveTo>
                <a:cubicBezTo>
                  <a:pt x="34" y="651"/>
                  <a:pt x="69" y="587"/>
                  <a:pt x="126" y="542"/>
                </a:cubicBezTo>
                <a:cubicBezTo>
                  <a:pt x="183" y="497"/>
                  <a:pt x="271" y="532"/>
                  <a:pt x="342" y="446"/>
                </a:cubicBezTo>
                <a:cubicBezTo>
                  <a:pt x="413" y="360"/>
                  <a:pt x="440" y="0"/>
                  <a:pt x="552" y="26"/>
                </a:cubicBezTo>
                <a:cubicBezTo>
                  <a:pt x="664" y="52"/>
                  <a:pt x="884" y="487"/>
                  <a:pt x="1014" y="602"/>
                </a:cubicBezTo>
                <a:cubicBezTo>
                  <a:pt x="1144" y="717"/>
                  <a:pt x="1238" y="716"/>
                  <a:pt x="1332" y="716"/>
                </a:cubicBezTo>
              </a:path>
            </a:pathLst>
          </a:custGeom>
          <a:noFill/>
          <a:ln w="9525" cap="flat">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SG"/>
          </a:p>
        </p:txBody>
      </p:sp>
      <p:grpSp>
        <p:nvGrpSpPr>
          <p:cNvPr id="8216" name="Group 24"/>
          <p:cNvGrpSpPr>
            <a:grpSpLocks/>
          </p:cNvGrpSpPr>
          <p:nvPr/>
        </p:nvGrpSpPr>
        <p:grpSpPr bwMode="auto">
          <a:xfrm>
            <a:off x="5432426" y="2455863"/>
            <a:ext cx="504825" cy="533400"/>
            <a:chOff x="792" y="1008"/>
            <a:chExt cx="348" cy="336"/>
          </a:xfrm>
        </p:grpSpPr>
        <p:sp>
          <p:nvSpPr>
            <p:cNvPr id="8305" name="Oval 25"/>
            <p:cNvSpPr>
              <a:spLocks noChangeArrowheads="1"/>
            </p:cNvSpPr>
            <p:nvPr/>
          </p:nvSpPr>
          <p:spPr bwMode="auto">
            <a:xfrm>
              <a:off x="792" y="1008"/>
              <a:ext cx="348" cy="33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85000"/>
                <a:buBlip>
                  <a:blip r:embed="rId5"/>
                </a:buBlip>
                <a:defRPr sz="3200">
                  <a:solidFill>
                    <a:schemeClr val="tx1"/>
                  </a:solidFill>
                  <a:latin typeface="Arial" pitchFamily="34" charset="0"/>
                </a:defRPr>
              </a:lvl1pPr>
              <a:lvl2pPr marL="742950" indent="-285750">
                <a:spcBef>
                  <a:spcPct val="20000"/>
                </a:spcBef>
                <a:buClr>
                  <a:schemeClr val="bg2"/>
                </a:buClr>
                <a:buSzPct val="70000"/>
                <a:buFont typeface="Wingdings" pitchFamily="2" charset="2"/>
                <a:buChar char="n"/>
                <a:defRPr>
                  <a:solidFill>
                    <a:schemeClr val="tx1"/>
                  </a:solidFill>
                  <a:latin typeface="Arial" pitchFamily="34" charset="0"/>
                </a:defRPr>
              </a:lvl2pPr>
              <a:lvl3pPr marL="1143000" indent="-228600">
                <a:spcBef>
                  <a:spcPct val="20000"/>
                </a:spcBef>
                <a:buSzPct val="70000"/>
                <a:buFont typeface="Wingdings" pitchFamily="2" charset="2"/>
                <a:buChar char="n"/>
                <a:defRPr>
                  <a:solidFill>
                    <a:schemeClr val="tx1"/>
                  </a:solidFill>
                  <a:latin typeface="Arial" pitchFamily="34" charset="0"/>
                </a:defRPr>
              </a:lvl3pPr>
              <a:lvl4pPr marL="1600200" indent="-228600">
                <a:spcBef>
                  <a:spcPct val="20000"/>
                </a:spcBef>
                <a:buSzPct val="70000"/>
                <a:buFont typeface="Wingdings" pitchFamily="2" charset="2"/>
                <a:buChar char="n"/>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lgn="ctr" eaLnBrk="1" hangingPunct="1">
                <a:spcBef>
                  <a:spcPct val="0"/>
                </a:spcBef>
                <a:buSzTx/>
                <a:buFontTx/>
                <a:buNone/>
              </a:pPr>
              <a:endParaRPr lang="en-GB" altLang="en-US" sz="1400"/>
            </a:p>
          </p:txBody>
        </p:sp>
        <p:sp>
          <p:nvSpPr>
            <p:cNvPr id="8306" name="Line 26"/>
            <p:cNvSpPr>
              <a:spLocks noChangeShapeType="1"/>
            </p:cNvSpPr>
            <p:nvPr/>
          </p:nvSpPr>
          <p:spPr bwMode="auto">
            <a:xfrm>
              <a:off x="849" y="1053"/>
              <a:ext cx="240" cy="2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307" name="Line 27"/>
            <p:cNvSpPr>
              <a:spLocks noChangeShapeType="1"/>
            </p:cNvSpPr>
            <p:nvPr/>
          </p:nvSpPr>
          <p:spPr bwMode="auto">
            <a:xfrm flipH="1">
              <a:off x="849" y="1059"/>
              <a:ext cx="240" cy="2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grpSp>
      <p:sp>
        <p:nvSpPr>
          <p:cNvPr id="8217" name="Text Box 28"/>
          <p:cNvSpPr txBox="1">
            <a:spLocks noChangeArrowheads="1"/>
          </p:cNvSpPr>
          <p:nvPr/>
        </p:nvSpPr>
        <p:spPr bwMode="auto">
          <a:xfrm>
            <a:off x="5033963" y="3543301"/>
            <a:ext cx="1560512" cy="53657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SzPct val="85000"/>
              <a:buBlip>
                <a:blip r:embed="rId5"/>
              </a:buBlip>
              <a:defRPr sz="3200">
                <a:solidFill>
                  <a:schemeClr val="tx1"/>
                </a:solidFill>
                <a:latin typeface="Arial" pitchFamily="34" charset="0"/>
              </a:defRPr>
            </a:lvl1pPr>
            <a:lvl2pPr marL="742950" indent="-285750">
              <a:spcBef>
                <a:spcPct val="20000"/>
              </a:spcBef>
              <a:buClr>
                <a:schemeClr val="bg2"/>
              </a:buClr>
              <a:buSzPct val="70000"/>
              <a:buFont typeface="Wingdings" pitchFamily="2" charset="2"/>
              <a:buChar char="n"/>
              <a:defRPr>
                <a:solidFill>
                  <a:schemeClr val="tx1"/>
                </a:solidFill>
                <a:latin typeface="Arial" pitchFamily="34" charset="0"/>
              </a:defRPr>
            </a:lvl2pPr>
            <a:lvl3pPr marL="1143000" indent="-228600">
              <a:spcBef>
                <a:spcPct val="20000"/>
              </a:spcBef>
              <a:buSzPct val="70000"/>
              <a:buFont typeface="Wingdings" pitchFamily="2" charset="2"/>
              <a:buChar char="n"/>
              <a:defRPr>
                <a:solidFill>
                  <a:schemeClr val="tx1"/>
                </a:solidFill>
                <a:latin typeface="Arial" pitchFamily="34" charset="0"/>
              </a:defRPr>
            </a:lvl3pPr>
            <a:lvl4pPr marL="1600200" indent="-228600">
              <a:spcBef>
                <a:spcPct val="20000"/>
              </a:spcBef>
              <a:buSzPct val="70000"/>
              <a:buFont typeface="Wingdings" pitchFamily="2" charset="2"/>
              <a:buChar char="n"/>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spcBef>
                <a:spcPct val="0"/>
              </a:spcBef>
              <a:buSzTx/>
              <a:buFontTx/>
              <a:buNone/>
            </a:pPr>
            <a:r>
              <a:rPr lang="en-US" altLang="en-US" sz="1400">
                <a:latin typeface="Times New Roman" pitchFamily="18" charset="0"/>
              </a:rPr>
              <a:t>Sampling Function</a:t>
            </a:r>
          </a:p>
          <a:p>
            <a:pPr>
              <a:spcBef>
                <a:spcPct val="0"/>
              </a:spcBef>
              <a:buSzTx/>
              <a:buFontTx/>
              <a:buNone/>
            </a:pPr>
            <a:r>
              <a:rPr lang="en-US" altLang="en-US" sz="1400">
                <a:latin typeface="Times New Roman" pitchFamily="18" charset="0"/>
              </a:rPr>
              <a:t>Generator</a:t>
            </a:r>
          </a:p>
        </p:txBody>
      </p:sp>
      <p:sp>
        <p:nvSpPr>
          <p:cNvPr id="8218" name="Line 29"/>
          <p:cNvSpPr>
            <a:spLocks noChangeShapeType="1"/>
          </p:cNvSpPr>
          <p:nvPr/>
        </p:nvSpPr>
        <p:spPr bwMode="auto">
          <a:xfrm flipV="1">
            <a:off x="5699125" y="2995613"/>
            <a:ext cx="0" cy="5524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SG"/>
          </a:p>
        </p:txBody>
      </p:sp>
      <p:sp>
        <p:nvSpPr>
          <p:cNvPr id="8219" name="Line 30"/>
          <p:cNvSpPr>
            <a:spLocks noChangeShapeType="1"/>
          </p:cNvSpPr>
          <p:nvPr/>
        </p:nvSpPr>
        <p:spPr bwMode="auto">
          <a:xfrm>
            <a:off x="4511675" y="2728913"/>
            <a:ext cx="9334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SG"/>
          </a:p>
        </p:txBody>
      </p:sp>
      <p:sp>
        <p:nvSpPr>
          <p:cNvPr id="8220" name="Text Box 31"/>
          <p:cNvSpPr txBox="1">
            <a:spLocks noChangeArrowheads="1"/>
          </p:cNvSpPr>
          <p:nvPr/>
        </p:nvSpPr>
        <p:spPr bwMode="auto">
          <a:xfrm>
            <a:off x="6527801" y="2581276"/>
            <a:ext cx="782587" cy="30777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SzPct val="85000"/>
              <a:buBlip>
                <a:blip r:embed="rId5"/>
              </a:buBlip>
              <a:defRPr sz="3200">
                <a:solidFill>
                  <a:schemeClr val="tx1"/>
                </a:solidFill>
                <a:latin typeface="Arial" pitchFamily="34" charset="0"/>
              </a:defRPr>
            </a:lvl1pPr>
            <a:lvl2pPr marL="742950" indent="-285750">
              <a:spcBef>
                <a:spcPct val="20000"/>
              </a:spcBef>
              <a:buClr>
                <a:schemeClr val="bg2"/>
              </a:buClr>
              <a:buSzPct val="70000"/>
              <a:buFont typeface="Wingdings" pitchFamily="2" charset="2"/>
              <a:buChar char="n"/>
              <a:defRPr>
                <a:solidFill>
                  <a:schemeClr val="tx1"/>
                </a:solidFill>
                <a:latin typeface="Arial" pitchFamily="34" charset="0"/>
              </a:defRPr>
            </a:lvl2pPr>
            <a:lvl3pPr marL="1143000" indent="-228600">
              <a:spcBef>
                <a:spcPct val="20000"/>
              </a:spcBef>
              <a:buSzPct val="70000"/>
              <a:buFont typeface="Wingdings" pitchFamily="2" charset="2"/>
              <a:buChar char="n"/>
              <a:defRPr>
                <a:solidFill>
                  <a:schemeClr val="tx1"/>
                </a:solidFill>
                <a:latin typeface="Arial" pitchFamily="34" charset="0"/>
              </a:defRPr>
            </a:lvl3pPr>
            <a:lvl4pPr marL="1600200" indent="-228600">
              <a:spcBef>
                <a:spcPct val="20000"/>
              </a:spcBef>
              <a:buSzPct val="70000"/>
              <a:buFont typeface="Wingdings" pitchFamily="2" charset="2"/>
              <a:buChar char="n"/>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spcBef>
                <a:spcPct val="0"/>
              </a:spcBef>
              <a:buSzTx/>
              <a:buFontTx/>
              <a:buNone/>
            </a:pPr>
            <a:r>
              <a:rPr lang="en-US" altLang="en-US" sz="1400">
                <a:latin typeface="Times New Roman" pitchFamily="18" charset="0"/>
              </a:rPr>
              <a:t>Encoder</a:t>
            </a:r>
            <a:endParaRPr lang="en-US" altLang="en-US" sz="1600">
              <a:latin typeface="Times New Roman" pitchFamily="18" charset="0"/>
            </a:endParaRPr>
          </a:p>
        </p:txBody>
      </p:sp>
      <p:sp>
        <p:nvSpPr>
          <p:cNvPr id="8221" name="Line 32"/>
          <p:cNvSpPr>
            <a:spLocks noChangeShapeType="1"/>
          </p:cNvSpPr>
          <p:nvPr/>
        </p:nvSpPr>
        <p:spPr bwMode="auto">
          <a:xfrm>
            <a:off x="5937250" y="2716213"/>
            <a:ext cx="5969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SG"/>
          </a:p>
        </p:txBody>
      </p:sp>
      <p:sp>
        <p:nvSpPr>
          <p:cNvPr id="8222" name="Line 33"/>
          <p:cNvSpPr>
            <a:spLocks noChangeShapeType="1"/>
          </p:cNvSpPr>
          <p:nvPr/>
        </p:nvSpPr>
        <p:spPr bwMode="auto">
          <a:xfrm>
            <a:off x="7331075" y="2738438"/>
            <a:ext cx="5969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SG"/>
          </a:p>
        </p:txBody>
      </p:sp>
      <p:sp>
        <p:nvSpPr>
          <p:cNvPr id="8223" name="Rectangle 34"/>
          <p:cNvSpPr>
            <a:spLocks noChangeArrowheads="1"/>
          </p:cNvSpPr>
          <p:nvPr/>
        </p:nvSpPr>
        <p:spPr bwMode="auto">
          <a:xfrm>
            <a:off x="5043488" y="2185988"/>
            <a:ext cx="2355850" cy="103981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85000"/>
              <a:buBlip>
                <a:blip r:embed="rId5"/>
              </a:buBlip>
              <a:defRPr sz="3200">
                <a:solidFill>
                  <a:schemeClr val="tx1"/>
                </a:solidFill>
                <a:latin typeface="Arial" pitchFamily="34" charset="0"/>
              </a:defRPr>
            </a:lvl1pPr>
            <a:lvl2pPr marL="742950" indent="-285750">
              <a:spcBef>
                <a:spcPct val="20000"/>
              </a:spcBef>
              <a:buClr>
                <a:schemeClr val="bg2"/>
              </a:buClr>
              <a:buSzPct val="70000"/>
              <a:buFont typeface="Wingdings" pitchFamily="2" charset="2"/>
              <a:buChar char="n"/>
              <a:defRPr>
                <a:solidFill>
                  <a:schemeClr val="tx1"/>
                </a:solidFill>
                <a:latin typeface="Arial" pitchFamily="34" charset="0"/>
              </a:defRPr>
            </a:lvl2pPr>
            <a:lvl3pPr marL="1143000" indent="-228600">
              <a:spcBef>
                <a:spcPct val="20000"/>
              </a:spcBef>
              <a:buSzPct val="70000"/>
              <a:buFont typeface="Wingdings" pitchFamily="2" charset="2"/>
              <a:buChar char="n"/>
              <a:defRPr>
                <a:solidFill>
                  <a:schemeClr val="tx1"/>
                </a:solidFill>
                <a:latin typeface="Arial" pitchFamily="34" charset="0"/>
              </a:defRPr>
            </a:lvl3pPr>
            <a:lvl4pPr marL="1600200" indent="-228600">
              <a:spcBef>
                <a:spcPct val="20000"/>
              </a:spcBef>
              <a:buSzPct val="70000"/>
              <a:buFont typeface="Wingdings" pitchFamily="2" charset="2"/>
              <a:buChar char="n"/>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lgn="ctr" eaLnBrk="1" hangingPunct="1">
              <a:spcBef>
                <a:spcPct val="0"/>
              </a:spcBef>
              <a:buSzTx/>
              <a:buFontTx/>
              <a:buNone/>
            </a:pPr>
            <a:endParaRPr lang="en-GB" altLang="en-US" sz="1400"/>
          </a:p>
        </p:txBody>
      </p:sp>
      <p:sp>
        <p:nvSpPr>
          <p:cNvPr id="8224" name="Text Box 35"/>
          <p:cNvSpPr txBox="1">
            <a:spLocks noChangeArrowheads="1"/>
          </p:cNvSpPr>
          <p:nvPr/>
        </p:nvSpPr>
        <p:spPr bwMode="auto">
          <a:xfrm>
            <a:off x="2952750" y="5561013"/>
            <a:ext cx="153920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itchFamily="34" charset="0"/>
              </a:defRPr>
            </a:lvl1pPr>
            <a:lvl2pPr marL="742950" indent="-285750">
              <a:spcBef>
                <a:spcPct val="20000"/>
              </a:spcBef>
              <a:buClr>
                <a:schemeClr val="bg2"/>
              </a:buClr>
              <a:buSzPct val="70000"/>
              <a:buFont typeface="Wingdings" pitchFamily="2" charset="2"/>
              <a:buChar char="n"/>
              <a:defRPr>
                <a:solidFill>
                  <a:schemeClr val="tx1"/>
                </a:solidFill>
                <a:latin typeface="Arial" pitchFamily="34" charset="0"/>
              </a:defRPr>
            </a:lvl2pPr>
            <a:lvl3pPr marL="1143000" indent="-228600">
              <a:spcBef>
                <a:spcPct val="20000"/>
              </a:spcBef>
              <a:buSzPct val="70000"/>
              <a:buFont typeface="Wingdings" pitchFamily="2" charset="2"/>
              <a:buChar char="n"/>
              <a:defRPr>
                <a:solidFill>
                  <a:schemeClr val="tx1"/>
                </a:solidFill>
                <a:latin typeface="Arial" pitchFamily="34" charset="0"/>
              </a:defRPr>
            </a:lvl3pPr>
            <a:lvl4pPr marL="1600200" indent="-228600">
              <a:spcBef>
                <a:spcPct val="20000"/>
              </a:spcBef>
              <a:buSzPct val="70000"/>
              <a:buFont typeface="Wingdings" pitchFamily="2" charset="2"/>
              <a:buChar char="n"/>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spcBef>
                <a:spcPct val="0"/>
              </a:spcBef>
              <a:buSzTx/>
              <a:buFontTx/>
              <a:buNone/>
            </a:pPr>
            <a:r>
              <a:rPr lang="en-US" altLang="en-US" sz="1600">
                <a:latin typeface="Times New Roman" pitchFamily="18" charset="0"/>
              </a:rPr>
              <a:t>Sampling pulses</a:t>
            </a:r>
          </a:p>
        </p:txBody>
      </p:sp>
      <p:sp>
        <p:nvSpPr>
          <p:cNvPr id="8225" name="Text Box 36"/>
          <p:cNvSpPr txBox="1">
            <a:spLocks noChangeArrowheads="1"/>
          </p:cNvSpPr>
          <p:nvPr/>
        </p:nvSpPr>
        <p:spPr bwMode="auto">
          <a:xfrm>
            <a:off x="3104571" y="1943347"/>
            <a:ext cx="172835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itchFamily="34" charset="0"/>
              </a:defRPr>
            </a:lvl1pPr>
            <a:lvl2pPr marL="742950" indent="-285750">
              <a:spcBef>
                <a:spcPct val="20000"/>
              </a:spcBef>
              <a:buClr>
                <a:schemeClr val="bg2"/>
              </a:buClr>
              <a:buSzPct val="70000"/>
              <a:buFont typeface="Wingdings" pitchFamily="2" charset="2"/>
              <a:buChar char="n"/>
              <a:defRPr>
                <a:solidFill>
                  <a:schemeClr val="tx1"/>
                </a:solidFill>
                <a:latin typeface="Arial" pitchFamily="34" charset="0"/>
              </a:defRPr>
            </a:lvl2pPr>
            <a:lvl3pPr marL="1143000" indent="-228600">
              <a:spcBef>
                <a:spcPct val="20000"/>
              </a:spcBef>
              <a:buSzPct val="70000"/>
              <a:buFont typeface="Wingdings" pitchFamily="2" charset="2"/>
              <a:buChar char="n"/>
              <a:defRPr>
                <a:solidFill>
                  <a:schemeClr val="tx1"/>
                </a:solidFill>
                <a:latin typeface="Arial" pitchFamily="34" charset="0"/>
              </a:defRPr>
            </a:lvl3pPr>
            <a:lvl4pPr marL="1600200" indent="-228600">
              <a:spcBef>
                <a:spcPct val="20000"/>
              </a:spcBef>
              <a:buSzPct val="70000"/>
              <a:buFont typeface="Wingdings" pitchFamily="2" charset="2"/>
              <a:buChar char="n"/>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spcBef>
                <a:spcPct val="0"/>
              </a:spcBef>
              <a:buSzTx/>
              <a:buFontTx/>
              <a:buNone/>
            </a:pPr>
            <a:r>
              <a:rPr lang="en-US" altLang="en-US" sz="1400" b="1" dirty="0">
                <a:solidFill>
                  <a:srgbClr val="FF0000"/>
                </a:solidFill>
                <a:latin typeface="Times New Roman" pitchFamily="18" charset="0"/>
              </a:rPr>
              <a:t>Analog Input Signal</a:t>
            </a:r>
          </a:p>
        </p:txBody>
      </p:sp>
      <p:sp>
        <p:nvSpPr>
          <p:cNvPr id="8226" name="Text Box 37"/>
          <p:cNvSpPr txBox="1">
            <a:spLocks noChangeArrowheads="1"/>
          </p:cNvSpPr>
          <p:nvPr/>
        </p:nvSpPr>
        <p:spPr bwMode="auto">
          <a:xfrm>
            <a:off x="4470401" y="3394075"/>
            <a:ext cx="2270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itchFamily="34" charset="0"/>
              </a:defRPr>
            </a:lvl1pPr>
            <a:lvl2pPr marL="742950" indent="-285750">
              <a:spcBef>
                <a:spcPct val="20000"/>
              </a:spcBef>
              <a:buClr>
                <a:schemeClr val="bg2"/>
              </a:buClr>
              <a:buSzPct val="70000"/>
              <a:buFont typeface="Wingdings" pitchFamily="2" charset="2"/>
              <a:buChar char="n"/>
              <a:defRPr>
                <a:solidFill>
                  <a:schemeClr val="tx1"/>
                </a:solidFill>
                <a:latin typeface="Arial" pitchFamily="34" charset="0"/>
              </a:defRPr>
            </a:lvl2pPr>
            <a:lvl3pPr marL="1143000" indent="-228600">
              <a:spcBef>
                <a:spcPct val="20000"/>
              </a:spcBef>
              <a:buSzPct val="70000"/>
              <a:buFont typeface="Wingdings" pitchFamily="2" charset="2"/>
              <a:buChar char="n"/>
              <a:defRPr>
                <a:solidFill>
                  <a:schemeClr val="tx1"/>
                </a:solidFill>
                <a:latin typeface="Arial" pitchFamily="34" charset="0"/>
              </a:defRPr>
            </a:lvl3pPr>
            <a:lvl4pPr marL="1600200" indent="-228600">
              <a:spcBef>
                <a:spcPct val="20000"/>
              </a:spcBef>
              <a:buSzPct val="70000"/>
              <a:buFont typeface="Wingdings" pitchFamily="2" charset="2"/>
              <a:buChar char="n"/>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spcBef>
                <a:spcPct val="0"/>
              </a:spcBef>
              <a:buSzTx/>
              <a:buFontTx/>
              <a:buNone/>
            </a:pPr>
            <a:r>
              <a:rPr lang="en-US" altLang="en-US" sz="1200">
                <a:latin typeface="Times New Roman" pitchFamily="18" charset="0"/>
              </a:rPr>
              <a:t>t</a:t>
            </a:r>
          </a:p>
        </p:txBody>
      </p:sp>
      <p:sp>
        <p:nvSpPr>
          <p:cNvPr id="8227" name="Text Box 38"/>
          <p:cNvSpPr txBox="1">
            <a:spLocks noChangeArrowheads="1"/>
          </p:cNvSpPr>
          <p:nvPr/>
        </p:nvSpPr>
        <p:spPr bwMode="auto">
          <a:xfrm>
            <a:off x="1524001" y="2293939"/>
            <a:ext cx="7969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itchFamily="34" charset="0"/>
              </a:defRPr>
            </a:lvl1pPr>
            <a:lvl2pPr marL="742950" indent="-285750">
              <a:spcBef>
                <a:spcPct val="20000"/>
              </a:spcBef>
              <a:buClr>
                <a:schemeClr val="bg2"/>
              </a:buClr>
              <a:buSzPct val="70000"/>
              <a:buFont typeface="Wingdings" pitchFamily="2" charset="2"/>
              <a:buChar char="n"/>
              <a:defRPr>
                <a:solidFill>
                  <a:schemeClr val="tx1"/>
                </a:solidFill>
                <a:latin typeface="Arial" pitchFamily="34" charset="0"/>
              </a:defRPr>
            </a:lvl2pPr>
            <a:lvl3pPr marL="1143000" indent="-228600">
              <a:spcBef>
                <a:spcPct val="20000"/>
              </a:spcBef>
              <a:buSzPct val="70000"/>
              <a:buFont typeface="Wingdings" pitchFamily="2" charset="2"/>
              <a:buChar char="n"/>
              <a:defRPr>
                <a:solidFill>
                  <a:schemeClr val="tx1"/>
                </a:solidFill>
                <a:latin typeface="Arial" pitchFamily="34" charset="0"/>
              </a:defRPr>
            </a:lvl3pPr>
            <a:lvl4pPr marL="1600200" indent="-228600">
              <a:spcBef>
                <a:spcPct val="20000"/>
              </a:spcBef>
              <a:buSzPct val="70000"/>
              <a:buFont typeface="Wingdings" pitchFamily="2" charset="2"/>
              <a:buChar char="n"/>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spcBef>
                <a:spcPct val="0"/>
              </a:spcBef>
              <a:buSzTx/>
              <a:buFontTx/>
              <a:buNone/>
            </a:pPr>
            <a:r>
              <a:rPr lang="en-US" altLang="en-US" sz="1200">
                <a:latin typeface="Times New Roman" pitchFamily="18" charset="0"/>
              </a:rPr>
              <a:t>amplitude</a:t>
            </a:r>
          </a:p>
        </p:txBody>
      </p:sp>
      <p:sp>
        <p:nvSpPr>
          <p:cNvPr id="8228" name="Line 39"/>
          <p:cNvSpPr>
            <a:spLocks noChangeShapeType="1"/>
          </p:cNvSpPr>
          <p:nvPr/>
        </p:nvSpPr>
        <p:spPr bwMode="auto">
          <a:xfrm>
            <a:off x="2970214" y="4699000"/>
            <a:ext cx="485775"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SG"/>
          </a:p>
        </p:txBody>
      </p:sp>
      <p:sp>
        <p:nvSpPr>
          <p:cNvPr id="8229" name="Text Box 40"/>
          <p:cNvSpPr txBox="1">
            <a:spLocks noChangeArrowheads="1"/>
          </p:cNvSpPr>
          <p:nvPr/>
        </p:nvSpPr>
        <p:spPr bwMode="auto">
          <a:xfrm>
            <a:off x="2997200" y="4665664"/>
            <a:ext cx="36099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itchFamily="34" charset="0"/>
              </a:defRPr>
            </a:lvl1pPr>
            <a:lvl2pPr marL="742950" indent="-285750">
              <a:spcBef>
                <a:spcPct val="20000"/>
              </a:spcBef>
              <a:buClr>
                <a:schemeClr val="bg2"/>
              </a:buClr>
              <a:buSzPct val="70000"/>
              <a:buFont typeface="Wingdings" pitchFamily="2" charset="2"/>
              <a:buChar char="n"/>
              <a:defRPr>
                <a:solidFill>
                  <a:schemeClr val="tx1"/>
                </a:solidFill>
                <a:latin typeface="Arial" pitchFamily="34" charset="0"/>
              </a:defRPr>
            </a:lvl2pPr>
            <a:lvl3pPr marL="1143000" indent="-228600">
              <a:spcBef>
                <a:spcPct val="20000"/>
              </a:spcBef>
              <a:buSzPct val="70000"/>
              <a:buFont typeface="Wingdings" pitchFamily="2" charset="2"/>
              <a:buChar char="n"/>
              <a:defRPr>
                <a:solidFill>
                  <a:schemeClr val="tx1"/>
                </a:solidFill>
                <a:latin typeface="Arial" pitchFamily="34" charset="0"/>
              </a:defRPr>
            </a:lvl3pPr>
            <a:lvl4pPr marL="1600200" indent="-228600">
              <a:spcBef>
                <a:spcPct val="20000"/>
              </a:spcBef>
              <a:buSzPct val="70000"/>
              <a:buFont typeface="Wingdings" pitchFamily="2" charset="2"/>
              <a:buChar char="n"/>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spcBef>
                <a:spcPct val="0"/>
              </a:spcBef>
              <a:buSzTx/>
              <a:buFontTx/>
              <a:buNone/>
            </a:pPr>
            <a:r>
              <a:rPr lang="en-US" altLang="en-US" sz="1400">
                <a:latin typeface="Times New Roman" pitchFamily="18" charset="0"/>
              </a:rPr>
              <a:t>T</a:t>
            </a:r>
            <a:r>
              <a:rPr lang="en-US" altLang="en-US" sz="1400" baseline="-25000">
                <a:latin typeface="Times New Roman" pitchFamily="18" charset="0"/>
              </a:rPr>
              <a:t>S</a:t>
            </a:r>
            <a:endParaRPr lang="en-US" altLang="en-US" sz="1400">
              <a:latin typeface="Times New Roman" pitchFamily="18" charset="0"/>
            </a:endParaRPr>
          </a:p>
        </p:txBody>
      </p:sp>
      <p:sp>
        <p:nvSpPr>
          <p:cNvPr id="8230" name="Text Box 41"/>
          <p:cNvSpPr txBox="1">
            <a:spLocks noChangeArrowheads="1"/>
          </p:cNvSpPr>
          <p:nvPr/>
        </p:nvSpPr>
        <p:spPr bwMode="auto">
          <a:xfrm>
            <a:off x="7631114" y="2373313"/>
            <a:ext cx="10509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itchFamily="34" charset="0"/>
              </a:defRPr>
            </a:lvl1pPr>
            <a:lvl2pPr marL="742950" indent="-285750">
              <a:spcBef>
                <a:spcPct val="20000"/>
              </a:spcBef>
              <a:buClr>
                <a:schemeClr val="bg2"/>
              </a:buClr>
              <a:buSzPct val="70000"/>
              <a:buFont typeface="Wingdings" pitchFamily="2" charset="2"/>
              <a:buChar char="n"/>
              <a:defRPr>
                <a:solidFill>
                  <a:schemeClr val="tx1"/>
                </a:solidFill>
                <a:latin typeface="Arial" pitchFamily="34" charset="0"/>
              </a:defRPr>
            </a:lvl2pPr>
            <a:lvl3pPr marL="1143000" indent="-228600">
              <a:spcBef>
                <a:spcPct val="20000"/>
              </a:spcBef>
              <a:buSzPct val="70000"/>
              <a:buFont typeface="Wingdings" pitchFamily="2" charset="2"/>
              <a:buChar char="n"/>
              <a:defRPr>
                <a:solidFill>
                  <a:schemeClr val="tx1"/>
                </a:solidFill>
                <a:latin typeface="Arial" pitchFamily="34" charset="0"/>
              </a:defRPr>
            </a:lvl3pPr>
            <a:lvl4pPr marL="1600200" indent="-228600">
              <a:spcBef>
                <a:spcPct val="20000"/>
              </a:spcBef>
              <a:buSzPct val="70000"/>
              <a:buFont typeface="Wingdings" pitchFamily="2" charset="2"/>
              <a:buChar char="n"/>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spcBef>
                <a:spcPct val="0"/>
              </a:spcBef>
              <a:buSzTx/>
              <a:buFontTx/>
              <a:buNone/>
            </a:pPr>
            <a:r>
              <a:rPr lang="en-US" altLang="en-US" sz="1400">
                <a:latin typeface="Times New Roman" pitchFamily="18" charset="0"/>
              </a:rPr>
              <a:t>PCM Codes</a:t>
            </a:r>
          </a:p>
        </p:txBody>
      </p:sp>
      <p:sp>
        <p:nvSpPr>
          <p:cNvPr id="8231" name="Text Box 42"/>
          <p:cNvSpPr txBox="1">
            <a:spLocks noChangeArrowheads="1"/>
          </p:cNvSpPr>
          <p:nvPr/>
        </p:nvSpPr>
        <p:spPr bwMode="auto">
          <a:xfrm>
            <a:off x="7388225" y="2816225"/>
            <a:ext cx="13668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itchFamily="34" charset="0"/>
              </a:defRPr>
            </a:lvl1pPr>
            <a:lvl2pPr marL="742950" indent="-285750">
              <a:spcBef>
                <a:spcPct val="20000"/>
              </a:spcBef>
              <a:buClr>
                <a:schemeClr val="bg2"/>
              </a:buClr>
              <a:buSzPct val="70000"/>
              <a:buFont typeface="Wingdings" pitchFamily="2" charset="2"/>
              <a:buChar char="n"/>
              <a:defRPr>
                <a:solidFill>
                  <a:schemeClr val="tx1"/>
                </a:solidFill>
                <a:latin typeface="Arial" pitchFamily="34" charset="0"/>
              </a:defRPr>
            </a:lvl2pPr>
            <a:lvl3pPr marL="1143000" indent="-228600">
              <a:spcBef>
                <a:spcPct val="20000"/>
              </a:spcBef>
              <a:buSzPct val="70000"/>
              <a:buFont typeface="Wingdings" pitchFamily="2" charset="2"/>
              <a:buChar char="n"/>
              <a:defRPr>
                <a:solidFill>
                  <a:schemeClr val="tx1"/>
                </a:solidFill>
                <a:latin typeface="Arial" pitchFamily="34" charset="0"/>
              </a:defRPr>
            </a:lvl3pPr>
            <a:lvl4pPr marL="1600200" indent="-228600">
              <a:spcBef>
                <a:spcPct val="20000"/>
              </a:spcBef>
              <a:buSzPct val="70000"/>
              <a:buFont typeface="Wingdings" pitchFamily="2" charset="2"/>
              <a:buChar char="n"/>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spcBef>
                <a:spcPct val="0"/>
              </a:spcBef>
              <a:buSzTx/>
              <a:buFontTx/>
              <a:buNone/>
            </a:pPr>
            <a:r>
              <a:rPr lang="en-US" altLang="en-US" sz="1200" u="sng">
                <a:latin typeface="Times New Roman" pitchFamily="18" charset="0"/>
              </a:rPr>
              <a:t>011 110 100  010...</a:t>
            </a:r>
            <a:endParaRPr lang="en-US" altLang="en-US" sz="1200">
              <a:latin typeface="Times New Roman" pitchFamily="18" charset="0"/>
            </a:endParaRPr>
          </a:p>
        </p:txBody>
      </p:sp>
      <p:sp>
        <p:nvSpPr>
          <p:cNvPr id="8232" name="Text Box 43"/>
          <p:cNvSpPr txBox="1">
            <a:spLocks noChangeArrowheads="1"/>
          </p:cNvSpPr>
          <p:nvPr/>
        </p:nvSpPr>
        <p:spPr bwMode="auto">
          <a:xfrm>
            <a:off x="2905125" y="4968875"/>
            <a:ext cx="27446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itchFamily="34" charset="0"/>
              </a:defRPr>
            </a:lvl1pPr>
            <a:lvl2pPr marL="742950" indent="-285750">
              <a:spcBef>
                <a:spcPct val="20000"/>
              </a:spcBef>
              <a:buClr>
                <a:schemeClr val="bg2"/>
              </a:buClr>
              <a:buSzPct val="70000"/>
              <a:buFont typeface="Wingdings" pitchFamily="2" charset="2"/>
              <a:buChar char="n"/>
              <a:defRPr>
                <a:solidFill>
                  <a:schemeClr val="tx1"/>
                </a:solidFill>
                <a:latin typeface="Arial" pitchFamily="34" charset="0"/>
              </a:defRPr>
            </a:lvl2pPr>
            <a:lvl3pPr marL="1143000" indent="-228600">
              <a:spcBef>
                <a:spcPct val="20000"/>
              </a:spcBef>
              <a:buSzPct val="70000"/>
              <a:buFont typeface="Wingdings" pitchFamily="2" charset="2"/>
              <a:buChar char="n"/>
              <a:defRPr>
                <a:solidFill>
                  <a:schemeClr val="tx1"/>
                </a:solidFill>
                <a:latin typeface="Arial" pitchFamily="34" charset="0"/>
              </a:defRPr>
            </a:lvl3pPr>
            <a:lvl4pPr marL="1600200" indent="-228600">
              <a:spcBef>
                <a:spcPct val="20000"/>
              </a:spcBef>
              <a:buSzPct val="70000"/>
              <a:buFont typeface="Wingdings" pitchFamily="2" charset="2"/>
              <a:buChar char="n"/>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spcBef>
                <a:spcPct val="0"/>
              </a:spcBef>
              <a:buSzTx/>
              <a:buFontTx/>
              <a:buNone/>
            </a:pPr>
            <a:r>
              <a:rPr lang="en-US" altLang="en-US" sz="1400">
                <a:latin typeface="Times New Roman" pitchFamily="18" charset="0"/>
              </a:rPr>
              <a:t>T</a:t>
            </a:r>
            <a:r>
              <a:rPr lang="en-US" altLang="en-US" sz="1400" baseline="-25000">
                <a:latin typeface="Times New Roman" pitchFamily="18" charset="0"/>
              </a:rPr>
              <a:t>S</a:t>
            </a:r>
            <a:r>
              <a:rPr lang="en-US" altLang="en-US" sz="1400">
                <a:latin typeface="Times New Roman" pitchFamily="18" charset="0"/>
              </a:rPr>
              <a:t>    = sampling interval (s)</a:t>
            </a:r>
          </a:p>
          <a:p>
            <a:pPr>
              <a:spcBef>
                <a:spcPct val="0"/>
              </a:spcBef>
              <a:buSzTx/>
              <a:buFontTx/>
              <a:buNone/>
            </a:pPr>
            <a:r>
              <a:rPr lang="en-US" altLang="en-US" sz="1400">
                <a:latin typeface="Times New Roman" pitchFamily="18" charset="0"/>
              </a:rPr>
              <a:t>f</a:t>
            </a:r>
            <a:r>
              <a:rPr lang="en-US" altLang="en-US" sz="1400" baseline="-25000">
                <a:latin typeface="Times New Roman" pitchFamily="18" charset="0"/>
              </a:rPr>
              <a:t>S</a:t>
            </a:r>
            <a:r>
              <a:rPr lang="en-US" altLang="en-US" sz="1400">
                <a:latin typeface="Times New Roman" pitchFamily="18" charset="0"/>
              </a:rPr>
              <a:t>= 1/T</a:t>
            </a:r>
            <a:r>
              <a:rPr lang="en-US" altLang="en-US" sz="1400" baseline="-25000">
                <a:latin typeface="Times New Roman" pitchFamily="18" charset="0"/>
              </a:rPr>
              <a:t>S </a:t>
            </a:r>
            <a:r>
              <a:rPr lang="en-US" altLang="en-US" sz="1400">
                <a:latin typeface="Times New Roman" pitchFamily="18" charset="0"/>
              </a:rPr>
              <a:t>= sampling frequency (Hz)</a:t>
            </a:r>
          </a:p>
        </p:txBody>
      </p:sp>
      <p:sp>
        <p:nvSpPr>
          <p:cNvPr id="8233" name="Rectangle 44"/>
          <p:cNvSpPr>
            <a:spLocks noChangeArrowheads="1"/>
          </p:cNvSpPr>
          <p:nvPr/>
        </p:nvSpPr>
        <p:spPr bwMode="auto">
          <a:xfrm>
            <a:off x="1164431" y="1278384"/>
            <a:ext cx="76279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85000"/>
              <a:buBlip>
                <a:blip r:embed="rId5"/>
              </a:buBlip>
              <a:defRPr sz="3200">
                <a:solidFill>
                  <a:schemeClr val="tx1"/>
                </a:solidFill>
                <a:latin typeface="Arial" pitchFamily="34" charset="0"/>
              </a:defRPr>
            </a:lvl1pPr>
            <a:lvl2pPr marL="742950" indent="-285750">
              <a:spcBef>
                <a:spcPct val="20000"/>
              </a:spcBef>
              <a:buClr>
                <a:schemeClr val="bg2"/>
              </a:buClr>
              <a:buSzPct val="70000"/>
              <a:buFont typeface="Wingdings" pitchFamily="2" charset="2"/>
              <a:buChar char="n"/>
              <a:defRPr>
                <a:solidFill>
                  <a:schemeClr val="tx1"/>
                </a:solidFill>
                <a:latin typeface="Arial" pitchFamily="34" charset="0"/>
              </a:defRPr>
            </a:lvl2pPr>
            <a:lvl3pPr marL="1143000" indent="-228600">
              <a:spcBef>
                <a:spcPct val="20000"/>
              </a:spcBef>
              <a:buSzPct val="70000"/>
              <a:buFont typeface="Wingdings" pitchFamily="2" charset="2"/>
              <a:buChar char="n"/>
              <a:defRPr>
                <a:solidFill>
                  <a:schemeClr val="tx1"/>
                </a:solidFill>
                <a:latin typeface="Arial" pitchFamily="34" charset="0"/>
              </a:defRPr>
            </a:lvl3pPr>
            <a:lvl4pPr marL="1600200" indent="-228600">
              <a:spcBef>
                <a:spcPct val="20000"/>
              </a:spcBef>
              <a:buSzPct val="70000"/>
              <a:buFont typeface="Wingdings" pitchFamily="2" charset="2"/>
              <a:buChar char="n"/>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spcBef>
                <a:spcPct val="0"/>
              </a:spcBef>
              <a:buSzTx/>
              <a:buFontTx/>
              <a:buNone/>
            </a:pPr>
            <a:r>
              <a:rPr lang="en-US" altLang="en-US" sz="2400" dirty="0">
                <a:cs typeface="Arial" panose="020B0604020202020204" pitchFamily="34" charset="0"/>
              </a:rPr>
              <a:t>Process of converting Analog signal to Digital format</a:t>
            </a:r>
          </a:p>
        </p:txBody>
      </p:sp>
      <p:grpSp>
        <p:nvGrpSpPr>
          <p:cNvPr id="8234" name="Group 45"/>
          <p:cNvGrpSpPr>
            <a:grpSpLocks/>
          </p:cNvGrpSpPr>
          <p:nvPr/>
        </p:nvGrpSpPr>
        <p:grpSpPr bwMode="auto">
          <a:xfrm>
            <a:off x="6110289" y="3646489"/>
            <a:ext cx="4205287" cy="2713037"/>
            <a:chOff x="2880" y="2160"/>
            <a:chExt cx="2649" cy="1709"/>
          </a:xfrm>
        </p:grpSpPr>
        <p:sp>
          <p:nvSpPr>
            <p:cNvPr id="8237" name="Line 46"/>
            <p:cNvSpPr>
              <a:spLocks noChangeShapeType="1"/>
            </p:cNvSpPr>
            <p:nvPr/>
          </p:nvSpPr>
          <p:spPr bwMode="auto">
            <a:xfrm flipV="1">
              <a:off x="3607" y="2684"/>
              <a:ext cx="0" cy="93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SG"/>
            </a:p>
          </p:txBody>
        </p:sp>
        <p:sp>
          <p:nvSpPr>
            <p:cNvPr id="8238" name="Line 47"/>
            <p:cNvSpPr>
              <a:spLocks noChangeShapeType="1"/>
            </p:cNvSpPr>
            <p:nvPr/>
          </p:nvSpPr>
          <p:spPr bwMode="auto">
            <a:xfrm rot="5400000" flipV="1">
              <a:off x="4269" y="2961"/>
              <a:ext cx="0" cy="132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SG"/>
            </a:p>
          </p:txBody>
        </p:sp>
        <p:grpSp>
          <p:nvGrpSpPr>
            <p:cNvPr id="8239" name="Group 48"/>
            <p:cNvGrpSpPr>
              <a:grpSpLocks/>
            </p:cNvGrpSpPr>
            <p:nvPr/>
          </p:nvGrpSpPr>
          <p:grpSpPr bwMode="auto">
            <a:xfrm>
              <a:off x="3798" y="3257"/>
              <a:ext cx="63" cy="366"/>
              <a:chOff x="2359" y="1488"/>
              <a:chExt cx="70" cy="384"/>
            </a:xfrm>
          </p:grpSpPr>
          <p:sp>
            <p:nvSpPr>
              <p:cNvPr id="8302" name="Line 49"/>
              <p:cNvSpPr>
                <a:spLocks noChangeShapeType="1"/>
              </p:cNvSpPr>
              <p:nvPr/>
            </p:nvSpPr>
            <p:spPr bwMode="auto">
              <a:xfrm flipV="1">
                <a:off x="2359" y="1488"/>
                <a:ext cx="0" cy="38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303" name="Line 50"/>
              <p:cNvSpPr>
                <a:spLocks noChangeShapeType="1"/>
              </p:cNvSpPr>
              <p:nvPr/>
            </p:nvSpPr>
            <p:spPr bwMode="auto">
              <a:xfrm>
                <a:off x="2359" y="1488"/>
                <a:ext cx="7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304" name="Line 51"/>
              <p:cNvSpPr>
                <a:spLocks noChangeShapeType="1"/>
              </p:cNvSpPr>
              <p:nvPr/>
            </p:nvSpPr>
            <p:spPr bwMode="auto">
              <a:xfrm>
                <a:off x="2429" y="1488"/>
                <a:ext cx="0" cy="38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grpSp>
        <p:sp>
          <p:nvSpPr>
            <p:cNvPr id="8240" name="Line 52"/>
            <p:cNvSpPr>
              <a:spLocks noChangeShapeType="1"/>
            </p:cNvSpPr>
            <p:nvPr/>
          </p:nvSpPr>
          <p:spPr bwMode="auto">
            <a:xfrm>
              <a:off x="3861" y="3623"/>
              <a:ext cx="23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grpSp>
          <p:nvGrpSpPr>
            <p:cNvPr id="8241" name="Group 53"/>
            <p:cNvGrpSpPr>
              <a:grpSpLocks/>
            </p:cNvGrpSpPr>
            <p:nvPr/>
          </p:nvGrpSpPr>
          <p:grpSpPr bwMode="auto">
            <a:xfrm>
              <a:off x="4091" y="2765"/>
              <a:ext cx="63" cy="858"/>
              <a:chOff x="2684" y="1488"/>
              <a:chExt cx="69" cy="384"/>
            </a:xfrm>
          </p:grpSpPr>
          <p:sp>
            <p:nvSpPr>
              <p:cNvPr id="8299" name="Line 54"/>
              <p:cNvSpPr>
                <a:spLocks noChangeShapeType="1"/>
              </p:cNvSpPr>
              <p:nvPr/>
            </p:nvSpPr>
            <p:spPr bwMode="auto">
              <a:xfrm flipV="1">
                <a:off x="2684" y="1488"/>
                <a:ext cx="0" cy="38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300" name="Line 55"/>
              <p:cNvSpPr>
                <a:spLocks noChangeShapeType="1"/>
              </p:cNvSpPr>
              <p:nvPr/>
            </p:nvSpPr>
            <p:spPr bwMode="auto">
              <a:xfrm>
                <a:off x="2684" y="1488"/>
                <a:ext cx="6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301" name="Line 56"/>
              <p:cNvSpPr>
                <a:spLocks noChangeShapeType="1"/>
              </p:cNvSpPr>
              <p:nvPr/>
            </p:nvSpPr>
            <p:spPr bwMode="auto">
              <a:xfrm>
                <a:off x="2753" y="1488"/>
                <a:ext cx="0" cy="38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grpSp>
        <p:sp>
          <p:nvSpPr>
            <p:cNvPr id="8242" name="Line 57"/>
            <p:cNvSpPr>
              <a:spLocks noChangeShapeType="1"/>
            </p:cNvSpPr>
            <p:nvPr/>
          </p:nvSpPr>
          <p:spPr bwMode="auto">
            <a:xfrm>
              <a:off x="4154" y="3623"/>
              <a:ext cx="23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43" name="Line 58"/>
            <p:cNvSpPr>
              <a:spLocks noChangeShapeType="1"/>
            </p:cNvSpPr>
            <p:nvPr/>
          </p:nvSpPr>
          <p:spPr bwMode="auto">
            <a:xfrm flipH="1">
              <a:off x="3693" y="3623"/>
              <a:ext cx="10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grpSp>
          <p:nvGrpSpPr>
            <p:cNvPr id="8244" name="Group 59"/>
            <p:cNvGrpSpPr>
              <a:grpSpLocks/>
            </p:cNvGrpSpPr>
            <p:nvPr/>
          </p:nvGrpSpPr>
          <p:grpSpPr bwMode="auto">
            <a:xfrm>
              <a:off x="4388" y="3110"/>
              <a:ext cx="64" cy="513"/>
              <a:chOff x="3013" y="1488"/>
              <a:chExt cx="70" cy="384"/>
            </a:xfrm>
          </p:grpSpPr>
          <p:sp>
            <p:nvSpPr>
              <p:cNvPr id="8296" name="Line 60"/>
              <p:cNvSpPr>
                <a:spLocks noChangeShapeType="1"/>
              </p:cNvSpPr>
              <p:nvPr/>
            </p:nvSpPr>
            <p:spPr bwMode="auto">
              <a:xfrm flipV="1">
                <a:off x="3013" y="1488"/>
                <a:ext cx="0" cy="38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97" name="Line 61"/>
              <p:cNvSpPr>
                <a:spLocks noChangeShapeType="1"/>
              </p:cNvSpPr>
              <p:nvPr/>
            </p:nvSpPr>
            <p:spPr bwMode="auto">
              <a:xfrm>
                <a:off x="3013" y="1488"/>
                <a:ext cx="7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98" name="Line 62"/>
              <p:cNvSpPr>
                <a:spLocks noChangeShapeType="1"/>
              </p:cNvSpPr>
              <p:nvPr/>
            </p:nvSpPr>
            <p:spPr bwMode="auto">
              <a:xfrm>
                <a:off x="3083" y="1488"/>
                <a:ext cx="0" cy="38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grpSp>
        <p:sp>
          <p:nvSpPr>
            <p:cNvPr id="8245" name="Line 63"/>
            <p:cNvSpPr>
              <a:spLocks noChangeShapeType="1"/>
            </p:cNvSpPr>
            <p:nvPr/>
          </p:nvSpPr>
          <p:spPr bwMode="auto">
            <a:xfrm>
              <a:off x="4452" y="3623"/>
              <a:ext cx="23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grpSp>
          <p:nvGrpSpPr>
            <p:cNvPr id="8246" name="Group 64"/>
            <p:cNvGrpSpPr>
              <a:grpSpLocks/>
            </p:cNvGrpSpPr>
            <p:nvPr/>
          </p:nvGrpSpPr>
          <p:grpSpPr bwMode="auto">
            <a:xfrm>
              <a:off x="4682" y="3433"/>
              <a:ext cx="62" cy="190"/>
              <a:chOff x="3338" y="1488"/>
              <a:chExt cx="69" cy="384"/>
            </a:xfrm>
          </p:grpSpPr>
          <p:sp>
            <p:nvSpPr>
              <p:cNvPr id="8293" name="Line 65"/>
              <p:cNvSpPr>
                <a:spLocks noChangeShapeType="1"/>
              </p:cNvSpPr>
              <p:nvPr/>
            </p:nvSpPr>
            <p:spPr bwMode="auto">
              <a:xfrm flipV="1">
                <a:off x="3338" y="1488"/>
                <a:ext cx="0" cy="38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94" name="Line 66"/>
              <p:cNvSpPr>
                <a:spLocks noChangeShapeType="1"/>
              </p:cNvSpPr>
              <p:nvPr/>
            </p:nvSpPr>
            <p:spPr bwMode="auto">
              <a:xfrm>
                <a:off x="3338" y="1488"/>
                <a:ext cx="6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95" name="Line 67"/>
              <p:cNvSpPr>
                <a:spLocks noChangeShapeType="1"/>
              </p:cNvSpPr>
              <p:nvPr/>
            </p:nvSpPr>
            <p:spPr bwMode="auto">
              <a:xfrm>
                <a:off x="3407" y="1488"/>
                <a:ext cx="0" cy="38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grpSp>
        <p:sp>
          <p:nvSpPr>
            <p:cNvPr id="8247" name="Line 68"/>
            <p:cNvSpPr>
              <a:spLocks noChangeShapeType="1"/>
            </p:cNvSpPr>
            <p:nvPr/>
          </p:nvSpPr>
          <p:spPr bwMode="auto">
            <a:xfrm>
              <a:off x="4744" y="3623"/>
              <a:ext cx="23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48" name="Freeform 69"/>
            <p:cNvSpPr>
              <a:spLocks/>
            </p:cNvSpPr>
            <p:nvPr/>
          </p:nvSpPr>
          <p:spPr bwMode="auto">
            <a:xfrm>
              <a:off x="3634" y="2741"/>
              <a:ext cx="1203" cy="708"/>
            </a:xfrm>
            <a:custGeom>
              <a:avLst/>
              <a:gdLst>
                <a:gd name="T0" fmla="*/ 0 w 1332"/>
                <a:gd name="T1" fmla="*/ 655 h 717"/>
                <a:gd name="T2" fmla="*/ 62 w 1332"/>
                <a:gd name="T3" fmla="*/ 496 h 717"/>
                <a:gd name="T4" fmla="*/ 168 w 1332"/>
                <a:gd name="T5" fmla="*/ 409 h 717"/>
                <a:gd name="T6" fmla="*/ 271 w 1332"/>
                <a:gd name="T7" fmla="*/ 26 h 717"/>
                <a:gd name="T8" fmla="*/ 498 w 1332"/>
                <a:gd name="T9" fmla="*/ 552 h 717"/>
                <a:gd name="T10" fmla="*/ 653 w 1332"/>
                <a:gd name="T11" fmla="*/ 655 h 717"/>
                <a:gd name="T12" fmla="*/ 0 60000 65536"/>
                <a:gd name="T13" fmla="*/ 0 60000 65536"/>
                <a:gd name="T14" fmla="*/ 0 60000 65536"/>
                <a:gd name="T15" fmla="*/ 0 60000 65536"/>
                <a:gd name="T16" fmla="*/ 0 60000 65536"/>
                <a:gd name="T17" fmla="*/ 0 60000 65536"/>
                <a:gd name="T18" fmla="*/ 0 w 1332"/>
                <a:gd name="T19" fmla="*/ 0 h 717"/>
                <a:gd name="T20" fmla="*/ 1332 w 1332"/>
                <a:gd name="T21" fmla="*/ 717 h 717"/>
              </a:gdLst>
              <a:ahLst/>
              <a:cxnLst>
                <a:cxn ang="T12">
                  <a:pos x="T0" y="T1"/>
                </a:cxn>
                <a:cxn ang="T13">
                  <a:pos x="T2" y="T3"/>
                </a:cxn>
                <a:cxn ang="T14">
                  <a:pos x="T4" y="T5"/>
                </a:cxn>
                <a:cxn ang="T15">
                  <a:pos x="T6" y="T7"/>
                </a:cxn>
                <a:cxn ang="T16">
                  <a:pos x="T8" y="T9"/>
                </a:cxn>
                <a:cxn ang="T17">
                  <a:pos x="T10" y="T11"/>
                </a:cxn>
              </a:cxnLst>
              <a:rect l="T18" t="T19" r="T20" b="T21"/>
              <a:pathLst>
                <a:path w="1332" h="717">
                  <a:moveTo>
                    <a:pt x="0" y="716"/>
                  </a:moveTo>
                  <a:cubicBezTo>
                    <a:pt x="34" y="651"/>
                    <a:pt x="69" y="587"/>
                    <a:pt x="126" y="542"/>
                  </a:cubicBezTo>
                  <a:cubicBezTo>
                    <a:pt x="183" y="497"/>
                    <a:pt x="271" y="532"/>
                    <a:pt x="342" y="446"/>
                  </a:cubicBezTo>
                  <a:cubicBezTo>
                    <a:pt x="413" y="360"/>
                    <a:pt x="440" y="0"/>
                    <a:pt x="552" y="26"/>
                  </a:cubicBezTo>
                  <a:cubicBezTo>
                    <a:pt x="664" y="52"/>
                    <a:pt x="884" y="487"/>
                    <a:pt x="1014" y="602"/>
                  </a:cubicBezTo>
                  <a:cubicBezTo>
                    <a:pt x="1144" y="717"/>
                    <a:pt x="1238" y="716"/>
                    <a:pt x="1332" y="716"/>
                  </a:cubicBezTo>
                </a:path>
              </a:pathLst>
            </a:custGeom>
            <a:noFill/>
            <a:ln w="9525" cap="flat">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SG"/>
            </a:p>
          </p:txBody>
        </p:sp>
        <p:grpSp>
          <p:nvGrpSpPr>
            <p:cNvPr id="8249" name="Group 70"/>
            <p:cNvGrpSpPr>
              <a:grpSpLocks/>
            </p:cNvGrpSpPr>
            <p:nvPr/>
          </p:nvGrpSpPr>
          <p:grpSpPr bwMode="auto">
            <a:xfrm>
              <a:off x="3557" y="2689"/>
              <a:ext cx="1431" cy="822"/>
              <a:chOff x="2064" y="2208"/>
              <a:chExt cx="1584" cy="576"/>
            </a:xfrm>
          </p:grpSpPr>
          <p:sp>
            <p:nvSpPr>
              <p:cNvPr id="8286" name="Line 71"/>
              <p:cNvSpPr>
                <a:spLocks noChangeShapeType="1"/>
              </p:cNvSpPr>
              <p:nvPr/>
            </p:nvSpPr>
            <p:spPr bwMode="auto">
              <a:xfrm>
                <a:off x="2064" y="2496"/>
                <a:ext cx="158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87" name="Line 72"/>
              <p:cNvSpPr>
                <a:spLocks noChangeShapeType="1"/>
              </p:cNvSpPr>
              <p:nvPr/>
            </p:nvSpPr>
            <p:spPr bwMode="auto">
              <a:xfrm>
                <a:off x="2064" y="2400"/>
                <a:ext cx="158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88" name="Line 73"/>
              <p:cNvSpPr>
                <a:spLocks noChangeShapeType="1"/>
              </p:cNvSpPr>
              <p:nvPr/>
            </p:nvSpPr>
            <p:spPr bwMode="auto">
              <a:xfrm>
                <a:off x="2064" y="2304"/>
                <a:ext cx="158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89" name="Line 74"/>
              <p:cNvSpPr>
                <a:spLocks noChangeShapeType="1"/>
              </p:cNvSpPr>
              <p:nvPr/>
            </p:nvSpPr>
            <p:spPr bwMode="auto">
              <a:xfrm>
                <a:off x="2064" y="2784"/>
                <a:ext cx="158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90" name="Line 75"/>
              <p:cNvSpPr>
                <a:spLocks noChangeShapeType="1"/>
              </p:cNvSpPr>
              <p:nvPr/>
            </p:nvSpPr>
            <p:spPr bwMode="auto">
              <a:xfrm>
                <a:off x="2064" y="2688"/>
                <a:ext cx="158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91" name="Line 76"/>
              <p:cNvSpPr>
                <a:spLocks noChangeShapeType="1"/>
              </p:cNvSpPr>
              <p:nvPr/>
            </p:nvSpPr>
            <p:spPr bwMode="auto">
              <a:xfrm>
                <a:off x="2064" y="2592"/>
                <a:ext cx="158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92" name="Line 77"/>
              <p:cNvSpPr>
                <a:spLocks noChangeShapeType="1"/>
              </p:cNvSpPr>
              <p:nvPr/>
            </p:nvSpPr>
            <p:spPr bwMode="auto">
              <a:xfrm>
                <a:off x="2064" y="2208"/>
                <a:ext cx="158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grpSp>
        <p:sp>
          <p:nvSpPr>
            <p:cNvPr id="8250" name="Text Box 78"/>
            <p:cNvSpPr txBox="1">
              <a:spLocks noChangeArrowheads="1"/>
            </p:cNvSpPr>
            <p:nvPr/>
          </p:nvSpPr>
          <p:spPr bwMode="auto">
            <a:xfrm>
              <a:off x="5034" y="3563"/>
              <a:ext cx="2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itchFamily="34" charset="0"/>
                </a:defRPr>
              </a:lvl1pPr>
              <a:lvl2pPr marL="742950" indent="-285750">
                <a:spcBef>
                  <a:spcPct val="20000"/>
                </a:spcBef>
                <a:buClr>
                  <a:schemeClr val="bg2"/>
                </a:buClr>
                <a:buSzPct val="70000"/>
                <a:buFont typeface="Wingdings" pitchFamily="2" charset="2"/>
                <a:buChar char="n"/>
                <a:defRPr>
                  <a:solidFill>
                    <a:schemeClr val="tx1"/>
                  </a:solidFill>
                  <a:latin typeface="Arial" pitchFamily="34" charset="0"/>
                </a:defRPr>
              </a:lvl2pPr>
              <a:lvl3pPr marL="1143000" indent="-228600">
                <a:spcBef>
                  <a:spcPct val="20000"/>
                </a:spcBef>
                <a:buSzPct val="70000"/>
                <a:buFont typeface="Wingdings" pitchFamily="2" charset="2"/>
                <a:buChar char="n"/>
                <a:defRPr>
                  <a:solidFill>
                    <a:schemeClr val="tx1"/>
                  </a:solidFill>
                  <a:latin typeface="Arial" pitchFamily="34" charset="0"/>
                </a:defRPr>
              </a:lvl3pPr>
              <a:lvl4pPr marL="1600200" indent="-228600">
                <a:spcBef>
                  <a:spcPct val="20000"/>
                </a:spcBef>
                <a:buSzPct val="70000"/>
                <a:buFont typeface="Wingdings" pitchFamily="2" charset="2"/>
                <a:buChar char="n"/>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spcBef>
                  <a:spcPct val="0"/>
                </a:spcBef>
                <a:buSzTx/>
                <a:buFontTx/>
                <a:buNone/>
              </a:pPr>
              <a:r>
                <a:rPr lang="en-US" altLang="en-US" sz="1200">
                  <a:latin typeface="Times New Roman" pitchFamily="18" charset="0"/>
                </a:rPr>
                <a:t>000</a:t>
              </a:r>
              <a:endParaRPr lang="en-US" altLang="en-US" sz="1400">
                <a:latin typeface="Times New Roman" pitchFamily="18" charset="0"/>
              </a:endParaRPr>
            </a:p>
          </p:txBody>
        </p:sp>
        <p:sp>
          <p:nvSpPr>
            <p:cNvPr id="8251" name="Text Box 79"/>
            <p:cNvSpPr txBox="1">
              <a:spLocks noChangeArrowheads="1"/>
            </p:cNvSpPr>
            <p:nvPr/>
          </p:nvSpPr>
          <p:spPr bwMode="auto">
            <a:xfrm>
              <a:off x="5034" y="3436"/>
              <a:ext cx="2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itchFamily="34" charset="0"/>
                </a:defRPr>
              </a:lvl1pPr>
              <a:lvl2pPr marL="742950" indent="-285750">
                <a:spcBef>
                  <a:spcPct val="20000"/>
                </a:spcBef>
                <a:buClr>
                  <a:schemeClr val="bg2"/>
                </a:buClr>
                <a:buSzPct val="70000"/>
                <a:buFont typeface="Wingdings" pitchFamily="2" charset="2"/>
                <a:buChar char="n"/>
                <a:defRPr>
                  <a:solidFill>
                    <a:schemeClr val="tx1"/>
                  </a:solidFill>
                  <a:latin typeface="Arial" pitchFamily="34" charset="0"/>
                </a:defRPr>
              </a:lvl2pPr>
              <a:lvl3pPr marL="1143000" indent="-228600">
                <a:spcBef>
                  <a:spcPct val="20000"/>
                </a:spcBef>
                <a:buSzPct val="70000"/>
                <a:buFont typeface="Wingdings" pitchFamily="2" charset="2"/>
                <a:buChar char="n"/>
                <a:defRPr>
                  <a:solidFill>
                    <a:schemeClr val="tx1"/>
                  </a:solidFill>
                  <a:latin typeface="Arial" pitchFamily="34" charset="0"/>
                </a:defRPr>
              </a:lvl3pPr>
              <a:lvl4pPr marL="1600200" indent="-228600">
                <a:spcBef>
                  <a:spcPct val="20000"/>
                </a:spcBef>
                <a:buSzPct val="70000"/>
                <a:buFont typeface="Wingdings" pitchFamily="2" charset="2"/>
                <a:buChar char="n"/>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spcBef>
                  <a:spcPct val="0"/>
                </a:spcBef>
                <a:buSzTx/>
                <a:buFontTx/>
                <a:buNone/>
              </a:pPr>
              <a:r>
                <a:rPr lang="en-US" altLang="en-US" sz="1200">
                  <a:latin typeface="Times New Roman" pitchFamily="18" charset="0"/>
                </a:rPr>
                <a:t>001</a:t>
              </a:r>
              <a:endParaRPr lang="en-US" altLang="en-US" sz="1400">
                <a:latin typeface="Times New Roman" pitchFamily="18" charset="0"/>
              </a:endParaRPr>
            </a:p>
          </p:txBody>
        </p:sp>
        <p:sp>
          <p:nvSpPr>
            <p:cNvPr id="8252" name="Text Box 80"/>
            <p:cNvSpPr txBox="1">
              <a:spLocks noChangeArrowheads="1"/>
            </p:cNvSpPr>
            <p:nvPr/>
          </p:nvSpPr>
          <p:spPr bwMode="auto">
            <a:xfrm>
              <a:off x="5034" y="3296"/>
              <a:ext cx="2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itchFamily="34" charset="0"/>
                </a:defRPr>
              </a:lvl1pPr>
              <a:lvl2pPr marL="742950" indent="-285750">
                <a:spcBef>
                  <a:spcPct val="20000"/>
                </a:spcBef>
                <a:buClr>
                  <a:schemeClr val="bg2"/>
                </a:buClr>
                <a:buSzPct val="70000"/>
                <a:buFont typeface="Wingdings" pitchFamily="2" charset="2"/>
                <a:buChar char="n"/>
                <a:defRPr>
                  <a:solidFill>
                    <a:schemeClr val="tx1"/>
                  </a:solidFill>
                  <a:latin typeface="Arial" pitchFamily="34" charset="0"/>
                </a:defRPr>
              </a:lvl2pPr>
              <a:lvl3pPr marL="1143000" indent="-228600">
                <a:spcBef>
                  <a:spcPct val="20000"/>
                </a:spcBef>
                <a:buSzPct val="70000"/>
                <a:buFont typeface="Wingdings" pitchFamily="2" charset="2"/>
                <a:buChar char="n"/>
                <a:defRPr>
                  <a:solidFill>
                    <a:schemeClr val="tx1"/>
                  </a:solidFill>
                  <a:latin typeface="Arial" pitchFamily="34" charset="0"/>
                </a:defRPr>
              </a:lvl3pPr>
              <a:lvl4pPr marL="1600200" indent="-228600">
                <a:spcBef>
                  <a:spcPct val="20000"/>
                </a:spcBef>
                <a:buSzPct val="70000"/>
                <a:buFont typeface="Wingdings" pitchFamily="2" charset="2"/>
                <a:buChar char="n"/>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spcBef>
                  <a:spcPct val="0"/>
                </a:spcBef>
                <a:buSzTx/>
                <a:buFontTx/>
                <a:buNone/>
              </a:pPr>
              <a:r>
                <a:rPr lang="en-US" altLang="en-US" sz="1200">
                  <a:latin typeface="Times New Roman" pitchFamily="18" charset="0"/>
                </a:rPr>
                <a:t>010</a:t>
              </a:r>
              <a:endParaRPr lang="en-US" altLang="en-US" sz="1400">
                <a:latin typeface="Times New Roman" pitchFamily="18" charset="0"/>
              </a:endParaRPr>
            </a:p>
          </p:txBody>
        </p:sp>
        <p:sp>
          <p:nvSpPr>
            <p:cNvPr id="8253" name="Text Box 81"/>
            <p:cNvSpPr txBox="1">
              <a:spLocks noChangeArrowheads="1"/>
            </p:cNvSpPr>
            <p:nvPr/>
          </p:nvSpPr>
          <p:spPr bwMode="auto">
            <a:xfrm>
              <a:off x="5034" y="3163"/>
              <a:ext cx="2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itchFamily="34" charset="0"/>
                </a:defRPr>
              </a:lvl1pPr>
              <a:lvl2pPr marL="742950" indent="-285750">
                <a:spcBef>
                  <a:spcPct val="20000"/>
                </a:spcBef>
                <a:buClr>
                  <a:schemeClr val="bg2"/>
                </a:buClr>
                <a:buSzPct val="70000"/>
                <a:buFont typeface="Wingdings" pitchFamily="2" charset="2"/>
                <a:buChar char="n"/>
                <a:defRPr>
                  <a:solidFill>
                    <a:schemeClr val="tx1"/>
                  </a:solidFill>
                  <a:latin typeface="Arial" pitchFamily="34" charset="0"/>
                </a:defRPr>
              </a:lvl2pPr>
              <a:lvl3pPr marL="1143000" indent="-228600">
                <a:spcBef>
                  <a:spcPct val="20000"/>
                </a:spcBef>
                <a:buSzPct val="70000"/>
                <a:buFont typeface="Wingdings" pitchFamily="2" charset="2"/>
                <a:buChar char="n"/>
                <a:defRPr>
                  <a:solidFill>
                    <a:schemeClr val="tx1"/>
                  </a:solidFill>
                  <a:latin typeface="Arial" pitchFamily="34" charset="0"/>
                </a:defRPr>
              </a:lvl3pPr>
              <a:lvl4pPr marL="1600200" indent="-228600">
                <a:spcBef>
                  <a:spcPct val="20000"/>
                </a:spcBef>
                <a:buSzPct val="70000"/>
                <a:buFont typeface="Wingdings" pitchFamily="2" charset="2"/>
                <a:buChar char="n"/>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spcBef>
                  <a:spcPct val="0"/>
                </a:spcBef>
                <a:buSzTx/>
                <a:buFontTx/>
                <a:buNone/>
              </a:pPr>
              <a:r>
                <a:rPr lang="en-US" altLang="en-US" sz="1200">
                  <a:latin typeface="Times New Roman" pitchFamily="18" charset="0"/>
                </a:rPr>
                <a:t>011</a:t>
              </a:r>
              <a:endParaRPr lang="en-US" altLang="en-US" sz="1400">
                <a:latin typeface="Times New Roman" pitchFamily="18" charset="0"/>
              </a:endParaRPr>
            </a:p>
          </p:txBody>
        </p:sp>
        <p:sp>
          <p:nvSpPr>
            <p:cNvPr id="8254" name="Text Box 82"/>
            <p:cNvSpPr txBox="1">
              <a:spLocks noChangeArrowheads="1"/>
            </p:cNvSpPr>
            <p:nvPr/>
          </p:nvSpPr>
          <p:spPr bwMode="auto">
            <a:xfrm>
              <a:off x="5034" y="3031"/>
              <a:ext cx="2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itchFamily="34" charset="0"/>
                </a:defRPr>
              </a:lvl1pPr>
              <a:lvl2pPr marL="742950" indent="-285750">
                <a:spcBef>
                  <a:spcPct val="20000"/>
                </a:spcBef>
                <a:buClr>
                  <a:schemeClr val="bg2"/>
                </a:buClr>
                <a:buSzPct val="70000"/>
                <a:buFont typeface="Wingdings" pitchFamily="2" charset="2"/>
                <a:buChar char="n"/>
                <a:defRPr>
                  <a:solidFill>
                    <a:schemeClr val="tx1"/>
                  </a:solidFill>
                  <a:latin typeface="Arial" pitchFamily="34" charset="0"/>
                </a:defRPr>
              </a:lvl2pPr>
              <a:lvl3pPr marL="1143000" indent="-228600">
                <a:spcBef>
                  <a:spcPct val="20000"/>
                </a:spcBef>
                <a:buSzPct val="70000"/>
                <a:buFont typeface="Wingdings" pitchFamily="2" charset="2"/>
                <a:buChar char="n"/>
                <a:defRPr>
                  <a:solidFill>
                    <a:schemeClr val="tx1"/>
                  </a:solidFill>
                  <a:latin typeface="Arial" pitchFamily="34" charset="0"/>
                </a:defRPr>
              </a:lvl3pPr>
              <a:lvl4pPr marL="1600200" indent="-228600">
                <a:spcBef>
                  <a:spcPct val="20000"/>
                </a:spcBef>
                <a:buSzPct val="70000"/>
                <a:buFont typeface="Wingdings" pitchFamily="2" charset="2"/>
                <a:buChar char="n"/>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spcBef>
                  <a:spcPct val="0"/>
                </a:spcBef>
                <a:buSzTx/>
                <a:buFontTx/>
                <a:buNone/>
              </a:pPr>
              <a:r>
                <a:rPr lang="en-US" altLang="en-US" sz="1200">
                  <a:latin typeface="Times New Roman" pitchFamily="18" charset="0"/>
                </a:rPr>
                <a:t>100</a:t>
              </a:r>
              <a:endParaRPr lang="en-US" altLang="en-US" sz="1400">
                <a:latin typeface="Times New Roman" pitchFamily="18" charset="0"/>
              </a:endParaRPr>
            </a:p>
          </p:txBody>
        </p:sp>
        <p:sp>
          <p:nvSpPr>
            <p:cNvPr id="8255" name="Text Box 83"/>
            <p:cNvSpPr txBox="1">
              <a:spLocks noChangeArrowheads="1"/>
            </p:cNvSpPr>
            <p:nvPr/>
          </p:nvSpPr>
          <p:spPr bwMode="auto">
            <a:xfrm>
              <a:off x="5034" y="2889"/>
              <a:ext cx="2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itchFamily="34" charset="0"/>
                </a:defRPr>
              </a:lvl1pPr>
              <a:lvl2pPr marL="742950" indent="-285750">
                <a:spcBef>
                  <a:spcPct val="20000"/>
                </a:spcBef>
                <a:buClr>
                  <a:schemeClr val="bg2"/>
                </a:buClr>
                <a:buSzPct val="70000"/>
                <a:buFont typeface="Wingdings" pitchFamily="2" charset="2"/>
                <a:buChar char="n"/>
                <a:defRPr>
                  <a:solidFill>
                    <a:schemeClr val="tx1"/>
                  </a:solidFill>
                  <a:latin typeface="Arial" pitchFamily="34" charset="0"/>
                </a:defRPr>
              </a:lvl2pPr>
              <a:lvl3pPr marL="1143000" indent="-228600">
                <a:spcBef>
                  <a:spcPct val="20000"/>
                </a:spcBef>
                <a:buSzPct val="70000"/>
                <a:buFont typeface="Wingdings" pitchFamily="2" charset="2"/>
                <a:buChar char="n"/>
                <a:defRPr>
                  <a:solidFill>
                    <a:schemeClr val="tx1"/>
                  </a:solidFill>
                  <a:latin typeface="Arial" pitchFamily="34" charset="0"/>
                </a:defRPr>
              </a:lvl3pPr>
              <a:lvl4pPr marL="1600200" indent="-228600">
                <a:spcBef>
                  <a:spcPct val="20000"/>
                </a:spcBef>
                <a:buSzPct val="70000"/>
                <a:buFont typeface="Wingdings" pitchFamily="2" charset="2"/>
                <a:buChar char="n"/>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spcBef>
                  <a:spcPct val="0"/>
                </a:spcBef>
                <a:buSzTx/>
                <a:buFontTx/>
                <a:buNone/>
              </a:pPr>
              <a:r>
                <a:rPr lang="en-US" altLang="en-US" sz="1200">
                  <a:latin typeface="Times New Roman" pitchFamily="18" charset="0"/>
                </a:rPr>
                <a:t>101</a:t>
              </a:r>
              <a:endParaRPr lang="en-US" altLang="en-US" sz="1400">
                <a:latin typeface="Times New Roman" pitchFamily="18" charset="0"/>
              </a:endParaRPr>
            </a:p>
          </p:txBody>
        </p:sp>
        <p:sp>
          <p:nvSpPr>
            <p:cNvPr id="8256" name="Text Box 84"/>
            <p:cNvSpPr txBox="1">
              <a:spLocks noChangeArrowheads="1"/>
            </p:cNvSpPr>
            <p:nvPr/>
          </p:nvSpPr>
          <p:spPr bwMode="auto">
            <a:xfrm>
              <a:off x="5034" y="2757"/>
              <a:ext cx="2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itchFamily="34" charset="0"/>
                </a:defRPr>
              </a:lvl1pPr>
              <a:lvl2pPr marL="742950" indent="-285750">
                <a:spcBef>
                  <a:spcPct val="20000"/>
                </a:spcBef>
                <a:buClr>
                  <a:schemeClr val="bg2"/>
                </a:buClr>
                <a:buSzPct val="70000"/>
                <a:buFont typeface="Wingdings" pitchFamily="2" charset="2"/>
                <a:buChar char="n"/>
                <a:defRPr>
                  <a:solidFill>
                    <a:schemeClr val="tx1"/>
                  </a:solidFill>
                  <a:latin typeface="Arial" pitchFamily="34" charset="0"/>
                </a:defRPr>
              </a:lvl2pPr>
              <a:lvl3pPr marL="1143000" indent="-228600">
                <a:spcBef>
                  <a:spcPct val="20000"/>
                </a:spcBef>
                <a:buSzPct val="70000"/>
                <a:buFont typeface="Wingdings" pitchFamily="2" charset="2"/>
                <a:buChar char="n"/>
                <a:defRPr>
                  <a:solidFill>
                    <a:schemeClr val="tx1"/>
                  </a:solidFill>
                  <a:latin typeface="Arial" pitchFamily="34" charset="0"/>
                </a:defRPr>
              </a:lvl3pPr>
              <a:lvl4pPr marL="1600200" indent="-228600">
                <a:spcBef>
                  <a:spcPct val="20000"/>
                </a:spcBef>
                <a:buSzPct val="70000"/>
                <a:buFont typeface="Wingdings" pitchFamily="2" charset="2"/>
                <a:buChar char="n"/>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spcBef>
                  <a:spcPct val="0"/>
                </a:spcBef>
                <a:buSzTx/>
                <a:buFontTx/>
                <a:buNone/>
              </a:pPr>
              <a:r>
                <a:rPr lang="en-US" altLang="en-US" sz="1200">
                  <a:latin typeface="Times New Roman" pitchFamily="18" charset="0"/>
                </a:rPr>
                <a:t>110</a:t>
              </a:r>
              <a:endParaRPr lang="en-US" altLang="en-US" sz="1400">
                <a:latin typeface="Times New Roman" pitchFamily="18" charset="0"/>
              </a:endParaRPr>
            </a:p>
          </p:txBody>
        </p:sp>
        <p:sp>
          <p:nvSpPr>
            <p:cNvPr id="8257" name="Text Box 85"/>
            <p:cNvSpPr txBox="1">
              <a:spLocks noChangeArrowheads="1"/>
            </p:cNvSpPr>
            <p:nvPr/>
          </p:nvSpPr>
          <p:spPr bwMode="auto">
            <a:xfrm>
              <a:off x="5034" y="2615"/>
              <a:ext cx="2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itchFamily="34" charset="0"/>
                </a:defRPr>
              </a:lvl1pPr>
              <a:lvl2pPr marL="742950" indent="-285750">
                <a:spcBef>
                  <a:spcPct val="20000"/>
                </a:spcBef>
                <a:buClr>
                  <a:schemeClr val="bg2"/>
                </a:buClr>
                <a:buSzPct val="70000"/>
                <a:buFont typeface="Wingdings" pitchFamily="2" charset="2"/>
                <a:buChar char="n"/>
                <a:defRPr>
                  <a:solidFill>
                    <a:schemeClr val="tx1"/>
                  </a:solidFill>
                  <a:latin typeface="Arial" pitchFamily="34" charset="0"/>
                </a:defRPr>
              </a:lvl2pPr>
              <a:lvl3pPr marL="1143000" indent="-228600">
                <a:spcBef>
                  <a:spcPct val="20000"/>
                </a:spcBef>
                <a:buSzPct val="70000"/>
                <a:buFont typeface="Wingdings" pitchFamily="2" charset="2"/>
                <a:buChar char="n"/>
                <a:defRPr>
                  <a:solidFill>
                    <a:schemeClr val="tx1"/>
                  </a:solidFill>
                  <a:latin typeface="Arial" pitchFamily="34" charset="0"/>
                </a:defRPr>
              </a:lvl3pPr>
              <a:lvl4pPr marL="1600200" indent="-228600">
                <a:spcBef>
                  <a:spcPct val="20000"/>
                </a:spcBef>
                <a:buSzPct val="70000"/>
                <a:buFont typeface="Wingdings" pitchFamily="2" charset="2"/>
                <a:buChar char="n"/>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spcBef>
                  <a:spcPct val="0"/>
                </a:spcBef>
                <a:buSzTx/>
                <a:buFontTx/>
                <a:buNone/>
              </a:pPr>
              <a:r>
                <a:rPr lang="en-US" altLang="en-US" sz="1200">
                  <a:latin typeface="Times New Roman" pitchFamily="18" charset="0"/>
                </a:rPr>
                <a:t>111</a:t>
              </a:r>
              <a:endParaRPr lang="en-US" altLang="en-US" sz="1400">
                <a:latin typeface="Times New Roman" pitchFamily="18" charset="0"/>
              </a:endParaRPr>
            </a:p>
          </p:txBody>
        </p:sp>
        <p:sp>
          <p:nvSpPr>
            <p:cNvPr id="8258" name="Text Box 86"/>
            <p:cNvSpPr txBox="1">
              <a:spLocks noChangeArrowheads="1"/>
            </p:cNvSpPr>
            <p:nvPr/>
          </p:nvSpPr>
          <p:spPr bwMode="auto">
            <a:xfrm>
              <a:off x="3427" y="3556"/>
              <a:ext cx="16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itchFamily="34" charset="0"/>
                </a:defRPr>
              </a:lvl1pPr>
              <a:lvl2pPr marL="742950" indent="-285750">
                <a:spcBef>
                  <a:spcPct val="20000"/>
                </a:spcBef>
                <a:buClr>
                  <a:schemeClr val="bg2"/>
                </a:buClr>
                <a:buSzPct val="70000"/>
                <a:buFont typeface="Wingdings" pitchFamily="2" charset="2"/>
                <a:buChar char="n"/>
                <a:defRPr>
                  <a:solidFill>
                    <a:schemeClr val="tx1"/>
                  </a:solidFill>
                  <a:latin typeface="Arial" pitchFamily="34" charset="0"/>
                </a:defRPr>
              </a:lvl2pPr>
              <a:lvl3pPr marL="1143000" indent="-228600">
                <a:spcBef>
                  <a:spcPct val="20000"/>
                </a:spcBef>
                <a:buSzPct val="70000"/>
                <a:buFont typeface="Wingdings" pitchFamily="2" charset="2"/>
                <a:buChar char="n"/>
                <a:defRPr>
                  <a:solidFill>
                    <a:schemeClr val="tx1"/>
                  </a:solidFill>
                  <a:latin typeface="Arial" pitchFamily="34" charset="0"/>
                </a:defRPr>
              </a:lvl3pPr>
              <a:lvl4pPr marL="1600200" indent="-228600">
                <a:spcBef>
                  <a:spcPct val="20000"/>
                </a:spcBef>
                <a:buSzPct val="70000"/>
                <a:buFont typeface="Wingdings" pitchFamily="2" charset="2"/>
                <a:buChar char="n"/>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spcBef>
                  <a:spcPct val="0"/>
                </a:spcBef>
                <a:buSzTx/>
                <a:buFontTx/>
                <a:buNone/>
              </a:pPr>
              <a:r>
                <a:rPr lang="en-US" altLang="en-US" sz="1200">
                  <a:latin typeface="Times New Roman" pitchFamily="18" charset="0"/>
                </a:rPr>
                <a:t>0</a:t>
              </a:r>
              <a:endParaRPr lang="en-US" altLang="en-US" sz="1400">
                <a:latin typeface="Times New Roman" pitchFamily="18" charset="0"/>
              </a:endParaRPr>
            </a:p>
          </p:txBody>
        </p:sp>
        <p:sp>
          <p:nvSpPr>
            <p:cNvPr id="8259" name="Text Box 87"/>
            <p:cNvSpPr txBox="1">
              <a:spLocks noChangeArrowheads="1"/>
            </p:cNvSpPr>
            <p:nvPr/>
          </p:nvSpPr>
          <p:spPr bwMode="auto">
            <a:xfrm>
              <a:off x="3427" y="3429"/>
              <a:ext cx="16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itchFamily="34" charset="0"/>
                </a:defRPr>
              </a:lvl1pPr>
              <a:lvl2pPr marL="742950" indent="-285750">
                <a:spcBef>
                  <a:spcPct val="20000"/>
                </a:spcBef>
                <a:buClr>
                  <a:schemeClr val="bg2"/>
                </a:buClr>
                <a:buSzPct val="70000"/>
                <a:buFont typeface="Wingdings" pitchFamily="2" charset="2"/>
                <a:buChar char="n"/>
                <a:defRPr>
                  <a:solidFill>
                    <a:schemeClr val="tx1"/>
                  </a:solidFill>
                  <a:latin typeface="Arial" pitchFamily="34" charset="0"/>
                </a:defRPr>
              </a:lvl2pPr>
              <a:lvl3pPr marL="1143000" indent="-228600">
                <a:spcBef>
                  <a:spcPct val="20000"/>
                </a:spcBef>
                <a:buSzPct val="70000"/>
                <a:buFont typeface="Wingdings" pitchFamily="2" charset="2"/>
                <a:buChar char="n"/>
                <a:defRPr>
                  <a:solidFill>
                    <a:schemeClr val="tx1"/>
                  </a:solidFill>
                  <a:latin typeface="Arial" pitchFamily="34" charset="0"/>
                </a:defRPr>
              </a:lvl3pPr>
              <a:lvl4pPr marL="1600200" indent="-228600">
                <a:spcBef>
                  <a:spcPct val="20000"/>
                </a:spcBef>
                <a:buSzPct val="70000"/>
                <a:buFont typeface="Wingdings" pitchFamily="2" charset="2"/>
                <a:buChar char="n"/>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spcBef>
                  <a:spcPct val="0"/>
                </a:spcBef>
                <a:buSzTx/>
                <a:buFontTx/>
                <a:buNone/>
              </a:pPr>
              <a:r>
                <a:rPr lang="en-US" altLang="en-US" sz="1200">
                  <a:latin typeface="Times New Roman" pitchFamily="18" charset="0"/>
                </a:rPr>
                <a:t>1</a:t>
              </a:r>
              <a:endParaRPr lang="en-US" altLang="en-US" sz="1400">
                <a:latin typeface="Times New Roman" pitchFamily="18" charset="0"/>
              </a:endParaRPr>
            </a:p>
          </p:txBody>
        </p:sp>
        <p:sp>
          <p:nvSpPr>
            <p:cNvPr id="8260" name="Text Box 88"/>
            <p:cNvSpPr txBox="1">
              <a:spLocks noChangeArrowheads="1"/>
            </p:cNvSpPr>
            <p:nvPr/>
          </p:nvSpPr>
          <p:spPr bwMode="auto">
            <a:xfrm>
              <a:off x="3427" y="3156"/>
              <a:ext cx="16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itchFamily="34" charset="0"/>
                </a:defRPr>
              </a:lvl1pPr>
              <a:lvl2pPr marL="742950" indent="-285750">
                <a:spcBef>
                  <a:spcPct val="20000"/>
                </a:spcBef>
                <a:buClr>
                  <a:schemeClr val="bg2"/>
                </a:buClr>
                <a:buSzPct val="70000"/>
                <a:buFont typeface="Wingdings" pitchFamily="2" charset="2"/>
                <a:buChar char="n"/>
                <a:defRPr>
                  <a:solidFill>
                    <a:schemeClr val="tx1"/>
                  </a:solidFill>
                  <a:latin typeface="Arial" pitchFamily="34" charset="0"/>
                </a:defRPr>
              </a:lvl2pPr>
              <a:lvl3pPr marL="1143000" indent="-228600">
                <a:spcBef>
                  <a:spcPct val="20000"/>
                </a:spcBef>
                <a:buSzPct val="70000"/>
                <a:buFont typeface="Wingdings" pitchFamily="2" charset="2"/>
                <a:buChar char="n"/>
                <a:defRPr>
                  <a:solidFill>
                    <a:schemeClr val="tx1"/>
                  </a:solidFill>
                  <a:latin typeface="Arial" pitchFamily="34" charset="0"/>
                </a:defRPr>
              </a:lvl3pPr>
              <a:lvl4pPr marL="1600200" indent="-228600">
                <a:spcBef>
                  <a:spcPct val="20000"/>
                </a:spcBef>
                <a:buSzPct val="70000"/>
                <a:buFont typeface="Wingdings" pitchFamily="2" charset="2"/>
                <a:buChar char="n"/>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spcBef>
                  <a:spcPct val="0"/>
                </a:spcBef>
                <a:buSzTx/>
                <a:buFontTx/>
                <a:buNone/>
              </a:pPr>
              <a:r>
                <a:rPr lang="en-US" altLang="en-US" sz="1200">
                  <a:latin typeface="Times New Roman" pitchFamily="18" charset="0"/>
                </a:rPr>
                <a:t>3</a:t>
              </a:r>
              <a:endParaRPr lang="en-US" altLang="en-US" sz="1400">
                <a:latin typeface="Times New Roman" pitchFamily="18" charset="0"/>
              </a:endParaRPr>
            </a:p>
          </p:txBody>
        </p:sp>
        <p:sp>
          <p:nvSpPr>
            <p:cNvPr id="8261" name="Text Box 89"/>
            <p:cNvSpPr txBox="1">
              <a:spLocks noChangeArrowheads="1"/>
            </p:cNvSpPr>
            <p:nvPr/>
          </p:nvSpPr>
          <p:spPr bwMode="auto">
            <a:xfrm>
              <a:off x="3427" y="2882"/>
              <a:ext cx="16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itchFamily="34" charset="0"/>
                </a:defRPr>
              </a:lvl1pPr>
              <a:lvl2pPr marL="742950" indent="-285750">
                <a:spcBef>
                  <a:spcPct val="20000"/>
                </a:spcBef>
                <a:buClr>
                  <a:schemeClr val="bg2"/>
                </a:buClr>
                <a:buSzPct val="70000"/>
                <a:buFont typeface="Wingdings" pitchFamily="2" charset="2"/>
                <a:buChar char="n"/>
                <a:defRPr>
                  <a:solidFill>
                    <a:schemeClr val="tx1"/>
                  </a:solidFill>
                  <a:latin typeface="Arial" pitchFamily="34" charset="0"/>
                </a:defRPr>
              </a:lvl2pPr>
              <a:lvl3pPr marL="1143000" indent="-228600">
                <a:spcBef>
                  <a:spcPct val="20000"/>
                </a:spcBef>
                <a:buSzPct val="70000"/>
                <a:buFont typeface="Wingdings" pitchFamily="2" charset="2"/>
                <a:buChar char="n"/>
                <a:defRPr>
                  <a:solidFill>
                    <a:schemeClr val="tx1"/>
                  </a:solidFill>
                  <a:latin typeface="Arial" pitchFamily="34" charset="0"/>
                </a:defRPr>
              </a:lvl3pPr>
              <a:lvl4pPr marL="1600200" indent="-228600">
                <a:spcBef>
                  <a:spcPct val="20000"/>
                </a:spcBef>
                <a:buSzPct val="70000"/>
                <a:buFont typeface="Wingdings" pitchFamily="2" charset="2"/>
                <a:buChar char="n"/>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spcBef>
                  <a:spcPct val="0"/>
                </a:spcBef>
                <a:buSzTx/>
                <a:buFontTx/>
                <a:buNone/>
              </a:pPr>
              <a:r>
                <a:rPr lang="en-US" altLang="en-US" sz="1200">
                  <a:latin typeface="Times New Roman" pitchFamily="18" charset="0"/>
                </a:rPr>
                <a:t>5</a:t>
              </a:r>
              <a:endParaRPr lang="en-US" altLang="en-US" sz="1400">
                <a:latin typeface="Times New Roman" pitchFamily="18" charset="0"/>
              </a:endParaRPr>
            </a:p>
          </p:txBody>
        </p:sp>
        <p:sp>
          <p:nvSpPr>
            <p:cNvPr id="8262" name="Text Box 90"/>
            <p:cNvSpPr txBox="1">
              <a:spLocks noChangeArrowheads="1"/>
            </p:cNvSpPr>
            <p:nvPr/>
          </p:nvSpPr>
          <p:spPr bwMode="auto">
            <a:xfrm>
              <a:off x="3427" y="2608"/>
              <a:ext cx="16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itchFamily="34" charset="0"/>
                </a:defRPr>
              </a:lvl1pPr>
              <a:lvl2pPr marL="742950" indent="-285750">
                <a:spcBef>
                  <a:spcPct val="20000"/>
                </a:spcBef>
                <a:buClr>
                  <a:schemeClr val="bg2"/>
                </a:buClr>
                <a:buSzPct val="70000"/>
                <a:buFont typeface="Wingdings" pitchFamily="2" charset="2"/>
                <a:buChar char="n"/>
                <a:defRPr>
                  <a:solidFill>
                    <a:schemeClr val="tx1"/>
                  </a:solidFill>
                  <a:latin typeface="Arial" pitchFamily="34" charset="0"/>
                </a:defRPr>
              </a:lvl2pPr>
              <a:lvl3pPr marL="1143000" indent="-228600">
                <a:spcBef>
                  <a:spcPct val="20000"/>
                </a:spcBef>
                <a:buSzPct val="70000"/>
                <a:buFont typeface="Wingdings" pitchFamily="2" charset="2"/>
                <a:buChar char="n"/>
                <a:defRPr>
                  <a:solidFill>
                    <a:schemeClr val="tx1"/>
                  </a:solidFill>
                  <a:latin typeface="Arial" pitchFamily="34" charset="0"/>
                </a:defRPr>
              </a:lvl3pPr>
              <a:lvl4pPr marL="1600200" indent="-228600">
                <a:spcBef>
                  <a:spcPct val="20000"/>
                </a:spcBef>
                <a:buSzPct val="70000"/>
                <a:buFont typeface="Wingdings" pitchFamily="2" charset="2"/>
                <a:buChar char="n"/>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spcBef>
                  <a:spcPct val="0"/>
                </a:spcBef>
                <a:buSzTx/>
                <a:buFontTx/>
                <a:buNone/>
              </a:pPr>
              <a:r>
                <a:rPr lang="en-US" altLang="en-US" sz="1200">
                  <a:latin typeface="Times New Roman" pitchFamily="18" charset="0"/>
                </a:rPr>
                <a:t>7</a:t>
              </a:r>
              <a:endParaRPr lang="en-US" altLang="en-US" sz="1400">
                <a:latin typeface="Times New Roman" pitchFamily="18" charset="0"/>
              </a:endParaRPr>
            </a:p>
          </p:txBody>
        </p:sp>
        <p:sp>
          <p:nvSpPr>
            <p:cNvPr id="8263" name="Text Box 91"/>
            <p:cNvSpPr txBox="1">
              <a:spLocks noChangeArrowheads="1"/>
            </p:cNvSpPr>
            <p:nvPr/>
          </p:nvSpPr>
          <p:spPr bwMode="auto">
            <a:xfrm>
              <a:off x="3326" y="2160"/>
              <a:ext cx="58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itchFamily="34" charset="0"/>
                </a:defRPr>
              </a:lvl1pPr>
              <a:lvl2pPr marL="742950" indent="-285750">
                <a:spcBef>
                  <a:spcPct val="20000"/>
                </a:spcBef>
                <a:buClr>
                  <a:schemeClr val="bg2"/>
                </a:buClr>
                <a:buSzPct val="70000"/>
                <a:buFont typeface="Wingdings" pitchFamily="2" charset="2"/>
                <a:buChar char="n"/>
                <a:defRPr>
                  <a:solidFill>
                    <a:schemeClr val="tx1"/>
                  </a:solidFill>
                  <a:latin typeface="Arial" pitchFamily="34" charset="0"/>
                </a:defRPr>
              </a:lvl2pPr>
              <a:lvl3pPr marL="1143000" indent="-228600">
                <a:spcBef>
                  <a:spcPct val="20000"/>
                </a:spcBef>
                <a:buSzPct val="70000"/>
                <a:buFont typeface="Wingdings" pitchFamily="2" charset="2"/>
                <a:buChar char="n"/>
                <a:defRPr>
                  <a:solidFill>
                    <a:schemeClr val="tx1"/>
                  </a:solidFill>
                  <a:latin typeface="Arial" pitchFamily="34" charset="0"/>
                </a:defRPr>
              </a:lvl3pPr>
              <a:lvl4pPr marL="1600200" indent="-228600">
                <a:spcBef>
                  <a:spcPct val="20000"/>
                </a:spcBef>
                <a:buSzPct val="70000"/>
                <a:buFont typeface="Wingdings" pitchFamily="2" charset="2"/>
                <a:buChar char="n"/>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spcBef>
                  <a:spcPct val="0"/>
                </a:spcBef>
                <a:buSzTx/>
                <a:buFontTx/>
                <a:buNone/>
              </a:pPr>
              <a:r>
                <a:rPr lang="en-US" altLang="en-US" sz="1400" u="sng">
                  <a:latin typeface="Times New Roman" pitchFamily="18" charset="0"/>
                </a:rPr>
                <a:t>Quantized</a:t>
              </a:r>
            </a:p>
            <a:p>
              <a:pPr>
                <a:spcBef>
                  <a:spcPct val="0"/>
                </a:spcBef>
                <a:buSzTx/>
                <a:buFontTx/>
                <a:buNone/>
              </a:pPr>
              <a:r>
                <a:rPr lang="en-US" altLang="en-US" sz="1400" u="sng">
                  <a:latin typeface="Times New Roman" pitchFamily="18" charset="0"/>
                </a:rPr>
                <a:t>Level</a:t>
              </a:r>
            </a:p>
          </p:txBody>
        </p:sp>
        <p:sp>
          <p:nvSpPr>
            <p:cNvPr id="8264" name="Text Box 92"/>
            <p:cNvSpPr txBox="1">
              <a:spLocks noChangeArrowheads="1"/>
            </p:cNvSpPr>
            <p:nvPr/>
          </p:nvSpPr>
          <p:spPr bwMode="auto">
            <a:xfrm>
              <a:off x="4867" y="2322"/>
              <a:ext cx="66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itchFamily="34" charset="0"/>
                </a:defRPr>
              </a:lvl1pPr>
              <a:lvl2pPr marL="742950" indent="-285750">
                <a:spcBef>
                  <a:spcPct val="20000"/>
                </a:spcBef>
                <a:buClr>
                  <a:schemeClr val="bg2"/>
                </a:buClr>
                <a:buSzPct val="70000"/>
                <a:buFont typeface="Wingdings" pitchFamily="2" charset="2"/>
                <a:buChar char="n"/>
                <a:defRPr>
                  <a:solidFill>
                    <a:schemeClr val="tx1"/>
                  </a:solidFill>
                  <a:latin typeface="Arial" pitchFamily="34" charset="0"/>
                </a:defRPr>
              </a:lvl2pPr>
              <a:lvl3pPr marL="1143000" indent="-228600">
                <a:spcBef>
                  <a:spcPct val="20000"/>
                </a:spcBef>
                <a:buSzPct val="70000"/>
                <a:buFont typeface="Wingdings" pitchFamily="2" charset="2"/>
                <a:buChar char="n"/>
                <a:defRPr>
                  <a:solidFill>
                    <a:schemeClr val="tx1"/>
                  </a:solidFill>
                  <a:latin typeface="Arial" pitchFamily="34" charset="0"/>
                </a:defRPr>
              </a:lvl3pPr>
              <a:lvl4pPr marL="1600200" indent="-228600">
                <a:spcBef>
                  <a:spcPct val="20000"/>
                </a:spcBef>
                <a:buSzPct val="70000"/>
                <a:buFont typeface="Wingdings" pitchFamily="2" charset="2"/>
                <a:buChar char="n"/>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spcBef>
                  <a:spcPct val="0"/>
                </a:spcBef>
                <a:buSzTx/>
                <a:buFontTx/>
                <a:buNone/>
              </a:pPr>
              <a:r>
                <a:rPr lang="en-US" altLang="en-US" sz="1400" u="sng">
                  <a:latin typeface="Times New Roman" pitchFamily="18" charset="0"/>
                </a:rPr>
                <a:t>PCM Codes</a:t>
              </a:r>
            </a:p>
          </p:txBody>
        </p:sp>
        <p:sp>
          <p:nvSpPr>
            <p:cNvPr id="8265" name="Text Box 93"/>
            <p:cNvSpPr txBox="1">
              <a:spLocks noChangeArrowheads="1"/>
            </p:cNvSpPr>
            <p:nvPr/>
          </p:nvSpPr>
          <p:spPr bwMode="auto">
            <a:xfrm>
              <a:off x="3759" y="3677"/>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itchFamily="34" charset="0"/>
                </a:defRPr>
              </a:lvl1pPr>
              <a:lvl2pPr marL="742950" indent="-285750">
                <a:spcBef>
                  <a:spcPct val="20000"/>
                </a:spcBef>
                <a:buClr>
                  <a:schemeClr val="bg2"/>
                </a:buClr>
                <a:buSzPct val="70000"/>
                <a:buFont typeface="Wingdings" pitchFamily="2" charset="2"/>
                <a:buChar char="n"/>
                <a:defRPr>
                  <a:solidFill>
                    <a:schemeClr val="tx1"/>
                  </a:solidFill>
                  <a:latin typeface="Arial" pitchFamily="34" charset="0"/>
                </a:defRPr>
              </a:lvl2pPr>
              <a:lvl3pPr marL="1143000" indent="-228600">
                <a:spcBef>
                  <a:spcPct val="20000"/>
                </a:spcBef>
                <a:buSzPct val="70000"/>
                <a:buFont typeface="Wingdings" pitchFamily="2" charset="2"/>
                <a:buChar char="n"/>
                <a:defRPr>
                  <a:solidFill>
                    <a:schemeClr val="tx1"/>
                  </a:solidFill>
                  <a:latin typeface="Arial" pitchFamily="34" charset="0"/>
                </a:defRPr>
              </a:lvl3pPr>
              <a:lvl4pPr marL="1600200" indent="-228600">
                <a:spcBef>
                  <a:spcPct val="20000"/>
                </a:spcBef>
                <a:buSzPct val="70000"/>
                <a:buFont typeface="Wingdings" pitchFamily="2" charset="2"/>
                <a:buChar char="n"/>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spcBef>
                  <a:spcPct val="0"/>
                </a:spcBef>
                <a:buSzTx/>
                <a:buFontTx/>
                <a:buNone/>
              </a:pPr>
              <a:r>
                <a:rPr lang="en-US" altLang="en-US" sz="1400">
                  <a:latin typeface="Times New Roman" pitchFamily="18" charset="0"/>
                </a:rPr>
                <a:t>1</a:t>
              </a:r>
            </a:p>
          </p:txBody>
        </p:sp>
        <p:sp>
          <p:nvSpPr>
            <p:cNvPr id="8266" name="Text Box 94"/>
            <p:cNvSpPr txBox="1">
              <a:spLocks noChangeArrowheads="1"/>
            </p:cNvSpPr>
            <p:nvPr/>
          </p:nvSpPr>
          <p:spPr bwMode="auto">
            <a:xfrm>
              <a:off x="4045" y="3677"/>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itchFamily="34" charset="0"/>
                </a:defRPr>
              </a:lvl1pPr>
              <a:lvl2pPr marL="742950" indent="-285750">
                <a:spcBef>
                  <a:spcPct val="20000"/>
                </a:spcBef>
                <a:buClr>
                  <a:schemeClr val="bg2"/>
                </a:buClr>
                <a:buSzPct val="70000"/>
                <a:buFont typeface="Wingdings" pitchFamily="2" charset="2"/>
                <a:buChar char="n"/>
                <a:defRPr>
                  <a:solidFill>
                    <a:schemeClr val="tx1"/>
                  </a:solidFill>
                  <a:latin typeface="Arial" pitchFamily="34" charset="0"/>
                </a:defRPr>
              </a:lvl2pPr>
              <a:lvl3pPr marL="1143000" indent="-228600">
                <a:spcBef>
                  <a:spcPct val="20000"/>
                </a:spcBef>
                <a:buSzPct val="70000"/>
                <a:buFont typeface="Wingdings" pitchFamily="2" charset="2"/>
                <a:buChar char="n"/>
                <a:defRPr>
                  <a:solidFill>
                    <a:schemeClr val="tx1"/>
                  </a:solidFill>
                  <a:latin typeface="Arial" pitchFamily="34" charset="0"/>
                </a:defRPr>
              </a:lvl3pPr>
              <a:lvl4pPr marL="1600200" indent="-228600">
                <a:spcBef>
                  <a:spcPct val="20000"/>
                </a:spcBef>
                <a:buSzPct val="70000"/>
                <a:buFont typeface="Wingdings" pitchFamily="2" charset="2"/>
                <a:buChar char="n"/>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spcBef>
                  <a:spcPct val="0"/>
                </a:spcBef>
                <a:buSzTx/>
                <a:buFontTx/>
                <a:buNone/>
              </a:pPr>
              <a:r>
                <a:rPr lang="en-US" altLang="en-US" sz="1400">
                  <a:latin typeface="Times New Roman" pitchFamily="18" charset="0"/>
                </a:rPr>
                <a:t>2</a:t>
              </a:r>
            </a:p>
          </p:txBody>
        </p:sp>
        <p:sp>
          <p:nvSpPr>
            <p:cNvPr id="8267" name="Text Box 95"/>
            <p:cNvSpPr txBox="1">
              <a:spLocks noChangeArrowheads="1"/>
            </p:cNvSpPr>
            <p:nvPr/>
          </p:nvSpPr>
          <p:spPr bwMode="auto">
            <a:xfrm>
              <a:off x="4340" y="3677"/>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itchFamily="34" charset="0"/>
                </a:defRPr>
              </a:lvl1pPr>
              <a:lvl2pPr marL="742950" indent="-285750">
                <a:spcBef>
                  <a:spcPct val="20000"/>
                </a:spcBef>
                <a:buClr>
                  <a:schemeClr val="bg2"/>
                </a:buClr>
                <a:buSzPct val="70000"/>
                <a:buFont typeface="Wingdings" pitchFamily="2" charset="2"/>
                <a:buChar char="n"/>
                <a:defRPr>
                  <a:solidFill>
                    <a:schemeClr val="tx1"/>
                  </a:solidFill>
                  <a:latin typeface="Arial" pitchFamily="34" charset="0"/>
                </a:defRPr>
              </a:lvl2pPr>
              <a:lvl3pPr marL="1143000" indent="-228600">
                <a:spcBef>
                  <a:spcPct val="20000"/>
                </a:spcBef>
                <a:buSzPct val="70000"/>
                <a:buFont typeface="Wingdings" pitchFamily="2" charset="2"/>
                <a:buChar char="n"/>
                <a:defRPr>
                  <a:solidFill>
                    <a:schemeClr val="tx1"/>
                  </a:solidFill>
                  <a:latin typeface="Arial" pitchFamily="34" charset="0"/>
                </a:defRPr>
              </a:lvl3pPr>
              <a:lvl4pPr marL="1600200" indent="-228600">
                <a:spcBef>
                  <a:spcPct val="20000"/>
                </a:spcBef>
                <a:buSzPct val="70000"/>
                <a:buFont typeface="Wingdings" pitchFamily="2" charset="2"/>
                <a:buChar char="n"/>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spcBef>
                  <a:spcPct val="0"/>
                </a:spcBef>
                <a:buSzTx/>
                <a:buFontTx/>
                <a:buNone/>
              </a:pPr>
              <a:r>
                <a:rPr lang="en-US" altLang="en-US" sz="1400">
                  <a:latin typeface="Times New Roman" pitchFamily="18" charset="0"/>
                </a:rPr>
                <a:t>3</a:t>
              </a:r>
            </a:p>
          </p:txBody>
        </p:sp>
        <p:sp>
          <p:nvSpPr>
            <p:cNvPr id="8268" name="Text Box 96"/>
            <p:cNvSpPr txBox="1">
              <a:spLocks noChangeArrowheads="1"/>
            </p:cNvSpPr>
            <p:nvPr/>
          </p:nvSpPr>
          <p:spPr bwMode="auto">
            <a:xfrm>
              <a:off x="4653" y="3677"/>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itchFamily="34" charset="0"/>
                </a:defRPr>
              </a:lvl1pPr>
              <a:lvl2pPr marL="742950" indent="-285750">
                <a:spcBef>
                  <a:spcPct val="20000"/>
                </a:spcBef>
                <a:buClr>
                  <a:schemeClr val="bg2"/>
                </a:buClr>
                <a:buSzPct val="70000"/>
                <a:buFont typeface="Wingdings" pitchFamily="2" charset="2"/>
                <a:buChar char="n"/>
                <a:defRPr>
                  <a:solidFill>
                    <a:schemeClr val="tx1"/>
                  </a:solidFill>
                  <a:latin typeface="Arial" pitchFamily="34" charset="0"/>
                </a:defRPr>
              </a:lvl2pPr>
              <a:lvl3pPr marL="1143000" indent="-228600">
                <a:spcBef>
                  <a:spcPct val="20000"/>
                </a:spcBef>
                <a:buSzPct val="70000"/>
                <a:buFont typeface="Wingdings" pitchFamily="2" charset="2"/>
                <a:buChar char="n"/>
                <a:defRPr>
                  <a:solidFill>
                    <a:schemeClr val="tx1"/>
                  </a:solidFill>
                  <a:latin typeface="Arial" pitchFamily="34" charset="0"/>
                </a:defRPr>
              </a:lvl3pPr>
              <a:lvl4pPr marL="1600200" indent="-228600">
                <a:spcBef>
                  <a:spcPct val="20000"/>
                </a:spcBef>
                <a:buSzPct val="70000"/>
                <a:buFont typeface="Wingdings" pitchFamily="2" charset="2"/>
                <a:buChar char="n"/>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spcBef>
                  <a:spcPct val="0"/>
                </a:spcBef>
                <a:buSzTx/>
                <a:buFontTx/>
                <a:buNone/>
              </a:pPr>
              <a:r>
                <a:rPr lang="en-US" altLang="en-US" sz="1400">
                  <a:latin typeface="Times New Roman" pitchFamily="18" charset="0"/>
                </a:rPr>
                <a:t>4</a:t>
              </a:r>
            </a:p>
          </p:txBody>
        </p:sp>
        <p:sp>
          <p:nvSpPr>
            <p:cNvPr id="8269" name="Line 97"/>
            <p:cNvSpPr>
              <a:spLocks noChangeShapeType="1"/>
            </p:cNvSpPr>
            <p:nvPr/>
          </p:nvSpPr>
          <p:spPr bwMode="auto">
            <a:xfrm>
              <a:off x="3581" y="3172"/>
              <a:ext cx="1431" cy="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70" name="Line 98"/>
            <p:cNvSpPr>
              <a:spLocks noChangeShapeType="1"/>
            </p:cNvSpPr>
            <p:nvPr/>
          </p:nvSpPr>
          <p:spPr bwMode="auto">
            <a:xfrm>
              <a:off x="3581" y="3035"/>
              <a:ext cx="1431" cy="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71" name="Line 99"/>
            <p:cNvSpPr>
              <a:spLocks noChangeShapeType="1"/>
            </p:cNvSpPr>
            <p:nvPr/>
          </p:nvSpPr>
          <p:spPr bwMode="auto">
            <a:xfrm>
              <a:off x="3581" y="2898"/>
              <a:ext cx="1431" cy="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72" name="Line 100"/>
            <p:cNvSpPr>
              <a:spLocks noChangeShapeType="1"/>
            </p:cNvSpPr>
            <p:nvPr/>
          </p:nvSpPr>
          <p:spPr bwMode="auto">
            <a:xfrm>
              <a:off x="3578" y="3568"/>
              <a:ext cx="1431" cy="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73" name="Line 101"/>
            <p:cNvSpPr>
              <a:spLocks noChangeShapeType="1"/>
            </p:cNvSpPr>
            <p:nvPr/>
          </p:nvSpPr>
          <p:spPr bwMode="auto">
            <a:xfrm>
              <a:off x="3581" y="3446"/>
              <a:ext cx="1431" cy="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74" name="Line 102"/>
            <p:cNvSpPr>
              <a:spLocks noChangeShapeType="1"/>
            </p:cNvSpPr>
            <p:nvPr/>
          </p:nvSpPr>
          <p:spPr bwMode="auto">
            <a:xfrm>
              <a:off x="3581" y="3309"/>
              <a:ext cx="1431" cy="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75" name="Line 103"/>
            <p:cNvSpPr>
              <a:spLocks noChangeShapeType="1"/>
            </p:cNvSpPr>
            <p:nvPr/>
          </p:nvSpPr>
          <p:spPr bwMode="auto">
            <a:xfrm>
              <a:off x="3581" y="2761"/>
              <a:ext cx="1431" cy="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76" name="Line 104"/>
            <p:cNvSpPr>
              <a:spLocks noChangeShapeType="1"/>
            </p:cNvSpPr>
            <p:nvPr/>
          </p:nvSpPr>
          <p:spPr bwMode="auto">
            <a:xfrm>
              <a:off x="3587" y="2614"/>
              <a:ext cx="1431" cy="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SG"/>
            </a:p>
          </p:txBody>
        </p:sp>
        <p:grpSp>
          <p:nvGrpSpPr>
            <p:cNvPr id="8277" name="Group 105"/>
            <p:cNvGrpSpPr>
              <a:grpSpLocks/>
            </p:cNvGrpSpPr>
            <p:nvPr/>
          </p:nvGrpSpPr>
          <p:grpSpPr bwMode="auto">
            <a:xfrm>
              <a:off x="2880" y="2614"/>
              <a:ext cx="326" cy="1016"/>
              <a:chOff x="750" y="1176"/>
              <a:chExt cx="426" cy="1132"/>
            </a:xfrm>
          </p:grpSpPr>
          <p:sp>
            <p:nvSpPr>
              <p:cNvPr id="8282" name="Line 106"/>
              <p:cNvSpPr>
                <a:spLocks noChangeShapeType="1"/>
              </p:cNvSpPr>
              <p:nvPr/>
            </p:nvSpPr>
            <p:spPr bwMode="auto">
              <a:xfrm>
                <a:off x="1064" y="1176"/>
                <a:ext cx="0" cy="1132"/>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SG"/>
              </a:p>
            </p:txBody>
          </p:sp>
          <p:sp>
            <p:nvSpPr>
              <p:cNvPr id="8283" name="Line 107"/>
              <p:cNvSpPr>
                <a:spLocks noChangeShapeType="1"/>
              </p:cNvSpPr>
              <p:nvPr/>
            </p:nvSpPr>
            <p:spPr bwMode="auto">
              <a:xfrm>
                <a:off x="980" y="1176"/>
                <a:ext cx="1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84" name="Line 108"/>
              <p:cNvSpPr>
                <a:spLocks noChangeShapeType="1"/>
              </p:cNvSpPr>
              <p:nvPr/>
            </p:nvSpPr>
            <p:spPr bwMode="auto">
              <a:xfrm>
                <a:off x="992" y="2308"/>
                <a:ext cx="1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85" name="Text Box 109"/>
              <p:cNvSpPr txBox="1">
                <a:spLocks noChangeArrowheads="1"/>
              </p:cNvSpPr>
              <p:nvPr/>
            </p:nvSpPr>
            <p:spPr bwMode="auto">
              <a:xfrm>
                <a:off x="750" y="1594"/>
                <a:ext cx="351"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itchFamily="34" charset="0"/>
                  </a:defRPr>
                </a:lvl1pPr>
                <a:lvl2pPr marL="742950" indent="-285750">
                  <a:spcBef>
                    <a:spcPct val="20000"/>
                  </a:spcBef>
                  <a:buClr>
                    <a:schemeClr val="bg2"/>
                  </a:buClr>
                  <a:buSzPct val="70000"/>
                  <a:buFont typeface="Wingdings" pitchFamily="2" charset="2"/>
                  <a:buChar char="n"/>
                  <a:defRPr>
                    <a:solidFill>
                      <a:schemeClr val="tx1"/>
                    </a:solidFill>
                    <a:latin typeface="Arial" pitchFamily="34" charset="0"/>
                  </a:defRPr>
                </a:lvl2pPr>
                <a:lvl3pPr marL="1143000" indent="-228600">
                  <a:spcBef>
                    <a:spcPct val="20000"/>
                  </a:spcBef>
                  <a:buSzPct val="70000"/>
                  <a:buFont typeface="Wingdings" pitchFamily="2" charset="2"/>
                  <a:buChar char="n"/>
                  <a:defRPr>
                    <a:solidFill>
                      <a:schemeClr val="tx1"/>
                    </a:solidFill>
                    <a:latin typeface="Arial" pitchFamily="34" charset="0"/>
                  </a:defRPr>
                </a:lvl3pPr>
                <a:lvl4pPr marL="1600200" indent="-228600">
                  <a:spcBef>
                    <a:spcPct val="20000"/>
                  </a:spcBef>
                  <a:buSzPct val="70000"/>
                  <a:buFont typeface="Wingdings" pitchFamily="2" charset="2"/>
                  <a:buChar char="n"/>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spcBef>
                    <a:spcPct val="0"/>
                  </a:spcBef>
                  <a:buSzTx/>
                  <a:buFontTx/>
                  <a:buNone/>
                </a:pPr>
                <a:r>
                  <a:rPr lang="en-US" altLang="en-US" sz="1400" i="1">
                    <a:latin typeface="Times New Roman" pitchFamily="18" charset="0"/>
                  </a:rPr>
                  <a:t>V</a:t>
                </a:r>
                <a:r>
                  <a:rPr lang="en-US" altLang="en-US" sz="1400" i="1" baseline="-25000">
                    <a:latin typeface="Times New Roman" pitchFamily="18" charset="0"/>
                  </a:rPr>
                  <a:t>FS</a:t>
                </a:r>
                <a:endParaRPr lang="en-US" altLang="en-US" sz="1400" i="1">
                  <a:latin typeface="Times New Roman" pitchFamily="18" charset="0"/>
                </a:endParaRPr>
              </a:p>
            </p:txBody>
          </p:sp>
        </p:grpSp>
        <p:sp>
          <p:nvSpPr>
            <p:cNvPr id="8278" name="Line 110"/>
            <p:cNvSpPr>
              <a:spLocks noChangeShapeType="1"/>
            </p:cNvSpPr>
            <p:nvPr/>
          </p:nvSpPr>
          <p:spPr bwMode="auto">
            <a:xfrm flipH="1">
              <a:off x="3213" y="3447"/>
              <a:ext cx="31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79" name="Line 111"/>
            <p:cNvSpPr>
              <a:spLocks noChangeShapeType="1"/>
            </p:cNvSpPr>
            <p:nvPr/>
          </p:nvSpPr>
          <p:spPr bwMode="auto">
            <a:xfrm flipH="1">
              <a:off x="3213" y="3307"/>
              <a:ext cx="31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8280" name="Text Box 112"/>
            <p:cNvSpPr txBox="1">
              <a:spLocks noChangeArrowheads="1"/>
            </p:cNvSpPr>
            <p:nvPr/>
          </p:nvSpPr>
          <p:spPr bwMode="auto">
            <a:xfrm>
              <a:off x="3290" y="3288"/>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itchFamily="34" charset="0"/>
                </a:defRPr>
              </a:lvl1pPr>
              <a:lvl2pPr marL="742950" indent="-285750">
                <a:spcBef>
                  <a:spcPct val="20000"/>
                </a:spcBef>
                <a:buClr>
                  <a:schemeClr val="bg2"/>
                </a:buClr>
                <a:buSzPct val="70000"/>
                <a:buFont typeface="Wingdings" pitchFamily="2" charset="2"/>
                <a:buChar char="n"/>
                <a:defRPr>
                  <a:solidFill>
                    <a:schemeClr val="tx1"/>
                  </a:solidFill>
                  <a:latin typeface="Arial" pitchFamily="34" charset="0"/>
                </a:defRPr>
              </a:lvl2pPr>
              <a:lvl3pPr marL="1143000" indent="-228600">
                <a:spcBef>
                  <a:spcPct val="20000"/>
                </a:spcBef>
                <a:buSzPct val="70000"/>
                <a:buFont typeface="Wingdings" pitchFamily="2" charset="2"/>
                <a:buChar char="n"/>
                <a:defRPr>
                  <a:solidFill>
                    <a:schemeClr val="tx1"/>
                  </a:solidFill>
                  <a:latin typeface="Arial" pitchFamily="34" charset="0"/>
                </a:defRPr>
              </a:lvl3pPr>
              <a:lvl4pPr marL="1600200" indent="-228600">
                <a:spcBef>
                  <a:spcPct val="20000"/>
                </a:spcBef>
                <a:buSzPct val="70000"/>
                <a:buFont typeface="Wingdings" pitchFamily="2" charset="2"/>
                <a:buChar char="n"/>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spcBef>
                  <a:spcPct val="0"/>
                </a:spcBef>
                <a:buSzTx/>
                <a:buFontTx/>
                <a:buNone/>
              </a:pPr>
              <a:r>
                <a:rPr lang="en-US" altLang="en-US" sz="1400">
                  <a:latin typeface="Times New Roman" pitchFamily="18" charset="0"/>
                </a:rPr>
                <a:t>q</a:t>
              </a:r>
            </a:p>
          </p:txBody>
        </p:sp>
        <p:sp>
          <p:nvSpPr>
            <p:cNvPr id="8281" name="Line 113"/>
            <p:cNvSpPr>
              <a:spLocks noChangeShapeType="1"/>
            </p:cNvSpPr>
            <p:nvPr/>
          </p:nvSpPr>
          <p:spPr bwMode="auto">
            <a:xfrm>
              <a:off x="3270" y="3307"/>
              <a:ext cx="0" cy="140"/>
            </a:xfrm>
            <a:prstGeom prst="line">
              <a:avLst/>
            </a:prstGeom>
            <a:noFill/>
            <a:ln w="12700">
              <a:solidFill>
                <a:schemeClr val="tx1"/>
              </a:solidFill>
              <a:round/>
              <a:headEnd type="arrow" w="med" len="med"/>
              <a:tailEnd type="arrow" w="med" len="med"/>
            </a:ln>
            <a:extLst>
              <a:ext uri="{909E8E84-426E-40DD-AFC4-6F175D3DCCD1}">
                <a14:hiddenFill xmlns:a14="http://schemas.microsoft.com/office/drawing/2010/main">
                  <a:noFill/>
                </a14:hiddenFill>
              </a:ext>
            </a:extLst>
          </p:spPr>
          <p:txBody>
            <a:bodyPr wrap="none" anchor="ctr"/>
            <a:lstStyle/>
            <a:p>
              <a:endParaRPr lang="en-SG"/>
            </a:p>
          </p:txBody>
        </p:sp>
      </p:grpSp>
      <p:sp>
        <p:nvSpPr>
          <p:cNvPr id="118" name="Rectangle 2"/>
          <p:cNvSpPr txBox="1">
            <a:spLocks noChangeArrowheads="1"/>
          </p:cNvSpPr>
          <p:nvPr/>
        </p:nvSpPr>
        <p:spPr>
          <a:xfrm>
            <a:off x="1098532" y="498477"/>
            <a:ext cx="9650415" cy="9906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GB" sz="2400" b="1" dirty="0">
                <a:solidFill>
                  <a:srgbClr val="C00000"/>
                </a:solidFill>
                <a:latin typeface="Arial Black" panose="020B0A04020102020204" pitchFamily="34" charset="0"/>
              </a:rPr>
              <a:t>Operation of the Analog to Digital Converter </a:t>
            </a:r>
            <a:endParaRPr lang="en-US" sz="2400" b="1" dirty="0">
              <a:solidFill>
                <a:srgbClr val="C00000"/>
              </a:solidFill>
              <a:latin typeface="Arial Black" panose="020B0A04020102020204" pitchFamily="34" charset="0"/>
            </a:endParaRPr>
          </a:p>
        </p:txBody>
      </p:sp>
      <p:sp>
        <p:nvSpPr>
          <p:cNvPr id="3" name="Slide Number Placeholder 2"/>
          <p:cNvSpPr>
            <a:spLocks noGrp="1"/>
          </p:cNvSpPr>
          <p:nvPr>
            <p:ph type="sldNum" sz="quarter" idx="4"/>
          </p:nvPr>
        </p:nvSpPr>
        <p:spPr>
          <a:xfrm>
            <a:off x="4710752" y="6383645"/>
            <a:ext cx="2743200" cy="365125"/>
          </a:xfrm>
        </p:spPr>
        <p:txBody>
          <a:bodyPr/>
          <a:lstStyle/>
          <a:p>
            <a:r>
              <a:rPr lang="en-US" dirty="0"/>
              <a:t>Page </a:t>
            </a:r>
            <a:fld id="{A862897D-0F50-4425-B5E1-82FAA232DFBF}" type="slidenum">
              <a:rPr lang="en-US" smtClean="0"/>
              <a:pPr/>
              <a:t>5</a:t>
            </a:fld>
            <a:r>
              <a:rPr lang="en-US" dirty="0"/>
              <a:t> of 23</a:t>
            </a:r>
          </a:p>
        </p:txBody>
      </p:sp>
      <p:sp>
        <p:nvSpPr>
          <p:cNvPr id="117" name="Rectangle 2"/>
          <p:cNvSpPr txBox="1">
            <a:spLocks noChangeArrowheads="1"/>
          </p:cNvSpPr>
          <p:nvPr/>
        </p:nvSpPr>
        <p:spPr>
          <a:xfrm>
            <a:off x="1098533" y="0"/>
            <a:ext cx="9650415" cy="9906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GB" sz="3600" b="1" dirty="0">
                <a:solidFill>
                  <a:srgbClr val="C00000"/>
                </a:solidFill>
                <a:latin typeface="+mn-lt"/>
              </a:rPr>
              <a:t>Digital Transceiver Building Block – ADC</a:t>
            </a:r>
            <a:endParaRPr lang="en-US" sz="3600" b="1" dirty="0">
              <a:solidFill>
                <a:srgbClr val="C00000"/>
              </a:solidFill>
              <a:latin typeface="+mn-lt"/>
            </a:endParaRPr>
          </a:p>
        </p:txBody>
      </p:sp>
      <p:sp>
        <p:nvSpPr>
          <p:cNvPr id="116" name="Text Box 36">
            <a:extLst>
              <a:ext uri="{FF2B5EF4-FFF2-40B4-BE49-F238E27FC236}">
                <a16:creationId xmlns:a16="http://schemas.microsoft.com/office/drawing/2014/main" id="{E6C03A23-1EAA-4032-975B-A566F296F466}"/>
              </a:ext>
            </a:extLst>
          </p:cNvPr>
          <p:cNvSpPr txBox="1">
            <a:spLocks noChangeArrowheads="1"/>
          </p:cNvSpPr>
          <p:nvPr/>
        </p:nvSpPr>
        <p:spPr bwMode="auto">
          <a:xfrm>
            <a:off x="8060747" y="1972229"/>
            <a:ext cx="122501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5"/>
              </a:buBlip>
              <a:defRPr sz="3200">
                <a:solidFill>
                  <a:schemeClr val="tx1"/>
                </a:solidFill>
                <a:latin typeface="Arial" pitchFamily="34" charset="0"/>
              </a:defRPr>
            </a:lvl1pPr>
            <a:lvl2pPr marL="742950" indent="-285750">
              <a:spcBef>
                <a:spcPct val="20000"/>
              </a:spcBef>
              <a:buClr>
                <a:schemeClr val="bg2"/>
              </a:buClr>
              <a:buSzPct val="70000"/>
              <a:buFont typeface="Wingdings" pitchFamily="2" charset="2"/>
              <a:buChar char="n"/>
              <a:defRPr>
                <a:solidFill>
                  <a:schemeClr val="tx1"/>
                </a:solidFill>
                <a:latin typeface="Arial" pitchFamily="34" charset="0"/>
              </a:defRPr>
            </a:lvl2pPr>
            <a:lvl3pPr marL="1143000" indent="-228600">
              <a:spcBef>
                <a:spcPct val="20000"/>
              </a:spcBef>
              <a:buSzPct val="70000"/>
              <a:buFont typeface="Wingdings" pitchFamily="2" charset="2"/>
              <a:buChar char="n"/>
              <a:defRPr>
                <a:solidFill>
                  <a:schemeClr val="tx1"/>
                </a:solidFill>
                <a:latin typeface="Arial" pitchFamily="34" charset="0"/>
              </a:defRPr>
            </a:lvl3pPr>
            <a:lvl4pPr marL="1600200" indent="-228600">
              <a:spcBef>
                <a:spcPct val="20000"/>
              </a:spcBef>
              <a:buSzPct val="70000"/>
              <a:buFont typeface="Wingdings" pitchFamily="2" charset="2"/>
              <a:buChar char="n"/>
              <a:defRPr>
                <a:solidFill>
                  <a:schemeClr val="tx1"/>
                </a:solidFill>
                <a:latin typeface="Arial" pitchFamily="34" charset="0"/>
              </a:defRPr>
            </a:lvl4pPr>
            <a:lvl5pPr marL="2057400" indent="-228600">
              <a:spcBef>
                <a:spcPct val="20000"/>
              </a:spcBef>
              <a:buChar char="•"/>
              <a:defRPr>
                <a:solidFill>
                  <a:schemeClr val="tx1"/>
                </a:solidFill>
                <a:latin typeface="Arial" pitchFamily="34" charset="0"/>
              </a:defRPr>
            </a:lvl5pPr>
            <a:lvl6pPr marL="2514600" indent="-228600" eaLnBrk="0" fontAlgn="base" hangingPunct="0">
              <a:spcBef>
                <a:spcPct val="20000"/>
              </a:spcBef>
              <a:spcAft>
                <a:spcPct val="0"/>
              </a:spcAft>
              <a:buChar char="•"/>
              <a:defRPr>
                <a:solidFill>
                  <a:schemeClr val="tx1"/>
                </a:solidFill>
                <a:latin typeface="Arial" pitchFamily="34" charset="0"/>
              </a:defRPr>
            </a:lvl6pPr>
            <a:lvl7pPr marL="2971800" indent="-228600" eaLnBrk="0" fontAlgn="base" hangingPunct="0">
              <a:spcBef>
                <a:spcPct val="20000"/>
              </a:spcBef>
              <a:spcAft>
                <a:spcPct val="0"/>
              </a:spcAft>
              <a:buChar char="•"/>
              <a:defRPr>
                <a:solidFill>
                  <a:schemeClr val="tx1"/>
                </a:solidFill>
                <a:latin typeface="Arial" pitchFamily="34" charset="0"/>
              </a:defRPr>
            </a:lvl7pPr>
            <a:lvl8pPr marL="3429000" indent="-228600" eaLnBrk="0" fontAlgn="base" hangingPunct="0">
              <a:spcBef>
                <a:spcPct val="20000"/>
              </a:spcBef>
              <a:spcAft>
                <a:spcPct val="0"/>
              </a:spcAft>
              <a:buChar char="•"/>
              <a:defRPr>
                <a:solidFill>
                  <a:schemeClr val="tx1"/>
                </a:solidFill>
                <a:latin typeface="Arial" pitchFamily="34" charset="0"/>
              </a:defRPr>
            </a:lvl8pPr>
            <a:lvl9pPr marL="3886200" indent="-228600" eaLnBrk="0" fontAlgn="base" hangingPunct="0">
              <a:spcBef>
                <a:spcPct val="20000"/>
              </a:spcBef>
              <a:spcAft>
                <a:spcPct val="0"/>
              </a:spcAft>
              <a:buChar char="•"/>
              <a:defRPr>
                <a:solidFill>
                  <a:schemeClr val="tx1"/>
                </a:solidFill>
                <a:latin typeface="Arial" pitchFamily="34" charset="0"/>
              </a:defRPr>
            </a:lvl9pPr>
          </a:lstStyle>
          <a:p>
            <a:pPr>
              <a:spcBef>
                <a:spcPct val="0"/>
              </a:spcBef>
              <a:buSzTx/>
              <a:buFontTx/>
              <a:buNone/>
            </a:pPr>
            <a:r>
              <a:rPr lang="en-US" altLang="en-US" sz="1400" b="1" dirty="0">
                <a:solidFill>
                  <a:srgbClr val="FF0000"/>
                </a:solidFill>
                <a:latin typeface="Times New Roman" pitchFamily="18" charset="0"/>
              </a:rPr>
              <a:t>Digital Signal</a:t>
            </a:r>
          </a:p>
        </p:txBody>
      </p:sp>
      <p:pic>
        <p:nvPicPr>
          <p:cNvPr id="2" name="Pg5">
            <a:hlinkClick r:id="" action="ppaction://media"/>
            <a:extLst>
              <a:ext uri="{FF2B5EF4-FFF2-40B4-BE49-F238E27FC236}">
                <a16:creationId xmlns:a16="http://schemas.microsoft.com/office/drawing/2014/main" id="{9FCA5E88-537B-4B0E-B09C-130ADBFA0F22}"/>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068492" y="5818188"/>
            <a:ext cx="609600" cy="609600"/>
          </a:xfrm>
          <a:prstGeom prst="rect">
            <a:avLst/>
          </a:prstGeom>
        </p:spPr>
      </p:pic>
      <p:sp>
        <p:nvSpPr>
          <p:cNvPr id="4" name="Rectangle 3">
            <a:extLst>
              <a:ext uri="{FF2B5EF4-FFF2-40B4-BE49-F238E27FC236}">
                <a16:creationId xmlns:a16="http://schemas.microsoft.com/office/drawing/2014/main" id="{FBD6A5F6-CC52-F9DE-10CF-0934F3B0FC4E}"/>
              </a:ext>
            </a:extLst>
          </p:cNvPr>
          <p:cNvSpPr/>
          <p:nvPr/>
        </p:nvSpPr>
        <p:spPr>
          <a:xfrm>
            <a:off x="0" y="0"/>
            <a:ext cx="1026160" cy="2438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198419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665"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3"/>
          <p:cNvSpPr>
            <a:spLocks noGrp="1" noChangeArrowheads="1"/>
          </p:cNvSpPr>
          <p:nvPr>
            <p:ph type="body" idx="1"/>
          </p:nvPr>
        </p:nvSpPr>
        <p:spPr>
          <a:xfrm>
            <a:off x="400304" y="1253331"/>
            <a:ext cx="11391391" cy="4351338"/>
          </a:xfrm>
        </p:spPr>
        <p:txBody>
          <a:bodyPr>
            <a:normAutofit fontScale="25000" lnSpcReduction="20000"/>
          </a:bodyPr>
          <a:lstStyle/>
          <a:p>
            <a:pPr marL="0" indent="0">
              <a:lnSpc>
                <a:spcPct val="120000"/>
              </a:lnSpc>
              <a:spcBef>
                <a:spcPts val="0"/>
              </a:spcBef>
              <a:buNone/>
            </a:pPr>
            <a:r>
              <a:rPr lang="en-US" sz="9600" b="1" dirty="0">
                <a:cs typeface="Arial" panose="020B0604020202020204" pitchFamily="34" charset="0"/>
              </a:rPr>
              <a:t>Digital signal represent by ‘0’ or ‘1’</a:t>
            </a:r>
          </a:p>
          <a:p>
            <a:pPr marL="0" indent="0">
              <a:lnSpc>
                <a:spcPct val="120000"/>
              </a:lnSpc>
              <a:spcBef>
                <a:spcPts val="0"/>
              </a:spcBef>
              <a:buNone/>
            </a:pPr>
            <a:r>
              <a:rPr lang="en-US" sz="9600" dirty="0">
                <a:cs typeface="Arial" panose="020B0604020202020204" pitchFamily="34" charset="0"/>
              </a:rPr>
              <a:t>0 or 1 that represents information to be transmitted through the communication system.</a:t>
            </a:r>
            <a:endParaRPr lang="en-SG" sz="9600" b="1" dirty="0"/>
          </a:p>
          <a:p>
            <a:pPr marL="0" indent="0">
              <a:lnSpc>
                <a:spcPct val="120000"/>
              </a:lnSpc>
              <a:spcBef>
                <a:spcPts val="0"/>
              </a:spcBef>
              <a:buNone/>
            </a:pPr>
            <a:endParaRPr lang="en-SG" sz="9600" b="1" dirty="0"/>
          </a:p>
          <a:p>
            <a:pPr marL="0" indent="0">
              <a:lnSpc>
                <a:spcPct val="120000"/>
              </a:lnSpc>
              <a:spcBef>
                <a:spcPts val="0"/>
              </a:spcBef>
              <a:buNone/>
            </a:pPr>
            <a:r>
              <a:rPr lang="en-SG" sz="9600" b="1" dirty="0"/>
              <a:t>What is bit rate?</a:t>
            </a:r>
          </a:p>
          <a:p>
            <a:pPr marL="0" indent="0">
              <a:lnSpc>
                <a:spcPct val="120000"/>
              </a:lnSpc>
              <a:spcBef>
                <a:spcPts val="0"/>
              </a:spcBef>
              <a:buNone/>
            </a:pPr>
            <a:r>
              <a:rPr lang="en-SG" sz="9600" b="1" dirty="0">
                <a:solidFill>
                  <a:srgbClr val="00B050"/>
                </a:solidFill>
              </a:rPr>
              <a:t>Bit rate is the number of bits that are conveyed or processed per unit of time.</a:t>
            </a:r>
          </a:p>
          <a:p>
            <a:pPr marL="0" indent="0">
              <a:lnSpc>
                <a:spcPct val="120000"/>
              </a:lnSpc>
              <a:spcBef>
                <a:spcPts val="0"/>
              </a:spcBef>
              <a:buNone/>
            </a:pPr>
            <a:r>
              <a:rPr lang="en-US" sz="9600" b="1" dirty="0">
                <a:cs typeface="Arial" panose="020B0604020202020204" pitchFamily="34" charset="0"/>
              </a:rPr>
              <a:t>Information transfer rate or Bit rate</a:t>
            </a:r>
            <a:r>
              <a:rPr lang="en-US" sz="9600" dirty="0">
                <a:cs typeface="Arial" panose="020B0604020202020204" pitchFamily="34" charset="0"/>
              </a:rPr>
              <a:t>: the speed at which binary information (bits) can be transferred from source to destination.</a:t>
            </a:r>
          </a:p>
          <a:p>
            <a:pPr marL="0" indent="0">
              <a:lnSpc>
                <a:spcPct val="120000"/>
              </a:lnSpc>
              <a:spcBef>
                <a:spcPts val="0"/>
              </a:spcBef>
              <a:buNone/>
            </a:pPr>
            <a:endParaRPr lang="en-US" sz="9600" b="1" dirty="0">
              <a:cs typeface="Arial" panose="020B0604020202020204" pitchFamily="34" charset="0"/>
            </a:endParaRPr>
          </a:p>
          <a:p>
            <a:pPr marL="0" indent="0">
              <a:lnSpc>
                <a:spcPct val="120000"/>
              </a:lnSpc>
              <a:spcBef>
                <a:spcPts val="0"/>
              </a:spcBef>
              <a:buNone/>
            </a:pPr>
            <a:r>
              <a:rPr lang="en-US" sz="9600" b="1" dirty="0">
                <a:cs typeface="Arial" panose="020B0604020202020204" pitchFamily="34" charset="0"/>
              </a:rPr>
              <a:t>Example</a:t>
            </a:r>
            <a:r>
              <a:rPr lang="en-US" sz="9600" dirty="0">
                <a:cs typeface="Arial" panose="020B0604020202020204" pitchFamily="34" charset="0"/>
              </a:rPr>
              <a:t>: if 10 bits of information are sent every second, then</a:t>
            </a:r>
          </a:p>
          <a:p>
            <a:pPr>
              <a:lnSpc>
                <a:spcPct val="120000"/>
              </a:lnSpc>
              <a:spcBef>
                <a:spcPts val="0"/>
              </a:spcBef>
              <a:buFont typeface="Monotype Sorts" pitchFamily="2" charset="2"/>
              <a:buNone/>
            </a:pPr>
            <a:r>
              <a:rPr lang="en-US" sz="9600" dirty="0">
                <a:cs typeface="Arial" panose="020B0604020202020204" pitchFamily="34" charset="0"/>
              </a:rPr>
              <a:t>Information transfer rate = 10 bits / 1s = 10 bps  (in 1 sec, 10 bits can </a:t>
            </a:r>
            <a:r>
              <a:rPr lang="en-US" sz="9600" dirty="0" err="1">
                <a:cs typeface="Arial" panose="020B0604020202020204" pitchFamily="34" charset="0"/>
              </a:rPr>
              <a:t>tx</a:t>
            </a:r>
            <a:r>
              <a:rPr lang="en-US" sz="9600" dirty="0">
                <a:cs typeface="Arial" panose="020B0604020202020204" pitchFamily="34" charset="0"/>
              </a:rPr>
              <a:t>)</a:t>
            </a:r>
          </a:p>
          <a:p>
            <a:pPr>
              <a:lnSpc>
                <a:spcPct val="120000"/>
              </a:lnSpc>
              <a:spcBef>
                <a:spcPts val="0"/>
              </a:spcBef>
              <a:buNone/>
            </a:pPr>
            <a:r>
              <a:rPr lang="en-US" sz="9600" b="1" dirty="0">
                <a:cs typeface="Arial" panose="020B0604020202020204" pitchFamily="34" charset="0"/>
              </a:rPr>
              <a:t>Unit of information transfer rate</a:t>
            </a:r>
            <a:r>
              <a:rPr lang="en-US" sz="9600" dirty="0">
                <a:cs typeface="Arial" panose="020B0604020202020204" pitchFamily="34" charset="0"/>
              </a:rPr>
              <a:t> : bits / second or bps</a:t>
            </a:r>
          </a:p>
          <a:p>
            <a:pPr marL="0" indent="0">
              <a:lnSpc>
                <a:spcPct val="120000"/>
              </a:lnSpc>
              <a:spcBef>
                <a:spcPts val="0"/>
              </a:spcBef>
              <a:buNone/>
            </a:pPr>
            <a:endParaRPr lang="en-US" sz="9600" b="1" dirty="0">
              <a:cs typeface="Arial" panose="020B0604020202020204" pitchFamily="34" charset="0"/>
            </a:endParaRPr>
          </a:p>
          <a:p>
            <a:pPr>
              <a:buFont typeface="Monotype Sorts" pitchFamily="2" charset="2"/>
              <a:buNone/>
            </a:pPr>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p:txBody>
      </p:sp>
      <p:sp>
        <p:nvSpPr>
          <p:cNvPr id="4" name="Rectangle 2"/>
          <p:cNvSpPr txBox="1">
            <a:spLocks noChangeArrowheads="1"/>
          </p:cNvSpPr>
          <p:nvPr/>
        </p:nvSpPr>
        <p:spPr>
          <a:xfrm>
            <a:off x="765281" y="7663"/>
            <a:ext cx="9650415" cy="9906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GB" sz="3600" b="1" dirty="0">
                <a:solidFill>
                  <a:srgbClr val="C00000"/>
                </a:solidFill>
                <a:latin typeface="+mn-lt"/>
              </a:rPr>
              <a:t>Fundamentals - Information Transfer Rate (Bit Rate)</a:t>
            </a:r>
            <a:endParaRPr lang="en-US" sz="3600" b="1" dirty="0">
              <a:solidFill>
                <a:srgbClr val="C00000"/>
              </a:solidFill>
              <a:latin typeface="+mn-lt"/>
            </a:endParaRPr>
          </a:p>
        </p:txBody>
      </p:sp>
      <p:sp>
        <p:nvSpPr>
          <p:cNvPr id="3" name="Slide Number Placeholder 2"/>
          <p:cNvSpPr>
            <a:spLocks noGrp="1"/>
          </p:cNvSpPr>
          <p:nvPr>
            <p:ph type="sldNum" sz="quarter" idx="4"/>
          </p:nvPr>
        </p:nvSpPr>
        <p:spPr>
          <a:xfrm>
            <a:off x="4724400" y="6356349"/>
            <a:ext cx="2743200" cy="365125"/>
          </a:xfrm>
        </p:spPr>
        <p:txBody>
          <a:bodyPr/>
          <a:lstStyle/>
          <a:p>
            <a:r>
              <a:rPr lang="en-US" dirty="0"/>
              <a:t>Page </a:t>
            </a:r>
            <a:fld id="{A862897D-0F50-4425-B5E1-82FAA232DFBF}" type="slidenum">
              <a:rPr lang="en-US" smtClean="0"/>
              <a:pPr/>
              <a:t>6</a:t>
            </a:fld>
            <a:r>
              <a:rPr lang="en-US" dirty="0"/>
              <a:t> of 23</a:t>
            </a:r>
          </a:p>
        </p:txBody>
      </p:sp>
      <p:pic>
        <p:nvPicPr>
          <p:cNvPr id="2" name="Pg6">
            <a:hlinkClick r:id="" action="ppaction://media"/>
            <a:extLst>
              <a:ext uri="{FF2B5EF4-FFF2-40B4-BE49-F238E27FC236}">
                <a16:creationId xmlns:a16="http://schemas.microsoft.com/office/drawing/2014/main" id="{289F2890-00CF-4AAF-8434-4E5D09FA5829}"/>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0110896" y="5675709"/>
            <a:ext cx="609600" cy="609600"/>
          </a:xfrm>
          <a:prstGeom prst="rect">
            <a:avLst/>
          </a:prstGeom>
        </p:spPr>
      </p:pic>
      <p:sp>
        <p:nvSpPr>
          <p:cNvPr id="5" name="Rectangle 4">
            <a:extLst>
              <a:ext uri="{FF2B5EF4-FFF2-40B4-BE49-F238E27FC236}">
                <a16:creationId xmlns:a16="http://schemas.microsoft.com/office/drawing/2014/main" id="{F589C01A-B1C2-D6D5-F20E-975830F88B17}"/>
              </a:ext>
            </a:extLst>
          </p:cNvPr>
          <p:cNvSpPr/>
          <p:nvPr/>
        </p:nvSpPr>
        <p:spPr>
          <a:xfrm>
            <a:off x="0" y="0"/>
            <a:ext cx="1026160" cy="2438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898943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1095"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a:xfrm>
            <a:off x="850490" y="-202008"/>
            <a:ext cx="10515600" cy="1325563"/>
          </a:xfrm>
        </p:spPr>
        <p:txBody>
          <a:bodyPr>
            <a:normAutofit/>
          </a:bodyPr>
          <a:lstStyle/>
          <a:p>
            <a:r>
              <a:rPr lang="en-US" sz="3600" b="1" dirty="0">
                <a:solidFill>
                  <a:srgbClr val="C00000"/>
                </a:solidFill>
                <a:latin typeface="+mn-lt"/>
              </a:rPr>
              <a:t>Fundamentals - Symbol Rate</a:t>
            </a:r>
          </a:p>
        </p:txBody>
      </p:sp>
      <p:sp>
        <p:nvSpPr>
          <p:cNvPr id="19460" name="Rectangle 3"/>
          <p:cNvSpPr>
            <a:spLocks noGrp="1" noChangeArrowheads="1"/>
          </p:cNvSpPr>
          <p:nvPr>
            <p:ph type="body" idx="1"/>
          </p:nvPr>
        </p:nvSpPr>
        <p:spPr>
          <a:xfrm>
            <a:off x="850490" y="1124892"/>
            <a:ext cx="10515600" cy="4351338"/>
          </a:xfrm>
        </p:spPr>
        <p:txBody>
          <a:bodyPr>
            <a:noAutofit/>
          </a:bodyPr>
          <a:lstStyle/>
          <a:p>
            <a:pPr marL="0" indent="0">
              <a:lnSpc>
                <a:spcPct val="100000"/>
              </a:lnSpc>
              <a:spcBef>
                <a:spcPts val="0"/>
              </a:spcBef>
              <a:buNone/>
            </a:pPr>
            <a:r>
              <a:rPr lang="en-SG" sz="2400" b="1" dirty="0"/>
              <a:t>What is symbol rate?</a:t>
            </a:r>
          </a:p>
          <a:p>
            <a:pPr marL="0" indent="0">
              <a:lnSpc>
                <a:spcPct val="100000"/>
              </a:lnSpc>
              <a:spcBef>
                <a:spcPts val="0"/>
              </a:spcBef>
              <a:buNone/>
            </a:pPr>
            <a:r>
              <a:rPr lang="en-SG" sz="2400" dirty="0"/>
              <a:t>S</a:t>
            </a:r>
            <a:r>
              <a:rPr lang="en-SG" sz="2400" b="1" dirty="0"/>
              <a:t>ymbol rate (baud rate</a:t>
            </a:r>
            <a:r>
              <a:rPr lang="en-SG" sz="2400" dirty="0"/>
              <a:t> or </a:t>
            </a:r>
            <a:r>
              <a:rPr lang="en-SG" sz="2400" b="1" dirty="0"/>
              <a:t>modulation rate)</a:t>
            </a:r>
            <a:r>
              <a:rPr lang="en-SG" sz="2400" dirty="0"/>
              <a:t> is the number of symbol changes, waveform changes, or signalling events, across the transmission medium per time unit using a digitally modulated signal or a line code.</a:t>
            </a:r>
          </a:p>
          <a:p>
            <a:pPr marL="0" indent="0">
              <a:lnSpc>
                <a:spcPct val="100000"/>
              </a:lnSpc>
              <a:spcBef>
                <a:spcPts val="0"/>
              </a:spcBef>
              <a:buNone/>
            </a:pPr>
            <a:endParaRPr lang="en-US" sz="2400" b="1" dirty="0">
              <a:cs typeface="Arial" panose="020B0604020202020204" pitchFamily="34" charset="0"/>
            </a:endParaRPr>
          </a:p>
          <a:p>
            <a:pPr marL="0" indent="0">
              <a:lnSpc>
                <a:spcPct val="100000"/>
              </a:lnSpc>
              <a:spcBef>
                <a:spcPts val="0"/>
              </a:spcBef>
              <a:buNone/>
            </a:pPr>
            <a:r>
              <a:rPr lang="en-US" sz="2400" b="1" dirty="0">
                <a:cs typeface="Arial" panose="020B0604020202020204" pitchFamily="34" charset="0"/>
              </a:rPr>
              <a:t>Example</a:t>
            </a:r>
            <a:r>
              <a:rPr lang="en-US" sz="2400" dirty="0">
                <a:cs typeface="Arial" panose="020B0604020202020204" pitchFamily="34" charset="0"/>
              </a:rPr>
              <a:t>:</a:t>
            </a:r>
          </a:p>
          <a:p>
            <a:pPr marL="0" indent="0">
              <a:lnSpc>
                <a:spcPct val="100000"/>
              </a:lnSpc>
              <a:spcBef>
                <a:spcPts val="0"/>
              </a:spcBef>
              <a:buNone/>
            </a:pPr>
            <a:r>
              <a:rPr lang="en-US" sz="2400" dirty="0"/>
              <a:t>If 1 bit = 1 symbol, then the symbol rate would be the same as the bit rate.</a:t>
            </a:r>
          </a:p>
          <a:p>
            <a:pPr>
              <a:lnSpc>
                <a:spcPct val="100000"/>
              </a:lnSpc>
              <a:spcBef>
                <a:spcPts val="0"/>
              </a:spcBef>
            </a:pPr>
            <a:endParaRPr lang="en-US" sz="1000" dirty="0"/>
          </a:p>
          <a:p>
            <a:pPr marL="0" indent="0">
              <a:lnSpc>
                <a:spcPct val="100000"/>
              </a:lnSpc>
              <a:spcBef>
                <a:spcPts val="0"/>
              </a:spcBef>
              <a:buNone/>
            </a:pPr>
            <a:r>
              <a:rPr lang="en-US" sz="2400" dirty="0"/>
              <a:t>If 2 bits = 1 symbol then the symbol rate would be half of the bit rate.</a:t>
            </a:r>
          </a:p>
          <a:p>
            <a:pPr marL="0" indent="0">
              <a:lnSpc>
                <a:spcPct val="100000"/>
              </a:lnSpc>
              <a:spcBef>
                <a:spcPts val="0"/>
              </a:spcBef>
              <a:buNone/>
            </a:pPr>
            <a:endParaRPr lang="en-US" sz="2400" dirty="0"/>
          </a:p>
          <a:p>
            <a:pPr marL="0" indent="0">
              <a:lnSpc>
                <a:spcPct val="100000"/>
              </a:lnSpc>
              <a:spcBef>
                <a:spcPts val="0"/>
              </a:spcBef>
              <a:buNone/>
            </a:pPr>
            <a:r>
              <a:rPr lang="en-US" sz="2400" b="1" dirty="0"/>
              <a:t>Symbol rate</a:t>
            </a:r>
            <a:r>
              <a:rPr lang="en-US" sz="2400" dirty="0"/>
              <a:t> = bit rate / the number of bits to represent a symbol.</a:t>
            </a:r>
          </a:p>
          <a:p>
            <a:pPr marL="0" indent="0">
              <a:lnSpc>
                <a:spcPct val="100000"/>
              </a:lnSpc>
              <a:spcBef>
                <a:spcPts val="0"/>
              </a:spcBef>
              <a:buNone/>
            </a:pPr>
            <a:endParaRPr lang="en-US" sz="1000" dirty="0"/>
          </a:p>
          <a:p>
            <a:pPr>
              <a:lnSpc>
                <a:spcPct val="100000"/>
              </a:lnSpc>
              <a:spcBef>
                <a:spcPts val="0"/>
              </a:spcBef>
              <a:buFont typeface="Monotype Sorts" pitchFamily="2" charset="2"/>
              <a:buNone/>
            </a:pPr>
            <a:endParaRPr lang="en-US" sz="800" dirty="0"/>
          </a:p>
          <a:p>
            <a:pPr marL="0" indent="0">
              <a:lnSpc>
                <a:spcPct val="100000"/>
              </a:lnSpc>
              <a:spcBef>
                <a:spcPts val="0"/>
              </a:spcBef>
              <a:buNone/>
            </a:pPr>
            <a:r>
              <a:rPr lang="en-US" sz="2400" b="1" dirty="0"/>
              <a:t>Unit of symbol rate</a:t>
            </a:r>
            <a:r>
              <a:rPr lang="en-US" sz="2400" dirty="0"/>
              <a:t>: Symbol / second or </a:t>
            </a:r>
            <a:r>
              <a:rPr lang="en-US" sz="2400" dirty="0" err="1"/>
              <a:t>sps</a:t>
            </a:r>
            <a:endParaRPr lang="en-US" sz="2400" dirty="0"/>
          </a:p>
          <a:p>
            <a:endParaRPr lang="en-US" sz="2400" b="1" dirty="0"/>
          </a:p>
          <a:p>
            <a:endParaRPr lang="en-US" sz="2400" dirty="0"/>
          </a:p>
          <a:p>
            <a:endParaRPr lang="en-US" sz="2400" dirty="0"/>
          </a:p>
          <a:p>
            <a:pPr>
              <a:buFont typeface="Monotype Sorts" pitchFamily="2" charset="2"/>
              <a:buNone/>
            </a:pPr>
            <a:endParaRPr lang="en-US" sz="2400" dirty="0"/>
          </a:p>
        </p:txBody>
      </p:sp>
      <p:sp>
        <p:nvSpPr>
          <p:cNvPr id="3" name="Slide Number Placeholder 2"/>
          <p:cNvSpPr>
            <a:spLocks noGrp="1"/>
          </p:cNvSpPr>
          <p:nvPr>
            <p:ph type="sldNum" sz="quarter" idx="4"/>
          </p:nvPr>
        </p:nvSpPr>
        <p:spPr>
          <a:xfrm>
            <a:off x="4724400" y="6356349"/>
            <a:ext cx="2743200" cy="365125"/>
          </a:xfrm>
        </p:spPr>
        <p:txBody>
          <a:bodyPr/>
          <a:lstStyle/>
          <a:p>
            <a:r>
              <a:rPr lang="en-US" dirty="0"/>
              <a:t>Page </a:t>
            </a:r>
            <a:fld id="{A862897D-0F50-4425-B5E1-82FAA232DFBF}" type="slidenum">
              <a:rPr lang="en-US" smtClean="0"/>
              <a:pPr/>
              <a:t>7</a:t>
            </a:fld>
            <a:r>
              <a:rPr lang="en-US" dirty="0"/>
              <a:t> of 23</a:t>
            </a:r>
          </a:p>
        </p:txBody>
      </p:sp>
      <p:pic>
        <p:nvPicPr>
          <p:cNvPr id="2" name="Pg7">
            <a:hlinkClick r:id="" action="ppaction://media"/>
            <a:extLst>
              <a:ext uri="{FF2B5EF4-FFF2-40B4-BE49-F238E27FC236}">
                <a16:creationId xmlns:a16="http://schemas.microsoft.com/office/drawing/2014/main" id="{D7AC6C58-FAF4-4EDF-BCC8-7DC35C3FD715}"/>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0192718" y="5611489"/>
            <a:ext cx="609600" cy="609600"/>
          </a:xfrm>
          <a:prstGeom prst="rect">
            <a:avLst/>
          </a:prstGeom>
        </p:spPr>
      </p:pic>
      <p:sp>
        <p:nvSpPr>
          <p:cNvPr id="4" name="Rectangle 3">
            <a:extLst>
              <a:ext uri="{FF2B5EF4-FFF2-40B4-BE49-F238E27FC236}">
                <a16:creationId xmlns:a16="http://schemas.microsoft.com/office/drawing/2014/main" id="{ECD022A5-986D-5A71-18FD-9D03C9AFB51C}"/>
              </a:ext>
            </a:extLst>
          </p:cNvPr>
          <p:cNvSpPr/>
          <p:nvPr/>
        </p:nvSpPr>
        <p:spPr>
          <a:xfrm>
            <a:off x="0" y="0"/>
            <a:ext cx="1026160" cy="2438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4113991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109"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7AA5E-979C-7FEF-7303-FF523E8EC058}"/>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084B5067-7EB3-9784-406C-DFB0FAA6AAD6}"/>
              </a:ext>
            </a:extLst>
          </p:cNvPr>
          <p:cNvSpPr/>
          <p:nvPr/>
        </p:nvSpPr>
        <p:spPr>
          <a:xfrm>
            <a:off x="0" y="0"/>
            <a:ext cx="925286" cy="2769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8" name="Picture 7">
            <a:extLst>
              <a:ext uri="{FF2B5EF4-FFF2-40B4-BE49-F238E27FC236}">
                <a16:creationId xmlns:a16="http://schemas.microsoft.com/office/drawing/2014/main" id="{9BDBF38F-63EC-9D6F-A896-33CD70B54FEC}"/>
              </a:ext>
            </a:extLst>
          </p:cNvPr>
          <p:cNvPicPr>
            <a:picLocks noChangeAspect="1"/>
          </p:cNvPicPr>
          <p:nvPr/>
        </p:nvPicPr>
        <p:blipFill>
          <a:blip r:embed="rId2"/>
          <a:stretch>
            <a:fillRect/>
          </a:stretch>
        </p:blipFill>
        <p:spPr>
          <a:xfrm>
            <a:off x="260654" y="5853409"/>
            <a:ext cx="1762125" cy="542925"/>
          </a:xfrm>
          <a:prstGeom prst="rect">
            <a:avLst/>
          </a:prstGeom>
        </p:spPr>
      </p:pic>
      <p:sp>
        <p:nvSpPr>
          <p:cNvPr id="10" name="TextBox 9">
            <a:hlinkClick r:id="rId3"/>
            <a:extLst>
              <a:ext uri="{FF2B5EF4-FFF2-40B4-BE49-F238E27FC236}">
                <a16:creationId xmlns:a16="http://schemas.microsoft.com/office/drawing/2014/main" id="{BB6C0D2E-426D-677E-A5F4-7E22DAC584FB}"/>
              </a:ext>
            </a:extLst>
          </p:cNvPr>
          <p:cNvSpPr txBox="1"/>
          <p:nvPr/>
        </p:nvSpPr>
        <p:spPr>
          <a:xfrm>
            <a:off x="2332238" y="5663207"/>
            <a:ext cx="7527524" cy="923330"/>
          </a:xfrm>
          <a:prstGeom prst="rect">
            <a:avLst/>
          </a:prstGeom>
          <a:noFill/>
        </p:spPr>
        <p:txBody>
          <a:bodyPr wrap="square">
            <a:spAutoFit/>
          </a:bodyPr>
          <a:lstStyle/>
          <a:p>
            <a:r>
              <a:rPr lang="en-US" b="0" i="0" dirty="0">
                <a:solidFill>
                  <a:srgbClr val="0D0D0D"/>
                </a:solidFill>
                <a:effectLst/>
                <a:latin typeface="Roboto" panose="02000000000000000000" pitchFamily="2" charset="0"/>
              </a:rPr>
              <a:t>Digital Modulation Part 1. How Data Speed Works: Throughput, Bits, Baud &amp; Channel Rate Demystified!</a:t>
            </a:r>
          </a:p>
          <a:p>
            <a:r>
              <a:rPr lang="en-US" b="0" i="0" u="none" strike="noStrike" dirty="0">
                <a:solidFill>
                  <a:srgbClr val="065FD4"/>
                </a:solidFill>
                <a:effectLst/>
                <a:latin typeface="Roboto" panose="02000000000000000000" pitchFamily="2" charset="0"/>
                <a:hlinkClick r:id="rId3"/>
              </a:rPr>
              <a:t>https://youtu.be/LkG0iXV4d2E</a:t>
            </a:r>
            <a:endParaRPr lang="en-US" b="0" i="0" dirty="0">
              <a:solidFill>
                <a:srgbClr val="0D0D0D"/>
              </a:solidFill>
              <a:effectLst/>
              <a:latin typeface="Roboto" panose="02000000000000000000" pitchFamily="2" charset="0"/>
            </a:endParaRPr>
          </a:p>
        </p:txBody>
      </p:sp>
      <p:pic>
        <p:nvPicPr>
          <p:cNvPr id="4100" name="Picture 4" descr="Miscellaneous Video's – Centurian Park Family">
            <a:hlinkClick r:id="rId3"/>
            <a:extLst>
              <a:ext uri="{FF2B5EF4-FFF2-40B4-BE49-F238E27FC236}">
                <a16:creationId xmlns:a16="http://schemas.microsoft.com/office/drawing/2014/main" id="{FC0087C3-BC52-35FF-E5B6-F7C99F36CF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66552" y="942295"/>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hlinkClick r:id="rId3"/>
            <a:extLst>
              <a:ext uri="{FF2B5EF4-FFF2-40B4-BE49-F238E27FC236}">
                <a16:creationId xmlns:a16="http://schemas.microsoft.com/office/drawing/2014/main" id="{DA52AA4F-A7EE-4CB9-530D-277696F71727}"/>
              </a:ext>
            </a:extLst>
          </p:cNvPr>
          <p:cNvSpPr txBox="1"/>
          <p:nvPr/>
        </p:nvSpPr>
        <p:spPr>
          <a:xfrm>
            <a:off x="9859762" y="3085420"/>
            <a:ext cx="2081188" cy="2554545"/>
          </a:xfrm>
          <a:prstGeom prst="rect">
            <a:avLst/>
          </a:prstGeom>
          <a:noFill/>
        </p:spPr>
        <p:txBody>
          <a:bodyPr wrap="square" rtlCol="0">
            <a:spAutoFit/>
          </a:bodyPr>
          <a:lstStyle/>
          <a:p>
            <a:r>
              <a:rPr lang="en-SG" sz="3200" dirty="0"/>
              <a:t>Pls see this </a:t>
            </a:r>
            <a:r>
              <a:rPr lang="en-SG" sz="3200" dirty="0" err="1"/>
              <a:t>Youtube</a:t>
            </a:r>
            <a:r>
              <a:rPr lang="en-SG" sz="3200" dirty="0"/>
              <a:t> video to understand more</a:t>
            </a:r>
            <a:r>
              <a:rPr lang="en-SG" dirty="0"/>
              <a:t>.</a:t>
            </a:r>
          </a:p>
        </p:txBody>
      </p:sp>
      <p:pic>
        <p:nvPicPr>
          <p:cNvPr id="3" name="Picture 2">
            <a:hlinkClick r:id="rId3"/>
            <a:extLst>
              <a:ext uri="{FF2B5EF4-FFF2-40B4-BE49-F238E27FC236}">
                <a16:creationId xmlns:a16="http://schemas.microsoft.com/office/drawing/2014/main" id="{60340580-4F14-6F7E-0129-18C862ABD535}"/>
              </a:ext>
            </a:extLst>
          </p:cNvPr>
          <p:cNvPicPr>
            <a:picLocks noChangeAspect="1"/>
          </p:cNvPicPr>
          <p:nvPr/>
        </p:nvPicPr>
        <p:blipFill>
          <a:blip r:embed="rId5"/>
          <a:stretch>
            <a:fillRect/>
          </a:stretch>
        </p:blipFill>
        <p:spPr>
          <a:xfrm>
            <a:off x="119262" y="138499"/>
            <a:ext cx="9571773" cy="5369166"/>
          </a:xfrm>
          <a:prstGeom prst="rect">
            <a:avLst/>
          </a:prstGeom>
        </p:spPr>
      </p:pic>
    </p:spTree>
    <p:extLst>
      <p:ext uri="{BB962C8B-B14F-4D97-AF65-F5344CB8AC3E}">
        <p14:creationId xmlns:p14="http://schemas.microsoft.com/office/powerpoint/2010/main" val="37415287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a:xfrm>
            <a:off x="4724400" y="6356349"/>
            <a:ext cx="2743200" cy="365125"/>
          </a:xfrm>
        </p:spPr>
        <p:txBody>
          <a:bodyPr/>
          <a:lstStyle/>
          <a:p>
            <a:r>
              <a:rPr lang="en-US" dirty="0"/>
              <a:t>Page </a:t>
            </a:r>
            <a:fld id="{A862897D-0F50-4425-B5E1-82FAA232DFBF}" type="slidenum">
              <a:rPr lang="en-US" smtClean="0"/>
              <a:pPr/>
              <a:t>9</a:t>
            </a:fld>
            <a:r>
              <a:rPr lang="en-US" dirty="0"/>
              <a:t> of 23</a:t>
            </a:r>
          </a:p>
        </p:txBody>
      </p:sp>
      <p:sp>
        <p:nvSpPr>
          <p:cNvPr id="22" name="Rectangle 2"/>
          <p:cNvSpPr>
            <a:spLocks noGrp="1" noChangeArrowheads="1"/>
          </p:cNvSpPr>
          <p:nvPr>
            <p:ph type="title"/>
          </p:nvPr>
        </p:nvSpPr>
        <p:spPr>
          <a:xfrm>
            <a:off x="850490" y="-202008"/>
            <a:ext cx="10515600" cy="1325563"/>
          </a:xfrm>
        </p:spPr>
        <p:txBody>
          <a:bodyPr>
            <a:normAutofit/>
          </a:bodyPr>
          <a:lstStyle/>
          <a:p>
            <a:r>
              <a:rPr lang="en-US" sz="3600" b="1" dirty="0">
                <a:solidFill>
                  <a:srgbClr val="C00000"/>
                </a:solidFill>
                <a:latin typeface="+mn-lt"/>
              </a:rPr>
              <a:t>Fundamentals – Binary Signaling</a:t>
            </a:r>
          </a:p>
        </p:txBody>
      </p:sp>
      <p:sp>
        <p:nvSpPr>
          <p:cNvPr id="2" name="TextBox 1">
            <a:extLst>
              <a:ext uri="{FF2B5EF4-FFF2-40B4-BE49-F238E27FC236}">
                <a16:creationId xmlns:a16="http://schemas.microsoft.com/office/drawing/2014/main" id="{DC49C3AF-B018-44F1-B074-712E0AE211DD}"/>
              </a:ext>
            </a:extLst>
          </p:cNvPr>
          <p:cNvSpPr txBox="1"/>
          <p:nvPr/>
        </p:nvSpPr>
        <p:spPr>
          <a:xfrm>
            <a:off x="3847109" y="852559"/>
            <a:ext cx="7583470" cy="830997"/>
          </a:xfrm>
          <a:prstGeom prst="rect">
            <a:avLst/>
          </a:prstGeom>
          <a:noFill/>
        </p:spPr>
        <p:txBody>
          <a:bodyPr wrap="square" rtlCol="0">
            <a:spAutoFit/>
          </a:bodyPr>
          <a:lstStyle/>
          <a:p>
            <a:r>
              <a:rPr lang="en-US" sz="2400" dirty="0"/>
              <a:t>Every 1 second, 1 bit of data is send which is 1 bps </a:t>
            </a:r>
          </a:p>
          <a:p>
            <a:r>
              <a:rPr lang="en-US" sz="2400" dirty="0"/>
              <a:t>10 second, this is the data “</a:t>
            </a:r>
            <a:r>
              <a:rPr lang="en-US" sz="2400" b="1" dirty="0">
                <a:solidFill>
                  <a:srgbClr val="0070C0"/>
                </a:solidFill>
              </a:rPr>
              <a:t>1</a:t>
            </a:r>
            <a:r>
              <a:rPr lang="en-US" sz="2400" dirty="0"/>
              <a:t>   </a:t>
            </a:r>
            <a:r>
              <a:rPr lang="en-US" sz="2400" b="1" dirty="0">
                <a:solidFill>
                  <a:srgbClr val="0070C0"/>
                </a:solidFill>
              </a:rPr>
              <a:t>1</a:t>
            </a:r>
            <a:r>
              <a:rPr lang="en-US" sz="2400" b="1" dirty="0">
                <a:solidFill>
                  <a:srgbClr val="00B050"/>
                </a:solidFill>
              </a:rPr>
              <a:t>   0</a:t>
            </a:r>
            <a:r>
              <a:rPr lang="en-US" sz="2400" dirty="0"/>
              <a:t>   </a:t>
            </a:r>
            <a:r>
              <a:rPr lang="en-US" sz="2400" b="1" dirty="0">
                <a:solidFill>
                  <a:srgbClr val="0070C0"/>
                </a:solidFill>
              </a:rPr>
              <a:t>1</a:t>
            </a:r>
            <a:r>
              <a:rPr lang="en-US" sz="2400" dirty="0"/>
              <a:t>   </a:t>
            </a:r>
            <a:r>
              <a:rPr lang="en-US" sz="2400" b="1" dirty="0">
                <a:solidFill>
                  <a:srgbClr val="0070C0"/>
                </a:solidFill>
              </a:rPr>
              <a:t>1</a:t>
            </a:r>
            <a:r>
              <a:rPr lang="en-US" sz="2400" dirty="0"/>
              <a:t>   </a:t>
            </a:r>
            <a:r>
              <a:rPr lang="en-US" sz="2400" b="1" dirty="0">
                <a:solidFill>
                  <a:srgbClr val="00B050"/>
                </a:solidFill>
              </a:rPr>
              <a:t>0</a:t>
            </a:r>
            <a:r>
              <a:rPr lang="en-US" sz="2400" dirty="0">
                <a:solidFill>
                  <a:srgbClr val="00B050"/>
                </a:solidFill>
              </a:rPr>
              <a:t> </a:t>
            </a:r>
            <a:r>
              <a:rPr lang="en-US" sz="2400" dirty="0"/>
              <a:t>  </a:t>
            </a:r>
            <a:r>
              <a:rPr lang="en-US" sz="2400" b="1" dirty="0">
                <a:solidFill>
                  <a:srgbClr val="00B050"/>
                </a:solidFill>
              </a:rPr>
              <a:t>0</a:t>
            </a:r>
            <a:r>
              <a:rPr lang="en-US" sz="2400" dirty="0"/>
              <a:t>  </a:t>
            </a:r>
            <a:r>
              <a:rPr lang="en-US" sz="2400" b="1" dirty="0">
                <a:solidFill>
                  <a:srgbClr val="0070C0"/>
                </a:solidFill>
              </a:rPr>
              <a:t> 1   </a:t>
            </a:r>
            <a:r>
              <a:rPr lang="en-US" sz="2400" b="1" dirty="0">
                <a:solidFill>
                  <a:srgbClr val="00B050"/>
                </a:solidFill>
              </a:rPr>
              <a:t>0  </a:t>
            </a:r>
            <a:r>
              <a:rPr lang="en-US" sz="2400" dirty="0">
                <a:solidFill>
                  <a:srgbClr val="0070C0"/>
                </a:solidFill>
              </a:rPr>
              <a:t> </a:t>
            </a:r>
            <a:r>
              <a:rPr lang="en-US" sz="2400" b="1" dirty="0">
                <a:solidFill>
                  <a:srgbClr val="00B050"/>
                </a:solidFill>
              </a:rPr>
              <a:t>0</a:t>
            </a:r>
            <a:r>
              <a:rPr lang="en-US" sz="2400" dirty="0"/>
              <a:t>”</a:t>
            </a:r>
          </a:p>
        </p:txBody>
      </p:sp>
      <p:pic>
        <p:nvPicPr>
          <p:cNvPr id="23" name="Picture 22">
            <a:extLst>
              <a:ext uri="{FF2B5EF4-FFF2-40B4-BE49-F238E27FC236}">
                <a16:creationId xmlns:a16="http://schemas.microsoft.com/office/drawing/2014/main" id="{CF9F7527-DA59-4ED5-A77D-50C51D3B2F74}"/>
              </a:ext>
            </a:extLst>
          </p:cNvPr>
          <p:cNvPicPr>
            <a:picLocks noChangeAspect="1"/>
          </p:cNvPicPr>
          <p:nvPr/>
        </p:nvPicPr>
        <p:blipFill>
          <a:blip r:embed="rId4"/>
          <a:stretch>
            <a:fillRect/>
          </a:stretch>
        </p:blipFill>
        <p:spPr>
          <a:xfrm>
            <a:off x="460861" y="915516"/>
            <a:ext cx="1747854" cy="2513484"/>
          </a:xfrm>
          <a:prstGeom prst="rect">
            <a:avLst/>
          </a:prstGeom>
        </p:spPr>
      </p:pic>
      <p:pic>
        <p:nvPicPr>
          <p:cNvPr id="24" name="Picture 23">
            <a:extLst>
              <a:ext uri="{FF2B5EF4-FFF2-40B4-BE49-F238E27FC236}">
                <a16:creationId xmlns:a16="http://schemas.microsoft.com/office/drawing/2014/main" id="{320EDE7A-2E2C-4856-BAEE-FBA765D393D3}"/>
              </a:ext>
            </a:extLst>
          </p:cNvPr>
          <p:cNvPicPr>
            <a:picLocks noChangeAspect="1"/>
          </p:cNvPicPr>
          <p:nvPr/>
        </p:nvPicPr>
        <p:blipFill>
          <a:blip r:embed="rId5"/>
          <a:stretch>
            <a:fillRect/>
          </a:stretch>
        </p:blipFill>
        <p:spPr>
          <a:xfrm>
            <a:off x="960138" y="3732132"/>
            <a:ext cx="1253812" cy="2513484"/>
          </a:xfrm>
          <a:prstGeom prst="rect">
            <a:avLst/>
          </a:prstGeom>
        </p:spPr>
      </p:pic>
      <p:sp>
        <p:nvSpPr>
          <p:cNvPr id="25" name="Rectangle 24">
            <a:extLst>
              <a:ext uri="{FF2B5EF4-FFF2-40B4-BE49-F238E27FC236}">
                <a16:creationId xmlns:a16="http://schemas.microsoft.com/office/drawing/2014/main" id="{2ED07C31-8567-430C-8EC9-C73EC2288D82}"/>
              </a:ext>
            </a:extLst>
          </p:cNvPr>
          <p:cNvSpPr/>
          <p:nvPr/>
        </p:nvSpPr>
        <p:spPr>
          <a:xfrm>
            <a:off x="2234089" y="2785844"/>
            <a:ext cx="864339" cy="523220"/>
          </a:xfrm>
          <a:prstGeom prst="rect">
            <a:avLst/>
          </a:prstGeom>
        </p:spPr>
        <p:txBody>
          <a:bodyPr wrap="none">
            <a:spAutoFit/>
          </a:bodyPr>
          <a:lstStyle/>
          <a:p>
            <a:r>
              <a:rPr lang="en-US" sz="2800" b="1" dirty="0">
                <a:solidFill>
                  <a:srgbClr val="0070C0"/>
                </a:solidFill>
              </a:rPr>
              <a:t>Bit 1</a:t>
            </a:r>
          </a:p>
        </p:txBody>
      </p:sp>
      <p:sp>
        <p:nvSpPr>
          <p:cNvPr id="26" name="Rectangle 25">
            <a:extLst>
              <a:ext uri="{FF2B5EF4-FFF2-40B4-BE49-F238E27FC236}">
                <a16:creationId xmlns:a16="http://schemas.microsoft.com/office/drawing/2014/main" id="{944C915D-C7BB-4E8C-A1D3-F59BC97FF829}"/>
              </a:ext>
            </a:extLst>
          </p:cNvPr>
          <p:cNvSpPr/>
          <p:nvPr/>
        </p:nvSpPr>
        <p:spPr>
          <a:xfrm>
            <a:off x="2213950" y="5680874"/>
            <a:ext cx="864339" cy="523220"/>
          </a:xfrm>
          <a:prstGeom prst="rect">
            <a:avLst/>
          </a:prstGeom>
        </p:spPr>
        <p:txBody>
          <a:bodyPr wrap="none">
            <a:spAutoFit/>
          </a:bodyPr>
          <a:lstStyle/>
          <a:p>
            <a:r>
              <a:rPr lang="en-US" sz="2800" b="1" dirty="0">
                <a:solidFill>
                  <a:srgbClr val="00B050"/>
                </a:solidFill>
              </a:rPr>
              <a:t>Bit 0</a:t>
            </a:r>
          </a:p>
        </p:txBody>
      </p:sp>
      <p:sp>
        <p:nvSpPr>
          <p:cNvPr id="27" name="Rectangle 26">
            <a:extLst>
              <a:ext uri="{FF2B5EF4-FFF2-40B4-BE49-F238E27FC236}">
                <a16:creationId xmlns:a16="http://schemas.microsoft.com/office/drawing/2014/main" id="{BF8E1FF4-1B77-4C69-BB4D-E469A6615727}"/>
              </a:ext>
            </a:extLst>
          </p:cNvPr>
          <p:cNvSpPr/>
          <p:nvPr/>
        </p:nvSpPr>
        <p:spPr>
          <a:xfrm>
            <a:off x="5382467" y="3429000"/>
            <a:ext cx="4219425" cy="523220"/>
          </a:xfrm>
          <a:prstGeom prst="rect">
            <a:avLst/>
          </a:prstGeom>
        </p:spPr>
        <p:txBody>
          <a:bodyPr wrap="none">
            <a:spAutoFit/>
          </a:bodyPr>
          <a:lstStyle/>
          <a:p>
            <a:r>
              <a:rPr lang="en-US" sz="2800" b="1" dirty="0">
                <a:solidFill>
                  <a:srgbClr val="0070C0"/>
                </a:solidFill>
              </a:rPr>
              <a:t>1</a:t>
            </a:r>
            <a:r>
              <a:rPr lang="en-US" sz="2800" dirty="0"/>
              <a:t>   </a:t>
            </a:r>
            <a:r>
              <a:rPr lang="en-US" sz="2800" b="1" dirty="0">
                <a:solidFill>
                  <a:srgbClr val="0070C0"/>
                </a:solidFill>
              </a:rPr>
              <a:t>1</a:t>
            </a:r>
            <a:r>
              <a:rPr lang="en-US" sz="2800" b="1" dirty="0">
                <a:solidFill>
                  <a:srgbClr val="00B050"/>
                </a:solidFill>
              </a:rPr>
              <a:t>   0</a:t>
            </a:r>
            <a:r>
              <a:rPr lang="en-US" sz="2800" dirty="0"/>
              <a:t>   </a:t>
            </a:r>
            <a:r>
              <a:rPr lang="en-US" sz="2800" b="1" dirty="0">
                <a:solidFill>
                  <a:srgbClr val="0070C0"/>
                </a:solidFill>
              </a:rPr>
              <a:t>1</a:t>
            </a:r>
            <a:r>
              <a:rPr lang="en-US" sz="2800" dirty="0"/>
              <a:t>   </a:t>
            </a:r>
            <a:r>
              <a:rPr lang="en-US" sz="2800" b="1" dirty="0">
                <a:solidFill>
                  <a:srgbClr val="0070C0"/>
                </a:solidFill>
              </a:rPr>
              <a:t>1</a:t>
            </a:r>
            <a:r>
              <a:rPr lang="en-US" sz="2800" dirty="0"/>
              <a:t>   </a:t>
            </a:r>
            <a:r>
              <a:rPr lang="en-US" sz="2800" b="1" dirty="0">
                <a:solidFill>
                  <a:srgbClr val="00B050"/>
                </a:solidFill>
              </a:rPr>
              <a:t>0</a:t>
            </a:r>
            <a:r>
              <a:rPr lang="en-US" sz="2800" dirty="0">
                <a:solidFill>
                  <a:srgbClr val="00B050"/>
                </a:solidFill>
              </a:rPr>
              <a:t> </a:t>
            </a:r>
            <a:r>
              <a:rPr lang="en-US" sz="2800" dirty="0"/>
              <a:t>  </a:t>
            </a:r>
            <a:r>
              <a:rPr lang="en-US" sz="2800" b="1" dirty="0">
                <a:solidFill>
                  <a:srgbClr val="00B050"/>
                </a:solidFill>
              </a:rPr>
              <a:t>0</a:t>
            </a:r>
            <a:r>
              <a:rPr lang="en-US" sz="2800" dirty="0"/>
              <a:t>  </a:t>
            </a:r>
            <a:r>
              <a:rPr lang="en-US" sz="2800" b="1" dirty="0">
                <a:solidFill>
                  <a:srgbClr val="0070C0"/>
                </a:solidFill>
              </a:rPr>
              <a:t> 1   </a:t>
            </a:r>
            <a:r>
              <a:rPr lang="en-US" sz="2800" b="1" dirty="0">
                <a:solidFill>
                  <a:srgbClr val="00B050"/>
                </a:solidFill>
              </a:rPr>
              <a:t>0  </a:t>
            </a:r>
            <a:r>
              <a:rPr lang="en-US" sz="2800" dirty="0">
                <a:solidFill>
                  <a:srgbClr val="0070C0"/>
                </a:solidFill>
              </a:rPr>
              <a:t> </a:t>
            </a:r>
            <a:r>
              <a:rPr lang="en-US" sz="2800" b="1" dirty="0">
                <a:solidFill>
                  <a:srgbClr val="00B050"/>
                </a:solidFill>
              </a:rPr>
              <a:t>0</a:t>
            </a:r>
            <a:endParaRPr lang="en-US" sz="2800" dirty="0"/>
          </a:p>
        </p:txBody>
      </p:sp>
      <p:pic>
        <p:nvPicPr>
          <p:cNvPr id="30" name="Picture 29">
            <a:extLst>
              <a:ext uri="{FF2B5EF4-FFF2-40B4-BE49-F238E27FC236}">
                <a16:creationId xmlns:a16="http://schemas.microsoft.com/office/drawing/2014/main" id="{DFB134EE-8C26-4ED7-8C67-343B5376620E}"/>
              </a:ext>
            </a:extLst>
          </p:cNvPr>
          <p:cNvPicPr>
            <a:picLocks noChangeAspect="1"/>
          </p:cNvPicPr>
          <p:nvPr/>
        </p:nvPicPr>
        <p:blipFill>
          <a:blip r:embed="rId4"/>
          <a:stretch>
            <a:fillRect/>
          </a:stretch>
        </p:blipFill>
        <p:spPr>
          <a:xfrm>
            <a:off x="4408125" y="4194415"/>
            <a:ext cx="831377" cy="1195555"/>
          </a:xfrm>
          <a:prstGeom prst="rect">
            <a:avLst/>
          </a:prstGeom>
        </p:spPr>
      </p:pic>
      <p:sp>
        <p:nvSpPr>
          <p:cNvPr id="31" name="Rectangle 30">
            <a:extLst>
              <a:ext uri="{FF2B5EF4-FFF2-40B4-BE49-F238E27FC236}">
                <a16:creationId xmlns:a16="http://schemas.microsoft.com/office/drawing/2014/main" id="{37D0B556-37A5-4CD1-8AE7-4D0E6DE3D910}"/>
              </a:ext>
            </a:extLst>
          </p:cNvPr>
          <p:cNvSpPr/>
          <p:nvPr/>
        </p:nvSpPr>
        <p:spPr>
          <a:xfrm>
            <a:off x="2061025" y="1288253"/>
            <a:ext cx="992579" cy="523220"/>
          </a:xfrm>
          <a:prstGeom prst="rect">
            <a:avLst/>
          </a:prstGeom>
        </p:spPr>
        <p:txBody>
          <a:bodyPr wrap="none">
            <a:spAutoFit/>
          </a:bodyPr>
          <a:lstStyle/>
          <a:p>
            <a:r>
              <a:rPr lang="en-US" sz="2800" b="1" dirty="0">
                <a:solidFill>
                  <a:srgbClr val="0070C0"/>
                </a:solidFill>
              </a:rPr>
              <a:t>Open</a:t>
            </a:r>
          </a:p>
        </p:txBody>
      </p:sp>
      <p:sp>
        <p:nvSpPr>
          <p:cNvPr id="32" name="Rectangle 31">
            <a:extLst>
              <a:ext uri="{FF2B5EF4-FFF2-40B4-BE49-F238E27FC236}">
                <a16:creationId xmlns:a16="http://schemas.microsoft.com/office/drawing/2014/main" id="{1579BCCC-2589-4542-99C9-B8E52CCF4D19}"/>
              </a:ext>
            </a:extLst>
          </p:cNvPr>
          <p:cNvSpPr/>
          <p:nvPr/>
        </p:nvSpPr>
        <p:spPr>
          <a:xfrm>
            <a:off x="2055023" y="4021825"/>
            <a:ext cx="979755" cy="523220"/>
          </a:xfrm>
          <a:prstGeom prst="rect">
            <a:avLst/>
          </a:prstGeom>
        </p:spPr>
        <p:txBody>
          <a:bodyPr wrap="none">
            <a:spAutoFit/>
          </a:bodyPr>
          <a:lstStyle/>
          <a:p>
            <a:r>
              <a:rPr lang="en-US" sz="2800" b="1" dirty="0">
                <a:solidFill>
                  <a:srgbClr val="00B050"/>
                </a:solidFill>
              </a:rPr>
              <a:t>Close</a:t>
            </a:r>
          </a:p>
        </p:txBody>
      </p:sp>
      <p:pic>
        <p:nvPicPr>
          <p:cNvPr id="34" name="Picture 33">
            <a:extLst>
              <a:ext uri="{FF2B5EF4-FFF2-40B4-BE49-F238E27FC236}">
                <a16:creationId xmlns:a16="http://schemas.microsoft.com/office/drawing/2014/main" id="{7F816E1F-359C-45E7-BEEA-EB42BC7D03FF}"/>
              </a:ext>
            </a:extLst>
          </p:cNvPr>
          <p:cNvPicPr>
            <a:picLocks noChangeAspect="1"/>
          </p:cNvPicPr>
          <p:nvPr/>
        </p:nvPicPr>
        <p:blipFill>
          <a:blip r:embed="rId5"/>
          <a:stretch>
            <a:fillRect/>
          </a:stretch>
        </p:blipFill>
        <p:spPr>
          <a:xfrm>
            <a:off x="5991885" y="4278220"/>
            <a:ext cx="596384" cy="1195556"/>
          </a:xfrm>
          <a:prstGeom prst="rect">
            <a:avLst/>
          </a:prstGeom>
        </p:spPr>
      </p:pic>
      <p:pic>
        <p:nvPicPr>
          <p:cNvPr id="35" name="Picture 34">
            <a:extLst>
              <a:ext uri="{FF2B5EF4-FFF2-40B4-BE49-F238E27FC236}">
                <a16:creationId xmlns:a16="http://schemas.microsoft.com/office/drawing/2014/main" id="{E25FD65D-0301-48DD-ACCD-D4B1BE4F3CF2}"/>
              </a:ext>
            </a:extLst>
          </p:cNvPr>
          <p:cNvPicPr>
            <a:picLocks noChangeAspect="1"/>
          </p:cNvPicPr>
          <p:nvPr/>
        </p:nvPicPr>
        <p:blipFill>
          <a:blip r:embed="rId4"/>
          <a:stretch>
            <a:fillRect/>
          </a:stretch>
        </p:blipFill>
        <p:spPr>
          <a:xfrm>
            <a:off x="5993292" y="1937610"/>
            <a:ext cx="831377" cy="1195555"/>
          </a:xfrm>
          <a:prstGeom prst="rect">
            <a:avLst/>
          </a:prstGeom>
        </p:spPr>
      </p:pic>
      <p:cxnSp>
        <p:nvCxnSpPr>
          <p:cNvPr id="37" name="Straight Arrow Connector 36">
            <a:extLst>
              <a:ext uri="{FF2B5EF4-FFF2-40B4-BE49-F238E27FC236}">
                <a16:creationId xmlns:a16="http://schemas.microsoft.com/office/drawing/2014/main" id="{64CD7D02-75E7-493B-90D0-276FED7643B6}"/>
              </a:ext>
            </a:extLst>
          </p:cNvPr>
          <p:cNvCxnSpPr/>
          <p:nvPr/>
        </p:nvCxnSpPr>
        <p:spPr>
          <a:xfrm flipV="1">
            <a:off x="5026716" y="3807278"/>
            <a:ext cx="404473" cy="46349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F7F08149-49E0-4295-8634-45009ED7BF8E}"/>
              </a:ext>
            </a:extLst>
          </p:cNvPr>
          <p:cNvCxnSpPr>
            <a:cxnSpLocks/>
          </p:cNvCxnSpPr>
          <p:nvPr/>
        </p:nvCxnSpPr>
        <p:spPr>
          <a:xfrm>
            <a:off x="5122005" y="3206088"/>
            <a:ext cx="760934" cy="30606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CA91B4C0-985C-4B04-AD49-E8DBC7E210C2}"/>
              </a:ext>
            </a:extLst>
          </p:cNvPr>
          <p:cNvCxnSpPr>
            <a:cxnSpLocks/>
          </p:cNvCxnSpPr>
          <p:nvPr/>
        </p:nvCxnSpPr>
        <p:spPr>
          <a:xfrm flipV="1">
            <a:off x="6203295" y="3853908"/>
            <a:ext cx="145025" cy="41686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48F73A43-5594-435F-8C00-A263E02CB806}"/>
              </a:ext>
            </a:extLst>
          </p:cNvPr>
          <p:cNvCxnSpPr>
            <a:cxnSpLocks/>
          </p:cNvCxnSpPr>
          <p:nvPr/>
        </p:nvCxnSpPr>
        <p:spPr>
          <a:xfrm>
            <a:off x="6290077" y="3140321"/>
            <a:ext cx="515536" cy="34901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0F0E1AC3-73A4-4C6B-A756-5EC34C19645B}"/>
              </a:ext>
            </a:extLst>
          </p:cNvPr>
          <p:cNvCxnSpPr>
            <a:cxnSpLocks/>
          </p:cNvCxnSpPr>
          <p:nvPr/>
        </p:nvCxnSpPr>
        <p:spPr>
          <a:xfrm flipH="1" flipV="1">
            <a:off x="7290034" y="3837278"/>
            <a:ext cx="50618" cy="44059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5F543811-F4EC-47AA-9BEE-07F629BC1010}"/>
              </a:ext>
            </a:extLst>
          </p:cNvPr>
          <p:cNvCxnSpPr>
            <a:cxnSpLocks/>
          </p:cNvCxnSpPr>
          <p:nvPr/>
        </p:nvCxnSpPr>
        <p:spPr>
          <a:xfrm flipH="1">
            <a:off x="7638844" y="3184590"/>
            <a:ext cx="129928" cy="303132"/>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pic>
        <p:nvPicPr>
          <p:cNvPr id="50" name="Picture 49">
            <a:extLst>
              <a:ext uri="{FF2B5EF4-FFF2-40B4-BE49-F238E27FC236}">
                <a16:creationId xmlns:a16="http://schemas.microsoft.com/office/drawing/2014/main" id="{A468BB03-32AF-4CE2-AF17-AF3C05B348DD}"/>
              </a:ext>
            </a:extLst>
          </p:cNvPr>
          <p:cNvPicPr>
            <a:picLocks noChangeAspect="1"/>
          </p:cNvPicPr>
          <p:nvPr/>
        </p:nvPicPr>
        <p:blipFill>
          <a:blip r:embed="rId5"/>
          <a:stretch>
            <a:fillRect/>
          </a:stretch>
        </p:blipFill>
        <p:spPr>
          <a:xfrm>
            <a:off x="8282798" y="4221306"/>
            <a:ext cx="596384" cy="1195556"/>
          </a:xfrm>
          <a:prstGeom prst="rect">
            <a:avLst/>
          </a:prstGeom>
        </p:spPr>
      </p:pic>
      <p:cxnSp>
        <p:nvCxnSpPr>
          <p:cNvPr id="51" name="Straight Arrow Connector 50">
            <a:extLst>
              <a:ext uri="{FF2B5EF4-FFF2-40B4-BE49-F238E27FC236}">
                <a16:creationId xmlns:a16="http://schemas.microsoft.com/office/drawing/2014/main" id="{4E8007A5-971E-4F0E-97D2-074BE30141F7}"/>
              </a:ext>
            </a:extLst>
          </p:cNvPr>
          <p:cNvCxnSpPr>
            <a:cxnSpLocks/>
          </p:cNvCxnSpPr>
          <p:nvPr/>
        </p:nvCxnSpPr>
        <p:spPr>
          <a:xfrm flipH="1" flipV="1">
            <a:off x="8116142" y="3883772"/>
            <a:ext cx="555287" cy="29136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pic>
        <p:nvPicPr>
          <p:cNvPr id="54" name="Picture 53">
            <a:extLst>
              <a:ext uri="{FF2B5EF4-FFF2-40B4-BE49-F238E27FC236}">
                <a16:creationId xmlns:a16="http://schemas.microsoft.com/office/drawing/2014/main" id="{007548E1-3441-4F16-81FD-A58C10420DBF}"/>
              </a:ext>
            </a:extLst>
          </p:cNvPr>
          <p:cNvPicPr>
            <a:picLocks noChangeAspect="1"/>
          </p:cNvPicPr>
          <p:nvPr/>
        </p:nvPicPr>
        <p:blipFill>
          <a:blip r:embed="rId4"/>
          <a:stretch>
            <a:fillRect/>
          </a:stretch>
        </p:blipFill>
        <p:spPr>
          <a:xfrm>
            <a:off x="8792261" y="1860951"/>
            <a:ext cx="831377" cy="1195555"/>
          </a:xfrm>
          <a:prstGeom prst="rect">
            <a:avLst/>
          </a:prstGeom>
        </p:spPr>
      </p:pic>
      <p:cxnSp>
        <p:nvCxnSpPr>
          <p:cNvPr id="55" name="Straight Arrow Connector 54">
            <a:extLst>
              <a:ext uri="{FF2B5EF4-FFF2-40B4-BE49-F238E27FC236}">
                <a16:creationId xmlns:a16="http://schemas.microsoft.com/office/drawing/2014/main" id="{B5B5BA1C-9624-4849-A518-FC47BA1AF2EE}"/>
              </a:ext>
            </a:extLst>
          </p:cNvPr>
          <p:cNvCxnSpPr>
            <a:cxnSpLocks/>
            <a:stCxn id="54" idx="2"/>
          </p:cNvCxnSpPr>
          <p:nvPr/>
        </p:nvCxnSpPr>
        <p:spPr>
          <a:xfrm flipH="1">
            <a:off x="8624850" y="3056506"/>
            <a:ext cx="583100" cy="41260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pic>
        <p:nvPicPr>
          <p:cNvPr id="57" name="Picture 56">
            <a:extLst>
              <a:ext uri="{FF2B5EF4-FFF2-40B4-BE49-F238E27FC236}">
                <a16:creationId xmlns:a16="http://schemas.microsoft.com/office/drawing/2014/main" id="{5E308A21-8C10-44BA-A328-826B8CF3229A}"/>
              </a:ext>
            </a:extLst>
          </p:cNvPr>
          <p:cNvPicPr>
            <a:picLocks noChangeAspect="1"/>
          </p:cNvPicPr>
          <p:nvPr/>
        </p:nvPicPr>
        <p:blipFill>
          <a:blip r:embed="rId5"/>
          <a:stretch>
            <a:fillRect/>
          </a:stretch>
        </p:blipFill>
        <p:spPr>
          <a:xfrm>
            <a:off x="9623638" y="4194414"/>
            <a:ext cx="596384" cy="1195556"/>
          </a:xfrm>
          <a:prstGeom prst="rect">
            <a:avLst/>
          </a:prstGeom>
        </p:spPr>
      </p:pic>
      <p:cxnSp>
        <p:nvCxnSpPr>
          <p:cNvPr id="58" name="Straight Arrow Connector 57">
            <a:extLst>
              <a:ext uri="{FF2B5EF4-FFF2-40B4-BE49-F238E27FC236}">
                <a16:creationId xmlns:a16="http://schemas.microsoft.com/office/drawing/2014/main" id="{E83AAA13-A964-440A-91DF-E2F4C16C34EB}"/>
              </a:ext>
            </a:extLst>
          </p:cNvPr>
          <p:cNvCxnSpPr>
            <a:cxnSpLocks/>
            <a:stCxn id="57" idx="0"/>
          </p:cNvCxnSpPr>
          <p:nvPr/>
        </p:nvCxnSpPr>
        <p:spPr>
          <a:xfrm flipH="1" flipV="1">
            <a:off x="8916400" y="3813134"/>
            <a:ext cx="1005430" cy="38128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62" name="Straight Arrow Connector 61">
            <a:extLst>
              <a:ext uri="{FF2B5EF4-FFF2-40B4-BE49-F238E27FC236}">
                <a16:creationId xmlns:a16="http://schemas.microsoft.com/office/drawing/2014/main" id="{95EE4C3D-A5F5-4E4B-B261-A1B754CF36F8}"/>
              </a:ext>
            </a:extLst>
          </p:cNvPr>
          <p:cNvCxnSpPr>
            <a:cxnSpLocks/>
          </p:cNvCxnSpPr>
          <p:nvPr/>
        </p:nvCxnSpPr>
        <p:spPr>
          <a:xfrm flipH="1">
            <a:off x="9568953" y="3118517"/>
            <a:ext cx="583100" cy="41260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63" name="Rectangle 62">
            <a:extLst>
              <a:ext uri="{FF2B5EF4-FFF2-40B4-BE49-F238E27FC236}">
                <a16:creationId xmlns:a16="http://schemas.microsoft.com/office/drawing/2014/main" id="{FCAE09A5-4EBF-4BAB-AA81-76DD31AF0106}"/>
              </a:ext>
            </a:extLst>
          </p:cNvPr>
          <p:cNvSpPr/>
          <p:nvPr/>
        </p:nvSpPr>
        <p:spPr>
          <a:xfrm>
            <a:off x="4167095" y="5525004"/>
            <a:ext cx="5995680" cy="830997"/>
          </a:xfrm>
          <a:prstGeom prst="rect">
            <a:avLst/>
          </a:prstGeom>
        </p:spPr>
        <p:txBody>
          <a:bodyPr wrap="none">
            <a:spAutoFit/>
          </a:bodyPr>
          <a:lstStyle/>
          <a:p>
            <a:r>
              <a:rPr lang="en-US" sz="2400" b="1" dirty="0"/>
              <a:t>Bit rate = 1 bps </a:t>
            </a:r>
          </a:p>
          <a:p>
            <a:r>
              <a:rPr lang="en-US" sz="2400" b="1" dirty="0"/>
              <a:t>1 Symbol = 1 bit, then the symbol rate is 1 </a:t>
            </a:r>
            <a:r>
              <a:rPr lang="en-US" sz="2400" b="1" dirty="0" err="1"/>
              <a:t>sps</a:t>
            </a:r>
            <a:endParaRPr lang="en-US" sz="2400" dirty="0"/>
          </a:p>
        </p:txBody>
      </p:sp>
      <p:pic>
        <p:nvPicPr>
          <p:cNvPr id="64" name="Picture 63">
            <a:extLst>
              <a:ext uri="{FF2B5EF4-FFF2-40B4-BE49-F238E27FC236}">
                <a16:creationId xmlns:a16="http://schemas.microsoft.com/office/drawing/2014/main" id="{92C15B3C-5CEB-4ACF-AD03-10137A2D994C}"/>
              </a:ext>
            </a:extLst>
          </p:cNvPr>
          <p:cNvPicPr>
            <a:picLocks noChangeAspect="1"/>
          </p:cNvPicPr>
          <p:nvPr/>
        </p:nvPicPr>
        <p:blipFill>
          <a:blip r:embed="rId5"/>
          <a:stretch>
            <a:fillRect/>
          </a:stretch>
        </p:blipFill>
        <p:spPr>
          <a:xfrm>
            <a:off x="10236606" y="1826726"/>
            <a:ext cx="596384" cy="1195556"/>
          </a:xfrm>
          <a:prstGeom prst="rect">
            <a:avLst/>
          </a:prstGeom>
        </p:spPr>
      </p:pic>
      <p:pic>
        <p:nvPicPr>
          <p:cNvPr id="65" name="Picture 64">
            <a:extLst>
              <a:ext uri="{FF2B5EF4-FFF2-40B4-BE49-F238E27FC236}">
                <a16:creationId xmlns:a16="http://schemas.microsoft.com/office/drawing/2014/main" id="{2DFEDB25-5449-476C-B2FE-3AC6BA6B7FE8}"/>
              </a:ext>
            </a:extLst>
          </p:cNvPr>
          <p:cNvPicPr>
            <a:picLocks noChangeAspect="1"/>
          </p:cNvPicPr>
          <p:nvPr/>
        </p:nvPicPr>
        <p:blipFill>
          <a:blip r:embed="rId4"/>
          <a:stretch>
            <a:fillRect/>
          </a:stretch>
        </p:blipFill>
        <p:spPr>
          <a:xfrm>
            <a:off x="4418024" y="1981195"/>
            <a:ext cx="831377" cy="1195555"/>
          </a:xfrm>
          <a:prstGeom prst="rect">
            <a:avLst/>
          </a:prstGeom>
        </p:spPr>
      </p:pic>
      <p:pic>
        <p:nvPicPr>
          <p:cNvPr id="66" name="Picture 65">
            <a:extLst>
              <a:ext uri="{FF2B5EF4-FFF2-40B4-BE49-F238E27FC236}">
                <a16:creationId xmlns:a16="http://schemas.microsoft.com/office/drawing/2014/main" id="{DD3557B2-06CC-4F7A-AD89-3695B1FDCB23}"/>
              </a:ext>
            </a:extLst>
          </p:cNvPr>
          <p:cNvPicPr>
            <a:picLocks noChangeAspect="1"/>
          </p:cNvPicPr>
          <p:nvPr/>
        </p:nvPicPr>
        <p:blipFill>
          <a:blip r:embed="rId4"/>
          <a:stretch>
            <a:fillRect/>
          </a:stretch>
        </p:blipFill>
        <p:spPr>
          <a:xfrm>
            <a:off x="7007438" y="4239353"/>
            <a:ext cx="831377" cy="1195555"/>
          </a:xfrm>
          <a:prstGeom prst="rect">
            <a:avLst/>
          </a:prstGeom>
        </p:spPr>
      </p:pic>
      <p:pic>
        <p:nvPicPr>
          <p:cNvPr id="67" name="Picture 66">
            <a:extLst>
              <a:ext uri="{FF2B5EF4-FFF2-40B4-BE49-F238E27FC236}">
                <a16:creationId xmlns:a16="http://schemas.microsoft.com/office/drawing/2014/main" id="{C261D26C-93EE-41AF-A33A-E3A616ED8F51}"/>
              </a:ext>
            </a:extLst>
          </p:cNvPr>
          <p:cNvPicPr>
            <a:picLocks noChangeAspect="1"/>
          </p:cNvPicPr>
          <p:nvPr/>
        </p:nvPicPr>
        <p:blipFill>
          <a:blip r:embed="rId5"/>
          <a:stretch>
            <a:fillRect/>
          </a:stretch>
        </p:blipFill>
        <p:spPr>
          <a:xfrm>
            <a:off x="7460282" y="1890768"/>
            <a:ext cx="596384" cy="1195556"/>
          </a:xfrm>
          <a:prstGeom prst="rect">
            <a:avLst/>
          </a:prstGeom>
        </p:spPr>
      </p:pic>
      <p:pic>
        <p:nvPicPr>
          <p:cNvPr id="3" name="Pg8">
            <a:hlinkClick r:id="" action="ppaction://media"/>
            <a:extLst>
              <a:ext uri="{FF2B5EF4-FFF2-40B4-BE49-F238E27FC236}">
                <a16:creationId xmlns:a16="http://schemas.microsoft.com/office/drawing/2014/main" id="{F78F3D55-C87E-497E-9914-EDF59315DF34}"/>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244219" y="5746401"/>
            <a:ext cx="609600" cy="609600"/>
          </a:xfrm>
          <a:prstGeom prst="rect">
            <a:avLst/>
          </a:prstGeom>
        </p:spPr>
      </p:pic>
      <p:sp>
        <p:nvSpPr>
          <p:cNvPr id="5" name="Rectangle 4">
            <a:extLst>
              <a:ext uri="{FF2B5EF4-FFF2-40B4-BE49-F238E27FC236}">
                <a16:creationId xmlns:a16="http://schemas.microsoft.com/office/drawing/2014/main" id="{2C0BEBB0-FF1F-CE42-13EA-6A6217CD6DAD}"/>
              </a:ext>
            </a:extLst>
          </p:cNvPr>
          <p:cNvSpPr/>
          <p:nvPr/>
        </p:nvSpPr>
        <p:spPr>
          <a:xfrm>
            <a:off x="0" y="0"/>
            <a:ext cx="1026160" cy="2438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964202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58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0E8CB59-52A8-4424-8E07-CF6120EDB06C}"/>
              </a:ext>
            </a:extLst>
          </p:cNvPr>
          <p:cNvSpPr/>
          <p:nvPr/>
        </p:nvSpPr>
        <p:spPr>
          <a:xfrm>
            <a:off x="6232072" y="2925721"/>
            <a:ext cx="497390" cy="52322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sz="quarter" idx="4"/>
          </p:nvPr>
        </p:nvSpPr>
        <p:spPr>
          <a:xfrm>
            <a:off x="4724400" y="6356349"/>
            <a:ext cx="2743200" cy="365125"/>
          </a:xfrm>
        </p:spPr>
        <p:txBody>
          <a:bodyPr/>
          <a:lstStyle/>
          <a:p>
            <a:r>
              <a:rPr lang="en-US" dirty="0"/>
              <a:t>Page </a:t>
            </a:r>
            <a:fld id="{A862897D-0F50-4425-B5E1-82FAA232DFBF}" type="slidenum">
              <a:rPr lang="en-US" smtClean="0"/>
              <a:pPr/>
              <a:t>10</a:t>
            </a:fld>
            <a:r>
              <a:rPr lang="en-US" dirty="0"/>
              <a:t> of 23</a:t>
            </a:r>
          </a:p>
        </p:txBody>
      </p:sp>
      <p:sp>
        <p:nvSpPr>
          <p:cNvPr id="22" name="Rectangle 2"/>
          <p:cNvSpPr>
            <a:spLocks noGrp="1" noChangeArrowheads="1"/>
          </p:cNvSpPr>
          <p:nvPr>
            <p:ph type="title"/>
          </p:nvPr>
        </p:nvSpPr>
        <p:spPr>
          <a:xfrm>
            <a:off x="850490" y="-202008"/>
            <a:ext cx="10515600" cy="1325563"/>
          </a:xfrm>
        </p:spPr>
        <p:txBody>
          <a:bodyPr>
            <a:normAutofit/>
          </a:bodyPr>
          <a:lstStyle/>
          <a:p>
            <a:r>
              <a:rPr lang="en-US" sz="3600" b="1" dirty="0">
                <a:solidFill>
                  <a:srgbClr val="C00000"/>
                </a:solidFill>
                <a:latin typeface="+mn-lt"/>
              </a:rPr>
              <a:t>Fundamentals – M-</a:t>
            </a:r>
            <a:r>
              <a:rPr lang="en-US" sz="3600" b="1" dirty="0" err="1">
                <a:solidFill>
                  <a:srgbClr val="C00000"/>
                </a:solidFill>
                <a:latin typeface="+mn-lt"/>
              </a:rPr>
              <a:t>ary</a:t>
            </a:r>
            <a:r>
              <a:rPr lang="en-US" sz="3600" b="1" dirty="0">
                <a:solidFill>
                  <a:srgbClr val="C00000"/>
                </a:solidFill>
                <a:latin typeface="+mn-lt"/>
              </a:rPr>
              <a:t> Signaling</a:t>
            </a:r>
          </a:p>
        </p:txBody>
      </p:sp>
      <p:sp>
        <p:nvSpPr>
          <p:cNvPr id="2" name="TextBox 1">
            <a:extLst>
              <a:ext uri="{FF2B5EF4-FFF2-40B4-BE49-F238E27FC236}">
                <a16:creationId xmlns:a16="http://schemas.microsoft.com/office/drawing/2014/main" id="{DC49C3AF-B018-44F1-B074-712E0AE211DD}"/>
              </a:ext>
            </a:extLst>
          </p:cNvPr>
          <p:cNvSpPr txBox="1"/>
          <p:nvPr/>
        </p:nvSpPr>
        <p:spPr>
          <a:xfrm>
            <a:off x="4829639" y="974001"/>
            <a:ext cx="7293729" cy="830997"/>
          </a:xfrm>
          <a:prstGeom prst="rect">
            <a:avLst/>
          </a:prstGeom>
          <a:noFill/>
        </p:spPr>
        <p:txBody>
          <a:bodyPr wrap="square" rtlCol="0">
            <a:spAutoFit/>
          </a:bodyPr>
          <a:lstStyle/>
          <a:p>
            <a:r>
              <a:rPr lang="en-US" sz="2400" dirty="0"/>
              <a:t>Every 1 second </a:t>
            </a:r>
            <a:r>
              <a:rPr lang="en-US" sz="2400" dirty="0">
                <a:sym typeface="Wingdings" panose="05000000000000000000" pitchFamily="2" charset="2"/>
              </a:rPr>
              <a:t></a:t>
            </a:r>
            <a:r>
              <a:rPr lang="en-US" sz="2400" dirty="0"/>
              <a:t> 1 bit of data  is 1 bps </a:t>
            </a:r>
          </a:p>
          <a:p>
            <a:r>
              <a:rPr lang="en-US" sz="2400" dirty="0"/>
              <a:t>Every 10 second, I can send “</a:t>
            </a:r>
            <a:r>
              <a:rPr lang="en-US" sz="2400" b="1" dirty="0">
                <a:solidFill>
                  <a:srgbClr val="0070C0"/>
                </a:solidFill>
              </a:rPr>
              <a:t>1</a:t>
            </a:r>
            <a:r>
              <a:rPr lang="en-US" sz="2400" dirty="0"/>
              <a:t>   </a:t>
            </a:r>
            <a:r>
              <a:rPr lang="en-US" sz="2400" b="1" dirty="0">
                <a:solidFill>
                  <a:srgbClr val="0070C0"/>
                </a:solidFill>
              </a:rPr>
              <a:t>1</a:t>
            </a:r>
            <a:r>
              <a:rPr lang="en-US" sz="2400" b="1" dirty="0">
                <a:solidFill>
                  <a:srgbClr val="00B050"/>
                </a:solidFill>
              </a:rPr>
              <a:t>   0</a:t>
            </a:r>
            <a:r>
              <a:rPr lang="en-US" sz="2400" dirty="0"/>
              <a:t>   </a:t>
            </a:r>
            <a:r>
              <a:rPr lang="en-US" sz="2400" b="1" dirty="0">
                <a:solidFill>
                  <a:srgbClr val="0070C0"/>
                </a:solidFill>
              </a:rPr>
              <a:t>1</a:t>
            </a:r>
            <a:r>
              <a:rPr lang="en-US" sz="2400" dirty="0"/>
              <a:t>   </a:t>
            </a:r>
            <a:r>
              <a:rPr lang="en-US" sz="2400" b="1" dirty="0">
                <a:solidFill>
                  <a:srgbClr val="0070C0"/>
                </a:solidFill>
              </a:rPr>
              <a:t>1</a:t>
            </a:r>
            <a:r>
              <a:rPr lang="en-US" sz="2400" dirty="0"/>
              <a:t>   </a:t>
            </a:r>
            <a:r>
              <a:rPr lang="en-US" sz="2400" b="1" dirty="0">
                <a:solidFill>
                  <a:srgbClr val="00B050"/>
                </a:solidFill>
              </a:rPr>
              <a:t>0</a:t>
            </a:r>
            <a:r>
              <a:rPr lang="en-US" sz="2400" dirty="0">
                <a:solidFill>
                  <a:srgbClr val="00B050"/>
                </a:solidFill>
              </a:rPr>
              <a:t> </a:t>
            </a:r>
            <a:r>
              <a:rPr lang="en-US" sz="2400" dirty="0"/>
              <a:t>  </a:t>
            </a:r>
            <a:r>
              <a:rPr lang="en-US" sz="2400" b="1" dirty="0">
                <a:solidFill>
                  <a:srgbClr val="00B050"/>
                </a:solidFill>
              </a:rPr>
              <a:t>0</a:t>
            </a:r>
            <a:r>
              <a:rPr lang="en-US" sz="2400" dirty="0"/>
              <a:t>  </a:t>
            </a:r>
            <a:r>
              <a:rPr lang="en-US" sz="2400" b="1" dirty="0">
                <a:solidFill>
                  <a:srgbClr val="0070C0"/>
                </a:solidFill>
              </a:rPr>
              <a:t> 1   </a:t>
            </a:r>
            <a:r>
              <a:rPr lang="en-US" sz="2400" b="1" dirty="0">
                <a:solidFill>
                  <a:srgbClr val="00B050"/>
                </a:solidFill>
              </a:rPr>
              <a:t>0  </a:t>
            </a:r>
            <a:r>
              <a:rPr lang="en-US" sz="2400" dirty="0">
                <a:solidFill>
                  <a:srgbClr val="0070C0"/>
                </a:solidFill>
              </a:rPr>
              <a:t> </a:t>
            </a:r>
            <a:r>
              <a:rPr lang="en-US" sz="2400" b="1" dirty="0">
                <a:solidFill>
                  <a:srgbClr val="00B050"/>
                </a:solidFill>
              </a:rPr>
              <a:t>0</a:t>
            </a:r>
            <a:r>
              <a:rPr lang="en-US" sz="2400" dirty="0"/>
              <a:t>”</a:t>
            </a:r>
          </a:p>
        </p:txBody>
      </p:sp>
      <p:pic>
        <p:nvPicPr>
          <p:cNvPr id="23" name="Picture 22">
            <a:extLst>
              <a:ext uri="{FF2B5EF4-FFF2-40B4-BE49-F238E27FC236}">
                <a16:creationId xmlns:a16="http://schemas.microsoft.com/office/drawing/2014/main" id="{CF9F7527-DA59-4ED5-A77D-50C51D3B2F74}"/>
              </a:ext>
            </a:extLst>
          </p:cNvPr>
          <p:cNvPicPr>
            <a:picLocks noChangeAspect="1"/>
          </p:cNvPicPr>
          <p:nvPr/>
        </p:nvPicPr>
        <p:blipFill>
          <a:blip r:embed="rId12"/>
          <a:stretch>
            <a:fillRect/>
          </a:stretch>
        </p:blipFill>
        <p:spPr>
          <a:xfrm>
            <a:off x="54092" y="1167287"/>
            <a:ext cx="1747854" cy="4556349"/>
          </a:xfrm>
          <a:prstGeom prst="rect">
            <a:avLst/>
          </a:prstGeom>
        </p:spPr>
      </p:pic>
      <p:pic>
        <p:nvPicPr>
          <p:cNvPr id="5" name="Picture 4">
            <a:extLst>
              <a:ext uri="{FF2B5EF4-FFF2-40B4-BE49-F238E27FC236}">
                <a16:creationId xmlns:a16="http://schemas.microsoft.com/office/drawing/2014/main" id="{BA13CD77-9BEB-44E2-B824-8D3694626DD9}"/>
              </a:ext>
            </a:extLst>
          </p:cNvPr>
          <p:cNvPicPr>
            <a:picLocks noChangeAspect="1"/>
          </p:cNvPicPr>
          <p:nvPr/>
        </p:nvPicPr>
        <p:blipFill>
          <a:blip r:embed="rId13"/>
          <a:stretch>
            <a:fillRect/>
          </a:stretch>
        </p:blipFill>
        <p:spPr>
          <a:xfrm>
            <a:off x="1916670" y="1123555"/>
            <a:ext cx="907297" cy="1081554"/>
          </a:xfrm>
          <a:prstGeom prst="rect">
            <a:avLst/>
          </a:prstGeom>
        </p:spPr>
      </p:pic>
      <p:pic>
        <p:nvPicPr>
          <p:cNvPr id="6" name="Picture 5">
            <a:extLst>
              <a:ext uri="{FF2B5EF4-FFF2-40B4-BE49-F238E27FC236}">
                <a16:creationId xmlns:a16="http://schemas.microsoft.com/office/drawing/2014/main" id="{0EF1A3D9-61F0-4541-B807-35239710C6CC}"/>
              </a:ext>
            </a:extLst>
          </p:cNvPr>
          <p:cNvPicPr>
            <a:picLocks noChangeAspect="1"/>
          </p:cNvPicPr>
          <p:nvPr/>
        </p:nvPicPr>
        <p:blipFill>
          <a:blip r:embed="rId14"/>
          <a:stretch>
            <a:fillRect/>
          </a:stretch>
        </p:blipFill>
        <p:spPr>
          <a:xfrm>
            <a:off x="1915746" y="2452483"/>
            <a:ext cx="940483" cy="1081555"/>
          </a:xfrm>
          <a:prstGeom prst="rect">
            <a:avLst/>
          </a:prstGeom>
        </p:spPr>
      </p:pic>
      <p:pic>
        <p:nvPicPr>
          <p:cNvPr id="7" name="Picture 6">
            <a:extLst>
              <a:ext uri="{FF2B5EF4-FFF2-40B4-BE49-F238E27FC236}">
                <a16:creationId xmlns:a16="http://schemas.microsoft.com/office/drawing/2014/main" id="{215A2895-814F-4663-A559-50E250572FD7}"/>
              </a:ext>
            </a:extLst>
          </p:cNvPr>
          <p:cNvPicPr>
            <a:picLocks noChangeAspect="1"/>
          </p:cNvPicPr>
          <p:nvPr/>
        </p:nvPicPr>
        <p:blipFill>
          <a:blip r:embed="rId15"/>
          <a:stretch>
            <a:fillRect/>
          </a:stretch>
        </p:blipFill>
        <p:spPr>
          <a:xfrm>
            <a:off x="1915746" y="3908719"/>
            <a:ext cx="1157014" cy="1081556"/>
          </a:xfrm>
          <a:prstGeom prst="rect">
            <a:avLst/>
          </a:prstGeom>
        </p:spPr>
      </p:pic>
      <p:sp>
        <p:nvSpPr>
          <p:cNvPr id="8" name="Rectangle 7">
            <a:extLst>
              <a:ext uri="{FF2B5EF4-FFF2-40B4-BE49-F238E27FC236}">
                <a16:creationId xmlns:a16="http://schemas.microsoft.com/office/drawing/2014/main" id="{67D474BC-3CE2-4D09-A754-0CFCA65639AB}"/>
              </a:ext>
            </a:extLst>
          </p:cNvPr>
          <p:cNvSpPr/>
          <p:nvPr/>
        </p:nvSpPr>
        <p:spPr>
          <a:xfrm>
            <a:off x="2823967" y="5523581"/>
            <a:ext cx="1754006" cy="400110"/>
          </a:xfrm>
          <a:prstGeom prst="rect">
            <a:avLst/>
          </a:prstGeom>
        </p:spPr>
        <p:txBody>
          <a:bodyPr wrap="none">
            <a:spAutoFit/>
          </a:bodyPr>
          <a:lstStyle/>
          <a:p>
            <a:r>
              <a:rPr lang="en-US" sz="2000" b="1" dirty="0"/>
              <a:t>1   1 </a:t>
            </a:r>
            <a:r>
              <a:rPr lang="en-US" sz="2000" b="1" dirty="0">
                <a:sym typeface="Wingdings" panose="05000000000000000000" pitchFamily="2" charset="2"/>
              </a:rPr>
              <a:t> No one</a:t>
            </a:r>
            <a:endParaRPr lang="en-US" sz="2000" b="1" dirty="0"/>
          </a:p>
        </p:txBody>
      </p:sp>
      <p:sp>
        <p:nvSpPr>
          <p:cNvPr id="39" name="Rectangle 38">
            <a:extLst>
              <a:ext uri="{FF2B5EF4-FFF2-40B4-BE49-F238E27FC236}">
                <a16:creationId xmlns:a16="http://schemas.microsoft.com/office/drawing/2014/main" id="{31B58A97-0EA0-4E49-836D-22CE406466E0}"/>
              </a:ext>
            </a:extLst>
          </p:cNvPr>
          <p:cNvSpPr/>
          <p:nvPr/>
        </p:nvSpPr>
        <p:spPr>
          <a:xfrm>
            <a:off x="2940056" y="3908719"/>
            <a:ext cx="1592295" cy="400110"/>
          </a:xfrm>
          <a:prstGeom prst="rect">
            <a:avLst/>
          </a:prstGeom>
        </p:spPr>
        <p:txBody>
          <a:bodyPr wrap="none">
            <a:spAutoFit/>
          </a:bodyPr>
          <a:lstStyle/>
          <a:p>
            <a:r>
              <a:rPr lang="en-US" sz="2000" b="1" dirty="0"/>
              <a:t>1   0 </a:t>
            </a:r>
            <a:r>
              <a:rPr lang="en-US" sz="2000" b="1" dirty="0">
                <a:sym typeface="Wingdings" panose="05000000000000000000" pitchFamily="2" charset="2"/>
              </a:rPr>
              <a:t> Jenny</a:t>
            </a:r>
            <a:endParaRPr lang="en-US" sz="2000" b="1" dirty="0"/>
          </a:p>
        </p:txBody>
      </p:sp>
      <p:sp>
        <p:nvSpPr>
          <p:cNvPr id="41" name="Rectangle 40">
            <a:extLst>
              <a:ext uri="{FF2B5EF4-FFF2-40B4-BE49-F238E27FC236}">
                <a16:creationId xmlns:a16="http://schemas.microsoft.com/office/drawing/2014/main" id="{97562B0F-8DF1-4381-B047-B032E42D6D4A}"/>
              </a:ext>
            </a:extLst>
          </p:cNvPr>
          <p:cNvSpPr/>
          <p:nvPr/>
        </p:nvSpPr>
        <p:spPr>
          <a:xfrm>
            <a:off x="2884133" y="2486443"/>
            <a:ext cx="1537600" cy="400110"/>
          </a:xfrm>
          <a:prstGeom prst="rect">
            <a:avLst/>
          </a:prstGeom>
        </p:spPr>
        <p:txBody>
          <a:bodyPr wrap="none">
            <a:spAutoFit/>
          </a:bodyPr>
          <a:lstStyle/>
          <a:p>
            <a:r>
              <a:rPr lang="en-US" sz="2000" b="1" dirty="0"/>
              <a:t>0   1 </a:t>
            </a:r>
            <a:r>
              <a:rPr lang="en-US" sz="2000" b="1" dirty="0">
                <a:sym typeface="Wingdings" panose="05000000000000000000" pitchFamily="2" charset="2"/>
              </a:rPr>
              <a:t> Andy</a:t>
            </a:r>
            <a:endParaRPr lang="en-US" sz="2000" b="1" dirty="0"/>
          </a:p>
        </p:txBody>
      </p:sp>
      <p:sp>
        <p:nvSpPr>
          <p:cNvPr id="43" name="Rectangle 42">
            <a:extLst>
              <a:ext uri="{FF2B5EF4-FFF2-40B4-BE49-F238E27FC236}">
                <a16:creationId xmlns:a16="http://schemas.microsoft.com/office/drawing/2014/main" id="{C370043F-7CD0-4F1C-A7ED-0061F4A7CC7A}"/>
              </a:ext>
            </a:extLst>
          </p:cNvPr>
          <p:cNvSpPr/>
          <p:nvPr/>
        </p:nvSpPr>
        <p:spPr>
          <a:xfrm>
            <a:off x="2856229" y="1064167"/>
            <a:ext cx="1442831" cy="400110"/>
          </a:xfrm>
          <a:prstGeom prst="rect">
            <a:avLst/>
          </a:prstGeom>
        </p:spPr>
        <p:txBody>
          <a:bodyPr wrap="none">
            <a:spAutoFit/>
          </a:bodyPr>
          <a:lstStyle/>
          <a:p>
            <a:r>
              <a:rPr lang="en-US" sz="2000" b="1" dirty="0"/>
              <a:t>0   0 </a:t>
            </a:r>
            <a:r>
              <a:rPr lang="en-US" sz="2000" b="1" dirty="0">
                <a:sym typeface="Wingdings" panose="05000000000000000000" pitchFamily="2" charset="2"/>
              </a:rPr>
              <a:t> Paul</a:t>
            </a:r>
            <a:endParaRPr lang="en-US" sz="2000" b="1" dirty="0"/>
          </a:p>
        </p:txBody>
      </p:sp>
      <p:sp>
        <p:nvSpPr>
          <p:cNvPr id="9" name="Rectangle 8">
            <a:extLst>
              <a:ext uri="{FF2B5EF4-FFF2-40B4-BE49-F238E27FC236}">
                <a16:creationId xmlns:a16="http://schemas.microsoft.com/office/drawing/2014/main" id="{61248014-8877-4784-A943-B668DA4926CE}"/>
              </a:ext>
            </a:extLst>
          </p:cNvPr>
          <p:cNvSpPr/>
          <p:nvPr/>
        </p:nvSpPr>
        <p:spPr>
          <a:xfrm>
            <a:off x="6336099" y="2913503"/>
            <a:ext cx="4219425" cy="523220"/>
          </a:xfrm>
          <a:prstGeom prst="rect">
            <a:avLst/>
          </a:prstGeom>
        </p:spPr>
        <p:txBody>
          <a:bodyPr wrap="none">
            <a:spAutoFit/>
          </a:bodyPr>
          <a:lstStyle/>
          <a:p>
            <a:r>
              <a:rPr lang="en-US" sz="2800" b="1" dirty="0">
                <a:solidFill>
                  <a:srgbClr val="0070C0"/>
                </a:solidFill>
              </a:rPr>
              <a:t>1</a:t>
            </a:r>
            <a:r>
              <a:rPr lang="en-US" sz="2800" dirty="0"/>
              <a:t>   </a:t>
            </a:r>
            <a:r>
              <a:rPr lang="en-US" sz="2800" b="1" dirty="0">
                <a:solidFill>
                  <a:srgbClr val="0070C0"/>
                </a:solidFill>
              </a:rPr>
              <a:t>1</a:t>
            </a:r>
            <a:r>
              <a:rPr lang="en-US" sz="2800" b="1" dirty="0">
                <a:solidFill>
                  <a:srgbClr val="00B050"/>
                </a:solidFill>
              </a:rPr>
              <a:t>   0</a:t>
            </a:r>
            <a:r>
              <a:rPr lang="en-US" sz="2800" dirty="0"/>
              <a:t>   </a:t>
            </a:r>
            <a:r>
              <a:rPr lang="en-US" sz="2800" b="1" dirty="0">
                <a:solidFill>
                  <a:srgbClr val="0070C0"/>
                </a:solidFill>
              </a:rPr>
              <a:t>1</a:t>
            </a:r>
            <a:r>
              <a:rPr lang="en-US" sz="2800" dirty="0"/>
              <a:t>   </a:t>
            </a:r>
            <a:r>
              <a:rPr lang="en-US" sz="2800" b="1" dirty="0">
                <a:solidFill>
                  <a:srgbClr val="0070C0"/>
                </a:solidFill>
              </a:rPr>
              <a:t>1</a:t>
            </a:r>
            <a:r>
              <a:rPr lang="en-US" sz="2800" dirty="0"/>
              <a:t>   </a:t>
            </a:r>
            <a:r>
              <a:rPr lang="en-US" sz="2800" b="1" dirty="0">
                <a:solidFill>
                  <a:srgbClr val="00B050"/>
                </a:solidFill>
              </a:rPr>
              <a:t>0</a:t>
            </a:r>
            <a:r>
              <a:rPr lang="en-US" sz="2800" dirty="0">
                <a:solidFill>
                  <a:srgbClr val="00B050"/>
                </a:solidFill>
              </a:rPr>
              <a:t> </a:t>
            </a:r>
            <a:r>
              <a:rPr lang="en-US" sz="2800" dirty="0"/>
              <a:t>  </a:t>
            </a:r>
            <a:r>
              <a:rPr lang="en-US" sz="2800" b="1" dirty="0">
                <a:solidFill>
                  <a:srgbClr val="00B050"/>
                </a:solidFill>
              </a:rPr>
              <a:t>0</a:t>
            </a:r>
            <a:r>
              <a:rPr lang="en-US" sz="2800" dirty="0"/>
              <a:t>  </a:t>
            </a:r>
            <a:r>
              <a:rPr lang="en-US" sz="2800" b="1" dirty="0">
                <a:solidFill>
                  <a:srgbClr val="0070C0"/>
                </a:solidFill>
              </a:rPr>
              <a:t> 1   </a:t>
            </a:r>
            <a:r>
              <a:rPr lang="en-US" sz="2800" b="1" dirty="0">
                <a:solidFill>
                  <a:srgbClr val="00B050"/>
                </a:solidFill>
              </a:rPr>
              <a:t>0  </a:t>
            </a:r>
            <a:r>
              <a:rPr lang="en-US" sz="2800" dirty="0">
                <a:solidFill>
                  <a:srgbClr val="0070C0"/>
                </a:solidFill>
              </a:rPr>
              <a:t> </a:t>
            </a:r>
            <a:r>
              <a:rPr lang="en-US" sz="2800" b="1" dirty="0">
                <a:solidFill>
                  <a:srgbClr val="00B050"/>
                </a:solidFill>
              </a:rPr>
              <a:t>0</a:t>
            </a:r>
            <a:endParaRPr lang="en-US" sz="2800" dirty="0"/>
          </a:p>
        </p:txBody>
      </p:sp>
      <p:cxnSp>
        <p:nvCxnSpPr>
          <p:cNvPr id="44" name="Straight Arrow Connector 43">
            <a:extLst>
              <a:ext uri="{FF2B5EF4-FFF2-40B4-BE49-F238E27FC236}">
                <a16:creationId xmlns:a16="http://schemas.microsoft.com/office/drawing/2014/main" id="{6E01691F-ADFC-4E0B-9A87-288565BE88EC}"/>
              </a:ext>
            </a:extLst>
          </p:cNvPr>
          <p:cNvCxnSpPr>
            <a:cxnSpLocks/>
          </p:cNvCxnSpPr>
          <p:nvPr/>
        </p:nvCxnSpPr>
        <p:spPr>
          <a:xfrm>
            <a:off x="5886145" y="2718245"/>
            <a:ext cx="345927" cy="13425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1" name="Rectangle 10">
            <a:extLst>
              <a:ext uri="{FF2B5EF4-FFF2-40B4-BE49-F238E27FC236}">
                <a16:creationId xmlns:a16="http://schemas.microsoft.com/office/drawing/2014/main" id="{BBC16338-9944-4C31-B9A6-B1654D8358A4}"/>
              </a:ext>
            </a:extLst>
          </p:cNvPr>
          <p:cNvSpPr/>
          <p:nvPr/>
        </p:nvSpPr>
        <p:spPr>
          <a:xfrm>
            <a:off x="4832114" y="1809792"/>
            <a:ext cx="1971565" cy="461665"/>
          </a:xfrm>
          <a:prstGeom prst="rect">
            <a:avLst/>
          </a:prstGeom>
        </p:spPr>
        <p:txBody>
          <a:bodyPr wrap="none">
            <a:spAutoFit/>
          </a:bodyPr>
          <a:lstStyle/>
          <a:p>
            <a:r>
              <a:rPr lang="en-US" sz="2400" b="1" u="sng" dirty="0">
                <a:solidFill>
                  <a:srgbClr val="FF0000"/>
                </a:solidFill>
              </a:rPr>
              <a:t>Received data</a:t>
            </a:r>
          </a:p>
        </p:txBody>
      </p:sp>
      <p:sp>
        <p:nvSpPr>
          <p:cNvPr id="47" name="Rectangle 46">
            <a:extLst>
              <a:ext uri="{FF2B5EF4-FFF2-40B4-BE49-F238E27FC236}">
                <a16:creationId xmlns:a16="http://schemas.microsoft.com/office/drawing/2014/main" id="{86894EC1-0899-439B-B055-59AAADFEA925}"/>
              </a:ext>
            </a:extLst>
          </p:cNvPr>
          <p:cNvSpPr/>
          <p:nvPr/>
        </p:nvSpPr>
        <p:spPr>
          <a:xfrm>
            <a:off x="5123055" y="2400513"/>
            <a:ext cx="1621021" cy="369332"/>
          </a:xfrm>
          <a:prstGeom prst="rect">
            <a:avLst/>
          </a:prstGeom>
        </p:spPr>
        <p:txBody>
          <a:bodyPr wrap="none">
            <a:spAutoFit/>
          </a:bodyPr>
          <a:lstStyle/>
          <a:p>
            <a:r>
              <a:rPr lang="en-US" dirty="0"/>
              <a:t>Start from here</a:t>
            </a:r>
          </a:p>
        </p:txBody>
      </p:sp>
      <p:grpSp>
        <p:nvGrpSpPr>
          <p:cNvPr id="14" name="Group 13">
            <a:extLst>
              <a:ext uri="{FF2B5EF4-FFF2-40B4-BE49-F238E27FC236}">
                <a16:creationId xmlns:a16="http://schemas.microsoft.com/office/drawing/2014/main" id="{27CC5307-7322-4ADB-8AB8-A9D5D80121EB}"/>
              </a:ext>
            </a:extLst>
          </p:cNvPr>
          <p:cNvGrpSpPr/>
          <p:nvPr/>
        </p:nvGrpSpPr>
        <p:grpSpPr>
          <a:xfrm>
            <a:off x="7155577" y="2354595"/>
            <a:ext cx="2580468" cy="1330309"/>
            <a:chOff x="7160217" y="3031116"/>
            <a:chExt cx="2580468" cy="1330309"/>
          </a:xfrm>
        </p:grpSpPr>
        <p:cxnSp>
          <p:nvCxnSpPr>
            <p:cNvPr id="12" name="Straight Connector 11">
              <a:extLst>
                <a:ext uri="{FF2B5EF4-FFF2-40B4-BE49-F238E27FC236}">
                  <a16:creationId xmlns:a16="http://schemas.microsoft.com/office/drawing/2014/main" id="{BAA72393-5996-47BD-98EA-7293C02D697E}"/>
                </a:ext>
              </a:extLst>
            </p:cNvPr>
            <p:cNvCxnSpPr/>
            <p:nvPr/>
          </p:nvCxnSpPr>
          <p:spPr>
            <a:xfrm>
              <a:off x="7160217" y="3052716"/>
              <a:ext cx="0" cy="1308709"/>
            </a:xfrm>
            <a:prstGeom prst="line">
              <a:avLst/>
            </a:prstGeom>
            <a:ln w="762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D210912-445C-49B7-8AC5-9D9382859E4A}"/>
                </a:ext>
              </a:extLst>
            </p:cNvPr>
            <p:cNvCxnSpPr/>
            <p:nvPr/>
          </p:nvCxnSpPr>
          <p:spPr>
            <a:xfrm>
              <a:off x="8025539" y="3052715"/>
              <a:ext cx="0" cy="1308709"/>
            </a:xfrm>
            <a:prstGeom prst="line">
              <a:avLst/>
            </a:prstGeom>
            <a:ln w="762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E9D23EA-7650-4439-95EE-675B5238B01A}"/>
                </a:ext>
              </a:extLst>
            </p:cNvPr>
            <p:cNvCxnSpPr/>
            <p:nvPr/>
          </p:nvCxnSpPr>
          <p:spPr>
            <a:xfrm>
              <a:off x="8875363" y="3052714"/>
              <a:ext cx="0" cy="1308709"/>
            </a:xfrm>
            <a:prstGeom prst="line">
              <a:avLst/>
            </a:prstGeom>
            <a:ln w="762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19DFFC9-FEE5-4FBA-970D-812FAEDA4F76}"/>
                </a:ext>
              </a:extLst>
            </p:cNvPr>
            <p:cNvCxnSpPr/>
            <p:nvPr/>
          </p:nvCxnSpPr>
          <p:spPr>
            <a:xfrm>
              <a:off x="9740685" y="3031116"/>
              <a:ext cx="0" cy="1308709"/>
            </a:xfrm>
            <a:prstGeom prst="line">
              <a:avLst/>
            </a:prstGeom>
            <a:ln w="76200">
              <a:solidFill>
                <a:srgbClr val="002060"/>
              </a:solidFill>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944C256D-D909-448E-8AA3-3F12CEFAB836}"/>
              </a:ext>
            </a:extLst>
          </p:cNvPr>
          <p:cNvGrpSpPr/>
          <p:nvPr/>
        </p:nvGrpSpPr>
        <p:grpSpPr>
          <a:xfrm>
            <a:off x="6232072" y="3823995"/>
            <a:ext cx="4438423" cy="663835"/>
            <a:chOff x="6200693" y="3804161"/>
            <a:chExt cx="4438423" cy="663835"/>
          </a:xfrm>
        </p:grpSpPr>
        <p:sp>
          <p:nvSpPr>
            <p:cNvPr id="26" name="Rectangle 25">
              <a:extLst>
                <a:ext uri="{FF2B5EF4-FFF2-40B4-BE49-F238E27FC236}">
                  <a16:creationId xmlns:a16="http://schemas.microsoft.com/office/drawing/2014/main" id="{BDDC0A5E-FB88-41C9-9640-B21F9913EF06}"/>
                </a:ext>
              </a:extLst>
            </p:cNvPr>
            <p:cNvSpPr/>
            <p:nvPr/>
          </p:nvSpPr>
          <p:spPr>
            <a:xfrm>
              <a:off x="6200693" y="3811986"/>
              <a:ext cx="872739" cy="646331"/>
            </a:xfrm>
            <a:prstGeom prst="rect">
              <a:avLst/>
            </a:prstGeom>
          </p:spPr>
          <p:txBody>
            <a:bodyPr wrap="none">
              <a:spAutoFit/>
            </a:bodyPr>
            <a:lstStyle/>
            <a:p>
              <a:pPr algn="ctr"/>
              <a:r>
                <a:rPr lang="en-US" dirty="0"/>
                <a:t>1</a:t>
              </a:r>
              <a:r>
                <a:rPr lang="en-US" baseline="30000" dirty="0"/>
                <a:t>st</a:t>
              </a:r>
              <a:endParaRPr lang="en-US" dirty="0"/>
            </a:p>
            <a:p>
              <a:pPr algn="ctr"/>
              <a:r>
                <a:rPr lang="en-US" dirty="0"/>
                <a:t>Symbol</a:t>
              </a:r>
            </a:p>
          </p:txBody>
        </p:sp>
        <p:sp>
          <p:nvSpPr>
            <p:cNvPr id="27" name="Rectangle 26">
              <a:extLst>
                <a:ext uri="{FF2B5EF4-FFF2-40B4-BE49-F238E27FC236}">
                  <a16:creationId xmlns:a16="http://schemas.microsoft.com/office/drawing/2014/main" id="{A3F74394-359D-4924-B4DC-D9915A9C77BC}"/>
                </a:ext>
              </a:extLst>
            </p:cNvPr>
            <p:cNvSpPr/>
            <p:nvPr/>
          </p:nvSpPr>
          <p:spPr>
            <a:xfrm>
              <a:off x="7148160" y="3821365"/>
              <a:ext cx="872739" cy="646331"/>
            </a:xfrm>
            <a:prstGeom prst="rect">
              <a:avLst/>
            </a:prstGeom>
          </p:spPr>
          <p:txBody>
            <a:bodyPr wrap="none">
              <a:spAutoFit/>
            </a:bodyPr>
            <a:lstStyle/>
            <a:p>
              <a:pPr algn="ctr"/>
              <a:r>
                <a:rPr lang="en-US" dirty="0"/>
                <a:t>2</a:t>
              </a:r>
              <a:r>
                <a:rPr lang="en-US" baseline="30000" dirty="0"/>
                <a:t>nd</a:t>
              </a:r>
              <a:endParaRPr lang="en-US" dirty="0"/>
            </a:p>
            <a:p>
              <a:pPr algn="ctr"/>
              <a:r>
                <a:rPr lang="en-US" dirty="0"/>
                <a:t>Symbol</a:t>
              </a:r>
            </a:p>
          </p:txBody>
        </p:sp>
        <p:sp>
          <p:nvSpPr>
            <p:cNvPr id="28" name="Rectangle 27">
              <a:extLst>
                <a:ext uri="{FF2B5EF4-FFF2-40B4-BE49-F238E27FC236}">
                  <a16:creationId xmlns:a16="http://schemas.microsoft.com/office/drawing/2014/main" id="{0C156977-F33F-4169-BD6B-EE7F8D86E90C}"/>
                </a:ext>
              </a:extLst>
            </p:cNvPr>
            <p:cNvSpPr/>
            <p:nvPr/>
          </p:nvSpPr>
          <p:spPr>
            <a:xfrm>
              <a:off x="8020899" y="3804162"/>
              <a:ext cx="872739" cy="646331"/>
            </a:xfrm>
            <a:prstGeom prst="rect">
              <a:avLst/>
            </a:prstGeom>
          </p:spPr>
          <p:txBody>
            <a:bodyPr wrap="none">
              <a:spAutoFit/>
            </a:bodyPr>
            <a:lstStyle/>
            <a:p>
              <a:pPr algn="ctr"/>
              <a:r>
                <a:rPr lang="en-US" dirty="0"/>
                <a:t>3</a:t>
              </a:r>
              <a:r>
                <a:rPr lang="en-US" baseline="30000" dirty="0"/>
                <a:t>rd</a:t>
              </a:r>
              <a:endParaRPr lang="en-US" dirty="0"/>
            </a:p>
            <a:p>
              <a:pPr algn="ctr"/>
              <a:r>
                <a:rPr lang="en-US" dirty="0"/>
                <a:t>Symbol</a:t>
              </a:r>
            </a:p>
          </p:txBody>
        </p:sp>
        <p:sp>
          <p:nvSpPr>
            <p:cNvPr id="29" name="Rectangle 28">
              <a:extLst>
                <a:ext uri="{FF2B5EF4-FFF2-40B4-BE49-F238E27FC236}">
                  <a16:creationId xmlns:a16="http://schemas.microsoft.com/office/drawing/2014/main" id="{EF36357E-1151-4073-9B18-7C52F96E6F09}"/>
                </a:ext>
              </a:extLst>
            </p:cNvPr>
            <p:cNvSpPr/>
            <p:nvPr/>
          </p:nvSpPr>
          <p:spPr>
            <a:xfrm>
              <a:off x="8863306" y="3804161"/>
              <a:ext cx="872739" cy="646331"/>
            </a:xfrm>
            <a:prstGeom prst="rect">
              <a:avLst/>
            </a:prstGeom>
          </p:spPr>
          <p:txBody>
            <a:bodyPr wrap="none">
              <a:spAutoFit/>
            </a:bodyPr>
            <a:lstStyle/>
            <a:p>
              <a:pPr algn="ctr"/>
              <a:r>
                <a:rPr lang="en-US" dirty="0"/>
                <a:t>4</a:t>
              </a:r>
              <a:r>
                <a:rPr lang="en-US" baseline="30000" dirty="0"/>
                <a:t>th</a:t>
              </a:r>
              <a:endParaRPr lang="en-US" dirty="0"/>
            </a:p>
            <a:p>
              <a:pPr algn="ctr"/>
              <a:r>
                <a:rPr lang="en-US" dirty="0"/>
                <a:t>Symbol</a:t>
              </a:r>
            </a:p>
          </p:txBody>
        </p:sp>
        <p:sp>
          <p:nvSpPr>
            <p:cNvPr id="30" name="Rectangle 29">
              <a:extLst>
                <a:ext uri="{FF2B5EF4-FFF2-40B4-BE49-F238E27FC236}">
                  <a16:creationId xmlns:a16="http://schemas.microsoft.com/office/drawing/2014/main" id="{0726F79E-C0A5-4965-8D71-8578C02E2CA3}"/>
                </a:ext>
              </a:extLst>
            </p:cNvPr>
            <p:cNvSpPr/>
            <p:nvPr/>
          </p:nvSpPr>
          <p:spPr>
            <a:xfrm>
              <a:off x="9766377" y="3821665"/>
              <a:ext cx="872739" cy="646331"/>
            </a:xfrm>
            <a:prstGeom prst="rect">
              <a:avLst/>
            </a:prstGeom>
          </p:spPr>
          <p:txBody>
            <a:bodyPr wrap="none">
              <a:spAutoFit/>
            </a:bodyPr>
            <a:lstStyle/>
            <a:p>
              <a:pPr algn="ctr"/>
              <a:r>
                <a:rPr lang="en-US" dirty="0"/>
                <a:t>5</a:t>
              </a:r>
              <a:r>
                <a:rPr lang="en-US" baseline="30000" dirty="0"/>
                <a:t>th</a:t>
              </a:r>
              <a:endParaRPr lang="en-US" dirty="0"/>
            </a:p>
            <a:p>
              <a:pPr algn="ctr"/>
              <a:r>
                <a:rPr lang="en-US" dirty="0"/>
                <a:t>Symbol</a:t>
              </a:r>
            </a:p>
          </p:txBody>
        </p:sp>
      </p:grpSp>
      <p:grpSp>
        <p:nvGrpSpPr>
          <p:cNvPr id="18" name="Group 17">
            <a:extLst>
              <a:ext uri="{FF2B5EF4-FFF2-40B4-BE49-F238E27FC236}">
                <a16:creationId xmlns:a16="http://schemas.microsoft.com/office/drawing/2014/main" id="{87FAC900-0A77-47DD-B8AE-3ABB82B9592E}"/>
              </a:ext>
            </a:extLst>
          </p:cNvPr>
          <p:cNvGrpSpPr/>
          <p:nvPr/>
        </p:nvGrpSpPr>
        <p:grpSpPr>
          <a:xfrm>
            <a:off x="6077599" y="4525918"/>
            <a:ext cx="4476888" cy="782782"/>
            <a:chOff x="6077599" y="4525918"/>
            <a:chExt cx="4476888" cy="782782"/>
          </a:xfrm>
        </p:grpSpPr>
        <p:sp>
          <p:nvSpPr>
            <p:cNvPr id="16" name="Rectangle 15">
              <a:extLst>
                <a:ext uri="{FF2B5EF4-FFF2-40B4-BE49-F238E27FC236}">
                  <a16:creationId xmlns:a16="http://schemas.microsoft.com/office/drawing/2014/main" id="{7599F579-9A5E-4167-BE9F-53D79546034D}"/>
                </a:ext>
              </a:extLst>
            </p:cNvPr>
            <p:cNvSpPr/>
            <p:nvPr/>
          </p:nvSpPr>
          <p:spPr>
            <a:xfrm>
              <a:off x="6077599" y="4707854"/>
              <a:ext cx="875561" cy="369332"/>
            </a:xfrm>
            <a:prstGeom prst="rect">
              <a:avLst/>
            </a:prstGeom>
          </p:spPr>
          <p:txBody>
            <a:bodyPr wrap="none">
              <a:spAutoFit/>
            </a:bodyPr>
            <a:lstStyle/>
            <a:p>
              <a:r>
                <a:rPr lang="en-US" b="1" dirty="0">
                  <a:sym typeface="Wingdings" panose="05000000000000000000" pitchFamily="2" charset="2"/>
                </a:rPr>
                <a:t>No one</a:t>
              </a:r>
              <a:endParaRPr lang="en-US" dirty="0"/>
            </a:p>
          </p:txBody>
        </p:sp>
        <p:pic>
          <p:nvPicPr>
            <p:cNvPr id="32" name="Picture 31">
              <a:extLst>
                <a:ext uri="{FF2B5EF4-FFF2-40B4-BE49-F238E27FC236}">
                  <a16:creationId xmlns:a16="http://schemas.microsoft.com/office/drawing/2014/main" id="{0BB39E78-019A-4642-95D6-684401A12F60}"/>
                </a:ext>
              </a:extLst>
            </p:cNvPr>
            <p:cNvPicPr>
              <a:picLocks noChangeAspect="1"/>
            </p:cNvPicPr>
            <p:nvPr/>
          </p:nvPicPr>
          <p:blipFill>
            <a:blip r:embed="rId14"/>
            <a:stretch>
              <a:fillRect/>
            </a:stretch>
          </p:blipFill>
          <p:spPr>
            <a:xfrm>
              <a:off x="7309640" y="4622495"/>
              <a:ext cx="547396" cy="629505"/>
            </a:xfrm>
            <a:prstGeom prst="rect">
              <a:avLst/>
            </a:prstGeom>
          </p:spPr>
        </p:pic>
        <p:pic>
          <p:nvPicPr>
            <p:cNvPr id="33" name="Picture 32">
              <a:extLst>
                <a:ext uri="{FF2B5EF4-FFF2-40B4-BE49-F238E27FC236}">
                  <a16:creationId xmlns:a16="http://schemas.microsoft.com/office/drawing/2014/main" id="{941569B9-450E-4CE3-B3DB-61AC1A84AB99}"/>
                </a:ext>
              </a:extLst>
            </p:cNvPr>
            <p:cNvPicPr>
              <a:picLocks noChangeAspect="1"/>
            </p:cNvPicPr>
            <p:nvPr/>
          </p:nvPicPr>
          <p:blipFill>
            <a:blip r:embed="rId15"/>
            <a:stretch>
              <a:fillRect/>
            </a:stretch>
          </p:blipFill>
          <p:spPr>
            <a:xfrm>
              <a:off x="8078949" y="4525918"/>
              <a:ext cx="784357" cy="733203"/>
            </a:xfrm>
            <a:prstGeom prst="rect">
              <a:avLst/>
            </a:prstGeom>
          </p:spPr>
        </p:pic>
        <p:pic>
          <p:nvPicPr>
            <p:cNvPr id="34" name="Picture 33">
              <a:extLst>
                <a:ext uri="{FF2B5EF4-FFF2-40B4-BE49-F238E27FC236}">
                  <a16:creationId xmlns:a16="http://schemas.microsoft.com/office/drawing/2014/main" id="{83A1501A-F55D-4658-B820-148ECACA8D02}"/>
                </a:ext>
              </a:extLst>
            </p:cNvPr>
            <p:cNvPicPr>
              <a:picLocks noChangeAspect="1"/>
            </p:cNvPicPr>
            <p:nvPr/>
          </p:nvPicPr>
          <p:blipFill>
            <a:blip r:embed="rId14"/>
            <a:stretch>
              <a:fillRect/>
            </a:stretch>
          </p:blipFill>
          <p:spPr>
            <a:xfrm>
              <a:off x="9063644" y="4613181"/>
              <a:ext cx="547396" cy="629505"/>
            </a:xfrm>
            <a:prstGeom prst="rect">
              <a:avLst/>
            </a:prstGeom>
          </p:spPr>
        </p:pic>
        <p:pic>
          <p:nvPicPr>
            <p:cNvPr id="35" name="Picture 34">
              <a:extLst>
                <a:ext uri="{FF2B5EF4-FFF2-40B4-BE49-F238E27FC236}">
                  <a16:creationId xmlns:a16="http://schemas.microsoft.com/office/drawing/2014/main" id="{16621AF7-3A77-4E25-8547-16BCBCCB17E1}"/>
                </a:ext>
              </a:extLst>
            </p:cNvPr>
            <p:cNvPicPr>
              <a:picLocks noChangeAspect="1"/>
            </p:cNvPicPr>
            <p:nvPr/>
          </p:nvPicPr>
          <p:blipFill>
            <a:blip r:embed="rId13"/>
            <a:stretch>
              <a:fillRect/>
            </a:stretch>
          </p:blipFill>
          <p:spPr>
            <a:xfrm>
              <a:off x="9946549" y="4584000"/>
              <a:ext cx="607938" cy="724700"/>
            </a:xfrm>
            <a:prstGeom prst="rect">
              <a:avLst/>
            </a:prstGeom>
          </p:spPr>
        </p:pic>
      </p:grpSp>
      <p:sp>
        <p:nvSpPr>
          <p:cNvPr id="36" name="Rectangle 35">
            <a:extLst>
              <a:ext uri="{FF2B5EF4-FFF2-40B4-BE49-F238E27FC236}">
                <a16:creationId xmlns:a16="http://schemas.microsoft.com/office/drawing/2014/main" id="{386634CA-9C6C-4DC7-9A8E-0D53B8D64E6F}"/>
              </a:ext>
            </a:extLst>
          </p:cNvPr>
          <p:cNvSpPr/>
          <p:nvPr/>
        </p:nvSpPr>
        <p:spPr>
          <a:xfrm>
            <a:off x="5117978" y="5482098"/>
            <a:ext cx="6232925" cy="830997"/>
          </a:xfrm>
          <a:prstGeom prst="rect">
            <a:avLst/>
          </a:prstGeom>
        </p:spPr>
        <p:txBody>
          <a:bodyPr wrap="none">
            <a:spAutoFit/>
          </a:bodyPr>
          <a:lstStyle/>
          <a:p>
            <a:r>
              <a:rPr lang="en-US" sz="2400" b="1" dirty="0"/>
              <a:t>Bit rate = 1 bps </a:t>
            </a:r>
          </a:p>
          <a:p>
            <a:r>
              <a:rPr lang="en-US" sz="2400" b="1" dirty="0"/>
              <a:t>1 Symbol = 2 bit, then the symbol rate is 0.5 </a:t>
            </a:r>
            <a:r>
              <a:rPr lang="en-US" sz="2400" b="1" dirty="0" err="1"/>
              <a:t>sps</a:t>
            </a:r>
            <a:endParaRPr lang="en-US" sz="2400" dirty="0"/>
          </a:p>
        </p:txBody>
      </p:sp>
      <p:pic>
        <p:nvPicPr>
          <p:cNvPr id="3" name="Pg9">
            <a:hlinkClick r:id="" action="ppaction://media"/>
            <a:extLst>
              <a:ext uri="{FF2B5EF4-FFF2-40B4-BE49-F238E27FC236}">
                <a16:creationId xmlns:a16="http://schemas.microsoft.com/office/drawing/2014/main" id="{7CC25AEF-CA4E-44D5-8993-214341D21369}"/>
              </a:ext>
            </a:extLst>
          </p:cNvPr>
          <p:cNvPicPr>
            <a:picLocks noChangeAspect="1"/>
          </p:cNvPicPr>
          <p:nvPr>
            <a:audioFile r:link="rId2"/>
            <p:extLst>
              <p:ext uri="{DAA4B4D4-6D71-4841-9C94-3DE7FCFB9230}">
                <p14:media xmlns:p14="http://schemas.microsoft.com/office/powerpoint/2010/main" r:embed="rId1"/>
              </p:ext>
            </p:extLst>
          </p:nvPr>
        </p:nvPicPr>
        <p:blipFill>
          <a:blip r:embed="rId16"/>
          <a:stretch>
            <a:fillRect/>
          </a:stretch>
        </p:blipFill>
        <p:spPr>
          <a:xfrm>
            <a:off x="11429837" y="5723636"/>
            <a:ext cx="609600" cy="609600"/>
          </a:xfrm>
          <a:prstGeom prst="rect">
            <a:avLst/>
          </a:prstGeom>
        </p:spPr>
      </p:pic>
      <p:pic>
        <p:nvPicPr>
          <p:cNvPr id="15" name="Pg9a">
            <a:hlinkClick r:id="" action="ppaction://media"/>
            <a:extLst>
              <a:ext uri="{FF2B5EF4-FFF2-40B4-BE49-F238E27FC236}">
                <a16:creationId xmlns:a16="http://schemas.microsoft.com/office/drawing/2014/main" id="{C875BC6E-0B27-4CE7-BE45-C3AF670687CC}"/>
              </a:ext>
            </a:extLst>
          </p:cNvPr>
          <p:cNvPicPr>
            <a:picLocks noChangeAspect="1"/>
          </p:cNvPicPr>
          <p:nvPr>
            <a:audioFile r:link="rId4"/>
            <p:extLst>
              <p:ext uri="{DAA4B4D4-6D71-4841-9C94-3DE7FCFB9230}">
                <p14:media xmlns:p14="http://schemas.microsoft.com/office/powerpoint/2010/main" r:embed="rId3"/>
              </p:ext>
            </p:extLst>
          </p:nvPr>
        </p:nvPicPr>
        <p:blipFill>
          <a:blip r:embed="rId16"/>
          <a:stretch>
            <a:fillRect/>
          </a:stretch>
        </p:blipFill>
        <p:spPr>
          <a:xfrm>
            <a:off x="11429837" y="5746749"/>
            <a:ext cx="609600" cy="609600"/>
          </a:xfrm>
          <a:prstGeom prst="rect">
            <a:avLst/>
          </a:prstGeom>
        </p:spPr>
      </p:pic>
      <p:pic>
        <p:nvPicPr>
          <p:cNvPr id="19" name="Pg9b">
            <a:hlinkClick r:id="" action="ppaction://media"/>
            <a:extLst>
              <a:ext uri="{FF2B5EF4-FFF2-40B4-BE49-F238E27FC236}">
                <a16:creationId xmlns:a16="http://schemas.microsoft.com/office/drawing/2014/main" id="{F362E698-C528-4885-A1A7-2C672D1AB83A}"/>
              </a:ext>
            </a:extLst>
          </p:cNvPr>
          <p:cNvPicPr>
            <a:picLocks noChangeAspect="1"/>
          </p:cNvPicPr>
          <p:nvPr>
            <a:audioFile r:link="rId6"/>
            <p:extLst>
              <p:ext uri="{DAA4B4D4-6D71-4841-9C94-3DE7FCFB9230}">
                <p14:media xmlns:p14="http://schemas.microsoft.com/office/powerpoint/2010/main" r:embed="rId5"/>
              </p:ext>
            </p:extLst>
          </p:nvPr>
        </p:nvPicPr>
        <p:blipFill>
          <a:blip r:embed="rId16"/>
          <a:stretch>
            <a:fillRect/>
          </a:stretch>
        </p:blipFill>
        <p:spPr>
          <a:xfrm>
            <a:off x="11432100" y="5721323"/>
            <a:ext cx="609600" cy="609600"/>
          </a:xfrm>
          <a:prstGeom prst="rect">
            <a:avLst/>
          </a:prstGeom>
        </p:spPr>
      </p:pic>
      <p:pic>
        <p:nvPicPr>
          <p:cNvPr id="20" name="Pg9c">
            <a:hlinkClick r:id="" action="ppaction://media"/>
            <a:extLst>
              <a:ext uri="{FF2B5EF4-FFF2-40B4-BE49-F238E27FC236}">
                <a16:creationId xmlns:a16="http://schemas.microsoft.com/office/drawing/2014/main" id="{1DAFD72E-724C-4D48-BE2E-FD9EC883B358}"/>
              </a:ext>
            </a:extLst>
          </p:cNvPr>
          <p:cNvPicPr>
            <a:picLocks noChangeAspect="1"/>
          </p:cNvPicPr>
          <p:nvPr>
            <a:audioFile r:link="rId8"/>
            <p:extLst>
              <p:ext uri="{DAA4B4D4-6D71-4841-9C94-3DE7FCFB9230}">
                <p14:media xmlns:p14="http://schemas.microsoft.com/office/powerpoint/2010/main" r:embed="rId7"/>
              </p:ext>
            </p:extLst>
          </p:nvPr>
        </p:nvPicPr>
        <p:blipFill>
          <a:blip r:embed="rId16"/>
          <a:stretch>
            <a:fillRect/>
          </a:stretch>
        </p:blipFill>
        <p:spPr>
          <a:xfrm>
            <a:off x="11429837" y="5725949"/>
            <a:ext cx="609600" cy="609600"/>
          </a:xfrm>
          <a:prstGeom prst="rect">
            <a:avLst/>
          </a:prstGeom>
        </p:spPr>
      </p:pic>
      <p:pic>
        <p:nvPicPr>
          <p:cNvPr id="31" name="Pg9d">
            <a:hlinkClick r:id="" action="ppaction://media"/>
            <a:extLst>
              <a:ext uri="{FF2B5EF4-FFF2-40B4-BE49-F238E27FC236}">
                <a16:creationId xmlns:a16="http://schemas.microsoft.com/office/drawing/2014/main" id="{A0D74FB5-BDB3-4E92-9D2B-08AF1EAB90EA}"/>
              </a:ext>
            </a:extLst>
          </p:cNvPr>
          <p:cNvPicPr>
            <a:picLocks noChangeAspect="1"/>
          </p:cNvPicPr>
          <p:nvPr>
            <a:audioFile r:link="rId10"/>
            <p:extLst>
              <p:ext uri="{DAA4B4D4-6D71-4841-9C94-3DE7FCFB9230}">
                <p14:media xmlns:p14="http://schemas.microsoft.com/office/powerpoint/2010/main" r:embed="rId9"/>
              </p:ext>
            </p:extLst>
          </p:nvPr>
        </p:nvPicPr>
        <p:blipFill>
          <a:blip r:embed="rId16"/>
          <a:stretch>
            <a:fillRect/>
          </a:stretch>
        </p:blipFill>
        <p:spPr>
          <a:xfrm>
            <a:off x="11429837" y="5719010"/>
            <a:ext cx="609600" cy="609600"/>
          </a:xfrm>
          <a:prstGeom prst="rect">
            <a:avLst/>
          </a:prstGeom>
        </p:spPr>
      </p:pic>
      <p:sp>
        <p:nvSpPr>
          <p:cNvPr id="10" name="Rectangle 9">
            <a:extLst>
              <a:ext uri="{FF2B5EF4-FFF2-40B4-BE49-F238E27FC236}">
                <a16:creationId xmlns:a16="http://schemas.microsoft.com/office/drawing/2014/main" id="{B12F4A45-D5DB-3A65-D254-1BB0F966552F}"/>
              </a:ext>
            </a:extLst>
          </p:cNvPr>
          <p:cNvSpPr/>
          <p:nvPr/>
        </p:nvSpPr>
        <p:spPr>
          <a:xfrm>
            <a:off x="0" y="0"/>
            <a:ext cx="1026160" cy="2438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822438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052"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27" presetClass="emph" presetSubtype="0" fill="remove" grpId="0" nodeType="clickEffect">
                                  <p:stCondLst>
                                    <p:cond delay="0"/>
                                  </p:stCondLst>
                                  <p:childTnLst>
                                    <p:animClr clrSpc="rgb" dir="cw">
                                      <p:cBhvr override="childStyle">
                                        <p:cTn id="10" dur="1500" autoRev="1" fill="remove"/>
                                        <p:tgtEl>
                                          <p:spTgt spid="9"/>
                                        </p:tgtEl>
                                        <p:attrNameLst>
                                          <p:attrName>style.color</p:attrName>
                                        </p:attrNameLst>
                                      </p:cBhvr>
                                      <p:to>
                                        <a:schemeClr val="bg1"/>
                                      </p:to>
                                    </p:animClr>
                                    <p:animClr clrSpc="rgb" dir="cw">
                                      <p:cBhvr>
                                        <p:cTn id="11" dur="1500" autoRev="1" fill="remove"/>
                                        <p:tgtEl>
                                          <p:spTgt spid="9"/>
                                        </p:tgtEl>
                                        <p:attrNameLst>
                                          <p:attrName>fillcolor</p:attrName>
                                        </p:attrNameLst>
                                      </p:cBhvr>
                                      <p:to>
                                        <a:schemeClr val="bg1"/>
                                      </p:to>
                                    </p:animClr>
                                    <p:set>
                                      <p:cBhvr>
                                        <p:cTn id="12" dur="1500" autoRev="1" fill="remove"/>
                                        <p:tgtEl>
                                          <p:spTgt spid="9"/>
                                        </p:tgtEl>
                                        <p:attrNameLst>
                                          <p:attrName>fill.type</p:attrName>
                                        </p:attrNameLst>
                                      </p:cBhvr>
                                      <p:to>
                                        <p:strVal val="solid"/>
                                      </p:to>
                                    </p:set>
                                    <p:set>
                                      <p:cBhvr>
                                        <p:cTn id="13" dur="1500" autoRev="1" fill="remove"/>
                                        <p:tgtEl>
                                          <p:spTgt spid="9"/>
                                        </p:tgtEl>
                                        <p:attrNameLst>
                                          <p:attrName>fill.on</p:attrName>
                                        </p:attrNameLst>
                                      </p:cBhvr>
                                      <p:to>
                                        <p:strVal val="true"/>
                                      </p:to>
                                    </p:set>
                                  </p:childTnLst>
                                </p:cTn>
                              </p:par>
                              <p:par>
                                <p:cTn id="14" presetID="1" presetClass="mediacall" presetSubtype="0" fill="hold" nodeType="withEffect">
                                  <p:stCondLst>
                                    <p:cond delay="0"/>
                                  </p:stCondLst>
                                  <p:childTnLst>
                                    <p:cmd type="call" cmd="playFrom(0.0)">
                                      <p:cBhvr>
                                        <p:cTn id="15" dur="4728" fill="hold"/>
                                        <p:tgtEl>
                                          <p:spTgt spid="15"/>
                                        </p:tgtEl>
                                      </p:cBhvr>
                                    </p:cmd>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childTnLst>
                                </p:cTn>
                              </p:par>
                              <p:par>
                                <p:cTn id="20" presetID="1" presetClass="mediacall" presetSubtype="0" fill="hold" nodeType="withEffect">
                                  <p:stCondLst>
                                    <p:cond delay="0"/>
                                  </p:stCondLst>
                                  <p:childTnLst>
                                    <p:cmd type="call" cmd="playFrom(0.0)">
                                      <p:cBhvr>
                                        <p:cTn id="21" dur="29309" fill="hold"/>
                                        <p:tgtEl>
                                          <p:spTgt spid="19"/>
                                        </p:tgtEl>
                                      </p:cBhvr>
                                    </p:cmd>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4"/>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18"/>
                                        </p:tgtEl>
                                        <p:attrNameLst>
                                          <p:attrName>style.visibility</p:attrName>
                                        </p:attrNameLst>
                                      </p:cBhvr>
                                      <p:to>
                                        <p:strVal val="visible"/>
                                      </p:to>
                                    </p:set>
                                  </p:childTnLst>
                                </p:cTn>
                              </p:par>
                              <p:par>
                                <p:cTn id="30" presetID="1" presetClass="mediacall" presetSubtype="0" fill="hold" nodeType="withEffect">
                                  <p:stCondLst>
                                    <p:cond delay="0"/>
                                  </p:stCondLst>
                                  <p:childTnLst>
                                    <p:cmd type="call" cmd="playFrom(0.0)">
                                      <p:cBhvr>
                                        <p:cTn id="31" dur="15307" fill="hold"/>
                                        <p:tgtEl>
                                          <p:spTgt spid="20"/>
                                        </p:tgtEl>
                                      </p:cBhvr>
                                    </p:cmd>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36"/>
                                        </p:tgtEl>
                                        <p:attrNameLst>
                                          <p:attrName>style.visibility</p:attrName>
                                        </p:attrNameLst>
                                      </p:cBhvr>
                                      <p:to>
                                        <p:strVal val="visible"/>
                                      </p:to>
                                    </p:set>
                                  </p:childTnLst>
                                </p:cTn>
                              </p:par>
                              <p:par>
                                <p:cTn id="36" presetID="1" presetClass="mediacall" presetSubtype="0" fill="hold" nodeType="withEffect">
                                  <p:stCondLst>
                                    <p:cond delay="0"/>
                                  </p:stCondLst>
                                  <p:childTnLst>
                                    <p:cmd type="call" cmd="playFrom(0.0)">
                                      <p:cBhvr>
                                        <p:cTn id="37" dur="16300"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38" fill="hold" display="0">
                  <p:stCondLst>
                    <p:cond delay="indefinite"/>
                  </p:stCondLst>
                  <p:endCondLst>
                    <p:cond evt="onStopAudio" delay="0">
                      <p:tgtEl>
                        <p:sldTgt/>
                      </p:tgtEl>
                    </p:cond>
                  </p:endCondLst>
                </p:cTn>
                <p:tgtEl>
                  <p:spTgt spid="3"/>
                </p:tgtEl>
              </p:cMediaNode>
            </p:audio>
            <p:audio>
              <p:cMediaNode vol="80000">
                <p:cTn id="39" fill="hold" display="0">
                  <p:stCondLst>
                    <p:cond delay="indefinite"/>
                  </p:stCondLst>
                  <p:endCondLst>
                    <p:cond evt="onStopAudio" delay="0">
                      <p:tgtEl>
                        <p:sldTgt/>
                      </p:tgtEl>
                    </p:cond>
                  </p:endCondLst>
                </p:cTn>
                <p:tgtEl>
                  <p:spTgt spid="15"/>
                </p:tgtEl>
              </p:cMediaNode>
            </p:audio>
            <p:audio>
              <p:cMediaNode vol="80000">
                <p:cTn id="40" fill="hold" display="0">
                  <p:stCondLst>
                    <p:cond delay="indefinite"/>
                  </p:stCondLst>
                  <p:endCondLst>
                    <p:cond evt="onStopAudio" delay="0">
                      <p:tgtEl>
                        <p:sldTgt/>
                      </p:tgtEl>
                    </p:cond>
                  </p:endCondLst>
                </p:cTn>
                <p:tgtEl>
                  <p:spTgt spid="19"/>
                </p:tgtEl>
              </p:cMediaNode>
            </p:audio>
            <p:audio>
              <p:cMediaNode vol="80000">
                <p:cTn id="41" fill="hold" display="0">
                  <p:stCondLst>
                    <p:cond delay="indefinite"/>
                  </p:stCondLst>
                  <p:endCondLst>
                    <p:cond evt="onStopAudio" delay="0">
                      <p:tgtEl>
                        <p:sldTgt/>
                      </p:tgtEl>
                    </p:cond>
                  </p:endCondLst>
                </p:cTn>
                <p:tgtEl>
                  <p:spTgt spid="20"/>
                </p:tgtEl>
              </p:cMediaNode>
            </p:audio>
            <p:audio>
              <p:cMediaNode vol="80000">
                <p:cTn id="42" fill="hold" display="0">
                  <p:stCondLst>
                    <p:cond delay="indefinite"/>
                  </p:stCondLst>
                  <p:endCondLst>
                    <p:cond evt="onStopAudio" delay="0">
                      <p:tgtEl>
                        <p:sldTgt/>
                      </p:tgtEl>
                    </p:cond>
                  </p:endCondLst>
                </p:cTn>
                <p:tgtEl>
                  <p:spTgt spid="31"/>
                </p:tgtEl>
              </p:cMediaNode>
            </p:audio>
          </p:childTnLst>
        </p:cTn>
      </p:par>
    </p:tnLst>
    <p:bldLst>
      <p:bldP spid="13" grpId="0" animBg="1"/>
      <p:bldP spid="9" grpId="0"/>
      <p:bldP spid="3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a:xfrm>
            <a:off x="4724400" y="6356349"/>
            <a:ext cx="2743200" cy="365125"/>
          </a:xfrm>
        </p:spPr>
        <p:txBody>
          <a:bodyPr/>
          <a:lstStyle/>
          <a:p>
            <a:r>
              <a:rPr lang="en-US" dirty="0"/>
              <a:t>Page </a:t>
            </a:r>
            <a:fld id="{A862897D-0F50-4425-B5E1-82FAA232DFBF}" type="slidenum">
              <a:rPr lang="en-US" smtClean="0"/>
              <a:pPr/>
              <a:t>11</a:t>
            </a:fld>
            <a:r>
              <a:rPr lang="en-US" dirty="0"/>
              <a:t> of 23</a:t>
            </a:r>
          </a:p>
        </p:txBody>
      </p:sp>
      <p:sp>
        <p:nvSpPr>
          <p:cNvPr id="5" name="Text Box 10"/>
          <p:cNvSpPr txBox="1">
            <a:spLocks noGrp="1" noChangeArrowheads="1"/>
          </p:cNvSpPr>
          <p:nvPr>
            <p:ph idx="1"/>
          </p:nvPr>
        </p:nvSpPr>
        <p:spPr bwMode="auto">
          <a:xfrm>
            <a:off x="920505" y="1077843"/>
            <a:ext cx="7723333" cy="2751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spcBef>
                <a:spcPct val="0"/>
              </a:spcBef>
              <a:buSzTx/>
              <a:buFontTx/>
              <a:buNone/>
            </a:pPr>
            <a:r>
              <a:rPr lang="en-US" altLang="en-US" sz="2400" dirty="0">
                <a:latin typeface="+mn-lt"/>
              </a:rPr>
              <a:t>In Binary Signaling:  One Symbol is used to represent One bit</a:t>
            </a:r>
          </a:p>
          <a:p>
            <a:pPr>
              <a:spcBef>
                <a:spcPct val="0"/>
              </a:spcBef>
              <a:buSzTx/>
              <a:buFontTx/>
              <a:buNone/>
            </a:pPr>
            <a:endParaRPr lang="en-US" altLang="en-US" sz="2400" b="0" dirty="0">
              <a:latin typeface="+mn-lt"/>
            </a:endParaRPr>
          </a:p>
          <a:p>
            <a:pPr>
              <a:spcBef>
                <a:spcPct val="0"/>
              </a:spcBef>
              <a:buSzTx/>
              <a:buFontTx/>
              <a:buNone/>
            </a:pPr>
            <a:endParaRPr lang="en-US" altLang="en-US" sz="1600" dirty="0">
              <a:latin typeface="+mn-lt"/>
            </a:endParaRPr>
          </a:p>
          <a:p>
            <a:pPr>
              <a:spcBef>
                <a:spcPct val="0"/>
              </a:spcBef>
              <a:buSzTx/>
              <a:buFontTx/>
              <a:buNone/>
            </a:pPr>
            <a:endParaRPr lang="en-US" altLang="en-US" sz="1600" b="0" dirty="0">
              <a:latin typeface="+mn-lt"/>
            </a:endParaRPr>
          </a:p>
          <a:p>
            <a:pPr>
              <a:spcBef>
                <a:spcPct val="0"/>
              </a:spcBef>
              <a:buSzTx/>
              <a:buFontTx/>
              <a:buNone/>
            </a:pPr>
            <a:endParaRPr lang="en-US" altLang="en-US" sz="1600" dirty="0">
              <a:latin typeface="+mn-lt"/>
            </a:endParaRPr>
          </a:p>
          <a:p>
            <a:pPr>
              <a:spcBef>
                <a:spcPct val="0"/>
              </a:spcBef>
              <a:buSzTx/>
              <a:buFontTx/>
              <a:buNone/>
            </a:pPr>
            <a:endParaRPr lang="en-US" altLang="en-US" sz="1600" b="0" dirty="0">
              <a:latin typeface="+mn-lt"/>
            </a:endParaRPr>
          </a:p>
          <a:p>
            <a:pPr>
              <a:spcBef>
                <a:spcPct val="0"/>
              </a:spcBef>
              <a:buSzTx/>
              <a:buFontTx/>
              <a:buNone/>
            </a:pPr>
            <a:endParaRPr lang="en-US" altLang="en-US" sz="1600" dirty="0">
              <a:latin typeface="+mn-lt"/>
            </a:endParaRPr>
          </a:p>
          <a:p>
            <a:pPr>
              <a:spcBef>
                <a:spcPct val="0"/>
              </a:spcBef>
              <a:buSzTx/>
              <a:buFontTx/>
              <a:buNone/>
            </a:pPr>
            <a:endParaRPr lang="en-US" altLang="en-US" sz="1600" b="0" dirty="0">
              <a:latin typeface="+mn-lt"/>
            </a:endParaRPr>
          </a:p>
          <a:p>
            <a:pPr>
              <a:spcBef>
                <a:spcPct val="0"/>
              </a:spcBef>
              <a:buSzTx/>
              <a:buFontTx/>
              <a:buNone/>
            </a:pPr>
            <a:endParaRPr lang="en-US" altLang="en-US" sz="1600" dirty="0">
              <a:latin typeface="+mn-lt"/>
            </a:endParaRPr>
          </a:p>
          <a:p>
            <a:pPr>
              <a:spcBef>
                <a:spcPct val="0"/>
              </a:spcBef>
              <a:buSzTx/>
              <a:buNone/>
            </a:pPr>
            <a:r>
              <a:rPr lang="en-US" altLang="en-US" sz="1600" dirty="0">
                <a:latin typeface="+mn-lt"/>
              </a:rPr>
              <a:t>	</a:t>
            </a:r>
          </a:p>
          <a:p>
            <a:pPr>
              <a:spcBef>
                <a:spcPct val="0"/>
              </a:spcBef>
              <a:buSzTx/>
              <a:buFontTx/>
              <a:buNone/>
            </a:pPr>
            <a:endParaRPr lang="en-US" altLang="en-US" sz="1600" b="0" dirty="0">
              <a:latin typeface="+mn-lt"/>
            </a:endParaRPr>
          </a:p>
        </p:txBody>
      </p:sp>
      <p:sp>
        <p:nvSpPr>
          <p:cNvPr id="6" name="Text Box 17"/>
          <p:cNvSpPr txBox="1">
            <a:spLocks noChangeArrowheads="1"/>
          </p:cNvSpPr>
          <p:nvPr/>
        </p:nvSpPr>
        <p:spPr bwMode="auto">
          <a:xfrm>
            <a:off x="2730762" y="5116175"/>
            <a:ext cx="3529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spcBef>
                <a:spcPct val="0"/>
              </a:spcBef>
              <a:buSzTx/>
              <a:buFontTx/>
              <a:buNone/>
            </a:pPr>
            <a:r>
              <a:rPr lang="en-US" altLang="en-US" sz="2400" b="1" dirty="0"/>
              <a:t>Symbol Rate = Bit Rate</a:t>
            </a:r>
            <a:endParaRPr lang="en-US" altLang="en-US" sz="1600" b="1" dirty="0"/>
          </a:p>
        </p:txBody>
      </p:sp>
      <p:sp>
        <p:nvSpPr>
          <p:cNvPr id="7" name="Text Box 3"/>
          <p:cNvSpPr txBox="1">
            <a:spLocks noChangeArrowheads="1"/>
          </p:cNvSpPr>
          <p:nvPr/>
        </p:nvSpPr>
        <p:spPr bwMode="auto">
          <a:xfrm>
            <a:off x="3828748" y="2729563"/>
            <a:ext cx="1219200" cy="712788"/>
          </a:xfrm>
          <a:prstGeom prst="rect">
            <a:avLst/>
          </a:prstGeom>
          <a:solidFill>
            <a:srgbClr val="66FFFF"/>
          </a:solidFill>
          <a:ln w="9525">
            <a:solidFill>
              <a:schemeClr val="tx1"/>
            </a:solidFill>
            <a:miter lim="800000"/>
            <a:headEnd/>
            <a:tailEnd/>
          </a:ln>
          <a:effectLst>
            <a:outerShdw dist="35921" dir="2700000" algn="ctr" rotWithShape="0">
              <a:schemeClr val="bg2"/>
            </a:outerShdw>
          </a:effectLst>
        </p:spPr>
        <p:txBody>
          <a:bodyPr>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spcBef>
                <a:spcPct val="50000"/>
              </a:spcBef>
              <a:buSzTx/>
              <a:buFontTx/>
              <a:buNone/>
            </a:pPr>
            <a:r>
              <a:rPr lang="en-US" altLang="en-US" sz="1600" b="0"/>
              <a:t>Binary</a:t>
            </a:r>
          </a:p>
          <a:p>
            <a:pPr>
              <a:spcBef>
                <a:spcPct val="50000"/>
              </a:spcBef>
              <a:buSzTx/>
              <a:buFontTx/>
              <a:buNone/>
            </a:pPr>
            <a:r>
              <a:rPr lang="en-US" altLang="en-US" sz="1600" b="0"/>
              <a:t>Modulator</a:t>
            </a:r>
          </a:p>
        </p:txBody>
      </p:sp>
      <p:sp>
        <p:nvSpPr>
          <p:cNvPr id="8" name="Line 4"/>
          <p:cNvSpPr>
            <a:spLocks noChangeShapeType="1"/>
          </p:cNvSpPr>
          <p:nvPr/>
        </p:nvSpPr>
        <p:spPr bwMode="auto">
          <a:xfrm>
            <a:off x="3142948" y="3034363"/>
            <a:ext cx="685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Line 5"/>
          <p:cNvSpPr>
            <a:spLocks noChangeShapeType="1"/>
          </p:cNvSpPr>
          <p:nvPr/>
        </p:nvSpPr>
        <p:spPr bwMode="auto">
          <a:xfrm>
            <a:off x="5047948" y="3034363"/>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AutoShape 6"/>
          <p:cNvSpPr>
            <a:spLocks/>
          </p:cNvSpPr>
          <p:nvPr/>
        </p:nvSpPr>
        <p:spPr bwMode="auto">
          <a:xfrm>
            <a:off x="5581348" y="2272363"/>
            <a:ext cx="304800" cy="1600200"/>
          </a:xfrm>
          <a:prstGeom prst="leftBrace">
            <a:avLst>
              <a:gd name="adj1" fmla="val 4375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SzTx/>
              <a:buFontTx/>
              <a:buNone/>
            </a:pPr>
            <a:endParaRPr lang="en-SG" altLang="en-US" sz="1400"/>
          </a:p>
        </p:txBody>
      </p:sp>
      <p:sp>
        <p:nvSpPr>
          <p:cNvPr id="11" name="Text Box 7"/>
          <p:cNvSpPr txBox="1">
            <a:spLocks noChangeArrowheads="1"/>
          </p:cNvSpPr>
          <p:nvPr/>
        </p:nvSpPr>
        <p:spPr bwMode="auto">
          <a:xfrm>
            <a:off x="5962348" y="2500963"/>
            <a:ext cx="684213" cy="125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spcBef>
                <a:spcPct val="0"/>
              </a:spcBef>
              <a:buSzTx/>
              <a:buFontTx/>
              <a:buNone/>
            </a:pPr>
            <a:r>
              <a:rPr lang="en-US" altLang="en-US" sz="2000" b="0">
                <a:solidFill>
                  <a:srgbClr val="CC3300"/>
                </a:solidFill>
              </a:rPr>
              <a:t>S</a:t>
            </a:r>
            <a:r>
              <a:rPr lang="en-US" altLang="en-US" sz="2000" b="0" baseline="-25000">
                <a:solidFill>
                  <a:srgbClr val="CC3300"/>
                </a:solidFill>
              </a:rPr>
              <a:t>1</a:t>
            </a:r>
            <a:r>
              <a:rPr lang="en-US" altLang="en-US" sz="2000" b="0">
                <a:solidFill>
                  <a:srgbClr val="CC3300"/>
                </a:solidFill>
              </a:rPr>
              <a:t>(t)</a:t>
            </a:r>
            <a:endParaRPr lang="en-US" altLang="en-US" sz="2000" b="0"/>
          </a:p>
          <a:p>
            <a:pPr>
              <a:spcBef>
                <a:spcPct val="0"/>
              </a:spcBef>
              <a:buSzTx/>
              <a:buFontTx/>
              <a:buNone/>
            </a:pPr>
            <a:endParaRPr lang="en-US" altLang="en-US" sz="2000" b="0"/>
          </a:p>
          <a:p>
            <a:pPr>
              <a:spcBef>
                <a:spcPct val="0"/>
              </a:spcBef>
              <a:buSzTx/>
              <a:buFontTx/>
              <a:buNone/>
            </a:pPr>
            <a:r>
              <a:rPr lang="en-US" altLang="en-US" sz="2000" b="0">
                <a:solidFill>
                  <a:srgbClr val="0033CC"/>
                </a:solidFill>
              </a:rPr>
              <a:t>S</a:t>
            </a:r>
            <a:r>
              <a:rPr lang="en-US" altLang="en-US" sz="2000" b="0" baseline="-25000">
                <a:solidFill>
                  <a:srgbClr val="0033CC"/>
                </a:solidFill>
              </a:rPr>
              <a:t>2</a:t>
            </a:r>
            <a:r>
              <a:rPr lang="en-US" altLang="en-US" sz="2000" b="0">
                <a:solidFill>
                  <a:srgbClr val="0033CC"/>
                </a:solidFill>
              </a:rPr>
              <a:t>(t)</a:t>
            </a:r>
            <a:endParaRPr lang="en-US" altLang="en-US" sz="2000" b="0"/>
          </a:p>
          <a:p>
            <a:pPr>
              <a:spcBef>
                <a:spcPct val="0"/>
              </a:spcBef>
              <a:buSzTx/>
              <a:buFontTx/>
              <a:buNone/>
            </a:pPr>
            <a:endParaRPr lang="en-US" altLang="en-US" sz="1600" b="0"/>
          </a:p>
        </p:txBody>
      </p:sp>
      <p:sp>
        <p:nvSpPr>
          <p:cNvPr id="12" name="Text Box 8"/>
          <p:cNvSpPr txBox="1">
            <a:spLocks noChangeArrowheads="1"/>
          </p:cNvSpPr>
          <p:nvPr/>
        </p:nvSpPr>
        <p:spPr bwMode="auto">
          <a:xfrm>
            <a:off x="933148" y="2881963"/>
            <a:ext cx="2152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spcBef>
                <a:spcPct val="0"/>
              </a:spcBef>
              <a:buSzTx/>
              <a:buFontTx/>
              <a:buNone/>
            </a:pPr>
            <a:r>
              <a:rPr lang="en-US" altLang="en-US" sz="1800" b="0" dirty="0"/>
              <a:t>         </a:t>
            </a:r>
            <a:r>
              <a:rPr lang="en-US" altLang="en-US" sz="1800" b="0" dirty="0">
                <a:solidFill>
                  <a:srgbClr val="CC3300"/>
                </a:solidFill>
              </a:rPr>
              <a:t>1</a:t>
            </a:r>
            <a:r>
              <a:rPr lang="en-US" altLang="en-US" sz="1800" b="0" dirty="0"/>
              <a:t>        </a:t>
            </a:r>
            <a:r>
              <a:rPr lang="en-US" altLang="en-US" sz="1800" b="0" dirty="0">
                <a:solidFill>
                  <a:srgbClr val="0033CC"/>
                </a:solidFill>
              </a:rPr>
              <a:t>0</a:t>
            </a:r>
            <a:r>
              <a:rPr lang="en-US" altLang="en-US" sz="1800" b="0" dirty="0"/>
              <a:t>        </a:t>
            </a:r>
            <a:r>
              <a:rPr lang="en-US" altLang="en-US" sz="1800" b="0" dirty="0">
                <a:solidFill>
                  <a:srgbClr val="CC3300"/>
                </a:solidFill>
              </a:rPr>
              <a:t>1</a:t>
            </a:r>
            <a:endParaRPr lang="en-US" altLang="en-US" sz="1600" b="0" dirty="0"/>
          </a:p>
        </p:txBody>
      </p:sp>
      <p:sp>
        <p:nvSpPr>
          <p:cNvPr id="13" name="Text Box 9"/>
          <p:cNvSpPr txBox="1">
            <a:spLocks noChangeArrowheads="1"/>
          </p:cNvSpPr>
          <p:nvPr/>
        </p:nvSpPr>
        <p:spPr bwMode="auto">
          <a:xfrm>
            <a:off x="1161748" y="4405963"/>
            <a:ext cx="29273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spcBef>
                <a:spcPct val="0"/>
              </a:spcBef>
              <a:buSzTx/>
              <a:buFontTx/>
              <a:buNone/>
            </a:pPr>
            <a:r>
              <a:rPr lang="en-US" altLang="en-US" sz="2000" b="0" dirty="0"/>
              <a:t>For Binary Signaling:	</a:t>
            </a:r>
            <a:endParaRPr lang="en-US" altLang="en-US" sz="1600" dirty="0"/>
          </a:p>
        </p:txBody>
      </p:sp>
      <p:sp>
        <p:nvSpPr>
          <p:cNvPr id="14" name="AutoShape 11"/>
          <p:cNvSpPr>
            <a:spLocks/>
          </p:cNvSpPr>
          <p:nvPr/>
        </p:nvSpPr>
        <p:spPr bwMode="auto">
          <a:xfrm rot="16200000">
            <a:off x="2838148" y="3110563"/>
            <a:ext cx="190500" cy="495300"/>
          </a:xfrm>
          <a:prstGeom prst="leftBrace">
            <a:avLst>
              <a:gd name="adj1" fmla="val 21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SzTx/>
              <a:buFontTx/>
              <a:buNone/>
            </a:pPr>
            <a:endParaRPr lang="en-SG" altLang="en-US" sz="1400"/>
          </a:p>
        </p:txBody>
      </p:sp>
      <p:sp>
        <p:nvSpPr>
          <p:cNvPr id="15" name="AutoShape 12"/>
          <p:cNvSpPr>
            <a:spLocks/>
          </p:cNvSpPr>
          <p:nvPr/>
        </p:nvSpPr>
        <p:spPr bwMode="auto">
          <a:xfrm rot="16200000">
            <a:off x="2228548" y="3110563"/>
            <a:ext cx="190500" cy="495300"/>
          </a:xfrm>
          <a:prstGeom prst="leftBrace">
            <a:avLst>
              <a:gd name="adj1" fmla="val 21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SzTx/>
              <a:buFontTx/>
              <a:buNone/>
            </a:pPr>
            <a:endParaRPr lang="en-SG" altLang="en-US" sz="1400"/>
          </a:p>
        </p:txBody>
      </p:sp>
      <p:sp>
        <p:nvSpPr>
          <p:cNvPr id="16" name="AutoShape 13"/>
          <p:cNvSpPr>
            <a:spLocks/>
          </p:cNvSpPr>
          <p:nvPr/>
        </p:nvSpPr>
        <p:spPr bwMode="auto">
          <a:xfrm rot="16200000">
            <a:off x="1542748" y="3110563"/>
            <a:ext cx="190500" cy="495300"/>
          </a:xfrm>
          <a:prstGeom prst="leftBrace">
            <a:avLst>
              <a:gd name="adj1" fmla="val 21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SzTx/>
              <a:buFontTx/>
              <a:buNone/>
            </a:pPr>
            <a:endParaRPr lang="en-SG" altLang="en-US" sz="1400"/>
          </a:p>
        </p:txBody>
      </p:sp>
      <p:sp>
        <p:nvSpPr>
          <p:cNvPr id="17" name="Rectangle 14"/>
          <p:cNvSpPr>
            <a:spLocks noChangeArrowheads="1"/>
          </p:cNvSpPr>
          <p:nvPr/>
        </p:nvSpPr>
        <p:spPr bwMode="auto">
          <a:xfrm>
            <a:off x="1314148" y="3491563"/>
            <a:ext cx="6842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spcBef>
                <a:spcPct val="0"/>
              </a:spcBef>
              <a:buSzTx/>
              <a:buFontTx/>
              <a:buNone/>
            </a:pPr>
            <a:r>
              <a:rPr lang="en-US" altLang="en-US" sz="2000" b="0">
                <a:solidFill>
                  <a:srgbClr val="CC3300"/>
                </a:solidFill>
              </a:rPr>
              <a:t>S</a:t>
            </a:r>
            <a:r>
              <a:rPr lang="en-US" altLang="en-US" sz="2000" b="0" baseline="-25000">
                <a:solidFill>
                  <a:srgbClr val="CC3300"/>
                </a:solidFill>
              </a:rPr>
              <a:t>1</a:t>
            </a:r>
            <a:r>
              <a:rPr lang="en-US" altLang="en-US" sz="2000" b="0">
                <a:solidFill>
                  <a:srgbClr val="CC3300"/>
                </a:solidFill>
              </a:rPr>
              <a:t>(t)</a:t>
            </a:r>
            <a:endParaRPr lang="en-US" altLang="en-US" sz="2000" b="0"/>
          </a:p>
        </p:txBody>
      </p:sp>
      <p:sp>
        <p:nvSpPr>
          <p:cNvPr id="18" name="Rectangle 15"/>
          <p:cNvSpPr>
            <a:spLocks noChangeArrowheads="1"/>
          </p:cNvSpPr>
          <p:nvPr/>
        </p:nvSpPr>
        <p:spPr bwMode="auto">
          <a:xfrm>
            <a:off x="1999948" y="3491563"/>
            <a:ext cx="6842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spcBef>
                <a:spcPct val="0"/>
              </a:spcBef>
              <a:buSzTx/>
              <a:buFontTx/>
              <a:buNone/>
            </a:pPr>
            <a:r>
              <a:rPr lang="en-US" altLang="en-US" sz="2000" b="0">
                <a:solidFill>
                  <a:srgbClr val="0033CC"/>
                </a:solidFill>
              </a:rPr>
              <a:t>S</a:t>
            </a:r>
            <a:r>
              <a:rPr lang="en-US" altLang="en-US" sz="2000" b="0" baseline="-25000">
                <a:solidFill>
                  <a:srgbClr val="0033CC"/>
                </a:solidFill>
              </a:rPr>
              <a:t>2</a:t>
            </a:r>
            <a:r>
              <a:rPr lang="en-US" altLang="en-US" sz="2000" b="0">
                <a:solidFill>
                  <a:srgbClr val="0033CC"/>
                </a:solidFill>
              </a:rPr>
              <a:t>(t)</a:t>
            </a:r>
            <a:endParaRPr lang="en-US" altLang="en-US" sz="2000" b="0"/>
          </a:p>
        </p:txBody>
      </p:sp>
      <p:sp>
        <p:nvSpPr>
          <p:cNvPr id="19" name="Rectangle 16"/>
          <p:cNvSpPr>
            <a:spLocks noChangeArrowheads="1"/>
          </p:cNvSpPr>
          <p:nvPr/>
        </p:nvSpPr>
        <p:spPr bwMode="auto">
          <a:xfrm>
            <a:off x="2685748" y="3491563"/>
            <a:ext cx="6842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spcBef>
                <a:spcPct val="0"/>
              </a:spcBef>
              <a:buSzTx/>
              <a:buFontTx/>
              <a:buNone/>
            </a:pPr>
            <a:r>
              <a:rPr lang="en-US" altLang="en-US" sz="2000" b="0" dirty="0">
                <a:solidFill>
                  <a:srgbClr val="CC3300"/>
                </a:solidFill>
              </a:rPr>
              <a:t>S</a:t>
            </a:r>
            <a:r>
              <a:rPr lang="en-US" altLang="en-US" sz="2000" b="0" baseline="-25000" dirty="0">
                <a:solidFill>
                  <a:srgbClr val="CC3300"/>
                </a:solidFill>
              </a:rPr>
              <a:t>1</a:t>
            </a:r>
            <a:r>
              <a:rPr lang="en-US" altLang="en-US" sz="2000" b="0" dirty="0">
                <a:solidFill>
                  <a:srgbClr val="CC3300"/>
                </a:solidFill>
              </a:rPr>
              <a:t>(t)</a:t>
            </a:r>
            <a:endParaRPr lang="en-US" altLang="en-US" sz="2000" b="0" dirty="0"/>
          </a:p>
        </p:txBody>
      </p:sp>
      <p:sp>
        <p:nvSpPr>
          <p:cNvPr id="20" name="Text Box 18"/>
          <p:cNvSpPr txBox="1">
            <a:spLocks noChangeArrowheads="1"/>
          </p:cNvSpPr>
          <p:nvPr/>
        </p:nvSpPr>
        <p:spPr bwMode="auto">
          <a:xfrm>
            <a:off x="5212852" y="4039998"/>
            <a:ext cx="2093843"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spcBef>
                <a:spcPct val="0"/>
              </a:spcBef>
              <a:buSzTx/>
              <a:buFontTx/>
              <a:buNone/>
            </a:pPr>
            <a:r>
              <a:rPr lang="en-US" altLang="en-US" sz="2000" dirty="0"/>
              <a:t>2 possible states</a:t>
            </a:r>
          </a:p>
          <a:p>
            <a:pPr algn="ctr">
              <a:spcBef>
                <a:spcPct val="0"/>
              </a:spcBef>
              <a:buSzTx/>
              <a:buFontTx/>
              <a:buNone/>
            </a:pPr>
            <a:r>
              <a:rPr lang="en-US" altLang="en-US" sz="2000" b="0" dirty="0"/>
              <a:t> “1” or “0”</a:t>
            </a:r>
            <a:endParaRPr lang="en-US" altLang="en-US" sz="1600" b="0" dirty="0"/>
          </a:p>
        </p:txBody>
      </p:sp>
      <p:sp>
        <p:nvSpPr>
          <p:cNvPr id="21" name="Text Box 19"/>
          <p:cNvSpPr txBox="1">
            <a:spLocks noChangeArrowheads="1"/>
          </p:cNvSpPr>
          <p:nvPr/>
        </p:nvSpPr>
        <p:spPr bwMode="auto">
          <a:xfrm>
            <a:off x="3574345" y="3556134"/>
            <a:ext cx="200700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spcBef>
                <a:spcPct val="0"/>
              </a:spcBef>
              <a:buSzTx/>
              <a:buFontTx/>
              <a:buNone/>
            </a:pPr>
            <a:r>
              <a:rPr lang="en-US" altLang="en-US" sz="1600" b="0" dirty="0"/>
              <a:t>ASK, BPSK, FSK</a:t>
            </a:r>
          </a:p>
        </p:txBody>
      </p:sp>
      <p:sp>
        <p:nvSpPr>
          <p:cNvPr id="22" name="Rectangle 2"/>
          <p:cNvSpPr>
            <a:spLocks noGrp="1" noChangeArrowheads="1"/>
          </p:cNvSpPr>
          <p:nvPr>
            <p:ph type="title"/>
          </p:nvPr>
        </p:nvSpPr>
        <p:spPr>
          <a:xfrm>
            <a:off x="850490" y="-202008"/>
            <a:ext cx="10515600" cy="1325563"/>
          </a:xfrm>
        </p:spPr>
        <p:txBody>
          <a:bodyPr>
            <a:normAutofit/>
          </a:bodyPr>
          <a:lstStyle/>
          <a:p>
            <a:r>
              <a:rPr lang="en-US" sz="3600" b="1" dirty="0">
                <a:solidFill>
                  <a:srgbClr val="C00000"/>
                </a:solidFill>
                <a:latin typeface="+mn-lt"/>
              </a:rPr>
              <a:t>Fundamentals – Binary Signaling</a:t>
            </a:r>
          </a:p>
        </p:txBody>
      </p:sp>
      <p:sp>
        <p:nvSpPr>
          <p:cNvPr id="23" name="Text Box 18">
            <a:extLst>
              <a:ext uri="{FF2B5EF4-FFF2-40B4-BE49-F238E27FC236}">
                <a16:creationId xmlns:a16="http://schemas.microsoft.com/office/drawing/2014/main" id="{2BC56376-E484-4D87-9BB9-D47B93002DBC}"/>
              </a:ext>
            </a:extLst>
          </p:cNvPr>
          <p:cNvSpPr txBox="1">
            <a:spLocks noChangeArrowheads="1"/>
          </p:cNvSpPr>
          <p:nvPr/>
        </p:nvSpPr>
        <p:spPr bwMode="auto">
          <a:xfrm>
            <a:off x="7660423" y="1878904"/>
            <a:ext cx="441819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spcBef>
                <a:spcPct val="0"/>
              </a:spcBef>
              <a:buSzTx/>
              <a:buFontTx/>
              <a:buNone/>
            </a:pPr>
            <a:r>
              <a:rPr lang="en-US" altLang="en-US" sz="2000" dirty="0"/>
              <a:t>K = number of bit make into a symbol</a:t>
            </a:r>
          </a:p>
          <a:p>
            <a:pPr>
              <a:spcBef>
                <a:spcPct val="0"/>
              </a:spcBef>
              <a:buSzTx/>
              <a:buFontTx/>
              <a:buNone/>
            </a:pPr>
            <a:r>
              <a:rPr lang="en-US" altLang="en-US" sz="2000" b="0" dirty="0"/>
              <a:t>M = number of possible state = 2</a:t>
            </a:r>
            <a:r>
              <a:rPr lang="en-US" altLang="en-US" sz="2000" b="0" baseline="30000" dirty="0"/>
              <a:t>k</a:t>
            </a:r>
          </a:p>
          <a:p>
            <a:pPr>
              <a:spcBef>
                <a:spcPct val="0"/>
              </a:spcBef>
              <a:buSzTx/>
              <a:buFontTx/>
              <a:buNone/>
            </a:pPr>
            <a:endParaRPr lang="en-US" altLang="en-US" sz="2000" dirty="0"/>
          </a:p>
          <a:p>
            <a:pPr>
              <a:spcBef>
                <a:spcPct val="0"/>
              </a:spcBef>
              <a:buSzTx/>
              <a:buFontTx/>
              <a:buNone/>
            </a:pPr>
            <a:r>
              <a:rPr lang="en-US" altLang="en-US" sz="2000" b="0" dirty="0"/>
              <a:t>For this case</a:t>
            </a:r>
          </a:p>
          <a:p>
            <a:pPr>
              <a:spcBef>
                <a:spcPct val="0"/>
              </a:spcBef>
              <a:buSzTx/>
              <a:buFontTx/>
              <a:buNone/>
            </a:pPr>
            <a:r>
              <a:rPr lang="en-US" altLang="en-US" sz="2000" dirty="0"/>
              <a:t>K =1</a:t>
            </a:r>
          </a:p>
          <a:p>
            <a:pPr>
              <a:spcBef>
                <a:spcPct val="0"/>
              </a:spcBef>
              <a:buSzTx/>
              <a:buFontTx/>
              <a:buNone/>
            </a:pPr>
            <a:r>
              <a:rPr lang="en-US" altLang="en-US" sz="2000" b="0" dirty="0"/>
              <a:t>And therefore M=2</a:t>
            </a:r>
            <a:endParaRPr lang="en-US" altLang="en-US" sz="1600" b="0" dirty="0"/>
          </a:p>
        </p:txBody>
      </p:sp>
      <p:pic>
        <p:nvPicPr>
          <p:cNvPr id="2" name="Pg10">
            <a:hlinkClick r:id="" action="ppaction://media"/>
            <a:extLst>
              <a:ext uri="{FF2B5EF4-FFF2-40B4-BE49-F238E27FC236}">
                <a16:creationId xmlns:a16="http://schemas.microsoft.com/office/drawing/2014/main" id="{271514CB-D0A6-470A-84C7-43F5366FA62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0223715" y="5748476"/>
            <a:ext cx="609600" cy="609600"/>
          </a:xfrm>
          <a:prstGeom prst="rect">
            <a:avLst/>
          </a:prstGeom>
        </p:spPr>
      </p:pic>
      <p:sp>
        <p:nvSpPr>
          <p:cNvPr id="3" name="Rectangle 2">
            <a:extLst>
              <a:ext uri="{FF2B5EF4-FFF2-40B4-BE49-F238E27FC236}">
                <a16:creationId xmlns:a16="http://schemas.microsoft.com/office/drawing/2014/main" id="{E3794DD8-2A61-ED1B-0240-8D48B5691CCF}"/>
              </a:ext>
            </a:extLst>
          </p:cNvPr>
          <p:cNvSpPr/>
          <p:nvPr/>
        </p:nvSpPr>
        <p:spPr>
          <a:xfrm>
            <a:off x="0" y="0"/>
            <a:ext cx="1026160" cy="2438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915926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877"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61875"/>
            <a:ext cx="10515600" cy="4351338"/>
          </a:xfrm>
        </p:spPr>
        <p:txBody>
          <a:bodyPr>
            <a:normAutofit/>
          </a:bodyPr>
          <a:lstStyle/>
          <a:p>
            <a:pPr marL="0" indent="0">
              <a:buNone/>
            </a:pPr>
            <a:r>
              <a:rPr lang="en-US" sz="2400" dirty="0"/>
              <a:t>For M-</a:t>
            </a:r>
            <a:r>
              <a:rPr lang="en-US" sz="2400" dirty="0" err="1"/>
              <a:t>ary</a:t>
            </a:r>
            <a:r>
              <a:rPr lang="en-US" sz="2400" dirty="0"/>
              <a:t> Signaling, one symbol is represented by more than 1 bit.</a:t>
            </a:r>
          </a:p>
        </p:txBody>
      </p:sp>
      <p:sp>
        <p:nvSpPr>
          <p:cNvPr id="4" name="Slide Number Placeholder 3"/>
          <p:cNvSpPr>
            <a:spLocks noGrp="1"/>
          </p:cNvSpPr>
          <p:nvPr>
            <p:ph type="sldNum" sz="quarter" idx="4"/>
          </p:nvPr>
        </p:nvSpPr>
        <p:spPr>
          <a:xfrm>
            <a:off x="4724400" y="6356349"/>
            <a:ext cx="2743200" cy="365125"/>
          </a:xfrm>
        </p:spPr>
        <p:txBody>
          <a:bodyPr/>
          <a:lstStyle/>
          <a:p>
            <a:r>
              <a:rPr lang="en-US" dirty="0"/>
              <a:t>Page </a:t>
            </a:r>
            <a:fld id="{A862897D-0F50-4425-B5E1-82FAA232DFBF}" type="slidenum">
              <a:rPr lang="en-US" smtClean="0"/>
              <a:pPr/>
              <a:t>12</a:t>
            </a:fld>
            <a:r>
              <a:rPr lang="en-US" dirty="0"/>
              <a:t> of 23</a:t>
            </a:r>
          </a:p>
        </p:txBody>
      </p:sp>
      <p:sp>
        <p:nvSpPr>
          <p:cNvPr id="5" name="Text Box 9"/>
          <p:cNvSpPr txBox="1">
            <a:spLocks noChangeArrowheads="1"/>
          </p:cNvSpPr>
          <p:nvPr/>
        </p:nvSpPr>
        <p:spPr bwMode="auto">
          <a:xfrm>
            <a:off x="-474539" y="1432655"/>
            <a:ext cx="752000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lvl="2">
              <a:spcBef>
                <a:spcPct val="0"/>
              </a:spcBef>
              <a:buSzTx/>
              <a:buFontTx/>
              <a:buNone/>
            </a:pPr>
            <a:endParaRPr lang="en-US" altLang="en-US" sz="1800" dirty="0"/>
          </a:p>
          <a:p>
            <a:pPr lvl="2">
              <a:spcBef>
                <a:spcPct val="0"/>
              </a:spcBef>
              <a:buSzTx/>
              <a:buFontTx/>
              <a:buNone/>
            </a:pPr>
            <a:r>
              <a:rPr lang="en-US" altLang="en-US" sz="1800" dirty="0"/>
              <a:t>Group of</a:t>
            </a:r>
            <a:r>
              <a:rPr lang="en-US" altLang="en-US" sz="1800" dirty="0">
                <a:solidFill>
                  <a:srgbClr val="3333FF"/>
                </a:solidFill>
              </a:rPr>
              <a:t> k bits</a:t>
            </a:r>
            <a:r>
              <a:rPr lang="en-US" altLang="en-US" sz="1800" dirty="0">
                <a:solidFill>
                  <a:srgbClr val="0033CC"/>
                </a:solidFill>
              </a:rPr>
              <a:t> </a:t>
            </a:r>
            <a:r>
              <a:rPr lang="en-US" altLang="en-US" sz="1800" dirty="0"/>
              <a:t>represented by One Symbol from </a:t>
            </a:r>
            <a:r>
              <a:rPr lang="en-US" altLang="en-US" sz="1800" dirty="0">
                <a:solidFill>
                  <a:srgbClr val="3333FF"/>
                </a:solidFill>
              </a:rPr>
              <a:t>2</a:t>
            </a:r>
            <a:r>
              <a:rPr lang="en-US" altLang="en-US" sz="1800" baseline="30000" dirty="0">
                <a:solidFill>
                  <a:srgbClr val="3333FF"/>
                </a:solidFill>
              </a:rPr>
              <a:t>k</a:t>
            </a:r>
            <a:r>
              <a:rPr lang="en-US" altLang="en-US" sz="1800" dirty="0">
                <a:solidFill>
                  <a:srgbClr val="3333FF"/>
                </a:solidFill>
              </a:rPr>
              <a:t>-symbol set</a:t>
            </a:r>
            <a:endParaRPr lang="en-US" altLang="en-US" sz="1800" b="0" dirty="0">
              <a:solidFill>
                <a:srgbClr val="3333FF"/>
              </a:solidFill>
            </a:endParaRPr>
          </a:p>
        </p:txBody>
      </p:sp>
      <p:sp>
        <p:nvSpPr>
          <p:cNvPr id="6" name="Text Box 15"/>
          <p:cNvSpPr txBox="1">
            <a:spLocks noChangeArrowheads="1"/>
          </p:cNvSpPr>
          <p:nvPr/>
        </p:nvSpPr>
        <p:spPr bwMode="auto">
          <a:xfrm>
            <a:off x="815989" y="4918921"/>
            <a:ext cx="6282489" cy="461665"/>
          </a:xfrm>
          <a:prstGeom prst="rect">
            <a:avLst/>
          </a:prstGeom>
          <a:solidFill>
            <a:srgbClr val="FF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spcBef>
                <a:spcPct val="0"/>
              </a:spcBef>
              <a:buSzTx/>
              <a:buFontTx/>
              <a:buNone/>
            </a:pPr>
            <a:r>
              <a:rPr lang="en-US" altLang="en-US" sz="2400" dirty="0"/>
              <a:t>Symbol Rate = Bit Rate / k = Bit Rate / log</a:t>
            </a:r>
            <a:r>
              <a:rPr lang="en-US" altLang="en-US" sz="2400" baseline="-25000" dirty="0"/>
              <a:t>2</a:t>
            </a:r>
            <a:r>
              <a:rPr lang="en-US" altLang="en-US" sz="2400" dirty="0"/>
              <a:t>M</a:t>
            </a:r>
            <a:endParaRPr lang="en-US" altLang="en-US" sz="1600" b="0" dirty="0"/>
          </a:p>
        </p:txBody>
      </p:sp>
      <p:grpSp>
        <p:nvGrpSpPr>
          <p:cNvPr id="7" name="Group 20"/>
          <p:cNvGrpSpPr>
            <a:grpSpLocks/>
          </p:cNvGrpSpPr>
          <p:nvPr/>
        </p:nvGrpSpPr>
        <p:grpSpPr bwMode="auto">
          <a:xfrm>
            <a:off x="710540" y="2187438"/>
            <a:ext cx="6203950" cy="2530475"/>
            <a:chOff x="480" y="1536"/>
            <a:chExt cx="3908" cy="1594"/>
          </a:xfrm>
        </p:grpSpPr>
        <p:sp>
          <p:nvSpPr>
            <p:cNvPr id="8" name="Text Box 3"/>
            <p:cNvSpPr txBox="1">
              <a:spLocks noChangeArrowheads="1"/>
            </p:cNvSpPr>
            <p:nvPr/>
          </p:nvSpPr>
          <p:spPr bwMode="auto">
            <a:xfrm>
              <a:off x="2160" y="1824"/>
              <a:ext cx="768" cy="449"/>
            </a:xfrm>
            <a:prstGeom prst="rect">
              <a:avLst/>
            </a:prstGeom>
            <a:solidFill>
              <a:srgbClr val="66FFFF"/>
            </a:solidFill>
            <a:ln w="9525">
              <a:solidFill>
                <a:schemeClr val="tx1"/>
              </a:solidFill>
              <a:miter lim="800000"/>
              <a:headEnd/>
              <a:tailEnd/>
            </a:ln>
            <a:effectLst>
              <a:outerShdw dist="35921" dir="2700000" algn="ctr" rotWithShape="0">
                <a:schemeClr val="bg2"/>
              </a:outerShdw>
            </a:effectLst>
          </p:spPr>
          <p:txBody>
            <a:bodyPr>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spcBef>
                  <a:spcPct val="50000"/>
                </a:spcBef>
                <a:buSzTx/>
                <a:buFontTx/>
                <a:buNone/>
              </a:pPr>
              <a:r>
                <a:rPr lang="en-US" altLang="en-US" sz="1600" b="0"/>
                <a:t>M-ary</a:t>
              </a:r>
            </a:p>
            <a:p>
              <a:pPr>
                <a:spcBef>
                  <a:spcPct val="50000"/>
                </a:spcBef>
                <a:buSzTx/>
                <a:buFontTx/>
                <a:buNone/>
              </a:pPr>
              <a:r>
                <a:rPr lang="en-US" altLang="en-US" sz="1600" b="0"/>
                <a:t>Modulator</a:t>
              </a:r>
            </a:p>
          </p:txBody>
        </p:sp>
        <p:sp>
          <p:nvSpPr>
            <p:cNvPr id="9" name="Line 4"/>
            <p:cNvSpPr>
              <a:spLocks noChangeShapeType="1"/>
            </p:cNvSpPr>
            <p:nvPr/>
          </p:nvSpPr>
          <p:spPr bwMode="auto">
            <a:xfrm>
              <a:off x="1728" y="2016"/>
              <a:ext cx="43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Line 5"/>
            <p:cNvSpPr>
              <a:spLocks noChangeShapeType="1"/>
            </p:cNvSpPr>
            <p:nvPr/>
          </p:nvSpPr>
          <p:spPr bwMode="auto">
            <a:xfrm>
              <a:off x="2928" y="2016"/>
              <a:ext cx="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AutoShape 6"/>
            <p:cNvSpPr>
              <a:spLocks/>
            </p:cNvSpPr>
            <p:nvPr/>
          </p:nvSpPr>
          <p:spPr bwMode="auto">
            <a:xfrm>
              <a:off x="3264" y="1536"/>
              <a:ext cx="192" cy="1008"/>
            </a:xfrm>
            <a:prstGeom prst="leftBrace">
              <a:avLst>
                <a:gd name="adj1" fmla="val 4375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SzTx/>
                <a:buFontTx/>
                <a:buNone/>
              </a:pPr>
              <a:endParaRPr lang="en-SG" altLang="en-US" sz="1400"/>
            </a:p>
          </p:txBody>
        </p:sp>
        <p:sp>
          <p:nvSpPr>
            <p:cNvPr id="12" name="Text Box 7"/>
            <p:cNvSpPr txBox="1">
              <a:spLocks noChangeArrowheads="1"/>
            </p:cNvSpPr>
            <p:nvPr/>
          </p:nvSpPr>
          <p:spPr bwMode="auto">
            <a:xfrm>
              <a:off x="3504" y="1536"/>
              <a:ext cx="460" cy="1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spcBef>
                  <a:spcPct val="0"/>
                </a:spcBef>
                <a:buSzTx/>
                <a:buFontTx/>
                <a:buNone/>
              </a:pPr>
              <a:r>
                <a:rPr lang="en-US" altLang="en-US" sz="2000" b="0"/>
                <a:t>S</a:t>
              </a:r>
              <a:r>
                <a:rPr lang="en-US" altLang="en-US" sz="2000" b="0" baseline="-25000"/>
                <a:t>1</a:t>
              </a:r>
              <a:r>
                <a:rPr lang="en-US" altLang="en-US" sz="2000" b="0"/>
                <a:t>(t)</a:t>
              </a:r>
            </a:p>
            <a:p>
              <a:pPr>
                <a:spcBef>
                  <a:spcPct val="0"/>
                </a:spcBef>
                <a:buSzTx/>
                <a:buFontTx/>
                <a:buNone/>
              </a:pPr>
              <a:r>
                <a:rPr lang="en-US" altLang="en-US" sz="2000" b="0"/>
                <a:t>S</a:t>
              </a:r>
              <a:r>
                <a:rPr lang="en-US" altLang="en-US" sz="2000" b="0" baseline="-25000"/>
                <a:t>2</a:t>
              </a:r>
              <a:r>
                <a:rPr lang="en-US" altLang="en-US" sz="2000" b="0"/>
                <a:t>(t)</a:t>
              </a:r>
            </a:p>
            <a:p>
              <a:pPr>
                <a:spcBef>
                  <a:spcPct val="0"/>
                </a:spcBef>
                <a:buSzTx/>
                <a:buFontTx/>
                <a:buNone/>
              </a:pPr>
              <a:r>
                <a:rPr lang="en-US" altLang="en-US" sz="2000" b="0"/>
                <a:t>.</a:t>
              </a:r>
            </a:p>
            <a:p>
              <a:pPr>
                <a:spcBef>
                  <a:spcPct val="0"/>
                </a:spcBef>
                <a:buSzTx/>
                <a:buFontTx/>
                <a:buNone/>
              </a:pPr>
              <a:r>
                <a:rPr lang="en-US" altLang="en-US" sz="2000" b="0"/>
                <a:t>.</a:t>
              </a:r>
            </a:p>
            <a:p>
              <a:pPr>
                <a:spcBef>
                  <a:spcPct val="0"/>
                </a:spcBef>
                <a:buSzTx/>
                <a:buFontTx/>
                <a:buNone/>
              </a:pPr>
              <a:r>
                <a:rPr lang="en-US" altLang="en-US" sz="2000" b="0"/>
                <a:t>.</a:t>
              </a:r>
            </a:p>
            <a:p>
              <a:pPr>
                <a:spcBef>
                  <a:spcPct val="0"/>
                </a:spcBef>
                <a:buSzTx/>
                <a:buFontTx/>
                <a:buNone/>
              </a:pPr>
              <a:r>
                <a:rPr lang="en-US" altLang="en-US" sz="2000" b="0"/>
                <a:t>S</a:t>
              </a:r>
              <a:r>
                <a:rPr lang="en-US" altLang="en-US" sz="2000" b="0" baseline="-25000"/>
                <a:t>M</a:t>
              </a:r>
              <a:r>
                <a:rPr lang="en-US" altLang="en-US" sz="2000" b="0"/>
                <a:t>(t)</a:t>
              </a:r>
            </a:p>
            <a:p>
              <a:pPr>
                <a:spcBef>
                  <a:spcPct val="0"/>
                </a:spcBef>
                <a:buSzTx/>
                <a:buFontTx/>
                <a:buNone/>
              </a:pPr>
              <a:endParaRPr lang="en-US" altLang="en-US" sz="1600" b="0"/>
            </a:p>
          </p:txBody>
        </p:sp>
        <p:sp>
          <p:nvSpPr>
            <p:cNvPr id="13" name="Text Box 8"/>
            <p:cNvSpPr txBox="1">
              <a:spLocks noChangeArrowheads="1"/>
            </p:cNvSpPr>
            <p:nvPr/>
          </p:nvSpPr>
          <p:spPr bwMode="auto">
            <a:xfrm>
              <a:off x="480" y="2880"/>
              <a:ext cx="184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spcBef>
                  <a:spcPct val="0"/>
                </a:spcBef>
                <a:buSzTx/>
                <a:buFontTx/>
                <a:buNone/>
              </a:pPr>
              <a:r>
                <a:rPr lang="en-US" altLang="en-US" sz="2000" b="0"/>
                <a:t>For M-ary Signalling:	</a:t>
              </a:r>
              <a:endParaRPr lang="en-US" altLang="en-US" sz="1600"/>
            </a:p>
          </p:txBody>
        </p:sp>
        <p:sp>
          <p:nvSpPr>
            <p:cNvPr id="14" name="AutoShape 10"/>
            <p:cNvSpPr>
              <a:spLocks/>
            </p:cNvSpPr>
            <p:nvPr/>
          </p:nvSpPr>
          <p:spPr bwMode="auto">
            <a:xfrm rot="-5400000">
              <a:off x="1488" y="2064"/>
              <a:ext cx="120" cy="312"/>
            </a:xfrm>
            <a:prstGeom prst="leftBrace">
              <a:avLst>
                <a:gd name="adj1" fmla="val 21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SzTx/>
                <a:buFontTx/>
                <a:buNone/>
              </a:pPr>
              <a:endParaRPr lang="en-SG" altLang="en-US" sz="1400"/>
            </a:p>
          </p:txBody>
        </p:sp>
        <p:sp>
          <p:nvSpPr>
            <p:cNvPr id="15" name="AutoShape 11"/>
            <p:cNvSpPr>
              <a:spLocks/>
            </p:cNvSpPr>
            <p:nvPr/>
          </p:nvSpPr>
          <p:spPr bwMode="auto">
            <a:xfrm rot="-5400000">
              <a:off x="1152" y="2064"/>
              <a:ext cx="120" cy="312"/>
            </a:xfrm>
            <a:prstGeom prst="leftBrace">
              <a:avLst>
                <a:gd name="adj1" fmla="val 21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SzTx/>
                <a:buFontTx/>
                <a:buNone/>
              </a:pPr>
              <a:endParaRPr lang="en-SG" altLang="en-US" sz="1400"/>
            </a:p>
          </p:txBody>
        </p:sp>
        <p:sp>
          <p:nvSpPr>
            <p:cNvPr id="16" name="AutoShape 12"/>
            <p:cNvSpPr>
              <a:spLocks/>
            </p:cNvSpPr>
            <p:nvPr/>
          </p:nvSpPr>
          <p:spPr bwMode="auto">
            <a:xfrm rot="-5400000">
              <a:off x="816" y="2064"/>
              <a:ext cx="120" cy="312"/>
            </a:xfrm>
            <a:prstGeom prst="leftBrace">
              <a:avLst>
                <a:gd name="adj1" fmla="val 21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SzTx/>
                <a:buFontTx/>
                <a:buNone/>
              </a:pPr>
              <a:endParaRPr lang="en-SG" altLang="en-US" sz="1400"/>
            </a:p>
          </p:txBody>
        </p:sp>
        <p:sp>
          <p:nvSpPr>
            <p:cNvPr id="17" name="Rectangle 13"/>
            <p:cNvSpPr>
              <a:spLocks noChangeArrowheads="1"/>
            </p:cNvSpPr>
            <p:nvPr/>
          </p:nvSpPr>
          <p:spPr bwMode="auto">
            <a:xfrm>
              <a:off x="576" y="2304"/>
              <a:ext cx="115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spcBef>
                  <a:spcPct val="0"/>
                </a:spcBef>
                <a:buSzTx/>
                <a:buFontTx/>
                <a:buNone/>
              </a:pPr>
              <a:r>
                <a:rPr lang="en-US" altLang="en-US" sz="2000" b="0"/>
                <a:t>Group of k bits</a:t>
              </a:r>
            </a:p>
          </p:txBody>
        </p:sp>
        <p:sp>
          <p:nvSpPr>
            <p:cNvPr id="18" name="Text Box 14"/>
            <p:cNvSpPr txBox="1">
              <a:spLocks noChangeArrowheads="1"/>
            </p:cNvSpPr>
            <p:nvPr/>
          </p:nvSpPr>
          <p:spPr bwMode="auto">
            <a:xfrm>
              <a:off x="566" y="1958"/>
              <a:ext cx="120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spcBef>
                  <a:spcPct val="0"/>
                </a:spcBef>
                <a:buSzTx/>
                <a:buFontTx/>
                <a:buNone/>
              </a:pPr>
              <a:r>
                <a:rPr lang="en-US" altLang="en-US" sz="1600" b="0" dirty="0"/>
                <a:t>   01...100…00...10</a:t>
              </a:r>
            </a:p>
          </p:txBody>
        </p:sp>
        <p:sp>
          <p:nvSpPr>
            <p:cNvPr id="19" name="Text Box 16"/>
            <p:cNvSpPr txBox="1">
              <a:spLocks noChangeArrowheads="1"/>
            </p:cNvSpPr>
            <p:nvPr/>
          </p:nvSpPr>
          <p:spPr bwMode="auto">
            <a:xfrm>
              <a:off x="3206" y="2839"/>
              <a:ext cx="118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spcBef>
                  <a:spcPct val="0"/>
                </a:spcBef>
                <a:buSzTx/>
                <a:buFontTx/>
                <a:buNone/>
              </a:pPr>
              <a:r>
                <a:rPr lang="en-US" altLang="en-US" sz="2000"/>
                <a:t>M=2</a:t>
              </a:r>
              <a:r>
                <a:rPr lang="en-US" altLang="en-US" sz="2000" baseline="30000"/>
                <a:t>k</a:t>
              </a:r>
              <a:r>
                <a:rPr lang="en-US" altLang="en-US" sz="2000"/>
                <a:t> symbols</a:t>
              </a:r>
              <a:endParaRPr lang="en-US" altLang="en-US" sz="1600" b="0"/>
            </a:p>
          </p:txBody>
        </p:sp>
        <p:sp>
          <p:nvSpPr>
            <p:cNvPr id="20" name="Text Box 17"/>
            <p:cNvSpPr txBox="1">
              <a:spLocks noChangeArrowheads="1"/>
            </p:cNvSpPr>
            <p:nvPr/>
          </p:nvSpPr>
          <p:spPr bwMode="auto">
            <a:xfrm>
              <a:off x="2102" y="2294"/>
              <a:ext cx="905"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spcBef>
                  <a:spcPct val="0"/>
                </a:spcBef>
                <a:buSzTx/>
                <a:buFontTx/>
                <a:buNone/>
              </a:pPr>
              <a:r>
                <a:rPr lang="en-US" altLang="en-US" sz="1600" b="0"/>
                <a:t>MPSK, MFSK</a:t>
              </a:r>
            </a:p>
            <a:p>
              <a:pPr>
                <a:spcBef>
                  <a:spcPct val="0"/>
                </a:spcBef>
                <a:buSzTx/>
                <a:buFontTx/>
                <a:buNone/>
              </a:pPr>
              <a:r>
                <a:rPr lang="en-US" altLang="en-US" sz="1600" b="0"/>
                <a:t>M-QAM</a:t>
              </a:r>
            </a:p>
          </p:txBody>
        </p:sp>
      </p:grpSp>
      <p:sp>
        <p:nvSpPr>
          <p:cNvPr id="21" name="Rectangle 2"/>
          <p:cNvSpPr>
            <a:spLocks noGrp="1" noChangeArrowheads="1"/>
          </p:cNvSpPr>
          <p:nvPr>
            <p:ph type="title"/>
          </p:nvPr>
        </p:nvSpPr>
        <p:spPr>
          <a:xfrm>
            <a:off x="850490" y="-202008"/>
            <a:ext cx="10515600" cy="1325563"/>
          </a:xfrm>
        </p:spPr>
        <p:txBody>
          <a:bodyPr>
            <a:normAutofit/>
          </a:bodyPr>
          <a:lstStyle/>
          <a:p>
            <a:r>
              <a:rPr lang="en-US" sz="3600" b="1" dirty="0">
                <a:solidFill>
                  <a:srgbClr val="C00000"/>
                </a:solidFill>
                <a:latin typeface="+mn-lt"/>
              </a:rPr>
              <a:t>Fundamentals – M-</a:t>
            </a:r>
            <a:r>
              <a:rPr lang="en-US" sz="3600" b="1" dirty="0" err="1">
                <a:solidFill>
                  <a:srgbClr val="C00000"/>
                </a:solidFill>
                <a:latin typeface="+mn-lt"/>
              </a:rPr>
              <a:t>ary</a:t>
            </a:r>
            <a:r>
              <a:rPr lang="en-US" sz="3600" b="1" dirty="0">
                <a:solidFill>
                  <a:srgbClr val="C00000"/>
                </a:solidFill>
                <a:latin typeface="+mn-lt"/>
              </a:rPr>
              <a:t> Signaling</a:t>
            </a:r>
          </a:p>
        </p:txBody>
      </p:sp>
      <p:sp>
        <p:nvSpPr>
          <p:cNvPr id="2" name="Rectangle 1">
            <a:extLst>
              <a:ext uri="{FF2B5EF4-FFF2-40B4-BE49-F238E27FC236}">
                <a16:creationId xmlns:a16="http://schemas.microsoft.com/office/drawing/2014/main" id="{8102469B-E3D4-49A1-ADF6-4FC464441492}"/>
              </a:ext>
            </a:extLst>
          </p:cNvPr>
          <p:cNvSpPr/>
          <p:nvPr/>
        </p:nvSpPr>
        <p:spPr>
          <a:xfrm>
            <a:off x="362391" y="5560869"/>
            <a:ext cx="7282836" cy="553998"/>
          </a:xfrm>
          <a:prstGeom prst="rect">
            <a:avLst/>
          </a:prstGeom>
        </p:spPr>
        <p:txBody>
          <a:bodyPr wrap="square">
            <a:spAutoFit/>
          </a:bodyPr>
          <a:lstStyle/>
          <a:p>
            <a:pPr>
              <a:lnSpc>
                <a:spcPct val="100000"/>
              </a:lnSpc>
              <a:spcBef>
                <a:spcPts val="0"/>
              </a:spcBef>
            </a:pPr>
            <a:r>
              <a:rPr lang="en-US" sz="2400" dirty="0"/>
              <a:t>To represent group of k bits, M=2</a:t>
            </a:r>
            <a:r>
              <a:rPr lang="en-US" sz="2400" baseline="30000" dirty="0"/>
              <a:t>k</a:t>
            </a:r>
            <a:r>
              <a:rPr lang="en-US" sz="2400" dirty="0"/>
              <a:t> symbols are required. </a:t>
            </a:r>
          </a:p>
          <a:p>
            <a:pPr>
              <a:lnSpc>
                <a:spcPct val="100000"/>
              </a:lnSpc>
              <a:spcBef>
                <a:spcPts val="0"/>
              </a:spcBef>
              <a:buFont typeface="Monotype Sorts" pitchFamily="2" charset="2"/>
              <a:buNone/>
            </a:pPr>
            <a:endParaRPr lang="en-US" sz="600" dirty="0"/>
          </a:p>
        </p:txBody>
      </p:sp>
      <p:sp>
        <p:nvSpPr>
          <p:cNvPr id="22" name="Text Box 18">
            <a:extLst>
              <a:ext uri="{FF2B5EF4-FFF2-40B4-BE49-F238E27FC236}">
                <a16:creationId xmlns:a16="http://schemas.microsoft.com/office/drawing/2014/main" id="{8D66F0A1-CF7B-4A39-9572-00D88D050DFF}"/>
              </a:ext>
            </a:extLst>
          </p:cNvPr>
          <p:cNvSpPr txBox="1">
            <a:spLocks noChangeArrowheads="1"/>
          </p:cNvSpPr>
          <p:nvPr/>
        </p:nvSpPr>
        <p:spPr bwMode="auto">
          <a:xfrm>
            <a:off x="7660423" y="1878904"/>
            <a:ext cx="441819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spcBef>
                <a:spcPct val="0"/>
              </a:spcBef>
              <a:buSzTx/>
              <a:buFontTx/>
              <a:buNone/>
            </a:pPr>
            <a:r>
              <a:rPr lang="en-US" altLang="en-US" sz="2000" dirty="0"/>
              <a:t>K = number of bit make into a symbol</a:t>
            </a:r>
          </a:p>
          <a:p>
            <a:pPr>
              <a:spcBef>
                <a:spcPct val="0"/>
              </a:spcBef>
              <a:buSzTx/>
              <a:buFontTx/>
              <a:buNone/>
            </a:pPr>
            <a:r>
              <a:rPr lang="en-US" altLang="en-US" sz="2000" b="0" dirty="0"/>
              <a:t>M = number of possible state = 2</a:t>
            </a:r>
            <a:r>
              <a:rPr lang="en-US" altLang="en-US" sz="2000" b="0" baseline="30000" dirty="0"/>
              <a:t>k</a:t>
            </a:r>
          </a:p>
          <a:p>
            <a:pPr>
              <a:spcBef>
                <a:spcPct val="0"/>
              </a:spcBef>
              <a:buSzTx/>
              <a:buFontTx/>
              <a:buNone/>
            </a:pPr>
            <a:endParaRPr lang="en-US" altLang="en-US" sz="2000" dirty="0"/>
          </a:p>
          <a:p>
            <a:pPr>
              <a:spcBef>
                <a:spcPct val="0"/>
              </a:spcBef>
              <a:buSzTx/>
              <a:buFontTx/>
              <a:buNone/>
            </a:pPr>
            <a:r>
              <a:rPr lang="en-US" altLang="en-US" sz="2000" b="0" dirty="0"/>
              <a:t>For this case</a:t>
            </a:r>
          </a:p>
          <a:p>
            <a:pPr>
              <a:spcBef>
                <a:spcPct val="0"/>
              </a:spcBef>
              <a:buSzTx/>
              <a:buFontTx/>
              <a:buNone/>
            </a:pPr>
            <a:r>
              <a:rPr lang="en-US" altLang="en-US" sz="2000" dirty="0"/>
              <a:t>K =4</a:t>
            </a:r>
          </a:p>
          <a:p>
            <a:pPr>
              <a:spcBef>
                <a:spcPct val="0"/>
              </a:spcBef>
              <a:buSzTx/>
              <a:buFontTx/>
              <a:buNone/>
            </a:pPr>
            <a:r>
              <a:rPr lang="en-US" altLang="en-US" sz="2000" b="0" dirty="0"/>
              <a:t>And therefore M=</a:t>
            </a:r>
            <a:r>
              <a:rPr lang="en-US" altLang="en-US" sz="2000" dirty="0"/>
              <a:t> 2</a:t>
            </a:r>
            <a:r>
              <a:rPr lang="en-US" altLang="en-US" sz="2000" baseline="30000" dirty="0"/>
              <a:t>4 </a:t>
            </a:r>
            <a:r>
              <a:rPr lang="en-US" altLang="en-US" sz="2000" b="0" dirty="0"/>
              <a:t>= 16</a:t>
            </a:r>
            <a:endParaRPr lang="en-US" altLang="en-US" sz="1600" b="0" dirty="0"/>
          </a:p>
        </p:txBody>
      </p:sp>
      <p:pic>
        <p:nvPicPr>
          <p:cNvPr id="23" name="Pg11">
            <a:hlinkClick r:id="" action="ppaction://media"/>
            <a:extLst>
              <a:ext uri="{FF2B5EF4-FFF2-40B4-BE49-F238E27FC236}">
                <a16:creationId xmlns:a16="http://schemas.microsoft.com/office/drawing/2014/main" id="{95B28CF3-E620-47AE-B46C-7C16B3B13BA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0115227" y="5723783"/>
            <a:ext cx="609600" cy="609600"/>
          </a:xfrm>
          <a:prstGeom prst="rect">
            <a:avLst/>
          </a:prstGeom>
        </p:spPr>
      </p:pic>
      <p:sp>
        <p:nvSpPr>
          <p:cNvPr id="24" name="Rectangle 23">
            <a:extLst>
              <a:ext uri="{FF2B5EF4-FFF2-40B4-BE49-F238E27FC236}">
                <a16:creationId xmlns:a16="http://schemas.microsoft.com/office/drawing/2014/main" id="{E332EE85-12D8-AD6D-397A-C48E01E35C80}"/>
              </a:ext>
            </a:extLst>
          </p:cNvPr>
          <p:cNvSpPr/>
          <p:nvPr/>
        </p:nvSpPr>
        <p:spPr>
          <a:xfrm>
            <a:off x="0" y="0"/>
            <a:ext cx="1026160" cy="2438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356357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504"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3"/>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a:xfrm>
            <a:off x="4724400" y="6356349"/>
            <a:ext cx="2743200" cy="365125"/>
          </a:xfrm>
        </p:spPr>
        <p:txBody>
          <a:bodyPr/>
          <a:lstStyle/>
          <a:p>
            <a:r>
              <a:rPr lang="en-US" dirty="0"/>
              <a:t>Page </a:t>
            </a:r>
            <a:fld id="{A862897D-0F50-4425-B5E1-82FAA232DFBF}" type="slidenum">
              <a:rPr lang="en-US" smtClean="0"/>
              <a:pPr/>
              <a:t>13</a:t>
            </a:fld>
            <a:r>
              <a:rPr lang="en-US" dirty="0"/>
              <a:t> of 23</a:t>
            </a:r>
          </a:p>
        </p:txBody>
      </p:sp>
      <p:sp>
        <p:nvSpPr>
          <p:cNvPr id="21" name="Rectangle 2"/>
          <p:cNvSpPr>
            <a:spLocks noGrp="1" noChangeArrowheads="1"/>
          </p:cNvSpPr>
          <p:nvPr>
            <p:ph type="title"/>
          </p:nvPr>
        </p:nvSpPr>
        <p:spPr>
          <a:xfrm>
            <a:off x="838200" y="136526"/>
            <a:ext cx="10515600" cy="1325563"/>
          </a:xfrm>
        </p:spPr>
        <p:txBody>
          <a:bodyPr>
            <a:normAutofit/>
          </a:bodyPr>
          <a:lstStyle/>
          <a:p>
            <a:r>
              <a:rPr lang="en-US" sz="3600" b="1" dirty="0">
                <a:solidFill>
                  <a:srgbClr val="C00000"/>
                </a:solidFill>
                <a:latin typeface="+mn-lt"/>
              </a:rPr>
              <a:t>Example (1)</a:t>
            </a:r>
            <a:br>
              <a:rPr lang="en-US" sz="3600" b="1" dirty="0">
                <a:solidFill>
                  <a:srgbClr val="C00000"/>
                </a:solidFill>
                <a:latin typeface="+mn-lt"/>
              </a:rPr>
            </a:br>
            <a:endParaRPr lang="en-US" sz="2800" b="1" dirty="0">
              <a:solidFill>
                <a:srgbClr val="C00000"/>
              </a:solidFill>
              <a:latin typeface="+mn-lt"/>
            </a:endParaRPr>
          </a:p>
        </p:txBody>
      </p:sp>
      <p:sp>
        <p:nvSpPr>
          <p:cNvPr id="26" name="Rectangle 25">
            <a:extLst>
              <a:ext uri="{FF2B5EF4-FFF2-40B4-BE49-F238E27FC236}">
                <a16:creationId xmlns:a16="http://schemas.microsoft.com/office/drawing/2014/main" id="{6AAFAB41-A1C0-4A1B-A8C1-30C1B891F98E}"/>
              </a:ext>
            </a:extLst>
          </p:cNvPr>
          <p:cNvSpPr/>
          <p:nvPr/>
        </p:nvSpPr>
        <p:spPr>
          <a:xfrm>
            <a:off x="452034" y="1309689"/>
            <a:ext cx="11287932" cy="4616648"/>
          </a:xfrm>
          <a:prstGeom prst="rect">
            <a:avLst/>
          </a:prstGeom>
        </p:spPr>
        <p:txBody>
          <a:bodyPr wrap="square">
            <a:spAutoFit/>
          </a:bodyPr>
          <a:lstStyle/>
          <a:p>
            <a:pPr marR="0" lvl="0" algn="just">
              <a:spcBef>
                <a:spcPts val="0"/>
              </a:spcBef>
              <a:spcAft>
                <a:spcPts val="0"/>
              </a:spcAft>
              <a:buSzPts val="1200"/>
              <a:tabLst>
                <a:tab pos="-457200" algn="l"/>
              </a:tabLst>
            </a:pPr>
            <a:r>
              <a:rPr lang="en-GB" sz="2400" dirty="0">
                <a:latin typeface="Arial" panose="020B0604020202020204" pitchFamily="34" charset="0"/>
                <a:ea typeface="Times New Roman" panose="02020603050405020304" pitchFamily="18" charset="0"/>
                <a:cs typeface="Times New Roman" panose="02020603050405020304" pitchFamily="18" charset="0"/>
              </a:rPr>
              <a:t>A mobile radio can support a symbol rate of 8kbps within a bandwidth of 20 kHz by encoding 2 bits in each symbol. </a:t>
            </a:r>
            <a:endParaRPr lang="en-US" sz="2400" dirty="0">
              <a:latin typeface="Arial" panose="020B0604020202020204" pitchFamily="34" charset="0"/>
              <a:ea typeface="Times New Roman" panose="02020603050405020304" pitchFamily="18" charset="0"/>
              <a:cs typeface="Times New Roman" panose="02020603050405020304" pitchFamily="18" charset="0"/>
            </a:endParaRPr>
          </a:p>
          <a:p>
            <a:pPr marR="0" lvl="0" algn="just">
              <a:spcBef>
                <a:spcPts val="0"/>
              </a:spcBef>
              <a:spcAft>
                <a:spcPts val="0"/>
              </a:spcAft>
              <a:buSzPts val="1200"/>
              <a:tabLst>
                <a:tab pos="-457200" algn="l"/>
              </a:tabLst>
            </a:pPr>
            <a:r>
              <a:rPr lang="en-GB" sz="2400" dirty="0">
                <a:latin typeface="Arial" panose="020B0604020202020204" pitchFamily="34" charset="0"/>
                <a:ea typeface="Times New Roman" panose="02020603050405020304" pitchFamily="18" charset="0"/>
                <a:cs typeface="Times New Roman" panose="02020603050405020304" pitchFamily="18" charset="0"/>
              </a:rPr>
              <a:t>Compute the following:</a:t>
            </a:r>
            <a:endParaRPr lang="en-US" sz="2400" dirty="0">
              <a:latin typeface="Arial" panose="020B0604020202020204" pitchFamily="34" charset="0"/>
              <a:ea typeface="Times New Roman" panose="02020603050405020304" pitchFamily="18" charset="0"/>
              <a:cs typeface="Times New Roman" panose="02020603050405020304" pitchFamily="18" charset="0"/>
            </a:endParaRPr>
          </a:p>
          <a:p>
            <a:pPr marR="0" lvl="0" algn="just">
              <a:spcBef>
                <a:spcPts val="0"/>
              </a:spcBef>
              <a:spcAft>
                <a:spcPts val="0"/>
              </a:spcAft>
              <a:buSzPts val="1200"/>
              <a:tabLst>
                <a:tab pos="-457200" algn="l"/>
              </a:tabLst>
            </a:pPr>
            <a:endParaRPr lang="en-GB" sz="1200" dirty="0">
              <a:latin typeface="Arial" panose="020B0604020202020204" pitchFamily="34" charset="0"/>
              <a:ea typeface="Times New Roman" panose="02020603050405020304" pitchFamily="18" charset="0"/>
              <a:cs typeface="Times New Roman" panose="02020603050405020304" pitchFamily="18" charset="0"/>
            </a:endParaRPr>
          </a:p>
          <a:p>
            <a:pPr marR="0" lvl="0" algn="just">
              <a:spcBef>
                <a:spcPts val="0"/>
              </a:spcBef>
              <a:spcAft>
                <a:spcPts val="0"/>
              </a:spcAft>
              <a:buSzPts val="1200"/>
              <a:tabLst>
                <a:tab pos="-457200" algn="l"/>
              </a:tabLst>
            </a:pPr>
            <a:r>
              <a:rPr lang="en-GB" sz="2400" dirty="0">
                <a:latin typeface="Arial" panose="020B0604020202020204" pitchFamily="34" charset="0"/>
                <a:ea typeface="Times New Roman" panose="02020603050405020304" pitchFamily="18" charset="0"/>
                <a:cs typeface="Times New Roman" panose="02020603050405020304" pitchFamily="18" charset="0"/>
              </a:rPr>
              <a:t>The data/bit rate.</a:t>
            </a:r>
            <a:endParaRPr lang="en-US" sz="2400" dirty="0">
              <a:latin typeface="Arial" panose="020B0604020202020204" pitchFamily="34" charset="0"/>
              <a:ea typeface="Times New Roman" panose="02020603050405020304" pitchFamily="18" charset="0"/>
              <a:cs typeface="Times New Roman" panose="02020603050405020304" pitchFamily="18" charset="0"/>
            </a:endParaRPr>
          </a:p>
          <a:p>
            <a:pPr marR="0" lvl="0" algn="just">
              <a:spcBef>
                <a:spcPts val="0"/>
              </a:spcBef>
              <a:spcAft>
                <a:spcPts val="0"/>
              </a:spcAft>
              <a:buSzPts val="1200"/>
              <a:tabLst>
                <a:tab pos="-457200" algn="l"/>
              </a:tabLst>
            </a:pPr>
            <a:r>
              <a:rPr lang="en-GB" dirty="0">
                <a:latin typeface="Arial" panose="020B0604020202020204" pitchFamily="34" charset="0"/>
                <a:ea typeface="Times New Roman" panose="02020603050405020304" pitchFamily="18" charset="0"/>
                <a:cs typeface="Times New Roman" panose="02020603050405020304" pitchFamily="18" charset="0"/>
              </a:rPr>
              <a:t>	</a:t>
            </a:r>
            <a:r>
              <a:rPr lang="en-SG" b="1" dirty="0">
                <a:latin typeface="Arial" panose="020B0604020202020204" pitchFamily="34" charset="0"/>
                <a:ea typeface="Times New Roman" panose="02020603050405020304" pitchFamily="18" charset="0"/>
                <a:cs typeface="Times New Roman" panose="02020603050405020304" pitchFamily="18" charset="0"/>
              </a:rPr>
              <a:t> </a:t>
            </a:r>
            <a:endParaRPr lang="en-US" sz="1200" dirty="0">
              <a:latin typeface="Arial" panose="020B0604020202020204" pitchFamily="34" charset="0"/>
              <a:ea typeface="Times New Roman" panose="02020603050405020304" pitchFamily="18" charset="0"/>
              <a:cs typeface="Times New Roman" panose="02020603050405020304" pitchFamily="18" charset="0"/>
            </a:endParaRPr>
          </a:p>
          <a:p>
            <a:r>
              <a:rPr lang="en-SG" sz="2400" b="1" dirty="0">
                <a:solidFill>
                  <a:srgbClr val="0070C0"/>
                </a:solidFill>
                <a:latin typeface="Arial" panose="020B0604020202020204" pitchFamily="34" charset="0"/>
                <a:ea typeface="Times New Roman" panose="02020603050405020304" pitchFamily="18" charset="0"/>
                <a:cs typeface="Times New Roman" panose="02020603050405020304" pitchFamily="18" charset="0"/>
              </a:rPr>
              <a:t>ANS</a:t>
            </a:r>
            <a:endParaRPr lang="en-US" sz="2400" dirty="0">
              <a:latin typeface="Arial" panose="020B0604020202020204" pitchFamily="34" charset="0"/>
              <a:ea typeface="Times New Roman" panose="02020603050405020304" pitchFamily="18" charset="0"/>
              <a:cs typeface="Times New Roman" panose="02020603050405020304" pitchFamily="18" charset="0"/>
            </a:endParaRPr>
          </a:p>
          <a:p>
            <a:r>
              <a:rPr lang="en-SG" sz="2400" b="1" dirty="0">
                <a:solidFill>
                  <a:srgbClr val="0070C0"/>
                </a:solidFill>
                <a:latin typeface="Arial" panose="020B0604020202020204" pitchFamily="34" charset="0"/>
                <a:ea typeface="Times New Roman" panose="02020603050405020304" pitchFamily="18" charset="0"/>
                <a:cs typeface="Times New Roman" panose="02020603050405020304" pitchFamily="18" charset="0"/>
              </a:rPr>
              <a:t>	</a:t>
            </a:r>
            <a:r>
              <a:rPr lang="en-SG" sz="2400" dirty="0">
                <a:solidFill>
                  <a:srgbClr val="0070C0"/>
                </a:solidFill>
                <a:latin typeface="Arial" panose="020B0604020202020204" pitchFamily="34" charset="0"/>
                <a:ea typeface="Times New Roman" panose="02020603050405020304" pitchFamily="18" charset="0"/>
                <a:cs typeface="Times New Roman" panose="02020603050405020304" pitchFamily="18" charset="0"/>
              </a:rPr>
              <a:t>Data/Bit rate = Symbol rate x k       (Given, k is 2)</a:t>
            </a:r>
          </a:p>
          <a:p>
            <a:r>
              <a:rPr lang="en-SG" sz="2400" dirty="0">
                <a:solidFill>
                  <a:srgbClr val="0070C0"/>
                </a:solidFill>
                <a:latin typeface="Arial" panose="020B0604020202020204" pitchFamily="34" charset="0"/>
                <a:ea typeface="Times New Roman" panose="02020603050405020304" pitchFamily="18" charset="0"/>
                <a:cs typeface="Times New Roman" panose="02020603050405020304" pitchFamily="18" charset="0"/>
              </a:rPr>
              <a:t>		  = 2 x 8kbps = 16kbps</a:t>
            </a:r>
            <a:endParaRPr lang="en-US" sz="2400" dirty="0">
              <a:solidFill>
                <a:srgbClr val="0070C0"/>
              </a:solidFill>
              <a:latin typeface="Arial" panose="020B0604020202020204" pitchFamily="34" charset="0"/>
              <a:ea typeface="Times New Roman" panose="02020603050405020304" pitchFamily="18" charset="0"/>
              <a:cs typeface="Times New Roman" panose="02020603050405020304" pitchFamily="18" charset="0"/>
            </a:endParaRPr>
          </a:p>
          <a:p>
            <a:endParaRPr lang="en-US" sz="1200" dirty="0">
              <a:latin typeface="Arial" panose="020B0604020202020204" pitchFamily="34" charset="0"/>
              <a:ea typeface="Times New Roman" panose="02020603050405020304" pitchFamily="18" charset="0"/>
              <a:cs typeface="Times New Roman" panose="02020603050405020304" pitchFamily="18" charset="0"/>
            </a:endParaRPr>
          </a:p>
          <a:p>
            <a:pPr marR="0" lvl="0" algn="just">
              <a:spcBef>
                <a:spcPts val="0"/>
              </a:spcBef>
              <a:spcAft>
                <a:spcPts val="0"/>
              </a:spcAft>
              <a:tabLst>
                <a:tab pos="-457200" algn="l"/>
              </a:tabLst>
            </a:pPr>
            <a:r>
              <a:rPr lang="en-GB" sz="2400" dirty="0">
                <a:latin typeface="Arial" panose="020B0604020202020204" pitchFamily="34" charset="0"/>
                <a:ea typeface="Times New Roman" panose="02020603050405020304" pitchFamily="18" charset="0"/>
                <a:cs typeface="Times New Roman" panose="02020603050405020304" pitchFamily="18" charset="0"/>
              </a:rPr>
              <a:t>The bandwidth efficiency of the radio link.</a:t>
            </a:r>
            <a:endParaRPr lang="en-US" sz="2400" dirty="0">
              <a:latin typeface="Arial" panose="020B0604020202020204" pitchFamily="34" charset="0"/>
              <a:ea typeface="Times New Roman" panose="02020603050405020304" pitchFamily="18" charset="0"/>
              <a:cs typeface="Times New Roman" panose="02020603050405020304" pitchFamily="18" charset="0"/>
            </a:endParaRPr>
          </a:p>
          <a:p>
            <a:pPr marR="0" lvl="0" algn="just">
              <a:spcBef>
                <a:spcPts val="0"/>
              </a:spcBef>
              <a:spcAft>
                <a:spcPts val="0"/>
              </a:spcAft>
              <a:tabLst>
                <a:tab pos="-457200" algn="l"/>
              </a:tabLst>
            </a:pPr>
            <a:endParaRPr lang="en-US" sz="1200" dirty="0">
              <a:latin typeface="Arial" panose="020B0604020202020204" pitchFamily="34" charset="0"/>
              <a:ea typeface="Times New Roman" panose="02020603050405020304" pitchFamily="18" charset="0"/>
              <a:cs typeface="Times New Roman" panose="02020603050405020304" pitchFamily="18" charset="0"/>
            </a:endParaRPr>
          </a:p>
          <a:p>
            <a:pPr marR="304800">
              <a:tabLst>
                <a:tab pos="-457200" algn="l"/>
              </a:tabLst>
            </a:pPr>
            <a:r>
              <a:rPr lang="en-GB" sz="2400" dirty="0">
                <a:latin typeface="Arial" panose="020B0604020202020204" pitchFamily="34" charset="0"/>
                <a:ea typeface="Times New Roman" panose="02020603050405020304" pitchFamily="18" charset="0"/>
                <a:cs typeface="Times New Roman" panose="02020603050405020304" pitchFamily="18" charset="0"/>
              </a:rPr>
              <a:t>	</a:t>
            </a:r>
            <a:r>
              <a:rPr lang="en-GB" sz="2400" b="1" dirty="0">
                <a:solidFill>
                  <a:srgbClr val="0070C0"/>
                </a:solidFill>
                <a:latin typeface="Arial" panose="020B0604020202020204" pitchFamily="34" charset="0"/>
                <a:ea typeface="Times New Roman" panose="02020603050405020304" pitchFamily="18" charset="0"/>
                <a:cs typeface="Times New Roman" panose="02020603050405020304" pitchFamily="18" charset="0"/>
              </a:rPr>
              <a:t>ANS</a:t>
            </a:r>
            <a:endParaRPr lang="en-US" sz="2400" dirty="0">
              <a:latin typeface="Arial" panose="020B0604020202020204" pitchFamily="34" charset="0"/>
              <a:ea typeface="Times New Roman" panose="02020603050405020304" pitchFamily="18" charset="0"/>
              <a:cs typeface="Times New Roman" panose="02020603050405020304" pitchFamily="18" charset="0"/>
            </a:endParaRPr>
          </a:p>
          <a:p>
            <a:pPr indent="450215"/>
            <a:r>
              <a:rPr lang="en-GB" sz="2400" dirty="0">
                <a:solidFill>
                  <a:srgbClr val="0070C0"/>
                </a:solidFill>
                <a:latin typeface="Arial" panose="020B0604020202020204" pitchFamily="34" charset="0"/>
                <a:ea typeface="Times New Roman" panose="02020603050405020304" pitchFamily="18" charset="0"/>
                <a:cs typeface="Times New Roman" panose="02020603050405020304" pitchFamily="18" charset="0"/>
              </a:rPr>
              <a:t>      BW efficiency = data rate / bandwidth =16k/20k = 0.8 bps/Hz      </a:t>
            </a:r>
            <a:endParaRPr lang="en-US" sz="2400" dirty="0">
              <a:latin typeface="Arial" panose="020B0604020202020204" pitchFamily="34" charset="0"/>
              <a:ea typeface="Times New Roman" panose="02020603050405020304" pitchFamily="18" charset="0"/>
              <a:cs typeface="Times New Roman" panose="02020603050405020304" pitchFamily="18" charset="0"/>
            </a:endParaRPr>
          </a:p>
        </p:txBody>
      </p:sp>
      <p:pic>
        <p:nvPicPr>
          <p:cNvPr id="27" name="Pg12">
            <a:hlinkClick r:id="" action="ppaction://media"/>
            <a:extLst>
              <a:ext uri="{FF2B5EF4-FFF2-40B4-BE49-F238E27FC236}">
                <a16:creationId xmlns:a16="http://schemas.microsoft.com/office/drawing/2014/main" id="{0461CE2E-8B4A-4C8B-B579-135667AEB464}"/>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0161722" y="5773937"/>
            <a:ext cx="609600" cy="609600"/>
          </a:xfrm>
          <a:prstGeom prst="rect">
            <a:avLst/>
          </a:prstGeom>
        </p:spPr>
      </p:pic>
      <p:sp>
        <p:nvSpPr>
          <p:cNvPr id="2" name="Rectangle 1">
            <a:extLst>
              <a:ext uri="{FF2B5EF4-FFF2-40B4-BE49-F238E27FC236}">
                <a16:creationId xmlns:a16="http://schemas.microsoft.com/office/drawing/2014/main" id="{CEA477C1-1F56-A07A-CBBA-7FCDD0CA9123}"/>
              </a:ext>
            </a:extLst>
          </p:cNvPr>
          <p:cNvSpPr/>
          <p:nvPr/>
        </p:nvSpPr>
        <p:spPr>
          <a:xfrm>
            <a:off x="0" y="0"/>
            <a:ext cx="1026160" cy="2438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772081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065"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7"/>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3268" y="864752"/>
            <a:ext cx="10515600" cy="549505"/>
          </a:xfrm>
        </p:spPr>
        <p:txBody>
          <a:bodyPr>
            <a:noAutofit/>
          </a:bodyPr>
          <a:lstStyle/>
          <a:p>
            <a:r>
              <a:rPr lang="en-US" sz="2400" b="1" dirty="0">
                <a:solidFill>
                  <a:srgbClr val="C00000"/>
                </a:solidFill>
                <a:latin typeface="Arial Black" panose="020B0A04020102020204" pitchFamily="34" charset="0"/>
              </a:rPr>
              <a:t>Shannon Capacity Theorem </a:t>
            </a:r>
          </a:p>
        </p:txBody>
      </p:sp>
      <p:sp>
        <p:nvSpPr>
          <p:cNvPr id="4" name="Slide Number Placeholder 3"/>
          <p:cNvSpPr>
            <a:spLocks noGrp="1"/>
          </p:cNvSpPr>
          <p:nvPr>
            <p:ph type="sldNum" sz="quarter" idx="4"/>
          </p:nvPr>
        </p:nvSpPr>
        <p:spPr>
          <a:xfrm>
            <a:off x="4724400" y="6356349"/>
            <a:ext cx="2743200" cy="365125"/>
          </a:xfrm>
        </p:spPr>
        <p:txBody>
          <a:bodyPr/>
          <a:lstStyle/>
          <a:p>
            <a:r>
              <a:rPr lang="en-US" dirty="0"/>
              <a:t>Page </a:t>
            </a:r>
            <a:fld id="{A862897D-0F50-4425-B5E1-82FAA232DFBF}" type="slidenum">
              <a:rPr lang="en-US" smtClean="0"/>
              <a:pPr/>
              <a:t>14</a:t>
            </a:fld>
            <a:r>
              <a:rPr lang="en-US" dirty="0"/>
              <a:t> of 23</a:t>
            </a:r>
          </a:p>
        </p:txBody>
      </p:sp>
      <p:sp>
        <p:nvSpPr>
          <p:cNvPr id="5" name="Rectangle 3"/>
          <p:cNvSpPr>
            <a:spLocks noGrp="1" noChangeArrowheads="1"/>
          </p:cNvSpPr>
          <p:nvPr>
            <p:ph idx="1"/>
          </p:nvPr>
        </p:nvSpPr>
        <p:spPr/>
        <p:txBody>
          <a:bodyPr>
            <a:noAutofit/>
          </a:bodyPr>
          <a:lstStyle/>
          <a:p>
            <a:pPr eaLnBrk="1" hangingPunct="1"/>
            <a:r>
              <a:rPr lang="en-US" altLang="en-US" dirty="0"/>
              <a:t>The </a:t>
            </a:r>
            <a:r>
              <a:rPr lang="en-US" altLang="en-US" b="1" dirty="0">
                <a:solidFill>
                  <a:srgbClr val="FF0000"/>
                </a:solidFill>
              </a:rPr>
              <a:t>Shannon-Hartley capacity</a:t>
            </a:r>
            <a:r>
              <a:rPr lang="en-US" altLang="en-US" dirty="0">
                <a:solidFill>
                  <a:srgbClr val="FF0000"/>
                </a:solidFill>
              </a:rPr>
              <a:t> </a:t>
            </a:r>
            <a:r>
              <a:rPr lang="en-US" altLang="en-US" dirty="0"/>
              <a:t>limit for error-free communication is given by:</a:t>
            </a:r>
          </a:p>
          <a:p>
            <a:pPr eaLnBrk="1" hangingPunct="1">
              <a:buFontTx/>
              <a:buNone/>
            </a:pPr>
            <a:r>
              <a:rPr lang="en-US" altLang="en-US" dirty="0"/>
              <a:t>	</a:t>
            </a:r>
          </a:p>
          <a:p>
            <a:pPr eaLnBrk="1" hangingPunct="1">
              <a:buFontTx/>
              <a:buNone/>
            </a:pPr>
            <a:r>
              <a:rPr lang="en-US" altLang="en-US" dirty="0"/>
              <a:t>	</a:t>
            </a:r>
            <a:r>
              <a:rPr lang="en-US" altLang="en-US" b="1" dirty="0">
                <a:solidFill>
                  <a:srgbClr val="00B050"/>
                </a:solidFill>
              </a:rPr>
              <a:t>Channel Capacity, C = BW log</a:t>
            </a:r>
            <a:r>
              <a:rPr lang="en-US" altLang="en-US" b="1" baseline="-25000" dirty="0">
                <a:solidFill>
                  <a:srgbClr val="00B050"/>
                </a:solidFill>
              </a:rPr>
              <a:t>2 </a:t>
            </a:r>
            <a:r>
              <a:rPr lang="en-US" altLang="en-US" b="1" dirty="0">
                <a:solidFill>
                  <a:srgbClr val="00B050"/>
                </a:solidFill>
              </a:rPr>
              <a:t>(1 + S/N ) bps</a:t>
            </a:r>
          </a:p>
          <a:p>
            <a:pPr eaLnBrk="1" hangingPunct="1">
              <a:buFontTx/>
              <a:buNone/>
            </a:pPr>
            <a:endParaRPr lang="en-US" altLang="en-US" b="1" dirty="0"/>
          </a:p>
          <a:p>
            <a:pPr marL="0" indent="0">
              <a:buNone/>
            </a:pPr>
            <a:r>
              <a:rPr lang="en-SG" b="1" dirty="0"/>
              <a:t>Shannon–Hartley theorem</a:t>
            </a:r>
            <a:r>
              <a:rPr lang="en-SG" dirty="0"/>
              <a:t> tells the maximum rate at which information can be transmitted over a communications channel of a specified bandwidth in the presence of noise.</a:t>
            </a:r>
            <a:endParaRPr lang="en-US" altLang="en-US" dirty="0"/>
          </a:p>
        </p:txBody>
      </p:sp>
      <p:sp>
        <p:nvSpPr>
          <p:cNvPr id="6" name="Rectangle 2"/>
          <p:cNvSpPr txBox="1">
            <a:spLocks noChangeArrowheads="1"/>
          </p:cNvSpPr>
          <p:nvPr/>
        </p:nvSpPr>
        <p:spPr>
          <a:xfrm>
            <a:off x="883268" y="56945"/>
            <a:ext cx="9650415" cy="9906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GB" sz="3600" b="1" dirty="0">
                <a:solidFill>
                  <a:srgbClr val="C00000"/>
                </a:solidFill>
                <a:latin typeface="+mn-lt"/>
              </a:rPr>
              <a:t>Fundamentals – Capacity Theorem</a:t>
            </a:r>
            <a:endParaRPr lang="en-US" sz="3600" b="1" dirty="0">
              <a:solidFill>
                <a:srgbClr val="C00000"/>
              </a:solidFill>
              <a:latin typeface="+mn-lt"/>
            </a:endParaRPr>
          </a:p>
        </p:txBody>
      </p:sp>
      <p:pic>
        <p:nvPicPr>
          <p:cNvPr id="3" name="Pg13">
            <a:hlinkClick r:id="" action="ppaction://media"/>
            <a:extLst>
              <a:ext uri="{FF2B5EF4-FFF2-40B4-BE49-F238E27FC236}">
                <a16:creationId xmlns:a16="http://schemas.microsoft.com/office/drawing/2014/main" id="{ED7795DF-A1BF-49C2-9A1F-62A14452F995}"/>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0228883" y="5657713"/>
            <a:ext cx="609600" cy="609600"/>
          </a:xfrm>
          <a:prstGeom prst="rect">
            <a:avLst/>
          </a:prstGeom>
        </p:spPr>
      </p:pic>
      <p:sp>
        <p:nvSpPr>
          <p:cNvPr id="7" name="Rectangle 6">
            <a:extLst>
              <a:ext uri="{FF2B5EF4-FFF2-40B4-BE49-F238E27FC236}">
                <a16:creationId xmlns:a16="http://schemas.microsoft.com/office/drawing/2014/main" id="{FFA6FEC5-572B-DC7F-1552-F0A72517822C}"/>
              </a:ext>
            </a:extLst>
          </p:cNvPr>
          <p:cNvSpPr/>
          <p:nvPr/>
        </p:nvSpPr>
        <p:spPr>
          <a:xfrm>
            <a:off x="0" y="0"/>
            <a:ext cx="1026160" cy="2438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085384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408"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a:xfrm>
            <a:off x="4724400" y="6356349"/>
            <a:ext cx="2743200" cy="365125"/>
          </a:xfrm>
        </p:spPr>
        <p:txBody>
          <a:bodyPr/>
          <a:lstStyle/>
          <a:p>
            <a:r>
              <a:rPr lang="en-US" dirty="0"/>
              <a:t>Page </a:t>
            </a:r>
            <a:fld id="{A862897D-0F50-4425-B5E1-82FAA232DFBF}" type="slidenum">
              <a:rPr lang="en-US" smtClean="0"/>
              <a:pPr/>
              <a:t>15</a:t>
            </a:fld>
            <a:r>
              <a:rPr lang="en-US" dirty="0"/>
              <a:t> of 23</a:t>
            </a:r>
          </a:p>
        </p:txBody>
      </p:sp>
      <p:sp>
        <p:nvSpPr>
          <p:cNvPr id="5" name="Rectangle 3"/>
          <p:cNvSpPr>
            <a:spLocks noGrp="1" noChangeArrowheads="1"/>
          </p:cNvSpPr>
          <p:nvPr>
            <p:ph idx="1"/>
          </p:nvPr>
        </p:nvSpPr>
        <p:spPr>
          <a:xfrm>
            <a:off x="838200" y="1528048"/>
            <a:ext cx="10515600" cy="4351338"/>
          </a:xfrm>
        </p:spPr>
        <p:txBody>
          <a:bodyPr>
            <a:normAutofit/>
          </a:bodyPr>
          <a:lstStyle/>
          <a:p>
            <a:pPr marL="0" indent="0" eaLnBrk="1" hangingPunct="1">
              <a:lnSpc>
                <a:spcPct val="100000"/>
              </a:lnSpc>
              <a:buNone/>
            </a:pPr>
            <a:r>
              <a:rPr lang="en-US" altLang="en-US" sz="2400" dirty="0"/>
              <a:t>Example:</a:t>
            </a:r>
          </a:p>
          <a:p>
            <a:pPr marL="0" indent="0" eaLnBrk="1" hangingPunct="1">
              <a:lnSpc>
                <a:spcPct val="100000"/>
              </a:lnSpc>
              <a:buNone/>
            </a:pPr>
            <a:r>
              <a:rPr lang="en-US" altLang="en-US" sz="2400" dirty="0"/>
              <a:t>A telephone line has a bandwidth of 0 to 4 kHz, and the maximum signal to noise ratio (S/N) on the line is 20 </a:t>
            </a:r>
            <a:r>
              <a:rPr lang="en-US" altLang="en-US" sz="2400" dirty="0" err="1"/>
              <a:t>dB.</a:t>
            </a:r>
            <a:r>
              <a:rPr lang="en-US" altLang="en-US" sz="2400" dirty="0"/>
              <a:t> What is the channel capacity for error free transmission? </a:t>
            </a:r>
          </a:p>
          <a:p>
            <a:pPr marL="457200" lvl="1" indent="0" algn="just">
              <a:lnSpc>
                <a:spcPct val="100000"/>
              </a:lnSpc>
              <a:buNone/>
            </a:pPr>
            <a:r>
              <a:rPr lang="en-US" altLang="en-US" b="1" dirty="0"/>
              <a:t>		</a:t>
            </a:r>
            <a:r>
              <a:rPr lang="en-US" altLang="en-US" dirty="0"/>
              <a:t> BW 	= Highest </a:t>
            </a:r>
            <a:r>
              <a:rPr lang="en-US" altLang="en-US" dirty="0" err="1"/>
              <a:t>freq</a:t>
            </a:r>
            <a:r>
              <a:rPr lang="en-US" altLang="en-US" dirty="0"/>
              <a:t> – lowest </a:t>
            </a:r>
            <a:r>
              <a:rPr lang="en-US" altLang="en-US" dirty="0" err="1"/>
              <a:t>freq</a:t>
            </a:r>
            <a:r>
              <a:rPr lang="en-US" altLang="en-US" dirty="0"/>
              <a:t> = 4kHz</a:t>
            </a:r>
            <a:endParaRPr lang="en-US" altLang="en-US" b="1" dirty="0"/>
          </a:p>
          <a:p>
            <a:pPr marL="457200" lvl="1" indent="0" algn="just">
              <a:lnSpc>
                <a:spcPct val="100000"/>
              </a:lnSpc>
              <a:buNone/>
            </a:pPr>
            <a:r>
              <a:rPr lang="en-US" altLang="en-US" b="1" dirty="0"/>
              <a:t>		     </a:t>
            </a:r>
            <a:r>
              <a:rPr lang="en-US" altLang="en-US" dirty="0"/>
              <a:t>C 	= BW log</a:t>
            </a:r>
            <a:r>
              <a:rPr lang="en-US" altLang="en-US" baseline="-25000" dirty="0"/>
              <a:t>2</a:t>
            </a:r>
            <a:r>
              <a:rPr lang="en-US" altLang="en-US" dirty="0"/>
              <a:t>(1+S/N)</a:t>
            </a:r>
          </a:p>
          <a:p>
            <a:pPr marL="457200" lvl="1" indent="0" algn="just">
              <a:lnSpc>
                <a:spcPct val="100000"/>
              </a:lnSpc>
              <a:buNone/>
            </a:pPr>
            <a:r>
              <a:rPr lang="en-US" altLang="en-US" dirty="0"/>
              <a:t>	</a:t>
            </a:r>
            <a:r>
              <a:rPr lang="en-US" sz="2400" dirty="0"/>
              <a:t>Therefore C 	= (4000-0) log</a:t>
            </a:r>
            <a:r>
              <a:rPr lang="en-US" sz="2400" baseline="-25000" dirty="0"/>
              <a:t>2</a:t>
            </a:r>
            <a:r>
              <a:rPr lang="en-US" sz="2400" dirty="0"/>
              <a:t>(1+10</a:t>
            </a:r>
            <a:r>
              <a:rPr lang="en-US" sz="2400" baseline="30000" dirty="0"/>
              <a:t>20/10</a:t>
            </a:r>
            <a:r>
              <a:rPr lang="en-US" sz="2400" dirty="0"/>
              <a:t>) </a:t>
            </a:r>
          </a:p>
          <a:p>
            <a:pPr marL="0" indent="0" algn="just">
              <a:lnSpc>
                <a:spcPct val="100000"/>
              </a:lnSpc>
              <a:buNone/>
            </a:pPr>
            <a:r>
              <a:rPr lang="en-US" sz="2400" dirty="0"/>
              <a:t>		    	= 4000 log</a:t>
            </a:r>
            <a:r>
              <a:rPr lang="en-US" sz="2400" baseline="-25000" dirty="0"/>
              <a:t>2</a:t>
            </a:r>
            <a:r>
              <a:rPr lang="en-US" sz="2400" dirty="0"/>
              <a:t>(101)</a:t>
            </a:r>
          </a:p>
          <a:p>
            <a:pPr marL="0" indent="0" algn="just">
              <a:lnSpc>
                <a:spcPct val="100000"/>
              </a:lnSpc>
              <a:buNone/>
            </a:pPr>
            <a:r>
              <a:rPr lang="en-US" sz="2400" dirty="0"/>
              <a:t>                           	= 26.63kbps</a:t>
            </a:r>
            <a:endParaRPr lang="en-SG" sz="2400" dirty="0"/>
          </a:p>
          <a:p>
            <a:pPr algn="just" eaLnBrk="1" hangingPunct="1"/>
            <a:endParaRPr lang="en-US" altLang="en-US" sz="1800" dirty="0"/>
          </a:p>
        </p:txBody>
      </p:sp>
      <p:sp>
        <p:nvSpPr>
          <p:cNvPr id="7" name="Rectangle 2"/>
          <p:cNvSpPr txBox="1">
            <a:spLocks noChangeArrowheads="1"/>
          </p:cNvSpPr>
          <p:nvPr/>
        </p:nvSpPr>
        <p:spPr>
          <a:xfrm>
            <a:off x="883268" y="56945"/>
            <a:ext cx="9650415" cy="9906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GB" sz="3600" b="1" dirty="0">
                <a:solidFill>
                  <a:srgbClr val="C00000"/>
                </a:solidFill>
                <a:latin typeface="+mn-lt"/>
              </a:rPr>
              <a:t>Fundamentals – Capacity Theorem</a:t>
            </a:r>
            <a:endParaRPr lang="en-US" sz="3600" b="1" dirty="0">
              <a:solidFill>
                <a:srgbClr val="C00000"/>
              </a:solidFill>
              <a:latin typeface="+mn-lt"/>
            </a:endParaRPr>
          </a:p>
        </p:txBody>
      </p:sp>
      <p:sp>
        <p:nvSpPr>
          <p:cNvPr id="8" name="Title 1"/>
          <p:cNvSpPr>
            <a:spLocks noGrp="1"/>
          </p:cNvSpPr>
          <p:nvPr>
            <p:ph type="title"/>
          </p:nvPr>
        </p:nvSpPr>
        <p:spPr>
          <a:xfrm>
            <a:off x="883268" y="864752"/>
            <a:ext cx="10515600" cy="549505"/>
          </a:xfrm>
        </p:spPr>
        <p:txBody>
          <a:bodyPr>
            <a:noAutofit/>
          </a:bodyPr>
          <a:lstStyle/>
          <a:p>
            <a:r>
              <a:rPr lang="en-US" sz="2400" b="1" dirty="0">
                <a:solidFill>
                  <a:srgbClr val="C00000"/>
                </a:solidFill>
                <a:latin typeface="Arial Black" panose="020B0A04020102020204" pitchFamily="34" charset="0"/>
              </a:rPr>
              <a:t>Shannon Capacity Theorem </a:t>
            </a:r>
          </a:p>
        </p:txBody>
      </p:sp>
      <p:pic>
        <p:nvPicPr>
          <p:cNvPr id="2" name="Pg14">
            <a:hlinkClick r:id="" action="ppaction://media"/>
            <a:extLst>
              <a:ext uri="{FF2B5EF4-FFF2-40B4-BE49-F238E27FC236}">
                <a16:creationId xmlns:a16="http://schemas.microsoft.com/office/drawing/2014/main" id="{0D2A35E3-CC02-4D84-877C-02826AAE612A}"/>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0228883" y="5688377"/>
            <a:ext cx="609600" cy="609600"/>
          </a:xfrm>
          <a:prstGeom prst="rect">
            <a:avLst/>
          </a:prstGeom>
        </p:spPr>
      </p:pic>
      <p:sp>
        <p:nvSpPr>
          <p:cNvPr id="3" name="Rectangle 2">
            <a:extLst>
              <a:ext uri="{FF2B5EF4-FFF2-40B4-BE49-F238E27FC236}">
                <a16:creationId xmlns:a16="http://schemas.microsoft.com/office/drawing/2014/main" id="{28AF2046-3254-88D3-1C8B-22826C964318}"/>
              </a:ext>
            </a:extLst>
          </p:cNvPr>
          <p:cNvSpPr/>
          <p:nvPr/>
        </p:nvSpPr>
        <p:spPr>
          <a:xfrm>
            <a:off x="0" y="0"/>
            <a:ext cx="1026160" cy="2438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636279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993"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4"/>
          </p:nvPr>
        </p:nvSpPr>
        <p:spPr>
          <a:xfrm>
            <a:off x="4724400" y="6356349"/>
            <a:ext cx="2743200" cy="365125"/>
          </a:xfrm>
        </p:spPr>
        <p:txBody>
          <a:bodyPr/>
          <a:lstStyle/>
          <a:p>
            <a:r>
              <a:rPr lang="en-US" dirty="0"/>
              <a:t>Page </a:t>
            </a:r>
            <a:fld id="{A862897D-0F50-4425-B5E1-82FAA232DFBF}" type="slidenum">
              <a:rPr lang="en-US" smtClean="0"/>
              <a:pPr/>
              <a:t>16</a:t>
            </a:fld>
            <a:r>
              <a:rPr lang="en-US" dirty="0"/>
              <a:t> of 23</a:t>
            </a:r>
          </a:p>
        </p:txBody>
      </p:sp>
      <p:sp>
        <p:nvSpPr>
          <p:cNvPr id="7" name="Rectangle 2"/>
          <p:cNvSpPr txBox="1">
            <a:spLocks noChangeArrowheads="1"/>
          </p:cNvSpPr>
          <p:nvPr/>
        </p:nvSpPr>
        <p:spPr>
          <a:xfrm>
            <a:off x="809717" y="12431"/>
            <a:ext cx="9650415" cy="9906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GB" sz="3600" b="1" dirty="0">
                <a:solidFill>
                  <a:srgbClr val="C00000"/>
                </a:solidFill>
                <a:latin typeface="+mn-lt"/>
              </a:rPr>
              <a:t>Digital Transceiver Architecture</a:t>
            </a:r>
            <a:endParaRPr lang="en-US" sz="3600" b="1" dirty="0">
              <a:solidFill>
                <a:srgbClr val="C00000"/>
              </a:solidFill>
              <a:latin typeface="+mn-lt"/>
            </a:endParaRPr>
          </a:p>
        </p:txBody>
      </p:sp>
      <p:grpSp>
        <p:nvGrpSpPr>
          <p:cNvPr id="6" name="Group 5"/>
          <p:cNvGrpSpPr/>
          <p:nvPr/>
        </p:nvGrpSpPr>
        <p:grpSpPr>
          <a:xfrm>
            <a:off x="1450463" y="802904"/>
            <a:ext cx="9823332" cy="5553445"/>
            <a:chOff x="523875" y="1725869"/>
            <a:chExt cx="8753475" cy="5008306"/>
          </a:xfrm>
        </p:grpSpPr>
        <p:sp>
          <p:nvSpPr>
            <p:cNvPr id="8" name="object 12"/>
            <p:cNvSpPr/>
            <p:nvPr/>
          </p:nvSpPr>
          <p:spPr>
            <a:xfrm>
              <a:off x="1638300" y="2400300"/>
              <a:ext cx="638175" cy="571500"/>
            </a:xfrm>
            <a:custGeom>
              <a:avLst/>
              <a:gdLst/>
              <a:ahLst/>
              <a:cxnLst/>
              <a:rect l="l" t="t" r="r" b="b"/>
              <a:pathLst>
                <a:path w="638175" h="571500">
                  <a:moveTo>
                    <a:pt x="0" y="571500"/>
                  </a:moveTo>
                  <a:lnTo>
                    <a:pt x="638175" y="571500"/>
                  </a:lnTo>
                  <a:lnTo>
                    <a:pt x="638175" y="0"/>
                  </a:lnTo>
                  <a:lnTo>
                    <a:pt x="0" y="0"/>
                  </a:lnTo>
                  <a:lnTo>
                    <a:pt x="0" y="571500"/>
                  </a:lnTo>
                  <a:close/>
                </a:path>
              </a:pathLst>
            </a:custGeom>
            <a:solidFill>
              <a:srgbClr val="B3B3B3"/>
            </a:solidFill>
          </p:spPr>
          <p:txBody>
            <a:bodyPr wrap="square" lIns="0" tIns="0" rIns="0" bIns="0" rtlCol="0">
              <a:noAutofit/>
            </a:bodyPr>
            <a:lstStyle/>
            <a:p>
              <a:endParaRPr/>
            </a:p>
          </p:txBody>
        </p:sp>
        <p:sp>
          <p:nvSpPr>
            <p:cNvPr id="9" name="object 13"/>
            <p:cNvSpPr/>
            <p:nvPr/>
          </p:nvSpPr>
          <p:spPr>
            <a:xfrm>
              <a:off x="1524000" y="2286000"/>
              <a:ext cx="638175" cy="571500"/>
            </a:xfrm>
            <a:custGeom>
              <a:avLst/>
              <a:gdLst/>
              <a:ahLst/>
              <a:cxnLst/>
              <a:rect l="l" t="t" r="r" b="b"/>
              <a:pathLst>
                <a:path w="638175" h="571500">
                  <a:moveTo>
                    <a:pt x="0" y="571500"/>
                  </a:moveTo>
                  <a:lnTo>
                    <a:pt x="638175" y="571500"/>
                  </a:lnTo>
                  <a:lnTo>
                    <a:pt x="638175" y="0"/>
                  </a:lnTo>
                  <a:lnTo>
                    <a:pt x="0" y="0"/>
                  </a:lnTo>
                  <a:lnTo>
                    <a:pt x="0" y="571500"/>
                  </a:lnTo>
                  <a:close/>
                </a:path>
              </a:pathLst>
            </a:custGeom>
            <a:solidFill>
              <a:srgbClr val="00FFFF"/>
            </a:solidFill>
          </p:spPr>
          <p:txBody>
            <a:bodyPr wrap="square" lIns="0" tIns="0" rIns="0" bIns="0" rtlCol="0">
              <a:noAutofit/>
            </a:bodyPr>
            <a:lstStyle/>
            <a:p>
              <a:endParaRPr/>
            </a:p>
          </p:txBody>
        </p:sp>
        <p:sp>
          <p:nvSpPr>
            <p:cNvPr id="10" name="object 14"/>
            <p:cNvSpPr/>
            <p:nvPr/>
          </p:nvSpPr>
          <p:spPr>
            <a:xfrm>
              <a:off x="1524000" y="2286000"/>
              <a:ext cx="638175" cy="571500"/>
            </a:xfrm>
            <a:custGeom>
              <a:avLst/>
              <a:gdLst/>
              <a:ahLst/>
              <a:cxnLst/>
              <a:rect l="l" t="t" r="r" b="b"/>
              <a:pathLst>
                <a:path w="638175" h="571500">
                  <a:moveTo>
                    <a:pt x="0" y="571500"/>
                  </a:moveTo>
                  <a:lnTo>
                    <a:pt x="638175" y="571500"/>
                  </a:lnTo>
                  <a:lnTo>
                    <a:pt x="638175" y="0"/>
                  </a:lnTo>
                  <a:lnTo>
                    <a:pt x="0" y="0"/>
                  </a:lnTo>
                  <a:lnTo>
                    <a:pt x="0" y="571500"/>
                  </a:lnTo>
                  <a:close/>
                </a:path>
              </a:pathLst>
            </a:custGeom>
            <a:ln w="9525">
              <a:solidFill>
                <a:srgbClr val="000000"/>
              </a:solidFill>
            </a:ln>
          </p:spPr>
          <p:txBody>
            <a:bodyPr wrap="square" lIns="0" tIns="0" rIns="0" bIns="0" rtlCol="0">
              <a:noAutofit/>
            </a:bodyPr>
            <a:lstStyle/>
            <a:p>
              <a:endParaRPr/>
            </a:p>
          </p:txBody>
        </p:sp>
        <p:sp>
          <p:nvSpPr>
            <p:cNvPr id="11" name="object 15"/>
            <p:cNvSpPr txBox="1"/>
            <p:nvPr/>
          </p:nvSpPr>
          <p:spPr>
            <a:xfrm>
              <a:off x="1577975" y="2466975"/>
              <a:ext cx="540385" cy="194310"/>
            </a:xfrm>
            <a:prstGeom prst="rect">
              <a:avLst/>
            </a:prstGeom>
          </p:spPr>
          <p:txBody>
            <a:bodyPr vert="horz" wrap="square" lIns="0" tIns="0" rIns="0" bIns="0" rtlCol="0">
              <a:noAutofit/>
            </a:bodyPr>
            <a:lstStyle/>
            <a:p>
              <a:pPr marL="12700">
                <a:lnSpc>
                  <a:spcPct val="100000"/>
                </a:lnSpc>
              </a:pPr>
              <a:r>
                <a:rPr sz="1200" b="1" spc="-5" dirty="0">
                  <a:latin typeface="Arial"/>
                  <a:cs typeface="Arial"/>
                </a:rPr>
                <a:t>Format</a:t>
              </a:r>
              <a:endParaRPr sz="1200">
                <a:latin typeface="Arial"/>
                <a:cs typeface="Arial"/>
              </a:endParaRPr>
            </a:p>
          </p:txBody>
        </p:sp>
        <p:sp>
          <p:nvSpPr>
            <p:cNvPr id="12" name="object 16"/>
            <p:cNvSpPr/>
            <p:nvPr/>
          </p:nvSpPr>
          <p:spPr>
            <a:xfrm>
              <a:off x="4752975" y="2400300"/>
              <a:ext cx="800100" cy="571500"/>
            </a:xfrm>
            <a:custGeom>
              <a:avLst/>
              <a:gdLst/>
              <a:ahLst/>
              <a:cxnLst/>
              <a:rect l="l" t="t" r="r" b="b"/>
              <a:pathLst>
                <a:path w="800100" h="571500">
                  <a:moveTo>
                    <a:pt x="0" y="571500"/>
                  </a:moveTo>
                  <a:lnTo>
                    <a:pt x="800100" y="571500"/>
                  </a:lnTo>
                  <a:lnTo>
                    <a:pt x="800100" y="0"/>
                  </a:lnTo>
                  <a:lnTo>
                    <a:pt x="0" y="0"/>
                  </a:lnTo>
                  <a:lnTo>
                    <a:pt x="0" y="571500"/>
                  </a:lnTo>
                  <a:close/>
                </a:path>
              </a:pathLst>
            </a:custGeom>
            <a:solidFill>
              <a:srgbClr val="B3B3B3"/>
            </a:solidFill>
          </p:spPr>
          <p:txBody>
            <a:bodyPr wrap="square" lIns="0" tIns="0" rIns="0" bIns="0" rtlCol="0">
              <a:noAutofit/>
            </a:bodyPr>
            <a:lstStyle/>
            <a:p>
              <a:endParaRPr/>
            </a:p>
          </p:txBody>
        </p:sp>
        <p:sp>
          <p:nvSpPr>
            <p:cNvPr id="13" name="object 17"/>
            <p:cNvSpPr/>
            <p:nvPr/>
          </p:nvSpPr>
          <p:spPr>
            <a:xfrm>
              <a:off x="4638675" y="2286000"/>
              <a:ext cx="800100" cy="571500"/>
            </a:xfrm>
            <a:custGeom>
              <a:avLst/>
              <a:gdLst/>
              <a:ahLst/>
              <a:cxnLst/>
              <a:rect l="l" t="t" r="r" b="b"/>
              <a:pathLst>
                <a:path w="800100" h="571500">
                  <a:moveTo>
                    <a:pt x="0" y="571500"/>
                  </a:moveTo>
                  <a:lnTo>
                    <a:pt x="800100" y="571500"/>
                  </a:lnTo>
                  <a:lnTo>
                    <a:pt x="800100" y="0"/>
                  </a:lnTo>
                  <a:lnTo>
                    <a:pt x="0" y="0"/>
                  </a:lnTo>
                  <a:lnTo>
                    <a:pt x="0" y="571500"/>
                  </a:lnTo>
                  <a:close/>
                </a:path>
              </a:pathLst>
            </a:custGeom>
            <a:solidFill>
              <a:srgbClr val="FFFFFF"/>
            </a:solidFill>
          </p:spPr>
          <p:txBody>
            <a:bodyPr wrap="square" lIns="0" tIns="0" rIns="0" bIns="0" rtlCol="0">
              <a:noAutofit/>
            </a:bodyPr>
            <a:lstStyle/>
            <a:p>
              <a:endParaRPr/>
            </a:p>
          </p:txBody>
        </p:sp>
        <p:sp>
          <p:nvSpPr>
            <p:cNvPr id="14" name="object 18"/>
            <p:cNvSpPr/>
            <p:nvPr/>
          </p:nvSpPr>
          <p:spPr>
            <a:xfrm>
              <a:off x="4638675" y="2286000"/>
              <a:ext cx="800100" cy="571500"/>
            </a:xfrm>
            <a:custGeom>
              <a:avLst/>
              <a:gdLst/>
              <a:ahLst/>
              <a:cxnLst/>
              <a:rect l="l" t="t" r="r" b="b"/>
              <a:pathLst>
                <a:path w="800100" h="571500">
                  <a:moveTo>
                    <a:pt x="0" y="571500"/>
                  </a:moveTo>
                  <a:lnTo>
                    <a:pt x="800100" y="571500"/>
                  </a:lnTo>
                  <a:lnTo>
                    <a:pt x="800100" y="0"/>
                  </a:lnTo>
                  <a:lnTo>
                    <a:pt x="0" y="0"/>
                  </a:lnTo>
                  <a:lnTo>
                    <a:pt x="0" y="571500"/>
                  </a:lnTo>
                  <a:close/>
                </a:path>
              </a:pathLst>
            </a:custGeom>
            <a:ln w="9525">
              <a:solidFill>
                <a:srgbClr val="000000"/>
              </a:solidFill>
            </a:ln>
          </p:spPr>
          <p:txBody>
            <a:bodyPr wrap="square" lIns="0" tIns="0" rIns="0" bIns="0" rtlCol="0">
              <a:noAutofit/>
            </a:bodyPr>
            <a:lstStyle/>
            <a:p>
              <a:endParaRPr/>
            </a:p>
          </p:txBody>
        </p:sp>
        <p:sp>
          <p:nvSpPr>
            <p:cNvPr id="15" name="object 19"/>
            <p:cNvSpPr txBox="1"/>
            <p:nvPr/>
          </p:nvSpPr>
          <p:spPr>
            <a:xfrm>
              <a:off x="4692650" y="2466975"/>
              <a:ext cx="682625" cy="194310"/>
            </a:xfrm>
            <a:prstGeom prst="rect">
              <a:avLst/>
            </a:prstGeom>
          </p:spPr>
          <p:txBody>
            <a:bodyPr vert="horz" wrap="square" lIns="0" tIns="0" rIns="0" bIns="0" rtlCol="0">
              <a:noAutofit/>
            </a:bodyPr>
            <a:lstStyle/>
            <a:p>
              <a:pPr marL="12700">
                <a:lnSpc>
                  <a:spcPct val="100000"/>
                </a:lnSpc>
              </a:pPr>
              <a:r>
                <a:rPr sz="1200" b="1" spc="-15" dirty="0">
                  <a:latin typeface="Arial"/>
                  <a:cs typeface="Arial"/>
                </a:rPr>
                <a:t>Multiplex</a:t>
              </a:r>
              <a:endParaRPr sz="1200" dirty="0">
                <a:latin typeface="Arial"/>
                <a:cs typeface="Arial"/>
              </a:endParaRPr>
            </a:p>
          </p:txBody>
        </p:sp>
        <p:sp>
          <p:nvSpPr>
            <p:cNvPr id="16" name="object 20"/>
            <p:cNvSpPr/>
            <p:nvPr/>
          </p:nvSpPr>
          <p:spPr>
            <a:xfrm>
              <a:off x="3657600" y="2400300"/>
              <a:ext cx="742950" cy="571500"/>
            </a:xfrm>
            <a:custGeom>
              <a:avLst/>
              <a:gdLst/>
              <a:ahLst/>
              <a:cxnLst/>
              <a:rect l="l" t="t" r="r" b="b"/>
              <a:pathLst>
                <a:path w="742950" h="571500">
                  <a:moveTo>
                    <a:pt x="0" y="571500"/>
                  </a:moveTo>
                  <a:lnTo>
                    <a:pt x="742950" y="571500"/>
                  </a:lnTo>
                  <a:lnTo>
                    <a:pt x="742950" y="0"/>
                  </a:lnTo>
                  <a:lnTo>
                    <a:pt x="0" y="0"/>
                  </a:lnTo>
                  <a:lnTo>
                    <a:pt x="0" y="571500"/>
                  </a:lnTo>
                  <a:close/>
                </a:path>
              </a:pathLst>
            </a:custGeom>
            <a:solidFill>
              <a:srgbClr val="B3B3B3"/>
            </a:solidFill>
          </p:spPr>
          <p:txBody>
            <a:bodyPr wrap="square" lIns="0" tIns="0" rIns="0" bIns="0" rtlCol="0">
              <a:noAutofit/>
            </a:bodyPr>
            <a:lstStyle/>
            <a:p>
              <a:endParaRPr/>
            </a:p>
          </p:txBody>
        </p:sp>
        <p:sp>
          <p:nvSpPr>
            <p:cNvPr id="17" name="object 21"/>
            <p:cNvSpPr/>
            <p:nvPr/>
          </p:nvSpPr>
          <p:spPr>
            <a:xfrm>
              <a:off x="3543300" y="2286000"/>
              <a:ext cx="742950" cy="571500"/>
            </a:xfrm>
            <a:custGeom>
              <a:avLst/>
              <a:gdLst/>
              <a:ahLst/>
              <a:cxnLst/>
              <a:rect l="l" t="t" r="r" b="b"/>
              <a:pathLst>
                <a:path w="742950" h="571500">
                  <a:moveTo>
                    <a:pt x="0" y="571500"/>
                  </a:moveTo>
                  <a:lnTo>
                    <a:pt x="742950" y="571500"/>
                  </a:lnTo>
                  <a:lnTo>
                    <a:pt x="742950" y="0"/>
                  </a:lnTo>
                  <a:lnTo>
                    <a:pt x="0" y="0"/>
                  </a:lnTo>
                  <a:lnTo>
                    <a:pt x="0" y="571500"/>
                  </a:lnTo>
                  <a:close/>
                </a:path>
              </a:pathLst>
            </a:custGeom>
            <a:solidFill>
              <a:srgbClr val="FFFFFF"/>
            </a:solidFill>
          </p:spPr>
          <p:txBody>
            <a:bodyPr wrap="square" lIns="0" tIns="0" rIns="0" bIns="0" rtlCol="0">
              <a:noAutofit/>
            </a:bodyPr>
            <a:lstStyle/>
            <a:p>
              <a:endParaRPr/>
            </a:p>
          </p:txBody>
        </p:sp>
        <p:sp>
          <p:nvSpPr>
            <p:cNvPr id="18" name="object 22"/>
            <p:cNvSpPr/>
            <p:nvPr/>
          </p:nvSpPr>
          <p:spPr>
            <a:xfrm>
              <a:off x="3543300" y="2286000"/>
              <a:ext cx="742950" cy="571500"/>
            </a:xfrm>
            <a:custGeom>
              <a:avLst/>
              <a:gdLst/>
              <a:ahLst/>
              <a:cxnLst/>
              <a:rect l="l" t="t" r="r" b="b"/>
              <a:pathLst>
                <a:path w="742950" h="571500">
                  <a:moveTo>
                    <a:pt x="0" y="571500"/>
                  </a:moveTo>
                  <a:lnTo>
                    <a:pt x="742950" y="571500"/>
                  </a:lnTo>
                  <a:lnTo>
                    <a:pt x="742950" y="0"/>
                  </a:lnTo>
                  <a:lnTo>
                    <a:pt x="0" y="0"/>
                  </a:lnTo>
                  <a:lnTo>
                    <a:pt x="0" y="571500"/>
                  </a:lnTo>
                  <a:close/>
                </a:path>
              </a:pathLst>
            </a:custGeom>
            <a:ln w="9525">
              <a:solidFill>
                <a:srgbClr val="000000"/>
              </a:solidFill>
            </a:ln>
          </p:spPr>
          <p:txBody>
            <a:bodyPr wrap="square" lIns="0" tIns="0" rIns="0" bIns="0" rtlCol="0">
              <a:noAutofit/>
            </a:bodyPr>
            <a:lstStyle/>
            <a:p>
              <a:endParaRPr/>
            </a:p>
          </p:txBody>
        </p:sp>
        <p:sp>
          <p:nvSpPr>
            <p:cNvPr id="19" name="object 23"/>
            <p:cNvSpPr txBox="1"/>
            <p:nvPr/>
          </p:nvSpPr>
          <p:spPr>
            <a:xfrm>
              <a:off x="3597275" y="2371725"/>
              <a:ext cx="625475" cy="194310"/>
            </a:xfrm>
            <a:prstGeom prst="rect">
              <a:avLst/>
            </a:prstGeom>
          </p:spPr>
          <p:txBody>
            <a:bodyPr vert="horz" wrap="square" lIns="0" tIns="0" rIns="0" bIns="0" rtlCol="0">
              <a:noAutofit/>
            </a:bodyPr>
            <a:lstStyle/>
            <a:p>
              <a:pPr marL="12700">
                <a:lnSpc>
                  <a:spcPct val="100000"/>
                </a:lnSpc>
              </a:pPr>
              <a:r>
                <a:rPr sz="1200" b="1" spc="-15" dirty="0">
                  <a:latin typeface="Arial"/>
                  <a:cs typeface="Arial"/>
                </a:rPr>
                <a:t>Channel</a:t>
              </a:r>
              <a:endParaRPr sz="1200">
                <a:latin typeface="Arial"/>
                <a:cs typeface="Arial"/>
              </a:endParaRPr>
            </a:p>
          </p:txBody>
        </p:sp>
        <p:sp>
          <p:nvSpPr>
            <p:cNvPr id="20" name="object 24"/>
            <p:cNvSpPr txBox="1"/>
            <p:nvPr/>
          </p:nvSpPr>
          <p:spPr>
            <a:xfrm>
              <a:off x="3597275" y="2562225"/>
              <a:ext cx="635000" cy="194310"/>
            </a:xfrm>
            <a:prstGeom prst="rect">
              <a:avLst/>
            </a:prstGeom>
          </p:spPr>
          <p:txBody>
            <a:bodyPr vert="horz" wrap="square" lIns="0" tIns="0" rIns="0" bIns="0" rtlCol="0">
              <a:noAutofit/>
            </a:bodyPr>
            <a:lstStyle/>
            <a:p>
              <a:pPr marL="12700">
                <a:lnSpc>
                  <a:spcPct val="100000"/>
                </a:lnSpc>
              </a:pPr>
              <a:r>
                <a:rPr sz="1200" b="1" spc="-15" dirty="0">
                  <a:latin typeface="Arial"/>
                  <a:cs typeface="Arial"/>
                </a:rPr>
                <a:t>Encoder</a:t>
              </a:r>
              <a:endParaRPr sz="1200">
                <a:latin typeface="Arial"/>
                <a:cs typeface="Arial"/>
              </a:endParaRPr>
            </a:p>
          </p:txBody>
        </p:sp>
        <p:sp>
          <p:nvSpPr>
            <p:cNvPr id="21" name="object 25"/>
            <p:cNvSpPr/>
            <p:nvPr/>
          </p:nvSpPr>
          <p:spPr>
            <a:xfrm>
              <a:off x="2600325" y="2400300"/>
              <a:ext cx="742950" cy="571500"/>
            </a:xfrm>
            <a:custGeom>
              <a:avLst/>
              <a:gdLst/>
              <a:ahLst/>
              <a:cxnLst/>
              <a:rect l="l" t="t" r="r" b="b"/>
              <a:pathLst>
                <a:path w="742950" h="571500">
                  <a:moveTo>
                    <a:pt x="0" y="571500"/>
                  </a:moveTo>
                  <a:lnTo>
                    <a:pt x="742950" y="571500"/>
                  </a:lnTo>
                  <a:lnTo>
                    <a:pt x="742950" y="0"/>
                  </a:lnTo>
                  <a:lnTo>
                    <a:pt x="0" y="0"/>
                  </a:lnTo>
                  <a:lnTo>
                    <a:pt x="0" y="571500"/>
                  </a:lnTo>
                  <a:close/>
                </a:path>
              </a:pathLst>
            </a:custGeom>
            <a:solidFill>
              <a:srgbClr val="B3B3B3"/>
            </a:solidFill>
          </p:spPr>
          <p:txBody>
            <a:bodyPr wrap="square" lIns="0" tIns="0" rIns="0" bIns="0" rtlCol="0">
              <a:noAutofit/>
            </a:bodyPr>
            <a:lstStyle/>
            <a:p>
              <a:endParaRPr/>
            </a:p>
          </p:txBody>
        </p:sp>
        <p:sp>
          <p:nvSpPr>
            <p:cNvPr id="22" name="object 26"/>
            <p:cNvSpPr/>
            <p:nvPr/>
          </p:nvSpPr>
          <p:spPr>
            <a:xfrm>
              <a:off x="2476500" y="2286000"/>
              <a:ext cx="742950" cy="571500"/>
            </a:xfrm>
            <a:custGeom>
              <a:avLst/>
              <a:gdLst/>
              <a:ahLst/>
              <a:cxnLst/>
              <a:rect l="l" t="t" r="r" b="b"/>
              <a:pathLst>
                <a:path w="742950" h="571500">
                  <a:moveTo>
                    <a:pt x="0" y="571500"/>
                  </a:moveTo>
                  <a:lnTo>
                    <a:pt x="742950" y="571500"/>
                  </a:lnTo>
                  <a:lnTo>
                    <a:pt x="742950" y="0"/>
                  </a:lnTo>
                  <a:lnTo>
                    <a:pt x="0" y="0"/>
                  </a:lnTo>
                  <a:lnTo>
                    <a:pt x="0" y="571500"/>
                  </a:lnTo>
                  <a:close/>
                </a:path>
              </a:pathLst>
            </a:custGeom>
            <a:solidFill>
              <a:srgbClr val="00FFFF"/>
            </a:solidFill>
          </p:spPr>
          <p:txBody>
            <a:bodyPr wrap="square" lIns="0" tIns="0" rIns="0" bIns="0" rtlCol="0">
              <a:noAutofit/>
            </a:bodyPr>
            <a:lstStyle/>
            <a:p>
              <a:endParaRPr/>
            </a:p>
          </p:txBody>
        </p:sp>
        <p:sp>
          <p:nvSpPr>
            <p:cNvPr id="23" name="object 27"/>
            <p:cNvSpPr/>
            <p:nvPr/>
          </p:nvSpPr>
          <p:spPr>
            <a:xfrm>
              <a:off x="2476500" y="2286000"/>
              <a:ext cx="742950" cy="571500"/>
            </a:xfrm>
            <a:custGeom>
              <a:avLst/>
              <a:gdLst/>
              <a:ahLst/>
              <a:cxnLst/>
              <a:rect l="l" t="t" r="r" b="b"/>
              <a:pathLst>
                <a:path w="742950" h="571500">
                  <a:moveTo>
                    <a:pt x="0" y="571500"/>
                  </a:moveTo>
                  <a:lnTo>
                    <a:pt x="742950" y="571500"/>
                  </a:lnTo>
                  <a:lnTo>
                    <a:pt x="742950" y="0"/>
                  </a:lnTo>
                  <a:lnTo>
                    <a:pt x="0" y="0"/>
                  </a:lnTo>
                  <a:lnTo>
                    <a:pt x="0" y="571500"/>
                  </a:lnTo>
                  <a:close/>
                </a:path>
              </a:pathLst>
            </a:custGeom>
            <a:ln w="9525">
              <a:solidFill>
                <a:srgbClr val="000000"/>
              </a:solidFill>
            </a:ln>
          </p:spPr>
          <p:txBody>
            <a:bodyPr wrap="square" lIns="0" tIns="0" rIns="0" bIns="0" rtlCol="0">
              <a:noAutofit/>
            </a:bodyPr>
            <a:lstStyle/>
            <a:p>
              <a:endParaRPr/>
            </a:p>
          </p:txBody>
        </p:sp>
        <p:sp>
          <p:nvSpPr>
            <p:cNvPr id="24" name="object 28"/>
            <p:cNvSpPr txBox="1"/>
            <p:nvPr/>
          </p:nvSpPr>
          <p:spPr>
            <a:xfrm>
              <a:off x="2587625" y="2371725"/>
              <a:ext cx="540385" cy="194310"/>
            </a:xfrm>
            <a:prstGeom prst="rect">
              <a:avLst/>
            </a:prstGeom>
          </p:spPr>
          <p:txBody>
            <a:bodyPr vert="horz" wrap="square" lIns="0" tIns="0" rIns="0" bIns="0" rtlCol="0">
              <a:noAutofit/>
            </a:bodyPr>
            <a:lstStyle/>
            <a:p>
              <a:pPr marL="12700">
                <a:lnSpc>
                  <a:spcPct val="100000"/>
                </a:lnSpc>
              </a:pPr>
              <a:r>
                <a:rPr sz="1200" b="1" spc="-5" dirty="0">
                  <a:latin typeface="Arial"/>
                  <a:cs typeface="Arial"/>
                </a:rPr>
                <a:t>Source</a:t>
              </a:r>
              <a:endParaRPr sz="1200">
                <a:latin typeface="Arial"/>
                <a:cs typeface="Arial"/>
              </a:endParaRPr>
            </a:p>
          </p:txBody>
        </p:sp>
        <p:sp>
          <p:nvSpPr>
            <p:cNvPr id="25" name="object 29"/>
            <p:cNvSpPr txBox="1"/>
            <p:nvPr/>
          </p:nvSpPr>
          <p:spPr>
            <a:xfrm>
              <a:off x="2530475" y="2562225"/>
              <a:ext cx="635000" cy="194310"/>
            </a:xfrm>
            <a:prstGeom prst="rect">
              <a:avLst/>
            </a:prstGeom>
          </p:spPr>
          <p:txBody>
            <a:bodyPr vert="horz" wrap="square" lIns="0" tIns="0" rIns="0" bIns="0" rtlCol="0">
              <a:noAutofit/>
            </a:bodyPr>
            <a:lstStyle/>
            <a:p>
              <a:pPr marL="12700">
                <a:lnSpc>
                  <a:spcPct val="100000"/>
                </a:lnSpc>
              </a:pPr>
              <a:r>
                <a:rPr sz="1200" b="1" spc="-15" dirty="0">
                  <a:latin typeface="Arial"/>
                  <a:cs typeface="Arial"/>
                </a:rPr>
                <a:t>Encoder</a:t>
              </a:r>
              <a:endParaRPr sz="1200">
                <a:latin typeface="Arial"/>
                <a:cs typeface="Arial"/>
              </a:endParaRPr>
            </a:p>
          </p:txBody>
        </p:sp>
        <p:sp>
          <p:nvSpPr>
            <p:cNvPr id="26" name="object 30"/>
            <p:cNvSpPr/>
            <p:nvPr/>
          </p:nvSpPr>
          <p:spPr>
            <a:xfrm>
              <a:off x="7153275" y="2400300"/>
              <a:ext cx="638175" cy="571500"/>
            </a:xfrm>
            <a:custGeom>
              <a:avLst/>
              <a:gdLst/>
              <a:ahLst/>
              <a:cxnLst/>
              <a:rect l="l" t="t" r="r" b="b"/>
              <a:pathLst>
                <a:path w="638175" h="571500">
                  <a:moveTo>
                    <a:pt x="0" y="571500"/>
                  </a:moveTo>
                  <a:lnTo>
                    <a:pt x="638175" y="571500"/>
                  </a:lnTo>
                  <a:lnTo>
                    <a:pt x="638175" y="0"/>
                  </a:lnTo>
                  <a:lnTo>
                    <a:pt x="0" y="0"/>
                  </a:lnTo>
                  <a:lnTo>
                    <a:pt x="0" y="571500"/>
                  </a:lnTo>
                  <a:close/>
                </a:path>
              </a:pathLst>
            </a:custGeom>
            <a:solidFill>
              <a:srgbClr val="B3B3B3"/>
            </a:solidFill>
          </p:spPr>
          <p:txBody>
            <a:bodyPr wrap="square" lIns="0" tIns="0" rIns="0" bIns="0" rtlCol="0">
              <a:noAutofit/>
            </a:bodyPr>
            <a:lstStyle/>
            <a:p>
              <a:endParaRPr/>
            </a:p>
          </p:txBody>
        </p:sp>
        <p:sp>
          <p:nvSpPr>
            <p:cNvPr id="27" name="object 31"/>
            <p:cNvSpPr/>
            <p:nvPr/>
          </p:nvSpPr>
          <p:spPr>
            <a:xfrm>
              <a:off x="7038975" y="2286000"/>
              <a:ext cx="638175" cy="571500"/>
            </a:xfrm>
            <a:custGeom>
              <a:avLst/>
              <a:gdLst/>
              <a:ahLst/>
              <a:cxnLst/>
              <a:rect l="l" t="t" r="r" b="b"/>
              <a:pathLst>
                <a:path w="638175" h="571500">
                  <a:moveTo>
                    <a:pt x="0" y="571500"/>
                  </a:moveTo>
                  <a:lnTo>
                    <a:pt x="638175" y="571500"/>
                  </a:lnTo>
                  <a:lnTo>
                    <a:pt x="638175" y="0"/>
                  </a:lnTo>
                  <a:lnTo>
                    <a:pt x="0" y="0"/>
                  </a:lnTo>
                  <a:lnTo>
                    <a:pt x="0" y="571500"/>
                  </a:lnTo>
                  <a:close/>
                </a:path>
              </a:pathLst>
            </a:custGeom>
            <a:solidFill>
              <a:srgbClr val="FFFFFF"/>
            </a:solidFill>
          </p:spPr>
          <p:txBody>
            <a:bodyPr wrap="square" lIns="0" tIns="0" rIns="0" bIns="0" rtlCol="0">
              <a:noAutofit/>
            </a:bodyPr>
            <a:lstStyle/>
            <a:p>
              <a:endParaRPr/>
            </a:p>
          </p:txBody>
        </p:sp>
        <p:sp>
          <p:nvSpPr>
            <p:cNvPr id="28" name="object 32"/>
            <p:cNvSpPr/>
            <p:nvPr/>
          </p:nvSpPr>
          <p:spPr>
            <a:xfrm>
              <a:off x="7038975" y="2286000"/>
              <a:ext cx="638175" cy="571500"/>
            </a:xfrm>
            <a:custGeom>
              <a:avLst/>
              <a:gdLst/>
              <a:ahLst/>
              <a:cxnLst/>
              <a:rect l="l" t="t" r="r" b="b"/>
              <a:pathLst>
                <a:path w="638175" h="571500">
                  <a:moveTo>
                    <a:pt x="0" y="571500"/>
                  </a:moveTo>
                  <a:lnTo>
                    <a:pt x="638175" y="571500"/>
                  </a:lnTo>
                  <a:lnTo>
                    <a:pt x="638175" y="0"/>
                  </a:lnTo>
                  <a:lnTo>
                    <a:pt x="0" y="0"/>
                  </a:lnTo>
                  <a:lnTo>
                    <a:pt x="0" y="571500"/>
                  </a:lnTo>
                  <a:close/>
                </a:path>
              </a:pathLst>
            </a:custGeom>
            <a:ln w="9525">
              <a:solidFill>
                <a:srgbClr val="000000"/>
              </a:solidFill>
            </a:ln>
          </p:spPr>
          <p:txBody>
            <a:bodyPr wrap="square" lIns="0" tIns="0" rIns="0" bIns="0" rtlCol="0">
              <a:noAutofit/>
            </a:bodyPr>
            <a:lstStyle/>
            <a:p>
              <a:endParaRPr/>
            </a:p>
          </p:txBody>
        </p:sp>
        <p:sp>
          <p:nvSpPr>
            <p:cNvPr id="29" name="object 33"/>
            <p:cNvSpPr txBox="1"/>
            <p:nvPr/>
          </p:nvSpPr>
          <p:spPr>
            <a:xfrm>
              <a:off x="7083425" y="2466975"/>
              <a:ext cx="530860" cy="194310"/>
            </a:xfrm>
            <a:prstGeom prst="rect">
              <a:avLst/>
            </a:prstGeom>
          </p:spPr>
          <p:txBody>
            <a:bodyPr vert="horz" wrap="square" lIns="0" tIns="0" rIns="0" bIns="0" rtlCol="0">
              <a:noAutofit/>
            </a:bodyPr>
            <a:lstStyle/>
            <a:p>
              <a:pPr marL="12700">
                <a:lnSpc>
                  <a:spcPct val="100000"/>
                </a:lnSpc>
              </a:pPr>
              <a:r>
                <a:rPr sz="1200" b="1" spc="-20" dirty="0">
                  <a:latin typeface="Arial"/>
                  <a:cs typeface="Arial"/>
                </a:rPr>
                <a:t>Spread</a:t>
              </a:r>
              <a:endParaRPr sz="1200">
                <a:latin typeface="Arial"/>
                <a:cs typeface="Arial"/>
              </a:endParaRPr>
            </a:p>
          </p:txBody>
        </p:sp>
        <p:sp>
          <p:nvSpPr>
            <p:cNvPr id="30" name="object 34"/>
            <p:cNvSpPr/>
            <p:nvPr/>
          </p:nvSpPr>
          <p:spPr>
            <a:xfrm>
              <a:off x="1657350" y="5248275"/>
              <a:ext cx="638175" cy="571500"/>
            </a:xfrm>
            <a:custGeom>
              <a:avLst/>
              <a:gdLst/>
              <a:ahLst/>
              <a:cxnLst/>
              <a:rect l="l" t="t" r="r" b="b"/>
              <a:pathLst>
                <a:path w="638175" h="571500">
                  <a:moveTo>
                    <a:pt x="0" y="571500"/>
                  </a:moveTo>
                  <a:lnTo>
                    <a:pt x="638175" y="571500"/>
                  </a:lnTo>
                  <a:lnTo>
                    <a:pt x="638175" y="0"/>
                  </a:lnTo>
                  <a:lnTo>
                    <a:pt x="0" y="0"/>
                  </a:lnTo>
                  <a:lnTo>
                    <a:pt x="0" y="571500"/>
                  </a:lnTo>
                  <a:close/>
                </a:path>
              </a:pathLst>
            </a:custGeom>
            <a:solidFill>
              <a:srgbClr val="B3B3B3"/>
            </a:solidFill>
          </p:spPr>
          <p:txBody>
            <a:bodyPr wrap="square" lIns="0" tIns="0" rIns="0" bIns="0" rtlCol="0">
              <a:noAutofit/>
            </a:bodyPr>
            <a:lstStyle/>
            <a:p>
              <a:endParaRPr/>
            </a:p>
          </p:txBody>
        </p:sp>
        <p:sp>
          <p:nvSpPr>
            <p:cNvPr id="31" name="object 35"/>
            <p:cNvSpPr/>
            <p:nvPr/>
          </p:nvSpPr>
          <p:spPr>
            <a:xfrm>
              <a:off x="1543050" y="5133975"/>
              <a:ext cx="638175" cy="571500"/>
            </a:xfrm>
            <a:custGeom>
              <a:avLst/>
              <a:gdLst/>
              <a:ahLst/>
              <a:cxnLst/>
              <a:rect l="l" t="t" r="r" b="b"/>
              <a:pathLst>
                <a:path w="638175" h="571500">
                  <a:moveTo>
                    <a:pt x="0" y="571500"/>
                  </a:moveTo>
                  <a:lnTo>
                    <a:pt x="638175" y="571500"/>
                  </a:lnTo>
                  <a:lnTo>
                    <a:pt x="638175" y="0"/>
                  </a:lnTo>
                  <a:lnTo>
                    <a:pt x="0" y="0"/>
                  </a:lnTo>
                  <a:lnTo>
                    <a:pt x="0" y="571500"/>
                  </a:lnTo>
                  <a:close/>
                </a:path>
              </a:pathLst>
            </a:custGeom>
            <a:solidFill>
              <a:srgbClr val="00FFFF"/>
            </a:solidFill>
          </p:spPr>
          <p:txBody>
            <a:bodyPr wrap="square" lIns="0" tIns="0" rIns="0" bIns="0" rtlCol="0">
              <a:noAutofit/>
            </a:bodyPr>
            <a:lstStyle/>
            <a:p>
              <a:endParaRPr/>
            </a:p>
          </p:txBody>
        </p:sp>
        <p:sp>
          <p:nvSpPr>
            <p:cNvPr id="32" name="object 36"/>
            <p:cNvSpPr/>
            <p:nvPr/>
          </p:nvSpPr>
          <p:spPr>
            <a:xfrm>
              <a:off x="1543050" y="5133975"/>
              <a:ext cx="638175" cy="571500"/>
            </a:xfrm>
            <a:custGeom>
              <a:avLst/>
              <a:gdLst/>
              <a:ahLst/>
              <a:cxnLst/>
              <a:rect l="l" t="t" r="r" b="b"/>
              <a:pathLst>
                <a:path w="638175" h="571500">
                  <a:moveTo>
                    <a:pt x="0" y="571500"/>
                  </a:moveTo>
                  <a:lnTo>
                    <a:pt x="638175" y="571500"/>
                  </a:lnTo>
                  <a:lnTo>
                    <a:pt x="638175" y="0"/>
                  </a:lnTo>
                  <a:lnTo>
                    <a:pt x="0" y="0"/>
                  </a:lnTo>
                  <a:lnTo>
                    <a:pt x="0" y="571500"/>
                  </a:lnTo>
                  <a:close/>
                </a:path>
              </a:pathLst>
            </a:custGeom>
            <a:ln w="9525">
              <a:solidFill>
                <a:srgbClr val="000000"/>
              </a:solidFill>
            </a:ln>
          </p:spPr>
          <p:txBody>
            <a:bodyPr wrap="square" lIns="0" tIns="0" rIns="0" bIns="0" rtlCol="0">
              <a:noAutofit/>
            </a:bodyPr>
            <a:lstStyle/>
            <a:p>
              <a:endParaRPr/>
            </a:p>
          </p:txBody>
        </p:sp>
        <p:sp>
          <p:nvSpPr>
            <p:cNvPr id="33" name="object 37"/>
            <p:cNvSpPr txBox="1"/>
            <p:nvPr/>
          </p:nvSpPr>
          <p:spPr>
            <a:xfrm>
              <a:off x="1587500" y="5314950"/>
              <a:ext cx="540385" cy="194310"/>
            </a:xfrm>
            <a:prstGeom prst="rect">
              <a:avLst/>
            </a:prstGeom>
          </p:spPr>
          <p:txBody>
            <a:bodyPr vert="horz" wrap="square" lIns="0" tIns="0" rIns="0" bIns="0" rtlCol="0">
              <a:noAutofit/>
            </a:bodyPr>
            <a:lstStyle/>
            <a:p>
              <a:pPr marL="12700">
                <a:lnSpc>
                  <a:spcPct val="100000"/>
                </a:lnSpc>
              </a:pPr>
              <a:r>
                <a:rPr sz="1200" b="1" spc="-5" dirty="0">
                  <a:latin typeface="Arial"/>
                  <a:cs typeface="Arial"/>
                </a:rPr>
                <a:t>Format</a:t>
              </a:r>
              <a:endParaRPr sz="1200">
                <a:latin typeface="Arial"/>
                <a:cs typeface="Arial"/>
              </a:endParaRPr>
            </a:p>
          </p:txBody>
        </p:sp>
        <p:sp>
          <p:nvSpPr>
            <p:cNvPr id="34" name="object 38"/>
            <p:cNvSpPr/>
            <p:nvPr/>
          </p:nvSpPr>
          <p:spPr>
            <a:xfrm>
              <a:off x="4695825" y="5248275"/>
              <a:ext cx="990600" cy="571500"/>
            </a:xfrm>
            <a:custGeom>
              <a:avLst/>
              <a:gdLst/>
              <a:ahLst/>
              <a:cxnLst/>
              <a:rect l="l" t="t" r="r" b="b"/>
              <a:pathLst>
                <a:path w="990600" h="571500">
                  <a:moveTo>
                    <a:pt x="0" y="571500"/>
                  </a:moveTo>
                  <a:lnTo>
                    <a:pt x="990600" y="571500"/>
                  </a:lnTo>
                  <a:lnTo>
                    <a:pt x="990600" y="0"/>
                  </a:lnTo>
                  <a:lnTo>
                    <a:pt x="0" y="0"/>
                  </a:lnTo>
                  <a:lnTo>
                    <a:pt x="0" y="571500"/>
                  </a:lnTo>
                  <a:close/>
                </a:path>
              </a:pathLst>
            </a:custGeom>
            <a:solidFill>
              <a:srgbClr val="B3B3B3"/>
            </a:solidFill>
          </p:spPr>
          <p:txBody>
            <a:bodyPr wrap="square" lIns="0" tIns="0" rIns="0" bIns="0" rtlCol="0">
              <a:noAutofit/>
            </a:bodyPr>
            <a:lstStyle/>
            <a:p>
              <a:endParaRPr/>
            </a:p>
          </p:txBody>
        </p:sp>
        <p:sp>
          <p:nvSpPr>
            <p:cNvPr id="35" name="object 39"/>
            <p:cNvSpPr/>
            <p:nvPr/>
          </p:nvSpPr>
          <p:spPr>
            <a:xfrm>
              <a:off x="4581525" y="5133975"/>
              <a:ext cx="981075" cy="571500"/>
            </a:xfrm>
            <a:custGeom>
              <a:avLst/>
              <a:gdLst/>
              <a:ahLst/>
              <a:cxnLst/>
              <a:rect l="l" t="t" r="r" b="b"/>
              <a:pathLst>
                <a:path w="981075" h="571500">
                  <a:moveTo>
                    <a:pt x="0" y="571500"/>
                  </a:moveTo>
                  <a:lnTo>
                    <a:pt x="981075" y="571500"/>
                  </a:lnTo>
                  <a:lnTo>
                    <a:pt x="981075" y="0"/>
                  </a:lnTo>
                  <a:lnTo>
                    <a:pt x="0" y="0"/>
                  </a:lnTo>
                  <a:lnTo>
                    <a:pt x="0" y="571500"/>
                  </a:lnTo>
                  <a:close/>
                </a:path>
              </a:pathLst>
            </a:custGeom>
            <a:solidFill>
              <a:srgbClr val="FFFFFF"/>
            </a:solidFill>
          </p:spPr>
          <p:txBody>
            <a:bodyPr wrap="square" lIns="0" tIns="0" rIns="0" bIns="0" rtlCol="0">
              <a:noAutofit/>
            </a:bodyPr>
            <a:lstStyle/>
            <a:p>
              <a:endParaRPr/>
            </a:p>
          </p:txBody>
        </p:sp>
        <p:sp>
          <p:nvSpPr>
            <p:cNvPr id="36" name="object 40"/>
            <p:cNvSpPr/>
            <p:nvPr/>
          </p:nvSpPr>
          <p:spPr>
            <a:xfrm>
              <a:off x="4581525" y="5133975"/>
              <a:ext cx="981075" cy="571500"/>
            </a:xfrm>
            <a:custGeom>
              <a:avLst/>
              <a:gdLst/>
              <a:ahLst/>
              <a:cxnLst/>
              <a:rect l="l" t="t" r="r" b="b"/>
              <a:pathLst>
                <a:path w="981075" h="571500">
                  <a:moveTo>
                    <a:pt x="0" y="571500"/>
                  </a:moveTo>
                  <a:lnTo>
                    <a:pt x="981075" y="571500"/>
                  </a:lnTo>
                  <a:lnTo>
                    <a:pt x="981075" y="0"/>
                  </a:lnTo>
                  <a:lnTo>
                    <a:pt x="0" y="0"/>
                  </a:lnTo>
                  <a:lnTo>
                    <a:pt x="0" y="571500"/>
                  </a:lnTo>
                  <a:close/>
                </a:path>
              </a:pathLst>
            </a:custGeom>
            <a:ln w="9525">
              <a:solidFill>
                <a:srgbClr val="000000"/>
              </a:solidFill>
            </a:ln>
          </p:spPr>
          <p:txBody>
            <a:bodyPr wrap="square" lIns="0" tIns="0" rIns="0" bIns="0" rtlCol="0">
              <a:noAutofit/>
            </a:bodyPr>
            <a:lstStyle/>
            <a:p>
              <a:endParaRPr/>
            </a:p>
          </p:txBody>
        </p:sp>
        <p:sp>
          <p:nvSpPr>
            <p:cNvPr id="37" name="object 41"/>
            <p:cNvSpPr txBox="1"/>
            <p:nvPr/>
          </p:nvSpPr>
          <p:spPr>
            <a:xfrm>
              <a:off x="4625975" y="5314950"/>
              <a:ext cx="892175" cy="194310"/>
            </a:xfrm>
            <a:prstGeom prst="rect">
              <a:avLst/>
            </a:prstGeom>
          </p:spPr>
          <p:txBody>
            <a:bodyPr vert="horz" wrap="square" lIns="0" tIns="0" rIns="0" bIns="0" rtlCol="0">
              <a:noAutofit/>
            </a:bodyPr>
            <a:lstStyle/>
            <a:p>
              <a:pPr marL="12700">
                <a:lnSpc>
                  <a:spcPct val="100000"/>
                </a:lnSpc>
              </a:pPr>
              <a:r>
                <a:rPr sz="1200" b="1" spc="-10" dirty="0">
                  <a:latin typeface="Arial"/>
                  <a:cs typeface="Arial"/>
                </a:rPr>
                <a:t>Demultiplex</a:t>
              </a:r>
              <a:endParaRPr sz="1200">
                <a:latin typeface="Arial"/>
                <a:cs typeface="Arial"/>
              </a:endParaRPr>
            </a:p>
          </p:txBody>
        </p:sp>
        <p:sp>
          <p:nvSpPr>
            <p:cNvPr id="38" name="object 42"/>
            <p:cNvSpPr/>
            <p:nvPr/>
          </p:nvSpPr>
          <p:spPr>
            <a:xfrm>
              <a:off x="3667125" y="5248275"/>
              <a:ext cx="723900" cy="571500"/>
            </a:xfrm>
            <a:custGeom>
              <a:avLst/>
              <a:gdLst/>
              <a:ahLst/>
              <a:cxnLst/>
              <a:rect l="l" t="t" r="r" b="b"/>
              <a:pathLst>
                <a:path w="723900" h="571500">
                  <a:moveTo>
                    <a:pt x="0" y="571500"/>
                  </a:moveTo>
                  <a:lnTo>
                    <a:pt x="723900" y="571500"/>
                  </a:lnTo>
                  <a:lnTo>
                    <a:pt x="723900" y="0"/>
                  </a:lnTo>
                  <a:lnTo>
                    <a:pt x="0" y="0"/>
                  </a:lnTo>
                  <a:lnTo>
                    <a:pt x="0" y="571500"/>
                  </a:lnTo>
                  <a:close/>
                </a:path>
              </a:pathLst>
            </a:custGeom>
            <a:solidFill>
              <a:srgbClr val="B3B3B3"/>
            </a:solidFill>
          </p:spPr>
          <p:txBody>
            <a:bodyPr wrap="square" lIns="0" tIns="0" rIns="0" bIns="0" rtlCol="0">
              <a:noAutofit/>
            </a:bodyPr>
            <a:lstStyle/>
            <a:p>
              <a:endParaRPr/>
            </a:p>
          </p:txBody>
        </p:sp>
        <p:sp>
          <p:nvSpPr>
            <p:cNvPr id="39" name="object 43"/>
            <p:cNvSpPr/>
            <p:nvPr/>
          </p:nvSpPr>
          <p:spPr>
            <a:xfrm>
              <a:off x="3552825" y="5133975"/>
              <a:ext cx="714375" cy="571500"/>
            </a:xfrm>
            <a:custGeom>
              <a:avLst/>
              <a:gdLst/>
              <a:ahLst/>
              <a:cxnLst/>
              <a:rect l="l" t="t" r="r" b="b"/>
              <a:pathLst>
                <a:path w="714375" h="571500">
                  <a:moveTo>
                    <a:pt x="0" y="571500"/>
                  </a:moveTo>
                  <a:lnTo>
                    <a:pt x="714375" y="571500"/>
                  </a:lnTo>
                  <a:lnTo>
                    <a:pt x="714375" y="0"/>
                  </a:lnTo>
                  <a:lnTo>
                    <a:pt x="0" y="0"/>
                  </a:lnTo>
                  <a:lnTo>
                    <a:pt x="0" y="571500"/>
                  </a:lnTo>
                  <a:close/>
                </a:path>
              </a:pathLst>
            </a:custGeom>
            <a:solidFill>
              <a:srgbClr val="FFFFFF"/>
            </a:solidFill>
          </p:spPr>
          <p:txBody>
            <a:bodyPr wrap="square" lIns="0" tIns="0" rIns="0" bIns="0" rtlCol="0">
              <a:noAutofit/>
            </a:bodyPr>
            <a:lstStyle/>
            <a:p>
              <a:endParaRPr/>
            </a:p>
          </p:txBody>
        </p:sp>
        <p:sp>
          <p:nvSpPr>
            <p:cNvPr id="40" name="object 44"/>
            <p:cNvSpPr/>
            <p:nvPr/>
          </p:nvSpPr>
          <p:spPr>
            <a:xfrm>
              <a:off x="3552825" y="5133975"/>
              <a:ext cx="714375" cy="571500"/>
            </a:xfrm>
            <a:custGeom>
              <a:avLst/>
              <a:gdLst/>
              <a:ahLst/>
              <a:cxnLst/>
              <a:rect l="l" t="t" r="r" b="b"/>
              <a:pathLst>
                <a:path w="714375" h="571500">
                  <a:moveTo>
                    <a:pt x="0" y="571500"/>
                  </a:moveTo>
                  <a:lnTo>
                    <a:pt x="714375" y="571500"/>
                  </a:lnTo>
                  <a:lnTo>
                    <a:pt x="714375" y="0"/>
                  </a:lnTo>
                  <a:lnTo>
                    <a:pt x="0" y="0"/>
                  </a:lnTo>
                  <a:lnTo>
                    <a:pt x="0" y="571500"/>
                  </a:lnTo>
                  <a:close/>
                </a:path>
              </a:pathLst>
            </a:custGeom>
            <a:ln w="9525">
              <a:solidFill>
                <a:srgbClr val="000000"/>
              </a:solidFill>
            </a:ln>
          </p:spPr>
          <p:txBody>
            <a:bodyPr wrap="square" lIns="0" tIns="0" rIns="0" bIns="0" rtlCol="0">
              <a:noAutofit/>
            </a:bodyPr>
            <a:lstStyle/>
            <a:p>
              <a:endParaRPr/>
            </a:p>
          </p:txBody>
        </p:sp>
        <p:sp>
          <p:nvSpPr>
            <p:cNvPr id="41" name="object 45"/>
            <p:cNvSpPr txBox="1"/>
            <p:nvPr/>
          </p:nvSpPr>
          <p:spPr>
            <a:xfrm>
              <a:off x="3597275" y="5219700"/>
              <a:ext cx="625475" cy="194310"/>
            </a:xfrm>
            <a:prstGeom prst="rect">
              <a:avLst/>
            </a:prstGeom>
          </p:spPr>
          <p:txBody>
            <a:bodyPr vert="horz" wrap="square" lIns="0" tIns="0" rIns="0" bIns="0" rtlCol="0">
              <a:noAutofit/>
            </a:bodyPr>
            <a:lstStyle/>
            <a:p>
              <a:pPr marL="12700">
                <a:lnSpc>
                  <a:spcPct val="100000"/>
                </a:lnSpc>
              </a:pPr>
              <a:r>
                <a:rPr sz="1200" b="1" spc="-15" dirty="0">
                  <a:latin typeface="Arial"/>
                  <a:cs typeface="Arial"/>
                </a:rPr>
                <a:t>Channel</a:t>
              </a:r>
              <a:endParaRPr sz="1200">
                <a:latin typeface="Arial"/>
                <a:cs typeface="Arial"/>
              </a:endParaRPr>
            </a:p>
          </p:txBody>
        </p:sp>
        <p:sp>
          <p:nvSpPr>
            <p:cNvPr id="42" name="object 46"/>
            <p:cNvSpPr txBox="1"/>
            <p:nvPr/>
          </p:nvSpPr>
          <p:spPr>
            <a:xfrm>
              <a:off x="3587750" y="5410200"/>
              <a:ext cx="635635" cy="194310"/>
            </a:xfrm>
            <a:prstGeom prst="rect">
              <a:avLst/>
            </a:prstGeom>
          </p:spPr>
          <p:txBody>
            <a:bodyPr vert="horz" wrap="square" lIns="0" tIns="0" rIns="0" bIns="0" rtlCol="0">
              <a:noAutofit/>
            </a:bodyPr>
            <a:lstStyle/>
            <a:p>
              <a:pPr marL="12700">
                <a:lnSpc>
                  <a:spcPct val="100000"/>
                </a:lnSpc>
              </a:pPr>
              <a:r>
                <a:rPr sz="1200" b="1" spc="-5" dirty="0">
                  <a:latin typeface="Arial"/>
                  <a:cs typeface="Arial"/>
                </a:rPr>
                <a:t>Decoder</a:t>
              </a:r>
              <a:endParaRPr sz="1200">
                <a:latin typeface="Arial"/>
                <a:cs typeface="Arial"/>
              </a:endParaRPr>
            </a:p>
          </p:txBody>
        </p:sp>
        <p:sp>
          <p:nvSpPr>
            <p:cNvPr id="43" name="object 47"/>
            <p:cNvSpPr/>
            <p:nvPr/>
          </p:nvSpPr>
          <p:spPr>
            <a:xfrm>
              <a:off x="2609850" y="5248275"/>
              <a:ext cx="742950" cy="571500"/>
            </a:xfrm>
            <a:custGeom>
              <a:avLst/>
              <a:gdLst/>
              <a:ahLst/>
              <a:cxnLst/>
              <a:rect l="l" t="t" r="r" b="b"/>
              <a:pathLst>
                <a:path w="742950" h="571500">
                  <a:moveTo>
                    <a:pt x="0" y="571500"/>
                  </a:moveTo>
                  <a:lnTo>
                    <a:pt x="742950" y="571500"/>
                  </a:lnTo>
                  <a:lnTo>
                    <a:pt x="742950" y="0"/>
                  </a:lnTo>
                  <a:lnTo>
                    <a:pt x="0" y="0"/>
                  </a:lnTo>
                  <a:lnTo>
                    <a:pt x="0" y="571500"/>
                  </a:lnTo>
                  <a:close/>
                </a:path>
              </a:pathLst>
            </a:custGeom>
            <a:solidFill>
              <a:srgbClr val="B3B3B3"/>
            </a:solidFill>
          </p:spPr>
          <p:txBody>
            <a:bodyPr wrap="square" lIns="0" tIns="0" rIns="0" bIns="0" rtlCol="0">
              <a:noAutofit/>
            </a:bodyPr>
            <a:lstStyle/>
            <a:p>
              <a:endParaRPr/>
            </a:p>
          </p:txBody>
        </p:sp>
        <p:sp>
          <p:nvSpPr>
            <p:cNvPr id="44" name="object 48"/>
            <p:cNvSpPr/>
            <p:nvPr/>
          </p:nvSpPr>
          <p:spPr>
            <a:xfrm>
              <a:off x="2495550" y="5133975"/>
              <a:ext cx="742950" cy="571500"/>
            </a:xfrm>
            <a:custGeom>
              <a:avLst/>
              <a:gdLst/>
              <a:ahLst/>
              <a:cxnLst/>
              <a:rect l="l" t="t" r="r" b="b"/>
              <a:pathLst>
                <a:path w="742950" h="571500">
                  <a:moveTo>
                    <a:pt x="0" y="571500"/>
                  </a:moveTo>
                  <a:lnTo>
                    <a:pt x="742950" y="571500"/>
                  </a:lnTo>
                  <a:lnTo>
                    <a:pt x="742950" y="0"/>
                  </a:lnTo>
                  <a:lnTo>
                    <a:pt x="0" y="0"/>
                  </a:lnTo>
                  <a:lnTo>
                    <a:pt x="0" y="571500"/>
                  </a:lnTo>
                  <a:close/>
                </a:path>
              </a:pathLst>
            </a:custGeom>
            <a:solidFill>
              <a:srgbClr val="00FFFF"/>
            </a:solidFill>
          </p:spPr>
          <p:txBody>
            <a:bodyPr wrap="square" lIns="0" tIns="0" rIns="0" bIns="0" rtlCol="0">
              <a:noAutofit/>
            </a:bodyPr>
            <a:lstStyle/>
            <a:p>
              <a:endParaRPr/>
            </a:p>
          </p:txBody>
        </p:sp>
        <p:sp>
          <p:nvSpPr>
            <p:cNvPr id="45" name="object 49"/>
            <p:cNvSpPr/>
            <p:nvPr/>
          </p:nvSpPr>
          <p:spPr>
            <a:xfrm>
              <a:off x="2495550" y="5133975"/>
              <a:ext cx="742950" cy="571500"/>
            </a:xfrm>
            <a:custGeom>
              <a:avLst/>
              <a:gdLst/>
              <a:ahLst/>
              <a:cxnLst/>
              <a:rect l="l" t="t" r="r" b="b"/>
              <a:pathLst>
                <a:path w="742950" h="571500">
                  <a:moveTo>
                    <a:pt x="0" y="571500"/>
                  </a:moveTo>
                  <a:lnTo>
                    <a:pt x="742950" y="571500"/>
                  </a:lnTo>
                  <a:lnTo>
                    <a:pt x="742950" y="0"/>
                  </a:lnTo>
                  <a:lnTo>
                    <a:pt x="0" y="0"/>
                  </a:lnTo>
                  <a:lnTo>
                    <a:pt x="0" y="571500"/>
                  </a:lnTo>
                  <a:close/>
                </a:path>
              </a:pathLst>
            </a:custGeom>
            <a:ln w="9525">
              <a:solidFill>
                <a:srgbClr val="000000"/>
              </a:solidFill>
            </a:ln>
          </p:spPr>
          <p:txBody>
            <a:bodyPr wrap="square" lIns="0" tIns="0" rIns="0" bIns="0" rtlCol="0">
              <a:noAutofit/>
            </a:bodyPr>
            <a:lstStyle/>
            <a:p>
              <a:endParaRPr/>
            </a:p>
          </p:txBody>
        </p:sp>
        <p:sp>
          <p:nvSpPr>
            <p:cNvPr id="46" name="object 50"/>
            <p:cNvSpPr txBox="1"/>
            <p:nvPr/>
          </p:nvSpPr>
          <p:spPr>
            <a:xfrm>
              <a:off x="2597150" y="5219700"/>
              <a:ext cx="540385" cy="194310"/>
            </a:xfrm>
            <a:prstGeom prst="rect">
              <a:avLst/>
            </a:prstGeom>
          </p:spPr>
          <p:txBody>
            <a:bodyPr vert="horz" wrap="square" lIns="0" tIns="0" rIns="0" bIns="0" rtlCol="0">
              <a:noAutofit/>
            </a:bodyPr>
            <a:lstStyle/>
            <a:p>
              <a:pPr marL="12700">
                <a:lnSpc>
                  <a:spcPct val="100000"/>
                </a:lnSpc>
              </a:pPr>
              <a:r>
                <a:rPr sz="1200" b="1" spc="-5" dirty="0">
                  <a:latin typeface="Arial"/>
                  <a:cs typeface="Arial"/>
                </a:rPr>
                <a:t>Source</a:t>
              </a:r>
              <a:endParaRPr sz="1200">
                <a:latin typeface="Arial"/>
                <a:cs typeface="Arial"/>
              </a:endParaRPr>
            </a:p>
          </p:txBody>
        </p:sp>
        <p:sp>
          <p:nvSpPr>
            <p:cNvPr id="47" name="object 51"/>
            <p:cNvSpPr txBox="1"/>
            <p:nvPr/>
          </p:nvSpPr>
          <p:spPr>
            <a:xfrm>
              <a:off x="2549525" y="5410200"/>
              <a:ext cx="635635" cy="194310"/>
            </a:xfrm>
            <a:prstGeom prst="rect">
              <a:avLst/>
            </a:prstGeom>
          </p:spPr>
          <p:txBody>
            <a:bodyPr vert="horz" wrap="square" lIns="0" tIns="0" rIns="0" bIns="0" rtlCol="0">
              <a:noAutofit/>
            </a:bodyPr>
            <a:lstStyle/>
            <a:p>
              <a:pPr marL="12700">
                <a:lnSpc>
                  <a:spcPct val="100000"/>
                </a:lnSpc>
              </a:pPr>
              <a:r>
                <a:rPr sz="1200" b="1" spc="-5" dirty="0">
                  <a:latin typeface="Arial"/>
                  <a:cs typeface="Arial"/>
                </a:rPr>
                <a:t>Decoder</a:t>
              </a:r>
              <a:endParaRPr sz="1200">
                <a:latin typeface="Arial"/>
                <a:cs typeface="Arial"/>
              </a:endParaRPr>
            </a:p>
          </p:txBody>
        </p:sp>
        <p:sp>
          <p:nvSpPr>
            <p:cNvPr id="48" name="object 52"/>
            <p:cNvSpPr/>
            <p:nvPr/>
          </p:nvSpPr>
          <p:spPr>
            <a:xfrm>
              <a:off x="7153275" y="5248275"/>
              <a:ext cx="800100" cy="571500"/>
            </a:xfrm>
            <a:custGeom>
              <a:avLst/>
              <a:gdLst/>
              <a:ahLst/>
              <a:cxnLst/>
              <a:rect l="l" t="t" r="r" b="b"/>
              <a:pathLst>
                <a:path w="800100" h="571500">
                  <a:moveTo>
                    <a:pt x="0" y="571500"/>
                  </a:moveTo>
                  <a:lnTo>
                    <a:pt x="800100" y="571500"/>
                  </a:lnTo>
                  <a:lnTo>
                    <a:pt x="800100" y="0"/>
                  </a:lnTo>
                  <a:lnTo>
                    <a:pt x="0" y="0"/>
                  </a:lnTo>
                  <a:lnTo>
                    <a:pt x="0" y="571500"/>
                  </a:lnTo>
                  <a:close/>
                </a:path>
              </a:pathLst>
            </a:custGeom>
            <a:solidFill>
              <a:srgbClr val="B3B3B3"/>
            </a:solidFill>
          </p:spPr>
          <p:txBody>
            <a:bodyPr wrap="square" lIns="0" tIns="0" rIns="0" bIns="0" rtlCol="0">
              <a:noAutofit/>
            </a:bodyPr>
            <a:lstStyle/>
            <a:p>
              <a:endParaRPr/>
            </a:p>
          </p:txBody>
        </p:sp>
        <p:sp>
          <p:nvSpPr>
            <p:cNvPr id="49" name="object 53"/>
            <p:cNvSpPr/>
            <p:nvPr/>
          </p:nvSpPr>
          <p:spPr>
            <a:xfrm>
              <a:off x="7038975" y="5133975"/>
              <a:ext cx="800100" cy="571500"/>
            </a:xfrm>
            <a:custGeom>
              <a:avLst/>
              <a:gdLst/>
              <a:ahLst/>
              <a:cxnLst/>
              <a:rect l="l" t="t" r="r" b="b"/>
              <a:pathLst>
                <a:path w="800100" h="571500">
                  <a:moveTo>
                    <a:pt x="0" y="571500"/>
                  </a:moveTo>
                  <a:lnTo>
                    <a:pt x="800100" y="571500"/>
                  </a:lnTo>
                  <a:lnTo>
                    <a:pt x="800100" y="0"/>
                  </a:lnTo>
                  <a:lnTo>
                    <a:pt x="0" y="0"/>
                  </a:lnTo>
                  <a:lnTo>
                    <a:pt x="0" y="571500"/>
                  </a:lnTo>
                  <a:close/>
                </a:path>
              </a:pathLst>
            </a:custGeom>
            <a:solidFill>
              <a:srgbClr val="FFFFFF"/>
            </a:solidFill>
          </p:spPr>
          <p:txBody>
            <a:bodyPr wrap="square" lIns="0" tIns="0" rIns="0" bIns="0" rtlCol="0">
              <a:noAutofit/>
            </a:bodyPr>
            <a:lstStyle/>
            <a:p>
              <a:endParaRPr/>
            </a:p>
          </p:txBody>
        </p:sp>
        <p:sp>
          <p:nvSpPr>
            <p:cNvPr id="50" name="object 54"/>
            <p:cNvSpPr/>
            <p:nvPr/>
          </p:nvSpPr>
          <p:spPr>
            <a:xfrm>
              <a:off x="7038975" y="5133975"/>
              <a:ext cx="800100" cy="571500"/>
            </a:xfrm>
            <a:custGeom>
              <a:avLst/>
              <a:gdLst/>
              <a:ahLst/>
              <a:cxnLst/>
              <a:rect l="l" t="t" r="r" b="b"/>
              <a:pathLst>
                <a:path w="800100" h="571500">
                  <a:moveTo>
                    <a:pt x="0" y="571500"/>
                  </a:moveTo>
                  <a:lnTo>
                    <a:pt x="800100" y="571500"/>
                  </a:lnTo>
                  <a:lnTo>
                    <a:pt x="800100" y="0"/>
                  </a:lnTo>
                  <a:lnTo>
                    <a:pt x="0" y="0"/>
                  </a:lnTo>
                  <a:lnTo>
                    <a:pt x="0" y="571500"/>
                  </a:lnTo>
                  <a:close/>
                </a:path>
              </a:pathLst>
            </a:custGeom>
            <a:ln w="9525">
              <a:solidFill>
                <a:srgbClr val="000000"/>
              </a:solidFill>
            </a:ln>
          </p:spPr>
          <p:txBody>
            <a:bodyPr wrap="square" lIns="0" tIns="0" rIns="0" bIns="0" rtlCol="0">
              <a:noAutofit/>
            </a:bodyPr>
            <a:lstStyle/>
            <a:p>
              <a:endParaRPr/>
            </a:p>
          </p:txBody>
        </p:sp>
        <p:sp>
          <p:nvSpPr>
            <p:cNvPr id="51" name="object 55"/>
            <p:cNvSpPr txBox="1"/>
            <p:nvPr/>
          </p:nvSpPr>
          <p:spPr>
            <a:xfrm>
              <a:off x="7073900" y="5314950"/>
              <a:ext cx="721360" cy="194310"/>
            </a:xfrm>
            <a:prstGeom prst="rect">
              <a:avLst/>
            </a:prstGeom>
          </p:spPr>
          <p:txBody>
            <a:bodyPr vert="horz" wrap="square" lIns="0" tIns="0" rIns="0" bIns="0" rtlCol="0">
              <a:noAutofit/>
            </a:bodyPr>
            <a:lstStyle/>
            <a:p>
              <a:pPr marL="12700">
                <a:lnSpc>
                  <a:spcPct val="100000"/>
                </a:lnSpc>
              </a:pPr>
              <a:r>
                <a:rPr sz="1200" b="1" dirty="0">
                  <a:latin typeface="Arial"/>
                  <a:cs typeface="Arial"/>
                </a:rPr>
                <a:t>Despread</a:t>
              </a:r>
              <a:endParaRPr sz="1200">
                <a:latin typeface="Arial"/>
                <a:cs typeface="Arial"/>
              </a:endParaRPr>
            </a:p>
          </p:txBody>
        </p:sp>
        <p:sp>
          <p:nvSpPr>
            <p:cNvPr id="52" name="object 56"/>
            <p:cNvSpPr/>
            <p:nvPr/>
          </p:nvSpPr>
          <p:spPr>
            <a:xfrm>
              <a:off x="2162175" y="2571750"/>
              <a:ext cx="190500" cy="0"/>
            </a:xfrm>
            <a:custGeom>
              <a:avLst/>
              <a:gdLst/>
              <a:ahLst/>
              <a:cxnLst/>
              <a:rect l="l" t="t" r="r" b="b"/>
              <a:pathLst>
                <a:path w="190500">
                  <a:moveTo>
                    <a:pt x="0" y="0"/>
                  </a:moveTo>
                  <a:lnTo>
                    <a:pt x="190500" y="0"/>
                  </a:lnTo>
                </a:path>
              </a:pathLst>
            </a:custGeom>
            <a:ln w="19050">
              <a:solidFill>
                <a:srgbClr val="000000"/>
              </a:solidFill>
            </a:ln>
          </p:spPr>
          <p:txBody>
            <a:bodyPr wrap="square" lIns="0" tIns="0" rIns="0" bIns="0" rtlCol="0">
              <a:noAutofit/>
            </a:bodyPr>
            <a:lstStyle/>
            <a:p>
              <a:endParaRPr/>
            </a:p>
          </p:txBody>
        </p:sp>
        <p:sp>
          <p:nvSpPr>
            <p:cNvPr id="53" name="object 57"/>
            <p:cNvSpPr/>
            <p:nvPr/>
          </p:nvSpPr>
          <p:spPr>
            <a:xfrm>
              <a:off x="2343150" y="2524125"/>
              <a:ext cx="133350" cy="95250"/>
            </a:xfrm>
            <a:custGeom>
              <a:avLst/>
              <a:gdLst/>
              <a:ahLst/>
              <a:cxnLst/>
              <a:rect l="l" t="t" r="r" b="b"/>
              <a:pathLst>
                <a:path w="133350" h="95250">
                  <a:moveTo>
                    <a:pt x="0" y="0"/>
                  </a:moveTo>
                  <a:lnTo>
                    <a:pt x="0" y="95250"/>
                  </a:lnTo>
                  <a:lnTo>
                    <a:pt x="133350" y="47625"/>
                  </a:lnTo>
                  <a:lnTo>
                    <a:pt x="0" y="0"/>
                  </a:lnTo>
                  <a:close/>
                </a:path>
              </a:pathLst>
            </a:custGeom>
            <a:solidFill>
              <a:srgbClr val="000000"/>
            </a:solidFill>
          </p:spPr>
          <p:txBody>
            <a:bodyPr wrap="square" lIns="0" tIns="0" rIns="0" bIns="0" rtlCol="0">
              <a:noAutofit/>
            </a:bodyPr>
            <a:lstStyle/>
            <a:p>
              <a:endParaRPr/>
            </a:p>
          </p:txBody>
        </p:sp>
        <p:sp>
          <p:nvSpPr>
            <p:cNvPr id="54" name="object 58"/>
            <p:cNvSpPr/>
            <p:nvPr/>
          </p:nvSpPr>
          <p:spPr>
            <a:xfrm>
              <a:off x="3219450" y="2571750"/>
              <a:ext cx="190500" cy="0"/>
            </a:xfrm>
            <a:custGeom>
              <a:avLst/>
              <a:gdLst/>
              <a:ahLst/>
              <a:cxnLst/>
              <a:rect l="l" t="t" r="r" b="b"/>
              <a:pathLst>
                <a:path w="190500">
                  <a:moveTo>
                    <a:pt x="0" y="0"/>
                  </a:moveTo>
                  <a:lnTo>
                    <a:pt x="190500" y="0"/>
                  </a:lnTo>
                </a:path>
              </a:pathLst>
            </a:custGeom>
            <a:ln w="19050">
              <a:solidFill>
                <a:srgbClr val="000000"/>
              </a:solidFill>
            </a:ln>
          </p:spPr>
          <p:txBody>
            <a:bodyPr wrap="square" lIns="0" tIns="0" rIns="0" bIns="0" rtlCol="0">
              <a:noAutofit/>
            </a:bodyPr>
            <a:lstStyle/>
            <a:p>
              <a:endParaRPr/>
            </a:p>
          </p:txBody>
        </p:sp>
        <p:sp>
          <p:nvSpPr>
            <p:cNvPr id="55" name="object 59"/>
            <p:cNvSpPr/>
            <p:nvPr/>
          </p:nvSpPr>
          <p:spPr>
            <a:xfrm>
              <a:off x="3400425" y="2524125"/>
              <a:ext cx="142875" cy="95250"/>
            </a:xfrm>
            <a:custGeom>
              <a:avLst/>
              <a:gdLst/>
              <a:ahLst/>
              <a:cxnLst/>
              <a:rect l="l" t="t" r="r" b="b"/>
              <a:pathLst>
                <a:path w="142875" h="95250">
                  <a:moveTo>
                    <a:pt x="0" y="0"/>
                  </a:moveTo>
                  <a:lnTo>
                    <a:pt x="0" y="95250"/>
                  </a:lnTo>
                  <a:lnTo>
                    <a:pt x="142875" y="47625"/>
                  </a:lnTo>
                  <a:lnTo>
                    <a:pt x="0" y="0"/>
                  </a:lnTo>
                  <a:close/>
                </a:path>
              </a:pathLst>
            </a:custGeom>
            <a:solidFill>
              <a:srgbClr val="000000"/>
            </a:solidFill>
          </p:spPr>
          <p:txBody>
            <a:bodyPr wrap="square" lIns="0" tIns="0" rIns="0" bIns="0" rtlCol="0">
              <a:noAutofit/>
            </a:bodyPr>
            <a:lstStyle/>
            <a:p>
              <a:endParaRPr/>
            </a:p>
          </p:txBody>
        </p:sp>
        <p:sp>
          <p:nvSpPr>
            <p:cNvPr id="56" name="object 60"/>
            <p:cNvSpPr/>
            <p:nvPr/>
          </p:nvSpPr>
          <p:spPr>
            <a:xfrm>
              <a:off x="4286250" y="2571750"/>
              <a:ext cx="219075" cy="0"/>
            </a:xfrm>
            <a:custGeom>
              <a:avLst/>
              <a:gdLst/>
              <a:ahLst/>
              <a:cxnLst/>
              <a:rect l="l" t="t" r="r" b="b"/>
              <a:pathLst>
                <a:path w="219075">
                  <a:moveTo>
                    <a:pt x="0" y="0"/>
                  </a:moveTo>
                  <a:lnTo>
                    <a:pt x="219075" y="0"/>
                  </a:lnTo>
                </a:path>
              </a:pathLst>
            </a:custGeom>
            <a:ln w="19050">
              <a:solidFill>
                <a:srgbClr val="000000"/>
              </a:solidFill>
            </a:ln>
          </p:spPr>
          <p:txBody>
            <a:bodyPr wrap="square" lIns="0" tIns="0" rIns="0" bIns="0" rtlCol="0">
              <a:noAutofit/>
            </a:bodyPr>
            <a:lstStyle/>
            <a:p>
              <a:endParaRPr/>
            </a:p>
          </p:txBody>
        </p:sp>
        <p:sp>
          <p:nvSpPr>
            <p:cNvPr id="57" name="object 61"/>
            <p:cNvSpPr/>
            <p:nvPr/>
          </p:nvSpPr>
          <p:spPr>
            <a:xfrm>
              <a:off x="4495800" y="2524125"/>
              <a:ext cx="142875" cy="95250"/>
            </a:xfrm>
            <a:custGeom>
              <a:avLst/>
              <a:gdLst/>
              <a:ahLst/>
              <a:cxnLst/>
              <a:rect l="l" t="t" r="r" b="b"/>
              <a:pathLst>
                <a:path w="142875" h="95250">
                  <a:moveTo>
                    <a:pt x="0" y="0"/>
                  </a:moveTo>
                  <a:lnTo>
                    <a:pt x="0" y="95250"/>
                  </a:lnTo>
                  <a:lnTo>
                    <a:pt x="142875" y="47625"/>
                  </a:lnTo>
                  <a:lnTo>
                    <a:pt x="0" y="0"/>
                  </a:lnTo>
                  <a:close/>
                </a:path>
              </a:pathLst>
            </a:custGeom>
            <a:solidFill>
              <a:srgbClr val="000000"/>
            </a:solidFill>
          </p:spPr>
          <p:txBody>
            <a:bodyPr wrap="square" lIns="0" tIns="0" rIns="0" bIns="0" rtlCol="0">
              <a:noAutofit/>
            </a:bodyPr>
            <a:lstStyle/>
            <a:p>
              <a:endParaRPr/>
            </a:p>
          </p:txBody>
        </p:sp>
        <p:sp>
          <p:nvSpPr>
            <p:cNvPr id="58" name="object 62"/>
            <p:cNvSpPr/>
            <p:nvPr/>
          </p:nvSpPr>
          <p:spPr>
            <a:xfrm>
              <a:off x="4400550" y="5419725"/>
              <a:ext cx="180975" cy="0"/>
            </a:xfrm>
            <a:custGeom>
              <a:avLst/>
              <a:gdLst/>
              <a:ahLst/>
              <a:cxnLst/>
              <a:rect l="l" t="t" r="r" b="b"/>
              <a:pathLst>
                <a:path w="180975">
                  <a:moveTo>
                    <a:pt x="180975" y="0"/>
                  </a:moveTo>
                  <a:lnTo>
                    <a:pt x="0" y="0"/>
                  </a:lnTo>
                </a:path>
              </a:pathLst>
            </a:custGeom>
            <a:ln w="19050">
              <a:solidFill>
                <a:srgbClr val="000000"/>
              </a:solidFill>
            </a:ln>
          </p:spPr>
          <p:txBody>
            <a:bodyPr wrap="square" lIns="0" tIns="0" rIns="0" bIns="0" rtlCol="0">
              <a:noAutofit/>
            </a:bodyPr>
            <a:lstStyle/>
            <a:p>
              <a:endParaRPr/>
            </a:p>
          </p:txBody>
        </p:sp>
        <p:sp>
          <p:nvSpPr>
            <p:cNvPr id="59" name="object 63"/>
            <p:cNvSpPr/>
            <p:nvPr/>
          </p:nvSpPr>
          <p:spPr>
            <a:xfrm>
              <a:off x="4267200" y="5372100"/>
              <a:ext cx="142875" cy="95250"/>
            </a:xfrm>
            <a:custGeom>
              <a:avLst/>
              <a:gdLst/>
              <a:ahLst/>
              <a:cxnLst/>
              <a:rect l="l" t="t" r="r" b="b"/>
              <a:pathLst>
                <a:path w="142875" h="95250">
                  <a:moveTo>
                    <a:pt x="142875" y="0"/>
                  </a:moveTo>
                  <a:lnTo>
                    <a:pt x="0" y="47625"/>
                  </a:lnTo>
                  <a:lnTo>
                    <a:pt x="142875" y="95250"/>
                  </a:lnTo>
                  <a:lnTo>
                    <a:pt x="142875" y="0"/>
                  </a:lnTo>
                  <a:close/>
                </a:path>
              </a:pathLst>
            </a:custGeom>
            <a:solidFill>
              <a:srgbClr val="000000"/>
            </a:solidFill>
          </p:spPr>
          <p:txBody>
            <a:bodyPr wrap="square" lIns="0" tIns="0" rIns="0" bIns="0" rtlCol="0">
              <a:noAutofit/>
            </a:bodyPr>
            <a:lstStyle/>
            <a:p>
              <a:endParaRPr/>
            </a:p>
          </p:txBody>
        </p:sp>
        <p:sp>
          <p:nvSpPr>
            <p:cNvPr id="60" name="object 64"/>
            <p:cNvSpPr/>
            <p:nvPr/>
          </p:nvSpPr>
          <p:spPr>
            <a:xfrm>
              <a:off x="2305050" y="5419725"/>
              <a:ext cx="190500" cy="0"/>
            </a:xfrm>
            <a:custGeom>
              <a:avLst/>
              <a:gdLst/>
              <a:ahLst/>
              <a:cxnLst/>
              <a:rect l="l" t="t" r="r" b="b"/>
              <a:pathLst>
                <a:path w="190500">
                  <a:moveTo>
                    <a:pt x="190500" y="0"/>
                  </a:moveTo>
                  <a:lnTo>
                    <a:pt x="0" y="0"/>
                  </a:lnTo>
                </a:path>
              </a:pathLst>
            </a:custGeom>
            <a:ln w="19050">
              <a:solidFill>
                <a:srgbClr val="000000"/>
              </a:solidFill>
            </a:ln>
          </p:spPr>
          <p:txBody>
            <a:bodyPr wrap="square" lIns="0" tIns="0" rIns="0" bIns="0" rtlCol="0">
              <a:noAutofit/>
            </a:bodyPr>
            <a:lstStyle/>
            <a:p>
              <a:endParaRPr/>
            </a:p>
          </p:txBody>
        </p:sp>
        <p:sp>
          <p:nvSpPr>
            <p:cNvPr id="61" name="object 65"/>
            <p:cNvSpPr/>
            <p:nvPr/>
          </p:nvSpPr>
          <p:spPr>
            <a:xfrm>
              <a:off x="2181225" y="5372100"/>
              <a:ext cx="142875" cy="95250"/>
            </a:xfrm>
            <a:custGeom>
              <a:avLst/>
              <a:gdLst/>
              <a:ahLst/>
              <a:cxnLst/>
              <a:rect l="l" t="t" r="r" b="b"/>
              <a:pathLst>
                <a:path w="142875" h="95250">
                  <a:moveTo>
                    <a:pt x="142875" y="0"/>
                  </a:moveTo>
                  <a:lnTo>
                    <a:pt x="0" y="47625"/>
                  </a:lnTo>
                  <a:lnTo>
                    <a:pt x="142875" y="95250"/>
                  </a:lnTo>
                  <a:lnTo>
                    <a:pt x="142875" y="0"/>
                  </a:lnTo>
                  <a:close/>
                </a:path>
              </a:pathLst>
            </a:custGeom>
            <a:solidFill>
              <a:srgbClr val="000000"/>
            </a:solidFill>
          </p:spPr>
          <p:txBody>
            <a:bodyPr wrap="square" lIns="0" tIns="0" rIns="0" bIns="0" rtlCol="0">
              <a:noAutofit/>
            </a:bodyPr>
            <a:lstStyle/>
            <a:p>
              <a:endParaRPr/>
            </a:p>
          </p:txBody>
        </p:sp>
        <p:sp>
          <p:nvSpPr>
            <p:cNvPr id="62" name="object 66"/>
            <p:cNvSpPr txBox="1"/>
            <p:nvPr/>
          </p:nvSpPr>
          <p:spPr>
            <a:xfrm>
              <a:off x="3835400" y="3907094"/>
              <a:ext cx="577850" cy="392430"/>
            </a:xfrm>
            <a:prstGeom prst="rect">
              <a:avLst/>
            </a:prstGeom>
          </p:spPr>
          <p:txBody>
            <a:bodyPr vert="horz" wrap="square" lIns="0" tIns="0" rIns="0" bIns="0" rtlCol="0">
              <a:noAutofit/>
            </a:bodyPr>
            <a:lstStyle/>
            <a:p>
              <a:pPr marL="12700" marR="12700" indent="38100">
                <a:lnSpc>
                  <a:spcPct val="104200"/>
                </a:lnSpc>
              </a:pPr>
              <a:r>
                <a:rPr sz="1200" b="1" spc="-5" dirty="0">
                  <a:latin typeface="Arial"/>
                  <a:cs typeface="Arial"/>
                </a:rPr>
                <a:t>Bit</a:t>
              </a:r>
              <a:r>
                <a:rPr sz="1200" b="1" spc="0" dirty="0">
                  <a:latin typeface="Arial"/>
                  <a:cs typeface="Arial"/>
                </a:rPr>
                <a:t>s</a:t>
              </a:r>
              <a:r>
                <a:rPr sz="1200" b="1" spc="35" dirty="0">
                  <a:latin typeface="Arial"/>
                  <a:cs typeface="Arial"/>
                </a:rPr>
                <a:t> </a:t>
              </a:r>
              <a:r>
                <a:rPr sz="1200" b="1" spc="-5" dirty="0">
                  <a:latin typeface="Arial"/>
                  <a:cs typeface="Arial"/>
                </a:rPr>
                <a:t>or </a:t>
              </a:r>
              <a:r>
                <a:rPr sz="1200" b="1" spc="-10" dirty="0">
                  <a:latin typeface="Arial"/>
                  <a:cs typeface="Arial"/>
                </a:rPr>
                <a:t>Symbol</a:t>
              </a:r>
              <a:endParaRPr sz="1200" dirty="0">
                <a:latin typeface="Arial"/>
                <a:cs typeface="Arial"/>
              </a:endParaRPr>
            </a:p>
          </p:txBody>
        </p:sp>
        <p:sp>
          <p:nvSpPr>
            <p:cNvPr id="63" name="object 67"/>
            <p:cNvSpPr/>
            <p:nvPr/>
          </p:nvSpPr>
          <p:spPr>
            <a:xfrm>
              <a:off x="2390775" y="2924175"/>
              <a:ext cx="1362075" cy="923925"/>
            </a:xfrm>
            <a:custGeom>
              <a:avLst/>
              <a:gdLst/>
              <a:ahLst/>
              <a:cxnLst/>
              <a:rect l="l" t="t" r="r" b="b"/>
              <a:pathLst>
                <a:path w="1362075" h="923925">
                  <a:moveTo>
                    <a:pt x="1362075" y="923925"/>
                  </a:moveTo>
                  <a:lnTo>
                    <a:pt x="0" y="0"/>
                  </a:lnTo>
                </a:path>
              </a:pathLst>
            </a:custGeom>
            <a:ln w="9525">
              <a:solidFill>
                <a:srgbClr val="000000"/>
              </a:solidFill>
            </a:ln>
          </p:spPr>
          <p:txBody>
            <a:bodyPr wrap="square" lIns="0" tIns="0" rIns="0" bIns="0" rtlCol="0">
              <a:noAutofit/>
            </a:bodyPr>
            <a:lstStyle/>
            <a:p>
              <a:endParaRPr/>
            </a:p>
          </p:txBody>
        </p:sp>
        <p:sp>
          <p:nvSpPr>
            <p:cNvPr id="64" name="object 68"/>
            <p:cNvSpPr/>
            <p:nvPr/>
          </p:nvSpPr>
          <p:spPr>
            <a:xfrm>
              <a:off x="2295525" y="2857500"/>
              <a:ext cx="123825" cy="104775"/>
            </a:xfrm>
            <a:custGeom>
              <a:avLst/>
              <a:gdLst/>
              <a:ahLst/>
              <a:cxnLst/>
              <a:rect l="l" t="t" r="r" b="b"/>
              <a:pathLst>
                <a:path w="123825" h="104775">
                  <a:moveTo>
                    <a:pt x="0" y="0"/>
                  </a:moveTo>
                  <a:lnTo>
                    <a:pt x="76200" y="104775"/>
                  </a:lnTo>
                  <a:lnTo>
                    <a:pt x="123825" y="38100"/>
                  </a:lnTo>
                  <a:lnTo>
                    <a:pt x="0" y="0"/>
                  </a:lnTo>
                  <a:close/>
                </a:path>
              </a:pathLst>
            </a:custGeom>
            <a:solidFill>
              <a:srgbClr val="000000"/>
            </a:solidFill>
          </p:spPr>
          <p:txBody>
            <a:bodyPr wrap="square" lIns="0" tIns="0" rIns="0" bIns="0" rtlCol="0">
              <a:noAutofit/>
            </a:bodyPr>
            <a:lstStyle/>
            <a:p>
              <a:endParaRPr/>
            </a:p>
          </p:txBody>
        </p:sp>
        <p:sp>
          <p:nvSpPr>
            <p:cNvPr id="65" name="object 69"/>
            <p:cNvSpPr/>
            <p:nvPr/>
          </p:nvSpPr>
          <p:spPr>
            <a:xfrm>
              <a:off x="3495675" y="2952750"/>
              <a:ext cx="466725" cy="895350"/>
            </a:xfrm>
            <a:custGeom>
              <a:avLst/>
              <a:gdLst/>
              <a:ahLst/>
              <a:cxnLst/>
              <a:rect l="l" t="t" r="r" b="b"/>
              <a:pathLst>
                <a:path w="466725" h="895350">
                  <a:moveTo>
                    <a:pt x="466725" y="895350"/>
                  </a:moveTo>
                  <a:lnTo>
                    <a:pt x="0" y="0"/>
                  </a:lnTo>
                </a:path>
              </a:pathLst>
            </a:custGeom>
            <a:ln w="9525">
              <a:solidFill>
                <a:srgbClr val="000000"/>
              </a:solidFill>
            </a:ln>
          </p:spPr>
          <p:txBody>
            <a:bodyPr wrap="square" lIns="0" tIns="0" rIns="0" bIns="0" rtlCol="0">
              <a:noAutofit/>
            </a:bodyPr>
            <a:lstStyle/>
            <a:p>
              <a:endParaRPr/>
            </a:p>
          </p:txBody>
        </p:sp>
        <p:sp>
          <p:nvSpPr>
            <p:cNvPr id="66" name="object 70"/>
            <p:cNvSpPr/>
            <p:nvPr/>
          </p:nvSpPr>
          <p:spPr>
            <a:xfrm>
              <a:off x="3438525" y="2857500"/>
              <a:ext cx="95250" cy="123825"/>
            </a:xfrm>
            <a:custGeom>
              <a:avLst/>
              <a:gdLst/>
              <a:ahLst/>
              <a:cxnLst/>
              <a:rect l="l" t="t" r="r" b="b"/>
              <a:pathLst>
                <a:path w="95250" h="123825">
                  <a:moveTo>
                    <a:pt x="0" y="0"/>
                  </a:moveTo>
                  <a:lnTo>
                    <a:pt x="19050" y="123825"/>
                  </a:lnTo>
                  <a:lnTo>
                    <a:pt x="95250" y="85725"/>
                  </a:lnTo>
                  <a:lnTo>
                    <a:pt x="0" y="0"/>
                  </a:lnTo>
                  <a:close/>
                </a:path>
              </a:pathLst>
            </a:custGeom>
            <a:solidFill>
              <a:srgbClr val="000000"/>
            </a:solidFill>
          </p:spPr>
          <p:txBody>
            <a:bodyPr wrap="square" lIns="0" tIns="0" rIns="0" bIns="0" rtlCol="0">
              <a:noAutofit/>
            </a:bodyPr>
            <a:lstStyle/>
            <a:p>
              <a:endParaRPr/>
            </a:p>
          </p:txBody>
        </p:sp>
        <p:sp>
          <p:nvSpPr>
            <p:cNvPr id="67" name="object 71"/>
            <p:cNvSpPr/>
            <p:nvPr/>
          </p:nvSpPr>
          <p:spPr>
            <a:xfrm>
              <a:off x="4181475" y="2962275"/>
              <a:ext cx="247650" cy="885825"/>
            </a:xfrm>
            <a:custGeom>
              <a:avLst/>
              <a:gdLst/>
              <a:ahLst/>
              <a:cxnLst/>
              <a:rect l="l" t="t" r="r" b="b"/>
              <a:pathLst>
                <a:path w="247650" h="885825">
                  <a:moveTo>
                    <a:pt x="0" y="885825"/>
                  </a:moveTo>
                  <a:lnTo>
                    <a:pt x="247650" y="0"/>
                  </a:lnTo>
                </a:path>
              </a:pathLst>
            </a:custGeom>
            <a:ln w="9525">
              <a:solidFill>
                <a:srgbClr val="000000"/>
              </a:solidFill>
            </a:ln>
          </p:spPr>
          <p:txBody>
            <a:bodyPr wrap="square" lIns="0" tIns="0" rIns="0" bIns="0" rtlCol="0">
              <a:noAutofit/>
            </a:bodyPr>
            <a:lstStyle/>
            <a:p>
              <a:endParaRPr/>
            </a:p>
          </p:txBody>
        </p:sp>
        <p:sp>
          <p:nvSpPr>
            <p:cNvPr id="68" name="object 72"/>
            <p:cNvSpPr/>
            <p:nvPr/>
          </p:nvSpPr>
          <p:spPr>
            <a:xfrm>
              <a:off x="4391025" y="2857500"/>
              <a:ext cx="76200" cy="133350"/>
            </a:xfrm>
            <a:custGeom>
              <a:avLst/>
              <a:gdLst/>
              <a:ahLst/>
              <a:cxnLst/>
              <a:rect l="l" t="t" r="r" b="b"/>
              <a:pathLst>
                <a:path w="76200" h="133350">
                  <a:moveTo>
                    <a:pt x="76200" y="0"/>
                  </a:moveTo>
                  <a:lnTo>
                    <a:pt x="0" y="104775"/>
                  </a:lnTo>
                  <a:lnTo>
                    <a:pt x="76200" y="133350"/>
                  </a:lnTo>
                  <a:lnTo>
                    <a:pt x="76200" y="0"/>
                  </a:lnTo>
                  <a:close/>
                </a:path>
              </a:pathLst>
            </a:custGeom>
            <a:solidFill>
              <a:srgbClr val="000000"/>
            </a:solidFill>
          </p:spPr>
          <p:txBody>
            <a:bodyPr wrap="square" lIns="0" tIns="0" rIns="0" bIns="0" rtlCol="0">
              <a:noAutofit/>
            </a:bodyPr>
            <a:lstStyle/>
            <a:p>
              <a:endParaRPr/>
            </a:p>
          </p:txBody>
        </p:sp>
        <p:sp>
          <p:nvSpPr>
            <p:cNvPr id="69" name="object 73"/>
            <p:cNvSpPr/>
            <p:nvPr/>
          </p:nvSpPr>
          <p:spPr>
            <a:xfrm>
              <a:off x="4391025" y="3038475"/>
              <a:ext cx="1123950" cy="809625"/>
            </a:xfrm>
            <a:custGeom>
              <a:avLst/>
              <a:gdLst/>
              <a:ahLst/>
              <a:cxnLst/>
              <a:rect l="l" t="t" r="r" b="b"/>
              <a:pathLst>
                <a:path w="1123950" h="809625">
                  <a:moveTo>
                    <a:pt x="0" y="809625"/>
                  </a:moveTo>
                  <a:lnTo>
                    <a:pt x="1123950" y="0"/>
                  </a:lnTo>
                </a:path>
              </a:pathLst>
            </a:custGeom>
            <a:ln w="9525">
              <a:solidFill>
                <a:srgbClr val="000000"/>
              </a:solidFill>
            </a:ln>
          </p:spPr>
          <p:txBody>
            <a:bodyPr wrap="square" lIns="0" tIns="0" rIns="0" bIns="0" rtlCol="0">
              <a:noAutofit/>
            </a:bodyPr>
            <a:lstStyle/>
            <a:p>
              <a:endParaRPr/>
            </a:p>
          </p:txBody>
        </p:sp>
        <p:sp>
          <p:nvSpPr>
            <p:cNvPr id="70" name="object 74"/>
            <p:cNvSpPr/>
            <p:nvPr/>
          </p:nvSpPr>
          <p:spPr>
            <a:xfrm>
              <a:off x="5486400" y="2971800"/>
              <a:ext cx="123825" cy="104775"/>
            </a:xfrm>
            <a:custGeom>
              <a:avLst/>
              <a:gdLst/>
              <a:ahLst/>
              <a:cxnLst/>
              <a:rect l="l" t="t" r="r" b="b"/>
              <a:pathLst>
                <a:path w="123825" h="104775">
                  <a:moveTo>
                    <a:pt x="123825" y="0"/>
                  </a:moveTo>
                  <a:lnTo>
                    <a:pt x="0" y="38100"/>
                  </a:lnTo>
                  <a:lnTo>
                    <a:pt x="47625" y="104775"/>
                  </a:lnTo>
                  <a:lnTo>
                    <a:pt x="123825" y="0"/>
                  </a:lnTo>
                  <a:close/>
                </a:path>
              </a:pathLst>
            </a:custGeom>
            <a:solidFill>
              <a:srgbClr val="000000"/>
            </a:solidFill>
          </p:spPr>
          <p:txBody>
            <a:bodyPr wrap="square" lIns="0" tIns="0" rIns="0" bIns="0" rtlCol="0">
              <a:noAutofit/>
            </a:bodyPr>
            <a:lstStyle/>
            <a:p>
              <a:endParaRPr/>
            </a:p>
          </p:txBody>
        </p:sp>
        <p:sp>
          <p:nvSpPr>
            <p:cNvPr id="71" name="object 75"/>
            <p:cNvSpPr/>
            <p:nvPr/>
          </p:nvSpPr>
          <p:spPr>
            <a:xfrm>
              <a:off x="2390775" y="4391025"/>
              <a:ext cx="1390650" cy="800100"/>
            </a:xfrm>
            <a:custGeom>
              <a:avLst/>
              <a:gdLst/>
              <a:ahLst/>
              <a:cxnLst/>
              <a:rect l="l" t="t" r="r" b="b"/>
              <a:pathLst>
                <a:path w="1390650" h="800100">
                  <a:moveTo>
                    <a:pt x="0" y="800100"/>
                  </a:moveTo>
                  <a:lnTo>
                    <a:pt x="1390650" y="0"/>
                  </a:lnTo>
                </a:path>
              </a:pathLst>
            </a:custGeom>
            <a:ln w="9525">
              <a:solidFill>
                <a:srgbClr val="000000"/>
              </a:solidFill>
            </a:ln>
          </p:spPr>
          <p:txBody>
            <a:bodyPr wrap="square" lIns="0" tIns="0" rIns="0" bIns="0" rtlCol="0">
              <a:noAutofit/>
            </a:bodyPr>
            <a:lstStyle/>
            <a:p>
              <a:endParaRPr/>
            </a:p>
          </p:txBody>
        </p:sp>
        <p:sp>
          <p:nvSpPr>
            <p:cNvPr id="72" name="object 76"/>
            <p:cNvSpPr/>
            <p:nvPr/>
          </p:nvSpPr>
          <p:spPr>
            <a:xfrm>
              <a:off x="2295525" y="5153025"/>
              <a:ext cx="123825" cy="95250"/>
            </a:xfrm>
            <a:custGeom>
              <a:avLst/>
              <a:gdLst/>
              <a:ahLst/>
              <a:cxnLst/>
              <a:rect l="l" t="t" r="r" b="b"/>
              <a:pathLst>
                <a:path w="123825" h="95250">
                  <a:moveTo>
                    <a:pt x="85725" y="0"/>
                  </a:moveTo>
                  <a:lnTo>
                    <a:pt x="0" y="95250"/>
                  </a:lnTo>
                  <a:lnTo>
                    <a:pt x="123825" y="66675"/>
                  </a:lnTo>
                  <a:lnTo>
                    <a:pt x="85725" y="0"/>
                  </a:lnTo>
                  <a:close/>
                </a:path>
              </a:pathLst>
            </a:custGeom>
            <a:solidFill>
              <a:srgbClr val="000000"/>
            </a:solidFill>
          </p:spPr>
          <p:txBody>
            <a:bodyPr wrap="square" lIns="0" tIns="0" rIns="0" bIns="0" rtlCol="0">
              <a:noAutofit/>
            </a:bodyPr>
            <a:lstStyle/>
            <a:p>
              <a:endParaRPr/>
            </a:p>
          </p:txBody>
        </p:sp>
        <p:sp>
          <p:nvSpPr>
            <p:cNvPr id="73" name="object 77"/>
            <p:cNvSpPr/>
            <p:nvPr/>
          </p:nvSpPr>
          <p:spPr>
            <a:xfrm>
              <a:off x="3390900" y="4381500"/>
              <a:ext cx="571500" cy="781050"/>
            </a:xfrm>
            <a:custGeom>
              <a:avLst/>
              <a:gdLst/>
              <a:ahLst/>
              <a:cxnLst/>
              <a:rect l="l" t="t" r="r" b="b"/>
              <a:pathLst>
                <a:path w="571500" h="781050">
                  <a:moveTo>
                    <a:pt x="571500" y="0"/>
                  </a:moveTo>
                  <a:lnTo>
                    <a:pt x="0" y="781050"/>
                  </a:lnTo>
                </a:path>
              </a:pathLst>
            </a:custGeom>
            <a:ln w="9525">
              <a:solidFill>
                <a:srgbClr val="000000"/>
              </a:solidFill>
            </a:ln>
          </p:spPr>
          <p:txBody>
            <a:bodyPr wrap="square" lIns="0" tIns="0" rIns="0" bIns="0" rtlCol="0">
              <a:noAutofit/>
            </a:bodyPr>
            <a:lstStyle/>
            <a:p>
              <a:endParaRPr/>
            </a:p>
          </p:txBody>
        </p:sp>
        <p:sp>
          <p:nvSpPr>
            <p:cNvPr id="74" name="object 78"/>
            <p:cNvSpPr/>
            <p:nvPr/>
          </p:nvSpPr>
          <p:spPr>
            <a:xfrm>
              <a:off x="3324225" y="5124450"/>
              <a:ext cx="104775" cy="123825"/>
            </a:xfrm>
            <a:custGeom>
              <a:avLst/>
              <a:gdLst/>
              <a:ahLst/>
              <a:cxnLst/>
              <a:rect l="l" t="t" r="r" b="b"/>
              <a:pathLst>
                <a:path w="104775" h="123825">
                  <a:moveTo>
                    <a:pt x="38100" y="0"/>
                  </a:moveTo>
                  <a:lnTo>
                    <a:pt x="0" y="123825"/>
                  </a:lnTo>
                  <a:lnTo>
                    <a:pt x="104775" y="47625"/>
                  </a:lnTo>
                  <a:lnTo>
                    <a:pt x="38100" y="0"/>
                  </a:lnTo>
                  <a:close/>
                </a:path>
              </a:pathLst>
            </a:custGeom>
            <a:solidFill>
              <a:srgbClr val="000000"/>
            </a:solidFill>
          </p:spPr>
          <p:txBody>
            <a:bodyPr wrap="square" lIns="0" tIns="0" rIns="0" bIns="0" rtlCol="0">
              <a:noAutofit/>
            </a:bodyPr>
            <a:lstStyle/>
            <a:p>
              <a:endParaRPr/>
            </a:p>
          </p:txBody>
        </p:sp>
        <p:sp>
          <p:nvSpPr>
            <p:cNvPr id="75" name="object 79"/>
            <p:cNvSpPr/>
            <p:nvPr/>
          </p:nvSpPr>
          <p:spPr>
            <a:xfrm>
              <a:off x="4181475" y="4381500"/>
              <a:ext cx="247650" cy="762000"/>
            </a:xfrm>
            <a:custGeom>
              <a:avLst/>
              <a:gdLst/>
              <a:ahLst/>
              <a:cxnLst/>
              <a:rect l="l" t="t" r="r" b="b"/>
              <a:pathLst>
                <a:path w="247650" h="762000">
                  <a:moveTo>
                    <a:pt x="0" y="0"/>
                  </a:moveTo>
                  <a:lnTo>
                    <a:pt x="247650" y="762000"/>
                  </a:lnTo>
                </a:path>
              </a:pathLst>
            </a:custGeom>
            <a:ln w="9525">
              <a:solidFill>
                <a:srgbClr val="000000"/>
              </a:solidFill>
            </a:ln>
          </p:spPr>
          <p:txBody>
            <a:bodyPr wrap="square" lIns="0" tIns="0" rIns="0" bIns="0" rtlCol="0">
              <a:noAutofit/>
            </a:bodyPr>
            <a:lstStyle/>
            <a:p>
              <a:endParaRPr/>
            </a:p>
          </p:txBody>
        </p:sp>
        <p:sp>
          <p:nvSpPr>
            <p:cNvPr id="76" name="object 80"/>
            <p:cNvSpPr/>
            <p:nvPr/>
          </p:nvSpPr>
          <p:spPr>
            <a:xfrm>
              <a:off x="4391025" y="5124450"/>
              <a:ext cx="76200" cy="123825"/>
            </a:xfrm>
            <a:custGeom>
              <a:avLst/>
              <a:gdLst/>
              <a:ahLst/>
              <a:cxnLst/>
              <a:rect l="l" t="t" r="r" b="b"/>
              <a:pathLst>
                <a:path w="76200" h="123825">
                  <a:moveTo>
                    <a:pt x="76200" y="0"/>
                  </a:moveTo>
                  <a:lnTo>
                    <a:pt x="0" y="19050"/>
                  </a:lnTo>
                  <a:lnTo>
                    <a:pt x="76200" y="123825"/>
                  </a:lnTo>
                  <a:lnTo>
                    <a:pt x="76200" y="0"/>
                  </a:lnTo>
                  <a:close/>
                </a:path>
              </a:pathLst>
            </a:custGeom>
            <a:solidFill>
              <a:srgbClr val="000000"/>
            </a:solidFill>
          </p:spPr>
          <p:txBody>
            <a:bodyPr wrap="square" lIns="0" tIns="0" rIns="0" bIns="0" rtlCol="0">
              <a:noAutofit/>
            </a:bodyPr>
            <a:lstStyle/>
            <a:p>
              <a:endParaRPr/>
            </a:p>
          </p:txBody>
        </p:sp>
        <p:sp>
          <p:nvSpPr>
            <p:cNvPr id="77" name="object 81"/>
            <p:cNvSpPr/>
            <p:nvPr/>
          </p:nvSpPr>
          <p:spPr>
            <a:xfrm>
              <a:off x="4352925" y="4391025"/>
              <a:ext cx="1219200" cy="742950"/>
            </a:xfrm>
            <a:custGeom>
              <a:avLst/>
              <a:gdLst/>
              <a:ahLst/>
              <a:cxnLst/>
              <a:rect l="l" t="t" r="r" b="b"/>
              <a:pathLst>
                <a:path w="1219200" h="742950">
                  <a:moveTo>
                    <a:pt x="0" y="0"/>
                  </a:moveTo>
                  <a:lnTo>
                    <a:pt x="1219200" y="742950"/>
                  </a:lnTo>
                </a:path>
              </a:pathLst>
            </a:custGeom>
            <a:ln w="9525">
              <a:solidFill>
                <a:srgbClr val="000000"/>
              </a:solidFill>
            </a:ln>
          </p:spPr>
          <p:txBody>
            <a:bodyPr wrap="square" lIns="0" tIns="0" rIns="0" bIns="0" rtlCol="0">
              <a:noAutofit/>
            </a:bodyPr>
            <a:lstStyle/>
            <a:p>
              <a:endParaRPr/>
            </a:p>
          </p:txBody>
        </p:sp>
        <p:sp>
          <p:nvSpPr>
            <p:cNvPr id="78" name="object 82"/>
            <p:cNvSpPr/>
            <p:nvPr/>
          </p:nvSpPr>
          <p:spPr>
            <a:xfrm>
              <a:off x="5543550" y="5095875"/>
              <a:ext cx="123825" cy="95250"/>
            </a:xfrm>
            <a:custGeom>
              <a:avLst/>
              <a:gdLst/>
              <a:ahLst/>
              <a:cxnLst/>
              <a:rect l="l" t="t" r="r" b="b"/>
              <a:pathLst>
                <a:path w="123825" h="95250">
                  <a:moveTo>
                    <a:pt x="38100" y="0"/>
                  </a:moveTo>
                  <a:lnTo>
                    <a:pt x="0" y="66675"/>
                  </a:lnTo>
                  <a:lnTo>
                    <a:pt x="123825" y="95250"/>
                  </a:lnTo>
                  <a:lnTo>
                    <a:pt x="38100" y="0"/>
                  </a:lnTo>
                  <a:close/>
                </a:path>
              </a:pathLst>
            </a:custGeom>
            <a:solidFill>
              <a:srgbClr val="000000"/>
            </a:solidFill>
          </p:spPr>
          <p:txBody>
            <a:bodyPr wrap="square" lIns="0" tIns="0" rIns="0" bIns="0" rtlCol="0">
              <a:noAutofit/>
            </a:bodyPr>
            <a:lstStyle/>
            <a:p>
              <a:endParaRPr/>
            </a:p>
          </p:txBody>
        </p:sp>
        <p:sp>
          <p:nvSpPr>
            <p:cNvPr id="79" name="object 83"/>
            <p:cNvSpPr/>
            <p:nvPr/>
          </p:nvSpPr>
          <p:spPr>
            <a:xfrm>
              <a:off x="7038975" y="2952750"/>
              <a:ext cx="628650" cy="933450"/>
            </a:xfrm>
            <a:custGeom>
              <a:avLst/>
              <a:gdLst/>
              <a:ahLst/>
              <a:cxnLst/>
              <a:rect l="l" t="t" r="r" b="b"/>
              <a:pathLst>
                <a:path w="628650" h="933450">
                  <a:moveTo>
                    <a:pt x="628650" y="933450"/>
                  </a:moveTo>
                  <a:lnTo>
                    <a:pt x="0" y="0"/>
                  </a:lnTo>
                </a:path>
              </a:pathLst>
            </a:custGeom>
            <a:ln w="9525">
              <a:solidFill>
                <a:srgbClr val="000000"/>
              </a:solidFill>
            </a:ln>
          </p:spPr>
          <p:txBody>
            <a:bodyPr wrap="square" lIns="0" tIns="0" rIns="0" bIns="0" rtlCol="0">
              <a:noAutofit/>
            </a:bodyPr>
            <a:lstStyle/>
            <a:p>
              <a:endParaRPr/>
            </a:p>
          </p:txBody>
        </p:sp>
        <p:sp>
          <p:nvSpPr>
            <p:cNvPr id="80" name="object 84"/>
            <p:cNvSpPr/>
            <p:nvPr/>
          </p:nvSpPr>
          <p:spPr>
            <a:xfrm>
              <a:off x="6981825" y="2857500"/>
              <a:ext cx="95250" cy="123825"/>
            </a:xfrm>
            <a:custGeom>
              <a:avLst/>
              <a:gdLst/>
              <a:ahLst/>
              <a:cxnLst/>
              <a:rect l="l" t="t" r="r" b="b"/>
              <a:pathLst>
                <a:path w="95250" h="123825">
                  <a:moveTo>
                    <a:pt x="0" y="0"/>
                  </a:moveTo>
                  <a:lnTo>
                    <a:pt x="28575" y="123825"/>
                  </a:lnTo>
                  <a:lnTo>
                    <a:pt x="95250" y="76200"/>
                  </a:lnTo>
                  <a:lnTo>
                    <a:pt x="0" y="0"/>
                  </a:lnTo>
                  <a:close/>
                </a:path>
              </a:pathLst>
            </a:custGeom>
            <a:solidFill>
              <a:srgbClr val="000000"/>
            </a:solidFill>
          </p:spPr>
          <p:txBody>
            <a:bodyPr wrap="square" lIns="0" tIns="0" rIns="0" bIns="0" rtlCol="0">
              <a:noAutofit/>
            </a:bodyPr>
            <a:lstStyle/>
            <a:p>
              <a:endParaRPr/>
            </a:p>
          </p:txBody>
        </p:sp>
        <p:sp>
          <p:nvSpPr>
            <p:cNvPr id="81" name="object 85"/>
            <p:cNvSpPr/>
            <p:nvPr/>
          </p:nvSpPr>
          <p:spPr>
            <a:xfrm>
              <a:off x="6991350" y="4343400"/>
              <a:ext cx="676275" cy="819150"/>
            </a:xfrm>
            <a:custGeom>
              <a:avLst/>
              <a:gdLst/>
              <a:ahLst/>
              <a:cxnLst/>
              <a:rect l="l" t="t" r="r" b="b"/>
              <a:pathLst>
                <a:path w="676275" h="819150">
                  <a:moveTo>
                    <a:pt x="676275" y="0"/>
                  </a:moveTo>
                  <a:lnTo>
                    <a:pt x="0" y="819150"/>
                  </a:lnTo>
                </a:path>
              </a:pathLst>
            </a:custGeom>
            <a:ln w="9525">
              <a:solidFill>
                <a:srgbClr val="000000"/>
              </a:solidFill>
            </a:ln>
          </p:spPr>
          <p:txBody>
            <a:bodyPr wrap="square" lIns="0" tIns="0" rIns="0" bIns="0" rtlCol="0">
              <a:noAutofit/>
            </a:bodyPr>
            <a:lstStyle/>
            <a:p>
              <a:endParaRPr/>
            </a:p>
          </p:txBody>
        </p:sp>
        <p:sp>
          <p:nvSpPr>
            <p:cNvPr id="82" name="object 86"/>
            <p:cNvSpPr/>
            <p:nvPr/>
          </p:nvSpPr>
          <p:spPr>
            <a:xfrm>
              <a:off x="6924675" y="5133975"/>
              <a:ext cx="104775" cy="114300"/>
            </a:xfrm>
            <a:custGeom>
              <a:avLst/>
              <a:gdLst/>
              <a:ahLst/>
              <a:cxnLst/>
              <a:rect l="l" t="t" r="r" b="b"/>
              <a:pathLst>
                <a:path w="104775" h="114300">
                  <a:moveTo>
                    <a:pt x="47625" y="0"/>
                  </a:moveTo>
                  <a:lnTo>
                    <a:pt x="0" y="114300"/>
                  </a:lnTo>
                  <a:lnTo>
                    <a:pt x="104775" y="47625"/>
                  </a:lnTo>
                  <a:lnTo>
                    <a:pt x="47625" y="0"/>
                  </a:lnTo>
                  <a:close/>
                </a:path>
              </a:pathLst>
            </a:custGeom>
            <a:solidFill>
              <a:srgbClr val="000000"/>
            </a:solidFill>
          </p:spPr>
          <p:txBody>
            <a:bodyPr wrap="square" lIns="0" tIns="0" rIns="0" bIns="0" rtlCol="0">
              <a:noAutofit/>
            </a:bodyPr>
            <a:lstStyle/>
            <a:p>
              <a:endParaRPr/>
            </a:p>
          </p:txBody>
        </p:sp>
        <p:sp>
          <p:nvSpPr>
            <p:cNvPr id="83" name="object 87"/>
            <p:cNvSpPr/>
            <p:nvPr/>
          </p:nvSpPr>
          <p:spPr>
            <a:xfrm>
              <a:off x="5038725" y="2000250"/>
              <a:ext cx="0" cy="152400"/>
            </a:xfrm>
            <a:custGeom>
              <a:avLst/>
              <a:gdLst/>
              <a:ahLst/>
              <a:cxnLst/>
              <a:rect l="l" t="t" r="r" b="b"/>
              <a:pathLst>
                <a:path h="152400">
                  <a:moveTo>
                    <a:pt x="0" y="0"/>
                  </a:moveTo>
                  <a:lnTo>
                    <a:pt x="0" y="152400"/>
                  </a:lnTo>
                </a:path>
              </a:pathLst>
            </a:custGeom>
            <a:ln w="19050">
              <a:solidFill>
                <a:srgbClr val="000000"/>
              </a:solidFill>
            </a:ln>
          </p:spPr>
          <p:txBody>
            <a:bodyPr wrap="square" lIns="0" tIns="0" rIns="0" bIns="0" rtlCol="0">
              <a:noAutofit/>
            </a:bodyPr>
            <a:lstStyle/>
            <a:p>
              <a:endParaRPr/>
            </a:p>
          </p:txBody>
        </p:sp>
        <p:sp>
          <p:nvSpPr>
            <p:cNvPr id="84" name="object 88"/>
            <p:cNvSpPr/>
            <p:nvPr/>
          </p:nvSpPr>
          <p:spPr>
            <a:xfrm>
              <a:off x="4991100" y="2143125"/>
              <a:ext cx="95250" cy="142875"/>
            </a:xfrm>
            <a:custGeom>
              <a:avLst/>
              <a:gdLst/>
              <a:ahLst/>
              <a:cxnLst/>
              <a:rect l="l" t="t" r="r" b="b"/>
              <a:pathLst>
                <a:path w="95250" h="142875">
                  <a:moveTo>
                    <a:pt x="95250" y="0"/>
                  </a:moveTo>
                  <a:lnTo>
                    <a:pt x="0" y="0"/>
                  </a:lnTo>
                  <a:lnTo>
                    <a:pt x="47625" y="142875"/>
                  </a:lnTo>
                  <a:lnTo>
                    <a:pt x="95250" y="0"/>
                  </a:lnTo>
                  <a:close/>
                </a:path>
              </a:pathLst>
            </a:custGeom>
            <a:solidFill>
              <a:srgbClr val="000000"/>
            </a:solidFill>
          </p:spPr>
          <p:txBody>
            <a:bodyPr wrap="square" lIns="0" tIns="0" rIns="0" bIns="0" rtlCol="0">
              <a:noAutofit/>
            </a:bodyPr>
            <a:lstStyle/>
            <a:p>
              <a:endParaRPr/>
            </a:p>
          </p:txBody>
        </p:sp>
        <p:sp>
          <p:nvSpPr>
            <p:cNvPr id="85" name="object 89"/>
            <p:cNvSpPr/>
            <p:nvPr/>
          </p:nvSpPr>
          <p:spPr>
            <a:xfrm>
              <a:off x="5076825" y="5705475"/>
              <a:ext cx="0" cy="466725"/>
            </a:xfrm>
            <a:custGeom>
              <a:avLst/>
              <a:gdLst/>
              <a:ahLst/>
              <a:cxnLst/>
              <a:rect l="l" t="t" r="r" b="b"/>
              <a:pathLst>
                <a:path h="466725">
                  <a:moveTo>
                    <a:pt x="0" y="0"/>
                  </a:moveTo>
                  <a:lnTo>
                    <a:pt x="0" y="466725"/>
                  </a:lnTo>
                </a:path>
              </a:pathLst>
            </a:custGeom>
            <a:ln w="19050">
              <a:solidFill>
                <a:srgbClr val="000000"/>
              </a:solidFill>
            </a:ln>
          </p:spPr>
          <p:txBody>
            <a:bodyPr wrap="square" lIns="0" tIns="0" rIns="0" bIns="0" rtlCol="0">
              <a:noAutofit/>
            </a:bodyPr>
            <a:lstStyle/>
            <a:p>
              <a:endParaRPr/>
            </a:p>
          </p:txBody>
        </p:sp>
        <p:sp>
          <p:nvSpPr>
            <p:cNvPr id="86" name="object 90"/>
            <p:cNvSpPr/>
            <p:nvPr/>
          </p:nvSpPr>
          <p:spPr>
            <a:xfrm>
              <a:off x="5029200" y="6162675"/>
              <a:ext cx="95250" cy="142875"/>
            </a:xfrm>
            <a:custGeom>
              <a:avLst/>
              <a:gdLst/>
              <a:ahLst/>
              <a:cxnLst/>
              <a:rect l="l" t="t" r="r" b="b"/>
              <a:pathLst>
                <a:path w="95250" h="142875">
                  <a:moveTo>
                    <a:pt x="95250" y="0"/>
                  </a:moveTo>
                  <a:lnTo>
                    <a:pt x="0" y="0"/>
                  </a:lnTo>
                  <a:lnTo>
                    <a:pt x="47625" y="142875"/>
                  </a:lnTo>
                  <a:lnTo>
                    <a:pt x="95250" y="0"/>
                  </a:lnTo>
                  <a:close/>
                </a:path>
              </a:pathLst>
            </a:custGeom>
            <a:solidFill>
              <a:srgbClr val="000000"/>
            </a:solidFill>
          </p:spPr>
          <p:txBody>
            <a:bodyPr wrap="square" lIns="0" tIns="0" rIns="0" bIns="0" rtlCol="0">
              <a:noAutofit/>
            </a:bodyPr>
            <a:lstStyle/>
            <a:p>
              <a:endParaRPr/>
            </a:p>
          </p:txBody>
        </p:sp>
        <p:sp>
          <p:nvSpPr>
            <p:cNvPr id="87" name="object 91"/>
            <p:cNvSpPr txBox="1"/>
            <p:nvPr/>
          </p:nvSpPr>
          <p:spPr>
            <a:xfrm>
              <a:off x="5226050" y="6124575"/>
              <a:ext cx="644525" cy="194310"/>
            </a:xfrm>
            <a:prstGeom prst="rect">
              <a:avLst/>
            </a:prstGeom>
          </p:spPr>
          <p:txBody>
            <a:bodyPr vert="horz" wrap="square" lIns="0" tIns="0" rIns="0" bIns="0" rtlCol="0">
              <a:noAutofit/>
            </a:bodyPr>
            <a:lstStyle/>
            <a:p>
              <a:pPr marL="12700">
                <a:lnSpc>
                  <a:spcPct val="100000"/>
                </a:lnSpc>
              </a:pPr>
              <a:r>
                <a:rPr sz="1200" b="1" spc="-10" dirty="0">
                  <a:latin typeface="Arial"/>
                  <a:cs typeface="Arial"/>
                </a:rPr>
                <a:t>To</a:t>
              </a:r>
              <a:r>
                <a:rPr sz="1200" b="1" spc="45" dirty="0">
                  <a:latin typeface="Arial"/>
                  <a:cs typeface="Arial"/>
                </a:rPr>
                <a:t> </a:t>
              </a:r>
              <a:r>
                <a:rPr sz="1200" b="1" spc="0" dirty="0">
                  <a:latin typeface="Arial"/>
                  <a:cs typeface="Arial"/>
                </a:rPr>
                <a:t>other</a:t>
              </a:r>
              <a:endParaRPr sz="1200">
                <a:latin typeface="Arial"/>
                <a:cs typeface="Arial"/>
              </a:endParaRPr>
            </a:p>
          </p:txBody>
        </p:sp>
        <p:sp>
          <p:nvSpPr>
            <p:cNvPr id="88" name="object 92"/>
            <p:cNvSpPr txBox="1"/>
            <p:nvPr/>
          </p:nvSpPr>
          <p:spPr>
            <a:xfrm>
              <a:off x="5083175" y="6305550"/>
              <a:ext cx="930275" cy="194310"/>
            </a:xfrm>
            <a:prstGeom prst="rect">
              <a:avLst/>
            </a:prstGeom>
          </p:spPr>
          <p:txBody>
            <a:bodyPr vert="horz" wrap="square" lIns="0" tIns="0" rIns="0" bIns="0" rtlCol="0">
              <a:noAutofit/>
            </a:bodyPr>
            <a:lstStyle/>
            <a:p>
              <a:pPr marL="12700">
                <a:lnSpc>
                  <a:spcPct val="100000"/>
                </a:lnSpc>
              </a:pPr>
              <a:r>
                <a:rPr sz="1200" b="1" spc="-10" dirty="0">
                  <a:latin typeface="Arial"/>
                  <a:cs typeface="Arial"/>
                </a:rPr>
                <a:t>destinations</a:t>
              </a:r>
              <a:endParaRPr sz="1200">
                <a:latin typeface="Arial"/>
                <a:cs typeface="Arial"/>
              </a:endParaRPr>
            </a:p>
          </p:txBody>
        </p:sp>
        <p:sp>
          <p:nvSpPr>
            <p:cNvPr id="89" name="object 93"/>
            <p:cNvSpPr txBox="1"/>
            <p:nvPr/>
          </p:nvSpPr>
          <p:spPr>
            <a:xfrm>
              <a:off x="5006975" y="1725869"/>
              <a:ext cx="825500" cy="392430"/>
            </a:xfrm>
            <a:prstGeom prst="rect">
              <a:avLst/>
            </a:prstGeom>
          </p:spPr>
          <p:txBody>
            <a:bodyPr vert="horz" wrap="square" lIns="0" tIns="0" rIns="0" bIns="0" rtlCol="0">
              <a:noAutofit/>
            </a:bodyPr>
            <a:lstStyle/>
            <a:p>
              <a:pPr marL="117475" marR="12700" indent="-104775">
                <a:lnSpc>
                  <a:spcPct val="104200"/>
                </a:lnSpc>
              </a:pPr>
              <a:r>
                <a:rPr sz="1200" b="1" dirty="0">
                  <a:latin typeface="Arial"/>
                  <a:cs typeface="Arial"/>
                </a:rPr>
                <a:t>From</a:t>
              </a:r>
              <a:r>
                <a:rPr sz="1200" b="1" spc="-35" dirty="0">
                  <a:latin typeface="Arial"/>
                  <a:cs typeface="Arial"/>
                </a:rPr>
                <a:t> </a:t>
              </a:r>
              <a:r>
                <a:rPr sz="1200" b="1" spc="0" dirty="0">
                  <a:latin typeface="Arial"/>
                  <a:cs typeface="Arial"/>
                </a:rPr>
                <a:t>other </a:t>
              </a:r>
              <a:r>
                <a:rPr sz="1200" b="1" spc="-15" dirty="0">
                  <a:latin typeface="Arial"/>
                  <a:cs typeface="Arial"/>
                </a:rPr>
                <a:t>sources</a:t>
              </a:r>
              <a:endParaRPr sz="1200">
                <a:latin typeface="Arial"/>
                <a:cs typeface="Arial"/>
              </a:endParaRPr>
            </a:p>
          </p:txBody>
        </p:sp>
        <p:sp>
          <p:nvSpPr>
            <p:cNvPr id="90" name="object 94"/>
            <p:cNvSpPr/>
            <p:nvPr/>
          </p:nvSpPr>
          <p:spPr>
            <a:xfrm>
              <a:off x="4467225" y="2114550"/>
              <a:ext cx="0" cy="247650"/>
            </a:xfrm>
            <a:custGeom>
              <a:avLst/>
              <a:gdLst/>
              <a:ahLst/>
              <a:cxnLst/>
              <a:rect l="l" t="t" r="r" b="b"/>
              <a:pathLst>
                <a:path h="247650">
                  <a:moveTo>
                    <a:pt x="0" y="0"/>
                  </a:moveTo>
                  <a:lnTo>
                    <a:pt x="0" y="247650"/>
                  </a:lnTo>
                </a:path>
              </a:pathLst>
            </a:custGeom>
            <a:ln w="19050">
              <a:solidFill>
                <a:srgbClr val="000000"/>
              </a:solidFill>
            </a:ln>
          </p:spPr>
          <p:txBody>
            <a:bodyPr wrap="square" lIns="0" tIns="0" rIns="0" bIns="0" rtlCol="0">
              <a:noAutofit/>
            </a:bodyPr>
            <a:lstStyle/>
            <a:p>
              <a:endParaRPr/>
            </a:p>
          </p:txBody>
        </p:sp>
        <p:sp>
          <p:nvSpPr>
            <p:cNvPr id="91" name="object 95"/>
            <p:cNvSpPr/>
            <p:nvPr/>
          </p:nvSpPr>
          <p:spPr>
            <a:xfrm>
              <a:off x="4419600" y="2352675"/>
              <a:ext cx="95250" cy="142875"/>
            </a:xfrm>
            <a:custGeom>
              <a:avLst/>
              <a:gdLst/>
              <a:ahLst/>
              <a:cxnLst/>
              <a:rect l="l" t="t" r="r" b="b"/>
              <a:pathLst>
                <a:path w="95250" h="142875">
                  <a:moveTo>
                    <a:pt x="95250" y="0"/>
                  </a:moveTo>
                  <a:lnTo>
                    <a:pt x="0" y="0"/>
                  </a:lnTo>
                  <a:lnTo>
                    <a:pt x="47625" y="142875"/>
                  </a:lnTo>
                  <a:lnTo>
                    <a:pt x="95250" y="0"/>
                  </a:lnTo>
                  <a:close/>
                </a:path>
              </a:pathLst>
            </a:custGeom>
            <a:solidFill>
              <a:srgbClr val="000000"/>
            </a:solidFill>
          </p:spPr>
          <p:txBody>
            <a:bodyPr wrap="square" lIns="0" tIns="0" rIns="0" bIns="0" rtlCol="0">
              <a:noAutofit/>
            </a:bodyPr>
            <a:lstStyle/>
            <a:p>
              <a:endParaRPr/>
            </a:p>
          </p:txBody>
        </p:sp>
        <p:sp>
          <p:nvSpPr>
            <p:cNvPr id="92" name="object 96"/>
            <p:cNvSpPr/>
            <p:nvPr/>
          </p:nvSpPr>
          <p:spPr>
            <a:xfrm>
              <a:off x="3438525" y="2133600"/>
              <a:ext cx="0" cy="190500"/>
            </a:xfrm>
            <a:custGeom>
              <a:avLst/>
              <a:gdLst/>
              <a:ahLst/>
              <a:cxnLst/>
              <a:rect l="l" t="t" r="r" b="b"/>
              <a:pathLst>
                <a:path h="190500">
                  <a:moveTo>
                    <a:pt x="0" y="0"/>
                  </a:moveTo>
                  <a:lnTo>
                    <a:pt x="0" y="190500"/>
                  </a:lnTo>
                </a:path>
              </a:pathLst>
            </a:custGeom>
            <a:ln w="19050">
              <a:solidFill>
                <a:srgbClr val="000000"/>
              </a:solidFill>
            </a:ln>
          </p:spPr>
          <p:txBody>
            <a:bodyPr wrap="square" lIns="0" tIns="0" rIns="0" bIns="0" rtlCol="0">
              <a:noAutofit/>
            </a:bodyPr>
            <a:lstStyle/>
            <a:p>
              <a:endParaRPr/>
            </a:p>
          </p:txBody>
        </p:sp>
        <p:sp>
          <p:nvSpPr>
            <p:cNvPr id="93" name="object 97"/>
            <p:cNvSpPr/>
            <p:nvPr/>
          </p:nvSpPr>
          <p:spPr>
            <a:xfrm>
              <a:off x="3390900" y="2314575"/>
              <a:ext cx="95250" cy="142875"/>
            </a:xfrm>
            <a:custGeom>
              <a:avLst/>
              <a:gdLst/>
              <a:ahLst/>
              <a:cxnLst/>
              <a:rect l="l" t="t" r="r" b="b"/>
              <a:pathLst>
                <a:path w="95250" h="142875">
                  <a:moveTo>
                    <a:pt x="95250" y="0"/>
                  </a:moveTo>
                  <a:lnTo>
                    <a:pt x="0" y="0"/>
                  </a:lnTo>
                  <a:lnTo>
                    <a:pt x="47625" y="142875"/>
                  </a:lnTo>
                  <a:lnTo>
                    <a:pt x="95250" y="0"/>
                  </a:lnTo>
                  <a:close/>
                </a:path>
              </a:pathLst>
            </a:custGeom>
            <a:solidFill>
              <a:srgbClr val="000000"/>
            </a:solidFill>
          </p:spPr>
          <p:txBody>
            <a:bodyPr wrap="square" lIns="0" tIns="0" rIns="0" bIns="0" rtlCol="0">
              <a:noAutofit/>
            </a:bodyPr>
            <a:lstStyle/>
            <a:p>
              <a:endParaRPr/>
            </a:p>
          </p:txBody>
        </p:sp>
        <p:sp>
          <p:nvSpPr>
            <p:cNvPr id="94" name="object 98"/>
            <p:cNvSpPr/>
            <p:nvPr/>
          </p:nvSpPr>
          <p:spPr>
            <a:xfrm>
              <a:off x="2409825" y="5638800"/>
              <a:ext cx="0" cy="295275"/>
            </a:xfrm>
            <a:custGeom>
              <a:avLst/>
              <a:gdLst/>
              <a:ahLst/>
              <a:cxnLst/>
              <a:rect l="l" t="t" r="r" b="b"/>
              <a:pathLst>
                <a:path h="295275">
                  <a:moveTo>
                    <a:pt x="0" y="295275"/>
                  </a:moveTo>
                  <a:lnTo>
                    <a:pt x="0" y="0"/>
                  </a:lnTo>
                </a:path>
              </a:pathLst>
            </a:custGeom>
            <a:ln w="19050">
              <a:solidFill>
                <a:srgbClr val="000000"/>
              </a:solidFill>
            </a:ln>
          </p:spPr>
          <p:txBody>
            <a:bodyPr wrap="square" lIns="0" tIns="0" rIns="0" bIns="0" rtlCol="0">
              <a:noAutofit/>
            </a:bodyPr>
            <a:lstStyle/>
            <a:p>
              <a:endParaRPr/>
            </a:p>
          </p:txBody>
        </p:sp>
        <p:sp>
          <p:nvSpPr>
            <p:cNvPr id="95" name="object 99"/>
            <p:cNvSpPr/>
            <p:nvPr/>
          </p:nvSpPr>
          <p:spPr>
            <a:xfrm>
              <a:off x="2362200" y="5505450"/>
              <a:ext cx="95250" cy="142875"/>
            </a:xfrm>
            <a:custGeom>
              <a:avLst/>
              <a:gdLst/>
              <a:ahLst/>
              <a:cxnLst/>
              <a:rect l="l" t="t" r="r" b="b"/>
              <a:pathLst>
                <a:path w="95250" h="142875">
                  <a:moveTo>
                    <a:pt x="47625" y="0"/>
                  </a:moveTo>
                  <a:lnTo>
                    <a:pt x="0" y="142875"/>
                  </a:lnTo>
                  <a:lnTo>
                    <a:pt x="95250" y="142875"/>
                  </a:lnTo>
                  <a:lnTo>
                    <a:pt x="47625" y="0"/>
                  </a:lnTo>
                  <a:close/>
                </a:path>
              </a:pathLst>
            </a:custGeom>
            <a:solidFill>
              <a:srgbClr val="000000"/>
            </a:solidFill>
          </p:spPr>
          <p:txBody>
            <a:bodyPr wrap="square" lIns="0" tIns="0" rIns="0" bIns="0" rtlCol="0">
              <a:noAutofit/>
            </a:bodyPr>
            <a:lstStyle/>
            <a:p>
              <a:endParaRPr/>
            </a:p>
          </p:txBody>
        </p:sp>
        <p:sp>
          <p:nvSpPr>
            <p:cNvPr id="96" name="object 100"/>
            <p:cNvSpPr/>
            <p:nvPr/>
          </p:nvSpPr>
          <p:spPr>
            <a:xfrm>
              <a:off x="2352675" y="2171700"/>
              <a:ext cx="0" cy="190500"/>
            </a:xfrm>
            <a:custGeom>
              <a:avLst/>
              <a:gdLst/>
              <a:ahLst/>
              <a:cxnLst/>
              <a:rect l="l" t="t" r="r" b="b"/>
              <a:pathLst>
                <a:path h="190500">
                  <a:moveTo>
                    <a:pt x="0" y="0"/>
                  </a:moveTo>
                  <a:lnTo>
                    <a:pt x="0" y="190500"/>
                  </a:lnTo>
                </a:path>
              </a:pathLst>
            </a:custGeom>
            <a:ln w="19050">
              <a:solidFill>
                <a:srgbClr val="000000"/>
              </a:solidFill>
            </a:ln>
          </p:spPr>
          <p:txBody>
            <a:bodyPr wrap="square" lIns="0" tIns="0" rIns="0" bIns="0" rtlCol="0">
              <a:noAutofit/>
            </a:bodyPr>
            <a:lstStyle/>
            <a:p>
              <a:endParaRPr/>
            </a:p>
          </p:txBody>
        </p:sp>
        <p:sp>
          <p:nvSpPr>
            <p:cNvPr id="97" name="object 101"/>
            <p:cNvSpPr/>
            <p:nvPr/>
          </p:nvSpPr>
          <p:spPr>
            <a:xfrm>
              <a:off x="2305050" y="2352675"/>
              <a:ext cx="95250" cy="142875"/>
            </a:xfrm>
            <a:custGeom>
              <a:avLst/>
              <a:gdLst/>
              <a:ahLst/>
              <a:cxnLst/>
              <a:rect l="l" t="t" r="r" b="b"/>
              <a:pathLst>
                <a:path w="95250" h="142875">
                  <a:moveTo>
                    <a:pt x="95250" y="0"/>
                  </a:moveTo>
                  <a:lnTo>
                    <a:pt x="0" y="0"/>
                  </a:lnTo>
                  <a:lnTo>
                    <a:pt x="47625" y="142875"/>
                  </a:lnTo>
                  <a:lnTo>
                    <a:pt x="95250" y="0"/>
                  </a:lnTo>
                  <a:close/>
                </a:path>
              </a:pathLst>
            </a:custGeom>
            <a:solidFill>
              <a:srgbClr val="000000"/>
            </a:solidFill>
          </p:spPr>
          <p:txBody>
            <a:bodyPr wrap="square" lIns="0" tIns="0" rIns="0" bIns="0" rtlCol="0">
              <a:noAutofit/>
            </a:bodyPr>
            <a:lstStyle/>
            <a:p>
              <a:endParaRPr/>
            </a:p>
          </p:txBody>
        </p:sp>
        <p:sp>
          <p:nvSpPr>
            <p:cNvPr id="98" name="object 102"/>
            <p:cNvSpPr txBox="1"/>
            <p:nvPr/>
          </p:nvSpPr>
          <p:spPr>
            <a:xfrm>
              <a:off x="2101850" y="1759711"/>
              <a:ext cx="501650" cy="368300"/>
            </a:xfrm>
            <a:prstGeom prst="rect">
              <a:avLst/>
            </a:prstGeom>
          </p:spPr>
          <p:txBody>
            <a:bodyPr vert="horz" wrap="square" lIns="0" tIns="0" rIns="0" bIns="0" rtlCol="0">
              <a:noAutofit/>
            </a:bodyPr>
            <a:lstStyle/>
            <a:p>
              <a:pPr marL="60325" marR="12700" indent="-47625">
                <a:lnSpc>
                  <a:spcPts val="1430"/>
                </a:lnSpc>
              </a:pPr>
              <a:r>
                <a:rPr sz="1200" b="1" spc="0" dirty="0">
                  <a:latin typeface="Arial"/>
                  <a:cs typeface="Arial"/>
                </a:rPr>
                <a:t>Digital input</a:t>
              </a:r>
              <a:endParaRPr sz="1200">
                <a:latin typeface="Arial"/>
                <a:cs typeface="Arial"/>
              </a:endParaRPr>
            </a:p>
          </p:txBody>
        </p:sp>
        <p:sp>
          <p:nvSpPr>
            <p:cNvPr id="99" name="object 103"/>
            <p:cNvSpPr txBox="1"/>
            <p:nvPr/>
          </p:nvSpPr>
          <p:spPr>
            <a:xfrm>
              <a:off x="2159000" y="5926394"/>
              <a:ext cx="501650" cy="392430"/>
            </a:xfrm>
            <a:prstGeom prst="rect">
              <a:avLst/>
            </a:prstGeom>
          </p:spPr>
          <p:txBody>
            <a:bodyPr vert="horz" wrap="square" lIns="0" tIns="0" rIns="0" bIns="0" rtlCol="0">
              <a:noAutofit/>
            </a:bodyPr>
            <a:lstStyle/>
            <a:p>
              <a:pPr marL="12700" marR="12700">
                <a:lnSpc>
                  <a:spcPct val="104200"/>
                </a:lnSpc>
              </a:pPr>
              <a:r>
                <a:rPr sz="1200" b="1" spc="0" dirty="0">
                  <a:latin typeface="Arial"/>
                  <a:cs typeface="Arial"/>
                </a:rPr>
                <a:t>Digital </a:t>
              </a:r>
              <a:r>
                <a:rPr sz="1200" b="1" spc="-20" dirty="0">
                  <a:latin typeface="Arial"/>
                  <a:cs typeface="Arial"/>
                </a:rPr>
                <a:t>output</a:t>
              </a:r>
              <a:endParaRPr sz="1200">
                <a:latin typeface="Arial"/>
                <a:cs typeface="Arial"/>
              </a:endParaRPr>
            </a:p>
          </p:txBody>
        </p:sp>
        <p:sp>
          <p:nvSpPr>
            <p:cNvPr id="100" name="object 104"/>
            <p:cNvSpPr/>
            <p:nvPr/>
          </p:nvSpPr>
          <p:spPr>
            <a:xfrm>
              <a:off x="3438525" y="5743575"/>
              <a:ext cx="0" cy="190500"/>
            </a:xfrm>
            <a:custGeom>
              <a:avLst/>
              <a:gdLst/>
              <a:ahLst/>
              <a:cxnLst/>
              <a:rect l="l" t="t" r="r" b="b"/>
              <a:pathLst>
                <a:path h="190500">
                  <a:moveTo>
                    <a:pt x="0" y="190500"/>
                  </a:moveTo>
                  <a:lnTo>
                    <a:pt x="0" y="0"/>
                  </a:lnTo>
                </a:path>
              </a:pathLst>
            </a:custGeom>
            <a:ln w="19050">
              <a:solidFill>
                <a:srgbClr val="000000"/>
              </a:solidFill>
            </a:ln>
          </p:spPr>
          <p:txBody>
            <a:bodyPr wrap="square" lIns="0" tIns="0" rIns="0" bIns="0" rtlCol="0">
              <a:noAutofit/>
            </a:bodyPr>
            <a:lstStyle/>
            <a:p>
              <a:endParaRPr/>
            </a:p>
          </p:txBody>
        </p:sp>
        <p:sp>
          <p:nvSpPr>
            <p:cNvPr id="101" name="object 105"/>
            <p:cNvSpPr/>
            <p:nvPr/>
          </p:nvSpPr>
          <p:spPr>
            <a:xfrm>
              <a:off x="3390900" y="5610225"/>
              <a:ext cx="95250" cy="142875"/>
            </a:xfrm>
            <a:custGeom>
              <a:avLst/>
              <a:gdLst/>
              <a:ahLst/>
              <a:cxnLst/>
              <a:rect l="l" t="t" r="r" b="b"/>
              <a:pathLst>
                <a:path w="95250" h="142875">
                  <a:moveTo>
                    <a:pt x="47625" y="0"/>
                  </a:moveTo>
                  <a:lnTo>
                    <a:pt x="0" y="142875"/>
                  </a:lnTo>
                  <a:lnTo>
                    <a:pt x="95250" y="142875"/>
                  </a:lnTo>
                  <a:lnTo>
                    <a:pt x="47625" y="0"/>
                  </a:lnTo>
                  <a:close/>
                </a:path>
              </a:pathLst>
            </a:custGeom>
            <a:solidFill>
              <a:srgbClr val="000000"/>
            </a:solidFill>
          </p:spPr>
          <p:txBody>
            <a:bodyPr wrap="square" lIns="0" tIns="0" rIns="0" bIns="0" rtlCol="0">
              <a:noAutofit/>
            </a:bodyPr>
            <a:lstStyle/>
            <a:p>
              <a:endParaRPr/>
            </a:p>
          </p:txBody>
        </p:sp>
        <p:sp>
          <p:nvSpPr>
            <p:cNvPr id="102" name="object 106"/>
            <p:cNvSpPr txBox="1"/>
            <p:nvPr/>
          </p:nvSpPr>
          <p:spPr>
            <a:xfrm>
              <a:off x="3168650" y="5960236"/>
              <a:ext cx="540385" cy="368300"/>
            </a:xfrm>
            <a:prstGeom prst="rect">
              <a:avLst/>
            </a:prstGeom>
          </p:spPr>
          <p:txBody>
            <a:bodyPr vert="horz" wrap="square" lIns="0" tIns="0" rIns="0" bIns="0" rtlCol="0">
              <a:noAutofit/>
            </a:bodyPr>
            <a:lstStyle/>
            <a:p>
              <a:pPr marL="127000" marR="12700" indent="-114300">
                <a:lnSpc>
                  <a:spcPts val="1430"/>
                </a:lnSpc>
              </a:pPr>
              <a:r>
                <a:rPr sz="1200" b="1" spc="-5" dirty="0">
                  <a:latin typeface="Arial"/>
                  <a:cs typeface="Arial"/>
                </a:rPr>
                <a:t>Source </a:t>
              </a:r>
              <a:r>
                <a:rPr sz="1200" b="1" spc="15" dirty="0">
                  <a:latin typeface="Arial"/>
                  <a:cs typeface="Arial"/>
                </a:rPr>
                <a:t>bits</a:t>
              </a:r>
              <a:endParaRPr sz="1200">
                <a:latin typeface="Arial"/>
                <a:cs typeface="Arial"/>
              </a:endParaRPr>
            </a:p>
          </p:txBody>
        </p:sp>
        <p:sp>
          <p:nvSpPr>
            <p:cNvPr id="103" name="object 107"/>
            <p:cNvSpPr txBox="1"/>
            <p:nvPr/>
          </p:nvSpPr>
          <p:spPr>
            <a:xfrm>
              <a:off x="3197225" y="1759711"/>
              <a:ext cx="540385" cy="368300"/>
            </a:xfrm>
            <a:prstGeom prst="rect">
              <a:avLst/>
            </a:prstGeom>
          </p:spPr>
          <p:txBody>
            <a:bodyPr vert="horz" wrap="square" lIns="0" tIns="0" rIns="0" bIns="0" rtlCol="0">
              <a:noAutofit/>
            </a:bodyPr>
            <a:lstStyle/>
            <a:p>
              <a:pPr marL="127000" marR="12700" indent="-114300">
                <a:lnSpc>
                  <a:spcPts val="1430"/>
                </a:lnSpc>
              </a:pPr>
              <a:r>
                <a:rPr sz="1200" b="1" spc="-5" dirty="0">
                  <a:latin typeface="Arial"/>
                  <a:cs typeface="Arial"/>
                </a:rPr>
                <a:t>Source </a:t>
              </a:r>
              <a:r>
                <a:rPr sz="1200" b="1" spc="15" dirty="0">
                  <a:latin typeface="Arial"/>
                  <a:cs typeface="Arial"/>
                </a:rPr>
                <a:t>bits</a:t>
              </a:r>
              <a:endParaRPr sz="1200">
                <a:latin typeface="Arial"/>
                <a:cs typeface="Arial"/>
              </a:endParaRPr>
            </a:p>
          </p:txBody>
        </p:sp>
        <p:sp>
          <p:nvSpPr>
            <p:cNvPr id="104" name="object 108"/>
            <p:cNvSpPr txBox="1"/>
            <p:nvPr/>
          </p:nvSpPr>
          <p:spPr>
            <a:xfrm>
              <a:off x="4159250" y="1750186"/>
              <a:ext cx="625475" cy="368300"/>
            </a:xfrm>
            <a:prstGeom prst="rect">
              <a:avLst/>
            </a:prstGeom>
          </p:spPr>
          <p:txBody>
            <a:bodyPr vert="horz" wrap="square" lIns="0" tIns="0" rIns="0" bIns="0" rtlCol="0">
              <a:noAutofit/>
            </a:bodyPr>
            <a:lstStyle/>
            <a:p>
              <a:pPr marL="174625" marR="12700" indent="-161925">
                <a:lnSpc>
                  <a:spcPts val="1430"/>
                </a:lnSpc>
              </a:pPr>
              <a:r>
                <a:rPr sz="1200" b="1" spc="-15" dirty="0">
                  <a:latin typeface="Arial"/>
                  <a:cs typeface="Arial"/>
                </a:rPr>
                <a:t>Channel </a:t>
              </a:r>
              <a:r>
                <a:rPr sz="1200" b="1" spc="15" dirty="0">
                  <a:latin typeface="Arial"/>
                  <a:cs typeface="Arial"/>
                </a:rPr>
                <a:t>bits</a:t>
              </a:r>
              <a:endParaRPr sz="1200">
                <a:latin typeface="Arial"/>
                <a:cs typeface="Arial"/>
              </a:endParaRPr>
            </a:p>
          </p:txBody>
        </p:sp>
        <p:sp>
          <p:nvSpPr>
            <p:cNvPr id="105" name="object 109"/>
            <p:cNvSpPr/>
            <p:nvPr/>
          </p:nvSpPr>
          <p:spPr>
            <a:xfrm>
              <a:off x="6810375" y="6219825"/>
              <a:ext cx="1485900" cy="514350"/>
            </a:xfrm>
            <a:custGeom>
              <a:avLst/>
              <a:gdLst/>
              <a:ahLst/>
              <a:cxnLst/>
              <a:rect l="l" t="t" r="r" b="b"/>
              <a:pathLst>
                <a:path w="1485900" h="514350">
                  <a:moveTo>
                    <a:pt x="0" y="514350"/>
                  </a:moveTo>
                  <a:lnTo>
                    <a:pt x="1485900" y="514350"/>
                  </a:lnTo>
                  <a:lnTo>
                    <a:pt x="1485900" y="0"/>
                  </a:lnTo>
                  <a:lnTo>
                    <a:pt x="0" y="0"/>
                  </a:lnTo>
                  <a:lnTo>
                    <a:pt x="0" y="514350"/>
                  </a:lnTo>
                  <a:close/>
                </a:path>
              </a:pathLst>
            </a:custGeom>
            <a:solidFill>
              <a:srgbClr val="B3B3B3"/>
            </a:solidFill>
          </p:spPr>
          <p:txBody>
            <a:bodyPr wrap="square" lIns="0" tIns="0" rIns="0" bIns="0" rtlCol="0">
              <a:noAutofit/>
            </a:bodyPr>
            <a:lstStyle/>
            <a:p>
              <a:endParaRPr/>
            </a:p>
          </p:txBody>
        </p:sp>
        <p:sp>
          <p:nvSpPr>
            <p:cNvPr id="106" name="object 110"/>
            <p:cNvSpPr/>
            <p:nvPr/>
          </p:nvSpPr>
          <p:spPr>
            <a:xfrm>
              <a:off x="6696075" y="6105525"/>
              <a:ext cx="1485900" cy="514350"/>
            </a:xfrm>
            <a:custGeom>
              <a:avLst/>
              <a:gdLst/>
              <a:ahLst/>
              <a:cxnLst/>
              <a:rect l="l" t="t" r="r" b="b"/>
              <a:pathLst>
                <a:path w="1485900" h="514350">
                  <a:moveTo>
                    <a:pt x="0" y="514350"/>
                  </a:moveTo>
                  <a:lnTo>
                    <a:pt x="1485900" y="514350"/>
                  </a:lnTo>
                  <a:lnTo>
                    <a:pt x="1485900" y="0"/>
                  </a:lnTo>
                  <a:lnTo>
                    <a:pt x="0" y="0"/>
                  </a:lnTo>
                  <a:lnTo>
                    <a:pt x="0" y="514350"/>
                  </a:lnTo>
                  <a:close/>
                </a:path>
              </a:pathLst>
            </a:custGeom>
            <a:solidFill>
              <a:srgbClr val="00FFFF"/>
            </a:solidFill>
          </p:spPr>
          <p:txBody>
            <a:bodyPr wrap="square" lIns="0" tIns="0" rIns="0" bIns="0" rtlCol="0">
              <a:noAutofit/>
            </a:bodyPr>
            <a:lstStyle/>
            <a:p>
              <a:endParaRPr/>
            </a:p>
          </p:txBody>
        </p:sp>
        <p:sp>
          <p:nvSpPr>
            <p:cNvPr id="107" name="object 111"/>
            <p:cNvSpPr/>
            <p:nvPr/>
          </p:nvSpPr>
          <p:spPr>
            <a:xfrm>
              <a:off x="6696075" y="6105525"/>
              <a:ext cx="1485900" cy="514350"/>
            </a:xfrm>
            <a:custGeom>
              <a:avLst/>
              <a:gdLst/>
              <a:ahLst/>
              <a:cxnLst/>
              <a:rect l="l" t="t" r="r" b="b"/>
              <a:pathLst>
                <a:path w="1485900" h="514350">
                  <a:moveTo>
                    <a:pt x="0" y="514350"/>
                  </a:moveTo>
                  <a:lnTo>
                    <a:pt x="1485900" y="514350"/>
                  </a:lnTo>
                  <a:lnTo>
                    <a:pt x="1485900" y="0"/>
                  </a:lnTo>
                  <a:lnTo>
                    <a:pt x="0" y="0"/>
                  </a:lnTo>
                  <a:lnTo>
                    <a:pt x="0" y="514350"/>
                  </a:lnTo>
                  <a:close/>
                </a:path>
              </a:pathLst>
            </a:custGeom>
            <a:ln w="9525">
              <a:solidFill>
                <a:srgbClr val="000000"/>
              </a:solidFill>
            </a:ln>
          </p:spPr>
          <p:txBody>
            <a:bodyPr wrap="square" lIns="0" tIns="0" rIns="0" bIns="0" rtlCol="0">
              <a:noAutofit/>
            </a:bodyPr>
            <a:lstStyle/>
            <a:p>
              <a:endParaRPr/>
            </a:p>
          </p:txBody>
        </p:sp>
        <p:sp>
          <p:nvSpPr>
            <p:cNvPr id="108" name="object 112"/>
            <p:cNvSpPr txBox="1"/>
            <p:nvPr/>
          </p:nvSpPr>
          <p:spPr>
            <a:xfrm>
              <a:off x="6816725" y="6162675"/>
              <a:ext cx="1254125" cy="194310"/>
            </a:xfrm>
            <a:prstGeom prst="rect">
              <a:avLst/>
            </a:prstGeom>
          </p:spPr>
          <p:txBody>
            <a:bodyPr vert="horz" wrap="square" lIns="0" tIns="0" rIns="0" bIns="0" rtlCol="0">
              <a:noAutofit/>
            </a:bodyPr>
            <a:lstStyle/>
            <a:p>
              <a:pPr marL="12700">
                <a:lnSpc>
                  <a:spcPct val="100000"/>
                </a:lnSpc>
              </a:pPr>
              <a:r>
                <a:rPr sz="1200" b="1" spc="-10" dirty="0">
                  <a:latin typeface="Arial"/>
                  <a:cs typeface="Arial"/>
                </a:rPr>
                <a:t>Carrie</a:t>
              </a:r>
              <a:r>
                <a:rPr sz="1200" b="1" spc="0" dirty="0">
                  <a:latin typeface="Arial"/>
                  <a:cs typeface="Arial"/>
                </a:rPr>
                <a:t>r</a:t>
              </a:r>
              <a:r>
                <a:rPr sz="1200" b="1" spc="35" dirty="0">
                  <a:latin typeface="Arial"/>
                  <a:cs typeface="Arial"/>
                </a:rPr>
                <a:t> </a:t>
              </a:r>
              <a:r>
                <a:rPr sz="1200" b="1" spc="0" dirty="0">
                  <a:latin typeface="Arial"/>
                  <a:cs typeface="Arial"/>
                </a:rPr>
                <a:t>&amp;</a:t>
              </a:r>
              <a:r>
                <a:rPr sz="1200" b="1" spc="35" dirty="0">
                  <a:latin typeface="Arial"/>
                  <a:cs typeface="Arial"/>
                </a:rPr>
                <a:t> </a:t>
              </a:r>
              <a:r>
                <a:rPr sz="1200" b="1" spc="-20" dirty="0">
                  <a:latin typeface="Arial"/>
                  <a:cs typeface="Arial"/>
                </a:rPr>
                <a:t>symbol</a:t>
              </a:r>
              <a:endParaRPr sz="1200">
                <a:latin typeface="Arial"/>
                <a:cs typeface="Arial"/>
              </a:endParaRPr>
            </a:p>
          </p:txBody>
        </p:sp>
        <p:sp>
          <p:nvSpPr>
            <p:cNvPr id="109" name="object 113"/>
            <p:cNvSpPr txBox="1"/>
            <p:nvPr/>
          </p:nvSpPr>
          <p:spPr>
            <a:xfrm>
              <a:off x="6845300" y="6343650"/>
              <a:ext cx="1196975" cy="194310"/>
            </a:xfrm>
            <a:prstGeom prst="rect">
              <a:avLst/>
            </a:prstGeom>
          </p:spPr>
          <p:txBody>
            <a:bodyPr vert="horz" wrap="square" lIns="0" tIns="0" rIns="0" bIns="0" rtlCol="0">
              <a:noAutofit/>
            </a:bodyPr>
            <a:lstStyle/>
            <a:p>
              <a:pPr marL="12700">
                <a:lnSpc>
                  <a:spcPct val="100000"/>
                </a:lnSpc>
              </a:pPr>
              <a:r>
                <a:rPr sz="1200" b="1" spc="-10" dirty="0">
                  <a:latin typeface="Arial"/>
                  <a:cs typeface="Arial"/>
                </a:rPr>
                <a:t>synchronization</a:t>
              </a:r>
              <a:endParaRPr sz="1200">
                <a:latin typeface="Arial"/>
                <a:cs typeface="Arial"/>
              </a:endParaRPr>
            </a:p>
          </p:txBody>
        </p:sp>
        <p:sp>
          <p:nvSpPr>
            <p:cNvPr id="110" name="object 114"/>
            <p:cNvSpPr/>
            <p:nvPr/>
          </p:nvSpPr>
          <p:spPr>
            <a:xfrm>
              <a:off x="8305800" y="5010150"/>
              <a:ext cx="733425" cy="1352550"/>
            </a:xfrm>
            <a:custGeom>
              <a:avLst/>
              <a:gdLst/>
              <a:ahLst/>
              <a:cxnLst/>
              <a:rect l="l" t="t" r="r" b="b"/>
              <a:pathLst>
                <a:path w="733425" h="1352550">
                  <a:moveTo>
                    <a:pt x="733425" y="0"/>
                  </a:moveTo>
                  <a:lnTo>
                    <a:pt x="733425" y="1352550"/>
                  </a:lnTo>
                  <a:lnTo>
                    <a:pt x="0" y="1352550"/>
                  </a:lnTo>
                </a:path>
              </a:pathLst>
            </a:custGeom>
            <a:ln w="19050">
              <a:solidFill>
                <a:srgbClr val="000000"/>
              </a:solidFill>
            </a:ln>
          </p:spPr>
          <p:txBody>
            <a:bodyPr wrap="square" lIns="0" tIns="0" rIns="0" bIns="0" rtlCol="0">
              <a:noAutofit/>
            </a:bodyPr>
            <a:lstStyle/>
            <a:p>
              <a:endParaRPr/>
            </a:p>
          </p:txBody>
        </p:sp>
        <p:sp>
          <p:nvSpPr>
            <p:cNvPr id="111" name="object 115"/>
            <p:cNvSpPr/>
            <p:nvPr/>
          </p:nvSpPr>
          <p:spPr>
            <a:xfrm>
              <a:off x="8181975" y="6315075"/>
              <a:ext cx="142875" cy="95250"/>
            </a:xfrm>
            <a:custGeom>
              <a:avLst/>
              <a:gdLst/>
              <a:ahLst/>
              <a:cxnLst/>
              <a:rect l="l" t="t" r="r" b="b"/>
              <a:pathLst>
                <a:path w="142875" h="95250">
                  <a:moveTo>
                    <a:pt x="142875" y="0"/>
                  </a:moveTo>
                  <a:lnTo>
                    <a:pt x="0" y="47625"/>
                  </a:lnTo>
                  <a:lnTo>
                    <a:pt x="142875" y="95250"/>
                  </a:lnTo>
                  <a:lnTo>
                    <a:pt x="142875" y="0"/>
                  </a:lnTo>
                  <a:close/>
                </a:path>
              </a:pathLst>
            </a:custGeom>
            <a:solidFill>
              <a:srgbClr val="000000"/>
            </a:solidFill>
          </p:spPr>
          <p:txBody>
            <a:bodyPr wrap="square" lIns="0" tIns="0" rIns="0" bIns="0" rtlCol="0">
              <a:noAutofit/>
            </a:bodyPr>
            <a:lstStyle/>
            <a:p>
              <a:endParaRPr/>
            </a:p>
          </p:txBody>
        </p:sp>
        <p:sp>
          <p:nvSpPr>
            <p:cNvPr id="112" name="object 116"/>
            <p:cNvSpPr/>
            <p:nvPr/>
          </p:nvSpPr>
          <p:spPr>
            <a:xfrm>
              <a:off x="4495800" y="5724525"/>
              <a:ext cx="0" cy="190500"/>
            </a:xfrm>
            <a:custGeom>
              <a:avLst/>
              <a:gdLst/>
              <a:ahLst/>
              <a:cxnLst/>
              <a:rect l="l" t="t" r="r" b="b"/>
              <a:pathLst>
                <a:path h="190500">
                  <a:moveTo>
                    <a:pt x="0" y="190500"/>
                  </a:moveTo>
                  <a:lnTo>
                    <a:pt x="0" y="0"/>
                  </a:lnTo>
                </a:path>
              </a:pathLst>
            </a:custGeom>
            <a:ln w="19050">
              <a:solidFill>
                <a:srgbClr val="000000"/>
              </a:solidFill>
            </a:ln>
          </p:spPr>
          <p:txBody>
            <a:bodyPr wrap="square" lIns="0" tIns="0" rIns="0" bIns="0" rtlCol="0">
              <a:noAutofit/>
            </a:bodyPr>
            <a:lstStyle/>
            <a:p>
              <a:endParaRPr/>
            </a:p>
          </p:txBody>
        </p:sp>
        <p:sp>
          <p:nvSpPr>
            <p:cNvPr id="113" name="object 117"/>
            <p:cNvSpPr/>
            <p:nvPr/>
          </p:nvSpPr>
          <p:spPr>
            <a:xfrm>
              <a:off x="4448175" y="5591175"/>
              <a:ext cx="95250" cy="142875"/>
            </a:xfrm>
            <a:custGeom>
              <a:avLst/>
              <a:gdLst/>
              <a:ahLst/>
              <a:cxnLst/>
              <a:rect l="l" t="t" r="r" b="b"/>
              <a:pathLst>
                <a:path w="95250" h="142875">
                  <a:moveTo>
                    <a:pt x="47625" y="0"/>
                  </a:moveTo>
                  <a:lnTo>
                    <a:pt x="0" y="142875"/>
                  </a:lnTo>
                  <a:lnTo>
                    <a:pt x="95250" y="142875"/>
                  </a:lnTo>
                  <a:lnTo>
                    <a:pt x="47625" y="0"/>
                  </a:lnTo>
                  <a:close/>
                </a:path>
              </a:pathLst>
            </a:custGeom>
            <a:solidFill>
              <a:srgbClr val="000000"/>
            </a:solidFill>
          </p:spPr>
          <p:txBody>
            <a:bodyPr wrap="square" lIns="0" tIns="0" rIns="0" bIns="0" rtlCol="0">
              <a:noAutofit/>
            </a:bodyPr>
            <a:lstStyle/>
            <a:p>
              <a:endParaRPr/>
            </a:p>
          </p:txBody>
        </p:sp>
        <p:sp>
          <p:nvSpPr>
            <p:cNvPr id="114" name="object 118"/>
            <p:cNvSpPr txBox="1"/>
            <p:nvPr/>
          </p:nvSpPr>
          <p:spPr>
            <a:xfrm>
              <a:off x="4168775" y="5962650"/>
              <a:ext cx="625475" cy="194310"/>
            </a:xfrm>
            <a:prstGeom prst="rect">
              <a:avLst/>
            </a:prstGeom>
          </p:spPr>
          <p:txBody>
            <a:bodyPr vert="horz" wrap="square" lIns="0" tIns="0" rIns="0" bIns="0" rtlCol="0">
              <a:noAutofit/>
            </a:bodyPr>
            <a:lstStyle/>
            <a:p>
              <a:pPr marL="12700">
                <a:lnSpc>
                  <a:spcPct val="100000"/>
                </a:lnSpc>
              </a:pPr>
              <a:r>
                <a:rPr sz="1200" b="1" spc="-15" dirty="0">
                  <a:latin typeface="Arial"/>
                  <a:cs typeface="Arial"/>
                </a:rPr>
                <a:t>Channel</a:t>
              </a:r>
              <a:endParaRPr sz="1200">
                <a:latin typeface="Arial"/>
                <a:cs typeface="Arial"/>
              </a:endParaRPr>
            </a:p>
          </p:txBody>
        </p:sp>
        <p:sp>
          <p:nvSpPr>
            <p:cNvPr id="115" name="object 119"/>
            <p:cNvSpPr txBox="1"/>
            <p:nvPr/>
          </p:nvSpPr>
          <p:spPr>
            <a:xfrm>
              <a:off x="4330700" y="6143625"/>
              <a:ext cx="311150" cy="194310"/>
            </a:xfrm>
            <a:prstGeom prst="rect">
              <a:avLst/>
            </a:prstGeom>
          </p:spPr>
          <p:txBody>
            <a:bodyPr vert="horz" wrap="square" lIns="0" tIns="0" rIns="0" bIns="0" rtlCol="0">
              <a:noAutofit/>
            </a:bodyPr>
            <a:lstStyle/>
            <a:p>
              <a:pPr marL="12700">
                <a:lnSpc>
                  <a:spcPct val="100000"/>
                </a:lnSpc>
              </a:pPr>
              <a:r>
                <a:rPr sz="1200" b="1" spc="15" dirty="0">
                  <a:latin typeface="Arial"/>
                  <a:cs typeface="Arial"/>
                </a:rPr>
                <a:t>bits</a:t>
              </a:r>
              <a:endParaRPr sz="1200">
                <a:latin typeface="Arial"/>
                <a:cs typeface="Arial"/>
              </a:endParaRPr>
            </a:p>
          </p:txBody>
        </p:sp>
        <p:sp>
          <p:nvSpPr>
            <p:cNvPr id="118" name="object 122"/>
            <p:cNvSpPr/>
            <p:nvPr/>
          </p:nvSpPr>
          <p:spPr>
            <a:xfrm>
              <a:off x="8124825" y="2400300"/>
              <a:ext cx="800100" cy="561975"/>
            </a:xfrm>
            <a:custGeom>
              <a:avLst/>
              <a:gdLst/>
              <a:ahLst/>
              <a:cxnLst/>
              <a:rect l="l" t="t" r="r" b="b"/>
              <a:pathLst>
                <a:path w="800100" h="561975">
                  <a:moveTo>
                    <a:pt x="0" y="561975"/>
                  </a:moveTo>
                  <a:lnTo>
                    <a:pt x="800100" y="561975"/>
                  </a:lnTo>
                  <a:lnTo>
                    <a:pt x="800100" y="0"/>
                  </a:lnTo>
                  <a:lnTo>
                    <a:pt x="0" y="0"/>
                  </a:lnTo>
                  <a:lnTo>
                    <a:pt x="0" y="561975"/>
                  </a:lnTo>
                  <a:close/>
                </a:path>
              </a:pathLst>
            </a:custGeom>
            <a:solidFill>
              <a:srgbClr val="B3B3B3"/>
            </a:solidFill>
          </p:spPr>
          <p:txBody>
            <a:bodyPr wrap="square" lIns="0" tIns="0" rIns="0" bIns="0" rtlCol="0">
              <a:noAutofit/>
            </a:bodyPr>
            <a:lstStyle/>
            <a:p>
              <a:endParaRPr/>
            </a:p>
          </p:txBody>
        </p:sp>
        <p:sp>
          <p:nvSpPr>
            <p:cNvPr id="119" name="object 123"/>
            <p:cNvSpPr/>
            <p:nvPr/>
          </p:nvSpPr>
          <p:spPr>
            <a:xfrm>
              <a:off x="8010525" y="2286000"/>
              <a:ext cx="800100" cy="571500"/>
            </a:xfrm>
            <a:custGeom>
              <a:avLst/>
              <a:gdLst/>
              <a:ahLst/>
              <a:cxnLst/>
              <a:rect l="l" t="t" r="r" b="b"/>
              <a:pathLst>
                <a:path w="800100" h="571500">
                  <a:moveTo>
                    <a:pt x="0" y="571500"/>
                  </a:moveTo>
                  <a:lnTo>
                    <a:pt x="800100" y="571500"/>
                  </a:lnTo>
                  <a:lnTo>
                    <a:pt x="800100" y="0"/>
                  </a:lnTo>
                  <a:lnTo>
                    <a:pt x="0" y="0"/>
                  </a:lnTo>
                  <a:lnTo>
                    <a:pt x="0" y="571500"/>
                  </a:lnTo>
                  <a:close/>
                </a:path>
              </a:pathLst>
            </a:custGeom>
            <a:solidFill>
              <a:srgbClr val="FFFFFF"/>
            </a:solidFill>
          </p:spPr>
          <p:txBody>
            <a:bodyPr wrap="square" lIns="0" tIns="0" rIns="0" bIns="0" rtlCol="0">
              <a:noAutofit/>
            </a:bodyPr>
            <a:lstStyle/>
            <a:p>
              <a:endParaRPr/>
            </a:p>
          </p:txBody>
        </p:sp>
        <p:sp>
          <p:nvSpPr>
            <p:cNvPr id="120" name="object 124"/>
            <p:cNvSpPr/>
            <p:nvPr/>
          </p:nvSpPr>
          <p:spPr>
            <a:xfrm>
              <a:off x="8010525" y="2286000"/>
              <a:ext cx="800100" cy="571500"/>
            </a:xfrm>
            <a:custGeom>
              <a:avLst/>
              <a:gdLst/>
              <a:ahLst/>
              <a:cxnLst/>
              <a:rect l="l" t="t" r="r" b="b"/>
              <a:pathLst>
                <a:path w="800100" h="571500">
                  <a:moveTo>
                    <a:pt x="0" y="571500"/>
                  </a:moveTo>
                  <a:lnTo>
                    <a:pt x="800100" y="571500"/>
                  </a:lnTo>
                  <a:lnTo>
                    <a:pt x="800100" y="0"/>
                  </a:lnTo>
                  <a:lnTo>
                    <a:pt x="0" y="0"/>
                  </a:lnTo>
                  <a:lnTo>
                    <a:pt x="0" y="571500"/>
                  </a:lnTo>
                  <a:close/>
                </a:path>
              </a:pathLst>
            </a:custGeom>
            <a:ln w="9525">
              <a:solidFill>
                <a:srgbClr val="000000"/>
              </a:solidFill>
            </a:ln>
          </p:spPr>
          <p:txBody>
            <a:bodyPr wrap="square" lIns="0" tIns="0" rIns="0" bIns="0" rtlCol="0">
              <a:noAutofit/>
            </a:bodyPr>
            <a:lstStyle/>
            <a:p>
              <a:endParaRPr/>
            </a:p>
          </p:txBody>
        </p:sp>
        <p:sp>
          <p:nvSpPr>
            <p:cNvPr id="121" name="object 125"/>
            <p:cNvSpPr txBox="1"/>
            <p:nvPr/>
          </p:nvSpPr>
          <p:spPr>
            <a:xfrm>
              <a:off x="8102600" y="2371725"/>
              <a:ext cx="587375" cy="194310"/>
            </a:xfrm>
            <a:prstGeom prst="rect">
              <a:avLst/>
            </a:prstGeom>
          </p:spPr>
          <p:txBody>
            <a:bodyPr vert="horz" wrap="square" lIns="0" tIns="0" rIns="0" bIns="0" rtlCol="0">
              <a:noAutofit/>
            </a:bodyPr>
            <a:lstStyle/>
            <a:p>
              <a:pPr marL="12700">
                <a:lnSpc>
                  <a:spcPct val="100000"/>
                </a:lnSpc>
              </a:pPr>
              <a:r>
                <a:rPr sz="1200" b="1" spc="-25" dirty="0">
                  <a:latin typeface="Arial"/>
                  <a:cs typeface="Arial"/>
                </a:rPr>
                <a:t>Multiple</a:t>
              </a:r>
              <a:endParaRPr sz="1200">
                <a:latin typeface="Arial"/>
                <a:cs typeface="Arial"/>
              </a:endParaRPr>
            </a:p>
          </p:txBody>
        </p:sp>
        <p:sp>
          <p:nvSpPr>
            <p:cNvPr id="122" name="object 126"/>
            <p:cNvSpPr txBox="1"/>
            <p:nvPr/>
          </p:nvSpPr>
          <p:spPr>
            <a:xfrm>
              <a:off x="8131175" y="2552700"/>
              <a:ext cx="559435" cy="194310"/>
            </a:xfrm>
            <a:prstGeom prst="rect">
              <a:avLst/>
            </a:prstGeom>
          </p:spPr>
          <p:txBody>
            <a:bodyPr vert="horz" wrap="square" lIns="0" tIns="0" rIns="0" bIns="0" rtlCol="0">
              <a:noAutofit/>
            </a:bodyPr>
            <a:lstStyle/>
            <a:p>
              <a:pPr marL="12700">
                <a:lnSpc>
                  <a:spcPct val="100000"/>
                </a:lnSpc>
              </a:pPr>
              <a:r>
                <a:rPr sz="1200" b="1" spc="-5" dirty="0">
                  <a:latin typeface="Arial"/>
                  <a:cs typeface="Arial"/>
                </a:rPr>
                <a:t>Access</a:t>
              </a:r>
              <a:endParaRPr sz="1200">
                <a:latin typeface="Arial"/>
                <a:cs typeface="Arial"/>
              </a:endParaRPr>
            </a:p>
          </p:txBody>
        </p:sp>
        <p:sp>
          <p:nvSpPr>
            <p:cNvPr id="123" name="object 127"/>
            <p:cNvSpPr/>
            <p:nvPr/>
          </p:nvSpPr>
          <p:spPr>
            <a:xfrm>
              <a:off x="8124825" y="3057525"/>
              <a:ext cx="723900" cy="828675"/>
            </a:xfrm>
            <a:custGeom>
              <a:avLst/>
              <a:gdLst/>
              <a:ahLst/>
              <a:cxnLst/>
              <a:rect l="l" t="t" r="r" b="b"/>
              <a:pathLst>
                <a:path w="723900" h="828675">
                  <a:moveTo>
                    <a:pt x="0" y="828675"/>
                  </a:moveTo>
                  <a:lnTo>
                    <a:pt x="723900" y="0"/>
                  </a:lnTo>
                </a:path>
              </a:pathLst>
            </a:custGeom>
            <a:ln w="9525">
              <a:solidFill>
                <a:srgbClr val="000000"/>
              </a:solidFill>
            </a:ln>
          </p:spPr>
          <p:txBody>
            <a:bodyPr wrap="square" lIns="0" tIns="0" rIns="0" bIns="0" rtlCol="0">
              <a:noAutofit/>
            </a:bodyPr>
            <a:lstStyle/>
            <a:p>
              <a:endParaRPr/>
            </a:p>
          </p:txBody>
        </p:sp>
        <p:sp>
          <p:nvSpPr>
            <p:cNvPr id="124" name="object 128"/>
            <p:cNvSpPr/>
            <p:nvPr/>
          </p:nvSpPr>
          <p:spPr>
            <a:xfrm>
              <a:off x="8810625" y="2971800"/>
              <a:ext cx="114300" cy="114300"/>
            </a:xfrm>
            <a:custGeom>
              <a:avLst/>
              <a:gdLst/>
              <a:ahLst/>
              <a:cxnLst/>
              <a:rect l="l" t="t" r="r" b="b"/>
              <a:pathLst>
                <a:path w="114300" h="114300">
                  <a:moveTo>
                    <a:pt x="114300" y="0"/>
                  </a:moveTo>
                  <a:lnTo>
                    <a:pt x="0" y="66675"/>
                  </a:lnTo>
                  <a:lnTo>
                    <a:pt x="57150" y="114300"/>
                  </a:lnTo>
                  <a:lnTo>
                    <a:pt x="114300" y="0"/>
                  </a:lnTo>
                  <a:close/>
                </a:path>
              </a:pathLst>
            </a:custGeom>
            <a:solidFill>
              <a:srgbClr val="000000"/>
            </a:solidFill>
          </p:spPr>
          <p:txBody>
            <a:bodyPr wrap="square" lIns="0" tIns="0" rIns="0" bIns="0" rtlCol="0">
              <a:noAutofit/>
            </a:bodyPr>
            <a:lstStyle/>
            <a:p>
              <a:endParaRPr/>
            </a:p>
          </p:txBody>
        </p:sp>
        <p:sp>
          <p:nvSpPr>
            <p:cNvPr id="125" name="object 129"/>
            <p:cNvSpPr/>
            <p:nvPr/>
          </p:nvSpPr>
          <p:spPr>
            <a:xfrm>
              <a:off x="8791575" y="3171825"/>
              <a:ext cx="485775" cy="457200"/>
            </a:xfrm>
            <a:custGeom>
              <a:avLst/>
              <a:gdLst/>
              <a:ahLst/>
              <a:cxnLst/>
              <a:rect l="l" t="t" r="r" b="b"/>
              <a:pathLst>
                <a:path w="485775" h="457200">
                  <a:moveTo>
                    <a:pt x="247650" y="0"/>
                  </a:moveTo>
                  <a:lnTo>
                    <a:pt x="0" y="457200"/>
                  </a:lnTo>
                  <a:lnTo>
                    <a:pt x="485775" y="457200"/>
                  </a:lnTo>
                  <a:lnTo>
                    <a:pt x="247650" y="0"/>
                  </a:lnTo>
                  <a:close/>
                </a:path>
              </a:pathLst>
            </a:custGeom>
            <a:solidFill>
              <a:srgbClr val="00FFFF"/>
            </a:solidFill>
          </p:spPr>
          <p:txBody>
            <a:bodyPr wrap="square" lIns="0" tIns="0" rIns="0" bIns="0" rtlCol="0">
              <a:noAutofit/>
            </a:bodyPr>
            <a:lstStyle/>
            <a:p>
              <a:endParaRPr/>
            </a:p>
          </p:txBody>
        </p:sp>
        <p:sp>
          <p:nvSpPr>
            <p:cNvPr id="126" name="object 130"/>
            <p:cNvSpPr/>
            <p:nvPr/>
          </p:nvSpPr>
          <p:spPr>
            <a:xfrm>
              <a:off x="8791575" y="3171825"/>
              <a:ext cx="485775" cy="457200"/>
            </a:xfrm>
            <a:custGeom>
              <a:avLst/>
              <a:gdLst/>
              <a:ahLst/>
              <a:cxnLst/>
              <a:rect l="l" t="t" r="r" b="b"/>
              <a:pathLst>
                <a:path w="485775" h="457200">
                  <a:moveTo>
                    <a:pt x="485775" y="457200"/>
                  </a:moveTo>
                  <a:lnTo>
                    <a:pt x="247650" y="0"/>
                  </a:lnTo>
                  <a:lnTo>
                    <a:pt x="0" y="457200"/>
                  </a:lnTo>
                  <a:lnTo>
                    <a:pt x="485775" y="457200"/>
                  </a:lnTo>
                  <a:close/>
                </a:path>
              </a:pathLst>
            </a:custGeom>
            <a:ln w="19050">
              <a:solidFill>
                <a:srgbClr val="000000"/>
              </a:solidFill>
            </a:ln>
          </p:spPr>
          <p:txBody>
            <a:bodyPr wrap="square" lIns="0" tIns="0" rIns="0" bIns="0" rtlCol="0">
              <a:noAutofit/>
            </a:bodyPr>
            <a:lstStyle/>
            <a:p>
              <a:endParaRPr/>
            </a:p>
          </p:txBody>
        </p:sp>
        <p:sp>
          <p:nvSpPr>
            <p:cNvPr id="127" name="object 131"/>
            <p:cNvSpPr/>
            <p:nvPr/>
          </p:nvSpPr>
          <p:spPr>
            <a:xfrm>
              <a:off x="8810625" y="2571750"/>
              <a:ext cx="228600" cy="466725"/>
            </a:xfrm>
            <a:custGeom>
              <a:avLst/>
              <a:gdLst/>
              <a:ahLst/>
              <a:cxnLst/>
              <a:rect l="l" t="t" r="r" b="b"/>
              <a:pathLst>
                <a:path w="228600" h="466725">
                  <a:moveTo>
                    <a:pt x="0" y="0"/>
                  </a:moveTo>
                  <a:lnTo>
                    <a:pt x="228600" y="0"/>
                  </a:lnTo>
                  <a:lnTo>
                    <a:pt x="228600" y="466725"/>
                  </a:lnTo>
                </a:path>
              </a:pathLst>
            </a:custGeom>
            <a:ln w="19050">
              <a:solidFill>
                <a:srgbClr val="000000"/>
              </a:solidFill>
            </a:ln>
          </p:spPr>
          <p:txBody>
            <a:bodyPr wrap="square" lIns="0" tIns="0" rIns="0" bIns="0" rtlCol="0">
              <a:noAutofit/>
            </a:bodyPr>
            <a:lstStyle/>
            <a:p>
              <a:endParaRPr/>
            </a:p>
          </p:txBody>
        </p:sp>
        <p:sp>
          <p:nvSpPr>
            <p:cNvPr id="128" name="object 132"/>
            <p:cNvSpPr/>
            <p:nvPr/>
          </p:nvSpPr>
          <p:spPr>
            <a:xfrm>
              <a:off x="8991600" y="3028950"/>
              <a:ext cx="95250" cy="142875"/>
            </a:xfrm>
            <a:custGeom>
              <a:avLst/>
              <a:gdLst/>
              <a:ahLst/>
              <a:cxnLst/>
              <a:rect l="l" t="t" r="r" b="b"/>
              <a:pathLst>
                <a:path w="95250" h="142875">
                  <a:moveTo>
                    <a:pt x="95250" y="0"/>
                  </a:moveTo>
                  <a:lnTo>
                    <a:pt x="0" y="0"/>
                  </a:lnTo>
                  <a:lnTo>
                    <a:pt x="47625" y="142875"/>
                  </a:lnTo>
                  <a:lnTo>
                    <a:pt x="95250" y="0"/>
                  </a:lnTo>
                  <a:close/>
                </a:path>
              </a:pathLst>
            </a:custGeom>
            <a:solidFill>
              <a:srgbClr val="000000"/>
            </a:solidFill>
          </p:spPr>
          <p:txBody>
            <a:bodyPr wrap="square" lIns="0" tIns="0" rIns="0" bIns="0" rtlCol="0">
              <a:noAutofit/>
            </a:bodyPr>
            <a:lstStyle/>
            <a:p>
              <a:endParaRPr/>
            </a:p>
          </p:txBody>
        </p:sp>
        <p:sp>
          <p:nvSpPr>
            <p:cNvPr id="129" name="object 133"/>
            <p:cNvSpPr/>
            <p:nvPr/>
          </p:nvSpPr>
          <p:spPr>
            <a:xfrm>
              <a:off x="8982075" y="3762375"/>
              <a:ext cx="104775" cy="647700"/>
            </a:xfrm>
            <a:custGeom>
              <a:avLst/>
              <a:gdLst/>
              <a:ahLst/>
              <a:cxnLst/>
              <a:rect l="l" t="t" r="r" b="b"/>
              <a:pathLst>
                <a:path w="104775" h="647700">
                  <a:moveTo>
                    <a:pt x="38100" y="0"/>
                  </a:moveTo>
                  <a:lnTo>
                    <a:pt x="0" y="381000"/>
                  </a:lnTo>
                  <a:lnTo>
                    <a:pt x="104775" y="257175"/>
                  </a:lnTo>
                  <a:lnTo>
                    <a:pt x="66675" y="647700"/>
                  </a:lnTo>
                </a:path>
              </a:pathLst>
            </a:custGeom>
            <a:ln w="19050">
              <a:solidFill>
                <a:srgbClr val="000000"/>
              </a:solidFill>
            </a:ln>
          </p:spPr>
          <p:txBody>
            <a:bodyPr wrap="square" lIns="0" tIns="0" rIns="0" bIns="0" rtlCol="0">
              <a:noAutofit/>
            </a:bodyPr>
            <a:lstStyle/>
            <a:p>
              <a:endParaRPr/>
            </a:p>
          </p:txBody>
        </p:sp>
        <p:sp>
          <p:nvSpPr>
            <p:cNvPr id="130" name="object 134"/>
            <p:cNvSpPr/>
            <p:nvPr/>
          </p:nvSpPr>
          <p:spPr>
            <a:xfrm>
              <a:off x="8982075" y="3657600"/>
              <a:ext cx="76200" cy="114300"/>
            </a:xfrm>
            <a:custGeom>
              <a:avLst/>
              <a:gdLst/>
              <a:ahLst/>
              <a:cxnLst/>
              <a:rect l="l" t="t" r="r" b="b"/>
              <a:pathLst>
                <a:path w="76200" h="114300">
                  <a:moveTo>
                    <a:pt x="57150" y="0"/>
                  </a:moveTo>
                  <a:lnTo>
                    <a:pt x="0" y="104775"/>
                  </a:lnTo>
                  <a:lnTo>
                    <a:pt x="76200" y="114300"/>
                  </a:lnTo>
                  <a:lnTo>
                    <a:pt x="57150" y="0"/>
                  </a:lnTo>
                  <a:close/>
                </a:path>
              </a:pathLst>
            </a:custGeom>
            <a:solidFill>
              <a:srgbClr val="000000"/>
            </a:solidFill>
          </p:spPr>
          <p:txBody>
            <a:bodyPr wrap="square" lIns="0" tIns="0" rIns="0" bIns="0" rtlCol="0">
              <a:noAutofit/>
            </a:bodyPr>
            <a:lstStyle/>
            <a:p>
              <a:endParaRPr/>
            </a:p>
          </p:txBody>
        </p:sp>
        <p:sp>
          <p:nvSpPr>
            <p:cNvPr id="131" name="object 135"/>
            <p:cNvSpPr/>
            <p:nvPr/>
          </p:nvSpPr>
          <p:spPr>
            <a:xfrm>
              <a:off x="9010650" y="4400550"/>
              <a:ext cx="76200" cy="114300"/>
            </a:xfrm>
            <a:custGeom>
              <a:avLst/>
              <a:gdLst/>
              <a:ahLst/>
              <a:cxnLst/>
              <a:rect l="l" t="t" r="r" b="b"/>
              <a:pathLst>
                <a:path w="76200" h="114300">
                  <a:moveTo>
                    <a:pt x="0" y="0"/>
                  </a:moveTo>
                  <a:lnTo>
                    <a:pt x="28575" y="114300"/>
                  </a:lnTo>
                  <a:lnTo>
                    <a:pt x="76200" y="9525"/>
                  </a:lnTo>
                  <a:lnTo>
                    <a:pt x="0" y="0"/>
                  </a:lnTo>
                  <a:close/>
                </a:path>
              </a:pathLst>
            </a:custGeom>
            <a:solidFill>
              <a:srgbClr val="000000"/>
            </a:solidFill>
          </p:spPr>
          <p:txBody>
            <a:bodyPr wrap="square" lIns="0" tIns="0" rIns="0" bIns="0" rtlCol="0">
              <a:noAutofit/>
            </a:bodyPr>
            <a:lstStyle/>
            <a:p>
              <a:endParaRPr/>
            </a:p>
          </p:txBody>
        </p:sp>
        <p:sp>
          <p:nvSpPr>
            <p:cNvPr id="132" name="object 136"/>
            <p:cNvSpPr/>
            <p:nvPr/>
          </p:nvSpPr>
          <p:spPr>
            <a:xfrm>
              <a:off x="8124825" y="4343400"/>
              <a:ext cx="723900" cy="771525"/>
            </a:xfrm>
            <a:custGeom>
              <a:avLst/>
              <a:gdLst/>
              <a:ahLst/>
              <a:cxnLst/>
              <a:rect l="l" t="t" r="r" b="b"/>
              <a:pathLst>
                <a:path w="723900" h="771525">
                  <a:moveTo>
                    <a:pt x="0" y="0"/>
                  </a:moveTo>
                  <a:lnTo>
                    <a:pt x="723900" y="771525"/>
                  </a:lnTo>
                </a:path>
              </a:pathLst>
            </a:custGeom>
            <a:ln w="9525">
              <a:solidFill>
                <a:srgbClr val="000000"/>
              </a:solidFill>
            </a:ln>
          </p:spPr>
          <p:txBody>
            <a:bodyPr wrap="square" lIns="0" tIns="0" rIns="0" bIns="0" rtlCol="0">
              <a:noAutofit/>
            </a:bodyPr>
            <a:lstStyle/>
            <a:p>
              <a:endParaRPr/>
            </a:p>
          </p:txBody>
        </p:sp>
        <p:sp>
          <p:nvSpPr>
            <p:cNvPr id="133" name="object 137"/>
            <p:cNvSpPr/>
            <p:nvPr/>
          </p:nvSpPr>
          <p:spPr>
            <a:xfrm>
              <a:off x="8810625" y="5076825"/>
              <a:ext cx="114300" cy="114300"/>
            </a:xfrm>
            <a:custGeom>
              <a:avLst/>
              <a:gdLst/>
              <a:ahLst/>
              <a:cxnLst/>
              <a:rect l="l" t="t" r="r" b="b"/>
              <a:pathLst>
                <a:path w="114300" h="114300">
                  <a:moveTo>
                    <a:pt x="57150" y="0"/>
                  </a:moveTo>
                  <a:lnTo>
                    <a:pt x="0" y="57150"/>
                  </a:lnTo>
                  <a:lnTo>
                    <a:pt x="114300" y="114300"/>
                  </a:lnTo>
                  <a:lnTo>
                    <a:pt x="57150" y="0"/>
                  </a:lnTo>
                  <a:close/>
                </a:path>
              </a:pathLst>
            </a:custGeom>
            <a:solidFill>
              <a:srgbClr val="000000"/>
            </a:solidFill>
          </p:spPr>
          <p:txBody>
            <a:bodyPr wrap="square" lIns="0" tIns="0" rIns="0" bIns="0" rtlCol="0">
              <a:noAutofit/>
            </a:bodyPr>
            <a:lstStyle/>
            <a:p>
              <a:endParaRPr/>
            </a:p>
          </p:txBody>
        </p:sp>
        <p:sp>
          <p:nvSpPr>
            <p:cNvPr id="134" name="object 138"/>
            <p:cNvSpPr txBox="1"/>
            <p:nvPr/>
          </p:nvSpPr>
          <p:spPr>
            <a:xfrm>
              <a:off x="7531100" y="3952875"/>
              <a:ext cx="845185" cy="194310"/>
            </a:xfrm>
            <a:prstGeom prst="rect">
              <a:avLst/>
            </a:prstGeom>
          </p:spPr>
          <p:txBody>
            <a:bodyPr vert="horz" wrap="square" lIns="0" tIns="0" rIns="0" bIns="0" rtlCol="0">
              <a:noAutofit/>
            </a:bodyPr>
            <a:lstStyle/>
            <a:p>
              <a:pPr marL="12700">
                <a:lnSpc>
                  <a:spcPct val="100000"/>
                </a:lnSpc>
              </a:pPr>
              <a:r>
                <a:rPr sz="1200" b="1" spc="-5" dirty="0">
                  <a:latin typeface="Arial"/>
                  <a:cs typeface="Arial"/>
                </a:rPr>
                <a:t>Waveforms</a:t>
              </a:r>
              <a:endParaRPr sz="1200">
                <a:latin typeface="Arial"/>
                <a:cs typeface="Arial"/>
              </a:endParaRPr>
            </a:p>
          </p:txBody>
        </p:sp>
        <p:sp>
          <p:nvSpPr>
            <p:cNvPr id="135" name="object 139"/>
            <p:cNvSpPr/>
            <p:nvPr/>
          </p:nvSpPr>
          <p:spPr>
            <a:xfrm>
              <a:off x="8791575" y="4581525"/>
              <a:ext cx="485775" cy="428625"/>
            </a:xfrm>
            <a:custGeom>
              <a:avLst/>
              <a:gdLst/>
              <a:ahLst/>
              <a:cxnLst/>
              <a:rect l="l" t="t" r="r" b="b"/>
              <a:pathLst>
                <a:path w="485775" h="428625">
                  <a:moveTo>
                    <a:pt x="485775" y="0"/>
                  </a:moveTo>
                  <a:lnTo>
                    <a:pt x="0" y="0"/>
                  </a:lnTo>
                  <a:lnTo>
                    <a:pt x="247650" y="428625"/>
                  </a:lnTo>
                  <a:lnTo>
                    <a:pt x="485775" y="0"/>
                  </a:lnTo>
                  <a:close/>
                </a:path>
              </a:pathLst>
            </a:custGeom>
            <a:solidFill>
              <a:srgbClr val="00FFFF"/>
            </a:solidFill>
          </p:spPr>
          <p:txBody>
            <a:bodyPr wrap="square" lIns="0" tIns="0" rIns="0" bIns="0" rtlCol="0">
              <a:noAutofit/>
            </a:bodyPr>
            <a:lstStyle/>
            <a:p>
              <a:endParaRPr/>
            </a:p>
          </p:txBody>
        </p:sp>
        <p:sp>
          <p:nvSpPr>
            <p:cNvPr id="136" name="object 140"/>
            <p:cNvSpPr/>
            <p:nvPr/>
          </p:nvSpPr>
          <p:spPr>
            <a:xfrm>
              <a:off x="8791575" y="4581525"/>
              <a:ext cx="485775" cy="428625"/>
            </a:xfrm>
            <a:custGeom>
              <a:avLst/>
              <a:gdLst/>
              <a:ahLst/>
              <a:cxnLst/>
              <a:rect l="l" t="t" r="r" b="b"/>
              <a:pathLst>
                <a:path w="485775" h="428625">
                  <a:moveTo>
                    <a:pt x="485775" y="0"/>
                  </a:moveTo>
                  <a:lnTo>
                    <a:pt x="247650" y="428625"/>
                  </a:lnTo>
                  <a:lnTo>
                    <a:pt x="0" y="0"/>
                  </a:lnTo>
                  <a:lnTo>
                    <a:pt x="485775" y="0"/>
                  </a:lnTo>
                  <a:close/>
                </a:path>
              </a:pathLst>
            </a:custGeom>
            <a:ln w="19050">
              <a:solidFill>
                <a:srgbClr val="000000"/>
              </a:solidFill>
            </a:ln>
          </p:spPr>
          <p:txBody>
            <a:bodyPr wrap="square" lIns="0" tIns="0" rIns="0" bIns="0" rtlCol="0">
              <a:noAutofit/>
            </a:bodyPr>
            <a:lstStyle/>
            <a:p>
              <a:endParaRPr/>
            </a:p>
          </p:txBody>
        </p:sp>
        <p:sp>
          <p:nvSpPr>
            <p:cNvPr id="137" name="object 141"/>
            <p:cNvSpPr/>
            <p:nvPr/>
          </p:nvSpPr>
          <p:spPr>
            <a:xfrm>
              <a:off x="7677150" y="2571750"/>
              <a:ext cx="200025" cy="0"/>
            </a:xfrm>
            <a:custGeom>
              <a:avLst/>
              <a:gdLst/>
              <a:ahLst/>
              <a:cxnLst/>
              <a:rect l="l" t="t" r="r" b="b"/>
              <a:pathLst>
                <a:path w="200025">
                  <a:moveTo>
                    <a:pt x="0" y="0"/>
                  </a:moveTo>
                  <a:lnTo>
                    <a:pt x="171450" y="0"/>
                  </a:lnTo>
                  <a:lnTo>
                    <a:pt x="200025" y="0"/>
                  </a:lnTo>
                </a:path>
              </a:pathLst>
            </a:custGeom>
            <a:ln w="19050">
              <a:solidFill>
                <a:srgbClr val="000000"/>
              </a:solidFill>
            </a:ln>
          </p:spPr>
          <p:txBody>
            <a:bodyPr wrap="square" lIns="0" tIns="0" rIns="0" bIns="0" rtlCol="0">
              <a:noAutofit/>
            </a:bodyPr>
            <a:lstStyle/>
            <a:p>
              <a:endParaRPr/>
            </a:p>
          </p:txBody>
        </p:sp>
        <p:sp>
          <p:nvSpPr>
            <p:cNvPr id="138" name="object 142"/>
            <p:cNvSpPr/>
            <p:nvPr/>
          </p:nvSpPr>
          <p:spPr>
            <a:xfrm>
              <a:off x="7867650" y="2524125"/>
              <a:ext cx="142875" cy="95250"/>
            </a:xfrm>
            <a:custGeom>
              <a:avLst/>
              <a:gdLst/>
              <a:ahLst/>
              <a:cxnLst/>
              <a:rect l="l" t="t" r="r" b="b"/>
              <a:pathLst>
                <a:path w="142875" h="95250">
                  <a:moveTo>
                    <a:pt x="0" y="0"/>
                  </a:moveTo>
                  <a:lnTo>
                    <a:pt x="0" y="95250"/>
                  </a:lnTo>
                  <a:lnTo>
                    <a:pt x="142875" y="47625"/>
                  </a:lnTo>
                  <a:lnTo>
                    <a:pt x="0" y="0"/>
                  </a:lnTo>
                  <a:close/>
                </a:path>
              </a:pathLst>
            </a:custGeom>
            <a:solidFill>
              <a:srgbClr val="000000"/>
            </a:solidFill>
          </p:spPr>
          <p:txBody>
            <a:bodyPr wrap="square" lIns="0" tIns="0" rIns="0" bIns="0" rtlCol="0">
              <a:noAutofit/>
            </a:bodyPr>
            <a:lstStyle/>
            <a:p>
              <a:endParaRPr/>
            </a:p>
          </p:txBody>
        </p:sp>
        <p:sp>
          <p:nvSpPr>
            <p:cNvPr id="139" name="object 143"/>
            <p:cNvSpPr/>
            <p:nvPr/>
          </p:nvSpPr>
          <p:spPr>
            <a:xfrm>
              <a:off x="7896225" y="2809875"/>
              <a:ext cx="0" cy="1076325"/>
            </a:xfrm>
            <a:custGeom>
              <a:avLst/>
              <a:gdLst/>
              <a:ahLst/>
              <a:cxnLst/>
              <a:rect l="l" t="t" r="r" b="b"/>
              <a:pathLst>
                <a:path h="1076325">
                  <a:moveTo>
                    <a:pt x="0" y="1076325"/>
                  </a:moveTo>
                  <a:lnTo>
                    <a:pt x="0" y="0"/>
                  </a:lnTo>
                </a:path>
              </a:pathLst>
            </a:custGeom>
            <a:ln w="9525">
              <a:solidFill>
                <a:srgbClr val="000000"/>
              </a:solidFill>
            </a:ln>
          </p:spPr>
          <p:txBody>
            <a:bodyPr wrap="square" lIns="0" tIns="0" rIns="0" bIns="0" rtlCol="0">
              <a:noAutofit/>
            </a:bodyPr>
            <a:lstStyle/>
            <a:p>
              <a:endParaRPr/>
            </a:p>
          </p:txBody>
        </p:sp>
        <p:sp>
          <p:nvSpPr>
            <p:cNvPr id="140" name="object 144"/>
            <p:cNvSpPr/>
            <p:nvPr/>
          </p:nvSpPr>
          <p:spPr>
            <a:xfrm>
              <a:off x="7848600" y="2695575"/>
              <a:ext cx="85725" cy="123825"/>
            </a:xfrm>
            <a:custGeom>
              <a:avLst/>
              <a:gdLst/>
              <a:ahLst/>
              <a:cxnLst/>
              <a:rect l="l" t="t" r="r" b="b"/>
              <a:pathLst>
                <a:path w="85725" h="123825">
                  <a:moveTo>
                    <a:pt x="47625" y="0"/>
                  </a:moveTo>
                  <a:lnTo>
                    <a:pt x="0" y="123825"/>
                  </a:lnTo>
                  <a:lnTo>
                    <a:pt x="85725" y="123825"/>
                  </a:lnTo>
                  <a:lnTo>
                    <a:pt x="47625" y="0"/>
                  </a:lnTo>
                  <a:close/>
                </a:path>
              </a:pathLst>
            </a:custGeom>
            <a:solidFill>
              <a:srgbClr val="000000"/>
            </a:solidFill>
          </p:spPr>
          <p:txBody>
            <a:bodyPr wrap="square" lIns="0" tIns="0" rIns="0" bIns="0" rtlCol="0">
              <a:noAutofit/>
            </a:bodyPr>
            <a:lstStyle/>
            <a:p>
              <a:endParaRPr/>
            </a:p>
          </p:txBody>
        </p:sp>
        <p:sp>
          <p:nvSpPr>
            <p:cNvPr id="141" name="object 145"/>
            <p:cNvSpPr/>
            <p:nvPr/>
          </p:nvSpPr>
          <p:spPr>
            <a:xfrm>
              <a:off x="7953375" y="4343400"/>
              <a:ext cx="0" cy="781050"/>
            </a:xfrm>
            <a:custGeom>
              <a:avLst/>
              <a:gdLst/>
              <a:ahLst/>
              <a:cxnLst/>
              <a:rect l="l" t="t" r="r" b="b"/>
              <a:pathLst>
                <a:path h="781050">
                  <a:moveTo>
                    <a:pt x="0" y="0"/>
                  </a:moveTo>
                  <a:lnTo>
                    <a:pt x="0" y="781050"/>
                  </a:lnTo>
                </a:path>
              </a:pathLst>
            </a:custGeom>
            <a:ln w="9525">
              <a:solidFill>
                <a:srgbClr val="000000"/>
              </a:solidFill>
            </a:ln>
          </p:spPr>
          <p:txBody>
            <a:bodyPr wrap="square" lIns="0" tIns="0" rIns="0" bIns="0" rtlCol="0">
              <a:noAutofit/>
            </a:bodyPr>
            <a:lstStyle/>
            <a:p>
              <a:endParaRPr/>
            </a:p>
          </p:txBody>
        </p:sp>
        <p:sp>
          <p:nvSpPr>
            <p:cNvPr id="142" name="object 146"/>
            <p:cNvSpPr/>
            <p:nvPr/>
          </p:nvSpPr>
          <p:spPr>
            <a:xfrm>
              <a:off x="7905750" y="5114925"/>
              <a:ext cx="85725" cy="123825"/>
            </a:xfrm>
            <a:custGeom>
              <a:avLst/>
              <a:gdLst/>
              <a:ahLst/>
              <a:cxnLst/>
              <a:rect l="l" t="t" r="r" b="b"/>
              <a:pathLst>
                <a:path w="85725" h="123825">
                  <a:moveTo>
                    <a:pt x="85725" y="0"/>
                  </a:moveTo>
                  <a:lnTo>
                    <a:pt x="0" y="0"/>
                  </a:lnTo>
                  <a:lnTo>
                    <a:pt x="47625" y="123825"/>
                  </a:lnTo>
                  <a:lnTo>
                    <a:pt x="85725" y="0"/>
                  </a:lnTo>
                  <a:close/>
                </a:path>
              </a:pathLst>
            </a:custGeom>
            <a:solidFill>
              <a:srgbClr val="000000"/>
            </a:solidFill>
          </p:spPr>
          <p:txBody>
            <a:bodyPr wrap="square" lIns="0" tIns="0" rIns="0" bIns="0" rtlCol="0">
              <a:noAutofit/>
            </a:bodyPr>
            <a:lstStyle/>
            <a:p>
              <a:endParaRPr/>
            </a:p>
          </p:txBody>
        </p:sp>
        <p:sp>
          <p:nvSpPr>
            <p:cNvPr id="143" name="object 147"/>
            <p:cNvSpPr/>
            <p:nvPr/>
          </p:nvSpPr>
          <p:spPr>
            <a:xfrm>
              <a:off x="7962900" y="5419725"/>
              <a:ext cx="142875" cy="0"/>
            </a:xfrm>
            <a:custGeom>
              <a:avLst/>
              <a:gdLst/>
              <a:ahLst/>
              <a:cxnLst/>
              <a:rect l="l" t="t" r="r" b="b"/>
              <a:pathLst>
                <a:path w="142875">
                  <a:moveTo>
                    <a:pt x="142875" y="0"/>
                  </a:moveTo>
                  <a:lnTo>
                    <a:pt x="0" y="0"/>
                  </a:lnTo>
                </a:path>
              </a:pathLst>
            </a:custGeom>
            <a:ln w="19050">
              <a:solidFill>
                <a:srgbClr val="000000"/>
              </a:solidFill>
            </a:ln>
          </p:spPr>
          <p:txBody>
            <a:bodyPr wrap="square" lIns="0" tIns="0" rIns="0" bIns="0" rtlCol="0">
              <a:noAutofit/>
            </a:bodyPr>
            <a:lstStyle/>
            <a:p>
              <a:endParaRPr/>
            </a:p>
          </p:txBody>
        </p:sp>
        <p:sp>
          <p:nvSpPr>
            <p:cNvPr id="144" name="object 148"/>
            <p:cNvSpPr/>
            <p:nvPr/>
          </p:nvSpPr>
          <p:spPr>
            <a:xfrm>
              <a:off x="7839075" y="5372100"/>
              <a:ext cx="133350" cy="95250"/>
            </a:xfrm>
            <a:custGeom>
              <a:avLst/>
              <a:gdLst/>
              <a:ahLst/>
              <a:cxnLst/>
              <a:rect l="l" t="t" r="r" b="b"/>
              <a:pathLst>
                <a:path w="133350" h="95250">
                  <a:moveTo>
                    <a:pt x="133350" y="0"/>
                  </a:moveTo>
                  <a:lnTo>
                    <a:pt x="0" y="47625"/>
                  </a:lnTo>
                  <a:lnTo>
                    <a:pt x="133350" y="95250"/>
                  </a:lnTo>
                  <a:lnTo>
                    <a:pt x="133350" y="0"/>
                  </a:lnTo>
                  <a:close/>
                </a:path>
              </a:pathLst>
            </a:custGeom>
            <a:solidFill>
              <a:srgbClr val="000000"/>
            </a:solidFill>
          </p:spPr>
          <p:txBody>
            <a:bodyPr wrap="square" lIns="0" tIns="0" rIns="0" bIns="0" rtlCol="0">
              <a:noAutofit/>
            </a:bodyPr>
            <a:lstStyle/>
            <a:p>
              <a:endParaRPr/>
            </a:p>
          </p:txBody>
        </p:sp>
        <p:sp>
          <p:nvSpPr>
            <p:cNvPr id="145" name="object 149"/>
            <p:cNvSpPr/>
            <p:nvPr/>
          </p:nvSpPr>
          <p:spPr>
            <a:xfrm>
              <a:off x="8220075" y="5248275"/>
              <a:ext cx="714375" cy="571500"/>
            </a:xfrm>
            <a:custGeom>
              <a:avLst/>
              <a:gdLst/>
              <a:ahLst/>
              <a:cxnLst/>
              <a:rect l="l" t="t" r="r" b="b"/>
              <a:pathLst>
                <a:path w="714375" h="571500">
                  <a:moveTo>
                    <a:pt x="0" y="571500"/>
                  </a:moveTo>
                  <a:lnTo>
                    <a:pt x="714375" y="571500"/>
                  </a:lnTo>
                  <a:lnTo>
                    <a:pt x="714375" y="0"/>
                  </a:lnTo>
                  <a:lnTo>
                    <a:pt x="0" y="0"/>
                  </a:lnTo>
                  <a:lnTo>
                    <a:pt x="0" y="571500"/>
                  </a:lnTo>
                  <a:close/>
                </a:path>
              </a:pathLst>
            </a:custGeom>
            <a:solidFill>
              <a:srgbClr val="B3B3B3"/>
            </a:solidFill>
          </p:spPr>
          <p:txBody>
            <a:bodyPr wrap="square" lIns="0" tIns="0" rIns="0" bIns="0" rtlCol="0">
              <a:noAutofit/>
            </a:bodyPr>
            <a:lstStyle/>
            <a:p>
              <a:endParaRPr/>
            </a:p>
          </p:txBody>
        </p:sp>
        <p:sp>
          <p:nvSpPr>
            <p:cNvPr id="146" name="object 150"/>
            <p:cNvSpPr/>
            <p:nvPr/>
          </p:nvSpPr>
          <p:spPr>
            <a:xfrm>
              <a:off x="8105775" y="5133975"/>
              <a:ext cx="714375" cy="571500"/>
            </a:xfrm>
            <a:custGeom>
              <a:avLst/>
              <a:gdLst/>
              <a:ahLst/>
              <a:cxnLst/>
              <a:rect l="l" t="t" r="r" b="b"/>
              <a:pathLst>
                <a:path w="714375" h="571500">
                  <a:moveTo>
                    <a:pt x="0" y="571500"/>
                  </a:moveTo>
                  <a:lnTo>
                    <a:pt x="714375" y="571500"/>
                  </a:lnTo>
                  <a:lnTo>
                    <a:pt x="714375" y="0"/>
                  </a:lnTo>
                  <a:lnTo>
                    <a:pt x="0" y="0"/>
                  </a:lnTo>
                  <a:lnTo>
                    <a:pt x="0" y="571500"/>
                  </a:lnTo>
                  <a:close/>
                </a:path>
              </a:pathLst>
            </a:custGeom>
            <a:solidFill>
              <a:srgbClr val="FFFFFF"/>
            </a:solidFill>
          </p:spPr>
          <p:txBody>
            <a:bodyPr wrap="square" lIns="0" tIns="0" rIns="0" bIns="0" rtlCol="0">
              <a:noAutofit/>
            </a:bodyPr>
            <a:lstStyle/>
            <a:p>
              <a:endParaRPr/>
            </a:p>
          </p:txBody>
        </p:sp>
        <p:sp>
          <p:nvSpPr>
            <p:cNvPr id="147" name="object 151"/>
            <p:cNvSpPr/>
            <p:nvPr/>
          </p:nvSpPr>
          <p:spPr>
            <a:xfrm>
              <a:off x="8105775" y="5133975"/>
              <a:ext cx="714375" cy="571500"/>
            </a:xfrm>
            <a:custGeom>
              <a:avLst/>
              <a:gdLst/>
              <a:ahLst/>
              <a:cxnLst/>
              <a:rect l="l" t="t" r="r" b="b"/>
              <a:pathLst>
                <a:path w="714375" h="571500">
                  <a:moveTo>
                    <a:pt x="0" y="571500"/>
                  </a:moveTo>
                  <a:lnTo>
                    <a:pt x="714375" y="571500"/>
                  </a:lnTo>
                  <a:lnTo>
                    <a:pt x="714375" y="0"/>
                  </a:lnTo>
                  <a:lnTo>
                    <a:pt x="0" y="0"/>
                  </a:lnTo>
                  <a:lnTo>
                    <a:pt x="0" y="571500"/>
                  </a:lnTo>
                  <a:close/>
                </a:path>
              </a:pathLst>
            </a:custGeom>
            <a:ln w="9525">
              <a:solidFill>
                <a:srgbClr val="000000"/>
              </a:solidFill>
            </a:ln>
          </p:spPr>
          <p:txBody>
            <a:bodyPr wrap="square" lIns="0" tIns="0" rIns="0" bIns="0" rtlCol="0">
              <a:noAutofit/>
            </a:bodyPr>
            <a:lstStyle/>
            <a:p>
              <a:endParaRPr/>
            </a:p>
          </p:txBody>
        </p:sp>
        <p:sp>
          <p:nvSpPr>
            <p:cNvPr id="148" name="object 152"/>
            <p:cNvSpPr txBox="1"/>
            <p:nvPr/>
          </p:nvSpPr>
          <p:spPr>
            <a:xfrm>
              <a:off x="8169275" y="5219700"/>
              <a:ext cx="587375" cy="194310"/>
            </a:xfrm>
            <a:prstGeom prst="rect">
              <a:avLst/>
            </a:prstGeom>
          </p:spPr>
          <p:txBody>
            <a:bodyPr vert="horz" wrap="square" lIns="0" tIns="0" rIns="0" bIns="0" rtlCol="0">
              <a:noAutofit/>
            </a:bodyPr>
            <a:lstStyle/>
            <a:p>
              <a:pPr marL="12700">
                <a:lnSpc>
                  <a:spcPct val="100000"/>
                </a:lnSpc>
              </a:pPr>
              <a:r>
                <a:rPr sz="1200" b="1" spc="-25" dirty="0">
                  <a:latin typeface="Arial"/>
                  <a:cs typeface="Arial"/>
                </a:rPr>
                <a:t>Multiple</a:t>
              </a:r>
              <a:endParaRPr sz="1200">
                <a:latin typeface="Arial"/>
                <a:cs typeface="Arial"/>
              </a:endParaRPr>
            </a:p>
          </p:txBody>
        </p:sp>
        <p:sp>
          <p:nvSpPr>
            <p:cNvPr id="149" name="object 153"/>
            <p:cNvSpPr txBox="1"/>
            <p:nvPr/>
          </p:nvSpPr>
          <p:spPr>
            <a:xfrm>
              <a:off x="8188325" y="5410200"/>
              <a:ext cx="559435" cy="194310"/>
            </a:xfrm>
            <a:prstGeom prst="rect">
              <a:avLst/>
            </a:prstGeom>
          </p:spPr>
          <p:txBody>
            <a:bodyPr vert="horz" wrap="square" lIns="0" tIns="0" rIns="0" bIns="0" rtlCol="0">
              <a:noAutofit/>
            </a:bodyPr>
            <a:lstStyle/>
            <a:p>
              <a:pPr marL="12700">
                <a:lnSpc>
                  <a:spcPct val="100000"/>
                </a:lnSpc>
              </a:pPr>
              <a:r>
                <a:rPr sz="1200" b="1" spc="-5" dirty="0">
                  <a:latin typeface="Arial"/>
                  <a:cs typeface="Arial"/>
                </a:rPr>
                <a:t>Access</a:t>
              </a:r>
              <a:endParaRPr sz="1200">
                <a:latin typeface="Arial"/>
                <a:cs typeface="Arial"/>
              </a:endParaRPr>
            </a:p>
          </p:txBody>
        </p:sp>
        <p:sp>
          <p:nvSpPr>
            <p:cNvPr id="150" name="object 154"/>
            <p:cNvSpPr/>
            <p:nvPr/>
          </p:nvSpPr>
          <p:spPr>
            <a:xfrm>
              <a:off x="8953500" y="5010150"/>
              <a:ext cx="85725" cy="409575"/>
            </a:xfrm>
            <a:custGeom>
              <a:avLst/>
              <a:gdLst/>
              <a:ahLst/>
              <a:cxnLst/>
              <a:rect l="l" t="t" r="r" b="b"/>
              <a:pathLst>
                <a:path w="85725" h="409575">
                  <a:moveTo>
                    <a:pt x="85725" y="0"/>
                  </a:moveTo>
                  <a:lnTo>
                    <a:pt x="85725" y="409575"/>
                  </a:lnTo>
                  <a:lnTo>
                    <a:pt x="0" y="409575"/>
                  </a:lnTo>
                </a:path>
              </a:pathLst>
            </a:custGeom>
            <a:ln w="19050">
              <a:solidFill>
                <a:srgbClr val="000000"/>
              </a:solidFill>
            </a:ln>
          </p:spPr>
          <p:txBody>
            <a:bodyPr wrap="square" lIns="0" tIns="0" rIns="0" bIns="0" rtlCol="0">
              <a:noAutofit/>
            </a:bodyPr>
            <a:lstStyle/>
            <a:p>
              <a:endParaRPr/>
            </a:p>
          </p:txBody>
        </p:sp>
        <p:sp>
          <p:nvSpPr>
            <p:cNvPr id="151" name="object 155"/>
            <p:cNvSpPr/>
            <p:nvPr/>
          </p:nvSpPr>
          <p:spPr>
            <a:xfrm>
              <a:off x="8820150" y="5372100"/>
              <a:ext cx="142875" cy="95250"/>
            </a:xfrm>
            <a:custGeom>
              <a:avLst/>
              <a:gdLst/>
              <a:ahLst/>
              <a:cxnLst/>
              <a:rect l="l" t="t" r="r" b="b"/>
              <a:pathLst>
                <a:path w="142875" h="95250">
                  <a:moveTo>
                    <a:pt x="142875" y="0"/>
                  </a:moveTo>
                  <a:lnTo>
                    <a:pt x="0" y="47625"/>
                  </a:lnTo>
                  <a:lnTo>
                    <a:pt x="142875" y="95250"/>
                  </a:lnTo>
                  <a:lnTo>
                    <a:pt x="142875" y="0"/>
                  </a:lnTo>
                  <a:close/>
                </a:path>
              </a:pathLst>
            </a:custGeom>
            <a:solidFill>
              <a:srgbClr val="000000"/>
            </a:solidFill>
          </p:spPr>
          <p:txBody>
            <a:bodyPr wrap="square" lIns="0" tIns="0" rIns="0" bIns="0" rtlCol="0">
              <a:noAutofit/>
            </a:bodyPr>
            <a:lstStyle/>
            <a:p>
              <a:endParaRPr/>
            </a:p>
          </p:txBody>
        </p:sp>
        <p:sp>
          <p:nvSpPr>
            <p:cNvPr id="152" name="object 156"/>
            <p:cNvSpPr/>
            <p:nvPr/>
          </p:nvSpPr>
          <p:spPr>
            <a:xfrm>
              <a:off x="7439025" y="5838825"/>
              <a:ext cx="1028700" cy="266700"/>
            </a:xfrm>
            <a:custGeom>
              <a:avLst/>
              <a:gdLst/>
              <a:ahLst/>
              <a:cxnLst/>
              <a:rect l="l" t="t" r="r" b="b"/>
              <a:pathLst>
                <a:path w="1028700" h="266700">
                  <a:moveTo>
                    <a:pt x="0" y="266700"/>
                  </a:moveTo>
                  <a:lnTo>
                    <a:pt x="0" y="95250"/>
                  </a:lnTo>
                  <a:lnTo>
                    <a:pt x="1028700" y="95250"/>
                  </a:lnTo>
                  <a:lnTo>
                    <a:pt x="1028700" y="0"/>
                  </a:lnTo>
                </a:path>
              </a:pathLst>
            </a:custGeom>
            <a:ln w="19050">
              <a:solidFill>
                <a:srgbClr val="000000"/>
              </a:solidFill>
            </a:ln>
          </p:spPr>
          <p:txBody>
            <a:bodyPr wrap="square" lIns="0" tIns="0" rIns="0" bIns="0" rtlCol="0">
              <a:noAutofit/>
            </a:bodyPr>
            <a:lstStyle/>
            <a:p>
              <a:endParaRPr/>
            </a:p>
          </p:txBody>
        </p:sp>
        <p:sp>
          <p:nvSpPr>
            <p:cNvPr id="153" name="object 157"/>
            <p:cNvSpPr/>
            <p:nvPr/>
          </p:nvSpPr>
          <p:spPr>
            <a:xfrm>
              <a:off x="8420100" y="5705475"/>
              <a:ext cx="95250" cy="142875"/>
            </a:xfrm>
            <a:custGeom>
              <a:avLst/>
              <a:gdLst/>
              <a:ahLst/>
              <a:cxnLst/>
              <a:rect l="l" t="t" r="r" b="b"/>
              <a:pathLst>
                <a:path w="95250" h="142875">
                  <a:moveTo>
                    <a:pt x="47625" y="0"/>
                  </a:moveTo>
                  <a:lnTo>
                    <a:pt x="0" y="142875"/>
                  </a:lnTo>
                  <a:lnTo>
                    <a:pt x="95250" y="142875"/>
                  </a:lnTo>
                  <a:lnTo>
                    <a:pt x="47625" y="0"/>
                  </a:lnTo>
                  <a:close/>
                </a:path>
              </a:pathLst>
            </a:custGeom>
            <a:solidFill>
              <a:srgbClr val="000000"/>
            </a:solidFill>
          </p:spPr>
          <p:txBody>
            <a:bodyPr wrap="square" lIns="0" tIns="0" rIns="0" bIns="0" rtlCol="0">
              <a:noAutofit/>
            </a:bodyPr>
            <a:lstStyle/>
            <a:p>
              <a:endParaRPr/>
            </a:p>
          </p:txBody>
        </p:sp>
        <p:sp>
          <p:nvSpPr>
            <p:cNvPr id="154" name="object 158"/>
            <p:cNvSpPr/>
            <p:nvPr/>
          </p:nvSpPr>
          <p:spPr>
            <a:xfrm>
              <a:off x="7439025" y="5838825"/>
              <a:ext cx="0" cy="266700"/>
            </a:xfrm>
            <a:custGeom>
              <a:avLst/>
              <a:gdLst/>
              <a:ahLst/>
              <a:cxnLst/>
              <a:rect l="l" t="t" r="r" b="b"/>
              <a:pathLst>
                <a:path h="266700">
                  <a:moveTo>
                    <a:pt x="0" y="266700"/>
                  </a:moveTo>
                  <a:lnTo>
                    <a:pt x="0" y="0"/>
                  </a:lnTo>
                </a:path>
              </a:pathLst>
            </a:custGeom>
            <a:ln w="19050">
              <a:solidFill>
                <a:srgbClr val="000000"/>
              </a:solidFill>
            </a:ln>
          </p:spPr>
          <p:txBody>
            <a:bodyPr wrap="square" lIns="0" tIns="0" rIns="0" bIns="0" rtlCol="0">
              <a:noAutofit/>
            </a:bodyPr>
            <a:lstStyle/>
            <a:p>
              <a:endParaRPr/>
            </a:p>
          </p:txBody>
        </p:sp>
        <p:sp>
          <p:nvSpPr>
            <p:cNvPr id="155" name="object 159"/>
            <p:cNvSpPr/>
            <p:nvPr/>
          </p:nvSpPr>
          <p:spPr>
            <a:xfrm>
              <a:off x="7391400" y="5705475"/>
              <a:ext cx="95250" cy="142875"/>
            </a:xfrm>
            <a:custGeom>
              <a:avLst/>
              <a:gdLst/>
              <a:ahLst/>
              <a:cxnLst/>
              <a:rect l="l" t="t" r="r" b="b"/>
              <a:pathLst>
                <a:path w="95250" h="142875">
                  <a:moveTo>
                    <a:pt x="47625" y="0"/>
                  </a:moveTo>
                  <a:lnTo>
                    <a:pt x="0" y="142875"/>
                  </a:lnTo>
                  <a:lnTo>
                    <a:pt x="95250" y="142875"/>
                  </a:lnTo>
                  <a:lnTo>
                    <a:pt x="47625" y="0"/>
                  </a:lnTo>
                  <a:close/>
                </a:path>
              </a:pathLst>
            </a:custGeom>
            <a:solidFill>
              <a:srgbClr val="000000"/>
            </a:solidFill>
          </p:spPr>
          <p:txBody>
            <a:bodyPr wrap="square" lIns="0" tIns="0" rIns="0" bIns="0" rtlCol="0">
              <a:noAutofit/>
            </a:bodyPr>
            <a:lstStyle/>
            <a:p>
              <a:endParaRPr/>
            </a:p>
          </p:txBody>
        </p:sp>
        <p:sp>
          <p:nvSpPr>
            <p:cNvPr id="156" name="object 160"/>
            <p:cNvSpPr txBox="1"/>
            <p:nvPr/>
          </p:nvSpPr>
          <p:spPr>
            <a:xfrm>
              <a:off x="8921750" y="3346450"/>
              <a:ext cx="225425" cy="225425"/>
            </a:xfrm>
            <a:prstGeom prst="rect">
              <a:avLst/>
            </a:prstGeom>
          </p:spPr>
          <p:txBody>
            <a:bodyPr vert="horz" wrap="square" lIns="0" tIns="0" rIns="0" bIns="0" rtlCol="0">
              <a:noAutofit/>
            </a:bodyPr>
            <a:lstStyle/>
            <a:p>
              <a:pPr marL="12700">
                <a:lnSpc>
                  <a:spcPct val="100000"/>
                </a:lnSpc>
              </a:pPr>
              <a:r>
                <a:rPr sz="1400" b="1" spc="-40" dirty="0">
                  <a:latin typeface="Arial"/>
                  <a:cs typeface="Arial"/>
                </a:rPr>
                <a:t>Tx</a:t>
              </a:r>
              <a:endParaRPr sz="1400">
                <a:latin typeface="Arial"/>
                <a:cs typeface="Arial"/>
              </a:endParaRPr>
            </a:p>
          </p:txBody>
        </p:sp>
        <p:sp>
          <p:nvSpPr>
            <p:cNvPr id="157" name="object 161"/>
            <p:cNvSpPr txBox="1"/>
            <p:nvPr/>
          </p:nvSpPr>
          <p:spPr>
            <a:xfrm>
              <a:off x="8912225" y="4603750"/>
              <a:ext cx="245110" cy="225425"/>
            </a:xfrm>
            <a:prstGeom prst="rect">
              <a:avLst/>
            </a:prstGeom>
          </p:spPr>
          <p:txBody>
            <a:bodyPr vert="horz" wrap="square" lIns="0" tIns="0" rIns="0" bIns="0" rtlCol="0">
              <a:noAutofit/>
            </a:bodyPr>
            <a:lstStyle/>
            <a:p>
              <a:pPr marL="12700">
                <a:lnSpc>
                  <a:spcPct val="100000"/>
                </a:lnSpc>
              </a:pPr>
              <a:r>
                <a:rPr sz="1400" b="1" spc="-45" dirty="0">
                  <a:latin typeface="Arial"/>
                  <a:cs typeface="Arial"/>
                </a:rPr>
                <a:t>Rx</a:t>
              </a:r>
              <a:endParaRPr sz="1400">
                <a:latin typeface="Arial"/>
                <a:cs typeface="Arial"/>
              </a:endParaRPr>
            </a:p>
          </p:txBody>
        </p:sp>
        <p:sp>
          <p:nvSpPr>
            <p:cNvPr id="158" name="object 162"/>
            <p:cNvSpPr/>
            <p:nvPr/>
          </p:nvSpPr>
          <p:spPr>
            <a:xfrm>
              <a:off x="723900" y="2571750"/>
              <a:ext cx="676275" cy="0"/>
            </a:xfrm>
            <a:custGeom>
              <a:avLst/>
              <a:gdLst/>
              <a:ahLst/>
              <a:cxnLst/>
              <a:rect l="l" t="t" r="r" b="b"/>
              <a:pathLst>
                <a:path w="676275">
                  <a:moveTo>
                    <a:pt x="0" y="0"/>
                  </a:moveTo>
                  <a:lnTo>
                    <a:pt x="676275" y="0"/>
                  </a:lnTo>
                </a:path>
              </a:pathLst>
            </a:custGeom>
            <a:ln w="19050">
              <a:solidFill>
                <a:srgbClr val="000000"/>
              </a:solidFill>
            </a:ln>
          </p:spPr>
          <p:txBody>
            <a:bodyPr wrap="square" lIns="0" tIns="0" rIns="0" bIns="0" rtlCol="0">
              <a:noAutofit/>
            </a:bodyPr>
            <a:lstStyle/>
            <a:p>
              <a:endParaRPr/>
            </a:p>
          </p:txBody>
        </p:sp>
        <p:sp>
          <p:nvSpPr>
            <p:cNvPr id="159" name="object 163"/>
            <p:cNvSpPr/>
            <p:nvPr/>
          </p:nvSpPr>
          <p:spPr>
            <a:xfrm>
              <a:off x="1390650" y="2524125"/>
              <a:ext cx="133350" cy="95250"/>
            </a:xfrm>
            <a:custGeom>
              <a:avLst/>
              <a:gdLst/>
              <a:ahLst/>
              <a:cxnLst/>
              <a:rect l="l" t="t" r="r" b="b"/>
              <a:pathLst>
                <a:path w="133350" h="95250">
                  <a:moveTo>
                    <a:pt x="0" y="0"/>
                  </a:moveTo>
                  <a:lnTo>
                    <a:pt x="0" y="95250"/>
                  </a:lnTo>
                  <a:lnTo>
                    <a:pt x="133350" y="47625"/>
                  </a:lnTo>
                  <a:lnTo>
                    <a:pt x="0" y="0"/>
                  </a:lnTo>
                  <a:close/>
                </a:path>
              </a:pathLst>
            </a:custGeom>
            <a:solidFill>
              <a:srgbClr val="000000"/>
            </a:solidFill>
          </p:spPr>
          <p:txBody>
            <a:bodyPr wrap="square" lIns="0" tIns="0" rIns="0" bIns="0" rtlCol="0">
              <a:noAutofit/>
            </a:bodyPr>
            <a:lstStyle/>
            <a:p>
              <a:endParaRPr/>
            </a:p>
          </p:txBody>
        </p:sp>
        <p:sp>
          <p:nvSpPr>
            <p:cNvPr id="160" name="object 164"/>
            <p:cNvSpPr/>
            <p:nvPr/>
          </p:nvSpPr>
          <p:spPr>
            <a:xfrm>
              <a:off x="885825" y="5419725"/>
              <a:ext cx="657225" cy="0"/>
            </a:xfrm>
            <a:custGeom>
              <a:avLst/>
              <a:gdLst/>
              <a:ahLst/>
              <a:cxnLst/>
              <a:rect l="l" t="t" r="r" b="b"/>
              <a:pathLst>
                <a:path w="657225">
                  <a:moveTo>
                    <a:pt x="0" y="0"/>
                  </a:moveTo>
                  <a:lnTo>
                    <a:pt x="657225" y="0"/>
                  </a:lnTo>
                </a:path>
              </a:pathLst>
            </a:custGeom>
            <a:ln w="19050">
              <a:solidFill>
                <a:srgbClr val="000000"/>
              </a:solidFill>
            </a:ln>
          </p:spPr>
          <p:txBody>
            <a:bodyPr wrap="square" lIns="0" tIns="0" rIns="0" bIns="0" rtlCol="0">
              <a:noAutofit/>
            </a:bodyPr>
            <a:lstStyle/>
            <a:p>
              <a:endParaRPr/>
            </a:p>
          </p:txBody>
        </p:sp>
        <p:sp>
          <p:nvSpPr>
            <p:cNvPr id="161" name="object 165"/>
            <p:cNvSpPr/>
            <p:nvPr/>
          </p:nvSpPr>
          <p:spPr>
            <a:xfrm>
              <a:off x="752475" y="5372100"/>
              <a:ext cx="142875" cy="95250"/>
            </a:xfrm>
            <a:custGeom>
              <a:avLst/>
              <a:gdLst/>
              <a:ahLst/>
              <a:cxnLst/>
              <a:rect l="l" t="t" r="r" b="b"/>
              <a:pathLst>
                <a:path w="142875" h="95250">
                  <a:moveTo>
                    <a:pt x="142875" y="0"/>
                  </a:moveTo>
                  <a:lnTo>
                    <a:pt x="0" y="47625"/>
                  </a:lnTo>
                  <a:lnTo>
                    <a:pt x="142875" y="95250"/>
                  </a:lnTo>
                  <a:lnTo>
                    <a:pt x="142875" y="0"/>
                  </a:lnTo>
                  <a:close/>
                </a:path>
              </a:pathLst>
            </a:custGeom>
            <a:solidFill>
              <a:srgbClr val="000000"/>
            </a:solidFill>
          </p:spPr>
          <p:txBody>
            <a:bodyPr wrap="square" lIns="0" tIns="0" rIns="0" bIns="0" rtlCol="0">
              <a:noAutofit/>
            </a:bodyPr>
            <a:lstStyle/>
            <a:p>
              <a:endParaRPr/>
            </a:p>
          </p:txBody>
        </p:sp>
        <p:sp>
          <p:nvSpPr>
            <p:cNvPr id="162" name="object 166"/>
            <p:cNvSpPr/>
            <p:nvPr/>
          </p:nvSpPr>
          <p:spPr>
            <a:xfrm>
              <a:off x="923925" y="3829050"/>
              <a:ext cx="1038225" cy="561975"/>
            </a:xfrm>
            <a:custGeom>
              <a:avLst/>
              <a:gdLst/>
              <a:ahLst/>
              <a:cxnLst/>
              <a:rect l="l" t="t" r="r" b="b"/>
              <a:pathLst>
                <a:path w="1038225" h="561975">
                  <a:moveTo>
                    <a:pt x="0" y="561975"/>
                  </a:moveTo>
                  <a:lnTo>
                    <a:pt x="1038225" y="561975"/>
                  </a:lnTo>
                  <a:lnTo>
                    <a:pt x="1038225" y="0"/>
                  </a:lnTo>
                  <a:lnTo>
                    <a:pt x="0" y="0"/>
                  </a:lnTo>
                  <a:lnTo>
                    <a:pt x="0" y="561975"/>
                  </a:lnTo>
                  <a:close/>
                </a:path>
              </a:pathLst>
            </a:custGeom>
            <a:solidFill>
              <a:srgbClr val="B3B3B3"/>
            </a:solidFill>
          </p:spPr>
          <p:txBody>
            <a:bodyPr wrap="square" lIns="0" tIns="0" rIns="0" bIns="0" rtlCol="0">
              <a:noAutofit/>
            </a:bodyPr>
            <a:lstStyle/>
            <a:p>
              <a:endParaRPr/>
            </a:p>
          </p:txBody>
        </p:sp>
        <p:sp>
          <p:nvSpPr>
            <p:cNvPr id="163" name="object 167"/>
            <p:cNvSpPr/>
            <p:nvPr/>
          </p:nvSpPr>
          <p:spPr>
            <a:xfrm>
              <a:off x="809625" y="3714750"/>
              <a:ext cx="1038225" cy="561975"/>
            </a:xfrm>
            <a:custGeom>
              <a:avLst/>
              <a:gdLst/>
              <a:ahLst/>
              <a:cxnLst/>
              <a:rect l="l" t="t" r="r" b="b"/>
              <a:pathLst>
                <a:path w="1038225" h="561975">
                  <a:moveTo>
                    <a:pt x="0" y="561975"/>
                  </a:moveTo>
                  <a:lnTo>
                    <a:pt x="1038225" y="561975"/>
                  </a:lnTo>
                  <a:lnTo>
                    <a:pt x="1038225" y="0"/>
                  </a:lnTo>
                  <a:lnTo>
                    <a:pt x="0" y="0"/>
                  </a:lnTo>
                  <a:lnTo>
                    <a:pt x="0" y="561975"/>
                  </a:lnTo>
                  <a:close/>
                </a:path>
              </a:pathLst>
            </a:custGeom>
            <a:solidFill>
              <a:srgbClr val="FFFFFF"/>
            </a:solidFill>
          </p:spPr>
          <p:txBody>
            <a:bodyPr wrap="square" lIns="0" tIns="0" rIns="0" bIns="0" rtlCol="0">
              <a:noAutofit/>
            </a:bodyPr>
            <a:lstStyle/>
            <a:p>
              <a:endParaRPr/>
            </a:p>
          </p:txBody>
        </p:sp>
        <p:sp>
          <p:nvSpPr>
            <p:cNvPr id="164" name="object 168"/>
            <p:cNvSpPr/>
            <p:nvPr/>
          </p:nvSpPr>
          <p:spPr>
            <a:xfrm>
              <a:off x="809625" y="3714750"/>
              <a:ext cx="1038225" cy="561975"/>
            </a:xfrm>
            <a:custGeom>
              <a:avLst/>
              <a:gdLst/>
              <a:ahLst/>
              <a:cxnLst/>
              <a:rect l="l" t="t" r="r" b="b"/>
              <a:pathLst>
                <a:path w="1038225" h="561975">
                  <a:moveTo>
                    <a:pt x="0" y="561975"/>
                  </a:moveTo>
                  <a:lnTo>
                    <a:pt x="1038225" y="561975"/>
                  </a:lnTo>
                  <a:lnTo>
                    <a:pt x="1038225" y="0"/>
                  </a:lnTo>
                  <a:lnTo>
                    <a:pt x="0" y="0"/>
                  </a:lnTo>
                  <a:lnTo>
                    <a:pt x="0" y="561975"/>
                  </a:lnTo>
                  <a:close/>
                </a:path>
              </a:pathLst>
            </a:custGeom>
            <a:ln w="9525">
              <a:solidFill>
                <a:srgbClr val="000000"/>
              </a:solidFill>
            </a:ln>
          </p:spPr>
          <p:txBody>
            <a:bodyPr wrap="square" lIns="0" tIns="0" rIns="0" bIns="0" rtlCol="0">
              <a:noAutofit/>
            </a:bodyPr>
            <a:lstStyle/>
            <a:p>
              <a:endParaRPr/>
            </a:p>
          </p:txBody>
        </p:sp>
        <p:sp>
          <p:nvSpPr>
            <p:cNvPr id="165" name="object 169"/>
            <p:cNvSpPr txBox="1"/>
            <p:nvPr/>
          </p:nvSpPr>
          <p:spPr>
            <a:xfrm>
              <a:off x="854075" y="3800475"/>
              <a:ext cx="959485" cy="194310"/>
            </a:xfrm>
            <a:prstGeom prst="rect">
              <a:avLst/>
            </a:prstGeom>
          </p:spPr>
          <p:txBody>
            <a:bodyPr vert="horz" wrap="square" lIns="0" tIns="0" rIns="0" bIns="0" rtlCol="0">
              <a:noAutofit/>
            </a:bodyPr>
            <a:lstStyle/>
            <a:p>
              <a:pPr marL="12700">
                <a:lnSpc>
                  <a:spcPct val="100000"/>
                </a:lnSpc>
              </a:pPr>
              <a:r>
                <a:rPr sz="1200" b="1" dirty="0">
                  <a:latin typeface="Arial"/>
                  <a:cs typeface="Arial"/>
                </a:rPr>
                <a:t>Performance</a:t>
              </a:r>
              <a:endParaRPr sz="1200">
                <a:latin typeface="Arial"/>
                <a:cs typeface="Arial"/>
              </a:endParaRPr>
            </a:p>
          </p:txBody>
        </p:sp>
        <p:sp>
          <p:nvSpPr>
            <p:cNvPr id="166" name="object 170"/>
            <p:cNvSpPr txBox="1"/>
            <p:nvPr/>
          </p:nvSpPr>
          <p:spPr>
            <a:xfrm>
              <a:off x="1006475" y="3981450"/>
              <a:ext cx="645160" cy="194310"/>
            </a:xfrm>
            <a:prstGeom prst="rect">
              <a:avLst/>
            </a:prstGeom>
          </p:spPr>
          <p:txBody>
            <a:bodyPr vert="horz" wrap="square" lIns="0" tIns="0" rIns="0" bIns="0" rtlCol="0">
              <a:noAutofit/>
            </a:bodyPr>
            <a:lstStyle/>
            <a:p>
              <a:pPr marL="12700">
                <a:lnSpc>
                  <a:spcPct val="100000"/>
                </a:lnSpc>
              </a:pPr>
              <a:r>
                <a:rPr sz="1200" b="1" dirty="0">
                  <a:latin typeface="Arial"/>
                  <a:cs typeface="Arial"/>
                </a:rPr>
                <a:t>Measure</a:t>
              </a:r>
              <a:endParaRPr sz="1200">
                <a:latin typeface="Arial"/>
                <a:cs typeface="Arial"/>
              </a:endParaRPr>
            </a:p>
          </p:txBody>
        </p:sp>
        <p:sp>
          <p:nvSpPr>
            <p:cNvPr id="167" name="object 171"/>
            <p:cNvSpPr/>
            <p:nvPr/>
          </p:nvSpPr>
          <p:spPr>
            <a:xfrm>
              <a:off x="1323975" y="2571750"/>
              <a:ext cx="0" cy="1009650"/>
            </a:xfrm>
            <a:custGeom>
              <a:avLst/>
              <a:gdLst/>
              <a:ahLst/>
              <a:cxnLst/>
              <a:rect l="l" t="t" r="r" b="b"/>
              <a:pathLst>
                <a:path h="1009650">
                  <a:moveTo>
                    <a:pt x="0" y="0"/>
                  </a:moveTo>
                  <a:lnTo>
                    <a:pt x="0" y="1009650"/>
                  </a:lnTo>
                </a:path>
              </a:pathLst>
            </a:custGeom>
            <a:ln w="19050">
              <a:solidFill>
                <a:srgbClr val="000000"/>
              </a:solidFill>
            </a:ln>
          </p:spPr>
          <p:txBody>
            <a:bodyPr wrap="square" lIns="0" tIns="0" rIns="0" bIns="0" rtlCol="0">
              <a:noAutofit/>
            </a:bodyPr>
            <a:lstStyle/>
            <a:p>
              <a:endParaRPr/>
            </a:p>
          </p:txBody>
        </p:sp>
        <p:sp>
          <p:nvSpPr>
            <p:cNvPr id="168" name="object 172"/>
            <p:cNvSpPr/>
            <p:nvPr/>
          </p:nvSpPr>
          <p:spPr>
            <a:xfrm>
              <a:off x="1276350" y="3571875"/>
              <a:ext cx="95250" cy="142875"/>
            </a:xfrm>
            <a:custGeom>
              <a:avLst/>
              <a:gdLst/>
              <a:ahLst/>
              <a:cxnLst/>
              <a:rect l="l" t="t" r="r" b="b"/>
              <a:pathLst>
                <a:path w="95250" h="142875">
                  <a:moveTo>
                    <a:pt x="95250" y="0"/>
                  </a:moveTo>
                  <a:lnTo>
                    <a:pt x="0" y="0"/>
                  </a:lnTo>
                  <a:lnTo>
                    <a:pt x="47625" y="142875"/>
                  </a:lnTo>
                  <a:lnTo>
                    <a:pt x="95250" y="0"/>
                  </a:lnTo>
                  <a:close/>
                </a:path>
              </a:pathLst>
            </a:custGeom>
            <a:solidFill>
              <a:srgbClr val="000000"/>
            </a:solidFill>
          </p:spPr>
          <p:txBody>
            <a:bodyPr wrap="square" lIns="0" tIns="0" rIns="0" bIns="0" rtlCol="0">
              <a:noAutofit/>
            </a:bodyPr>
            <a:lstStyle/>
            <a:p>
              <a:endParaRPr/>
            </a:p>
          </p:txBody>
        </p:sp>
        <p:sp>
          <p:nvSpPr>
            <p:cNvPr id="169" name="object 173"/>
            <p:cNvSpPr/>
            <p:nvPr/>
          </p:nvSpPr>
          <p:spPr>
            <a:xfrm>
              <a:off x="1323975" y="4410075"/>
              <a:ext cx="0" cy="1009650"/>
            </a:xfrm>
            <a:custGeom>
              <a:avLst/>
              <a:gdLst/>
              <a:ahLst/>
              <a:cxnLst/>
              <a:rect l="l" t="t" r="r" b="b"/>
              <a:pathLst>
                <a:path h="1009650">
                  <a:moveTo>
                    <a:pt x="0" y="1009650"/>
                  </a:moveTo>
                  <a:lnTo>
                    <a:pt x="0" y="0"/>
                  </a:lnTo>
                </a:path>
              </a:pathLst>
            </a:custGeom>
            <a:ln w="19050">
              <a:solidFill>
                <a:srgbClr val="000000"/>
              </a:solidFill>
            </a:ln>
          </p:spPr>
          <p:txBody>
            <a:bodyPr wrap="square" lIns="0" tIns="0" rIns="0" bIns="0" rtlCol="0">
              <a:noAutofit/>
            </a:bodyPr>
            <a:lstStyle/>
            <a:p>
              <a:endParaRPr/>
            </a:p>
          </p:txBody>
        </p:sp>
        <p:sp>
          <p:nvSpPr>
            <p:cNvPr id="170" name="object 174"/>
            <p:cNvSpPr/>
            <p:nvPr/>
          </p:nvSpPr>
          <p:spPr>
            <a:xfrm>
              <a:off x="1276350" y="4276725"/>
              <a:ext cx="95250" cy="142875"/>
            </a:xfrm>
            <a:custGeom>
              <a:avLst/>
              <a:gdLst/>
              <a:ahLst/>
              <a:cxnLst/>
              <a:rect l="l" t="t" r="r" b="b"/>
              <a:pathLst>
                <a:path w="95250" h="142875">
                  <a:moveTo>
                    <a:pt x="47625" y="0"/>
                  </a:moveTo>
                  <a:lnTo>
                    <a:pt x="0" y="142875"/>
                  </a:lnTo>
                  <a:lnTo>
                    <a:pt x="95250" y="142875"/>
                  </a:lnTo>
                  <a:lnTo>
                    <a:pt x="47625" y="0"/>
                  </a:lnTo>
                  <a:close/>
                </a:path>
              </a:pathLst>
            </a:custGeom>
            <a:solidFill>
              <a:srgbClr val="000000"/>
            </a:solidFill>
          </p:spPr>
          <p:txBody>
            <a:bodyPr wrap="square" lIns="0" tIns="0" rIns="0" bIns="0" rtlCol="0">
              <a:noAutofit/>
            </a:bodyPr>
            <a:lstStyle/>
            <a:p>
              <a:endParaRPr/>
            </a:p>
          </p:txBody>
        </p:sp>
        <p:sp>
          <p:nvSpPr>
            <p:cNvPr id="171" name="object 175"/>
            <p:cNvSpPr/>
            <p:nvPr/>
          </p:nvSpPr>
          <p:spPr>
            <a:xfrm>
              <a:off x="657225" y="4000500"/>
              <a:ext cx="152400" cy="0"/>
            </a:xfrm>
            <a:custGeom>
              <a:avLst/>
              <a:gdLst/>
              <a:ahLst/>
              <a:cxnLst/>
              <a:rect l="l" t="t" r="r" b="b"/>
              <a:pathLst>
                <a:path w="152400">
                  <a:moveTo>
                    <a:pt x="152400" y="0"/>
                  </a:moveTo>
                  <a:lnTo>
                    <a:pt x="0" y="0"/>
                  </a:lnTo>
                </a:path>
              </a:pathLst>
            </a:custGeom>
            <a:ln w="19050">
              <a:solidFill>
                <a:srgbClr val="000000"/>
              </a:solidFill>
            </a:ln>
          </p:spPr>
          <p:txBody>
            <a:bodyPr wrap="square" lIns="0" tIns="0" rIns="0" bIns="0" rtlCol="0">
              <a:noAutofit/>
            </a:bodyPr>
            <a:lstStyle/>
            <a:p>
              <a:endParaRPr/>
            </a:p>
          </p:txBody>
        </p:sp>
        <p:sp>
          <p:nvSpPr>
            <p:cNvPr id="172" name="object 176"/>
            <p:cNvSpPr/>
            <p:nvPr/>
          </p:nvSpPr>
          <p:spPr>
            <a:xfrm>
              <a:off x="523875" y="3952875"/>
              <a:ext cx="142875" cy="95250"/>
            </a:xfrm>
            <a:custGeom>
              <a:avLst/>
              <a:gdLst/>
              <a:ahLst/>
              <a:cxnLst/>
              <a:rect l="l" t="t" r="r" b="b"/>
              <a:pathLst>
                <a:path w="142875" h="95250">
                  <a:moveTo>
                    <a:pt x="142875" y="0"/>
                  </a:moveTo>
                  <a:lnTo>
                    <a:pt x="0" y="47625"/>
                  </a:lnTo>
                  <a:lnTo>
                    <a:pt x="142875" y="95250"/>
                  </a:lnTo>
                  <a:lnTo>
                    <a:pt x="142875" y="0"/>
                  </a:lnTo>
                  <a:close/>
                </a:path>
              </a:pathLst>
            </a:custGeom>
            <a:solidFill>
              <a:srgbClr val="000000"/>
            </a:solidFill>
          </p:spPr>
          <p:txBody>
            <a:bodyPr wrap="square" lIns="0" tIns="0" rIns="0" bIns="0" rtlCol="0">
              <a:noAutofit/>
            </a:bodyPr>
            <a:lstStyle/>
            <a:p>
              <a:endParaRPr/>
            </a:p>
          </p:txBody>
        </p:sp>
        <p:sp>
          <p:nvSpPr>
            <p:cNvPr id="174" name="object 178"/>
            <p:cNvSpPr/>
            <p:nvPr/>
          </p:nvSpPr>
          <p:spPr>
            <a:xfrm>
              <a:off x="5724525" y="2171700"/>
              <a:ext cx="1143000" cy="3876675"/>
            </a:xfrm>
            <a:custGeom>
              <a:avLst/>
              <a:gdLst/>
              <a:ahLst/>
              <a:cxnLst/>
              <a:rect l="l" t="t" r="r" b="b"/>
              <a:pathLst>
                <a:path w="1143000" h="3876675">
                  <a:moveTo>
                    <a:pt x="0" y="3876675"/>
                  </a:moveTo>
                  <a:lnTo>
                    <a:pt x="1143000" y="3876675"/>
                  </a:lnTo>
                  <a:lnTo>
                    <a:pt x="1143000" y="0"/>
                  </a:lnTo>
                  <a:lnTo>
                    <a:pt x="0" y="0"/>
                  </a:lnTo>
                  <a:lnTo>
                    <a:pt x="0" y="3876675"/>
                  </a:lnTo>
                  <a:close/>
                </a:path>
              </a:pathLst>
            </a:custGeom>
            <a:solidFill>
              <a:srgbClr val="7E7E00"/>
            </a:solidFill>
          </p:spPr>
          <p:txBody>
            <a:bodyPr wrap="square" lIns="0" tIns="0" rIns="0" bIns="0" rtlCol="0">
              <a:noAutofit/>
            </a:bodyPr>
            <a:lstStyle/>
            <a:p>
              <a:endParaRPr/>
            </a:p>
          </p:txBody>
        </p:sp>
        <p:sp>
          <p:nvSpPr>
            <p:cNvPr id="175" name="object 179"/>
            <p:cNvSpPr/>
            <p:nvPr/>
          </p:nvSpPr>
          <p:spPr>
            <a:xfrm>
              <a:off x="5724525" y="2171700"/>
              <a:ext cx="1143000" cy="3876675"/>
            </a:xfrm>
            <a:custGeom>
              <a:avLst/>
              <a:gdLst/>
              <a:ahLst/>
              <a:cxnLst/>
              <a:rect l="l" t="t" r="r" b="b"/>
              <a:pathLst>
                <a:path w="1143000" h="3876675">
                  <a:moveTo>
                    <a:pt x="0" y="3876675"/>
                  </a:moveTo>
                  <a:lnTo>
                    <a:pt x="1143000" y="3876675"/>
                  </a:lnTo>
                  <a:lnTo>
                    <a:pt x="1143000" y="0"/>
                  </a:lnTo>
                  <a:lnTo>
                    <a:pt x="0" y="0"/>
                  </a:lnTo>
                  <a:lnTo>
                    <a:pt x="0" y="3876675"/>
                  </a:lnTo>
                  <a:close/>
                </a:path>
              </a:pathLst>
            </a:custGeom>
            <a:ln w="9525">
              <a:solidFill>
                <a:srgbClr val="000000"/>
              </a:solidFill>
            </a:ln>
          </p:spPr>
          <p:txBody>
            <a:bodyPr wrap="square" lIns="0" tIns="0" rIns="0" bIns="0" rtlCol="0">
              <a:noAutofit/>
            </a:bodyPr>
            <a:lstStyle/>
            <a:p>
              <a:endParaRPr/>
            </a:p>
          </p:txBody>
        </p:sp>
        <p:sp>
          <p:nvSpPr>
            <p:cNvPr id="176" name="object 180"/>
            <p:cNvSpPr/>
            <p:nvPr/>
          </p:nvSpPr>
          <p:spPr>
            <a:xfrm>
              <a:off x="5905500" y="2400300"/>
              <a:ext cx="962025" cy="571500"/>
            </a:xfrm>
            <a:custGeom>
              <a:avLst/>
              <a:gdLst/>
              <a:ahLst/>
              <a:cxnLst/>
              <a:rect l="l" t="t" r="r" b="b"/>
              <a:pathLst>
                <a:path w="962025" h="571500">
                  <a:moveTo>
                    <a:pt x="0" y="571500"/>
                  </a:moveTo>
                  <a:lnTo>
                    <a:pt x="962025" y="571500"/>
                  </a:lnTo>
                  <a:lnTo>
                    <a:pt x="962025" y="0"/>
                  </a:lnTo>
                  <a:lnTo>
                    <a:pt x="0" y="0"/>
                  </a:lnTo>
                  <a:lnTo>
                    <a:pt x="0" y="571500"/>
                  </a:lnTo>
                  <a:close/>
                </a:path>
              </a:pathLst>
            </a:custGeom>
            <a:solidFill>
              <a:srgbClr val="B3B3B3"/>
            </a:solidFill>
          </p:spPr>
          <p:txBody>
            <a:bodyPr wrap="square" lIns="0" tIns="0" rIns="0" bIns="0" rtlCol="0">
              <a:noAutofit/>
            </a:bodyPr>
            <a:lstStyle/>
            <a:p>
              <a:endParaRPr/>
            </a:p>
          </p:txBody>
        </p:sp>
        <p:sp>
          <p:nvSpPr>
            <p:cNvPr id="177" name="object 181"/>
            <p:cNvSpPr/>
            <p:nvPr/>
          </p:nvSpPr>
          <p:spPr>
            <a:xfrm>
              <a:off x="5791200" y="2286000"/>
              <a:ext cx="962025" cy="571500"/>
            </a:xfrm>
            <a:custGeom>
              <a:avLst/>
              <a:gdLst/>
              <a:ahLst/>
              <a:cxnLst/>
              <a:rect l="l" t="t" r="r" b="b"/>
              <a:pathLst>
                <a:path w="962025" h="571500">
                  <a:moveTo>
                    <a:pt x="0" y="571500"/>
                  </a:moveTo>
                  <a:lnTo>
                    <a:pt x="962025" y="571500"/>
                  </a:lnTo>
                  <a:lnTo>
                    <a:pt x="962025" y="0"/>
                  </a:lnTo>
                  <a:lnTo>
                    <a:pt x="0" y="0"/>
                  </a:lnTo>
                  <a:lnTo>
                    <a:pt x="0" y="571500"/>
                  </a:lnTo>
                  <a:close/>
                </a:path>
              </a:pathLst>
            </a:custGeom>
            <a:solidFill>
              <a:srgbClr val="00FFFF"/>
            </a:solidFill>
          </p:spPr>
          <p:txBody>
            <a:bodyPr wrap="square" lIns="0" tIns="0" rIns="0" bIns="0" rtlCol="0">
              <a:noAutofit/>
            </a:bodyPr>
            <a:lstStyle/>
            <a:p>
              <a:endParaRPr/>
            </a:p>
          </p:txBody>
        </p:sp>
        <p:sp>
          <p:nvSpPr>
            <p:cNvPr id="178" name="object 182"/>
            <p:cNvSpPr/>
            <p:nvPr/>
          </p:nvSpPr>
          <p:spPr>
            <a:xfrm>
              <a:off x="5791200" y="2286000"/>
              <a:ext cx="962025" cy="571500"/>
            </a:xfrm>
            <a:custGeom>
              <a:avLst/>
              <a:gdLst/>
              <a:ahLst/>
              <a:cxnLst/>
              <a:rect l="l" t="t" r="r" b="b"/>
              <a:pathLst>
                <a:path w="962025" h="571500">
                  <a:moveTo>
                    <a:pt x="0" y="571500"/>
                  </a:moveTo>
                  <a:lnTo>
                    <a:pt x="962025" y="571500"/>
                  </a:lnTo>
                  <a:lnTo>
                    <a:pt x="962025" y="0"/>
                  </a:lnTo>
                  <a:lnTo>
                    <a:pt x="0" y="0"/>
                  </a:lnTo>
                  <a:lnTo>
                    <a:pt x="0" y="571500"/>
                  </a:lnTo>
                  <a:close/>
                </a:path>
              </a:pathLst>
            </a:custGeom>
            <a:ln w="9525">
              <a:solidFill>
                <a:srgbClr val="000000"/>
              </a:solidFill>
            </a:ln>
          </p:spPr>
          <p:txBody>
            <a:bodyPr wrap="square" lIns="0" tIns="0" rIns="0" bIns="0" rtlCol="0">
              <a:noAutofit/>
            </a:bodyPr>
            <a:lstStyle/>
            <a:p>
              <a:endParaRPr/>
            </a:p>
          </p:txBody>
        </p:sp>
        <p:sp>
          <p:nvSpPr>
            <p:cNvPr id="179" name="object 183"/>
            <p:cNvSpPr txBox="1"/>
            <p:nvPr/>
          </p:nvSpPr>
          <p:spPr>
            <a:xfrm>
              <a:off x="5921375" y="2466975"/>
              <a:ext cx="692150" cy="194310"/>
            </a:xfrm>
            <a:prstGeom prst="rect">
              <a:avLst/>
            </a:prstGeom>
          </p:spPr>
          <p:txBody>
            <a:bodyPr vert="horz" wrap="square" lIns="0" tIns="0" rIns="0" bIns="0" rtlCol="0">
              <a:noAutofit/>
            </a:bodyPr>
            <a:lstStyle/>
            <a:p>
              <a:pPr marL="12700">
                <a:lnSpc>
                  <a:spcPct val="100000"/>
                </a:lnSpc>
              </a:pPr>
              <a:r>
                <a:rPr sz="1200" b="1" spc="-15" dirty="0">
                  <a:latin typeface="Arial"/>
                  <a:cs typeface="Arial"/>
                </a:rPr>
                <a:t>Modulate</a:t>
              </a:r>
              <a:endParaRPr sz="1200">
                <a:latin typeface="Arial"/>
                <a:cs typeface="Arial"/>
              </a:endParaRPr>
            </a:p>
          </p:txBody>
        </p:sp>
        <p:sp>
          <p:nvSpPr>
            <p:cNvPr id="180" name="object 184"/>
            <p:cNvSpPr/>
            <p:nvPr/>
          </p:nvSpPr>
          <p:spPr>
            <a:xfrm>
              <a:off x="5438775" y="2571750"/>
              <a:ext cx="219075" cy="0"/>
            </a:xfrm>
            <a:custGeom>
              <a:avLst/>
              <a:gdLst/>
              <a:ahLst/>
              <a:cxnLst/>
              <a:rect l="l" t="t" r="r" b="b"/>
              <a:pathLst>
                <a:path w="219075">
                  <a:moveTo>
                    <a:pt x="0" y="0"/>
                  </a:moveTo>
                  <a:lnTo>
                    <a:pt x="219075" y="0"/>
                  </a:lnTo>
                </a:path>
              </a:pathLst>
            </a:custGeom>
            <a:ln w="19050">
              <a:solidFill>
                <a:srgbClr val="000000"/>
              </a:solidFill>
            </a:ln>
          </p:spPr>
          <p:txBody>
            <a:bodyPr wrap="square" lIns="0" tIns="0" rIns="0" bIns="0" rtlCol="0">
              <a:noAutofit/>
            </a:bodyPr>
            <a:lstStyle/>
            <a:p>
              <a:endParaRPr/>
            </a:p>
          </p:txBody>
        </p:sp>
        <p:sp>
          <p:nvSpPr>
            <p:cNvPr id="181" name="object 185"/>
            <p:cNvSpPr/>
            <p:nvPr/>
          </p:nvSpPr>
          <p:spPr>
            <a:xfrm>
              <a:off x="5648325" y="2524125"/>
              <a:ext cx="142875" cy="95250"/>
            </a:xfrm>
            <a:custGeom>
              <a:avLst/>
              <a:gdLst/>
              <a:ahLst/>
              <a:cxnLst/>
              <a:rect l="l" t="t" r="r" b="b"/>
              <a:pathLst>
                <a:path w="142875" h="95250">
                  <a:moveTo>
                    <a:pt x="0" y="0"/>
                  </a:moveTo>
                  <a:lnTo>
                    <a:pt x="0" y="95250"/>
                  </a:lnTo>
                  <a:lnTo>
                    <a:pt x="142875" y="47625"/>
                  </a:lnTo>
                  <a:lnTo>
                    <a:pt x="0" y="0"/>
                  </a:lnTo>
                  <a:close/>
                </a:path>
              </a:pathLst>
            </a:custGeom>
            <a:solidFill>
              <a:srgbClr val="000000"/>
            </a:solidFill>
          </p:spPr>
          <p:txBody>
            <a:bodyPr wrap="square" lIns="0" tIns="0" rIns="0" bIns="0" rtlCol="0">
              <a:noAutofit/>
            </a:bodyPr>
            <a:lstStyle/>
            <a:p>
              <a:endParaRPr/>
            </a:p>
          </p:txBody>
        </p:sp>
        <p:sp>
          <p:nvSpPr>
            <p:cNvPr id="182" name="object 186"/>
            <p:cNvSpPr/>
            <p:nvPr/>
          </p:nvSpPr>
          <p:spPr>
            <a:xfrm>
              <a:off x="6753225" y="2571750"/>
              <a:ext cx="152400" cy="0"/>
            </a:xfrm>
            <a:custGeom>
              <a:avLst/>
              <a:gdLst/>
              <a:ahLst/>
              <a:cxnLst/>
              <a:rect l="l" t="t" r="r" b="b"/>
              <a:pathLst>
                <a:path w="152400">
                  <a:moveTo>
                    <a:pt x="0" y="0"/>
                  </a:moveTo>
                  <a:lnTo>
                    <a:pt x="152400" y="0"/>
                  </a:lnTo>
                </a:path>
              </a:pathLst>
            </a:custGeom>
            <a:ln w="19050">
              <a:solidFill>
                <a:srgbClr val="000000"/>
              </a:solidFill>
            </a:ln>
          </p:spPr>
          <p:txBody>
            <a:bodyPr wrap="square" lIns="0" tIns="0" rIns="0" bIns="0" rtlCol="0">
              <a:noAutofit/>
            </a:bodyPr>
            <a:lstStyle/>
            <a:p>
              <a:endParaRPr/>
            </a:p>
          </p:txBody>
        </p:sp>
        <p:sp>
          <p:nvSpPr>
            <p:cNvPr id="183" name="object 187"/>
            <p:cNvSpPr/>
            <p:nvPr/>
          </p:nvSpPr>
          <p:spPr>
            <a:xfrm>
              <a:off x="6896100" y="2524125"/>
              <a:ext cx="142875" cy="95250"/>
            </a:xfrm>
            <a:custGeom>
              <a:avLst/>
              <a:gdLst/>
              <a:ahLst/>
              <a:cxnLst/>
              <a:rect l="l" t="t" r="r" b="b"/>
              <a:pathLst>
                <a:path w="142875" h="95250">
                  <a:moveTo>
                    <a:pt x="0" y="0"/>
                  </a:moveTo>
                  <a:lnTo>
                    <a:pt x="0" y="95250"/>
                  </a:lnTo>
                  <a:lnTo>
                    <a:pt x="142875" y="47625"/>
                  </a:lnTo>
                  <a:lnTo>
                    <a:pt x="0" y="0"/>
                  </a:lnTo>
                  <a:close/>
                </a:path>
              </a:pathLst>
            </a:custGeom>
            <a:solidFill>
              <a:srgbClr val="000000"/>
            </a:solidFill>
          </p:spPr>
          <p:txBody>
            <a:bodyPr wrap="square" lIns="0" tIns="0" rIns="0" bIns="0" rtlCol="0">
              <a:noAutofit/>
            </a:bodyPr>
            <a:lstStyle/>
            <a:p>
              <a:endParaRPr/>
            </a:p>
          </p:txBody>
        </p:sp>
        <p:sp>
          <p:nvSpPr>
            <p:cNvPr id="184" name="object 188"/>
            <p:cNvSpPr/>
            <p:nvPr/>
          </p:nvSpPr>
          <p:spPr>
            <a:xfrm>
              <a:off x="5915025" y="5248275"/>
              <a:ext cx="990600" cy="571500"/>
            </a:xfrm>
            <a:custGeom>
              <a:avLst/>
              <a:gdLst/>
              <a:ahLst/>
              <a:cxnLst/>
              <a:rect l="l" t="t" r="r" b="b"/>
              <a:pathLst>
                <a:path w="990600" h="571500">
                  <a:moveTo>
                    <a:pt x="0" y="571500"/>
                  </a:moveTo>
                  <a:lnTo>
                    <a:pt x="990600" y="571500"/>
                  </a:lnTo>
                  <a:lnTo>
                    <a:pt x="990600" y="0"/>
                  </a:lnTo>
                  <a:lnTo>
                    <a:pt x="0" y="0"/>
                  </a:lnTo>
                  <a:lnTo>
                    <a:pt x="0" y="571500"/>
                  </a:lnTo>
                  <a:close/>
                </a:path>
              </a:pathLst>
            </a:custGeom>
            <a:solidFill>
              <a:srgbClr val="B3B3B3"/>
            </a:solidFill>
          </p:spPr>
          <p:txBody>
            <a:bodyPr wrap="square" lIns="0" tIns="0" rIns="0" bIns="0" rtlCol="0">
              <a:noAutofit/>
            </a:bodyPr>
            <a:lstStyle/>
            <a:p>
              <a:endParaRPr/>
            </a:p>
          </p:txBody>
        </p:sp>
        <p:sp>
          <p:nvSpPr>
            <p:cNvPr id="185" name="object 189"/>
            <p:cNvSpPr/>
            <p:nvPr/>
          </p:nvSpPr>
          <p:spPr>
            <a:xfrm>
              <a:off x="5800725" y="5133975"/>
              <a:ext cx="990600" cy="571500"/>
            </a:xfrm>
            <a:custGeom>
              <a:avLst/>
              <a:gdLst/>
              <a:ahLst/>
              <a:cxnLst/>
              <a:rect l="l" t="t" r="r" b="b"/>
              <a:pathLst>
                <a:path w="990600" h="571500">
                  <a:moveTo>
                    <a:pt x="0" y="571500"/>
                  </a:moveTo>
                  <a:lnTo>
                    <a:pt x="990600" y="571500"/>
                  </a:lnTo>
                  <a:lnTo>
                    <a:pt x="990600" y="0"/>
                  </a:lnTo>
                  <a:lnTo>
                    <a:pt x="0" y="0"/>
                  </a:lnTo>
                  <a:lnTo>
                    <a:pt x="0" y="571500"/>
                  </a:lnTo>
                  <a:close/>
                </a:path>
              </a:pathLst>
            </a:custGeom>
            <a:solidFill>
              <a:srgbClr val="00FFFF"/>
            </a:solidFill>
          </p:spPr>
          <p:txBody>
            <a:bodyPr wrap="square" lIns="0" tIns="0" rIns="0" bIns="0" rtlCol="0">
              <a:noAutofit/>
            </a:bodyPr>
            <a:lstStyle/>
            <a:p>
              <a:endParaRPr/>
            </a:p>
          </p:txBody>
        </p:sp>
        <p:sp>
          <p:nvSpPr>
            <p:cNvPr id="186" name="object 190"/>
            <p:cNvSpPr/>
            <p:nvPr/>
          </p:nvSpPr>
          <p:spPr>
            <a:xfrm>
              <a:off x="5800725" y="5133975"/>
              <a:ext cx="990600" cy="571500"/>
            </a:xfrm>
            <a:custGeom>
              <a:avLst/>
              <a:gdLst/>
              <a:ahLst/>
              <a:cxnLst/>
              <a:rect l="l" t="t" r="r" b="b"/>
              <a:pathLst>
                <a:path w="990600" h="571500">
                  <a:moveTo>
                    <a:pt x="0" y="571500"/>
                  </a:moveTo>
                  <a:lnTo>
                    <a:pt x="990600" y="571500"/>
                  </a:lnTo>
                  <a:lnTo>
                    <a:pt x="990600" y="0"/>
                  </a:lnTo>
                  <a:lnTo>
                    <a:pt x="0" y="0"/>
                  </a:lnTo>
                  <a:lnTo>
                    <a:pt x="0" y="571500"/>
                  </a:lnTo>
                  <a:close/>
                </a:path>
              </a:pathLst>
            </a:custGeom>
            <a:ln w="9525">
              <a:solidFill>
                <a:srgbClr val="000000"/>
              </a:solidFill>
            </a:ln>
          </p:spPr>
          <p:txBody>
            <a:bodyPr wrap="square" lIns="0" tIns="0" rIns="0" bIns="0" rtlCol="0">
              <a:noAutofit/>
            </a:bodyPr>
            <a:lstStyle/>
            <a:p>
              <a:endParaRPr/>
            </a:p>
          </p:txBody>
        </p:sp>
        <p:sp>
          <p:nvSpPr>
            <p:cNvPr id="187" name="object 191"/>
            <p:cNvSpPr txBox="1"/>
            <p:nvPr/>
          </p:nvSpPr>
          <p:spPr>
            <a:xfrm>
              <a:off x="5845175" y="5133975"/>
              <a:ext cx="911860" cy="194310"/>
            </a:xfrm>
            <a:prstGeom prst="rect">
              <a:avLst/>
            </a:prstGeom>
          </p:spPr>
          <p:txBody>
            <a:bodyPr vert="horz" wrap="square" lIns="0" tIns="0" rIns="0" bIns="0" rtlCol="0">
              <a:noAutofit/>
            </a:bodyPr>
            <a:lstStyle/>
            <a:p>
              <a:pPr marL="12700">
                <a:lnSpc>
                  <a:spcPct val="100000"/>
                </a:lnSpc>
              </a:pPr>
              <a:r>
                <a:rPr sz="1200" b="1" spc="10" dirty="0">
                  <a:latin typeface="Arial"/>
                  <a:cs typeface="Arial"/>
                </a:rPr>
                <a:t>Demodulate</a:t>
              </a:r>
              <a:endParaRPr sz="1200">
                <a:latin typeface="Arial"/>
                <a:cs typeface="Arial"/>
              </a:endParaRPr>
            </a:p>
          </p:txBody>
        </p:sp>
        <p:sp>
          <p:nvSpPr>
            <p:cNvPr id="188" name="object 192"/>
            <p:cNvSpPr txBox="1"/>
            <p:nvPr/>
          </p:nvSpPr>
          <p:spPr>
            <a:xfrm>
              <a:off x="6045200" y="5322061"/>
              <a:ext cx="492759" cy="368300"/>
            </a:xfrm>
            <a:prstGeom prst="rect">
              <a:avLst/>
            </a:prstGeom>
          </p:spPr>
          <p:txBody>
            <a:bodyPr vert="horz" wrap="square" lIns="0" tIns="0" rIns="0" bIns="0" rtlCol="0">
              <a:noAutofit/>
            </a:bodyPr>
            <a:lstStyle/>
            <a:p>
              <a:pPr marL="12700" marR="12700" indent="180975">
                <a:lnSpc>
                  <a:spcPts val="1430"/>
                </a:lnSpc>
              </a:pPr>
              <a:r>
                <a:rPr sz="1200" b="1" dirty="0">
                  <a:latin typeface="Arial"/>
                  <a:cs typeface="Arial"/>
                </a:rPr>
                <a:t>&amp; Detect</a:t>
              </a:r>
              <a:endParaRPr sz="1200">
                <a:latin typeface="Arial"/>
                <a:cs typeface="Arial"/>
              </a:endParaRPr>
            </a:p>
          </p:txBody>
        </p:sp>
        <p:sp>
          <p:nvSpPr>
            <p:cNvPr id="189" name="object 193"/>
            <p:cNvSpPr/>
            <p:nvPr/>
          </p:nvSpPr>
          <p:spPr>
            <a:xfrm>
              <a:off x="6915150" y="5419725"/>
              <a:ext cx="123825" cy="0"/>
            </a:xfrm>
            <a:custGeom>
              <a:avLst/>
              <a:gdLst/>
              <a:ahLst/>
              <a:cxnLst/>
              <a:rect l="l" t="t" r="r" b="b"/>
              <a:pathLst>
                <a:path w="123825">
                  <a:moveTo>
                    <a:pt x="123825" y="0"/>
                  </a:moveTo>
                  <a:lnTo>
                    <a:pt x="0" y="0"/>
                  </a:lnTo>
                </a:path>
              </a:pathLst>
            </a:custGeom>
            <a:ln w="19050">
              <a:solidFill>
                <a:srgbClr val="000000"/>
              </a:solidFill>
            </a:ln>
          </p:spPr>
          <p:txBody>
            <a:bodyPr wrap="square" lIns="0" tIns="0" rIns="0" bIns="0" rtlCol="0">
              <a:noAutofit/>
            </a:bodyPr>
            <a:lstStyle/>
            <a:p>
              <a:endParaRPr/>
            </a:p>
          </p:txBody>
        </p:sp>
        <p:sp>
          <p:nvSpPr>
            <p:cNvPr id="190" name="object 194"/>
            <p:cNvSpPr/>
            <p:nvPr/>
          </p:nvSpPr>
          <p:spPr>
            <a:xfrm>
              <a:off x="6791325" y="5372100"/>
              <a:ext cx="133350" cy="95250"/>
            </a:xfrm>
            <a:custGeom>
              <a:avLst/>
              <a:gdLst/>
              <a:ahLst/>
              <a:cxnLst/>
              <a:rect l="l" t="t" r="r" b="b"/>
              <a:pathLst>
                <a:path w="133350" h="95250">
                  <a:moveTo>
                    <a:pt x="133350" y="0"/>
                  </a:moveTo>
                  <a:lnTo>
                    <a:pt x="0" y="47625"/>
                  </a:lnTo>
                  <a:lnTo>
                    <a:pt x="133350" y="95250"/>
                  </a:lnTo>
                  <a:lnTo>
                    <a:pt x="133350" y="0"/>
                  </a:lnTo>
                  <a:close/>
                </a:path>
              </a:pathLst>
            </a:custGeom>
            <a:solidFill>
              <a:srgbClr val="000000"/>
            </a:solidFill>
          </p:spPr>
          <p:txBody>
            <a:bodyPr wrap="square" lIns="0" tIns="0" rIns="0" bIns="0" rtlCol="0">
              <a:noAutofit/>
            </a:bodyPr>
            <a:lstStyle/>
            <a:p>
              <a:endParaRPr/>
            </a:p>
          </p:txBody>
        </p:sp>
        <p:sp>
          <p:nvSpPr>
            <p:cNvPr id="191" name="object 195"/>
            <p:cNvSpPr/>
            <p:nvPr/>
          </p:nvSpPr>
          <p:spPr>
            <a:xfrm>
              <a:off x="5695950" y="5419725"/>
              <a:ext cx="104775" cy="0"/>
            </a:xfrm>
            <a:custGeom>
              <a:avLst/>
              <a:gdLst/>
              <a:ahLst/>
              <a:cxnLst/>
              <a:rect l="l" t="t" r="r" b="b"/>
              <a:pathLst>
                <a:path w="104775">
                  <a:moveTo>
                    <a:pt x="104775" y="0"/>
                  </a:moveTo>
                  <a:lnTo>
                    <a:pt x="0" y="0"/>
                  </a:lnTo>
                </a:path>
              </a:pathLst>
            </a:custGeom>
            <a:ln w="19050">
              <a:solidFill>
                <a:srgbClr val="000000"/>
              </a:solidFill>
            </a:ln>
          </p:spPr>
          <p:txBody>
            <a:bodyPr wrap="square" lIns="0" tIns="0" rIns="0" bIns="0" rtlCol="0">
              <a:noAutofit/>
            </a:bodyPr>
            <a:lstStyle/>
            <a:p>
              <a:endParaRPr/>
            </a:p>
          </p:txBody>
        </p:sp>
        <p:sp>
          <p:nvSpPr>
            <p:cNvPr id="192" name="object 196"/>
            <p:cNvSpPr/>
            <p:nvPr/>
          </p:nvSpPr>
          <p:spPr>
            <a:xfrm>
              <a:off x="5562600" y="5372100"/>
              <a:ext cx="142875" cy="95250"/>
            </a:xfrm>
            <a:custGeom>
              <a:avLst/>
              <a:gdLst/>
              <a:ahLst/>
              <a:cxnLst/>
              <a:rect l="l" t="t" r="r" b="b"/>
              <a:pathLst>
                <a:path w="142875" h="95250">
                  <a:moveTo>
                    <a:pt x="142875" y="0"/>
                  </a:moveTo>
                  <a:lnTo>
                    <a:pt x="0" y="47625"/>
                  </a:lnTo>
                  <a:lnTo>
                    <a:pt x="142875" y="95250"/>
                  </a:lnTo>
                  <a:lnTo>
                    <a:pt x="142875" y="0"/>
                  </a:lnTo>
                  <a:close/>
                </a:path>
              </a:pathLst>
            </a:custGeom>
            <a:solidFill>
              <a:srgbClr val="000000"/>
            </a:solidFill>
          </p:spPr>
          <p:txBody>
            <a:bodyPr wrap="square" lIns="0" tIns="0" rIns="0" bIns="0" rtlCol="0">
              <a:noAutofit/>
            </a:bodyPr>
            <a:lstStyle/>
            <a:p>
              <a:endParaRPr/>
            </a:p>
          </p:txBody>
        </p:sp>
        <p:sp>
          <p:nvSpPr>
            <p:cNvPr id="193" name="object 197"/>
            <p:cNvSpPr/>
            <p:nvPr/>
          </p:nvSpPr>
          <p:spPr>
            <a:xfrm>
              <a:off x="6296025" y="5838825"/>
              <a:ext cx="1143000" cy="266700"/>
            </a:xfrm>
            <a:custGeom>
              <a:avLst/>
              <a:gdLst/>
              <a:ahLst/>
              <a:cxnLst/>
              <a:rect l="l" t="t" r="r" b="b"/>
              <a:pathLst>
                <a:path w="1143000" h="266700">
                  <a:moveTo>
                    <a:pt x="1143000" y="266700"/>
                  </a:moveTo>
                  <a:lnTo>
                    <a:pt x="1143000" y="95250"/>
                  </a:lnTo>
                  <a:lnTo>
                    <a:pt x="0" y="95250"/>
                  </a:lnTo>
                  <a:lnTo>
                    <a:pt x="0" y="0"/>
                  </a:lnTo>
                </a:path>
              </a:pathLst>
            </a:custGeom>
            <a:ln w="19050">
              <a:solidFill>
                <a:srgbClr val="000000"/>
              </a:solidFill>
            </a:ln>
          </p:spPr>
          <p:txBody>
            <a:bodyPr wrap="square" lIns="0" tIns="0" rIns="0" bIns="0" rtlCol="0">
              <a:noAutofit/>
            </a:bodyPr>
            <a:lstStyle/>
            <a:p>
              <a:endParaRPr/>
            </a:p>
          </p:txBody>
        </p:sp>
        <p:sp>
          <p:nvSpPr>
            <p:cNvPr id="194" name="object 198"/>
            <p:cNvSpPr/>
            <p:nvPr/>
          </p:nvSpPr>
          <p:spPr>
            <a:xfrm>
              <a:off x="6248400" y="5705475"/>
              <a:ext cx="95250" cy="142875"/>
            </a:xfrm>
            <a:custGeom>
              <a:avLst/>
              <a:gdLst/>
              <a:ahLst/>
              <a:cxnLst/>
              <a:rect l="l" t="t" r="r" b="b"/>
              <a:pathLst>
                <a:path w="95250" h="142875">
                  <a:moveTo>
                    <a:pt x="47625" y="0"/>
                  </a:moveTo>
                  <a:lnTo>
                    <a:pt x="0" y="142875"/>
                  </a:lnTo>
                  <a:lnTo>
                    <a:pt x="95250" y="142875"/>
                  </a:lnTo>
                  <a:lnTo>
                    <a:pt x="47625" y="0"/>
                  </a:lnTo>
                  <a:close/>
                </a:path>
              </a:pathLst>
            </a:custGeom>
            <a:solidFill>
              <a:srgbClr val="000000"/>
            </a:solidFill>
          </p:spPr>
          <p:txBody>
            <a:bodyPr wrap="square" lIns="0" tIns="0" rIns="0" bIns="0" rtlCol="0">
              <a:noAutofit/>
            </a:bodyPr>
            <a:lstStyle/>
            <a:p>
              <a:endParaRPr/>
            </a:p>
          </p:txBody>
        </p:sp>
        <p:sp>
          <p:nvSpPr>
            <p:cNvPr id="195" name="object 199"/>
            <p:cNvSpPr/>
            <p:nvPr/>
          </p:nvSpPr>
          <p:spPr>
            <a:xfrm>
              <a:off x="3362325" y="5419725"/>
              <a:ext cx="190500" cy="0"/>
            </a:xfrm>
            <a:custGeom>
              <a:avLst/>
              <a:gdLst/>
              <a:ahLst/>
              <a:cxnLst/>
              <a:rect l="l" t="t" r="r" b="b"/>
              <a:pathLst>
                <a:path w="190500">
                  <a:moveTo>
                    <a:pt x="190500" y="0"/>
                  </a:moveTo>
                  <a:lnTo>
                    <a:pt x="0" y="0"/>
                  </a:lnTo>
                </a:path>
              </a:pathLst>
            </a:custGeom>
            <a:ln w="19050">
              <a:solidFill>
                <a:srgbClr val="000000"/>
              </a:solidFill>
            </a:ln>
          </p:spPr>
          <p:txBody>
            <a:bodyPr wrap="square" lIns="0" tIns="0" rIns="0" bIns="0" rtlCol="0">
              <a:noAutofit/>
            </a:bodyPr>
            <a:lstStyle/>
            <a:p>
              <a:endParaRPr/>
            </a:p>
          </p:txBody>
        </p:sp>
        <p:sp>
          <p:nvSpPr>
            <p:cNvPr id="196" name="object 200"/>
            <p:cNvSpPr/>
            <p:nvPr/>
          </p:nvSpPr>
          <p:spPr>
            <a:xfrm>
              <a:off x="3238500" y="5372100"/>
              <a:ext cx="142875" cy="95250"/>
            </a:xfrm>
            <a:custGeom>
              <a:avLst/>
              <a:gdLst/>
              <a:ahLst/>
              <a:cxnLst/>
              <a:rect l="l" t="t" r="r" b="b"/>
              <a:pathLst>
                <a:path w="142875" h="95250">
                  <a:moveTo>
                    <a:pt x="142875" y="0"/>
                  </a:moveTo>
                  <a:lnTo>
                    <a:pt x="0" y="47625"/>
                  </a:lnTo>
                  <a:lnTo>
                    <a:pt x="142875" y="95250"/>
                  </a:lnTo>
                  <a:lnTo>
                    <a:pt x="142875" y="0"/>
                  </a:lnTo>
                  <a:close/>
                </a:path>
              </a:pathLst>
            </a:custGeom>
            <a:solidFill>
              <a:srgbClr val="000000"/>
            </a:solidFill>
          </p:spPr>
          <p:txBody>
            <a:bodyPr wrap="square" lIns="0" tIns="0" rIns="0" bIns="0" rtlCol="0">
              <a:noAutofit/>
            </a:bodyPr>
            <a:lstStyle/>
            <a:p>
              <a:endParaRPr/>
            </a:p>
          </p:txBody>
        </p:sp>
      </p:grpSp>
      <p:sp>
        <p:nvSpPr>
          <p:cNvPr id="197" name="TextBox 196">
            <a:extLst>
              <a:ext uri="{FF2B5EF4-FFF2-40B4-BE49-F238E27FC236}">
                <a16:creationId xmlns:a16="http://schemas.microsoft.com/office/drawing/2014/main" id="{7232684E-9C56-4D32-A570-8049B30233C5}"/>
              </a:ext>
            </a:extLst>
          </p:cNvPr>
          <p:cNvSpPr txBox="1"/>
          <p:nvPr/>
        </p:nvSpPr>
        <p:spPr>
          <a:xfrm>
            <a:off x="1058438" y="1331865"/>
            <a:ext cx="1568450" cy="369332"/>
          </a:xfrm>
          <a:prstGeom prst="rect">
            <a:avLst/>
          </a:prstGeom>
          <a:noFill/>
        </p:spPr>
        <p:txBody>
          <a:bodyPr wrap="square" rtlCol="0">
            <a:spAutoFit/>
          </a:bodyPr>
          <a:lstStyle/>
          <a:p>
            <a:r>
              <a:rPr lang="en-US" dirty="0"/>
              <a:t>Input signal</a:t>
            </a:r>
          </a:p>
        </p:txBody>
      </p:sp>
      <p:pic>
        <p:nvPicPr>
          <p:cNvPr id="2" name="Pg15">
            <a:hlinkClick r:id="" action="ppaction://media"/>
            <a:extLst>
              <a:ext uri="{FF2B5EF4-FFF2-40B4-BE49-F238E27FC236}">
                <a16:creationId xmlns:a16="http://schemas.microsoft.com/office/drawing/2014/main" id="{E5C174D9-574D-4730-A59D-E21B1F1D9AF0}"/>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0283265" y="5775537"/>
            <a:ext cx="609600" cy="609600"/>
          </a:xfrm>
          <a:prstGeom prst="rect">
            <a:avLst/>
          </a:prstGeom>
        </p:spPr>
      </p:pic>
      <p:sp>
        <p:nvSpPr>
          <p:cNvPr id="3" name="Rectangle 2">
            <a:extLst>
              <a:ext uri="{FF2B5EF4-FFF2-40B4-BE49-F238E27FC236}">
                <a16:creationId xmlns:a16="http://schemas.microsoft.com/office/drawing/2014/main" id="{008EDCCB-6837-DA63-B885-5BC71A56913E}"/>
              </a:ext>
            </a:extLst>
          </p:cNvPr>
          <p:cNvSpPr/>
          <p:nvPr/>
        </p:nvSpPr>
        <p:spPr>
          <a:xfrm>
            <a:off x="0" y="0"/>
            <a:ext cx="1026160" cy="2438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36508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004"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09716" y="999564"/>
            <a:ext cx="10606429" cy="3380874"/>
          </a:xfrm>
        </p:spPr>
        <p:txBody>
          <a:bodyPr>
            <a:noAutofit/>
          </a:bodyPr>
          <a:lstStyle/>
          <a:p>
            <a:pPr algn="just" eaLnBrk="0" hangingPunct="0">
              <a:lnSpc>
                <a:spcPct val="100000"/>
              </a:lnSpc>
              <a:spcBef>
                <a:spcPts val="600"/>
              </a:spcBef>
              <a:tabLst>
                <a:tab pos="457200" algn="l"/>
              </a:tabLst>
              <a:defRPr/>
            </a:pPr>
            <a:r>
              <a:rPr lang="en-US" b="1" i="1" dirty="0">
                <a:solidFill>
                  <a:srgbClr val="FF0000"/>
                </a:solidFill>
                <a:ea typeface="Times New Roman" pitchFamily="18" charset="0"/>
                <a:cs typeface="Arial" panose="020B0604020202020204" pitchFamily="34" charset="0"/>
              </a:rPr>
              <a:t>Input signal</a:t>
            </a:r>
          </a:p>
          <a:p>
            <a:pPr algn="just" eaLnBrk="0" hangingPunct="0">
              <a:lnSpc>
                <a:spcPct val="100000"/>
              </a:lnSpc>
              <a:spcBef>
                <a:spcPts val="0"/>
              </a:spcBef>
              <a:tabLst>
                <a:tab pos="457200" algn="l"/>
              </a:tabLst>
              <a:defRPr/>
            </a:pPr>
            <a:r>
              <a:rPr lang="en-US" b="1" dirty="0">
                <a:cs typeface="Arial" panose="020B0604020202020204" pitchFamily="34" charset="0"/>
              </a:rPr>
              <a:t>The source of information can be analog / digital, </a:t>
            </a:r>
            <a:r>
              <a:rPr lang="en-US" dirty="0">
                <a:cs typeface="Arial" panose="020B0604020202020204" pitchFamily="34" charset="0"/>
              </a:rPr>
              <a:t>e.g. analog: audio or video signal, digital: like teletype signal. In digital communication the signal produced by this source is converted into digital signal consists of 1′s &amp; 0′s. </a:t>
            </a:r>
          </a:p>
          <a:p>
            <a:pPr algn="just" eaLnBrk="0" hangingPunct="0">
              <a:lnSpc>
                <a:spcPct val="100000"/>
              </a:lnSpc>
              <a:spcBef>
                <a:spcPts val="600"/>
              </a:spcBef>
              <a:tabLst>
                <a:tab pos="457200" algn="l"/>
              </a:tabLst>
              <a:defRPr/>
            </a:pPr>
            <a:endParaRPr lang="en-US" sz="800" dirty="0">
              <a:cs typeface="Arial" panose="020B0604020202020204" pitchFamily="34" charset="0"/>
            </a:endParaRPr>
          </a:p>
          <a:p>
            <a:pPr algn="just">
              <a:lnSpc>
                <a:spcPct val="100000"/>
              </a:lnSpc>
              <a:spcBef>
                <a:spcPts val="600"/>
              </a:spcBef>
              <a:defRPr/>
            </a:pPr>
            <a:r>
              <a:rPr lang="en-US" b="1" i="1" dirty="0">
                <a:solidFill>
                  <a:srgbClr val="FF0000"/>
                </a:solidFill>
                <a:cs typeface="Arial" panose="020B0604020202020204" pitchFamily="34" charset="0"/>
              </a:rPr>
              <a:t>Source Encoder</a:t>
            </a:r>
            <a:endParaRPr lang="en-US" dirty="0">
              <a:solidFill>
                <a:srgbClr val="FF0000"/>
              </a:solidFill>
              <a:cs typeface="Arial" panose="020B0604020202020204" pitchFamily="34" charset="0"/>
            </a:endParaRPr>
          </a:p>
          <a:p>
            <a:pPr algn="just">
              <a:lnSpc>
                <a:spcPct val="100000"/>
              </a:lnSpc>
              <a:spcBef>
                <a:spcPts val="0"/>
              </a:spcBef>
              <a:defRPr/>
            </a:pPr>
            <a:r>
              <a:rPr lang="en-US" b="1" dirty="0">
                <a:cs typeface="Arial" panose="020B0604020202020204" pitchFamily="34" charset="0"/>
              </a:rPr>
              <a:t>In digital communication we convert signal from source into digital signal </a:t>
            </a:r>
            <a:r>
              <a:rPr lang="en-US" dirty="0">
                <a:cs typeface="Arial" panose="020B0604020202020204" pitchFamily="34" charset="0"/>
              </a:rPr>
              <a:t>as mentioned above. The point to remember is we should like to use as few binary digits as possible to represent the signal. In such a way this efficient representation of the source output results in little or no redundancy. This sequence of binary digits is called </a:t>
            </a:r>
            <a:r>
              <a:rPr lang="en-US" b="1" i="1" dirty="0">
                <a:cs typeface="Arial" panose="020B0604020202020204" pitchFamily="34" charset="0"/>
              </a:rPr>
              <a:t>information sequence.</a:t>
            </a:r>
            <a:endParaRPr lang="en-US" dirty="0">
              <a:cs typeface="Arial" panose="020B0604020202020204" pitchFamily="34" charset="0"/>
            </a:endParaRPr>
          </a:p>
          <a:p>
            <a:pPr algn="just">
              <a:lnSpc>
                <a:spcPct val="100000"/>
              </a:lnSpc>
              <a:spcBef>
                <a:spcPts val="0"/>
              </a:spcBef>
              <a:defRPr/>
            </a:pPr>
            <a:r>
              <a:rPr lang="en-US" i="1" dirty="0">
                <a:cs typeface="Arial" panose="020B0604020202020204" pitchFamily="34" charset="0"/>
              </a:rPr>
              <a:t>Source Encoding or Data Compression: </a:t>
            </a:r>
            <a:r>
              <a:rPr lang="en-US" dirty="0">
                <a:cs typeface="Arial" panose="020B0604020202020204" pitchFamily="34" charset="0"/>
              </a:rPr>
              <a:t>the process of efficiently converting the output of wither analog or digital source into a sequence of binary digits.</a:t>
            </a:r>
          </a:p>
          <a:p>
            <a:pPr algn="just"/>
            <a:endParaRPr lang="en-US" dirty="0"/>
          </a:p>
        </p:txBody>
      </p:sp>
      <p:sp>
        <p:nvSpPr>
          <p:cNvPr id="4" name="Slide Number Placeholder 3"/>
          <p:cNvSpPr>
            <a:spLocks noGrp="1"/>
          </p:cNvSpPr>
          <p:nvPr>
            <p:ph type="sldNum" sz="quarter" idx="4"/>
          </p:nvPr>
        </p:nvSpPr>
        <p:spPr>
          <a:xfrm>
            <a:off x="4724400" y="6356349"/>
            <a:ext cx="2743200" cy="365125"/>
          </a:xfrm>
        </p:spPr>
        <p:txBody>
          <a:bodyPr/>
          <a:lstStyle/>
          <a:p>
            <a:r>
              <a:rPr lang="en-US" dirty="0"/>
              <a:t>Page </a:t>
            </a:r>
            <a:fld id="{3AE61142-E722-463F-A30E-82CE7BA425BB}" type="slidenum">
              <a:rPr lang="en-US" smtClean="0"/>
              <a:pPr/>
              <a:t>17</a:t>
            </a:fld>
            <a:r>
              <a:rPr lang="en-US" dirty="0"/>
              <a:t> of 23</a:t>
            </a:r>
          </a:p>
        </p:txBody>
      </p:sp>
      <p:sp>
        <p:nvSpPr>
          <p:cNvPr id="5" name="Rectangle 2"/>
          <p:cNvSpPr txBox="1">
            <a:spLocks noChangeArrowheads="1"/>
          </p:cNvSpPr>
          <p:nvPr/>
        </p:nvSpPr>
        <p:spPr>
          <a:xfrm>
            <a:off x="809717" y="12431"/>
            <a:ext cx="9650415" cy="9906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GB" sz="3600" b="1" dirty="0">
                <a:solidFill>
                  <a:srgbClr val="C00000"/>
                </a:solidFill>
                <a:latin typeface="+mn-lt"/>
              </a:rPr>
              <a:t>Digital Transceiver Building Block</a:t>
            </a:r>
            <a:endParaRPr lang="en-US" sz="3600" b="1" dirty="0">
              <a:solidFill>
                <a:srgbClr val="C00000"/>
              </a:solidFill>
              <a:latin typeface="+mn-lt"/>
            </a:endParaRPr>
          </a:p>
        </p:txBody>
      </p:sp>
      <p:pic>
        <p:nvPicPr>
          <p:cNvPr id="2" name="Pg16">
            <a:hlinkClick r:id="" action="ppaction://media"/>
            <a:extLst>
              <a:ext uri="{FF2B5EF4-FFF2-40B4-BE49-F238E27FC236}">
                <a16:creationId xmlns:a16="http://schemas.microsoft.com/office/drawing/2014/main" id="{2445717A-C831-437E-ACA9-BC8BD061CBC5}"/>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0155332" y="5766122"/>
            <a:ext cx="609600" cy="609600"/>
          </a:xfrm>
          <a:prstGeom prst="rect">
            <a:avLst/>
          </a:prstGeom>
        </p:spPr>
      </p:pic>
      <p:sp>
        <p:nvSpPr>
          <p:cNvPr id="6" name="Rectangle 5">
            <a:extLst>
              <a:ext uri="{FF2B5EF4-FFF2-40B4-BE49-F238E27FC236}">
                <a16:creationId xmlns:a16="http://schemas.microsoft.com/office/drawing/2014/main" id="{E138C8FB-8688-0FF8-439A-499F877AA326}"/>
              </a:ext>
            </a:extLst>
          </p:cNvPr>
          <p:cNvSpPr/>
          <p:nvPr/>
        </p:nvSpPr>
        <p:spPr>
          <a:xfrm>
            <a:off x="0" y="0"/>
            <a:ext cx="1026160" cy="2438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889192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1466"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795516" y="1247578"/>
            <a:ext cx="10800739" cy="3380874"/>
          </a:xfrm>
        </p:spPr>
        <p:txBody>
          <a:bodyPr>
            <a:noAutofit/>
          </a:bodyPr>
          <a:lstStyle/>
          <a:p>
            <a:pPr algn="just">
              <a:lnSpc>
                <a:spcPct val="100000"/>
              </a:lnSpc>
              <a:spcBef>
                <a:spcPts val="600"/>
              </a:spcBef>
              <a:defRPr/>
            </a:pPr>
            <a:r>
              <a:rPr lang="en-US" b="1" i="1" dirty="0">
                <a:solidFill>
                  <a:srgbClr val="FF0000"/>
                </a:solidFill>
                <a:cs typeface="Arial" panose="020B0604020202020204" pitchFamily="34" charset="0"/>
              </a:rPr>
              <a:t>Channel Encoder</a:t>
            </a:r>
            <a:endParaRPr lang="en-US" dirty="0">
              <a:solidFill>
                <a:srgbClr val="FF0000"/>
              </a:solidFill>
              <a:cs typeface="Arial" panose="020B0604020202020204" pitchFamily="34" charset="0"/>
            </a:endParaRPr>
          </a:p>
          <a:p>
            <a:pPr algn="just">
              <a:lnSpc>
                <a:spcPct val="100000"/>
              </a:lnSpc>
              <a:spcBef>
                <a:spcPts val="0"/>
              </a:spcBef>
              <a:defRPr/>
            </a:pPr>
            <a:r>
              <a:rPr lang="en-US" dirty="0">
                <a:cs typeface="Arial" panose="020B0604020202020204" pitchFamily="34" charset="0"/>
              </a:rPr>
              <a:t>The purpose of the channel encoder is to </a:t>
            </a:r>
            <a:r>
              <a:rPr lang="en-US" b="1" dirty="0">
                <a:cs typeface="Arial" panose="020B0604020202020204" pitchFamily="34" charset="0"/>
              </a:rPr>
              <a:t>introduce some redundancy </a:t>
            </a:r>
            <a:r>
              <a:rPr lang="en-US" dirty="0">
                <a:cs typeface="Arial" panose="020B0604020202020204" pitchFamily="34" charset="0"/>
              </a:rPr>
              <a:t>in the binary information sequence that can be used at the receiver to </a:t>
            </a:r>
            <a:r>
              <a:rPr lang="en-US" b="1" dirty="0">
                <a:cs typeface="Arial" panose="020B0604020202020204" pitchFamily="34" charset="0"/>
              </a:rPr>
              <a:t>overcome the effects of noise and interference</a:t>
            </a:r>
            <a:r>
              <a:rPr lang="en-US" dirty="0">
                <a:cs typeface="Arial" panose="020B0604020202020204" pitchFamily="34" charset="0"/>
              </a:rPr>
              <a:t> encountered in the transmission on the signal through the channel.</a:t>
            </a:r>
          </a:p>
          <a:p>
            <a:pPr algn="just">
              <a:lnSpc>
                <a:spcPct val="100000"/>
              </a:lnSpc>
              <a:spcBef>
                <a:spcPts val="0"/>
              </a:spcBef>
              <a:defRPr/>
            </a:pPr>
            <a:endParaRPr lang="en-US" sz="800" i="1" dirty="0">
              <a:cs typeface="Arial" panose="020B0604020202020204" pitchFamily="34" charset="0"/>
            </a:endParaRPr>
          </a:p>
          <a:p>
            <a:pPr algn="just">
              <a:lnSpc>
                <a:spcPct val="100000"/>
              </a:lnSpc>
              <a:spcBef>
                <a:spcPts val="0"/>
              </a:spcBef>
              <a:defRPr/>
            </a:pPr>
            <a:endParaRPr lang="en-US" sz="2000" i="1" dirty="0">
              <a:cs typeface="Arial" panose="020B0604020202020204" pitchFamily="34" charset="0"/>
            </a:endParaRPr>
          </a:p>
          <a:p>
            <a:pPr algn="just">
              <a:lnSpc>
                <a:spcPct val="100000"/>
              </a:lnSpc>
              <a:spcBef>
                <a:spcPts val="0"/>
              </a:spcBef>
              <a:defRPr/>
            </a:pPr>
            <a:r>
              <a:rPr lang="en-US" b="1" i="1" dirty="0">
                <a:solidFill>
                  <a:srgbClr val="FF0000"/>
                </a:solidFill>
                <a:cs typeface="Arial" panose="020B0604020202020204" pitchFamily="34" charset="0"/>
              </a:rPr>
              <a:t>Digital Modulator</a:t>
            </a:r>
            <a:endParaRPr lang="en-US" dirty="0">
              <a:solidFill>
                <a:srgbClr val="FF0000"/>
              </a:solidFill>
              <a:cs typeface="Arial" panose="020B0604020202020204" pitchFamily="34" charset="0"/>
            </a:endParaRPr>
          </a:p>
          <a:p>
            <a:pPr algn="just">
              <a:lnSpc>
                <a:spcPct val="100000"/>
              </a:lnSpc>
              <a:spcBef>
                <a:spcPts val="0"/>
              </a:spcBef>
              <a:defRPr/>
            </a:pPr>
            <a:r>
              <a:rPr lang="en-US" b="1" dirty="0">
                <a:cs typeface="Arial" panose="020B0604020202020204" pitchFamily="34" charset="0"/>
              </a:rPr>
              <a:t>The binary sequence is passed to digital modulator which in turns convert the sequence into electric signals so that it can transmit on channel</a:t>
            </a:r>
            <a:r>
              <a:rPr lang="en-US" dirty="0">
                <a:cs typeface="Arial" panose="020B0604020202020204" pitchFamily="34" charset="0"/>
              </a:rPr>
              <a:t>. The digital modulator maps the binary sequences into signal wave forms, for example if we represent 1 by sin x and 0 by cos x then we will transmit sin x for 1 and cos x for 0. </a:t>
            </a:r>
            <a:endParaRPr lang="en-US" sz="2000" dirty="0"/>
          </a:p>
        </p:txBody>
      </p:sp>
      <p:sp>
        <p:nvSpPr>
          <p:cNvPr id="4" name="Slide Number Placeholder 3"/>
          <p:cNvSpPr>
            <a:spLocks noGrp="1"/>
          </p:cNvSpPr>
          <p:nvPr>
            <p:ph type="sldNum" sz="quarter" idx="4"/>
          </p:nvPr>
        </p:nvSpPr>
        <p:spPr>
          <a:xfrm>
            <a:off x="4724400" y="6356349"/>
            <a:ext cx="2743200" cy="365125"/>
          </a:xfrm>
        </p:spPr>
        <p:txBody>
          <a:bodyPr/>
          <a:lstStyle/>
          <a:p>
            <a:r>
              <a:rPr lang="en-US" dirty="0"/>
              <a:t>Page </a:t>
            </a:r>
            <a:fld id="{3AE61142-E722-463F-A30E-82CE7BA425BB}" type="slidenum">
              <a:rPr lang="en-US" smtClean="0"/>
              <a:pPr/>
              <a:t>18</a:t>
            </a:fld>
            <a:r>
              <a:rPr lang="en-US" dirty="0"/>
              <a:t> of 23</a:t>
            </a:r>
          </a:p>
        </p:txBody>
      </p:sp>
      <p:sp>
        <p:nvSpPr>
          <p:cNvPr id="9" name="Rectangle 2"/>
          <p:cNvSpPr txBox="1">
            <a:spLocks noChangeArrowheads="1"/>
          </p:cNvSpPr>
          <p:nvPr/>
        </p:nvSpPr>
        <p:spPr>
          <a:xfrm>
            <a:off x="795516" y="146589"/>
            <a:ext cx="10600967" cy="9906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GB" sz="3600" b="1" dirty="0">
                <a:solidFill>
                  <a:srgbClr val="C00000"/>
                </a:solidFill>
                <a:latin typeface="+mn-lt"/>
              </a:rPr>
              <a:t>Digital Transceiver Building Block</a:t>
            </a:r>
            <a:endParaRPr lang="en-US" sz="3600" b="1" dirty="0">
              <a:solidFill>
                <a:srgbClr val="C00000"/>
              </a:solidFill>
              <a:latin typeface="+mn-lt"/>
            </a:endParaRPr>
          </a:p>
        </p:txBody>
      </p:sp>
      <p:pic>
        <p:nvPicPr>
          <p:cNvPr id="2" name="Pg17">
            <a:hlinkClick r:id="" action="ppaction://media"/>
            <a:extLst>
              <a:ext uri="{FF2B5EF4-FFF2-40B4-BE49-F238E27FC236}">
                <a16:creationId xmlns:a16="http://schemas.microsoft.com/office/drawing/2014/main" id="{8E21DD83-2207-476D-9FC2-C1C75CAF182D}"/>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0130725" y="5614297"/>
            <a:ext cx="609600" cy="609600"/>
          </a:xfrm>
          <a:prstGeom prst="rect">
            <a:avLst/>
          </a:prstGeom>
        </p:spPr>
      </p:pic>
      <p:sp>
        <p:nvSpPr>
          <p:cNvPr id="5" name="Rectangle 4">
            <a:extLst>
              <a:ext uri="{FF2B5EF4-FFF2-40B4-BE49-F238E27FC236}">
                <a16:creationId xmlns:a16="http://schemas.microsoft.com/office/drawing/2014/main" id="{9573717B-0924-8021-A863-C5E5E764B0B8}"/>
              </a:ext>
            </a:extLst>
          </p:cNvPr>
          <p:cNvSpPr/>
          <p:nvPr/>
        </p:nvSpPr>
        <p:spPr>
          <a:xfrm>
            <a:off x="0" y="0"/>
            <a:ext cx="1026160" cy="2438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135265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232"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91381" y="1350342"/>
            <a:ext cx="10409238" cy="3404937"/>
          </a:xfrm>
        </p:spPr>
        <p:txBody>
          <a:bodyPr>
            <a:noAutofit/>
          </a:bodyPr>
          <a:lstStyle/>
          <a:p>
            <a:pPr algn="just">
              <a:defRPr/>
            </a:pPr>
            <a:r>
              <a:rPr lang="en-US" b="1" i="1" dirty="0">
                <a:solidFill>
                  <a:srgbClr val="FF0000"/>
                </a:solidFill>
              </a:rPr>
              <a:t>Communication Channel</a:t>
            </a:r>
            <a:endParaRPr lang="en-US" dirty="0">
              <a:solidFill>
                <a:srgbClr val="FF0000"/>
              </a:solidFill>
            </a:endParaRPr>
          </a:p>
          <a:p>
            <a:pPr algn="just">
              <a:defRPr/>
            </a:pPr>
            <a:r>
              <a:rPr lang="en-US" dirty="0"/>
              <a:t>The communication channel is the </a:t>
            </a:r>
            <a:r>
              <a:rPr lang="en-US" b="1" dirty="0"/>
              <a:t>physical medium </a:t>
            </a:r>
            <a:r>
              <a:rPr lang="en-US" dirty="0"/>
              <a:t>that is used for transmitting signals from transmitter to receiver. In wireless system, this channel consists of atmosphere, for traditional telephony, this channel is wired, there are optical channels, under water acoustic channels etc.</a:t>
            </a:r>
          </a:p>
          <a:p>
            <a:pPr algn="just">
              <a:defRPr/>
            </a:pPr>
            <a:endParaRPr lang="en-US" sz="800" dirty="0"/>
          </a:p>
          <a:p>
            <a:pPr algn="just">
              <a:defRPr/>
            </a:pPr>
            <a:r>
              <a:rPr lang="en-US" b="1" i="1" dirty="0">
                <a:solidFill>
                  <a:srgbClr val="FF0000"/>
                </a:solidFill>
              </a:rPr>
              <a:t>Digital Demodulator</a:t>
            </a:r>
            <a:endParaRPr lang="en-US" dirty="0">
              <a:solidFill>
                <a:srgbClr val="FF0000"/>
              </a:solidFill>
            </a:endParaRPr>
          </a:p>
          <a:p>
            <a:pPr algn="just">
              <a:defRPr/>
            </a:pPr>
            <a:r>
              <a:rPr lang="en-US" dirty="0"/>
              <a:t>The digital demodulator processes the channel corrupted transmitted waveform and reduces the waveform to the sequence of numbers that represents estimates of the transmitted data symbols.</a:t>
            </a:r>
          </a:p>
          <a:p>
            <a:endParaRPr lang="en-US" dirty="0"/>
          </a:p>
        </p:txBody>
      </p:sp>
      <p:sp>
        <p:nvSpPr>
          <p:cNvPr id="7" name="Rectangle 2"/>
          <p:cNvSpPr txBox="1">
            <a:spLocks noChangeArrowheads="1"/>
          </p:cNvSpPr>
          <p:nvPr/>
        </p:nvSpPr>
        <p:spPr>
          <a:xfrm>
            <a:off x="814285" y="20888"/>
            <a:ext cx="9650415" cy="9906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GB" sz="3600" b="1" dirty="0">
                <a:solidFill>
                  <a:srgbClr val="C00000"/>
                </a:solidFill>
                <a:latin typeface="+mn-lt"/>
              </a:rPr>
              <a:t>Digital Transceiver Building Blocks</a:t>
            </a:r>
            <a:endParaRPr lang="en-US" sz="3600" b="1" dirty="0">
              <a:solidFill>
                <a:srgbClr val="C00000"/>
              </a:solidFill>
              <a:latin typeface="+mn-lt"/>
            </a:endParaRPr>
          </a:p>
        </p:txBody>
      </p:sp>
      <p:sp>
        <p:nvSpPr>
          <p:cNvPr id="4" name="Slide Number Placeholder 3"/>
          <p:cNvSpPr>
            <a:spLocks noGrp="1"/>
          </p:cNvSpPr>
          <p:nvPr>
            <p:ph type="sldNum" sz="quarter" idx="4"/>
          </p:nvPr>
        </p:nvSpPr>
        <p:spPr>
          <a:xfrm>
            <a:off x="4724400" y="6356349"/>
            <a:ext cx="2743200" cy="365125"/>
          </a:xfrm>
        </p:spPr>
        <p:txBody>
          <a:bodyPr/>
          <a:lstStyle/>
          <a:p>
            <a:r>
              <a:rPr lang="en-US" dirty="0"/>
              <a:t>Page </a:t>
            </a:r>
            <a:fld id="{3AE61142-E722-463F-A30E-82CE7BA425BB}" type="slidenum">
              <a:rPr lang="en-US" smtClean="0"/>
              <a:pPr/>
              <a:t>19</a:t>
            </a:fld>
            <a:r>
              <a:rPr lang="en-US" dirty="0"/>
              <a:t> of 23</a:t>
            </a:r>
          </a:p>
        </p:txBody>
      </p:sp>
      <p:pic>
        <p:nvPicPr>
          <p:cNvPr id="2" name="Pg18">
            <a:hlinkClick r:id="" action="ppaction://media"/>
            <a:extLst>
              <a:ext uri="{FF2B5EF4-FFF2-40B4-BE49-F238E27FC236}">
                <a16:creationId xmlns:a16="http://schemas.microsoft.com/office/drawing/2014/main" id="{27A6751D-D97E-46EB-9AF5-D4CABBB947D0}"/>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0159900" y="5746749"/>
            <a:ext cx="609600" cy="609600"/>
          </a:xfrm>
          <a:prstGeom prst="rect">
            <a:avLst/>
          </a:prstGeom>
        </p:spPr>
      </p:pic>
      <p:sp>
        <p:nvSpPr>
          <p:cNvPr id="5" name="Rectangle 4">
            <a:extLst>
              <a:ext uri="{FF2B5EF4-FFF2-40B4-BE49-F238E27FC236}">
                <a16:creationId xmlns:a16="http://schemas.microsoft.com/office/drawing/2014/main" id="{8BAD1582-AD8E-BF7A-BB30-100C08AC6F51}"/>
              </a:ext>
            </a:extLst>
          </p:cNvPr>
          <p:cNvSpPr/>
          <p:nvPr/>
        </p:nvSpPr>
        <p:spPr>
          <a:xfrm>
            <a:off x="0" y="0"/>
            <a:ext cx="1026160" cy="2438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414662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369"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14285" y="1306008"/>
            <a:ext cx="10698842" cy="3465095"/>
          </a:xfrm>
        </p:spPr>
        <p:txBody>
          <a:bodyPr>
            <a:noAutofit/>
          </a:bodyPr>
          <a:lstStyle/>
          <a:p>
            <a:pPr algn="just">
              <a:lnSpc>
                <a:spcPct val="100000"/>
              </a:lnSpc>
              <a:spcBef>
                <a:spcPts val="0"/>
              </a:spcBef>
              <a:defRPr/>
            </a:pPr>
            <a:r>
              <a:rPr lang="en-US" b="1" i="1" dirty="0">
                <a:solidFill>
                  <a:srgbClr val="FF0000"/>
                </a:solidFill>
                <a:cs typeface="Arial" panose="020B0604020202020204" pitchFamily="34" charset="0"/>
              </a:rPr>
              <a:t>Channel Decoder</a:t>
            </a:r>
            <a:endParaRPr lang="en-US" dirty="0">
              <a:solidFill>
                <a:srgbClr val="FF0000"/>
              </a:solidFill>
              <a:cs typeface="Arial" panose="020B0604020202020204" pitchFamily="34" charset="0"/>
            </a:endParaRPr>
          </a:p>
          <a:p>
            <a:pPr algn="just">
              <a:lnSpc>
                <a:spcPct val="100000"/>
              </a:lnSpc>
              <a:spcBef>
                <a:spcPts val="0"/>
              </a:spcBef>
              <a:defRPr/>
            </a:pPr>
            <a:r>
              <a:rPr lang="en-US" dirty="0">
                <a:cs typeface="Arial" panose="020B0604020202020204" pitchFamily="34" charset="0"/>
              </a:rPr>
              <a:t>This sequence of numbers then passed through the channel decoder which attempts to reconstruct the original information sequence from the knowledge of the code used by the channel encoder and the redundancy contained in the received data</a:t>
            </a:r>
          </a:p>
          <a:p>
            <a:pPr algn="just">
              <a:lnSpc>
                <a:spcPct val="100000"/>
              </a:lnSpc>
              <a:spcBef>
                <a:spcPts val="0"/>
              </a:spcBef>
              <a:defRPr/>
            </a:pPr>
            <a:endParaRPr lang="en-US" sz="800" dirty="0">
              <a:cs typeface="Arial" panose="020B0604020202020204" pitchFamily="34" charset="0"/>
            </a:endParaRPr>
          </a:p>
          <a:p>
            <a:pPr algn="just">
              <a:lnSpc>
                <a:spcPct val="100000"/>
              </a:lnSpc>
              <a:spcBef>
                <a:spcPts val="0"/>
              </a:spcBef>
              <a:defRPr/>
            </a:pPr>
            <a:r>
              <a:rPr lang="en-US" b="1" i="1" dirty="0">
                <a:solidFill>
                  <a:srgbClr val="FF0000"/>
                </a:solidFill>
                <a:cs typeface="Arial" panose="020B0604020202020204" pitchFamily="34" charset="0"/>
              </a:rPr>
              <a:t>Source Decoder</a:t>
            </a:r>
            <a:endParaRPr lang="en-US" dirty="0">
              <a:solidFill>
                <a:srgbClr val="FF0000"/>
              </a:solidFill>
              <a:cs typeface="Arial" panose="020B0604020202020204" pitchFamily="34" charset="0"/>
            </a:endParaRPr>
          </a:p>
          <a:p>
            <a:pPr algn="just">
              <a:lnSpc>
                <a:spcPct val="100000"/>
              </a:lnSpc>
              <a:spcBef>
                <a:spcPts val="0"/>
              </a:spcBef>
              <a:defRPr/>
            </a:pPr>
            <a:r>
              <a:rPr lang="en-US" dirty="0">
                <a:cs typeface="Arial" panose="020B0604020202020204" pitchFamily="34" charset="0"/>
              </a:rPr>
              <a:t>At the end, if an analog signal is desired then source decoder tries to decode the sequence from the knowledge of the encoding algorithm. And which results in the approximate replica of the input at the transmitter end.</a:t>
            </a:r>
          </a:p>
          <a:p>
            <a:pPr algn="just">
              <a:lnSpc>
                <a:spcPct val="100000"/>
              </a:lnSpc>
              <a:spcBef>
                <a:spcPts val="0"/>
              </a:spcBef>
              <a:defRPr/>
            </a:pPr>
            <a:endParaRPr lang="en-US" sz="800" dirty="0">
              <a:cs typeface="Arial" panose="020B0604020202020204" pitchFamily="34" charset="0"/>
            </a:endParaRPr>
          </a:p>
          <a:p>
            <a:pPr algn="just">
              <a:lnSpc>
                <a:spcPct val="100000"/>
              </a:lnSpc>
              <a:spcBef>
                <a:spcPts val="0"/>
              </a:spcBef>
              <a:defRPr/>
            </a:pPr>
            <a:r>
              <a:rPr lang="en-US" b="1" i="1" dirty="0">
                <a:solidFill>
                  <a:srgbClr val="FF0000"/>
                </a:solidFill>
                <a:cs typeface="Arial" panose="020B0604020202020204" pitchFamily="34" charset="0"/>
              </a:rPr>
              <a:t>Output Transducer</a:t>
            </a:r>
            <a:endParaRPr lang="en-US" dirty="0">
              <a:solidFill>
                <a:srgbClr val="FF0000"/>
              </a:solidFill>
              <a:cs typeface="Arial" panose="020B0604020202020204" pitchFamily="34" charset="0"/>
            </a:endParaRPr>
          </a:p>
          <a:p>
            <a:pPr algn="just">
              <a:lnSpc>
                <a:spcPct val="100000"/>
              </a:lnSpc>
              <a:spcBef>
                <a:spcPts val="0"/>
              </a:spcBef>
              <a:defRPr/>
            </a:pPr>
            <a:r>
              <a:rPr lang="en-US" dirty="0">
                <a:cs typeface="Arial" panose="020B0604020202020204" pitchFamily="34" charset="0"/>
              </a:rPr>
              <a:t>Finally we get the desired signal in desired format analog or digital.</a:t>
            </a:r>
          </a:p>
          <a:p>
            <a:endParaRPr lang="en-US" dirty="0"/>
          </a:p>
        </p:txBody>
      </p:sp>
      <p:sp>
        <p:nvSpPr>
          <p:cNvPr id="4" name="Slide Number Placeholder 3"/>
          <p:cNvSpPr>
            <a:spLocks noGrp="1"/>
          </p:cNvSpPr>
          <p:nvPr>
            <p:ph type="sldNum" sz="quarter" idx="4"/>
          </p:nvPr>
        </p:nvSpPr>
        <p:spPr>
          <a:xfrm>
            <a:off x="4724400" y="6356349"/>
            <a:ext cx="2743200" cy="365125"/>
          </a:xfrm>
        </p:spPr>
        <p:txBody>
          <a:bodyPr/>
          <a:lstStyle/>
          <a:p>
            <a:r>
              <a:rPr lang="en-US" dirty="0"/>
              <a:t>Page </a:t>
            </a:r>
            <a:fld id="{3AE61142-E722-463F-A30E-82CE7BA425BB}" type="slidenum">
              <a:rPr lang="en-US" smtClean="0"/>
              <a:pPr/>
              <a:t>20</a:t>
            </a:fld>
            <a:r>
              <a:rPr lang="en-US" dirty="0"/>
              <a:t> of 23</a:t>
            </a:r>
          </a:p>
        </p:txBody>
      </p:sp>
      <p:sp>
        <p:nvSpPr>
          <p:cNvPr id="9" name="Rectangle 2"/>
          <p:cNvSpPr txBox="1">
            <a:spLocks noChangeArrowheads="1"/>
          </p:cNvSpPr>
          <p:nvPr/>
        </p:nvSpPr>
        <p:spPr>
          <a:xfrm>
            <a:off x="814285" y="198858"/>
            <a:ext cx="9650415" cy="9906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GB" sz="3600" b="1" dirty="0">
                <a:solidFill>
                  <a:srgbClr val="C00000"/>
                </a:solidFill>
                <a:latin typeface="+mn-lt"/>
              </a:rPr>
              <a:t>Digital Transceiver Building Blocks</a:t>
            </a:r>
            <a:endParaRPr lang="en-US" sz="3600" b="1" dirty="0">
              <a:solidFill>
                <a:srgbClr val="C00000"/>
              </a:solidFill>
              <a:latin typeface="+mn-lt"/>
            </a:endParaRPr>
          </a:p>
        </p:txBody>
      </p:sp>
      <p:pic>
        <p:nvPicPr>
          <p:cNvPr id="2" name="Pg19">
            <a:hlinkClick r:id="" action="ppaction://media"/>
            <a:extLst>
              <a:ext uri="{FF2B5EF4-FFF2-40B4-BE49-F238E27FC236}">
                <a16:creationId xmlns:a16="http://schemas.microsoft.com/office/drawing/2014/main" id="{8E34A10F-7DAB-4B4C-B2D4-EEA939099B70}"/>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0159900" y="5688630"/>
            <a:ext cx="609600" cy="609600"/>
          </a:xfrm>
          <a:prstGeom prst="rect">
            <a:avLst/>
          </a:prstGeom>
        </p:spPr>
      </p:pic>
      <p:sp>
        <p:nvSpPr>
          <p:cNvPr id="5" name="Rectangle 4">
            <a:extLst>
              <a:ext uri="{FF2B5EF4-FFF2-40B4-BE49-F238E27FC236}">
                <a16:creationId xmlns:a16="http://schemas.microsoft.com/office/drawing/2014/main" id="{9958BB94-D9F4-7D45-F09D-E698DEBABA04}"/>
              </a:ext>
            </a:extLst>
          </p:cNvPr>
          <p:cNvSpPr/>
          <p:nvPr/>
        </p:nvSpPr>
        <p:spPr>
          <a:xfrm>
            <a:off x="0" y="0"/>
            <a:ext cx="1026160" cy="2438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070551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635"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FC98708-38A9-95E6-463A-00F330A7FCE7}"/>
              </a:ext>
            </a:extLst>
          </p:cNvPr>
          <p:cNvSpPr/>
          <p:nvPr/>
        </p:nvSpPr>
        <p:spPr>
          <a:xfrm>
            <a:off x="0" y="0"/>
            <a:ext cx="925286" cy="2769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8" name="Picture 7">
            <a:extLst>
              <a:ext uri="{FF2B5EF4-FFF2-40B4-BE49-F238E27FC236}">
                <a16:creationId xmlns:a16="http://schemas.microsoft.com/office/drawing/2014/main" id="{5100B354-AC29-9415-C079-6303DAE28A2B}"/>
              </a:ext>
            </a:extLst>
          </p:cNvPr>
          <p:cNvPicPr>
            <a:picLocks noChangeAspect="1"/>
          </p:cNvPicPr>
          <p:nvPr/>
        </p:nvPicPr>
        <p:blipFill>
          <a:blip r:embed="rId2"/>
          <a:stretch>
            <a:fillRect/>
          </a:stretch>
        </p:blipFill>
        <p:spPr>
          <a:xfrm>
            <a:off x="260654" y="5853409"/>
            <a:ext cx="1762125" cy="542925"/>
          </a:xfrm>
          <a:prstGeom prst="rect">
            <a:avLst/>
          </a:prstGeom>
        </p:spPr>
      </p:pic>
      <p:sp>
        <p:nvSpPr>
          <p:cNvPr id="10" name="TextBox 9">
            <a:hlinkClick r:id="rId3"/>
            <a:extLst>
              <a:ext uri="{FF2B5EF4-FFF2-40B4-BE49-F238E27FC236}">
                <a16:creationId xmlns:a16="http://schemas.microsoft.com/office/drawing/2014/main" id="{B25313B6-9315-861D-CF0C-337303B1DEF1}"/>
              </a:ext>
            </a:extLst>
          </p:cNvPr>
          <p:cNvSpPr txBox="1"/>
          <p:nvPr/>
        </p:nvSpPr>
        <p:spPr>
          <a:xfrm>
            <a:off x="2332238" y="5663207"/>
            <a:ext cx="7527524" cy="923330"/>
          </a:xfrm>
          <a:prstGeom prst="rect">
            <a:avLst/>
          </a:prstGeom>
          <a:noFill/>
        </p:spPr>
        <p:txBody>
          <a:bodyPr wrap="square">
            <a:spAutoFit/>
          </a:bodyPr>
          <a:lstStyle/>
          <a:p>
            <a:r>
              <a:rPr lang="en-SG" b="0" i="0" dirty="0">
                <a:solidFill>
                  <a:srgbClr val="0D0D0D"/>
                </a:solidFill>
                <a:effectLst/>
                <a:latin typeface="Roboto" panose="02000000000000000000" pitchFamily="2" charset="0"/>
              </a:rPr>
              <a:t>The Roles of Source Encoder, Channel Encoder &amp; Encryption of a Transmitter of Digital Transceiver.</a:t>
            </a:r>
          </a:p>
          <a:p>
            <a:r>
              <a:rPr lang="en-SG" b="0" i="0" u="none" strike="noStrike" dirty="0">
                <a:effectLst/>
                <a:latin typeface="Roboto" panose="02000000000000000000" pitchFamily="2" charset="0"/>
                <a:hlinkClick r:id="rId3"/>
              </a:rPr>
              <a:t>https://youtu.be/ymF3ZMlp4f8</a:t>
            </a:r>
            <a:endParaRPr lang="en-SG" b="0" i="0" dirty="0">
              <a:solidFill>
                <a:srgbClr val="0D0D0D"/>
              </a:solidFill>
              <a:effectLst/>
              <a:latin typeface="Roboto" panose="02000000000000000000" pitchFamily="2" charset="0"/>
            </a:endParaRPr>
          </a:p>
        </p:txBody>
      </p:sp>
      <p:pic>
        <p:nvPicPr>
          <p:cNvPr id="4100" name="Picture 4" descr="Miscellaneous Video's – Centurian Park Family">
            <a:hlinkClick r:id="rId3"/>
            <a:extLst>
              <a:ext uri="{FF2B5EF4-FFF2-40B4-BE49-F238E27FC236}">
                <a16:creationId xmlns:a16="http://schemas.microsoft.com/office/drawing/2014/main" id="{F2FC59B5-8F70-388F-0F76-A765F77495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66552" y="942295"/>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hlinkClick r:id="rId3"/>
            <a:extLst>
              <a:ext uri="{FF2B5EF4-FFF2-40B4-BE49-F238E27FC236}">
                <a16:creationId xmlns:a16="http://schemas.microsoft.com/office/drawing/2014/main" id="{ABEF0202-9D09-6249-7FC1-94F81D53C14B}"/>
              </a:ext>
            </a:extLst>
          </p:cNvPr>
          <p:cNvSpPr txBox="1"/>
          <p:nvPr/>
        </p:nvSpPr>
        <p:spPr>
          <a:xfrm>
            <a:off x="9859762" y="3085420"/>
            <a:ext cx="2081188" cy="2554545"/>
          </a:xfrm>
          <a:prstGeom prst="rect">
            <a:avLst/>
          </a:prstGeom>
          <a:noFill/>
        </p:spPr>
        <p:txBody>
          <a:bodyPr wrap="square" rtlCol="0">
            <a:spAutoFit/>
          </a:bodyPr>
          <a:lstStyle/>
          <a:p>
            <a:r>
              <a:rPr lang="en-SG" sz="3200" dirty="0"/>
              <a:t>Pls see this </a:t>
            </a:r>
            <a:r>
              <a:rPr lang="en-SG" sz="3200" dirty="0" err="1"/>
              <a:t>Youtube</a:t>
            </a:r>
            <a:r>
              <a:rPr lang="en-SG" sz="3200" dirty="0"/>
              <a:t> video to understand more</a:t>
            </a:r>
            <a:r>
              <a:rPr lang="en-SG" dirty="0"/>
              <a:t>.</a:t>
            </a:r>
          </a:p>
        </p:txBody>
      </p:sp>
      <p:pic>
        <p:nvPicPr>
          <p:cNvPr id="4" name="Picture 3">
            <a:hlinkClick r:id="rId3"/>
            <a:extLst>
              <a:ext uri="{FF2B5EF4-FFF2-40B4-BE49-F238E27FC236}">
                <a16:creationId xmlns:a16="http://schemas.microsoft.com/office/drawing/2014/main" id="{7D2E102C-3F13-5589-098E-0020446A2C7D}"/>
              </a:ext>
            </a:extLst>
          </p:cNvPr>
          <p:cNvPicPr>
            <a:picLocks noChangeAspect="1"/>
          </p:cNvPicPr>
          <p:nvPr/>
        </p:nvPicPr>
        <p:blipFill>
          <a:blip r:embed="rId5"/>
          <a:stretch>
            <a:fillRect/>
          </a:stretch>
        </p:blipFill>
        <p:spPr>
          <a:xfrm>
            <a:off x="462642" y="300241"/>
            <a:ext cx="8972361" cy="5003279"/>
          </a:xfrm>
          <a:prstGeom prst="rect">
            <a:avLst/>
          </a:prstGeom>
        </p:spPr>
      </p:pic>
    </p:spTree>
    <p:extLst>
      <p:ext uri="{BB962C8B-B14F-4D97-AF65-F5344CB8AC3E}">
        <p14:creationId xmlns:p14="http://schemas.microsoft.com/office/powerpoint/2010/main" val="29942026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FC98708-38A9-95E6-463A-00F330A7FCE7}"/>
              </a:ext>
            </a:extLst>
          </p:cNvPr>
          <p:cNvSpPr/>
          <p:nvPr/>
        </p:nvSpPr>
        <p:spPr>
          <a:xfrm>
            <a:off x="0" y="0"/>
            <a:ext cx="925286" cy="2769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8" name="Picture 7">
            <a:extLst>
              <a:ext uri="{FF2B5EF4-FFF2-40B4-BE49-F238E27FC236}">
                <a16:creationId xmlns:a16="http://schemas.microsoft.com/office/drawing/2014/main" id="{5100B354-AC29-9415-C079-6303DAE28A2B}"/>
              </a:ext>
            </a:extLst>
          </p:cNvPr>
          <p:cNvPicPr>
            <a:picLocks noChangeAspect="1"/>
          </p:cNvPicPr>
          <p:nvPr/>
        </p:nvPicPr>
        <p:blipFill>
          <a:blip r:embed="rId2"/>
          <a:stretch>
            <a:fillRect/>
          </a:stretch>
        </p:blipFill>
        <p:spPr>
          <a:xfrm>
            <a:off x="260654" y="5853409"/>
            <a:ext cx="1762125" cy="542925"/>
          </a:xfrm>
          <a:prstGeom prst="rect">
            <a:avLst/>
          </a:prstGeom>
        </p:spPr>
      </p:pic>
      <p:sp>
        <p:nvSpPr>
          <p:cNvPr id="10" name="TextBox 9">
            <a:hlinkClick r:id="rId3"/>
            <a:extLst>
              <a:ext uri="{FF2B5EF4-FFF2-40B4-BE49-F238E27FC236}">
                <a16:creationId xmlns:a16="http://schemas.microsoft.com/office/drawing/2014/main" id="{B25313B6-9315-861D-CF0C-337303B1DEF1}"/>
              </a:ext>
            </a:extLst>
          </p:cNvPr>
          <p:cNvSpPr txBox="1"/>
          <p:nvPr/>
        </p:nvSpPr>
        <p:spPr>
          <a:xfrm>
            <a:off x="2332238" y="5663207"/>
            <a:ext cx="7527524" cy="923330"/>
          </a:xfrm>
          <a:prstGeom prst="rect">
            <a:avLst/>
          </a:prstGeom>
          <a:noFill/>
        </p:spPr>
        <p:txBody>
          <a:bodyPr wrap="square">
            <a:spAutoFit/>
          </a:bodyPr>
          <a:lstStyle/>
          <a:p>
            <a:r>
              <a:rPr lang="en-SG" b="0" i="0" dirty="0">
                <a:solidFill>
                  <a:srgbClr val="0D0D0D"/>
                </a:solidFill>
                <a:effectLst/>
                <a:latin typeface="Roboto" panose="02000000000000000000" pitchFamily="2" charset="0"/>
              </a:rPr>
              <a:t>Digital Transceiver: Roles of Modulator (ASK, FSK &amp; PSK). Draw the Time Diagram of ASK, FSK &amp; PSK.</a:t>
            </a:r>
          </a:p>
          <a:p>
            <a:r>
              <a:rPr lang="en-SG" b="0" i="0" u="none" strike="noStrike" dirty="0">
                <a:effectLst/>
                <a:latin typeface="Roboto" panose="02000000000000000000" pitchFamily="2" charset="0"/>
                <a:hlinkClick r:id="rId3"/>
              </a:rPr>
              <a:t>https://youtu.be/EzkrhXHouNg</a:t>
            </a:r>
            <a:endParaRPr lang="en-SG" b="0" i="0" dirty="0">
              <a:solidFill>
                <a:srgbClr val="0D0D0D"/>
              </a:solidFill>
              <a:effectLst/>
              <a:latin typeface="Roboto" panose="02000000000000000000" pitchFamily="2" charset="0"/>
            </a:endParaRPr>
          </a:p>
        </p:txBody>
      </p:sp>
      <p:pic>
        <p:nvPicPr>
          <p:cNvPr id="4100" name="Picture 4" descr="Miscellaneous Video's – Centurian Park Family">
            <a:hlinkClick r:id="rId3"/>
            <a:extLst>
              <a:ext uri="{FF2B5EF4-FFF2-40B4-BE49-F238E27FC236}">
                <a16:creationId xmlns:a16="http://schemas.microsoft.com/office/drawing/2014/main" id="{F2FC59B5-8F70-388F-0F76-A765F77495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66552" y="942295"/>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hlinkClick r:id="rId3"/>
            <a:extLst>
              <a:ext uri="{FF2B5EF4-FFF2-40B4-BE49-F238E27FC236}">
                <a16:creationId xmlns:a16="http://schemas.microsoft.com/office/drawing/2014/main" id="{ABEF0202-9D09-6249-7FC1-94F81D53C14B}"/>
              </a:ext>
            </a:extLst>
          </p:cNvPr>
          <p:cNvSpPr txBox="1"/>
          <p:nvPr/>
        </p:nvSpPr>
        <p:spPr>
          <a:xfrm>
            <a:off x="9859762" y="3085420"/>
            <a:ext cx="2081188" cy="2554545"/>
          </a:xfrm>
          <a:prstGeom prst="rect">
            <a:avLst/>
          </a:prstGeom>
          <a:noFill/>
        </p:spPr>
        <p:txBody>
          <a:bodyPr wrap="square" rtlCol="0">
            <a:spAutoFit/>
          </a:bodyPr>
          <a:lstStyle/>
          <a:p>
            <a:r>
              <a:rPr lang="en-SG" sz="3200" dirty="0"/>
              <a:t>Pls see this </a:t>
            </a:r>
            <a:r>
              <a:rPr lang="en-SG" sz="3200" dirty="0" err="1"/>
              <a:t>Youtube</a:t>
            </a:r>
            <a:r>
              <a:rPr lang="en-SG" sz="3200" dirty="0"/>
              <a:t> video to understand more</a:t>
            </a:r>
            <a:r>
              <a:rPr lang="en-SG" dirty="0"/>
              <a:t>.</a:t>
            </a:r>
          </a:p>
        </p:txBody>
      </p:sp>
      <p:pic>
        <p:nvPicPr>
          <p:cNvPr id="4" name="Picture 3">
            <a:hlinkClick r:id="rId3"/>
            <a:extLst>
              <a:ext uri="{FF2B5EF4-FFF2-40B4-BE49-F238E27FC236}">
                <a16:creationId xmlns:a16="http://schemas.microsoft.com/office/drawing/2014/main" id="{2489F7A9-FCC7-30AC-52CB-6EED8C7BF67A}"/>
              </a:ext>
            </a:extLst>
          </p:cNvPr>
          <p:cNvPicPr>
            <a:picLocks noChangeAspect="1"/>
          </p:cNvPicPr>
          <p:nvPr/>
        </p:nvPicPr>
        <p:blipFill>
          <a:blip r:embed="rId5"/>
          <a:stretch>
            <a:fillRect/>
          </a:stretch>
        </p:blipFill>
        <p:spPr>
          <a:xfrm>
            <a:off x="309738" y="300241"/>
            <a:ext cx="9098422" cy="5077270"/>
          </a:xfrm>
          <a:prstGeom prst="rect">
            <a:avLst/>
          </a:prstGeom>
        </p:spPr>
      </p:pic>
    </p:spTree>
    <p:extLst>
      <p:ext uri="{BB962C8B-B14F-4D97-AF65-F5344CB8AC3E}">
        <p14:creationId xmlns:p14="http://schemas.microsoft.com/office/powerpoint/2010/main" val="3113470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type="body" idx="1"/>
          </p:nvPr>
        </p:nvSpPr>
        <p:spPr>
          <a:xfrm>
            <a:off x="1002196" y="990600"/>
            <a:ext cx="10472049" cy="4714875"/>
          </a:xfrm>
        </p:spPr>
        <p:txBody>
          <a:bodyPr>
            <a:noAutofit/>
          </a:bodyPr>
          <a:lstStyle/>
          <a:p>
            <a:pPr marL="0" indent="0" eaLnBrk="1" hangingPunct="1">
              <a:lnSpc>
                <a:spcPct val="100000"/>
              </a:lnSpc>
              <a:spcBef>
                <a:spcPts val="0"/>
              </a:spcBef>
              <a:buNone/>
            </a:pPr>
            <a:r>
              <a:rPr lang="en-US" altLang="en-US" sz="2400" dirty="0"/>
              <a:t>Example1:</a:t>
            </a:r>
          </a:p>
          <a:p>
            <a:pPr marL="0" indent="0" eaLnBrk="1" hangingPunct="1">
              <a:lnSpc>
                <a:spcPct val="100000"/>
              </a:lnSpc>
              <a:spcBef>
                <a:spcPts val="0"/>
              </a:spcBef>
              <a:buNone/>
            </a:pPr>
            <a:r>
              <a:rPr lang="en-US" altLang="en-US" sz="2400" dirty="0"/>
              <a:t>What is function of the source coding in a digital transmitter?</a:t>
            </a:r>
          </a:p>
          <a:p>
            <a:pPr marL="0" indent="0" eaLnBrk="1" hangingPunct="1">
              <a:lnSpc>
                <a:spcPct val="100000"/>
              </a:lnSpc>
              <a:spcBef>
                <a:spcPts val="0"/>
              </a:spcBef>
              <a:buNone/>
            </a:pPr>
            <a:r>
              <a:rPr lang="en-US" altLang="en-US" sz="2400" dirty="0">
                <a:solidFill>
                  <a:srgbClr val="0070C0"/>
                </a:solidFill>
              </a:rPr>
              <a:t>ANS</a:t>
            </a:r>
          </a:p>
          <a:p>
            <a:pPr marL="0" indent="0">
              <a:lnSpc>
                <a:spcPct val="100000"/>
              </a:lnSpc>
              <a:spcBef>
                <a:spcPts val="0"/>
              </a:spcBef>
              <a:buNone/>
            </a:pPr>
            <a:r>
              <a:rPr lang="en-US" altLang="en-US" sz="2400" dirty="0">
                <a:solidFill>
                  <a:srgbClr val="0070C0"/>
                </a:solidFill>
              </a:rPr>
              <a:t>The function of the source coding is to perform data compression of the input source to achieve a minimal representation of the input waveform.</a:t>
            </a:r>
          </a:p>
          <a:p>
            <a:pPr marL="0" indent="0" eaLnBrk="1" hangingPunct="1">
              <a:lnSpc>
                <a:spcPct val="100000"/>
              </a:lnSpc>
              <a:spcBef>
                <a:spcPts val="0"/>
              </a:spcBef>
              <a:buNone/>
            </a:pPr>
            <a:endParaRPr lang="en-US" altLang="en-US" sz="2400" dirty="0"/>
          </a:p>
          <a:p>
            <a:pPr marL="0" lvl="0" indent="0">
              <a:lnSpc>
                <a:spcPct val="100000"/>
              </a:lnSpc>
              <a:spcBef>
                <a:spcPts val="0"/>
              </a:spcBef>
              <a:buNone/>
            </a:pPr>
            <a:r>
              <a:rPr lang="en-SG" sz="2400" dirty="0"/>
              <a:t>Example2:</a:t>
            </a:r>
          </a:p>
          <a:p>
            <a:pPr marL="0" lvl="0" indent="0">
              <a:lnSpc>
                <a:spcPct val="100000"/>
              </a:lnSpc>
              <a:spcBef>
                <a:spcPts val="0"/>
              </a:spcBef>
              <a:buNone/>
            </a:pPr>
            <a:r>
              <a:rPr lang="en-SG" sz="2400" dirty="0"/>
              <a:t>What is the function of the channel encoder in a digital transmitter? </a:t>
            </a:r>
            <a:endParaRPr lang="en-US" sz="2400" dirty="0"/>
          </a:p>
          <a:p>
            <a:pPr marL="0" indent="0">
              <a:lnSpc>
                <a:spcPct val="100000"/>
              </a:lnSpc>
              <a:spcBef>
                <a:spcPts val="0"/>
              </a:spcBef>
              <a:buNone/>
            </a:pPr>
            <a:r>
              <a:rPr lang="en-SG" sz="2400" dirty="0">
                <a:solidFill>
                  <a:srgbClr val="0070C0"/>
                </a:solidFill>
              </a:rPr>
              <a:t>ANS</a:t>
            </a:r>
            <a:endParaRPr lang="en-US" sz="2400" dirty="0">
              <a:solidFill>
                <a:srgbClr val="0070C0"/>
              </a:solidFill>
            </a:endParaRPr>
          </a:p>
          <a:p>
            <a:pPr marL="0" indent="0">
              <a:lnSpc>
                <a:spcPct val="100000"/>
              </a:lnSpc>
              <a:spcBef>
                <a:spcPts val="0"/>
              </a:spcBef>
              <a:buNone/>
            </a:pPr>
            <a:r>
              <a:rPr lang="en-SG" sz="2400" dirty="0">
                <a:solidFill>
                  <a:srgbClr val="0070C0"/>
                </a:solidFill>
              </a:rPr>
              <a:t>Channel encoder is to combat channel impairments by adding redundancy bits for error detection and correction.</a:t>
            </a:r>
            <a:endParaRPr lang="en-US" sz="2400" dirty="0">
              <a:solidFill>
                <a:srgbClr val="0070C0"/>
              </a:solidFill>
            </a:endParaRPr>
          </a:p>
          <a:p>
            <a:pPr marL="0" indent="0" eaLnBrk="1" hangingPunct="1">
              <a:lnSpc>
                <a:spcPct val="80000"/>
              </a:lnSpc>
              <a:buNone/>
            </a:pPr>
            <a:endParaRPr lang="en-US" altLang="en-US" dirty="0">
              <a:solidFill>
                <a:srgbClr val="FF0000"/>
              </a:solidFill>
            </a:endParaRPr>
          </a:p>
          <a:p>
            <a:pPr marL="457200" lvl="1" indent="0" algn="just" eaLnBrk="1" hangingPunct="1">
              <a:lnSpc>
                <a:spcPct val="80000"/>
              </a:lnSpc>
              <a:buNone/>
            </a:pPr>
            <a:endParaRPr lang="en-US" altLang="en-US" dirty="0"/>
          </a:p>
          <a:p>
            <a:pPr eaLnBrk="1" hangingPunct="1">
              <a:lnSpc>
                <a:spcPct val="80000"/>
              </a:lnSpc>
            </a:pPr>
            <a:endParaRPr lang="en-US" altLang="en-US" sz="2400" dirty="0"/>
          </a:p>
        </p:txBody>
      </p:sp>
      <p:sp>
        <p:nvSpPr>
          <p:cNvPr id="6" name="Rectangle 2"/>
          <p:cNvSpPr txBox="1">
            <a:spLocks noChangeArrowheads="1"/>
          </p:cNvSpPr>
          <p:nvPr/>
        </p:nvSpPr>
        <p:spPr>
          <a:xfrm>
            <a:off x="1002196" y="0"/>
            <a:ext cx="9650415" cy="9906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GB" sz="3600" b="1" dirty="0">
                <a:solidFill>
                  <a:srgbClr val="C00000"/>
                </a:solidFill>
                <a:latin typeface="+mn-lt"/>
              </a:rPr>
              <a:t>Digital Transceiver Building Block </a:t>
            </a:r>
            <a:endParaRPr lang="en-US" sz="3600" b="1" dirty="0">
              <a:solidFill>
                <a:srgbClr val="C00000"/>
              </a:solidFill>
              <a:latin typeface="+mn-lt"/>
            </a:endParaRPr>
          </a:p>
        </p:txBody>
      </p:sp>
      <p:sp>
        <p:nvSpPr>
          <p:cNvPr id="8" name="Slide Number Placeholder 2"/>
          <p:cNvSpPr>
            <a:spLocks noGrp="1"/>
          </p:cNvSpPr>
          <p:nvPr>
            <p:ph type="sldNum" sz="quarter" idx="4"/>
          </p:nvPr>
        </p:nvSpPr>
        <p:spPr>
          <a:xfrm>
            <a:off x="4724400" y="6356349"/>
            <a:ext cx="2743200" cy="365125"/>
          </a:xfrm>
        </p:spPr>
        <p:txBody>
          <a:bodyPr/>
          <a:lstStyle/>
          <a:p>
            <a:r>
              <a:rPr lang="en-US" dirty="0"/>
              <a:t>Page 20 of 23</a:t>
            </a:r>
          </a:p>
        </p:txBody>
      </p:sp>
      <p:pic>
        <p:nvPicPr>
          <p:cNvPr id="2" name="Pg20">
            <a:hlinkClick r:id="" action="ppaction://media"/>
            <a:extLst>
              <a:ext uri="{FF2B5EF4-FFF2-40B4-BE49-F238E27FC236}">
                <a16:creationId xmlns:a16="http://schemas.microsoft.com/office/drawing/2014/main" id="{F546F58B-65A1-4395-98B3-C797958631F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0192719" y="5705475"/>
            <a:ext cx="609600" cy="609600"/>
          </a:xfrm>
          <a:prstGeom prst="rect">
            <a:avLst/>
          </a:prstGeom>
        </p:spPr>
      </p:pic>
      <p:sp>
        <p:nvSpPr>
          <p:cNvPr id="3" name="Rectangle 2">
            <a:extLst>
              <a:ext uri="{FF2B5EF4-FFF2-40B4-BE49-F238E27FC236}">
                <a16:creationId xmlns:a16="http://schemas.microsoft.com/office/drawing/2014/main" id="{04A83239-E27D-8D78-A9F6-A0B8D51A226A}"/>
              </a:ext>
            </a:extLst>
          </p:cNvPr>
          <p:cNvSpPr/>
          <p:nvPr/>
        </p:nvSpPr>
        <p:spPr>
          <a:xfrm>
            <a:off x="0" y="0"/>
            <a:ext cx="1026160" cy="2438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015925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783"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4" name="Text Box 7"/>
          <p:cNvSpPr txBox="1">
            <a:spLocks noChangeArrowheads="1"/>
          </p:cNvSpPr>
          <p:nvPr/>
        </p:nvSpPr>
        <p:spPr bwMode="auto">
          <a:xfrm>
            <a:off x="1854994" y="1407809"/>
            <a:ext cx="1447800" cy="7397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a:spcBef>
                <a:spcPct val="50000"/>
              </a:spcBef>
              <a:buSzTx/>
              <a:buFontTx/>
              <a:buNone/>
            </a:pPr>
            <a:r>
              <a:rPr lang="en-US" altLang="en-US" sz="1400">
                <a:latin typeface="Times New Roman" panose="02020603050405020304" pitchFamily="18" charset="0"/>
              </a:rPr>
              <a:t>Information source and input transducer</a:t>
            </a:r>
          </a:p>
        </p:txBody>
      </p:sp>
      <p:sp>
        <p:nvSpPr>
          <p:cNvPr id="7175" name="Text Box 8"/>
          <p:cNvSpPr txBox="1">
            <a:spLocks noChangeArrowheads="1"/>
          </p:cNvSpPr>
          <p:nvPr/>
        </p:nvSpPr>
        <p:spPr bwMode="auto">
          <a:xfrm>
            <a:off x="3683794" y="1409396"/>
            <a:ext cx="838200" cy="739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a:spcBef>
                <a:spcPct val="0"/>
              </a:spcBef>
              <a:buSzTx/>
              <a:buFontTx/>
              <a:buNone/>
            </a:pPr>
            <a:r>
              <a:rPr lang="en-US" altLang="en-US" sz="1400">
                <a:latin typeface="Times New Roman" panose="02020603050405020304" pitchFamily="18" charset="0"/>
              </a:rPr>
              <a:t>Source encoder</a:t>
            </a:r>
          </a:p>
          <a:p>
            <a:pPr algn="ctr">
              <a:spcBef>
                <a:spcPct val="0"/>
              </a:spcBef>
              <a:buSzTx/>
              <a:buFontTx/>
              <a:buNone/>
            </a:pPr>
            <a:endParaRPr lang="en-US" altLang="en-US" sz="1400">
              <a:latin typeface="Times New Roman" panose="02020603050405020304" pitchFamily="18" charset="0"/>
            </a:endParaRPr>
          </a:p>
        </p:txBody>
      </p:sp>
      <p:sp>
        <p:nvSpPr>
          <p:cNvPr id="7176" name="Text Box 9"/>
          <p:cNvSpPr txBox="1">
            <a:spLocks noChangeArrowheads="1"/>
          </p:cNvSpPr>
          <p:nvPr/>
        </p:nvSpPr>
        <p:spPr bwMode="auto">
          <a:xfrm>
            <a:off x="6326982" y="1410984"/>
            <a:ext cx="930275" cy="739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a:spcBef>
                <a:spcPct val="0"/>
              </a:spcBef>
              <a:buSzTx/>
              <a:buFontTx/>
              <a:buNone/>
            </a:pPr>
            <a:r>
              <a:rPr lang="en-US" altLang="en-US" sz="1400">
                <a:latin typeface="Times New Roman" panose="02020603050405020304" pitchFamily="18" charset="0"/>
              </a:rPr>
              <a:t>Channel encoder</a:t>
            </a:r>
          </a:p>
          <a:p>
            <a:pPr>
              <a:spcBef>
                <a:spcPct val="0"/>
              </a:spcBef>
              <a:buSzTx/>
              <a:buFontTx/>
              <a:buNone/>
            </a:pPr>
            <a:endParaRPr lang="en-US" altLang="en-US" sz="1400">
              <a:latin typeface="Times New Roman" panose="02020603050405020304" pitchFamily="18" charset="0"/>
            </a:endParaRPr>
          </a:p>
        </p:txBody>
      </p:sp>
      <p:sp>
        <p:nvSpPr>
          <p:cNvPr id="7177" name="Text Box 10"/>
          <p:cNvSpPr txBox="1">
            <a:spLocks noChangeArrowheads="1"/>
          </p:cNvSpPr>
          <p:nvPr/>
        </p:nvSpPr>
        <p:spPr bwMode="auto">
          <a:xfrm>
            <a:off x="7569994" y="1323671"/>
            <a:ext cx="1295400" cy="9540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a:spcBef>
                <a:spcPct val="0"/>
              </a:spcBef>
              <a:buSzTx/>
              <a:buFontTx/>
              <a:buNone/>
            </a:pPr>
            <a:r>
              <a:rPr lang="en-US" altLang="en-US" sz="1400" dirty="0">
                <a:latin typeface="Times New Roman" panose="02020603050405020304" pitchFamily="18" charset="0"/>
              </a:rPr>
              <a:t>Digital modulator</a:t>
            </a:r>
          </a:p>
          <a:p>
            <a:pPr algn="ctr">
              <a:spcBef>
                <a:spcPct val="0"/>
              </a:spcBef>
              <a:buSzTx/>
              <a:buFontTx/>
              <a:buNone/>
            </a:pPr>
            <a:r>
              <a:rPr lang="en-US" altLang="en-US" sz="1400" dirty="0">
                <a:latin typeface="Times New Roman" panose="02020603050405020304" pitchFamily="18" charset="0"/>
              </a:rPr>
              <a:t>&amp; </a:t>
            </a:r>
            <a:r>
              <a:rPr lang="en-US" altLang="en-US" sz="1400" dirty="0" err="1">
                <a:latin typeface="Times New Roman" panose="02020603050405020304" pitchFamily="18" charset="0"/>
              </a:rPr>
              <a:t>Upconverter</a:t>
            </a:r>
            <a:endParaRPr lang="en-US" altLang="en-US" sz="1400" dirty="0">
              <a:latin typeface="Times New Roman" panose="02020603050405020304" pitchFamily="18" charset="0"/>
            </a:endParaRPr>
          </a:p>
          <a:p>
            <a:pPr>
              <a:spcBef>
                <a:spcPct val="0"/>
              </a:spcBef>
              <a:buSzTx/>
              <a:buFontTx/>
              <a:buNone/>
            </a:pPr>
            <a:endParaRPr lang="en-US" altLang="en-US" sz="1400" dirty="0">
              <a:latin typeface="Times New Roman" panose="02020603050405020304" pitchFamily="18" charset="0"/>
            </a:endParaRPr>
          </a:p>
        </p:txBody>
      </p:sp>
      <p:sp>
        <p:nvSpPr>
          <p:cNvPr id="7179" name="Text Box 12"/>
          <p:cNvSpPr txBox="1">
            <a:spLocks noChangeArrowheads="1"/>
          </p:cNvSpPr>
          <p:nvPr/>
        </p:nvSpPr>
        <p:spPr bwMode="auto">
          <a:xfrm>
            <a:off x="3625057" y="5059059"/>
            <a:ext cx="838200" cy="739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a:spcBef>
                <a:spcPct val="0"/>
              </a:spcBef>
              <a:buSzTx/>
              <a:buFontTx/>
              <a:buNone/>
            </a:pPr>
            <a:r>
              <a:rPr lang="en-US" altLang="en-US" sz="1400">
                <a:latin typeface="Times New Roman" panose="02020603050405020304" pitchFamily="18" charset="0"/>
              </a:rPr>
              <a:t>Source decoder</a:t>
            </a:r>
          </a:p>
          <a:p>
            <a:pPr algn="ctr">
              <a:spcBef>
                <a:spcPct val="0"/>
              </a:spcBef>
              <a:buSzTx/>
              <a:buFontTx/>
              <a:buNone/>
            </a:pPr>
            <a:endParaRPr lang="en-US" altLang="en-US" sz="1400">
              <a:latin typeface="Times New Roman" panose="02020603050405020304" pitchFamily="18" charset="0"/>
            </a:endParaRPr>
          </a:p>
        </p:txBody>
      </p:sp>
      <p:sp>
        <p:nvSpPr>
          <p:cNvPr id="7180" name="Text Box 13"/>
          <p:cNvSpPr txBox="1">
            <a:spLocks noChangeArrowheads="1"/>
          </p:cNvSpPr>
          <p:nvPr/>
        </p:nvSpPr>
        <p:spPr bwMode="auto">
          <a:xfrm>
            <a:off x="6326982" y="5059059"/>
            <a:ext cx="930275" cy="739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a:spcBef>
                <a:spcPct val="0"/>
              </a:spcBef>
              <a:buSzTx/>
              <a:buFontTx/>
              <a:buNone/>
            </a:pPr>
            <a:r>
              <a:rPr lang="en-US" altLang="en-US" sz="1400">
                <a:latin typeface="Times New Roman" panose="02020603050405020304" pitchFamily="18" charset="0"/>
              </a:rPr>
              <a:t>Channel decoder</a:t>
            </a:r>
          </a:p>
          <a:p>
            <a:pPr>
              <a:spcBef>
                <a:spcPct val="0"/>
              </a:spcBef>
              <a:buSzTx/>
              <a:buFontTx/>
              <a:buNone/>
            </a:pPr>
            <a:endParaRPr lang="en-US" altLang="en-US" sz="1400">
              <a:latin typeface="Times New Roman" panose="02020603050405020304" pitchFamily="18" charset="0"/>
            </a:endParaRPr>
          </a:p>
        </p:txBody>
      </p:sp>
      <p:sp>
        <p:nvSpPr>
          <p:cNvPr id="7181" name="Text Box 14"/>
          <p:cNvSpPr txBox="1">
            <a:spLocks noChangeArrowheads="1"/>
          </p:cNvSpPr>
          <p:nvPr/>
        </p:nvSpPr>
        <p:spPr bwMode="auto">
          <a:xfrm>
            <a:off x="7569994" y="4841572"/>
            <a:ext cx="1295400" cy="11699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a:spcBef>
                <a:spcPct val="0"/>
              </a:spcBef>
              <a:buSzTx/>
              <a:buFontTx/>
              <a:buNone/>
            </a:pPr>
            <a:r>
              <a:rPr lang="en-US" altLang="en-US" sz="1400" dirty="0">
                <a:latin typeface="Times New Roman" panose="02020603050405020304" pitchFamily="18" charset="0"/>
              </a:rPr>
              <a:t>Digital demodulator </a:t>
            </a:r>
          </a:p>
          <a:p>
            <a:pPr algn="ctr">
              <a:spcBef>
                <a:spcPct val="0"/>
              </a:spcBef>
              <a:buSzTx/>
              <a:buFontTx/>
              <a:buNone/>
            </a:pPr>
            <a:r>
              <a:rPr lang="en-US" altLang="en-US" sz="1400" dirty="0">
                <a:latin typeface="Times New Roman" panose="02020603050405020304" pitchFamily="18" charset="0"/>
              </a:rPr>
              <a:t>&amp; Downconverter</a:t>
            </a:r>
          </a:p>
          <a:p>
            <a:pPr>
              <a:spcBef>
                <a:spcPct val="0"/>
              </a:spcBef>
              <a:buSzTx/>
              <a:buFontTx/>
              <a:buNone/>
            </a:pPr>
            <a:endParaRPr lang="en-US" altLang="en-US" sz="1400" dirty="0">
              <a:latin typeface="Times New Roman" panose="02020603050405020304" pitchFamily="18" charset="0"/>
            </a:endParaRPr>
          </a:p>
        </p:txBody>
      </p:sp>
      <p:sp>
        <p:nvSpPr>
          <p:cNvPr id="7182" name="Line 15"/>
          <p:cNvSpPr>
            <a:spLocks noChangeShapeType="1"/>
          </p:cNvSpPr>
          <p:nvPr/>
        </p:nvSpPr>
        <p:spPr bwMode="auto">
          <a:xfrm flipV="1">
            <a:off x="8865394" y="1752296"/>
            <a:ext cx="444500" cy="206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3" name="Line 16"/>
          <p:cNvSpPr>
            <a:spLocks noChangeShapeType="1"/>
          </p:cNvSpPr>
          <p:nvPr/>
        </p:nvSpPr>
        <p:spPr bwMode="auto">
          <a:xfrm>
            <a:off x="9309894" y="1752296"/>
            <a:ext cx="0" cy="12890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184" name="Line 17"/>
          <p:cNvSpPr>
            <a:spLocks noChangeShapeType="1"/>
          </p:cNvSpPr>
          <p:nvPr/>
        </p:nvSpPr>
        <p:spPr bwMode="auto">
          <a:xfrm>
            <a:off x="9309894" y="4116084"/>
            <a:ext cx="0" cy="12334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5" name="Line 18"/>
          <p:cNvSpPr>
            <a:spLocks noChangeShapeType="1"/>
          </p:cNvSpPr>
          <p:nvPr/>
        </p:nvSpPr>
        <p:spPr bwMode="auto">
          <a:xfrm flipH="1">
            <a:off x="8865394" y="5349572"/>
            <a:ext cx="4445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186" name="Text Box 19"/>
          <p:cNvSpPr txBox="1">
            <a:spLocks noChangeArrowheads="1"/>
          </p:cNvSpPr>
          <p:nvPr/>
        </p:nvSpPr>
        <p:spPr bwMode="auto">
          <a:xfrm>
            <a:off x="3825082" y="6029022"/>
            <a:ext cx="41354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spcBef>
                <a:spcPct val="0"/>
              </a:spcBef>
              <a:buSzTx/>
              <a:buFontTx/>
              <a:buNone/>
            </a:pPr>
            <a:r>
              <a:rPr lang="en-US" altLang="en-US" sz="1400" dirty="0"/>
              <a:t>Basic elements of a digital communication system</a:t>
            </a:r>
          </a:p>
        </p:txBody>
      </p:sp>
      <p:sp>
        <p:nvSpPr>
          <p:cNvPr id="7187" name="Text Box 20"/>
          <p:cNvSpPr txBox="1">
            <a:spLocks noChangeArrowheads="1"/>
          </p:cNvSpPr>
          <p:nvPr/>
        </p:nvSpPr>
        <p:spPr bwMode="auto">
          <a:xfrm>
            <a:off x="1993107" y="2384121"/>
            <a:ext cx="1062038" cy="116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spcBef>
                <a:spcPct val="0"/>
              </a:spcBef>
              <a:buSzTx/>
              <a:buFontTx/>
              <a:buNone/>
            </a:pPr>
            <a:r>
              <a:rPr lang="en-US" altLang="en-US" sz="1400" i="1">
                <a:latin typeface="Times New Roman" panose="02020603050405020304" pitchFamily="18" charset="0"/>
              </a:rPr>
              <a:t>e.g. speech source &amp; A-to-D conversion of speech</a:t>
            </a:r>
          </a:p>
        </p:txBody>
      </p:sp>
      <p:sp>
        <p:nvSpPr>
          <p:cNvPr id="7188" name="Text Box 21"/>
          <p:cNvSpPr txBox="1">
            <a:spLocks noChangeArrowheads="1"/>
          </p:cNvSpPr>
          <p:nvPr/>
        </p:nvSpPr>
        <p:spPr bwMode="auto">
          <a:xfrm>
            <a:off x="3683794" y="2299984"/>
            <a:ext cx="1322388"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spcBef>
                <a:spcPct val="0"/>
              </a:spcBef>
              <a:buSzTx/>
              <a:buFontTx/>
              <a:buNone/>
            </a:pPr>
            <a:r>
              <a:rPr lang="en-US" altLang="en-US" sz="1400">
                <a:latin typeface="Times New Roman" panose="02020603050405020304" pitchFamily="18" charset="0"/>
              </a:rPr>
              <a:t>removes redundancy, e.g. speech compression </a:t>
            </a:r>
          </a:p>
        </p:txBody>
      </p:sp>
      <p:sp>
        <p:nvSpPr>
          <p:cNvPr id="7189" name="Text Box 22"/>
          <p:cNvSpPr txBox="1">
            <a:spLocks noChangeArrowheads="1"/>
          </p:cNvSpPr>
          <p:nvPr/>
        </p:nvSpPr>
        <p:spPr bwMode="auto">
          <a:xfrm>
            <a:off x="6060282" y="2299984"/>
            <a:ext cx="1455738"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spcBef>
                <a:spcPct val="0"/>
              </a:spcBef>
              <a:buSzTx/>
              <a:buFontTx/>
              <a:buNone/>
            </a:pPr>
            <a:r>
              <a:rPr lang="en-US" altLang="en-US" sz="1400">
                <a:latin typeface="Times New Roman" panose="02020603050405020304" pitchFamily="18" charset="0"/>
              </a:rPr>
              <a:t>adds redundancy (e.g. linear block codes, cyclic codes &amp; convolutional codes) to combat channel impairment</a:t>
            </a:r>
          </a:p>
        </p:txBody>
      </p:sp>
      <p:sp>
        <p:nvSpPr>
          <p:cNvPr id="7190" name="Text Box 23"/>
          <p:cNvSpPr txBox="1">
            <a:spLocks noChangeArrowheads="1"/>
          </p:cNvSpPr>
          <p:nvPr/>
        </p:nvSpPr>
        <p:spPr bwMode="auto">
          <a:xfrm>
            <a:off x="7477919" y="2212671"/>
            <a:ext cx="1387475"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spcBef>
                <a:spcPct val="0"/>
              </a:spcBef>
              <a:buSzTx/>
              <a:buFontTx/>
              <a:buNone/>
            </a:pPr>
            <a:r>
              <a:rPr lang="en-US" altLang="en-US" sz="1400" i="1">
                <a:latin typeface="Times New Roman" panose="02020603050405020304" pitchFamily="18" charset="0"/>
              </a:rPr>
              <a:t>baseband filtering, data formatting based on modulation scheme (BPSK, QPSK), upconversion, power amplification, etc</a:t>
            </a:r>
          </a:p>
        </p:txBody>
      </p:sp>
      <p:sp>
        <p:nvSpPr>
          <p:cNvPr id="7191" name="Text Box 24"/>
          <p:cNvSpPr txBox="1">
            <a:spLocks noChangeArrowheads="1"/>
          </p:cNvSpPr>
          <p:nvPr/>
        </p:nvSpPr>
        <p:spPr bwMode="auto">
          <a:xfrm>
            <a:off x="2008982" y="5059059"/>
            <a:ext cx="1295400" cy="739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a:spcBef>
                <a:spcPct val="0"/>
              </a:spcBef>
              <a:buSzTx/>
              <a:buFontTx/>
              <a:buNone/>
            </a:pPr>
            <a:r>
              <a:rPr lang="en-US" altLang="en-US" sz="1400">
                <a:latin typeface="Times New Roman" panose="02020603050405020304" pitchFamily="18" charset="0"/>
              </a:rPr>
              <a:t>Output Transducer</a:t>
            </a:r>
          </a:p>
          <a:p>
            <a:pPr>
              <a:spcBef>
                <a:spcPct val="0"/>
              </a:spcBef>
              <a:buSzTx/>
              <a:buFontTx/>
              <a:buNone/>
            </a:pPr>
            <a:endParaRPr lang="en-US" altLang="en-US" sz="1400">
              <a:latin typeface="Times New Roman" panose="02020603050405020304" pitchFamily="18" charset="0"/>
            </a:endParaRPr>
          </a:p>
        </p:txBody>
      </p:sp>
      <p:sp>
        <p:nvSpPr>
          <p:cNvPr id="7192" name="Text Box 25"/>
          <p:cNvSpPr txBox="1">
            <a:spLocks noChangeArrowheads="1"/>
          </p:cNvSpPr>
          <p:nvPr/>
        </p:nvSpPr>
        <p:spPr bwMode="auto">
          <a:xfrm>
            <a:off x="8938419" y="3236609"/>
            <a:ext cx="1582738"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spcBef>
                <a:spcPct val="0"/>
              </a:spcBef>
              <a:buSzTx/>
              <a:buFontTx/>
              <a:buNone/>
            </a:pPr>
            <a:r>
              <a:rPr lang="en-US" altLang="en-US" sz="1400" dirty="0">
                <a:latin typeface="Times New Roman" panose="02020603050405020304" pitchFamily="18" charset="0"/>
              </a:rPr>
              <a:t>propagation loss, shadowing, multipath, </a:t>
            </a:r>
            <a:r>
              <a:rPr lang="en-US" altLang="en-US" sz="1400" dirty="0" err="1">
                <a:latin typeface="Times New Roman" panose="02020603050405020304" pitchFamily="18" charset="0"/>
              </a:rPr>
              <a:t>etc</a:t>
            </a:r>
            <a:endParaRPr lang="en-US" altLang="en-US" sz="1400" dirty="0">
              <a:latin typeface="Times New Roman" panose="02020603050405020304" pitchFamily="18" charset="0"/>
            </a:endParaRPr>
          </a:p>
        </p:txBody>
      </p:sp>
      <p:sp>
        <p:nvSpPr>
          <p:cNvPr id="7193" name="Text Box 26"/>
          <p:cNvSpPr txBox="1">
            <a:spLocks noChangeArrowheads="1"/>
          </p:cNvSpPr>
          <p:nvPr/>
        </p:nvSpPr>
        <p:spPr bwMode="auto">
          <a:xfrm>
            <a:off x="4769644" y="1410984"/>
            <a:ext cx="1123950" cy="739775"/>
          </a:xfrm>
          <a:prstGeom prst="rect">
            <a:avLst/>
          </a:prstGeom>
          <a:noFill/>
          <a:ln w="571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a:spcBef>
                <a:spcPct val="0"/>
              </a:spcBef>
              <a:buSzTx/>
              <a:buFontTx/>
              <a:buNone/>
            </a:pPr>
            <a:endParaRPr lang="en-US" altLang="en-US" sz="1400" dirty="0">
              <a:latin typeface="Times New Roman" panose="02020603050405020304" pitchFamily="18" charset="0"/>
            </a:endParaRPr>
          </a:p>
          <a:p>
            <a:pPr algn="ctr">
              <a:spcBef>
                <a:spcPct val="0"/>
              </a:spcBef>
              <a:buSzTx/>
              <a:buFontTx/>
              <a:buNone/>
            </a:pPr>
            <a:r>
              <a:rPr lang="en-US" altLang="en-US" sz="1400" dirty="0">
                <a:latin typeface="Times New Roman" panose="02020603050405020304" pitchFamily="18" charset="0"/>
              </a:rPr>
              <a:t> </a:t>
            </a:r>
            <a:r>
              <a:rPr lang="en-US" altLang="en-US" sz="1400" dirty="0">
                <a:solidFill>
                  <a:srgbClr val="FF0000"/>
                </a:solidFill>
                <a:latin typeface="Times New Roman" panose="02020603050405020304" pitchFamily="18" charset="0"/>
              </a:rPr>
              <a:t>Encryption</a:t>
            </a:r>
          </a:p>
          <a:p>
            <a:pPr algn="ctr">
              <a:spcBef>
                <a:spcPct val="0"/>
              </a:spcBef>
              <a:buSzTx/>
              <a:buFontTx/>
              <a:buNone/>
            </a:pPr>
            <a:endParaRPr lang="en-US" altLang="en-US" sz="1400" dirty="0">
              <a:latin typeface="Times New Roman" panose="02020603050405020304" pitchFamily="18" charset="0"/>
            </a:endParaRPr>
          </a:p>
        </p:txBody>
      </p:sp>
      <p:sp>
        <p:nvSpPr>
          <p:cNvPr id="7194" name="Text Box 27"/>
          <p:cNvSpPr txBox="1">
            <a:spLocks noChangeArrowheads="1"/>
          </p:cNvSpPr>
          <p:nvPr/>
        </p:nvSpPr>
        <p:spPr bwMode="auto">
          <a:xfrm>
            <a:off x="4914107" y="2299984"/>
            <a:ext cx="1146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spcBef>
                <a:spcPct val="0"/>
              </a:spcBef>
              <a:buSzTx/>
              <a:buFontTx/>
              <a:buNone/>
            </a:pPr>
            <a:r>
              <a:rPr lang="en-US" altLang="en-US" sz="1400" i="1">
                <a:latin typeface="Times New Roman" panose="02020603050405020304" pitchFamily="18" charset="0"/>
              </a:rPr>
              <a:t>security of information</a:t>
            </a:r>
            <a:endParaRPr lang="en-US" altLang="en-US" sz="1400">
              <a:latin typeface="Times New Roman" panose="02020603050405020304" pitchFamily="18" charset="0"/>
            </a:endParaRPr>
          </a:p>
        </p:txBody>
      </p:sp>
      <p:sp>
        <p:nvSpPr>
          <p:cNvPr id="7195" name="Text Box 28"/>
          <p:cNvSpPr txBox="1">
            <a:spLocks noChangeArrowheads="1"/>
          </p:cNvSpPr>
          <p:nvPr/>
        </p:nvSpPr>
        <p:spPr bwMode="auto">
          <a:xfrm>
            <a:off x="4839494" y="5059059"/>
            <a:ext cx="1054100" cy="739775"/>
          </a:xfrm>
          <a:prstGeom prst="rect">
            <a:avLst/>
          </a:prstGeom>
          <a:noFill/>
          <a:ln w="571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85000"/>
              <a:buBlip>
                <a:blip r:embed="rId4"/>
              </a:buBlip>
              <a:defRPr sz="3200">
                <a:solidFill>
                  <a:schemeClr val="tx1"/>
                </a:solidFill>
                <a:latin typeface="Arial" panose="020B0604020202020204" pitchFamily="34" charset="0"/>
              </a:defRPr>
            </a:lvl1pPr>
            <a:lvl2pPr marL="742950" indent="-285750">
              <a:spcBef>
                <a:spcPct val="20000"/>
              </a:spcBef>
              <a:buClr>
                <a:schemeClr val="bg2"/>
              </a:buClr>
              <a:buSzPct val="70000"/>
              <a:buFont typeface="Wingdings" panose="05000000000000000000" pitchFamily="2" charset="2"/>
              <a:buChar char="n"/>
              <a:defRPr>
                <a:solidFill>
                  <a:schemeClr val="tx1"/>
                </a:solidFill>
                <a:latin typeface="Arial" panose="020B0604020202020204" pitchFamily="34" charset="0"/>
              </a:defRPr>
            </a:lvl2pPr>
            <a:lvl3pPr marL="11430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3pPr>
            <a:lvl4pPr marL="1600200" indent="-228600">
              <a:spcBef>
                <a:spcPct val="20000"/>
              </a:spcBef>
              <a:buSzPct val="70000"/>
              <a:buFont typeface="Wingdings" panose="05000000000000000000" pitchFamily="2" charset="2"/>
              <a:buChar char="n"/>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a:spcBef>
                <a:spcPct val="0"/>
              </a:spcBef>
              <a:buSzTx/>
              <a:buFontTx/>
              <a:buNone/>
            </a:pPr>
            <a:endParaRPr lang="en-US" altLang="en-US" sz="1400" dirty="0">
              <a:latin typeface="Times New Roman" panose="02020603050405020304" pitchFamily="18" charset="0"/>
            </a:endParaRPr>
          </a:p>
          <a:p>
            <a:pPr algn="ctr">
              <a:spcBef>
                <a:spcPct val="0"/>
              </a:spcBef>
              <a:buSzTx/>
              <a:buFontTx/>
              <a:buNone/>
            </a:pPr>
            <a:r>
              <a:rPr lang="en-US" altLang="en-US" sz="1400" dirty="0">
                <a:solidFill>
                  <a:srgbClr val="FF0000"/>
                </a:solidFill>
                <a:latin typeface="Times New Roman" panose="02020603050405020304" pitchFamily="18" charset="0"/>
              </a:rPr>
              <a:t>Decryption</a:t>
            </a:r>
          </a:p>
          <a:p>
            <a:pPr algn="ctr">
              <a:spcBef>
                <a:spcPct val="0"/>
              </a:spcBef>
              <a:buSzTx/>
              <a:buFontTx/>
              <a:buNone/>
            </a:pPr>
            <a:endParaRPr lang="en-US" altLang="en-US" sz="1400" dirty="0">
              <a:latin typeface="Times New Roman" panose="02020603050405020304" pitchFamily="18" charset="0"/>
            </a:endParaRPr>
          </a:p>
        </p:txBody>
      </p:sp>
      <p:sp>
        <p:nvSpPr>
          <p:cNvPr id="7196" name="Line 29"/>
          <p:cNvSpPr>
            <a:spLocks noChangeShapeType="1"/>
          </p:cNvSpPr>
          <p:nvPr/>
        </p:nvSpPr>
        <p:spPr bwMode="auto">
          <a:xfrm flipH="1">
            <a:off x="7257257" y="5349572"/>
            <a:ext cx="31273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197" name="Line 30"/>
          <p:cNvSpPr>
            <a:spLocks noChangeShapeType="1"/>
          </p:cNvSpPr>
          <p:nvPr/>
        </p:nvSpPr>
        <p:spPr bwMode="auto">
          <a:xfrm flipH="1">
            <a:off x="3328194" y="5338459"/>
            <a:ext cx="2968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198" name="Line 31"/>
          <p:cNvSpPr>
            <a:spLocks noChangeShapeType="1"/>
          </p:cNvSpPr>
          <p:nvPr/>
        </p:nvSpPr>
        <p:spPr bwMode="auto">
          <a:xfrm>
            <a:off x="3304382" y="1752296"/>
            <a:ext cx="37941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199" name="Line 32"/>
          <p:cNvSpPr>
            <a:spLocks noChangeShapeType="1"/>
          </p:cNvSpPr>
          <p:nvPr/>
        </p:nvSpPr>
        <p:spPr bwMode="auto">
          <a:xfrm>
            <a:off x="4521994" y="1752296"/>
            <a:ext cx="2476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200" name="Line 33"/>
          <p:cNvSpPr>
            <a:spLocks noChangeShapeType="1"/>
          </p:cNvSpPr>
          <p:nvPr/>
        </p:nvSpPr>
        <p:spPr bwMode="auto">
          <a:xfrm>
            <a:off x="5893594" y="1752296"/>
            <a:ext cx="4333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201" name="Line 34"/>
          <p:cNvSpPr>
            <a:spLocks noChangeShapeType="1"/>
          </p:cNvSpPr>
          <p:nvPr/>
        </p:nvSpPr>
        <p:spPr bwMode="auto">
          <a:xfrm>
            <a:off x="7257257" y="1752296"/>
            <a:ext cx="31273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202" name="Line 35"/>
          <p:cNvSpPr>
            <a:spLocks noChangeShapeType="1"/>
          </p:cNvSpPr>
          <p:nvPr/>
        </p:nvSpPr>
        <p:spPr bwMode="auto">
          <a:xfrm flipH="1">
            <a:off x="4463257" y="5349572"/>
            <a:ext cx="37623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203" name="Line 36"/>
          <p:cNvSpPr>
            <a:spLocks noChangeShapeType="1"/>
          </p:cNvSpPr>
          <p:nvPr/>
        </p:nvSpPr>
        <p:spPr bwMode="auto">
          <a:xfrm flipH="1">
            <a:off x="5893594" y="5349572"/>
            <a:ext cx="4333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7" name="Slide Number Placeholder 3"/>
          <p:cNvSpPr>
            <a:spLocks noGrp="1"/>
          </p:cNvSpPr>
          <p:nvPr>
            <p:ph type="sldNum" sz="quarter" idx="4"/>
          </p:nvPr>
        </p:nvSpPr>
        <p:spPr>
          <a:xfrm>
            <a:off x="4724400" y="6356349"/>
            <a:ext cx="2743200" cy="365125"/>
          </a:xfrm>
        </p:spPr>
        <p:txBody>
          <a:bodyPr/>
          <a:lstStyle/>
          <a:p>
            <a:r>
              <a:rPr lang="en-US" dirty="0"/>
              <a:t>Page </a:t>
            </a:r>
            <a:fld id="{3AE61142-E722-463F-A30E-82CE7BA425BB}" type="slidenum">
              <a:rPr lang="en-US" smtClean="0"/>
              <a:pPr/>
              <a:t>24</a:t>
            </a:fld>
            <a:r>
              <a:rPr lang="en-US" dirty="0"/>
              <a:t> of 23</a:t>
            </a:r>
          </a:p>
        </p:txBody>
      </p:sp>
      <p:sp>
        <p:nvSpPr>
          <p:cNvPr id="38" name="Rectangle 2"/>
          <p:cNvSpPr txBox="1">
            <a:spLocks noChangeArrowheads="1"/>
          </p:cNvSpPr>
          <p:nvPr/>
        </p:nvSpPr>
        <p:spPr>
          <a:xfrm>
            <a:off x="913719" y="132733"/>
            <a:ext cx="9650415" cy="9906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GB" sz="3600" b="1" dirty="0">
                <a:solidFill>
                  <a:srgbClr val="C00000"/>
                </a:solidFill>
                <a:latin typeface="+mn-lt"/>
              </a:rPr>
              <a:t>Digital Transceiver Building Block</a:t>
            </a:r>
            <a:endParaRPr lang="en-US" sz="3600" b="1" dirty="0">
              <a:solidFill>
                <a:srgbClr val="C00000"/>
              </a:solidFill>
              <a:latin typeface="+mn-lt"/>
            </a:endParaRPr>
          </a:p>
        </p:txBody>
      </p:sp>
      <p:sp>
        <p:nvSpPr>
          <p:cNvPr id="3" name="Cloud 2"/>
          <p:cNvSpPr/>
          <p:nvPr/>
        </p:nvSpPr>
        <p:spPr>
          <a:xfrm>
            <a:off x="8740777" y="3052250"/>
            <a:ext cx="1613822" cy="1150374"/>
          </a:xfrm>
          <a:prstGeom prst="clou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ouble Brace 7"/>
          <p:cNvSpPr/>
          <p:nvPr/>
        </p:nvSpPr>
        <p:spPr>
          <a:xfrm>
            <a:off x="1640681" y="4963319"/>
            <a:ext cx="8196493" cy="1033462"/>
          </a:xfrm>
          <a:prstGeom prst="brace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4" name="Double Brace 43"/>
          <p:cNvSpPr/>
          <p:nvPr/>
        </p:nvSpPr>
        <p:spPr>
          <a:xfrm>
            <a:off x="1569757" y="1326640"/>
            <a:ext cx="8196493" cy="1033462"/>
          </a:xfrm>
          <a:prstGeom prst="brace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9" name="TextBox 8"/>
          <p:cNvSpPr txBox="1"/>
          <p:nvPr/>
        </p:nvSpPr>
        <p:spPr>
          <a:xfrm>
            <a:off x="9869118" y="1658705"/>
            <a:ext cx="1261114" cy="369332"/>
          </a:xfrm>
          <a:prstGeom prst="rect">
            <a:avLst/>
          </a:prstGeom>
          <a:noFill/>
        </p:spPr>
        <p:txBody>
          <a:bodyPr wrap="none" rtlCol="0">
            <a:spAutoFit/>
          </a:bodyPr>
          <a:lstStyle/>
          <a:p>
            <a:r>
              <a:rPr lang="en-US" dirty="0"/>
              <a:t>Transmitter</a:t>
            </a:r>
          </a:p>
        </p:txBody>
      </p:sp>
      <p:sp>
        <p:nvSpPr>
          <p:cNvPr id="46" name="TextBox 45"/>
          <p:cNvSpPr txBox="1"/>
          <p:nvPr/>
        </p:nvSpPr>
        <p:spPr>
          <a:xfrm>
            <a:off x="9926319" y="5295384"/>
            <a:ext cx="984693" cy="369332"/>
          </a:xfrm>
          <a:prstGeom prst="rect">
            <a:avLst/>
          </a:prstGeom>
          <a:noFill/>
        </p:spPr>
        <p:txBody>
          <a:bodyPr wrap="none" rtlCol="0">
            <a:spAutoFit/>
          </a:bodyPr>
          <a:lstStyle/>
          <a:p>
            <a:r>
              <a:rPr lang="en-US" dirty="0"/>
              <a:t>Receiver</a:t>
            </a:r>
          </a:p>
        </p:txBody>
      </p:sp>
      <p:sp>
        <p:nvSpPr>
          <p:cNvPr id="47" name="TextBox 46"/>
          <p:cNvSpPr txBox="1"/>
          <p:nvPr/>
        </p:nvSpPr>
        <p:spPr>
          <a:xfrm>
            <a:off x="10366721" y="3292378"/>
            <a:ext cx="1320683" cy="646331"/>
          </a:xfrm>
          <a:prstGeom prst="rect">
            <a:avLst/>
          </a:prstGeom>
          <a:noFill/>
        </p:spPr>
        <p:txBody>
          <a:bodyPr wrap="none" rtlCol="0">
            <a:spAutoFit/>
          </a:bodyPr>
          <a:lstStyle/>
          <a:p>
            <a:r>
              <a:rPr lang="en-US" dirty="0"/>
              <a:t>Propagation</a:t>
            </a:r>
          </a:p>
          <a:p>
            <a:r>
              <a:rPr lang="en-US" dirty="0"/>
              <a:t>Media</a:t>
            </a:r>
          </a:p>
        </p:txBody>
      </p:sp>
      <p:pic>
        <p:nvPicPr>
          <p:cNvPr id="2" name="Pg21">
            <a:hlinkClick r:id="" action="ppaction://media"/>
            <a:extLst>
              <a:ext uri="{FF2B5EF4-FFF2-40B4-BE49-F238E27FC236}">
                <a16:creationId xmlns:a16="http://schemas.microsoft.com/office/drawing/2014/main" id="{2C83DFDD-9FE0-4D26-A78D-2FB5170E3A4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0194875" y="5746749"/>
            <a:ext cx="609600" cy="609600"/>
          </a:xfrm>
          <a:prstGeom prst="rect">
            <a:avLst/>
          </a:prstGeom>
        </p:spPr>
      </p:pic>
      <p:sp>
        <p:nvSpPr>
          <p:cNvPr id="4" name="Rectangle 3">
            <a:extLst>
              <a:ext uri="{FF2B5EF4-FFF2-40B4-BE49-F238E27FC236}">
                <a16:creationId xmlns:a16="http://schemas.microsoft.com/office/drawing/2014/main" id="{6B8E839A-B159-C549-DE7C-3F94E5240A6D}"/>
              </a:ext>
            </a:extLst>
          </p:cNvPr>
          <p:cNvSpPr/>
          <p:nvPr/>
        </p:nvSpPr>
        <p:spPr>
          <a:xfrm>
            <a:off x="0" y="0"/>
            <a:ext cx="1026160" cy="2438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568058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4215" fill="hold"/>
                                        <p:tgtEl>
                                          <p:spTgt spid="2"/>
                                        </p:tgtEl>
                                      </p:cBhvr>
                                    </p:cmd>
                                  </p:childTnLst>
                                </p:cTn>
                              </p:par>
                              <p:par>
                                <p:cTn id="7" presetID="26" presetClass="emph" presetSubtype="0" repeatCount="indefinite" fill="hold" grpId="0" nodeType="withEffect">
                                  <p:stCondLst>
                                    <p:cond delay="0"/>
                                  </p:stCondLst>
                                  <p:childTnLst>
                                    <p:animEffect transition="out" filter="fade">
                                      <p:cBhvr>
                                        <p:cTn id="8" dur="3000" tmFilter="0, 0; .2, .5; .8, .5; 1, 0"/>
                                        <p:tgtEl>
                                          <p:spTgt spid="7193"/>
                                        </p:tgtEl>
                                      </p:cBhvr>
                                    </p:animEffect>
                                    <p:animScale>
                                      <p:cBhvr>
                                        <p:cTn id="9" dur="1500" autoRev="1" fill="hold"/>
                                        <p:tgtEl>
                                          <p:spTgt spid="7193"/>
                                        </p:tgtEl>
                                      </p:cBhvr>
                                      <p:by x="105000" y="105000"/>
                                    </p:animScale>
                                  </p:childTnLst>
                                </p:cTn>
                              </p:par>
                              <p:par>
                                <p:cTn id="10" presetID="26" presetClass="emph" presetSubtype="0" repeatCount="indefinite" fill="hold" grpId="0" nodeType="withEffect">
                                  <p:stCondLst>
                                    <p:cond delay="0"/>
                                  </p:stCondLst>
                                  <p:childTnLst>
                                    <p:animEffect transition="out" filter="fade">
                                      <p:cBhvr>
                                        <p:cTn id="11" dur="3000" tmFilter="0, 0; .2, .5; .8, .5; 1, 0"/>
                                        <p:tgtEl>
                                          <p:spTgt spid="7195"/>
                                        </p:tgtEl>
                                      </p:cBhvr>
                                    </p:animEffect>
                                    <p:animScale>
                                      <p:cBhvr>
                                        <p:cTn id="12" dur="1500" autoRev="1" fill="hold"/>
                                        <p:tgtEl>
                                          <p:spTgt spid="719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13" fill="hold" display="0">
                  <p:stCondLst>
                    <p:cond delay="indefinite"/>
                  </p:stCondLst>
                  <p:endCondLst>
                    <p:cond evt="onStopAudio" delay="0">
                      <p:tgtEl>
                        <p:sldTgt/>
                      </p:tgtEl>
                    </p:cond>
                  </p:endCondLst>
                </p:cTn>
                <p:tgtEl>
                  <p:spTgt spid="2"/>
                </p:tgtEl>
              </p:cMediaNode>
            </p:audio>
          </p:childTnLst>
        </p:cTn>
      </p:par>
    </p:tnLst>
    <p:bldLst>
      <p:bldP spid="7193" grpId="0" animBg="1"/>
      <p:bldP spid="719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475480" y="0"/>
            <a:ext cx="10176879" cy="1318207"/>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GB" sz="3600" b="1" dirty="0">
                <a:solidFill>
                  <a:srgbClr val="C00000"/>
                </a:solidFill>
                <a:latin typeface="+mn-lt"/>
              </a:rPr>
              <a:t>Digital Transceiver Building Block </a:t>
            </a:r>
          </a:p>
          <a:p>
            <a:r>
              <a:rPr lang="en-GB" sz="2400" b="1" dirty="0">
                <a:solidFill>
                  <a:srgbClr val="C00000"/>
                </a:solidFill>
                <a:latin typeface="+mn-lt"/>
              </a:rPr>
              <a:t>Encryption &amp; Decryption</a:t>
            </a:r>
            <a:endParaRPr lang="en-US" sz="2400" b="1" dirty="0">
              <a:solidFill>
                <a:srgbClr val="C00000"/>
              </a:solidFill>
              <a:latin typeface="+mn-lt"/>
            </a:endParaRPr>
          </a:p>
        </p:txBody>
      </p:sp>
      <p:pic>
        <p:nvPicPr>
          <p:cNvPr id="4" name="Picture 3"/>
          <p:cNvPicPr>
            <a:picLocks noChangeAspect="1"/>
          </p:cNvPicPr>
          <p:nvPr/>
        </p:nvPicPr>
        <p:blipFill>
          <a:blip r:embed="rId5"/>
          <a:stretch>
            <a:fillRect/>
          </a:stretch>
        </p:blipFill>
        <p:spPr>
          <a:xfrm>
            <a:off x="1742029" y="1519685"/>
            <a:ext cx="8428970" cy="2346362"/>
          </a:xfrm>
          <a:prstGeom prst="rect">
            <a:avLst/>
          </a:prstGeom>
        </p:spPr>
      </p:pic>
      <p:sp>
        <p:nvSpPr>
          <p:cNvPr id="6" name="Rectangle 5"/>
          <p:cNvSpPr/>
          <p:nvPr/>
        </p:nvSpPr>
        <p:spPr>
          <a:xfrm>
            <a:off x="765389" y="4435626"/>
            <a:ext cx="10382251" cy="1569660"/>
          </a:xfrm>
          <a:prstGeom prst="rect">
            <a:avLst/>
          </a:prstGeom>
        </p:spPr>
        <p:txBody>
          <a:bodyPr wrap="square">
            <a:spAutoFit/>
          </a:bodyPr>
          <a:lstStyle/>
          <a:p>
            <a:pPr algn="just"/>
            <a:r>
              <a:rPr lang="en-SG" sz="2400" b="1" dirty="0">
                <a:solidFill>
                  <a:srgbClr val="000000"/>
                </a:solidFill>
              </a:rPr>
              <a:t>Encryption</a:t>
            </a:r>
            <a:r>
              <a:rPr lang="en-SG" sz="2400" dirty="0">
                <a:solidFill>
                  <a:srgbClr val="000000"/>
                </a:solidFill>
              </a:rPr>
              <a:t> is the process of translating plain text data (plaintext) into something that appears to be random and meaningless (</a:t>
            </a:r>
            <a:r>
              <a:rPr lang="en-SG" sz="2400" dirty="0" err="1">
                <a:solidFill>
                  <a:srgbClr val="000000"/>
                </a:solidFill>
              </a:rPr>
              <a:t>ciphertext</a:t>
            </a:r>
            <a:r>
              <a:rPr lang="en-SG" sz="2400" dirty="0">
                <a:solidFill>
                  <a:srgbClr val="000000"/>
                </a:solidFill>
              </a:rPr>
              <a:t>). </a:t>
            </a:r>
          </a:p>
          <a:p>
            <a:pPr algn="just"/>
            <a:r>
              <a:rPr lang="en-SG" sz="2400" b="1" dirty="0">
                <a:solidFill>
                  <a:srgbClr val="000000"/>
                </a:solidFill>
              </a:rPr>
              <a:t>Decryption</a:t>
            </a:r>
            <a:r>
              <a:rPr lang="en-SG" sz="2400" dirty="0">
                <a:solidFill>
                  <a:srgbClr val="000000"/>
                </a:solidFill>
              </a:rPr>
              <a:t> is the process of converting </a:t>
            </a:r>
            <a:r>
              <a:rPr lang="en-SG" sz="2400" dirty="0" err="1">
                <a:solidFill>
                  <a:srgbClr val="000000"/>
                </a:solidFill>
              </a:rPr>
              <a:t>ciphertext</a:t>
            </a:r>
            <a:r>
              <a:rPr lang="en-SG" sz="2400" dirty="0">
                <a:solidFill>
                  <a:srgbClr val="000000"/>
                </a:solidFill>
              </a:rPr>
              <a:t> back to plaintext. To </a:t>
            </a:r>
            <a:r>
              <a:rPr lang="en-SG" sz="2400" b="1" dirty="0">
                <a:solidFill>
                  <a:srgbClr val="000000"/>
                </a:solidFill>
              </a:rPr>
              <a:t>encrypt</a:t>
            </a:r>
            <a:r>
              <a:rPr lang="en-SG" sz="2400" dirty="0">
                <a:solidFill>
                  <a:srgbClr val="000000"/>
                </a:solidFill>
              </a:rPr>
              <a:t> more than a small amount of data, symmetric </a:t>
            </a:r>
            <a:r>
              <a:rPr lang="en-SG" sz="2400" b="1" dirty="0">
                <a:solidFill>
                  <a:srgbClr val="000000"/>
                </a:solidFill>
              </a:rPr>
              <a:t>encryption</a:t>
            </a:r>
            <a:r>
              <a:rPr lang="en-SG" sz="2400" dirty="0">
                <a:solidFill>
                  <a:srgbClr val="000000"/>
                </a:solidFill>
              </a:rPr>
              <a:t> is used.</a:t>
            </a:r>
            <a:endParaRPr lang="en-US" sz="2400" dirty="0"/>
          </a:p>
        </p:txBody>
      </p:sp>
      <p:sp>
        <p:nvSpPr>
          <p:cNvPr id="3" name="Slide Number Placeholder 2"/>
          <p:cNvSpPr>
            <a:spLocks noGrp="1"/>
          </p:cNvSpPr>
          <p:nvPr>
            <p:ph type="sldNum" sz="quarter" idx="4"/>
          </p:nvPr>
        </p:nvSpPr>
        <p:spPr>
          <a:xfrm>
            <a:off x="4724400" y="6356349"/>
            <a:ext cx="2743200" cy="365125"/>
          </a:xfrm>
        </p:spPr>
        <p:txBody>
          <a:bodyPr/>
          <a:lstStyle/>
          <a:p>
            <a:r>
              <a:rPr lang="en-US" dirty="0"/>
              <a:t>Page </a:t>
            </a:r>
            <a:fld id="{A862897D-0F50-4425-B5E1-82FAA232DFBF}" type="slidenum">
              <a:rPr lang="en-US" smtClean="0"/>
              <a:pPr/>
              <a:t>25</a:t>
            </a:fld>
            <a:r>
              <a:rPr lang="en-US" dirty="0"/>
              <a:t> of 23</a:t>
            </a:r>
          </a:p>
        </p:txBody>
      </p:sp>
      <p:pic>
        <p:nvPicPr>
          <p:cNvPr id="8" name="Pg22">
            <a:hlinkClick r:id="" action="ppaction://media"/>
            <a:extLst>
              <a:ext uri="{FF2B5EF4-FFF2-40B4-BE49-F238E27FC236}">
                <a16:creationId xmlns:a16="http://schemas.microsoft.com/office/drawing/2014/main" id="{FC95F422-17ED-4AEA-9757-C77ACEF45CD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170999" y="5828115"/>
            <a:ext cx="609600" cy="609600"/>
          </a:xfrm>
          <a:prstGeom prst="rect">
            <a:avLst/>
          </a:prstGeom>
        </p:spPr>
      </p:pic>
      <p:sp>
        <p:nvSpPr>
          <p:cNvPr id="2" name="Rectangle 1">
            <a:extLst>
              <a:ext uri="{FF2B5EF4-FFF2-40B4-BE49-F238E27FC236}">
                <a16:creationId xmlns:a16="http://schemas.microsoft.com/office/drawing/2014/main" id="{46FF6D3E-B51A-CA38-F43E-26F70FF6D585}"/>
              </a:ext>
            </a:extLst>
          </p:cNvPr>
          <p:cNvSpPr/>
          <p:nvPr/>
        </p:nvSpPr>
        <p:spPr>
          <a:xfrm>
            <a:off x="0" y="0"/>
            <a:ext cx="1026160" cy="2438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671257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049"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8"/>
                </p:tgtEl>
              </p:cMediaNode>
            </p:audi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type="body" idx="1"/>
          </p:nvPr>
        </p:nvSpPr>
        <p:spPr>
          <a:xfrm>
            <a:off x="-222229" y="1658775"/>
            <a:ext cx="12109429" cy="4573587"/>
          </a:xfrm>
        </p:spPr>
        <p:txBody>
          <a:bodyPr>
            <a:noAutofit/>
          </a:bodyPr>
          <a:lstStyle/>
          <a:p>
            <a:pPr marL="457200" lvl="1" indent="0" algn="just">
              <a:buNone/>
            </a:pPr>
            <a:r>
              <a:rPr lang="en-US" altLang="en-US" dirty="0"/>
              <a:t>1. </a:t>
            </a:r>
            <a:r>
              <a:rPr lang="en-US" altLang="en-US" b="1" dirty="0">
                <a:solidFill>
                  <a:srgbClr val="FF0000"/>
                </a:solidFill>
              </a:rPr>
              <a:t>Random errors </a:t>
            </a:r>
            <a:r>
              <a:rPr lang="en-US" altLang="en-US" dirty="0"/>
              <a:t>: occur randomly in the received sequence.</a:t>
            </a:r>
            <a:r>
              <a:rPr lang="en-US" altLang="en-US" b="1" dirty="0"/>
              <a:t> </a:t>
            </a:r>
          </a:p>
          <a:p>
            <a:pPr lvl="2" algn="just" eaLnBrk="1" hangingPunct="1"/>
            <a:r>
              <a:rPr lang="en-US" altLang="en-US" sz="2400" dirty="0"/>
              <a:t>mainly due to thermal noise, also called </a:t>
            </a:r>
            <a:r>
              <a:rPr lang="en-US" altLang="en-US" sz="2400" b="1" dirty="0">
                <a:solidFill>
                  <a:srgbClr val="FF0000"/>
                </a:solidFill>
              </a:rPr>
              <a:t>Gaussian noise.</a:t>
            </a:r>
          </a:p>
          <a:p>
            <a:pPr lvl="2" algn="just"/>
            <a:r>
              <a:rPr lang="en-US" sz="2400" dirty="0"/>
              <a:t>codes designed to correct random errors are called random-error-correcting codes, e.g. Block Codes &amp; Convolutional Codes</a:t>
            </a:r>
            <a:endParaRPr lang="en-US" sz="2400" dirty="0">
              <a:solidFill>
                <a:srgbClr val="FF0000"/>
              </a:solidFill>
            </a:endParaRPr>
          </a:p>
          <a:p>
            <a:pPr lvl="2" algn="just"/>
            <a:endParaRPr lang="en-US" altLang="en-US" sz="1000" dirty="0"/>
          </a:p>
          <a:p>
            <a:pPr marL="457200" lvl="1" indent="0" algn="just">
              <a:lnSpc>
                <a:spcPct val="100000"/>
              </a:lnSpc>
              <a:spcBef>
                <a:spcPts val="0"/>
              </a:spcBef>
              <a:buNone/>
            </a:pPr>
            <a:r>
              <a:rPr lang="en-US" altLang="en-US" dirty="0"/>
              <a:t>2.</a:t>
            </a:r>
            <a:r>
              <a:rPr lang="en-US" altLang="en-US" b="1" dirty="0">
                <a:solidFill>
                  <a:srgbClr val="FF0000"/>
                </a:solidFill>
              </a:rPr>
              <a:t> Burst errors </a:t>
            </a:r>
            <a:r>
              <a:rPr lang="en-US" altLang="en-US" dirty="0"/>
              <a:t>: occurs in clusters of message in the received sequence.</a:t>
            </a:r>
            <a:r>
              <a:rPr lang="en-US" altLang="en-US" b="1" dirty="0"/>
              <a:t> </a:t>
            </a:r>
            <a:endParaRPr lang="en-US" altLang="en-US" dirty="0"/>
          </a:p>
          <a:p>
            <a:pPr lvl="2" algn="just">
              <a:lnSpc>
                <a:spcPct val="100000"/>
              </a:lnSpc>
              <a:spcBef>
                <a:spcPts val="0"/>
              </a:spcBef>
            </a:pPr>
            <a:r>
              <a:rPr lang="en-US" altLang="en-US" sz="2400" dirty="0"/>
              <a:t>mainly caused by </a:t>
            </a:r>
            <a:r>
              <a:rPr lang="en-GB" sz="2400" b="1" dirty="0">
                <a:solidFill>
                  <a:srgbClr val="FF0000"/>
                </a:solidFill>
              </a:rPr>
              <a:t>multipath fading</a:t>
            </a:r>
            <a:r>
              <a:rPr lang="en-GB" sz="2400" dirty="0"/>
              <a:t>.</a:t>
            </a:r>
            <a:r>
              <a:rPr lang="en-US" altLang="en-US" sz="2400" b="1" dirty="0">
                <a:solidFill>
                  <a:srgbClr val="FF0000"/>
                </a:solidFill>
              </a:rPr>
              <a:t>  </a:t>
            </a:r>
          </a:p>
          <a:p>
            <a:pPr lvl="2" algn="just">
              <a:lnSpc>
                <a:spcPct val="100000"/>
              </a:lnSpc>
              <a:spcBef>
                <a:spcPts val="0"/>
              </a:spcBef>
            </a:pPr>
            <a:r>
              <a:rPr lang="en-US" sz="2400" dirty="0"/>
              <a:t>burst errors can be corrected using a combination of random-error correcting codes &amp; time interleaving</a:t>
            </a:r>
            <a:endParaRPr lang="en-US" sz="2400" dirty="0">
              <a:solidFill>
                <a:srgbClr val="FF0000"/>
              </a:solidFill>
            </a:endParaRPr>
          </a:p>
          <a:p>
            <a:pPr lvl="2" algn="just">
              <a:lnSpc>
                <a:spcPct val="100000"/>
              </a:lnSpc>
              <a:spcBef>
                <a:spcPts val="0"/>
              </a:spcBef>
            </a:pPr>
            <a:endParaRPr lang="en-US" altLang="en-US" sz="1000" dirty="0">
              <a:solidFill>
                <a:srgbClr val="FF0000"/>
              </a:solidFill>
            </a:endParaRPr>
          </a:p>
          <a:p>
            <a:pPr marL="457200" lvl="1" indent="0" algn="just">
              <a:lnSpc>
                <a:spcPct val="100000"/>
              </a:lnSpc>
              <a:spcBef>
                <a:spcPts val="0"/>
              </a:spcBef>
              <a:buNone/>
            </a:pPr>
            <a:r>
              <a:rPr lang="en-US" altLang="en-US" dirty="0"/>
              <a:t>3. </a:t>
            </a:r>
            <a:r>
              <a:rPr lang="en-US" altLang="en-US" b="1" dirty="0">
                <a:solidFill>
                  <a:srgbClr val="FF0000"/>
                </a:solidFill>
              </a:rPr>
              <a:t>Diffuse Errors </a:t>
            </a:r>
            <a:r>
              <a:rPr lang="en-US" altLang="en-US" dirty="0"/>
              <a:t>: combination of burst &amp; random errors</a:t>
            </a:r>
          </a:p>
          <a:p>
            <a:pPr lvl="2" algn="just">
              <a:lnSpc>
                <a:spcPct val="100000"/>
              </a:lnSpc>
              <a:spcBef>
                <a:spcPts val="0"/>
              </a:spcBef>
            </a:pPr>
            <a:r>
              <a:rPr lang="en-US" altLang="en-US" sz="2400" dirty="0"/>
              <a:t>Can be corrected using concatenated codes, example: </a:t>
            </a:r>
            <a:r>
              <a:rPr lang="en-US" altLang="en-US" sz="2400" dirty="0">
                <a:solidFill>
                  <a:srgbClr val="FF0000"/>
                </a:solidFill>
              </a:rPr>
              <a:t>random-error-correcting codes + Reed-Solomon Codes.</a:t>
            </a:r>
          </a:p>
          <a:p>
            <a:pPr lvl="2" algn="just" eaLnBrk="1" hangingPunct="1"/>
            <a:endParaRPr lang="en-US" altLang="en-US" sz="2400" dirty="0"/>
          </a:p>
        </p:txBody>
      </p:sp>
      <p:sp>
        <p:nvSpPr>
          <p:cNvPr id="3" name="Slide Number Placeholder 2"/>
          <p:cNvSpPr>
            <a:spLocks noGrp="1"/>
          </p:cNvSpPr>
          <p:nvPr>
            <p:ph type="sldNum" sz="quarter" idx="4"/>
          </p:nvPr>
        </p:nvSpPr>
        <p:spPr>
          <a:xfrm>
            <a:off x="4724400" y="6356349"/>
            <a:ext cx="2743200" cy="365125"/>
          </a:xfrm>
        </p:spPr>
        <p:txBody>
          <a:bodyPr/>
          <a:lstStyle/>
          <a:p>
            <a:r>
              <a:rPr lang="en-US" dirty="0"/>
              <a:t>Page </a:t>
            </a:r>
            <a:fld id="{A862897D-0F50-4425-B5E1-82FAA232DFBF}" type="slidenum">
              <a:rPr lang="en-US" smtClean="0"/>
              <a:pPr/>
              <a:t>26</a:t>
            </a:fld>
            <a:r>
              <a:rPr lang="en-US" dirty="0"/>
              <a:t> of 23</a:t>
            </a:r>
          </a:p>
        </p:txBody>
      </p:sp>
      <p:sp>
        <p:nvSpPr>
          <p:cNvPr id="7" name="Rectangle 2"/>
          <p:cNvSpPr txBox="1">
            <a:spLocks noChangeArrowheads="1"/>
          </p:cNvSpPr>
          <p:nvPr/>
        </p:nvSpPr>
        <p:spPr>
          <a:xfrm>
            <a:off x="303660" y="268340"/>
            <a:ext cx="9650415" cy="9906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GB" sz="3600" b="1" dirty="0">
                <a:solidFill>
                  <a:srgbClr val="C00000"/>
                </a:solidFill>
                <a:latin typeface="+mn-lt"/>
              </a:rPr>
              <a:t>Digital Transceiver Building Block – Channel Coding</a:t>
            </a:r>
          </a:p>
          <a:p>
            <a:r>
              <a:rPr lang="en-GB" sz="3600" b="1" dirty="0">
                <a:solidFill>
                  <a:srgbClr val="C00000"/>
                </a:solidFill>
                <a:latin typeface="+mn-lt"/>
              </a:rPr>
              <a:t>Types of errors</a:t>
            </a:r>
            <a:endParaRPr lang="en-US" sz="3600" b="1" dirty="0">
              <a:solidFill>
                <a:srgbClr val="C00000"/>
              </a:solidFill>
              <a:latin typeface="+mn-lt"/>
            </a:endParaRPr>
          </a:p>
        </p:txBody>
      </p:sp>
      <p:pic>
        <p:nvPicPr>
          <p:cNvPr id="2" name="Pg23">
            <a:hlinkClick r:id="" action="ppaction://media"/>
            <a:extLst>
              <a:ext uri="{FF2B5EF4-FFF2-40B4-BE49-F238E27FC236}">
                <a16:creationId xmlns:a16="http://schemas.microsoft.com/office/drawing/2014/main" id="{7D108A14-5D32-4012-A468-C6297778DFC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0208217" y="5746749"/>
            <a:ext cx="609600" cy="609600"/>
          </a:xfrm>
          <a:prstGeom prst="rect">
            <a:avLst/>
          </a:prstGeom>
        </p:spPr>
      </p:pic>
      <p:sp>
        <p:nvSpPr>
          <p:cNvPr id="4" name="Rectangle 3">
            <a:extLst>
              <a:ext uri="{FF2B5EF4-FFF2-40B4-BE49-F238E27FC236}">
                <a16:creationId xmlns:a16="http://schemas.microsoft.com/office/drawing/2014/main" id="{A1145250-6269-04D8-61ED-19A95E689BC2}"/>
              </a:ext>
            </a:extLst>
          </p:cNvPr>
          <p:cNvSpPr/>
          <p:nvPr/>
        </p:nvSpPr>
        <p:spPr>
          <a:xfrm>
            <a:off x="0" y="0"/>
            <a:ext cx="1026160" cy="2438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675143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5577"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883268" y="891425"/>
            <a:ext cx="9650415" cy="9906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endParaRPr lang="en-US" sz="3600" b="1" dirty="0">
              <a:solidFill>
                <a:srgbClr val="C00000"/>
              </a:solidFill>
            </a:endParaRPr>
          </a:p>
        </p:txBody>
      </p:sp>
      <p:sp>
        <p:nvSpPr>
          <p:cNvPr id="7" name="Rectangle 6">
            <a:extLst>
              <a:ext uri="{FF2B5EF4-FFF2-40B4-BE49-F238E27FC236}">
                <a16:creationId xmlns:a16="http://schemas.microsoft.com/office/drawing/2014/main" id="{21D88621-BFD5-4167-A859-84DBDA46622A}"/>
              </a:ext>
            </a:extLst>
          </p:cNvPr>
          <p:cNvSpPr/>
          <p:nvPr/>
        </p:nvSpPr>
        <p:spPr>
          <a:xfrm>
            <a:off x="4183201" y="1454940"/>
            <a:ext cx="3825598" cy="2123658"/>
          </a:xfrm>
          <a:prstGeom prst="rect">
            <a:avLst/>
          </a:prstGeom>
          <a:noFill/>
        </p:spPr>
        <p:txBody>
          <a:bodyPr wrap="none" lIns="91440" tIns="45720" rIns="91440" bIns="45720">
            <a:spAutoFit/>
          </a:bodyPr>
          <a:lstStyle/>
          <a:p>
            <a:pPr algn="ctr"/>
            <a:r>
              <a:rPr lang="en-SG" sz="6600" b="1" dirty="0">
                <a:ln w="22225">
                  <a:solidFill>
                    <a:schemeClr val="accent2"/>
                  </a:solidFill>
                  <a:prstDash val="solid"/>
                </a:ln>
                <a:solidFill>
                  <a:schemeClr val="accent2">
                    <a:lumMod val="40000"/>
                    <a:lumOff val="60000"/>
                  </a:schemeClr>
                </a:solidFill>
                <a:cs typeface="Calibri" panose="020F0502020204030204" pitchFamily="34" charset="0"/>
              </a:rPr>
              <a:t>Thank you</a:t>
            </a:r>
          </a:p>
          <a:p>
            <a:pPr algn="ctr"/>
            <a:endParaRPr lang="en-SG" sz="6600" b="1" dirty="0">
              <a:ln w="22225">
                <a:solidFill>
                  <a:schemeClr val="accent2"/>
                </a:solidFill>
                <a:prstDash val="solid"/>
              </a:ln>
              <a:solidFill>
                <a:schemeClr val="accent2">
                  <a:lumMod val="40000"/>
                  <a:lumOff val="60000"/>
                </a:schemeClr>
              </a:solidFill>
              <a:cs typeface="Calibri" panose="020F0502020204030204" pitchFamily="34" charset="0"/>
            </a:endParaRPr>
          </a:p>
        </p:txBody>
      </p:sp>
      <p:pic>
        <p:nvPicPr>
          <p:cNvPr id="2" name="Pg37">
            <a:hlinkClick r:id="" action="ppaction://media"/>
            <a:extLst>
              <a:ext uri="{FF2B5EF4-FFF2-40B4-BE49-F238E27FC236}">
                <a16:creationId xmlns:a16="http://schemas.microsoft.com/office/drawing/2014/main" id="{E2AE13B3-2B90-425A-A467-E5115A8D3BDA}"/>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9924083" y="5403060"/>
            <a:ext cx="609600" cy="609600"/>
          </a:xfrm>
          <a:prstGeom prst="rect">
            <a:avLst/>
          </a:prstGeom>
        </p:spPr>
      </p:pic>
      <p:sp>
        <p:nvSpPr>
          <p:cNvPr id="3" name="Rectangle 2">
            <a:extLst>
              <a:ext uri="{FF2B5EF4-FFF2-40B4-BE49-F238E27FC236}">
                <a16:creationId xmlns:a16="http://schemas.microsoft.com/office/drawing/2014/main" id="{3C283207-8931-EBB4-46DA-7958BF0E6011}"/>
              </a:ext>
            </a:extLst>
          </p:cNvPr>
          <p:cNvSpPr/>
          <p:nvPr/>
        </p:nvSpPr>
        <p:spPr>
          <a:xfrm>
            <a:off x="0" y="0"/>
            <a:ext cx="882032" cy="2023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030549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53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33129</TotalTime>
  <Words>2208</Words>
  <Application>Microsoft Office PowerPoint</Application>
  <PresentationFormat>Widescreen</PresentationFormat>
  <Paragraphs>420</Paragraphs>
  <Slides>27</Slides>
  <Notes>5</Notes>
  <HiddenSlides>0</HiddenSlides>
  <MMClips>30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Monotype Sorts</vt:lpstr>
      <vt:lpstr>Arial</vt:lpstr>
      <vt:lpstr>Arial Black</vt:lpstr>
      <vt:lpstr>Calibri</vt:lpstr>
      <vt:lpstr>Calibri Light</vt:lpstr>
      <vt:lpstr>Roboto</vt:lpstr>
      <vt:lpstr>Times New Roman</vt:lpstr>
      <vt:lpstr>Wingdings</vt:lpstr>
      <vt:lpstr>Office Theme</vt:lpstr>
      <vt:lpstr>Module EGE321 Wireless Communication &amp; Networking Chapter 2 Wireless Communications System</vt:lpstr>
      <vt:lpstr>Contents </vt:lpstr>
      <vt:lpstr>PowerPoint Presentation</vt:lpstr>
      <vt:lpstr>PowerPoint Presentation</vt:lpstr>
      <vt:lpstr>PowerPoint Presentation</vt:lpstr>
      <vt:lpstr>PowerPoint Presentation</vt:lpstr>
      <vt:lpstr>Fundamentals - Symbol Rate</vt:lpstr>
      <vt:lpstr>PowerPoint Presentation</vt:lpstr>
      <vt:lpstr>Fundamentals – Binary Signaling</vt:lpstr>
      <vt:lpstr>Fundamentals – M-ary Signaling</vt:lpstr>
      <vt:lpstr>Fundamentals – Binary Signaling</vt:lpstr>
      <vt:lpstr>Fundamentals – M-ary Signaling</vt:lpstr>
      <vt:lpstr>Example (1) </vt:lpstr>
      <vt:lpstr>Shannon Capacity Theorem </vt:lpstr>
      <vt:lpstr>Shannon Capacity Theorem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Nanyang Polytechnic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 Wireless System Implemetation &amp; Tests 1. Wireless Network Deployment</dc:title>
  <dc:creator>Lim Teck Beng</dc:creator>
  <cp:lastModifiedBy>Chang Fatt LEE (NYP)</cp:lastModifiedBy>
  <cp:revision>302</cp:revision>
  <cp:lastPrinted>2017-04-06T06:07:47Z</cp:lastPrinted>
  <dcterms:created xsi:type="dcterms:W3CDTF">2016-03-19T14:52:50Z</dcterms:created>
  <dcterms:modified xsi:type="dcterms:W3CDTF">2025-10-24T04:07:12Z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abe128f-e2ab-4b18-9c62-301caee5e80a_Enabled">
    <vt:lpwstr>true</vt:lpwstr>
  </property>
  <property fmtid="{D5CDD505-2E9C-101B-9397-08002B2CF9AE}" pid="3" name="MSIP_Label_babe128f-e2ab-4b18-9c62-301caee5e80a_SetDate">
    <vt:lpwstr>2023-10-28T14:52:37Z</vt:lpwstr>
  </property>
  <property fmtid="{D5CDD505-2E9C-101B-9397-08002B2CF9AE}" pid="4" name="MSIP_Label_babe128f-e2ab-4b18-9c62-301caee5e80a_Method">
    <vt:lpwstr>Privileged</vt:lpwstr>
  </property>
  <property fmtid="{D5CDD505-2E9C-101B-9397-08002B2CF9AE}" pid="5" name="MSIP_Label_babe128f-e2ab-4b18-9c62-301caee5e80a_Name">
    <vt:lpwstr>OFFICIAL [OPEN]</vt:lpwstr>
  </property>
  <property fmtid="{D5CDD505-2E9C-101B-9397-08002B2CF9AE}" pid="6" name="MSIP_Label_babe128f-e2ab-4b18-9c62-301caee5e80a_SiteId">
    <vt:lpwstr>243ebaed-00d0-4690-a7dc-75893b0d9f98</vt:lpwstr>
  </property>
  <property fmtid="{D5CDD505-2E9C-101B-9397-08002B2CF9AE}" pid="7" name="MSIP_Label_babe128f-e2ab-4b18-9c62-301caee5e80a_ActionId">
    <vt:lpwstr>871e894a-7c8f-495e-90f4-be7acd24bfaa</vt:lpwstr>
  </property>
  <property fmtid="{D5CDD505-2E9C-101B-9397-08002B2CF9AE}" pid="8" name="MSIP_Label_babe128f-e2ab-4b18-9c62-301caee5e80a_ContentBits">
    <vt:lpwstr>1</vt:lpwstr>
  </property>
  <property fmtid="{D5CDD505-2E9C-101B-9397-08002B2CF9AE}" pid="9" name="ClassificationContentMarkingHeaderLocations">
    <vt:lpwstr>Office Theme:5</vt:lpwstr>
  </property>
  <property fmtid="{D5CDD505-2E9C-101B-9397-08002B2CF9AE}" pid="10" name="ClassificationContentMarkingHeaderText">
    <vt:lpwstr>Official (Open)</vt:lpwstr>
  </property>
</Properties>
</file>