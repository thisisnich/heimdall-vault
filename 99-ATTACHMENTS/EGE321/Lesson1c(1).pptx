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m4a" ContentType="audio/mp4"/>
  <Default Extension="mp3" ContentType="audio/m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11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587" r:id="rId2"/>
    <p:sldId id="256" r:id="rId3"/>
    <p:sldId id="257" r:id="rId4"/>
    <p:sldId id="553" r:id="rId5"/>
    <p:sldId id="404" r:id="rId6"/>
    <p:sldId id="403" r:id="rId7"/>
    <p:sldId id="595" r:id="rId8"/>
    <p:sldId id="554" r:id="rId9"/>
    <p:sldId id="555" r:id="rId10"/>
    <p:sldId id="556" r:id="rId11"/>
    <p:sldId id="557" r:id="rId12"/>
    <p:sldId id="593" r:id="rId13"/>
    <p:sldId id="58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2199" autoAdjust="0"/>
    <p:restoredTop sz="94384" autoAdjust="0"/>
  </p:normalViewPr>
  <p:slideViewPr>
    <p:cSldViewPr snapToGrid="0">
      <p:cViewPr varScale="1">
        <p:scale>
          <a:sx n="117" d="100"/>
          <a:sy n="117" d="100"/>
        </p:scale>
        <p:origin x="996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-112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2B13A61-39A7-C651-2200-CB3EFE932EC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BC672E-E969-DC84-15AF-03D3CCAAE2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834C63-1926-40BD-8869-5714E6E463A2}" type="datetimeFigureOut">
              <a:rPr lang="en-SG" smtClean="0"/>
              <a:t>18/10/2025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C8A1AD-6361-7F8C-0DA9-98E3CF610D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9CA168-EB46-40BA-F5C8-9AEDA7B6536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47DD3-B255-4BDD-B2FE-98C710C5DD4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3926393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03C14-3C46-449B-91D3-779C3EAC3963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3627CE-1CF8-444E-9F93-C191CD3011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1391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3627CE-1CF8-444E-9F93-C191CD3011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79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3627CE-1CF8-444E-9F93-C191CD3011D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79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5958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309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1175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3570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8" descr="Corporate NYP Logo_Horizontal_RGB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6383" y="161019"/>
            <a:ext cx="2101771" cy="550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E78043-F7A8-DB00-143D-D992317359F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0" y="0"/>
            <a:ext cx="7747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 (Open)</a:t>
            </a:r>
          </a:p>
        </p:txBody>
      </p:sp>
    </p:spTree>
    <p:extLst>
      <p:ext uri="{BB962C8B-B14F-4D97-AF65-F5344CB8AC3E}">
        <p14:creationId xmlns:p14="http://schemas.microsoft.com/office/powerpoint/2010/main" val="3503397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microsoft.com/office/2007/relationships/media" Target="../media/media2.m4a"/><Relationship Id="rId7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5" Type="http://schemas.microsoft.com/office/2007/relationships/media" Target="../media/media3.mp3"/><Relationship Id="rId10" Type="http://schemas.openxmlformats.org/officeDocument/2006/relationships/image" Target="../media/image3.png"/><Relationship Id="rId4" Type="http://schemas.openxmlformats.org/officeDocument/2006/relationships/audio" Target="../media/media2.m4a"/><Relationship Id="rId9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Fp9S2ztKV4" TargetMode="External"/><Relationship Id="rId7" Type="http://schemas.openxmlformats.org/officeDocument/2006/relationships/image" Target="../media/image9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8BniBC4fuWY" TargetMode="External"/><Relationship Id="rId5" Type="http://schemas.openxmlformats.org/officeDocument/2006/relationships/hyperlink" Target="https://www.youtube.com/watch?v=AJTmxDzBJ9o" TargetMode="Externa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6" Type="http://schemas.openxmlformats.org/officeDocument/2006/relationships/image" Target="../media/image3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4.wmf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6" Type="http://schemas.openxmlformats.org/officeDocument/2006/relationships/oleObject" Target="../embeddings/oleObject1.bin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youtu.be/07pFHyOrN_k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533052"/>
            <a:ext cx="9144000" cy="2387600"/>
          </a:xfrm>
        </p:spPr>
        <p:txBody>
          <a:bodyPr>
            <a:normAutofit/>
          </a:bodyPr>
          <a:lstStyle/>
          <a:p>
            <a:r>
              <a:rPr lang="en-SG" sz="2800" b="1" dirty="0"/>
              <a:t>EGE321</a:t>
            </a:r>
            <a:br>
              <a:rPr lang="en-SG" sz="2800" b="1" dirty="0"/>
            </a:br>
            <a:r>
              <a:rPr lang="en-SG" sz="4000" b="1" dirty="0"/>
              <a:t>Wireless Communication &amp; Networking</a:t>
            </a:r>
            <a:br>
              <a:rPr lang="en-SG" sz="4000" b="1" dirty="0"/>
            </a:br>
            <a:r>
              <a:rPr lang="en-SG" sz="2800" dirty="0"/>
              <a:t>Introduction</a:t>
            </a:r>
            <a:endParaRPr lang="en-US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082" y="764144"/>
            <a:ext cx="7945835" cy="3582904"/>
          </a:xfrm>
          <a:prstGeom prst="rect">
            <a:avLst/>
          </a:prstGeom>
        </p:spPr>
      </p:pic>
      <p:pic>
        <p:nvPicPr>
          <p:cNvPr id="4" name="Pg1">
            <a:hlinkClick r:id="" action="ppaction://media"/>
            <a:extLst>
              <a:ext uri="{FF2B5EF4-FFF2-40B4-BE49-F238E27FC236}">
                <a16:creationId xmlns:a16="http://schemas.microsoft.com/office/drawing/2014/main" id="{3CF7ACF9-28EB-4B55-97EB-D87DBE625DD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  <p:pic>
        <p:nvPicPr>
          <p:cNvPr id="8" name="pg1">
            <a:hlinkClick r:id="" action="ppaction://media"/>
            <a:extLst>
              <a:ext uri="{FF2B5EF4-FFF2-40B4-BE49-F238E27FC236}">
                <a16:creationId xmlns:a16="http://schemas.microsoft.com/office/drawing/2014/main" id="{E41E4024-D866-48C7-B42A-EDFD94F4D78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2807B25-642E-4F4B-BE72-03A6288FEC0F}"/>
              </a:ext>
            </a:extLst>
          </p:cNvPr>
          <p:cNvSpPr/>
          <p:nvPr/>
        </p:nvSpPr>
        <p:spPr>
          <a:xfrm>
            <a:off x="-241011" y="6063780"/>
            <a:ext cx="26244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1 System Design Considerations</a:t>
            </a:r>
          </a:p>
        </p:txBody>
      </p:sp>
      <p:pic>
        <p:nvPicPr>
          <p:cNvPr id="5" name="Pg1">
            <a:hlinkClick r:id="" action="ppaction://media"/>
            <a:extLst>
              <a:ext uri="{FF2B5EF4-FFF2-40B4-BE49-F238E27FC236}">
                <a16:creationId xmlns:a16="http://schemas.microsoft.com/office/drawing/2014/main" id="{5992E28D-622C-4E61-8A5E-2C6D9CA27912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9823018" y="5500959"/>
            <a:ext cx="609600" cy="609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1E0163C-94DD-F85F-C75E-A6C317763352}"/>
              </a:ext>
            </a:extLst>
          </p:cNvPr>
          <p:cNvSpPr/>
          <p:nvPr/>
        </p:nvSpPr>
        <p:spPr>
          <a:xfrm>
            <a:off x="0" y="0"/>
            <a:ext cx="92528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23895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25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 numSld="999" showWhenStopped="0">
                <p:cTn id="8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SG" sz="2800" b="1" dirty="0"/>
              <a:t>Module EGE321</a:t>
            </a:r>
            <a:br>
              <a:rPr lang="en-SG" sz="2800" b="1" dirty="0"/>
            </a:br>
            <a:r>
              <a:rPr lang="en-SG" sz="4000" b="1" dirty="0"/>
              <a:t>Wireless Communication &amp; Networking</a:t>
            </a:r>
            <a:br>
              <a:rPr lang="en-SG" sz="4000" b="1" dirty="0"/>
            </a:br>
            <a:r>
              <a:rPr lang="en-SG" sz="2800" dirty="0"/>
              <a:t>Chapter 1. System Design Considerations</a:t>
            </a:r>
            <a:endParaRPr lang="en-US" sz="2800" dirty="0"/>
          </a:p>
        </p:txBody>
      </p:sp>
      <p:pic>
        <p:nvPicPr>
          <p:cNvPr id="3" name="Pg7">
            <a:hlinkClick r:id="" action="ppaction://media"/>
            <a:extLst>
              <a:ext uri="{FF2B5EF4-FFF2-40B4-BE49-F238E27FC236}">
                <a16:creationId xmlns:a16="http://schemas.microsoft.com/office/drawing/2014/main" id="{13F5957F-C4F6-46B4-B5D7-31D720769DD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823018" y="5746748"/>
            <a:ext cx="609600" cy="6096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5CEF98-BEA0-4789-ADCC-DA0E1CA911B7}"/>
              </a:ext>
            </a:extLst>
          </p:cNvPr>
          <p:cNvSpPr/>
          <p:nvPr/>
        </p:nvSpPr>
        <p:spPr>
          <a:xfrm>
            <a:off x="-241011" y="6063780"/>
            <a:ext cx="26244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1 System Design Considerations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E1CCE1-7C48-DD84-6289-4ED1C85756D9}"/>
              </a:ext>
            </a:extLst>
          </p:cNvPr>
          <p:cNvSpPr/>
          <p:nvPr/>
        </p:nvSpPr>
        <p:spPr>
          <a:xfrm>
            <a:off x="0" y="0"/>
            <a:ext cx="92528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0396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5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Contents</a:t>
            </a:r>
            <a:r>
              <a:rPr lang="en-SG" sz="3200" dirty="0"/>
              <a:t>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GB" sz="2800" dirty="0"/>
              <a:t>1. 	System Design Considerations</a:t>
            </a:r>
          </a:p>
          <a:p>
            <a:pPr marL="457200" lvl="1" indent="0">
              <a:buNone/>
            </a:pPr>
            <a:r>
              <a:rPr lang="en-SG" sz="2800" dirty="0"/>
              <a:t>	1.1	Wireless Technology Overview</a:t>
            </a:r>
          </a:p>
          <a:p>
            <a:pPr marL="457200" lvl="1" indent="0">
              <a:buNone/>
            </a:pPr>
            <a:r>
              <a:rPr lang="en-SG" sz="2800" dirty="0"/>
              <a:t>	1.2	Wireless System Design Considerations</a:t>
            </a:r>
            <a:endParaRPr lang="en-US" sz="2800" dirty="0"/>
          </a:p>
          <a:p>
            <a:pPr marL="457200" lvl="1" indent="0">
              <a:buNone/>
            </a:pPr>
            <a:r>
              <a:rPr lang="en-SG" sz="2800" dirty="0"/>
              <a:t>	1.3	Challenges in Wireless Communication System	</a:t>
            </a:r>
            <a:r>
              <a:rPr lang="en-SG" dirty="0"/>
              <a:t>				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5A048F-A240-473F-BFDD-833F812F4379}"/>
              </a:ext>
            </a:extLst>
          </p:cNvPr>
          <p:cNvSpPr/>
          <p:nvPr/>
        </p:nvSpPr>
        <p:spPr>
          <a:xfrm>
            <a:off x="-241011" y="6063780"/>
            <a:ext cx="26244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1 System Design Considerations</a:t>
            </a:r>
          </a:p>
        </p:txBody>
      </p:sp>
      <p:pic>
        <p:nvPicPr>
          <p:cNvPr id="4" name="Pg8">
            <a:hlinkClick r:id="" action="ppaction://media"/>
            <a:extLst>
              <a:ext uri="{FF2B5EF4-FFF2-40B4-BE49-F238E27FC236}">
                <a16:creationId xmlns:a16="http://schemas.microsoft.com/office/drawing/2014/main" id="{B0A5D573-E438-441E-AA87-F07B9A54153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877982" y="5491918"/>
            <a:ext cx="609600" cy="609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C3CC41-2E13-FF1B-6BC4-B2A1EDE88793}"/>
              </a:ext>
            </a:extLst>
          </p:cNvPr>
          <p:cNvSpPr/>
          <p:nvPr/>
        </p:nvSpPr>
        <p:spPr>
          <a:xfrm>
            <a:off x="0" y="0"/>
            <a:ext cx="92528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49411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99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002597"/>
            <a:ext cx="6094107" cy="468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itle 1"/>
          <p:cNvSpPr txBox="1">
            <a:spLocks/>
          </p:cNvSpPr>
          <p:nvPr/>
        </p:nvSpPr>
        <p:spPr>
          <a:xfrm>
            <a:off x="244093" y="68341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200" dirty="0">
                <a:solidFill>
                  <a:srgbClr val="C00000"/>
                </a:solidFill>
                <a:latin typeface="+mn-lt"/>
              </a:rPr>
              <a:t>Wireless </a:t>
            </a:r>
            <a:r>
              <a:rPr lang="en-SG" sz="3200" dirty="0">
                <a:solidFill>
                  <a:srgbClr val="C00000"/>
                </a:solidFill>
                <a:latin typeface="+mn-lt"/>
                <a:cs typeface="Calibri" panose="020F0502020204030204" pitchFamily="34" charset="0"/>
              </a:rPr>
              <a:t>Technology</a:t>
            </a:r>
            <a:r>
              <a:rPr lang="en-SG" sz="3200" dirty="0">
                <a:solidFill>
                  <a:srgbClr val="C00000"/>
                </a:solidFill>
                <a:latin typeface="+mn-lt"/>
              </a:rPr>
              <a:t> Overview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105489-E786-4E21-A1D0-F356AD51B3F0}"/>
              </a:ext>
            </a:extLst>
          </p:cNvPr>
          <p:cNvSpPr/>
          <p:nvPr/>
        </p:nvSpPr>
        <p:spPr>
          <a:xfrm>
            <a:off x="379005" y="1423420"/>
            <a:ext cx="5851907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400" dirty="0"/>
              <a:t>Q: What is communication?</a:t>
            </a:r>
          </a:p>
          <a:p>
            <a:endParaRPr lang="en-SG" sz="900" dirty="0"/>
          </a:p>
          <a:p>
            <a:r>
              <a:rPr lang="en-SG" sz="2400" dirty="0"/>
              <a:t>Ans : Communication means </a:t>
            </a:r>
            <a:r>
              <a:rPr lang="en-SG" sz="2400" b="1" dirty="0">
                <a:solidFill>
                  <a:srgbClr val="FF0000"/>
                </a:solidFill>
              </a:rPr>
              <a:t>transfer of information from source to recipient.</a:t>
            </a:r>
          </a:p>
          <a:p>
            <a:endParaRPr lang="en-SG" sz="2400" b="1" dirty="0">
              <a:solidFill>
                <a:srgbClr val="FF0000"/>
              </a:solidFill>
            </a:endParaRPr>
          </a:p>
          <a:p>
            <a:r>
              <a:rPr lang="en-SG" sz="2400" dirty="0"/>
              <a:t>Q: What is wireless communication?</a:t>
            </a:r>
          </a:p>
          <a:p>
            <a:endParaRPr lang="en-SG" sz="900" dirty="0"/>
          </a:p>
          <a:p>
            <a:r>
              <a:rPr lang="en-SG" sz="2400" dirty="0"/>
              <a:t>ANS: Any transfer of information between points that </a:t>
            </a:r>
            <a:r>
              <a:rPr lang="en-SG" sz="2400" b="1" dirty="0">
                <a:solidFill>
                  <a:srgbClr val="FF0000"/>
                </a:solidFill>
              </a:rPr>
              <a:t>do not have a physical connection</a:t>
            </a:r>
            <a:r>
              <a:rPr lang="en-SG" sz="2400" dirty="0"/>
              <a:t>, like wire or cable connection, would be </a:t>
            </a:r>
            <a:r>
              <a:rPr lang="en-SG" sz="2400" dirty="0">
                <a:solidFill>
                  <a:srgbClr val="0070C0"/>
                </a:solidFill>
              </a:rPr>
              <a:t>WIRELESS COMMUNICATION</a:t>
            </a:r>
            <a:r>
              <a:rPr lang="en-SG" sz="2400" dirty="0"/>
              <a:t>.</a:t>
            </a:r>
            <a:endParaRPr lang="en-US" sz="2400" dirty="0">
              <a:cs typeface="Arial" panose="020B0604020202020204" pitchFamily="34" charset="0"/>
            </a:endParaRPr>
          </a:p>
          <a:p>
            <a:endParaRPr lang="en-SG" sz="2400" dirty="0"/>
          </a:p>
          <a:p>
            <a:endParaRPr lang="en-US" sz="2400" dirty="0"/>
          </a:p>
        </p:txBody>
      </p:sp>
      <p:pic>
        <p:nvPicPr>
          <p:cNvPr id="7" name="Pg9">
            <a:hlinkClick r:id="" action="ppaction://media"/>
            <a:extLst>
              <a:ext uri="{FF2B5EF4-FFF2-40B4-BE49-F238E27FC236}">
                <a16:creationId xmlns:a16="http://schemas.microsoft.com/office/drawing/2014/main" id="{24535D6A-185C-4E25-B420-B0A244205D4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823018" y="5511753"/>
            <a:ext cx="609600" cy="6096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89DCF59-8DF9-466F-8FD2-F31C4F436054}"/>
              </a:ext>
            </a:extLst>
          </p:cNvPr>
          <p:cNvSpPr/>
          <p:nvPr/>
        </p:nvSpPr>
        <p:spPr>
          <a:xfrm>
            <a:off x="-241011" y="6063780"/>
            <a:ext cx="26244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1 System Design Considerations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3A38CE-EBEF-6EAD-0549-A7FC6F92331F}"/>
              </a:ext>
            </a:extLst>
          </p:cNvPr>
          <p:cNvSpPr/>
          <p:nvPr/>
        </p:nvSpPr>
        <p:spPr>
          <a:xfrm>
            <a:off x="0" y="0"/>
            <a:ext cx="92528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2954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69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418" y="1427972"/>
            <a:ext cx="10249164" cy="3368842"/>
          </a:xfrm>
        </p:spPr>
        <p:txBody>
          <a:bodyPr>
            <a:noAutofit/>
          </a:bodyPr>
          <a:lstStyle/>
          <a:p>
            <a:pPr algn="just"/>
            <a:r>
              <a:rPr lang="en-SG" b="1" dirty="0">
                <a:solidFill>
                  <a:srgbClr val="C00000"/>
                </a:solidFill>
                <a:cs typeface="Arial" panose="020B0604020202020204" pitchFamily="34" charset="0"/>
              </a:rPr>
              <a:t>ADVANTAGES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Flexibility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Easy Installation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Accessible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Mobility</a:t>
            </a:r>
          </a:p>
          <a:p>
            <a:pPr algn="just"/>
            <a:endParaRPr lang="en-SG" dirty="0">
              <a:cs typeface="Arial" panose="020B0604020202020204" pitchFamily="34" charset="0"/>
            </a:endParaRPr>
          </a:p>
          <a:p>
            <a:pPr algn="just"/>
            <a:r>
              <a:rPr lang="en-SG" b="1" dirty="0">
                <a:solidFill>
                  <a:srgbClr val="C00000"/>
                </a:solidFill>
                <a:cs typeface="Arial" panose="020B0604020202020204" pitchFamily="34" charset="0"/>
              </a:rPr>
              <a:t>DISADVANTAGES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SG" dirty="0">
                <a:cs typeface="Arial" panose="020B0604020202020204" pitchFamily="34" charset="0"/>
              </a:rPr>
              <a:t>Security vulnerabilities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SG" dirty="0">
                <a:cs typeface="Arial" panose="020B0604020202020204" pitchFamily="34" charset="0"/>
              </a:rPr>
              <a:t>Planning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SG" dirty="0">
                <a:cs typeface="Arial" panose="020B0604020202020204" pitchFamily="34" charset="0"/>
              </a:rPr>
              <a:t>Interference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5D5D216-763C-46CD-B693-54E794097985}"/>
              </a:ext>
            </a:extLst>
          </p:cNvPr>
          <p:cNvSpPr txBox="1">
            <a:spLocks/>
          </p:cNvSpPr>
          <p:nvPr/>
        </p:nvSpPr>
        <p:spPr>
          <a:xfrm>
            <a:off x="244093" y="68341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200" dirty="0">
                <a:solidFill>
                  <a:srgbClr val="C00000"/>
                </a:solidFill>
                <a:latin typeface="+mn-lt"/>
              </a:rPr>
              <a:t>Wireless </a:t>
            </a:r>
            <a:r>
              <a:rPr lang="en-SG" sz="3200" dirty="0">
                <a:solidFill>
                  <a:srgbClr val="C00000"/>
                </a:solidFill>
                <a:latin typeface="+mn-lt"/>
                <a:cs typeface="Calibri" panose="020F0502020204030204" pitchFamily="34" charset="0"/>
              </a:rPr>
              <a:t>Technology</a:t>
            </a:r>
            <a:r>
              <a:rPr lang="en-SG" sz="3200" dirty="0">
                <a:solidFill>
                  <a:srgbClr val="C00000"/>
                </a:solidFill>
                <a:latin typeface="+mn-lt"/>
              </a:rPr>
              <a:t> Overview</a:t>
            </a:r>
          </a:p>
          <a:p>
            <a:pPr fontAlgn="auto">
              <a:spcAft>
                <a:spcPts val="0"/>
              </a:spcAft>
            </a:pPr>
            <a:r>
              <a:rPr lang="en-SG" sz="28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Advantages and Disadvantages of Wireless Communication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9DB068-9B14-43B9-BFEB-D93959F39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957" y="1509405"/>
            <a:ext cx="5381625" cy="4067175"/>
          </a:xfrm>
          <a:prstGeom prst="rect">
            <a:avLst/>
          </a:prstGeom>
        </p:spPr>
      </p:pic>
      <p:pic>
        <p:nvPicPr>
          <p:cNvPr id="4" name="Pg10">
            <a:hlinkClick r:id="" action="ppaction://media"/>
            <a:extLst>
              <a:ext uri="{FF2B5EF4-FFF2-40B4-BE49-F238E27FC236}">
                <a16:creationId xmlns:a16="http://schemas.microsoft.com/office/drawing/2014/main" id="{3A4C84A0-FC31-4A09-B285-A7687B00319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892972" y="5576580"/>
            <a:ext cx="609600" cy="6096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8115590-74E4-435B-A3A6-ABDF9A4A96FF}"/>
              </a:ext>
            </a:extLst>
          </p:cNvPr>
          <p:cNvSpPr/>
          <p:nvPr/>
        </p:nvSpPr>
        <p:spPr>
          <a:xfrm>
            <a:off x="-241011" y="6063780"/>
            <a:ext cx="26244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1 System Design Considerations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68C9BC-B525-5E45-2F0C-F3DC49C94EAD}"/>
              </a:ext>
            </a:extLst>
          </p:cNvPr>
          <p:cNvSpPr/>
          <p:nvPr/>
        </p:nvSpPr>
        <p:spPr>
          <a:xfrm>
            <a:off x="0" y="0"/>
            <a:ext cx="92528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20558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3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275" y="1343198"/>
            <a:ext cx="5372980" cy="3368842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SG" dirty="0">
                <a:cs typeface="Arial" panose="020B0604020202020204" pitchFamily="34" charset="0"/>
              </a:rPr>
              <a:t>Transmitting or receiving voice and data using </a:t>
            </a:r>
            <a:r>
              <a:rPr lang="en-SG" b="1" dirty="0">
                <a:solidFill>
                  <a:srgbClr val="FF0000"/>
                </a:solidFill>
                <a:cs typeface="Arial" panose="020B0604020202020204" pitchFamily="34" charset="0"/>
              </a:rPr>
              <a:t>electromagnetic waves </a:t>
            </a:r>
            <a:r>
              <a:rPr lang="en-SG" dirty="0">
                <a:cs typeface="Arial" panose="020B0604020202020204" pitchFamily="34" charset="0"/>
              </a:rPr>
              <a:t>in open space.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SG" dirty="0">
                <a:cs typeface="Arial" panose="020B0604020202020204" pitchFamily="34" charset="0"/>
              </a:rPr>
              <a:t>The information from the sender to receiver is carried over a </a:t>
            </a:r>
            <a:r>
              <a:rPr lang="en-SG" b="1" dirty="0">
                <a:solidFill>
                  <a:srgbClr val="FF0000"/>
                </a:solidFill>
                <a:cs typeface="Arial" panose="020B0604020202020204" pitchFamily="34" charset="0"/>
              </a:rPr>
              <a:t>well defined channel</a:t>
            </a:r>
            <a:r>
              <a:rPr lang="en-SG" dirty="0"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SG" dirty="0">
                <a:cs typeface="Arial" panose="020B0604020202020204" pitchFamily="34" charset="0"/>
              </a:rPr>
              <a:t>Each channel has a </a:t>
            </a:r>
            <a:r>
              <a:rPr lang="en-SG" b="1" dirty="0">
                <a:solidFill>
                  <a:srgbClr val="FF0000"/>
                </a:solidFill>
                <a:cs typeface="Arial" panose="020B0604020202020204" pitchFamily="34" charset="0"/>
              </a:rPr>
              <a:t>fixed frequency bandwidth and capacity.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SG" dirty="0">
                <a:cs typeface="Arial" panose="020B0604020202020204" pitchFamily="34" charset="0"/>
              </a:rPr>
              <a:t>Different channels can be used to transmit information </a:t>
            </a:r>
            <a:r>
              <a:rPr lang="en-SG" dirty="0">
                <a:solidFill>
                  <a:srgbClr val="0070C0"/>
                </a:solidFill>
                <a:cs typeface="Arial" panose="020B0604020202020204" pitchFamily="34" charset="0"/>
              </a:rPr>
              <a:t>in parallel and independently.</a:t>
            </a:r>
            <a:endParaRPr lang="en-US" dirty="0">
              <a:solidFill>
                <a:srgbClr val="0070C0"/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7583" y="1343198"/>
            <a:ext cx="5681854" cy="396309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D2C6415-967F-4DB3-9B17-2CE1D633C770}"/>
              </a:ext>
            </a:extLst>
          </p:cNvPr>
          <p:cNvSpPr txBox="1">
            <a:spLocks/>
          </p:cNvSpPr>
          <p:nvPr/>
        </p:nvSpPr>
        <p:spPr>
          <a:xfrm>
            <a:off x="244093" y="68341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200" dirty="0">
                <a:solidFill>
                  <a:srgbClr val="C00000"/>
                </a:solidFill>
                <a:latin typeface="+mn-lt"/>
              </a:rPr>
              <a:t>Wireless </a:t>
            </a:r>
            <a:r>
              <a:rPr lang="en-SG" sz="3200" dirty="0">
                <a:solidFill>
                  <a:srgbClr val="C00000"/>
                </a:solidFill>
                <a:latin typeface="+mn-lt"/>
                <a:cs typeface="Calibri" panose="020F0502020204030204" pitchFamily="34" charset="0"/>
              </a:rPr>
              <a:t>Technology</a:t>
            </a:r>
            <a:r>
              <a:rPr lang="en-SG" sz="3200" dirty="0">
                <a:solidFill>
                  <a:srgbClr val="C00000"/>
                </a:solidFill>
                <a:latin typeface="+mn-lt"/>
              </a:rPr>
              <a:t> Overview</a:t>
            </a:r>
          </a:p>
          <a:p>
            <a:pPr fontAlgn="auto">
              <a:spcAft>
                <a:spcPts val="0"/>
              </a:spcAft>
            </a:pPr>
            <a:r>
              <a:rPr lang="en-SG" sz="2800" dirty="0">
                <a:solidFill>
                  <a:srgbClr val="C00000"/>
                </a:solidFill>
                <a:latin typeface="+mn-lt"/>
              </a:rPr>
              <a:t>Radio System Fundamentals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FB6DB1-2EE5-4B7B-81A5-065B3B331ED8}"/>
              </a:ext>
            </a:extLst>
          </p:cNvPr>
          <p:cNvSpPr/>
          <p:nvPr/>
        </p:nvSpPr>
        <p:spPr>
          <a:xfrm>
            <a:off x="-241011" y="6063780"/>
            <a:ext cx="26244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1 System Design Considerations</a:t>
            </a:r>
          </a:p>
        </p:txBody>
      </p:sp>
      <p:pic>
        <p:nvPicPr>
          <p:cNvPr id="5" name="Pg11">
            <a:hlinkClick r:id="" action="ppaction://media"/>
            <a:extLst>
              <a:ext uri="{FF2B5EF4-FFF2-40B4-BE49-F238E27FC236}">
                <a16:creationId xmlns:a16="http://schemas.microsoft.com/office/drawing/2014/main" id="{2F179217-2FA3-40B7-894B-1A29018E13C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899545" y="5583721"/>
            <a:ext cx="609600" cy="6096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75A5FC9-C851-FE56-3080-B2D924DBCC6D}"/>
              </a:ext>
            </a:extLst>
          </p:cNvPr>
          <p:cNvSpPr/>
          <p:nvPr/>
        </p:nvSpPr>
        <p:spPr>
          <a:xfrm>
            <a:off x="0" y="0"/>
            <a:ext cx="92528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564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53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278E36-CCC5-C962-1F9A-5B62B5424C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020" y="1585185"/>
            <a:ext cx="5916980" cy="38923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FE0200-DD81-008B-60CC-ED0C598EB3E3}"/>
              </a:ext>
            </a:extLst>
          </p:cNvPr>
          <p:cNvSpPr txBox="1"/>
          <p:nvPr/>
        </p:nvSpPr>
        <p:spPr>
          <a:xfrm>
            <a:off x="102094" y="5908959"/>
            <a:ext cx="61344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How Electronic Communication Works (Transmitter, Channel &amp; Receiver): Easy Explanation for Beginner!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9CA3FB-4A9C-3D61-F907-3E8BDBF83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822" y="1585185"/>
            <a:ext cx="5800171" cy="37672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0C13D51-569B-3009-FC8D-3822A5D7D300}"/>
              </a:ext>
            </a:extLst>
          </p:cNvPr>
          <p:cNvSpPr txBox="1"/>
          <p:nvPr/>
        </p:nvSpPr>
        <p:spPr>
          <a:xfrm>
            <a:off x="6471822" y="5820182"/>
            <a:ext cx="61744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Why Modulation is CRUCIAL in Wireless Communication? (Analog vs Digital Modulation Explained!)</a:t>
            </a:r>
            <a:endParaRPr lang="en-US" dirty="0"/>
          </a:p>
        </p:txBody>
      </p:sp>
      <p:pic>
        <p:nvPicPr>
          <p:cNvPr id="12" name="Picture 4" descr="Miscellaneous Video's – Centurian Park Family">
            <a:hlinkClick r:id="rId6"/>
            <a:extLst>
              <a:ext uri="{FF2B5EF4-FFF2-40B4-BE49-F238E27FC236}">
                <a16:creationId xmlns:a16="http://schemas.microsoft.com/office/drawing/2014/main" id="{A9E04DCB-FBC4-8790-13C9-8FC2A4281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472" y="113352"/>
            <a:ext cx="1392183" cy="1392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4704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0928" y="1570058"/>
            <a:ext cx="10270143" cy="3368842"/>
          </a:xfrm>
        </p:spPr>
        <p:txBody>
          <a:bodyPr>
            <a:noAutofit/>
          </a:bodyPr>
          <a:lstStyle/>
          <a:p>
            <a:pPr algn="just"/>
            <a:r>
              <a:rPr lang="en-SG" dirty="0">
                <a:cs typeface="Arial" panose="020B0604020202020204" pitchFamily="34" charset="0"/>
              </a:rPr>
              <a:t>Classification of mobile radio transmission system</a:t>
            </a:r>
          </a:p>
          <a:p>
            <a:pPr algn="just"/>
            <a:endParaRPr lang="en-SG" dirty="0"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rgbClr val="FF0000"/>
                </a:solidFill>
                <a:cs typeface="Arial" panose="020B0604020202020204" pitchFamily="34" charset="0"/>
              </a:rPr>
              <a:t>Simplex</a:t>
            </a:r>
            <a:r>
              <a:rPr lang="en-SG" dirty="0">
                <a:cs typeface="Arial" panose="020B0604020202020204" pitchFamily="34" charset="0"/>
              </a:rPr>
              <a:t>: Communication in one direction only and cannot be reversed.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rgbClr val="FF0000"/>
                </a:solidFill>
                <a:cs typeface="Arial" panose="020B0604020202020204" pitchFamily="34" charset="0"/>
              </a:rPr>
              <a:t>Half-Duplex</a:t>
            </a:r>
            <a:r>
              <a:rPr lang="en-SG" dirty="0">
                <a:cs typeface="Arial" panose="020B0604020202020204" pitchFamily="34" charset="0"/>
              </a:rPr>
              <a:t>: Communication can be in both direction but the transmission does not occur at the same time.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SG" b="1" dirty="0">
                <a:solidFill>
                  <a:srgbClr val="FF0000"/>
                </a:solidFill>
                <a:cs typeface="Arial" panose="020B0604020202020204" pitchFamily="34" charset="0"/>
              </a:rPr>
              <a:t>Full-Duplex</a:t>
            </a:r>
            <a:r>
              <a:rPr lang="en-SG" dirty="0">
                <a:cs typeface="Arial" panose="020B0604020202020204" pitchFamily="34" charset="0"/>
              </a:rPr>
              <a:t>: Allows simultaneous exchange in both directions at the same time.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715472" y="136526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Wireless System Design Considerations </a:t>
            </a:r>
          </a:p>
          <a:p>
            <a:pPr fontAlgn="auto">
              <a:spcAft>
                <a:spcPts val="0"/>
              </a:spcAft>
            </a:pPr>
            <a:r>
              <a:rPr lang="en-SG" sz="28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Types of Radio In Wireless Communications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A1C0A2-2646-465B-8A9F-47CC3870DABF}"/>
              </a:ext>
            </a:extLst>
          </p:cNvPr>
          <p:cNvSpPr/>
          <p:nvPr/>
        </p:nvSpPr>
        <p:spPr>
          <a:xfrm>
            <a:off x="-241011" y="6063780"/>
            <a:ext cx="26244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1 System Design Considerations</a:t>
            </a:r>
          </a:p>
        </p:txBody>
      </p:sp>
      <p:pic>
        <p:nvPicPr>
          <p:cNvPr id="2" name="Pg12">
            <a:hlinkClick r:id="" action="ppaction://media"/>
            <a:extLst>
              <a:ext uri="{FF2B5EF4-FFF2-40B4-BE49-F238E27FC236}">
                <a16:creationId xmlns:a16="http://schemas.microsoft.com/office/drawing/2014/main" id="{57FD378D-9098-463A-9F34-13398A6D28D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832237" y="5491918"/>
            <a:ext cx="609600" cy="609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3101966-62FB-FFB8-4B36-E0F1B53A32AC}"/>
              </a:ext>
            </a:extLst>
          </p:cNvPr>
          <p:cNvSpPr/>
          <p:nvPr/>
        </p:nvSpPr>
        <p:spPr>
          <a:xfrm>
            <a:off x="0" y="0"/>
            <a:ext cx="92528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87989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30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29932" y="958132"/>
            <a:ext cx="10801140" cy="9191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8659">
              <a:spcBef>
                <a:spcPts val="600"/>
              </a:spcBef>
              <a:tabLst>
                <a:tab pos="182269" algn="l"/>
              </a:tabLst>
            </a:pPr>
            <a:endParaRPr lang="en-SG" sz="2800" b="1" spc="7" dirty="0">
              <a:solidFill>
                <a:srgbClr val="C00000"/>
              </a:solidFill>
              <a:cs typeface="Arial"/>
            </a:endParaRPr>
          </a:p>
          <a:p>
            <a:pPr marL="639902" lvl="1" indent="-174043">
              <a:spcBef>
                <a:spcPts val="600"/>
              </a:spcBef>
              <a:buFont typeface="Arial"/>
              <a:buChar char="•"/>
              <a:tabLst>
                <a:tab pos="182269" algn="l"/>
              </a:tabLst>
            </a:pPr>
            <a:r>
              <a:rPr lang="en-SG" sz="2800" spc="7" dirty="0">
                <a:cs typeface="Arial" panose="020B0604020202020204" pitchFamily="34" charset="0"/>
              </a:rPr>
              <a:t>A radio technology that allows only </a:t>
            </a:r>
            <a:r>
              <a:rPr lang="en-SG" sz="2800" b="1" spc="7" dirty="0">
                <a:solidFill>
                  <a:srgbClr val="FF0000"/>
                </a:solidFill>
                <a:cs typeface="Arial" panose="020B0604020202020204" pitchFamily="34" charset="0"/>
              </a:rPr>
              <a:t>one-way communication </a:t>
            </a:r>
            <a:r>
              <a:rPr lang="en-SG" sz="2800" spc="7" dirty="0">
                <a:cs typeface="Arial" panose="020B0604020202020204" pitchFamily="34" charset="0"/>
              </a:rPr>
              <a:t>from a transmitter to a receiver.</a:t>
            </a:r>
          </a:p>
          <a:p>
            <a:pPr marL="639902" lvl="1" indent="-174043">
              <a:buFont typeface="Arial"/>
              <a:buChar char="•"/>
              <a:tabLst>
                <a:tab pos="182269" algn="l"/>
              </a:tabLst>
            </a:pPr>
            <a:r>
              <a:rPr lang="en-SG" sz="2800" spc="7" dirty="0">
                <a:cs typeface="Arial" panose="020B0604020202020204" pitchFamily="34" charset="0"/>
              </a:rPr>
              <a:t> Examples: </a:t>
            </a:r>
            <a:r>
              <a:rPr lang="en-SG" sz="2800" spc="3" dirty="0">
                <a:cs typeface="Arial" panose="020B0604020202020204" pitchFamily="34" charset="0"/>
              </a:rPr>
              <a:t>F</a:t>
            </a:r>
            <a:r>
              <a:rPr lang="en-SG" sz="2800" spc="10" dirty="0">
                <a:cs typeface="Arial" panose="020B0604020202020204" pitchFamily="34" charset="0"/>
              </a:rPr>
              <a:t>M</a:t>
            </a:r>
            <a:r>
              <a:rPr lang="en-SG" sz="2800" spc="3" dirty="0">
                <a:cs typeface="Arial" panose="020B0604020202020204" pitchFamily="34" charset="0"/>
              </a:rPr>
              <a:t> </a:t>
            </a:r>
            <a:r>
              <a:rPr lang="en-SG" sz="2800" dirty="0">
                <a:cs typeface="Arial" panose="020B0604020202020204" pitchFamily="34" charset="0"/>
              </a:rPr>
              <a:t>radio</a:t>
            </a:r>
            <a:r>
              <a:rPr lang="en-SG" sz="2800" spc="3" dirty="0">
                <a:cs typeface="Arial" panose="020B0604020202020204" pitchFamily="34" charset="0"/>
              </a:rPr>
              <a:t>, Pagers, TV.</a:t>
            </a:r>
            <a:endParaRPr sz="2800" dirty="0">
              <a:cs typeface="Arial" panose="020B0604020202020204" pitchFamily="34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60112" y="3759099"/>
            <a:ext cx="1058314" cy="10583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7" name="object 7"/>
          <p:cNvSpPr/>
          <p:nvPr/>
        </p:nvSpPr>
        <p:spPr>
          <a:xfrm>
            <a:off x="7982754" y="4657913"/>
            <a:ext cx="916997" cy="947651"/>
          </a:xfrm>
          <a:custGeom>
            <a:avLst/>
            <a:gdLst/>
            <a:ahLst/>
            <a:cxnLst/>
            <a:rect l="l" t="t" r="r" b="b"/>
            <a:pathLst>
              <a:path w="1344929" h="1389888">
                <a:moveTo>
                  <a:pt x="1344929" y="1229106"/>
                </a:moveTo>
                <a:lnTo>
                  <a:pt x="1344929" y="160781"/>
                </a:lnTo>
                <a:lnTo>
                  <a:pt x="1341881" y="128015"/>
                </a:lnTo>
                <a:lnTo>
                  <a:pt x="1322070" y="70865"/>
                </a:lnTo>
                <a:lnTo>
                  <a:pt x="1284731" y="27431"/>
                </a:lnTo>
                <a:lnTo>
                  <a:pt x="1234439" y="3047"/>
                </a:lnTo>
                <a:lnTo>
                  <a:pt x="1207007" y="0"/>
                </a:lnTo>
                <a:lnTo>
                  <a:pt x="136398" y="0"/>
                </a:lnTo>
                <a:lnTo>
                  <a:pt x="83057" y="12191"/>
                </a:lnTo>
                <a:lnTo>
                  <a:pt x="39624" y="48005"/>
                </a:lnTo>
                <a:lnTo>
                  <a:pt x="10667" y="98297"/>
                </a:lnTo>
                <a:lnTo>
                  <a:pt x="0" y="160781"/>
                </a:lnTo>
                <a:lnTo>
                  <a:pt x="0" y="1229106"/>
                </a:lnTo>
                <a:lnTo>
                  <a:pt x="10667" y="1291589"/>
                </a:lnTo>
                <a:lnTo>
                  <a:pt x="39624" y="1341882"/>
                </a:lnTo>
                <a:lnTo>
                  <a:pt x="83057" y="1377696"/>
                </a:lnTo>
                <a:lnTo>
                  <a:pt x="136398" y="1389888"/>
                </a:lnTo>
                <a:lnTo>
                  <a:pt x="1207007" y="1389888"/>
                </a:lnTo>
                <a:lnTo>
                  <a:pt x="1260348" y="1377696"/>
                </a:lnTo>
                <a:lnTo>
                  <a:pt x="1305305" y="1341882"/>
                </a:lnTo>
                <a:lnTo>
                  <a:pt x="1334261" y="1291589"/>
                </a:lnTo>
                <a:lnTo>
                  <a:pt x="1344929" y="1229106"/>
                </a:lnTo>
                <a:close/>
              </a:path>
            </a:pathLst>
          </a:custGeom>
          <a:solidFill>
            <a:srgbClr val="D8B700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8" name="object 8"/>
          <p:cNvSpPr/>
          <p:nvPr/>
        </p:nvSpPr>
        <p:spPr>
          <a:xfrm>
            <a:off x="8671671" y="5068353"/>
            <a:ext cx="164696" cy="298219"/>
          </a:xfrm>
          <a:custGeom>
            <a:avLst/>
            <a:gdLst/>
            <a:ahLst/>
            <a:cxnLst/>
            <a:rect l="l" t="t" r="r" b="b"/>
            <a:pathLst>
              <a:path w="241554" h="437388">
                <a:moveTo>
                  <a:pt x="0" y="0"/>
                </a:moveTo>
                <a:lnTo>
                  <a:pt x="0" y="437388"/>
                </a:lnTo>
                <a:lnTo>
                  <a:pt x="241554" y="437388"/>
                </a:lnTo>
                <a:lnTo>
                  <a:pt x="241554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9" name="object 9"/>
          <p:cNvSpPr/>
          <p:nvPr/>
        </p:nvSpPr>
        <p:spPr>
          <a:xfrm>
            <a:off x="8048216" y="5068353"/>
            <a:ext cx="623455" cy="298219"/>
          </a:xfrm>
          <a:custGeom>
            <a:avLst/>
            <a:gdLst/>
            <a:ahLst/>
            <a:cxnLst/>
            <a:rect l="l" t="t" r="r" b="b"/>
            <a:pathLst>
              <a:path w="914400" h="437388">
                <a:moveTo>
                  <a:pt x="914400" y="437388"/>
                </a:moveTo>
                <a:lnTo>
                  <a:pt x="914400" y="0"/>
                </a:lnTo>
                <a:lnTo>
                  <a:pt x="0" y="0"/>
                </a:lnTo>
                <a:lnTo>
                  <a:pt x="0" y="437388"/>
                </a:lnTo>
                <a:lnTo>
                  <a:pt x="914400" y="4373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10" name="object 10"/>
          <p:cNvSpPr/>
          <p:nvPr/>
        </p:nvSpPr>
        <p:spPr>
          <a:xfrm>
            <a:off x="8074193" y="5094331"/>
            <a:ext cx="572020" cy="245744"/>
          </a:xfrm>
          <a:custGeom>
            <a:avLst/>
            <a:gdLst/>
            <a:ahLst/>
            <a:cxnLst/>
            <a:rect l="l" t="t" r="r" b="b"/>
            <a:pathLst>
              <a:path w="838962" h="360425">
                <a:moveTo>
                  <a:pt x="838962" y="0"/>
                </a:moveTo>
                <a:lnTo>
                  <a:pt x="838962" y="360425"/>
                </a:lnTo>
                <a:lnTo>
                  <a:pt x="0" y="360425"/>
                </a:lnTo>
                <a:lnTo>
                  <a:pt x="0" y="0"/>
                </a:lnTo>
                <a:lnTo>
                  <a:pt x="8389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11" name="object 11"/>
          <p:cNvSpPr/>
          <p:nvPr/>
        </p:nvSpPr>
        <p:spPr>
          <a:xfrm>
            <a:off x="8097573" y="5131135"/>
            <a:ext cx="169371" cy="167988"/>
          </a:xfrm>
          <a:custGeom>
            <a:avLst/>
            <a:gdLst/>
            <a:ahLst/>
            <a:cxnLst/>
            <a:rect l="l" t="t" r="r" b="b"/>
            <a:pathLst>
              <a:path w="248411" h="246383">
                <a:moveTo>
                  <a:pt x="248411" y="123567"/>
                </a:moveTo>
                <a:lnTo>
                  <a:pt x="240452" y="79110"/>
                </a:lnTo>
                <a:lnTo>
                  <a:pt x="221288" y="44520"/>
                </a:lnTo>
                <a:lnTo>
                  <a:pt x="177646" y="11147"/>
                </a:lnTo>
                <a:lnTo>
                  <a:pt x="124515" y="0"/>
                </a:lnTo>
                <a:lnTo>
                  <a:pt x="106326" y="1226"/>
                </a:lnTo>
                <a:lnTo>
                  <a:pt x="55217" y="19738"/>
                </a:lnTo>
                <a:lnTo>
                  <a:pt x="16631" y="60514"/>
                </a:lnTo>
                <a:lnTo>
                  <a:pt x="2521" y="100073"/>
                </a:lnTo>
                <a:lnTo>
                  <a:pt x="0" y="123567"/>
                </a:lnTo>
                <a:lnTo>
                  <a:pt x="2627" y="146920"/>
                </a:lnTo>
                <a:lnTo>
                  <a:pt x="16852" y="186241"/>
                </a:lnTo>
                <a:lnTo>
                  <a:pt x="55428" y="226767"/>
                </a:lnTo>
                <a:lnTo>
                  <a:pt x="106392" y="245165"/>
                </a:lnTo>
                <a:lnTo>
                  <a:pt x="124520" y="246383"/>
                </a:lnTo>
                <a:lnTo>
                  <a:pt x="142697" y="245132"/>
                </a:lnTo>
                <a:lnTo>
                  <a:pt x="193511" y="226697"/>
                </a:lnTo>
                <a:lnTo>
                  <a:pt x="231879" y="186166"/>
                </a:lnTo>
                <a:lnTo>
                  <a:pt x="245903" y="146884"/>
                </a:lnTo>
                <a:lnTo>
                  <a:pt x="248411" y="1235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12" name="object 12"/>
          <p:cNvSpPr/>
          <p:nvPr/>
        </p:nvSpPr>
        <p:spPr>
          <a:xfrm>
            <a:off x="8453462" y="5131109"/>
            <a:ext cx="168852" cy="168036"/>
          </a:xfrm>
          <a:custGeom>
            <a:avLst/>
            <a:gdLst/>
            <a:ahLst/>
            <a:cxnLst/>
            <a:rect l="l" t="t" r="r" b="b"/>
            <a:pathLst>
              <a:path w="247650" h="246453">
                <a:moveTo>
                  <a:pt x="247650" y="123605"/>
                </a:moveTo>
                <a:lnTo>
                  <a:pt x="239357" y="78962"/>
                </a:lnTo>
                <a:lnTo>
                  <a:pt x="220015" y="44303"/>
                </a:lnTo>
                <a:lnTo>
                  <a:pt x="176346" y="10986"/>
                </a:lnTo>
                <a:lnTo>
                  <a:pt x="123396" y="0"/>
                </a:lnTo>
                <a:lnTo>
                  <a:pt x="105307" y="1285"/>
                </a:lnTo>
                <a:lnTo>
                  <a:pt x="54542" y="19946"/>
                </a:lnTo>
                <a:lnTo>
                  <a:pt x="16323" y="60746"/>
                </a:lnTo>
                <a:lnTo>
                  <a:pt x="2430" y="100206"/>
                </a:lnTo>
                <a:lnTo>
                  <a:pt x="0" y="123605"/>
                </a:lnTo>
                <a:lnTo>
                  <a:pt x="2533" y="146861"/>
                </a:lnTo>
                <a:lnTo>
                  <a:pt x="16536" y="186079"/>
                </a:lnTo>
                <a:lnTo>
                  <a:pt x="54742" y="226630"/>
                </a:lnTo>
                <a:lnTo>
                  <a:pt x="105363" y="245176"/>
                </a:lnTo>
                <a:lnTo>
                  <a:pt x="123401" y="246453"/>
                </a:lnTo>
                <a:lnTo>
                  <a:pt x="141502" y="245262"/>
                </a:lnTo>
                <a:lnTo>
                  <a:pt x="192187" y="226966"/>
                </a:lnTo>
                <a:lnTo>
                  <a:pt x="230676" y="186436"/>
                </a:lnTo>
                <a:lnTo>
                  <a:pt x="244953" y="147032"/>
                </a:lnTo>
                <a:lnTo>
                  <a:pt x="247650" y="1236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13" name="object 13"/>
          <p:cNvSpPr/>
          <p:nvPr/>
        </p:nvSpPr>
        <p:spPr>
          <a:xfrm>
            <a:off x="8333966" y="5004969"/>
            <a:ext cx="0" cy="76373"/>
          </a:xfrm>
          <a:custGeom>
            <a:avLst/>
            <a:gdLst/>
            <a:ahLst/>
            <a:cxnLst/>
            <a:rect l="l" t="t" r="r" b="b"/>
            <a:pathLst>
              <a:path h="112013">
                <a:moveTo>
                  <a:pt x="0" y="0"/>
                </a:moveTo>
                <a:lnTo>
                  <a:pt x="0" y="112013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14" name="object 14"/>
          <p:cNvSpPr/>
          <p:nvPr/>
        </p:nvSpPr>
        <p:spPr>
          <a:xfrm>
            <a:off x="8346955" y="5018217"/>
            <a:ext cx="177511" cy="0"/>
          </a:xfrm>
          <a:custGeom>
            <a:avLst/>
            <a:gdLst/>
            <a:ahLst/>
            <a:cxnLst/>
            <a:rect l="l" t="t" r="r" b="b"/>
            <a:pathLst>
              <a:path w="260350">
                <a:moveTo>
                  <a:pt x="260350" y="0"/>
                </a:moveTo>
                <a:lnTo>
                  <a:pt x="0" y="0"/>
                </a:lnTo>
              </a:path>
            </a:pathLst>
          </a:custGeom>
          <a:ln w="4013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15" name="object 15"/>
          <p:cNvSpPr/>
          <p:nvPr/>
        </p:nvSpPr>
        <p:spPr>
          <a:xfrm>
            <a:off x="8537455" y="5004969"/>
            <a:ext cx="0" cy="73775"/>
          </a:xfrm>
          <a:custGeom>
            <a:avLst/>
            <a:gdLst/>
            <a:ahLst/>
            <a:cxnLst/>
            <a:rect l="l" t="t" r="r" b="b"/>
            <a:pathLst>
              <a:path h="108203">
                <a:moveTo>
                  <a:pt x="0" y="0"/>
                </a:moveTo>
                <a:lnTo>
                  <a:pt x="0" y="108203"/>
                </a:lnTo>
              </a:path>
            </a:pathLst>
          </a:custGeom>
          <a:ln w="3937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16" name="object 16"/>
          <p:cNvSpPr/>
          <p:nvPr/>
        </p:nvSpPr>
        <p:spPr>
          <a:xfrm>
            <a:off x="8283050" y="5129863"/>
            <a:ext cx="30654" cy="29740"/>
          </a:xfrm>
          <a:custGeom>
            <a:avLst/>
            <a:gdLst/>
            <a:ahLst/>
            <a:cxnLst/>
            <a:rect l="l" t="t" r="r" b="b"/>
            <a:pathLst>
              <a:path w="44959" h="43618">
                <a:moveTo>
                  <a:pt x="44959" y="21800"/>
                </a:moveTo>
                <a:lnTo>
                  <a:pt x="44941" y="21573"/>
                </a:lnTo>
                <a:lnTo>
                  <a:pt x="40729" y="9155"/>
                </a:lnTo>
                <a:lnTo>
                  <a:pt x="32108" y="2043"/>
                </a:lnTo>
                <a:lnTo>
                  <a:pt x="21403" y="0"/>
                </a:lnTo>
                <a:lnTo>
                  <a:pt x="10934" y="2788"/>
                </a:lnTo>
                <a:lnTo>
                  <a:pt x="3026" y="10171"/>
                </a:lnTo>
                <a:lnTo>
                  <a:pt x="0" y="21910"/>
                </a:lnTo>
                <a:lnTo>
                  <a:pt x="3080" y="33580"/>
                </a:lnTo>
                <a:lnTo>
                  <a:pt x="11033" y="40897"/>
                </a:lnTo>
                <a:lnTo>
                  <a:pt x="21528" y="43618"/>
                </a:lnTo>
                <a:lnTo>
                  <a:pt x="32235" y="41504"/>
                </a:lnTo>
                <a:lnTo>
                  <a:pt x="40822" y="34311"/>
                </a:lnTo>
                <a:lnTo>
                  <a:pt x="44959" y="218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17" name="object 17"/>
          <p:cNvSpPr/>
          <p:nvPr/>
        </p:nvSpPr>
        <p:spPr>
          <a:xfrm>
            <a:off x="8345275" y="5130805"/>
            <a:ext cx="28176" cy="28936"/>
          </a:xfrm>
          <a:custGeom>
            <a:avLst/>
            <a:gdLst/>
            <a:ahLst/>
            <a:cxnLst/>
            <a:rect l="l" t="t" r="r" b="b"/>
            <a:pathLst>
              <a:path w="41325" h="42440">
                <a:moveTo>
                  <a:pt x="41325" y="20418"/>
                </a:moveTo>
                <a:lnTo>
                  <a:pt x="40502" y="15415"/>
                </a:lnTo>
                <a:lnTo>
                  <a:pt x="35322" y="5538"/>
                </a:lnTo>
                <a:lnTo>
                  <a:pt x="27152" y="320"/>
                </a:lnTo>
                <a:lnTo>
                  <a:pt x="17764" y="0"/>
                </a:lnTo>
                <a:lnTo>
                  <a:pt x="8928" y="4818"/>
                </a:lnTo>
                <a:lnTo>
                  <a:pt x="2416" y="15014"/>
                </a:lnTo>
                <a:lnTo>
                  <a:pt x="0" y="30829"/>
                </a:lnTo>
                <a:lnTo>
                  <a:pt x="7789" y="39264"/>
                </a:lnTo>
                <a:lnTo>
                  <a:pt x="18102" y="42440"/>
                </a:lnTo>
                <a:lnTo>
                  <a:pt x="28651" y="40357"/>
                </a:lnTo>
                <a:lnTo>
                  <a:pt x="37154" y="33017"/>
                </a:lnTo>
                <a:lnTo>
                  <a:pt x="41325" y="204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18" name="object 18"/>
          <p:cNvSpPr/>
          <p:nvPr/>
        </p:nvSpPr>
        <p:spPr>
          <a:xfrm>
            <a:off x="8402022" y="5130997"/>
            <a:ext cx="28060" cy="28580"/>
          </a:xfrm>
          <a:custGeom>
            <a:avLst/>
            <a:gdLst/>
            <a:ahLst/>
            <a:cxnLst/>
            <a:rect l="l" t="t" r="r" b="b"/>
            <a:pathLst>
              <a:path w="41155" h="41918">
                <a:moveTo>
                  <a:pt x="41155" y="20137"/>
                </a:moveTo>
                <a:lnTo>
                  <a:pt x="40201" y="14192"/>
                </a:lnTo>
                <a:lnTo>
                  <a:pt x="34882" y="4799"/>
                </a:lnTo>
                <a:lnTo>
                  <a:pt x="26586" y="14"/>
                </a:lnTo>
                <a:lnTo>
                  <a:pt x="17132" y="0"/>
                </a:lnTo>
                <a:lnTo>
                  <a:pt x="8337" y="4915"/>
                </a:lnTo>
                <a:lnTo>
                  <a:pt x="2021" y="14923"/>
                </a:lnTo>
                <a:lnTo>
                  <a:pt x="0" y="30183"/>
                </a:lnTo>
                <a:lnTo>
                  <a:pt x="7502" y="38618"/>
                </a:lnTo>
                <a:lnTo>
                  <a:pt x="17850" y="41918"/>
                </a:lnTo>
                <a:lnTo>
                  <a:pt x="28562" y="39995"/>
                </a:lnTo>
                <a:lnTo>
                  <a:pt x="37158" y="32764"/>
                </a:lnTo>
                <a:lnTo>
                  <a:pt x="41155" y="201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19" name="object 19"/>
          <p:cNvSpPr/>
          <p:nvPr/>
        </p:nvSpPr>
        <p:spPr>
          <a:xfrm>
            <a:off x="8305391" y="5189408"/>
            <a:ext cx="114300" cy="72736"/>
          </a:xfrm>
          <a:custGeom>
            <a:avLst/>
            <a:gdLst/>
            <a:ahLst/>
            <a:cxnLst/>
            <a:rect l="l" t="t" r="r" b="b"/>
            <a:pathLst>
              <a:path w="167640" h="106679">
                <a:moveTo>
                  <a:pt x="0" y="0"/>
                </a:moveTo>
                <a:lnTo>
                  <a:pt x="0" y="106679"/>
                </a:lnTo>
                <a:lnTo>
                  <a:pt x="167640" y="106679"/>
                </a:lnTo>
                <a:lnTo>
                  <a:pt x="16764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20" name="object 20"/>
          <p:cNvSpPr/>
          <p:nvPr/>
        </p:nvSpPr>
        <p:spPr>
          <a:xfrm>
            <a:off x="8251877" y="5307864"/>
            <a:ext cx="211975" cy="0"/>
          </a:xfrm>
          <a:custGeom>
            <a:avLst/>
            <a:gdLst/>
            <a:ahLst/>
            <a:cxnLst/>
            <a:rect l="l" t="t" r="r" b="b"/>
            <a:pathLst>
              <a:path w="310896">
                <a:moveTo>
                  <a:pt x="310896" y="0"/>
                </a:moveTo>
                <a:lnTo>
                  <a:pt x="0" y="0"/>
                </a:lnTo>
              </a:path>
            </a:pathLst>
          </a:custGeom>
          <a:ln w="4241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21" name="object 21"/>
          <p:cNvSpPr/>
          <p:nvPr/>
        </p:nvSpPr>
        <p:spPr>
          <a:xfrm>
            <a:off x="8114199" y="4820011"/>
            <a:ext cx="313805" cy="264449"/>
          </a:xfrm>
          <a:custGeom>
            <a:avLst/>
            <a:gdLst/>
            <a:ahLst/>
            <a:cxnLst/>
            <a:rect l="l" t="t" r="r" b="b"/>
            <a:pathLst>
              <a:path w="460248" h="387858">
                <a:moveTo>
                  <a:pt x="460248" y="13715"/>
                </a:moveTo>
                <a:lnTo>
                  <a:pt x="448055" y="0"/>
                </a:lnTo>
                <a:lnTo>
                  <a:pt x="0" y="372617"/>
                </a:lnTo>
                <a:lnTo>
                  <a:pt x="12192" y="387858"/>
                </a:lnTo>
                <a:lnTo>
                  <a:pt x="460248" y="137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22" name="object 22"/>
          <p:cNvSpPr/>
          <p:nvPr/>
        </p:nvSpPr>
        <p:spPr>
          <a:xfrm>
            <a:off x="8409820" y="4788416"/>
            <a:ext cx="54583" cy="54534"/>
          </a:xfrm>
          <a:custGeom>
            <a:avLst/>
            <a:gdLst/>
            <a:ahLst/>
            <a:cxnLst/>
            <a:rect l="l" t="t" r="r" b="b"/>
            <a:pathLst>
              <a:path w="80055" h="79983">
                <a:moveTo>
                  <a:pt x="80055" y="49907"/>
                </a:moveTo>
                <a:lnTo>
                  <a:pt x="66316" y="11840"/>
                </a:lnTo>
                <a:lnTo>
                  <a:pt x="36820" y="0"/>
                </a:lnTo>
                <a:lnTo>
                  <a:pt x="26518" y="1637"/>
                </a:lnTo>
                <a:lnTo>
                  <a:pt x="274" y="34707"/>
                </a:lnTo>
                <a:lnTo>
                  <a:pt x="0" y="39481"/>
                </a:lnTo>
                <a:lnTo>
                  <a:pt x="2278" y="53168"/>
                </a:lnTo>
                <a:lnTo>
                  <a:pt x="7793" y="64071"/>
                </a:lnTo>
                <a:lnTo>
                  <a:pt x="15808" y="72182"/>
                </a:lnTo>
                <a:lnTo>
                  <a:pt x="25586" y="77489"/>
                </a:lnTo>
                <a:lnTo>
                  <a:pt x="36391" y="79983"/>
                </a:lnTo>
                <a:lnTo>
                  <a:pt x="47487" y="79654"/>
                </a:lnTo>
                <a:lnTo>
                  <a:pt x="58138" y="76492"/>
                </a:lnTo>
                <a:lnTo>
                  <a:pt x="67607" y="70487"/>
                </a:lnTo>
                <a:lnTo>
                  <a:pt x="75158" y="61628"/>
                </a:lnTo>
                <a:lnTo>
                  <a:pt x="80055" y="499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23" name="object 23"/>
          <p:cNvSpPr/>
          <p:nvPr/>
        </p:nvSpPr>
        <p:spPr>
          <a:xfrm>
            <a:off x="8422808" y="4800466"/>
            <a:ext cx="28575" cy="29416"/>
          </a:xfrm>
          <a:custGeom>
            <a:avLst/>
            <a:gdLst/>
            <a:ahLst/>
            <a:cxnLst/>
            <a:rect l="l" t="t" r="r" b="b"/>
            <a:pathLst>
              <a:path w="41910" h="43143">
                <a:moveTo>
                  <a:pt x="41910" y="30189"/>
                </a:moveTo>
                <a:lnTo>
                  <a:pt x="40813" y="11525"/>
                </a:lnTo>
                <a:lnTo>
                  <a:pt x="33028" y="3098"/>
                </a:lnTo>
                <a:lnTo>
                  <a:pt x="22572" y="0"/>
                </a:lnTo>
                <a:lnTo>
                  <a:pt x="11928" y="2143"/>
                </a:lnTo>
                <a:lnTo>
                  <a:pt x="3577" y="9441"/>
                </a:lnTo>
                <a:lnTo>
                  <a:pt x="0" y="21807"/>
                </a:lnTo>
                <a:lnTo>
                  <a:pt x="762" y="30189"/>
                </a:lnTo>
                <a:lnTo>
                  <a:pt x="6858" y="37047"/>
                </a:lnTo>
                <a:lnTo>
                  <a:pt x="13716" y="42381"/>
                </a:lnTo>
                <a:lnTo>
                  <a:pt x="21336" y="43143"/>
                </a:lnTo>
                <a:lnTo>
                  <a:pt x="29718" y="42381"/>
                </a:lnTo>
                <a:lnTo>
                  <a:pt x="36575" y="37047"/>
                </a:lnTo>
                <a:lnTo>
                  <a:pt x="41910" y="301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24" name="object 24"/>
          <p:cNvSpPr/>
          <p:nvPr/>
        </p:nvSpPr>
        <p:spPr>
          <a:xfrm>
            <a:off x="8678944" y="4861055"/>
            <a:ext cx="31692" cy="36887"/>
          </a:xfrm>
          <a:custGeom>
            <a:avLst/>
            <a:gdLst/>
            <a:ahLst/>
            <a:cxnLst/>
            <a:rect l="l" t="t" r="r" b="b"/>
            <a:pathLst>
              <a:path w="46481" h="54101">
                <a:moveTo>
                  <a:pt x="46481" y="13715"/>
                </a:moveTo>
                <a:lnTo>
                  <a:pt x="22859" y="0"/>
                </a:lnTo>
                <a:lnTo>
                  <a:pt x="0" y="40386"/>
                </a:lnTo>
                <a:lnTo>
                  <a:pt x="22859" y="54101"/>
                </a:lnTo>
                <a:lnTo>
                  <a:pt x="46481" y="137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25" name="object 25"/>
          <p:cNvSpPr/>
          <p:nvPr/>
        </p:nvSpPr>
        <p:spPr>
          <a:xfrm>
            <a:off x="8705960" y="4815335"/>
            <a:ext cx="31692" cy="36368"/>
          </a:xfrm>
          <a:custGeom>
            <a:avLst/>
            <a:gdLst/>
            <a:ahLst/>
            <a:cxnLst/>
            <a:rect l="l" t="t" r="r" b="b"/>
            <a:pathLst>
              <a:path w="46481" h="53340">
                <a:moveTo>
                  <a:pt x="46481" y="13716"/>
                </a:moveTo>
                <a:lnTo>
                  <a:pt x="22859" y="0"/>
                </a:lnTo>
                <a:lnTo>
                  <a:pt x="0" y="41148"/>
                </a:lnTo>
                <a:lnTo>
                  <a:pt x="22859" y="53340"/>
                </a:lnTo>
                <a:lnTo>
                  <a:pt x="46481" y="137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26" name="object 26"/>
          <p:cNvSpPr/>
          <p:nvPr/>
        </p:nvSpPr>
        <p:spPr>
          <a:xfrm>
            <a:off x="8735055" y="4765979"/>
            <a:ext cx="31692" cy="36368"/>
          </a:xfrm>
          <a:custGeom>
            <a:avLst/>
            <a:gdLst/>
            <a:ahLst/>
            <a:cxnLst/>
            <a:rect l="l" t="t" r="r" b="b"/>
            <a:pathLst>
              <a:path w="46481" h="53339">
                <a:moveTo>
                  <a:pt x="46481" y="13715"/>
                </a:moveTo>
                <a:lnTo>
                  <a:pt x="22859" y="0"/>
                </a:lnTo>
                <a:lnTo>
                  <a:pt x="0" y="39624"/>
                </a:lnTo>
                <a:lnTo>
                  <a:pt x="22859" y="53339"/>
                </a:lnTo>
                <a:lnTo>
                  <a:pt x="46481" y="137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27" name="object 27"/>
          <p:cNvSpPr/>
          <p:nvPr/>
        </p:nvSpPr>
        <p:spPr>
          <a:xfrm>
            <a:off x="8691932" y="4941585"/>
            <a:ext cx="34290" cy="23379"/>
          </a:xfrm>
          <a:custGeom>
            <a:avLst/>
            <a:gdLst/>
            <a:ahLst/>
            <a:cxnLst/>
            <a:rect l="l" t="t" r="r" b="b"/>
            <a:pathLst>
              <a:path w="50292" h="34289">
                <a:moveTo>
                  <a:pt x="50292" y="27431"/>
                </a:moveTo>
                <a:lnTo>
                  <a:pt x="46481" y="0"/>
                </a:lnTo>
                <a:lnTo>
                  <a:pt x="0" y="6857"/>
                </a:lnTo>
                <a:lnTo>
                  <a:pt x="3809" y="34289"/>
                </a:lnTo>
                <a:lnTo>
                  <a:pt x="50292" y="274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28" name="object 28"/>
          <p:cNvSpPr/>
          <p:nvPr/>
        </p:nvSpPr>
        <p:spPr>
          <a:xfrm>
            <a:off x="8744926" y="4935351"/>
            <a:ext cx="33770" cy="22340"/>
          </a:xfrm>
          <a:custGeom>
            <a:avLst/>
            <a:gdLst/>
            <a:ahLst/>
            <a:cxnLst/>
            <a:rect l="l" t="t" r="r" b="b"/>
            <a:pathLst>
              <a:path w="49529" h="32765">
                <a:moveTo>
                  <a:pt x="49529" y="25908"/>
                </a:moveTo>
                <a:lnTo>
                  <a:pt x="46481" y="0"/>
                </a:lnTo>
                <a:lnTo>
                  <a:pt x="0" y="5334"/>
                </a:lnTo>
                <a:lnTo>
                  <a:pt x="4572" y="32765"/>
                </a:lnTo>
                <a:lnTo>
                  <a:pt x="49529" y="259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29" name="object 29"/>
          <p:cNvSpPr/>
          <p:nvPr/>
        </p:nvSpPr>
        <p:spPr>
          <a:xfrm>
            <a:off x="8802077" y="4927037"/>
            <a:ext cx="34289" cy="23379"/>
          </a:xfrm>
          <a:custGeom>
            <a:avLst/>
            <a:gdLst/>
            <a:ahLst/>
            <a:cxnLst/>
            <a:rect l="l" t="t" r="r" b="b"/>
            <a:pathLst>
              <a:path w="50291" h="34289">
                <a:moveTo>
                  <a:pt x="50291" y="27431"/>
                </a:moveTo>
                <a:lnTo>
                  <a:pt x="46481" y="0"/>
                </a:lnTo>
                <a:lnTo>
                  <a:pt x="0" y="6857"/>
                </a:lnTo>
                <a:lnTo>
                  <a:pt x="3809" y="34289"/>
                </a:lnTo>
                <a:lnTo>
                  <a:pt x="50291" y="2743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30" name="object 30"/>
          <p:cNvSpPr/>
          <p:nvPr/>
        </p:nvSpPr>
        <p:spPr>
          <a:xfrm>
            <a:off x="8610884" y="4870407"/>
            <a:ext cx="22340" cy="33251"/>
          </a:xfrm>
          <a:custGeom>
            <a:avLst/>
            <a:gdLst/>
            <a:ahLst/>
            <a:cxnLst/>
            <a:rect l="l" t="t" r="r" b="b"/>
            <a:pathLst>
              <a:path w="32766" h="48768">
                <a:moveTo>
                  <a:pt x="32766" y="45720"/>
                </a:moveTo>
                <a:lnTo>
                  <a:pt x="27431" y="0"/>
                </a:lnTo>
                <a:lnTo>
                  <a:pt x="0" y="3810"/>
                </a:lnTo>
                <a:lnTo>
                  <a:pt x="6857" y="48768"/>
                </a:lnTo>
                <a:lnTo>
                  <a:pt x="32766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31" name="object 31"/>
          <p:cNvSpPr/>
          <p:nvPr/>
        </p:nvSpPr>
        <p:spPr>
          <a:xfrm>
            <a:off x="8604130" y="4816893"/>
            <a:ext cx="22859" cy="34810"/>
          </a:xfrm>
          <a:custGeom>
            <a:avLst/>
            <a:gdLst/>
            <a:ahLst/>
            <a:cxnLst/>
            <a:rect l="l" t="t" r="r" b="b"/>
            <a:pathLst>
              <a:path w="33527" h="51054">
                <a:moveTo>
                  <a:pt x="33527" y="46482"/>
                </a:moveTo>
                <a:lnTo>
                  <a:pt x="26670" y="0"/>
                </a:lnTo>
                <a:lnTo>
                  <a:pt x="0" y="4572"/>
                </a:lnTo>
                <a:lnTo>
                  <a:pt x="6096" y="51054"/>
                </a:lnTo>
                <a:lnTo>
                  <a:pt x="33527" y="464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32" name="object 32"/>
          <p:cNvSpPr/>
          <p:nvPr/>
        </p:nvSpPr>
        <p:spPr>
          <a:xfrm>
            <a:off x="8595817" y="4760264"/>
            <a:ext cx="22340" cy="33770"/>
          </a:xfrm>
          <a:custGeom>
            <a:avLst/>
            <a:gdLst/>
            <a:ahLst/>
            <a:cxnLst/>
            <a:rect l="l" t="t" r="r" b="b"/>
            <a:pathLst>
              <a:path w="32766" h="49529">
                <a:moveTo>
                  <a:pt x="32766" y="46481"/>
                </a:moveTo>
                <a:lnTo>
                  <a:pt x="27431" y="0"/>
                </a:lnTo>
                <a:lnTo>
                  <a:pt x="0" y="3809"/>
                </a:lnTo>
                <a:lnTo>
                  <a:pt x="6857" y="49529"/>
                </a:lnTo>
                <a:lnTo>
                  <a:pt x="32766" y="464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33" name="object 33"/>
          <p:cNvSpPr/>
          <p:nvPr/>
        </p:nvSpPr>
        <p:spPr>
          <a:xfrm>
            <a:off x="7993663" y="2895187"/>
            <a:ext cx="920115" cy="970418"/>
          </a:xfrm>
          <a:custGeom>
            <a:avLst/>
            <a:gdLst/>
            <a:ahLst/>
            <a:cxnLst/>
            <a:rect l="l" t="t" r="r" b="b"/>
            <a:pathLst>
              <a:path w="1349502" h="1423280">
                <a:moveTo>
                  <a:pt x="579120" y="1423280"/>
                </a:moveTo>
                <a:lnTo>
                  <a:pt x="579120" y="261992"/>
                </a:lnTo>
                <a:lnTo>
                  <a:pt x="566165" y="271898"/>
                </a:lnTo>
                <a:lnTo>
                  <a:pt x="554735" y="284852"/>
                </a:lnTo>
                <a:lnTo>
                  <a:pt x="544829" y="299330"/>
                </a:lnTo>
                <a:lnTo>
                  <a:pt x="537972" y="314570"/>
                </a:lnTo>
                <a:lnTo>
                  <a:pt x="1524" y="314570"/>
                </a:lnTo>
                <a:lnTo>
                  <a:pt x="0" y="1172582"/>
                </a:lnTo>
                <a:lnTo>
                  <a:pt x="1524" y="1197728"/>
                </a:lnTo>
                <a:lnTo>
                  <a:pt x="5333" y="1222874"/>
                </a:lnTo>
                <a:lnTo>
                  <a:pt x="16082" y="1260046"/>
                </a:lnTo>
                <a:lnTo>
                  <a:pt x="38477" y="1304973"/>
                </a:lnTo>
                <a:lnTo>
                  <a:pt x="69099" y="1345546"/>
                </a:lnTo>
                <a:lnTo>
                  <a:pt x="111251" y="1381370"/>
                </a:lnTo>
                <a:lnTo>
                  <a:pt x="153924" y="1403468"/>
                </a:lnTo>
                <a:lnTo>
                  <a:pt x="200405" y="1417946"/>
                </a:lnTo>
                <a:lnTo>
                  <a:pt x="251459" y="1423280"/>
                </a:lnTo>
                <a:lnTo>
                  <a:pt x="579120" y="1423280"/>
                </a:lnTo>
                <a:close/>
              </a:path>
              <a:path w="1349502" h="1423280">
                <a:moveTo>
                  <a:pt x="554735" y="101210"/>
                </a:moveTo>
                <a:lnTo>
                  <a:pt x="546353" y="63110"/>
                </a:lnTo>
                <a:lnTo>
                  <a:pt x="520054" y="27126"/>
                </a:lnTo>
                <a:lnTo>
                  <a:pt x="481554" y="5542"/>
                </a:lnTo>
                <a:lnTo>
                  <a:pt x="451298" y="0"/>
                </a:lnTo>
                <a:lnTo>
                  <a:pt x="435959" y="2197"/>
                </a:lnTo>
                <a:lnTo>
                  <a:pt x="399182" y="13914"/>
                </a:lnTo>
                <a:lnTo>
                  <a:pt x="363638" y="48664"/>
                </a:lnTo>
                <a:lnTo>
                  <a:pt x="345948" y="104258"/>
                </a:lnTo>
                <a:lnTo>
                  <a:pt x="354329" y="143882"/>
                </a:lnTo>
                <a:lnTo>
                  <a:pt x="377189" y="177410"/>
                </a:lnTo>
                <a:lnTo>
                  <a:pt x="423672" y="204080"/>
                </a:lnTo>
                <a:lnTo>
                  <a:pt x="447851" y="207429"/>
                </a:lnTo>
                <a:lnTo>
                  <a:pt x="461051" y="207207"/>
                </a:lnTo>
                <a:lnTo>
                  <a:pt x="474272" y="205599"/>
                </a:lnTo>
                <a:lnTo>
                  <a:pt x="486976" y="202515"/>
                </a:lnTo>
                <a:lnTo>
                  <a:pt x="498623" y="197865"/>
                </a:lnTo>
                <a:lnTo>
                  <a:pt x="528065" y="221320"/>
                </a:lnTo>
                <a:lnTo>
                  <a:pt x="528065" y="172076"/>
                </a:lnTo>
                <a:lnTo>
                  <a:pt x="547877" y="137786"/>
                </a:lnTo>
                <a:lnTo>
                  <a:pt x="554735" y="101210"/>
                </a:lnTo>
                <a:close/>
              </a:path>
              <a:path w="1349502" h="1423280">
                <a:moveTo>
                  <a:pt x="803148" y="211700"/>
                </a:moveTo>
                <a:lnTo>
                  <a:pt x="803148" y="172076"/>
                </a:lnTo>
                <a:lnTo>
                  <a:pt x="729996" y="246752"/>
                </a:lnTo>
                <a:lnTo>
                  <a:pt x="718665" y="241631"/>
                </a:lnTo>
                <a:lnTo>
                  <a:pt x="706878" y="237505"/>
                </a:lnTo>
                <a:lnTo>
                  <a:pt x="694744" y="234399"/>
                </a:lnTo>
                <a:lnTo>
                  <a:pt x="682369" y="232341"/>
                </a:lnTo>
                <a:lnTo>
                  <a:pt x="669864" y="231355"/>
                </a:lnTo>
                <a:lnTo>
                  <a:pt x="657336" y="231468"/>
                </a:lnTo>
                <a:lnTo>
                  <a:pt x="644894" y="232707"/>
                </a:lnTo>
                <a:lnTo>
                  <a:pt x="632645" y="235098"/>
                </a:lnTo>
                <a:lnTo>
                  <a:pt x="620699" y="238668"/>
                </a:lnTo>
                <a:lnTo>
                  <a:pt x="609164" y="243441"/>
                </a:lnTo>
                <a:lnTo>
                  <a:pt x="528065" y="172076"/>
                </a:lnTo>
                <a:lnTo>
                  <a:pt x="528065" y="221320"/>
                </a:lnTo>
                <a:lnTo>
                  <a:pt x="579120" y="261992"/>
                </a:lnTo>
                <a:lnTo>
                  <a:pt x="579120" y="1423280"/>
                </a:lnTo>
                <a:lnTo>
                  <a:pt x="751331" y="1423280"/>
                </a:lnTo>
                <a:lnTo>
                  <a:pt x="751331" y="263516"/>
                </a:lnTo>
                <a:lnTo>
                  <a:pt x="803148" y="211700"/>
                </a:lnTo>
                <a:close/>
              </a:path>
              <a:path w="1349502" h="1423280">
                <a:moveTo>
                  <a:pt x="1349502" y="565268"/>
                </a:moveTo>
                <a:lnTo>
                  <a:pt x="1344168" y="514976"/>
                </a:lnTo>
                <a:lnTo>
                  <a:pt x="1329689" y="468494"/>
                </a:lnTo>
                <a:lnTo>
                  <a:pt x="1306829" y="425822"/>
                </a:lnTo>
                <a:lnTo>
                  <a:pt x="1274337" y="386501"/>
                </a:lnTo>
                <a:lnTo>
                  <a:pt x="1244311" y="361252"/>
                </a:lnTo>
                <a:lnTo>
                  <a:pt x="1210330" y="341109"/>
                </a:lnTo>
                <a:lnTo>
                  <a:pt x="1173545" y="326398"/>
                </a:lnTo>
                <a:lnTo>
                  <a:pt x="1135107" y="317445"/>
                </a:lnTo>
                <a:lnTo>
                  <a:pt x="1098041" y="314570"/>
                </a:lnTo>
                <a:lnTo>
                  <a:pt x="790194" y="314570"/>
                </a:lnTo>
                <a:lnTo>
                  <a:pt x="783335" y="300092"/>
                </a:lnTo>
                <a:lnTo>
                  <a:pt x="773429" y="286376"/>
                </a:lnTo>
                <a:lnTo>
                  <a:pt x="763524" y="273422"/>
                </a:lnTo>
                <a:lnTo>
                  <a:pt x="751331" y="263516"/>
                </a:lnTo>
                <a:lnTo>
                  <a:pt x="751331" y="1423280"/>
                </a:lnTo>
                <a:lnTo>
                  <a:pt x="1347977" y="1423280"/>
                </a:lnTo>
                <a:lnTo>
                  <a:pt x="1349502" y="565268"/>
                </a:lnTo>
                <a:close/>
              </a:path>
              <a:path w="1349502" h="1423280">
                <a:moveTo>
                  <a:pt x="985265" y="104258"/>
                </a:moveTo>
                <a:lnTo>
                  <a:pt x="976883" y="64634"/>
                </a:lnTo>
                <a:lnTo>
                  <a:pt x="952413" y="29279"/>
                </a:lnTo>
                <a:lnTo>
                  <a:pt x="911037" y="5511"/>
                </a:lnTo>
                <a:lnTo>
                  <a:pt x="882774" y="101"/>
                </a:lnTo>
                <a:lnTo>
                  <a:pt x="865763" y="2605"/>
                </a:lnTo>
                <a:lnTo>
                  <a:pt x="820512" y="18843"/>
                </a:lnTo>
                <a:lnTo>
                  <a:pt x="786541" y="60495"/>
                </a:lnTo>
                <a:lnTo>
                  <a:pt x="776477" y="101210"/>
                </a:lnTo>
                <a:lnTo>
                  <a:pt x="783335" y="137786"/>
                </a:lnTo>
                <a:lnTo>
                  <a:pt x="803148" y="172076"/>
                </a:lnTo>
                <a:lnTo>
                  <a:pt x="803148" y="211700"/>
                </a:lnTo>
                <a:lnTo>
                  <a:pt x="822959" y="191888"/>
                </a:lnTo>
                <a:lnTo>
                  <a:pt x="838200" y="200270"/>
                </a:lnTo>
                <a:lnTo>
                  <a:pt x="855726" y="205604"/>
                </a:lnTo>
                <a:lnTo>
                  <a:pt x="874013" y="207128"/>
                </a:lnTo>
                <a:lnTo>
                  <a:pt x="890777" y="207128"/>
                </a:lnTo>
                <a:lnTo>
                  <a:pt x="929291" y="195963"/>
                </a:lnTo>
                <a:lnTo>
                  <a:pt x="959072" y="171689"/>
                </a:lnTo>
                <a:lnTo>
                  <a:pt x="974219" y="149113"/>
                </a:lnTo>
                <a:lnTo>
                  <a:pt x="985265" y="1042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34" name="object 34"/>
          <p:cNvSpPr/>
          <p:nvPr/>
        </p:nvSpPr>
        <p:spPr>
          <a:xfrm>
            <a:off x="8736614" y="3183143"/>
            <a:ext cx="125210" cy="617000"/>
          </a:xfrm>
          <a:custGeom>
            <a:avLst/>
            <a:gdLst/>
            <a:ahLst/>
            <a:cxnLst/>
            <a:rect l="l" t="t" r="r" b="b"/>
            <a:pathLst>
              <a:path w="183642" h="904934">
                <a:moveTo>
                  <a:pt x="183642" y="904934"/>
                </a:moveTo>
                <a:lnTo>
                  <a:pt x="183642" y="240470"/>
                </a:lnTo>
                <a:lnTo>
                  <a:pt x="179070" y="198560"/>
                </a:lnTo>
                <a:lnTo>
                  <a:pt x="169164" y="157412"/>
                </a:lnTo>
                <a:lnTo>
                  <a:pt x="153924" y="120836"/>
                </a:lnTo>
                <a:lnTo>
                  <a:pt x="131990" y="87702"/>
                </a:lnTo>
                <a:lnTo>
                  <a:pt x="106199" y="58637"/>
                </a:lnTo>
                <a:lnTo>
                  <a:pt x="76630" y="34055"/>
                </a:lnTo>
                <a:lnTo>
                  <a:pt x="43363" y="14371"/>
                </a:lnTo>
                <a:lnTo>
                  <a:pt x="6477" y="0"/>
                </a:lnTo>
                <a:lnTo>
                  <a:pt x="0" y="904934"/>
                </a:lnTo>
                <a:lnTo>
                  <a:pt x="183642" y="904934"/>
                </a:lnTo>
                <a:close/>
              </a:path>
            </a:pathLst>
          </a:custGeom>
          <a:solidFill>
            <a:srgbClr val="C9DBA3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35" name="object 35"/>
          <p:cNvSpPr/>
          <p:nvPr/>
        </p:nvSpPr>
        <p:spPr>
          <a:xfrm>
            <a:off x="8081090" y="3710781"/>
            <a:ext cx="145330" cy="92832"/>
          </a:xfrm>
          <a:custGeom>
            <a:avLst/>
            <a:gdLst/>
            <a:ahLst/>
            <a:cxnLst/>
            <a:rect l="l" t="t" r="r" b="b"/>
            <a:pathLst>
              <a:path w="213151" h="136154">
                <a:moveTo>
                  <a:pt x="213151" y="132587"/>
                </a:moveTo>
                <a:lnTo>
                  <a:pt x="213151" y="0"/>
                </a:lnTo>
                <a:lnTo>
                  <a:pt x="1315" y="0"/>
                </a:lnTo>
                <a:lnTo>
                  <a:pt x="0" y="21540"/>
                </a:lnTo>
                <a:lnTo>
                  <a:pt x="368" y="40752"/>
                </a:lnTo>
                <a:lnTo>
                  <a:pt x="10860" y="85680"/>
                </a:lnTo>
                <a:lnTo>
                  <a:pt x="44070" y="120655"/>
                </a:lnTo>
                <a:lnTo>
                  <a:pt x="80882" y="132620"/>
                </a:lnTo>
                <a:lnTo>
                  <a:pt x="125746" y="136154"/>
                </a:lnTo>
                <a:lnTo>
                  <a:pt x="142156" y="136049"/>
                </a:lnTo>
                <a:lnTo>
                  <a:pt x="159172" y="135513"/>
                </a:lnTo>
                <a:lnTo>
                  <a:pt x="176725" y="134673"/>
                </a:lnTo>
                <a:lnTo>
                  <a:pt x="194742" y="133656"/>
                </a:lnTo>
                <a:lnTo>
                  <a:pt x="213151" y="132587"/>
                </a:lnTo>
                <a:close/>
              </a:path>
            </a:pathLst>
          </a:custGeom>
          <a:solidFill>
            <a:srgbClr val="7085FF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36" name="object 36"/>
          <p:cNvSpPr/>
          <p:nvPr/>
        </p:nvSpPr>
        <p:spPr>
          <a:xfrm>
            <a:off x="8516327" y="3710781"/>
            <a:ext cx="144241" cy="92724"/>
          </a:xfrm>
          <a:custGeom>
            <a:avLst/>
            <a:gdLst/>
            <a:ahLst/>
            <a:cxnLst/>
            <a:rect l="l" t="t" r="r" b="b"/>
            <a:pathLst>
              <a:path w="211554" h="135995">
                <a:moveTo>
                  <a:pt x="211554" y="21676"/>
                </a:moveTo>
                <a:lnTo>
                  <a:pt x="210311" y="0"/>
                </a:lnTo>
                <a:lnTo>
                  <a:pt x="0" y="0"/>
                </a:lnTo>
                <a:lnTo>
                  <a:pt x="0" y="132587"/>
                </a:lnTo>
                <a:lnTo>
                  <a:pt x="37007" y="134525"/>
                </a:lnTo>
                <a:lnTo>
                  <a:pt x="54705" y="135337"/>
                </a:lnTo>
                <a:lnTo>
                  <a:pt x="71782" y="135871"/>
                </a:lnTo>
                <a:lnTo>
                  <a:pt x="88178" y="135995"/>
                </a:lnTo>
                <a:lnTo>
                  <a:pt x="103831" y="135580"/>
                </a:lnTo>
                <a:lnTo>
                  <a:pt x="145710" y="129790"/>
                </a:lnTo>
                <a:lnTo>
                  <a:pt x="187394" y="106596"/>
                </a:lnTo>
                <a:lnTo>
                  <a:pt x="205877" y="73026"/>
                </a:lnTo>
                <a:lnTo>
                  <a:pt x="211554" y="21676"/>
                </a:lnTo>
                <a:close/>
              </a:path>
            </a:pathLst>
          </a:custGeom>
          <a:solidFill>
            <a:srgbClr val="7085FF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37" name="object 37"/>
          <p:cNvSpPr/>
          <p:nvPr/>
        </p:nvSpPr>
        <p:spPr>
          <a:xfrm>
            <a:off x="8261794" y="2928989"/>
            <a:ext cx="80576" cy="74784"/>
          </a:xfrm>
          <a:custGeom>
            <a:avLst/>
            <a:gdLst/>
            <a:ahLst/>
            <a:cxnLst/>
            <a:rect l="l" t="t" r="r" b="b"/>
            <a:pathLst>
              <a:path w="118178" h="109683">
                <a:moveTo>
                  <a:pt x="118178" y="50614"/>
                </a:moveTo>
                <a:lnTo>
                  <a:pt x="97936" y="9187"/>
                </a:lnTo>
                <a:lnTo>
                  <a:pt x="64242" y="0"/>
                </a:lnTo>
                <a:lnTo>
                  <a:pt x="55479" y="1179"/>
                </a:lnTo>
                <a:lnTo>
                  <a:pt x="16826" y="23229"/>
                </a:lnTo>
                <a:lnTo>
                  <a:pt x="0" y="63579"/>
                </a:lnTo>
                <a:lnTo>
                  <a:pt x="839" y="72810"/>
                </a:lnTo>
                <a:lnTo>
                  <a:pt x="30218" y="107067"/>
                </a:lnTo>
                <a:lnTo>
                  <a:pt x="47639" y="109683"/>
                </a:lnTo>
                <a:lnTo>
                  <a:pt x="56625" y="108981"/>
                </a:lnTo>
                <a:lnTo>
                  <a:pt x="97936" y="89045"/>
                </a:lnTo>
                <a:lnTo>
                  <a:pt x="118178" y="50614"/>
                </a:lnTo>
                <a:close/>
              </a:path>
            </a:pathLst>
          </a:custGeom>
          <a:solidFill>
            <a:srgbClr val="91AD68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38" name="object 38"/>
          <p:cNvSpPr/>
          <p:nvPr/>
        </p:nvSpPr>
        <p:spPr>
          <a:xfrm>
            <a:off x="8552599" y="2928989"/>
            <a:ext cx="80575" cy="74783"/>
          </a:xfrm>
          <a:custGeom>
            <a:avLst/>
            <a:gdLst/>
            <a:ahLst/>
            <a:cxnLst/>
            <a:rect l="l" t="t" r="r" b="b"/>
            <a:pathLst>
              <a:path w="118176" h="109681">
                <a:moveTo>
                  <a:pt x="118176" y="63585"/>
                </a:moveTo>
                <a:lnTo>
                  <a:pt x="101350" y="23231"/>
                </a:lnTo>
                <a:lnTo>
                  <a:pt x="62697" y="1179"/>
                </a:lnTo>
                <a:lnTo>
                  <a:pt x="53933" y="0"/>
                </a:lnTo>
                <a:lnTo>
                  <a:pt x="45162" y="117"/>
                </a:lnTo>
                <a:lnTo>
                  <a:pt x="6235" y="23441"/>
                </a:lnTo>
                <a:lnTo>
                  <a:pt x="0" y="50607"/>
                </a:lnTo>
                <a:lnTo>
                  <a:pt x="1421" y="59236"/>
                </a:lnTo>
                <a:lnTo>
                  <a:pt x="27527" y="94951"/>
                </a:lnTo>
                <a:lnTo>
                  <a:pt x="70531" y="109681"/>
                </a:lnTo>
                <a:lnTo>
                  <a:pt x="79387" y="109076"/>
                </a:lnTo>
                <a:lnTo>
                  <a:pt x="114757" y="82218"/>
                </a:lnTo>
                <a:lnTo>
                  <a:pt x="118176" y="63585"/>
                </a:lnTo>
                <a:close/>
              </a:path>
            </a:pathLst>
          </a:custGeom>
          <a:solidFill>
            <a:srgbClr val="91AD68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39" name="object 39"/>
          <p:cNvSpPr/>
          <p:nvPr/>
        </p:nvSpPr>
        <p:spPr>
          <a:xfrm>
            <a:off x="8256555" y="3779881"/>
            <a:ext cx="126768" cy="0"/>
          </a:xfrm>
          <a:custGeom>
            <a:avLst/>
            <a:gdLst/>
            <a:ahLst/>
            <a:cxnLst/>
            <a:rect l="l" t="t" r="r" b="b"/>
            <a:pathLst>
              <a:path w="185927">
                <a:moveTo>
                  <a:pt x="185927" y="0"/>
                </a:moveTo>
                <a:lnTo>
                  <a:pt x="0" y="0"/>
                </a:lnTo>
              </a:path>
            </a:pathLst>
          </a:custGeom>
          <a:ln w="57657">
            <a:solidFill>
              <a:srgbClr val="C9DBA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40" name="object 40"/>
          <p:cNvSpPr/>
          <p:nvPr/>
        </p:nvSpPr>
        <p:spPr>
          <a:xfrm>
            <a:off x="8415016" y="3779881"/>
            <a:ext cx="68579" cy="0"/>
          </a:xfrm>
          <a:custGeom>
            <a:avLst/>
            <a:gdLst/>
            <a:ahLst/>
            <a:cxnLst/>
            <a:rect l="l" t="t" r="r" b="b"/>
            <a:pathLst>
              <a:path w="100583">
                <a:moveTo>
                  <a:pt x="100583" y="0"/>
                </a:moveTo>
                <a:lnTo>
                  <a:pt x="0" y="0"/>
                </a:lnTo>
              </a:path>
            </a:pathLst>
          </a:custGeom>
          <a:ln w="57657">
            <a:solidFill>
              <a:srgbClr val="65FF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41" name="object 41"/>
          <p:cNvSpPr/>
          <p:nvPr/>
        </p:nvSpPr>
        <p:spPr>
          <a:xfrm>
            <a:off x="8052373" y="3175130"/>
            <a:ext cx="609427" cy="492529"/>
          </a:xfrm>
          <a:custGeom>
            <a:avLst/>
            <a:gdLst/>
            <a:ahLst/>
            <a:cxnLst/>
            <a:rect l="l" t="t" r="r" b="b"/>
            <a:pathLst>
              <a:path w="893826" h="722376">
                <a:moveTo>
                  <a:pt x="893826" y="617982"/>
                </a:moveTo>
                <a:lnTo>
                  <a:pt x="893826" y="104394"/>
                </a:lnTo>
                <a:lnTo>
                  <a:pt x="892301" y="83058"/>
                </a:lnTo>
                <a:lnTo>
                  <a:pt x="875538" y="46482"/>
                </a:lnTo>
                <a:lnTo>
                  <a:pt x="847344" y="18288"/>
                </a:lnTo>
                <a:lnTo>
                  <a:pt x="810005" y="1524"/>
                </a:lnTo>
                <a:lnTo>
                  <a:pt x="789431" y="0"/>
                </a:lnTo>
                <a:lnTo>
                  <a:pt x="104394" y="0"/>
                </a:lnTo>
                <a:lnTo>
                  <a:pt x="64770" y="8382"/>
                </a:lnTo>
                <a:lnTo>
                  <a:pt x="31242" y="30480"/>
                </a:lnTo>
                <a:lnTo>
                  <a:pt x="8381" y="63246"/>
                </a:lnTo>
                <a:lnTo>
                  <a:pt x="0" y="104394"/>
                </a:lnTo>
                <a:lnTo>
                  <a:pt x="0" y="617982"/>
                </a:lnTo>
                <a:lnTo>
                  <a:pt x="8381" y="658368"/>
                </a:lnTo>
                <a:lnTo>
                  <a:pt x="31242" y="691134"/>
                </a:lnTo>
                <a:lnTo>
                  <a:pt x="64770" y="713994"/>
                </a:lnTo>
                <a:lnTo>
                  <a:pt x="104394" y="722376"/>
                </a:lnTo>
                <a:lnTo>
                  <a:pt x="789431" y="722376"/>
                </a:lnTo>
                <a:lnTo>
                  <a:pt x="829818" y="713994"/>
                </a:lnTo>
                <a:lnTo>
                  <a:pt x="862583" y="691134"/>
                </a:lnTo>
                <a:lnTo>
                  <a:pt x="885444" y="658368"/>
                </a:lnTo>
                <a:lnTo>
                  <a:pt x="893826" y="617982"/>
                </a:lnTo>
                <a:close/>
              </a:path>
            </a:pathLst>
          </a:custGeom>
          <a:solidFill>
            <a:srgbClr val="65FF00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42" name="object 42"/>
          <p:cNvSpPr/>
          <p:nvPr/>
        </p:nvSpPr>
        <p:spPr>
          <a:xfrm>
            <a:off x="5316966" y="3276441"/>
            <a:ext cx="323157" cy="131445"/>
          </a:xfrm>
          <a:custGeom>
            <a:avLst/>
            <a:gdLst/>
            <a:ahLst/>
            <a:cxnLst/>
            <a:rect l="l" t="t" r="r" b="b"/>
            <a:pathLst>
              <a:path w="473963" h="192786">
                <a:moveTo>
                  <a:pt x="0" y="0"/>
                </a:moveTo>
                <a:lnTo>
                  <a:pt x="473963" y="192786"/>
                </a:lnTo>
              </a:path>
            </a:pathLst>
          </a:custGeom>
          <a:ln w="104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43" name="object 43"/>
          <p:cNvSpPr/>
          <p:nvPr/>
        </p:nvSpPr>
        <p:spPr>
          <a:xfrm>
            <a:off x="5553358" y="3408926"/>
            <a:ext cx="86245" cy="80529"/>
          </a:xfrm>
          <a:custGeom>
            <a:avLst/>
            <a:gdLst/>
            <a:ahLst/>
            <a:cxnLst/>
            <a:rect l="l" t="t" r="r" b="b"/>
            <a:pathLst>
              <a:path w="126492" h="118109">
                <a:moveTo>
                  <a:pt x="0" y="118109"/>
                </a:moveTo>
                <a:lnTo>
                  <a:pt x="126492" y="0"/>
                </a:lnTo>
              </a:path>
            </a:pathLst>
          </a:custGeom>
          <a:ln w="104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44" name="object 44"/>
          <p:cNvSpPr/>
          <p:nvPr/>
        </p:nvSpPr>
        <p:spPr>
          <a:xfrm>
            <a:off x="5549202" y="3484779"/>
            <a:ext cx="247304" cy="103909"/>
          </a:xfrm>
          <a:custGeom>
            <a:avLst/>
            <a:gdLst/>
            <a:ahLst/>
            <a:cxnLst/>
            <a:rect l="l" t="t" r="r" b="b"/>
            <a:pathLst>
              <a:path w="362712" h="152400">
                <a:moveTo>
                  <a:pt x="286090" y="108355"/>
                </a:moveTo>
                <a:lnTo>
                  <a:pt x="8381" y="762"/>
                </a:lnTo>
                <a:lnTo>
                  <a:pt x="5334" y="0"/>
                </a:lnTo>
                <a:lnTo>
                  <a:pt x="2286" y="762"/>
                </a:lnTo>
                <a:lnTo>
                  <a:pt x="1524" y="3810"/>
                </a:lnTo>
                <a:lnTo>
                  <a:pt x="0" y="6096"/>
                </a:lnTo>
                <a:lnTo>
                  <a:pt x="1524" y="9143"/>
                </a:lnTo>
                <a:lnTo>
                  <a:pt x="4572" y="10667"/>
                </a:lnTo>
                <a:lnTo>
                  <a:pt x="282493" y="117617"/>
                </a:lnTo>
                <a:lnTo>
                  <a:pt x="286090" y="108355"/>
                </a:lnTo>
                <a:close/>
              </a:path>
              <a:path w="362712" h="152400">
                <a:moveTo>
                  <a:pt x="303275" y="149054"/>
                </a:moveTo>
                <a:lnTo>
                  <a:pt x="303275" y="117348"/>
                </a:lnTo>
                <a:lnTo>
                  <a:pt x="302513" y="120396"/>
                </a:lnTo>
                <a:lnTo>
                  <a:pt x="300989" y="122681"/>
                </a:lnTo>
                <a:lnTo>
                  <a:pt x="297941" y="124205"/>
                </a:lnTo>
                <a:lnTo>
                  <a:pt x="295655" y="122681"/>
                </a:lnTo>
                <a:lnTo>
                  <a:pt x="282493" y="117617"/>
                </a:lnTo>
                <a:lnTo>
                  <a:pt x="268986" y="152400"/>
                </a:lnTo>
                <a:lnTo>
                  <a:pt x="303275" y="149054"/>
                </a:lnTo>
                <a:close/>
              </a:path>
              <a:path w="362712" h="152400">
                <a:moveTo>
                  <a:pt x="303275" y="117348"/>
                </a:moveTo>
                <a:lnTo>
                  <a:pt x="301751" y="114300"/>
                </a:lnTo>
                <a:lnTo>
                  <a:pt x="299465" y="113537"/>
                </a:lnTo>
                <a:lnTo>
                  <a:pt x="286090" y="108355"/>
                </a:lnTo>
                <a:lnTo>
                  <a:pt x="282493" y="117617"/>
                </a:lnTo>
                <a:lnTo>
                  <a:pt x="295655" y="122681"/>
                </a:lnTo>
                <a:lnTo>
                  <a:pt x="297941" y="124205"/>
                </a:lnTo>
                <a:lnTo>
                  <a:pt x="300989" y="122681"/>
                </a:lnTo>
                <a:lnTo>
                  <a:pt x="302513" y="120396"/>
                </a:lnTo>
                <a:lnTo>
                  <a:pt x="303275" y="117348"/>
                </a:lnTo>
                <a:close/>
              </a:path>
              <a:path w="362712" h="152400">
                <a:moveTo>
                  <a:pt x="362712" y="143255"/>
                </a:moveTo>
                <a:lnTo>
                  <a:pt x="299465" y="73913"/>
                </a:lnTo>
                <a:lnTo>
                  <a:pt x="286090" y="108355"/>
                </a:lnTo>
                <a:lnTo>
                  <a:pt x="299465" y="113537"/>
                </a:lnTo>
                <a:lnTo>
                  <a:pt x="301751" y="114300"/>
                </a:lnTo>
                <a:lnTo>
                  <a:pt x="303275" y="117348"/>
                </a:lnTo>
                <a:lnTo>
                  <a:pt x="303275" y="149054"/>
                </a:lnTo>
                <a:lnTo>
                  <a:pt x="362712" y="1432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45" name="object 45"/>
          <p:cNvSpPr/>
          <p:nvPr/>
        </p:nvSpPr>
        <p:spPr>
          <a:xfrm>
            <a:off x="6889111" y="4738442"/>
            <a:ext cx="543444" cy="140796"/>
          </a:xfrm>
          <a:custGeom>
            <a:avLst/>
            <a:gdLst/>
            <a:ahLst/>
            <a:cxnLst/>
            <a:rect l="l" t="t" r="r" b="b"/>
            <a:pathLst>
              <a:path w="797051" h="206501">
                <a:moveTo>
                  <a:pt x="0" y="0"/>
                </a:moveTo>
                <a:lnTo>
                  <a:pt x="797051" y="206501"/>
                </a:lnTo>
              </a:path>
            </a:pathLst>
          </a:custGeom>
          <a:ln w="104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46" name="object 46"/>
          <p:cNvSpPr/>
          <p:nvPr/>
        </p:nvSpPr>
        <p:spPr>
          <a:xfrm>
            <a:off x="7301109" y="4880797"/>
            <a:ext cx="129886" cy="150668"/>
          </a:xfrm>
          <a:custGeom>
            <a:avLst/>
            <a:gdLst/>
            <a:ahLst/>
            <a:cxnLst/>
            <a:rect l="l" t="t" r="r" b="b"/>
            <a:pathLst>
              <a:path w="190500" h="220980">
                <a:moveTo>
                  <a:pt x="0" y="220980"/>
                </a:moveTo>
                <a:lnTo>
                  <a:pt x="190500" y="0"/>
                </a:lnTo>
              </a:path>
            </a:pathLst>
          </a:custGeom>
          <a:ln w="104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47" name="object 47"/>
          <p:cNvSpPr/>
          <p:nvPr/>
        </p:nvSpPr>
        <p:spPr>
          <a:xfrm>
            <a:off x="7297473" y="5027310"/>
            <a:ext cx="410960" cy="116898"/>
          </a:xfrm>
          <a:custGeom>
            <a:avLst/>
            <a:gdLst/>
            <a:ahLst/>
            <a:cxnLst/>
            <a:rect l="l" t="t" r="r" b="b"/>
            <a:pathLst>
              <a:path w="602741" h="171450">
                <a:moveTo>
                  <a:pt x="522453" y="125555"/>
                </a:moveTo>
                <a:lnTo>
                  <a:pt x="6857" y="0"/>
                </a:lnTo>
                <a:lnTo>
                  <a:pt x="4571" y="0"/>
                </a:lnTo>
                <a:lnTo>
                  <a:pt x="1524" y="1524"/>
                </a:lnTo>
                <a:lnTo>
                  <a:pt x="761" y="4572"/>
                </a:lnTo>
                <a:lnTo>
                  <a:pt x="0" y="6858"/>
                </a:lnTo>
                <a:lnTo>
                  <a:pt x="2285" y="9906"/>
                </a:lnTo>
                <a:lnTo>
                  <a:pt x="4571" y="10668"/>
                </a:lnTo>
                <a:lnTo>
                  <a:pt x="520049" y="135452"/>
                </a:lnTo>
                <a:lnTo>
                  <a:pt x="522453" y="125555"/>
                </a:lnTo>
                <a:close/>
              </a:path>
              <a:path w="602741" h="171450">
                <a:moveTo>
                  <a:pt x="540257" y="164693"/>
                </a:moveTo>
                <a:lnTo>
                  <a:pt x="540257" y="132587"/>
                </a:lnTo>
                <a:lnTo>
                  <a:pt x="539495" y="134874"/>
                </a:lnTo>
                <a:lnTo>
                  <a:pt x="538733" y="137922"/>
                </a:lnTo>
                <a:lnTo>
                  <a:pt x="536448" y="139446"/>
                </a:lnTo>
                <a:lnTo>
                  <a:pt x="533400" y="138684"/>
                </a:lnTo>
                <a:lnTo>
                  <a:pt x="520049" y="135452"/>
                </a:lnTo>
                <a:lnTo>
                  <a:pt x="511301" y="171450"/>
                </a:lnTo>
                <a:lnTo>
                  <a:pt x="540257" y="164693"/>
                </a:lnTo>
                <a:close/>
              </a:path>
              <a:path w="602741" h="171450">
                <a:moveTo>
                  <a:pt x="540257" y="132587"/>
                </a:moveTo>
                <a:lnTo>
                  <a:pt x="538733" y="129539"/>
                </a:lnTo>
                <a:lnTo>
                  <a:pt x="535685" y="128777"/>
                </a:lnTo>
                <a:lnTo>
                  <a:pt x="522453" y="125555"/>
                </a:lnTo>
                <a:lnTo>
                  <a:pt x="520049" y="135452"/>
                </a:lnTo>
                <a:lnTo>
                  <a:pt x="533400" y="138684"/>
                </a:lnTo>
                <a:lnTo>
                  <a:pt x="536448" y="139446"/>
                </a:lnTo>
                <a:lnTo>
                  <a:pt x="538733" y="137922"/>
                </a:lnTo>
                <a:lnTo>
                  <a:pt x="539495" y="134874"/>
                </a:lnTo>
                <a:lnTo>
                  <a:pt x="540257" y="132587"/>
                </a:lnTo>
                <a:close/>
              </a:path>
              <a:path w="602741" h="171450">
                <a:moveTo>
                  <a:pt x="602741" y="150113"/>
                </a:moveTo>
                <a:lnTo>
                  <a:pt x="531113" y="89915"/>
                </a:lnTo>
                <a:lnTo>
                  <a:pt x="522453" y="125555"/>
                </a:lnTo>
                <a:lnTo>
                  <a:pt x="535685" y="128777"/>
                </a:lnTo>
                <a:lnTo>
                  <a:pt x="538733" y="129539"/>
                </a:lnTo>
                <a:lnTo>
                  <a:pt x="540257" y="132587"/>
                </a:lnTo>
                <a:lnTo>
                  <a:pt x="540257" y="164693"/>
                </a:lnTo>
                <a:lnTo>
                  <a:pt x="602741" y="1501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48" name="object 48"/>
          <p:cNvSpPr/>
          <p:nvPr/>
        </p:nvSpPr>
        <p:spPr>
          <a:xfrm>
            <a:off x="6814815" y="3785077"/>
            <a:ext cx="503958" cy="247823"/>
          </a:xfrm>
          <a:custGeom>
            <a:avLst/>
            <a:gdLst/>
            <a:ahLst/>
            <a:cxnLst/>
            <a:rect l="l" t="t" r="r" b="b"/>
            <a:pathLst>
              <a:path w="739140" h="363474">
                <a:moveTo>
                  <a:pt x="0" y="363474"/>
                </a:moveTo>
                <a:lnTo>
                  <a:pt x="739139" y="0"/>
                </a:lnTo>
              </a:path>
            </a:pathLst>
          </a:custGeom>
          <a:ln w="104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49" name="object 49"/>
          <p:cNvSpPr/>
          <p:nvPr/>
        </p:nvSpPr>
        <p:spPr>
          <a:xfrm>
            <a:off x="7318774" y="3787155"/>
            <a:ext cx="0" cy="198985"/>
          </a:xfrm>
          <a:custGeom>
            <a:avLst/>
            <a:gdLst/>
            <a:ahLst/>
            <a:cxnLst/>
            <a:rect l="l" t="t" r="r" b="b"/>
            <a:pathLst>
              <a:path h="291845">
                <a:moveTo>
                  <a:pt x="0" y="291845"/>
                </a:moveTo>
                <a:lnTo>
                  <a:pt x="0" y="0"/>
                </a:lnTo>
              </a:path>
            </a:pathLst>
          </a:custGeom>
          <a:ln w="104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50" name="object 50"/>
          <p:cNvSpPr/>
          <p:nvPr/>
        </p:nvSpPr>
        <p:spPr>
          <a:xfrm>
            <a:off x="7314618" y="3795467"/>
            <a:ext cx="376670" cy="194830"/>
          </a:xfrm>
          <a:custGeom>
            <a:avLst/>
            <a:gdLst/>
            <a:ahLst/>
            <a:cxnLst/>
            <a:rect l="l" t="t" r="r" b="b"/>
            <a:pathLst>
              <a:path w="552450" h="285750">
                <a:moveTo>
                  <a:pt x="479846" y="42925"/>
                </a:moveTo>
                <a:lnTo>
                  <a:pt x="475196" y="33810"/>
                </a:lnTo>
                <a:lnTo>
                  <a:pt x="3048" y="275081"/>
                </a:lnTo>
                <a:lnTo>
                  <a:pt x="762" y="276605"/>
                </a:lnTo>
                <a:lnTo>
                  <a:pt x="0" y="279653"/>
                </a:lnTo>
                <a:lnTo>
                  <a:pt x="762" y="281939"/>
                </a:lnTo>
                <a:lnTo>
                  <a:pt x="2286" y="284988"/>
                </a:lnTo>
                <a:lnTo>
                  <a:pt x="5334" y="285750"/>
                </a:lnTo>
                <a:lnTo>
                  <a:pt x="8382" y="284225"/>
                </a:lnTo>
                <a:lnTo>
                  <a:pt x="479846" y="42925"/>
                </a:lnTo>
                <a:close/>
              </a:path>
              <a:path w="552450" h="285750">
                <a:moveTo>
                  <a:pt x="552450" y="0"/>
                </a:moveTo>
                <a:lnTo>
                  <a:pt x="458724" y="1524"/>
                </a:lnTo>
                <a:lnTo>
                  <a:pt x="475196" y="33810"/>
                </a:lnTo>
                <a:lnTo>
                  <a:pt x="487680" y="27431"/>
                </a:lnTo>
                <a:lnTo>
                  <a:pt x="490728" y="25908"/>
                </a:lnTo>
                <a:lnTo>
                  <a:pt x="493775" y="27431"/>
                </a:lnTo>
                <a:lnTo>
                  <a:pt x="494538" y="29717"/>
                </a:lnTo>
                <a:lnTo>
                  <a:pt x="496062" y="32003"/>
                </a:lnTo>
                <a:lnTo>
                  <a:pt x="496062" y="74706"/>
                </a:lnTo>
                <a:lnTo>
                  <a:pt x="496824" y="76200"/>
                </a:lnTo>
                <a:lnTo>
                  <a:pt x="552450" y="0"/>
                </a:lnTo>
                <a:close/>
              </a:path>
              <a:path w="552450" h="285750">
                <a:moveTo>
                  <a:pt x="496062" y="32003"/>
                </a:moveTo>
                <a:lnTo>
                  <a:pt x="494538" y="29717"/>
                </a:lnTo>
                <a:lnTo>
                  <a:pt x="493775" y="27431"/>
                </a:lnTo>
                <a:lnTo>
                  <a:pt x="490728" y="25908"/>
                </a:lnTo>
                <a:lnTo>
                  <a:pt x="487680" y="27431"/>
                </a:lnTo>
                <a:lnTo>
                  <a:pt x="475196" y="33810"/>
                </a:lnTo>
                <a:lnTo>
                  <a:pt x="479846" y="42925"/>
                </a:lnTo>
                <a:lnTo>
                  <a:pt x="492252" y="36575"/>
                </a:lnTo>
                <a:lnTo>
                  <a:pt x="495300" y="35813"/>
                </a:lnTo>
                <a:lnTo>
                  <a:pt x="496062" y="32003"/>
                </a:lnTo>
                <a:close/>
              </a:path>
              <a:path w="552450" h="285750">
                <a:moveTo>
                  <a:pt x="496062" y="74706"/>
                </a:moveTo>
                <a:lnTo>
                  <a:pt x="496062" y="32003"/>
                </a:lnTo>
                <a:lnTo>
                  <a:pt x="495300" y="35813"/>
                </a:lnTo>
                <a:lnTo>
                  <a:pt x="492252" y="36575"/>
                </a:lnTo>
                <a:lnTo>
                  <a:pt x="479846" y="42925"/>
                </a:lnTo>
                <a:lnTo>
                  <a:pt x="496062" y="747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51" name="object 51"/>
          <p:cNvSpPr/>
          <p:nvPr/>
        </p:nvSpPr>
        <p:spPr>
          <a:xfrm>
            <a:off x="4264886" y="5222139"/>
            <a:ext cx="580852" cy="5288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52" name="object 52"/>
          <p:cNvSpPr/>
          <p:nvPr/>
        </p:nvSpPr>
        <p:spPr>
          <a:xfrm>
            <a:off x="3228913" y="4843390"/>
            <a:ext cx="580852" cy="5288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53" name="object 53"/>
          <p:cNvSpPr/>
          <p:nvPr/>
        </p:nvSpPr>
        <p:spPr>
          <a:xfrm>
            <a:off x="4693511" y="2871715"/>
            <a:ext cx="580852" cy="5288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54" name="object 54"/>
          <p:cNvSpPr/>
          <p:nvPr/>
        </p:nvSpPr>
        <p:spPr>
          <a:xfrm>
            <a:off x="3286063" y="3035892"/>
            <a:ext cx="580852" cy="5288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55" name="object 55"/>
          <p:cNvSpPr/>
          <p:nvPr/>
        </p:nvSpPr>
        <p:spPr>
          <a:xfrm>
            <a:off x="2828863" y="3907689"/>
            <a:ext cx="580852" cy="5288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56" name="object 56"/>
          <p:cNvSpPr/>
          <p:nvPr/>
        </p:nvSpPr>
        <p:spPr>
          <a:xfrm>
            <a:off x="4045119" y="3497767"/>
            <a:ext cx="323157" cy="131445"/>
          </a:xfrm>
          <a:custGeom>
            <a:avLst/>
            <a:gdLst/>
            <a:ahLst/>
            <a:cxnLst/>
            <a:rect l="l" t="t" r="r" b="b"/>
            <a:pathLst>
              <a:path w="473963" h="192786">
                <a:moveTo>
                  <a:pt x="0" y="0"/>
                </a:moveTo>
                <a:lnTo>
                  <a:pt x="473963" y="192786"/>
                </a:lnTo>
              </a:path>
            </a:pathLst>
          </a:custGeom>
          <a:ln w="104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57" name="object 57"/>
          <p:cNvSpPr/>
          <p:nvPr/>
        </p:nvSpPr>
        <p:spPr>
          <a:xfrm>
            <a:off x="4281511" y="3630252"/>
            <a:ext cx="86245" cy="80529"/>
          </a:xfrm>
          <a:custGeom>
            <a:avLst/>
            <a:gdLst/>
            <a:ahLst/>
            <a:cxnLst/>
            <a:rect l="l" t="t" r="r" b="b"/>
            <a:pathLst>
              <a:path w="126492" h="118109">
                <a:moveTo>
                  <a:pt x="0" y="118109"/>
                </a:moveTo>
                <a:lnTo>
                  <a:pt x="126492" y="0"/>
                </a:lnTo>
              </a:path>
            </a:pathLst>
          </a:custGeom>
          <a:ln w="104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58" name="object 58"/>
          <p:cNvSpPr/>
          <p:nvPr/>
        </p:nvSpPr>
        <p:spPr>
          <a:xfrm>
            <a:off x="4277874" y="3706105"/>
            <a:ext cx="246784" cy="103909"/>
          </a:xfrm>
          <a:custGeom>
            <a:avLst/>
            <a:gdLst/>
            <a:ahLst/>
            <a:cxnLst/>
            <a:rect l="l" t="t" r="r" b="b"/>
            <a:pathLst>
              <a:path w="361950" h="152400">
                <a:moveTo>
                  <a:pt x="285620" y="108468"/>
                </a:moveTo>
                <a:lnTo>
                  <a:pt x="7620" y="762"/>
                </a:lnTo>
                <a:lnTo>
                  <a:pt x="5334" y="0"/>
                </a:lnTo>
                <a:lnTo>
                  <a:pt x="2286" y="1524"/>
                </a:lnTo>
                <a:lnTo>
                  <a:pt x="762" y="3810"/>
                </a:lnTo>
                <a:lnTo>
                  <a:pt x="0" y="6857"/>
                </a:lnTo>
                <a:lnTo>
                  <a:pt x="1524" y="9905"/>
                </a:lnTo>
                <a:lnTo>
                  <a:pt x="3810" y="10667"/>
                </a:lnTo>
                <a:lnTo>
                  <a:pt x="281861" y="118394"/>
                </a:lnTo>
                <a:lnTo>
                  <a:pt x="285620" y="108468"/>
                </a:lnTo>
                <a:close/>
              </a:path>
              <a:path w="361950" h="152400">
                <a:moveTo>
                  <a:pt x="302514" y="149102"/>
                </a:moveTo>
                <a:lnTo>
                  <a:pt x="302514" y="117348"/>
                </a:lnTo>
                <a:lnTo>
                  <a:pt x="301752" y="120395"/>
                </a:lnTo>
                <a:lnTo>
                  <a:pt x="300990" y="122681"/>
                </a:lnTo>
                <a:lnTo>
                  <a:pt x="297942" y="124205"/>
                </a:lnTo>
                <a:lnTo>
                  <a:pt x="294894" y="123443"/>
                </a:lnTo>
                <a:lnTo>
                  <a:pt x="281861" y="118394"/>
                </a:lnTo>
                <a:lnTo>
                  <a:pt x="268986" y="152400"/>
                </a:lnTo>
                <a:lnTo>
                  <a:pt x="302514" y="149102"/>
                </a:lnTo>
                <a:close/>
              </a:path>
              <a:path w="361950" h="152400">
                <a:moveTo>
                  <a:pt x="302514" y="117348"/>
                </a:moveTo>
                <a:lnTo>
                  <a:pt x="301752" y="114300"/>
                </a:lnTo>
                <a:lnTo>
                  <a:pt x="298704" y="113537"/>
                </a:lnTo>
                <a:lnTo>
                  <a:pt x="285620" y="108468"/>
                </a:lnTo>
                <a:lnTo>
                  <a:pt x="281861" y="118394"/>
                </a:lnTo>
                <a:lnTo>
                  <a:pt x="294894" y="123443"/>
                </a:lnTo>
                <a:lnTo>
                  <a:pt x="297942" y="124205"/>
                </a:lnTo>
                <a:lnTo>
                  <a:pt x="300990" y="122681"/>
                </a:lnTo>
                <a:lnTo>
                  <a:pt x="301752" y="120395"/>
                </a:lnTo>
                <a:lnTo>
                  <a:pt x="302514" y="117348"/>
                </a:lnTo>
                <a:close/>
              </a:path>
              <a:path w="361950" h="152400">
                <a:moveTo>
                  <a:pt x="361950" y="143255"/>
                </a:moveTo>
                <a:lnTo>
                  <a:pt x="298704" y="73913"/>
                </a:lnTo>
                <a:lnTo>
                  <a:pt x="285620" y="108468"/>
                </a:lnTo>
                <a:lnTo>
                  <a:pt x="298704" y="113537"/>
                </a:lnTo>
                <a:lnTo>
                  <a:pt x="301752" y="114300"/>
                </a:lnTo>
                <a:lnTo>
                  <a:pt x="302514" y="117348"/>
                </a:lnTo>
                <a:lnTo>
                  <a:pt x="302514" y="149102"/>
                </a:lnTo>
                <a:lnTo>
                  <a:pt x="361950" y="1432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59" name="object 59"/>
          <p:cNvSpPr/>
          <p:nvPr/>
        </p:nvSpPr>
        <p:spPr>
          <a:xfrm>
            <a:off x="3726637" y="4290074"/>
            <a:ext cx="347576" cy="29614"/>
          </a:xfrm>
          <a:custGeom>
            <a:avLst/>
            <a:gdLst/>
            <a:ahLst/>
            <a:cxnLst/>
            <a:rect l="l" t="t" r="r" b="b"/>
            <a:pathLst>
              <a:path w="509778" h="43434">
                <a:moveTo>
                  <a:pt x="0" y="0"/>
                </a:moveTo>
                <a:lnTo>
                  <a:pt x="509778" y="43434"/>
                </a:lnTo>
              </a:path>
            </a:pathLst>
          </a:custGeom>
          <a:ln w="104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60" name="object 60"/>
          <p:cNvSpPr/>
          <p:nvPr/>
        </p:nvSpPr>
        <p:spPr>
          <a:xfrm>
            <a:off x="4013946" y="4321247"/>
            <a:ext cx="58188" cy="102350"/>
          </a:xfrm>
          <a:custGeom>
            <a:avLst/>
            <a:gdLst/>
            <a:ahLst/>
            <a:cxnLst/>
            <a:rect l="l" t="t" r="r" b="b"/>
            <a:pathLst>
              <a:path w="85343" h="150114">
                <a:moveTo>
                  <a:pt x="0" y="150114"/>
                </a:moveTo>
                <a:lnTo>
                  <a:pt x="85343" y="0"/>
                </a:lnTo>
              </a:path>
            </a:pathLst>
          </a:custGeom>
          <a:ln w="104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61" name="object 61"/>
          <p:cNvSpPr/>
          <p:nvPr/>
        </p:nvSpPr>
        <p:spPr>
          <a:xfrm>
            <a:off x="4010309" y="4409571"/>
            <a:ext cx="263409" cy="57149"/>
          </a:xfrm>
          <a:custGeom>
            <a:avLst/>
            <a:gdLst/>
            <a:ahLst/>
            <a:cxnLst/>
            <a:rect l="l" t="t" r="r" b="b"/>
            <a:pathLst>
              <a:path w="386333" h="83819">
                <a:moveTo>
                  <a:pt x="302861" y="37132"/>
                </a:moveTo>
                <a:lnTo>
                  <a:pt x="5333" y="16763"/>
                </a:lnTo>
                <a:lnTo>
                  <a:pt x="3047" y="16001"/>
                </a:lnTo>
                <a:lnTo>
                  <a:pt x="0" y="18287"/>
                </a:lnTo>
                <a:lnTo>
                  <a:pt x="0" y="24383"/>
                </a:lnTo>
                <a:lnTo>
                  <a:pt x="2285" y="26669"/>
                </a:lnTo>
                <a:lnTo>
                  <a:pt x="5333" y="26722"/>
                </a:lnTo>
                <a:lnTo>
                  <a:pt x="302140" y="47041"/>
                </a:lnTo>
                <a:lnTo>
                  <a:pt x="302861" y="37132"/>
                </a:lnTo>
                <a:close/>
              </a:path>
              <a:path w="386333" h="83819">
                <a:moveTo>
                  <a:pt x="322325" y="74395"/>
                </a:moveTo>
                <a:lnTo>
                  <a:pt x="322325" y="40386"/>
                </a:lnTo>
                <a:lnTo>
                  <a:pt x="321563" y="43433"/>
                </a:lnTo>
                <a:lnTo>
                  <a:pt x="321563" y="46481"/>
                </a:lnTo>
                <a:lnTo>
                  <a:pt x="319277" y="48767"/>
                </a:lnTo>
                <a:lnTo>
                  <a:pt x="316229" y="48005"/>
                </a:lnTo>
                <a:lnTo>
                  <a:pt x="302140" y="47041"/>
                </a:lnTo>
                <a:lnTo>
                  <a:pt x="299465" y="83819"/>
                </a:lnTo>
                <a:lnTo>
                  <a:pt x="322325" y="74395"/>
                </a:lnTo>
                <a:close/>
              </a:path>
              <a:path w="386333" h="83819">
                <a:moveTo>
                  <a:pt x="322325" y="40386"/>
                </a:moveTo>
                <a:lnTo>
                  <a:pt x="320039" y="38100"/>
                </a:lnTo>
                <a:lnTo>
                  <a:pt x="316229" y="38047"/>
                </a:lnTo>
                <a:lnTo>
                  <a:pt x="302861" y="37132"/>
                </a:lnTo>
                <a:lnTo>
                  <a:pt x="302140" y="47041"/>
                </a:lnTo>
                <a:lnTo>
                  <a:pt x="316229" y="48005"/>
                </a:lnTo>
                <a:lnTo>
                  <a:pt x="319277" y="48767"/>
                </a:lnTo>
                <a:lnTo>
                  <a:pt x="321563" y="46481"/>
                </a:lnTo>
                <a:lnTo>
                  <a:pt x="321563" y="43433"/>
                </a:lnTo>
                <a:lnTo>
                  <a:pt x="322325" y="40386"/>
                </a:lnTo>
                <a:close/>
              </a:path>
              <a:path w="386333" h="83819">
                <a:moveTo>
                  <a:pt x="386333" y="48005"/>
                </a:moveTo>
                <a:lnTo>
                  <a:pt x="305561" y="0"/>
                </a:lnTo>
                <a:lnTo>
                  <a:pt x="302861" y="37132"/>
                </a:lnTo>
                <a:lnTo>
                  <a:pt x="316229" y="38047"/>
                </a:lnTo>
                <a:lnTo>
                  <a:pt x="320039" y="38100"/>
                </a:lnTo>
                <a:lnTo>
                  <a:pt x="322325" y="40386"/>
                </a:lnTo>
                <a:lnTo>
                  <a:pt x="322325" y="74395"/>
                </a:lnTo>
                <a:lnTo>
                  <a:pt x="386333" y="480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62" name="object 62"/>
          <p:cNvSpPr/>
          <p:nvPr/>
        </p:nvSpPr>
        <p:spPr>
          <a:xfrm>
            <a:off x="5026020" y="5199799"/>
            <a:ext cx="291465" cy="191192"/>
          </a:xfrm>
          <a:custGeom>
            <a:avLst/>
            <a:gdLst/>
            <a:ahLst/>
            <a:cxnLst/>
            <a:rect l="l" t="t" r="r" b="b"/>
            <a:pathLst>
              <a:path w="427482" h="280415">
                <a:moveTo>
                  <a:pt x="0" y="280415"/>
                </a:moveTo>
                <a:lnTo>
                  <a:pt x="427482" y="0"/>
                </a:lnTo>
              </a:path>
            </a:pathLst>
          </a:custGeom>
          <a:ln w="104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63" name="object 63"/>
          <p:cNvSpPr/>
          <p:nvPr/>
        </p:nvSpPr>
        <p:spPr>
          <a:xfrm>
            <a:off x="5318005" y="5201358"/>
            <a:ext cx="17144" cy="116378"/>
          </a:xfrm>
          <a:custGeom>
            <a:avLst/>
            <a:gdLst/>
            <a:ahLst/>
            <a:cxnLst/>
            <a:rect l="l" t="t" r="r" b="b"/>
            <a:pathLst>
              <a:path w="25145" h="170687">
                <a:moveTo>
                  <a:pt x="25145" y="170687"/>
                </a:moveTo>
                <a:lnTo>
                  <a:pt x="0" y="0"/>
                </a:lnTo>
              </a:path>
            </a:pathLst>
          </a:custGeom>
          <a:ln w="104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64" name="object 64"/>
          <p:cNvSpPr/>
          <p:nvPr/>
        </p:nvSpPr>
        <p:spPr>
          <a:xfrm>
            <a:off x="5330994" y="5170704"/>
            <a:ext cx="219248" cy="150668"/>
          </a:xfrm>
          <a:custGeom>
            <a:avLst/>
            <a:gdLst/>
            <a:ahLst/>
            <a:cxnLst/>
            <a:rect l="l" t="t" r="r" b="b"/>
            <a:pathLst>
              <a:path w="321563" h="220979">
                <a:moveTo>
                  <a:pt x="255211" y="52013"/>
                </a:moveTo>
                <a:lnTo>
                  <a:pt x="249271" y="43293"/>
                </a:lnTo>
                <a:lnTo>
                  <a:pt x="3047" y="211074"/>
                </a:lnTo>
                <a:lnTo>
                  <a:pt x="762" y="212598"/>
                </a:lnTo>
                <a:lnTo>
                  <a:pt x="0" y="215646"/>
                </a:lnTo>
                <a:lnTo>
                  <a:pt x="3047" y="220217"/>
                </a:lnTo>
                <a:lnTo>
                  <a:pt x="6857" y="220979"/>
                </a:lnTo>
                <a:lnTo>
                  <a:pt x="9143" y="219456"/>
                </a:lnTo>
                <a:lnTo>
                  <a:pt x="255211" y="52013"/>
                </a:lnTo>
                <a:close/>
              </a:path>
              <a:path w="321563" h="220979">
                <a:moveTo>
                  <a:pt x="321563" y="0"/>
                </a:moveTo>
                <a:lnTo>
                  <a:pt x="228600" y="12953"/>
                </a:lnTo>
                <a:lnTo>
                  <a:pt x="249271" y="43293"/>
                </a:lnTo>
                <a:lnTo>
                  <a:pt x="261365" y="35051"/>
                </a:lnTo>
                <a:lnTo>
                  <a:pt x="263651" y="33527"/>
                </a:lnTo>
                <a:lnTo>
                  <a:pt x="266700" y="34289"/>
                </a:lnTo>
                <a:lnTo>
                  <a:pt x="269747" y="38862"/>
                </a:lnTo>
                <a:lnTo>
                  <a:pt x="269747" y="73348"/>
                </a:lnTo>
                <a:lnTo>
                  <a:pt x="275843" y="82296"/>
                </a:lnTo>
                <a:lnTo>
                  <a:pt x="321563" y="0"/>
                </a:lnTo>
                <a:close/>
              </a:path>
              <a:path w="321563" h="220979">
                <a:moveTo>
                  <a:pt x="269747" y="41910"/>
                </a:moveTo>
                <a:lnTo>
                  <a:pt x="269747" y="38862"/>
                </a:lnTo>
                <a:lnTo>
                  <a:pt x="266700" y="34289"/>
                </a:lnTo>
                <a:lnTo>
                  <a:pt x="263651" y="33527"/>
                </a:lnTo>
                <a:lnTo>
                  <a:pt x="261365" y="35051"/>
                </a:lnTo>
                <a:lnTo>
                  <a:pt x="249271" y="43293"/>
                </a:lnTo>
                <a:lnTo>
                  <a:pt x="255211" y="52013"/>
                </a:lnTo>
                <a:lnTo>
                  <a:pt x="266700" y="44196"/>
                </a:lnTo>
                <a:lnTo>
                  <a:pt x="269747" y="41910"/>
                </a:lnTo>
                <a:close/>
              </a:path>
              <a:path w="321563" h="220979">
                <a:moveTo>
                  <a:pt x="269747" y="73348"/>
                </a:moveTo>
                <a:lnTo>
                  <a:pt x="269747" y="41910"/>
                </a:lnTo>
                <a:lnTo>
                  <a:pt x="266700" y="44196"/>
                </a:lnTo>
                <a:lnTo>
                  <a:pt x="255211" y="52013"/>
                </a:lnTo>
                <a:lnTo>
                  <a:pt x="269747" y="733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65" name="object 65"/>
          <p:cNvSpPr/>
          <p:nvPr/>
        </p:nvSpPr>
        <p:spPr>
          <a:xfrm>
            <a:off x="4111101" y="4804425"/>
            <a:ext cx="335626" cy="96116"/>
          </a:xfrm>
          <a:custGeom>
            <a:avLst/>
            <a:gdLst/>
            <a:ahLst/>
            <a:cxnLst/>
            <a:rect l="l" t="t" r="r" b="b"/>
            <a:pathLst>
              <a:path w="492251" h="140970">
                <a:moveTo>
                  <a:pt x="0" y="140970"/>
                </a:moveTo>
                <a:lnTo>
                  <a:pt x="492251" y="0"/>
                </a:lnTo>
              </a:path>
            </a:pathLst>
          </a:custGeom>
          <a:ln w="104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66" name="object 66"/>
          <p:cNvSpPr/>
          <p:nvPr/>
        </p:nvSpPr>
        <p:spPr>
          <a:xfrm>
            <a:off x="4428024" y="4805984"/>
            <a:ext cx="18183" cy="116378"/>
          </a:xfrm>
          <a:custGeom>
            <a:avLst/>
            <a:gdLst/>
            <a:ahLst/>
            <a:cxnLst/>
            <a:rect l="l" t="t" r="r" b="b"/>
            <a:pathLst>
              <a:path w="26669" h="170687">
                <a:moveTo>
                  <a:pt x="0" y="170687"/>
                </a:moveTo>
                <a:lnTo>
                  <a:pt x="26669" y="0"/>
                </a:lnTo>
              </a:path>
            </a:pathLst>
          </a:custGeom>
          <a:ln w="104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67" name="object 67"/>
          <p:cNvSpPr/>
          <p:nvPr/>
        </p:nvSpPr>
        <p:spPr>
          <a:xfrm>
            <a:off x="4423347" y="4836117"/>
            <a:ext cx="253538" cy="90400"/>
          </a:xfrm>
          <a:custGeom>
            <a:avLst/>
            <a:gdLst/>
            <a:ahLst/>
            <a:cxnLst/>
            <a:rect l="l" t="t" r="r" b="b"/>
            <a:pathLst>
              <a:path w="371856" h="132587">
                <a:moveTo>
                  <a:pt x="292987" y="45162"/>
                </a:moveTo>
                <a:lnTo>
                  <a:pt x="290052" y="35222"/>
                </a:lnTo>
                <a:lnTo>
                  <a:pt x="4571" y="121157"/>
                </a:lnTo>
                <a:lnTo>
                  <a:pt x="1524" y="121919"/>
                </a:lnTo>
                <a:lnTo>
                  <a:pt x="0" y="124967"/>
                </a:lnTo>
                <a:lnTo>
                  <a:pt x="1524" y="128015"/>
                </a:lnTo>
                <a:lnTo>
                  <a:pt x="2286" y="131063"/>
                </a:lnTo>
                <a:lnTo>
                  <a:pt x="4571" y="132587"/>
                </a:lnTo>
                <a:lnTo>
                  <a:pt x="7619" y="131063"/>
                </a:lnTo>
                <a:lnTo>
                  <a:pt x="292987" y="45162"/>
                </a:lnTo>
                <a:close/>
              </a:path>
              <a:path w="371856" h="132587">
                <a:moveTo>
                  <a:pt x="371856" y="15239"/>
                </a:moveTo>
                <a:lnTo>
                  <a:pt x="279654" y="0"/>
                </a:lnTo>
                <a:lnTo>
                  <a:pt x="290052" y="35222"/>
                </a:lnTo>
                <a:lnTo>
                  <a:pt x="303275" y="31241"/>
                </a:lnTo>
                <a:lnTo>
                  <a:pt x="306324" y="29717"/>
                </a:lnTo>
                <a:lnTo>
                  <a:pt x="308610" y="31241"/>
                </a:lnTo>
                <a:lnTo>
                  <a:pt x="310133" y="34289"/>
                </a:lnTo>
                <a:lnTo>
                  <a:pt x="310895" y="37337"/>
                </a:lnTo>
                <a:lnTo>
                  <a:pt x="310895" y="72813"/>
                </a:lnTo>
                <a:lnTo>
                  <a:pt x="371856" y="15239"/>
                </a:lnTo>
                <a:close/>
              </a:path>
              <a:path w="371856" h="132587">
                <a:moveTo>
                  <a:pt x="310895" y="37337"/>
                </a:moveTo>
                <a:lnTo>
                  <a:pt x="310133" y="34289"/>
                </a:lnTo>
                <a:lnTo>
                  <a:pt x="308610" y="31241"/>
                </a:lnTo>
                <a:lnTo>
                  <a:pt x="306324" y="29717"/>
                </a:lnTo>
                <a:lnTo>
                  <a:pt x="303275" y="31241"/>
                </a:lnTo>
                <a:lnTo>
                  <a:pt x="290052" y="35222"/>
                </a:lnTo>
                <a:lnTo>
                  <a:pt x="292987" y="45162"/>
                </a:lnTo>
                <a:lnTo>
                  <a:pt x="306324" y="41148"/>
                </a:lnTo>
                <a:lnTo>
                  <a:pt x="309371" y="40386"/>
                </a:lnTo>
                <a:lnTo>
                  <a:pt x="310895" y="37337"/>
                </a:lnTo>
                <a:close/>
              </a:path>
              <a:path w="371856" h="132587">
                <a:moveTo>
                  <a:pt x="310895" y="72813"/>
                </a:moveTo>
                <a:lnTo>
                  <a:pt x="310895" y="37337"/>
                </a:lnTo>
                <a:lnTo>
                  <a:pt x="309371" y="40386"/>
                </a:lnTo>
                <a:lnTo>
                  <a:pt x="306324" y="41148"/>
                </a:lnTo>
                <a:lnTo>
                  <a:pt x="292987" y="45162"/>
                </a:lnTo>
                <a:lnTo>
                  <a:pt x="303275" y="80010"/>
                </a:lnTo>
                <a:lnTo>
                  <a:pt x="310895" y="728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68" name="object 68"/>
          <p:cNvSpPr txBox="1"/>
          <p:nvPr/>
        </p:nvSpPr>
        <p:spPr>
          <a:xfrm>
            <a:off x="3516914" y="3457160"/>
            <a:ext cx="5003656" cy="6645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8659" marR="3444927" indent="1378490">
              <a:lnSpc>
                <a:spcPct val="106400"/>
              </a:lnSpc>
            </a:pPr>
            <a:r>
              <a:rPr sz="1057" b="1" spc="-7" dirty="0">
                <a:latin typeface="Arial"/>
                <a:cs typeface="Arial"/>
              </a:rPr>
              <a:t>TX TX</a:t>
            </a:r>
            <a:endParaRPr sz="1057" dirty="0">
              <a:latin typeface="Arial"/>
              <a:cs typeface="Arial"/>
            </a:endParaRPr>
          </a:p>
          <a:p>
            <a:pPr>
              <a:lnSpc>
                <a:spcPts val="511"/>
              </a:lnSpc>
              <a:spcBef>
                <a:spcPts val="14"/>
              </a:spcBef>
            </a:pPr>
            <a:endParaRPr sz="511" dirty="0"/>
          </a:p>
          <a:p>
            <a:pPr>
              <a:lnSpc>
                <a:spcPts val="682"/>
              </a:lnSpc>
            </a:pPr>
            <a:endParaRPr sz="682" dirty="0"/>
          </a:p>
          <a:p>
            <a:pPr marR="8659" algn="r"/>
            <a:r>
              <a:rPr sz="1057" b="1" spc="-10" dirty="0">
                <a:latin typeface="Arial"/>
                <a:cs typeface="Arial"/>
              </a:rPr>
              <a:t>RX</a:t>
            </a:r>
            <a:endParaRPr sz="1057" dirty="0">
              <a:latin typeface="Arial"/>
              <a:cs typeface="Arial"/>
            </a:endParaRPr>
          </a:p>
        </p:txBody>
      </p:sp>
      <p:sp>
        <p:nvSpPr>
          <p:cNvPr id="72" name="object 72"/>
          <p:cNvSpPr txBox="1">
            <a:spLocks noGrp="1"/>
          </p:cNvSpPr>
          <p:nvPr>
            <p:ph type="sldNum" sz="quarter" idx="4294967295"/>
          </p:nvPr>
        </p:nvSpPr>
        <p:spPr>
          <a:xfrm>
            <a:off x="7571967" y="5659422"/>
            <a:ext cx="1684678" cy="12194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8659"/>
            <a:r>
              <a:rPr sz="750" spc="-7" dirty="0">
                <a:latin typeface="Arial"/>
                <a:cs typeface="Arial"/>
              </a:rPr>
              <a:t>©</a:t>
            </a:r>
            <a:r>
              <a:rPr sz="750" spc="-3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200</a:t>
            </a:r>
            <a:r>
              <a:rPr sz="750" spc="-7" dirty="0">
                <a:latin typeface="Arial"/>
                <a:cs typeface="Arial"/>
              </a:rPr>
              <a:t>6</a:t>
            </a:r>
            <a:r>
              <a:rPr sz="750" spc="-3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T</a:t>
            </a:r>
            <a:r>
              <a:rPr sz="750" spc="-7" dirty="0">
                <a:latin typeface="Arial"/>
                <a:cs typeface="Arial"/>
              </a:rPr>
              <a:t>e</a:t>
            </a:r>
            <a:r>
              <a:rPr sz="750" spc="-10" dirty="0">
                <a:latin typeface="Arial"/>
                <a:cs typeface="Arial"/>
              </a:rPr>
              <a:t>xa</a:t>
            </a:r>
            <a:r>
              <a:rPr sz="750" spc="-7" dirty="0">
                <a:latin typeface="Arial"/>
                <a:cs typeface="Arial"/>
              </a:rPr>
              <a:t>s</a:t>
            </a:r>
            <a:r>
              <a:rPr sz="750" spc="-3" dirty="0">
                <a:latin typeface="Arial"/>
                <a:cs typeface="Arial"/>
              </a:rPr>
              <a:t> </a:t>
            </a:r>
            <a:r>
              <a:rPr sz="750" spc="-7" dirty="0">
                <a:latin typeface="Arial"/>
                <a:cs typeface="Arial"/>
              </a:rPr>
              <a:t>In</a:t>
            </a:r>
            <a:r>
              <a:rPr sz="750" spc="-10" dirty="0">
                <a:latin typeface="Arial"/>
                <a:cs typeface="Arial"/>
              </a:rPr>
              <a:t>s</a:t>
            </a:r>
            <a:r>
              <a:rPr sz="750" spc="-3" dirty="0">
                <a:latin typeface="Arial"/>
                <a:cs typeface="Arial"/>
              </a:rPr>
              <a:t>t</a:t>
            </a:r>
            <a:r>
              <a:rPr sz="750" spc="-7" dirty="0">
                <a:latin typeface="Arial"/>
                <a:cs typeface="Arial"/>
              </a:rPr>
              <a:t>ru</a:t>
            </a:r>
            <a:r>
              <a:rPr sz="750" spc="-10" dirty="0">
                <a:latin typeface="Arial"/>
                <a:cs typeface="Arial"/>
              </a:rPr>
              <a:t>men</a:t>
            </a:r>
            <a:r>
              <a:rPr sz="750" spc="-3" dirty="0">
                <a:latin typeface="Arial"/>
                <a:cs typeface="Arial"/>
              </a:rPr>
              <a:t>ts </a:t>
            </a:r>
            <a:r>
              <a:rPr sz="750" spc="-7" dirty="0">
                <a:latin typeface="Arial"/>
                <a:cs typeface="Arial"/>
              </a:rPr>
              <a:t>In</a:t>
            </a:r>
            <a:r>
              <a:rPr sz="750" spc="-3" dirty="0">
                <a:latin typeface="Arial"/>
                <a:cs typeface="Arial"/>
              </a:rPr>
              <a:t>c, </a:t>
            </a:r>
            <a:r>
              <a:rPr sz="750" spc="-10" dirty="0">
                <a:latin typeface="Arial"/>
                <a:cs typeface="Arial"/>
              </a:rPr>
              <a:t>S</a:t>
            </a:r>
            <a:r>
              <a:rPr sz="750" spc="-3" dirty="0">
                <a:latin typeface="Arial"/>
                <a:cs typeface="Arial"/>
              </a:rPr>
              <a:t>l</a:t>
            </a:r>
            <a:r>
              <a:rPr sz="750" spc="-7" dirty="0">
                <a:latin typeface="Arial"/>
                <a:cs typeface="Arial"/>
              </a:rPr>
              <a:t>ide </a:t>
            </a:r>
            <a:fld id="{81D60167-4931-47E6-BA6A-407CBD079E47}" type="slidenum">
              <a:rPr sz="750" spc="-7" dirty="0">
                <a:latin typeface="Arial"/>
                <a:cs typeface="Arial"/>
              </a:rPr>
              <a:pPr marL="8659"/>
              <a:t>9</a:t>
            </a:fld>
            <a:endParaRPr sz="75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052440" y="4496170"/>
            <a:ext cx="188335" cy="16841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8659"/>
            <a:r>
              <a:rPr sz="1057" b="1" spc="-7" dirty="0">
                <a:latin typeface="Arial"/>
                <a:cs typeface="Arial"/>
              </a:rPr>
              <a:t>TX</a:t>
            </a:r>
            <a:endParaRPr sz="1057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381307" y="4896219"/>
            <a:ext cx="2828925" cy="78970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R="8659" algn="r"/>
            <a:r>
              <a:rPr sz="1057" b="1" spc="-14" dirty="0">
                <a:latin typeface="Arial"/>
                <a:cs typeface="Arial"/>
              </a:rPr>
              <a:t>T</a:t>
            </a:r>
            <a:r>
              <a:rPr sz="1057" b="1" spc="-10" dirty="0">
                <a:latin typeface="Arial"/>
                <a:cs typeface="Arial"/>
              </a:rPr>
              <a:t>RX</a:t>
            </a:r>
            <a:endParaRPr sz="1057">
              <a:latin typeface="Arial"/>
              <a:cs typeface="Arial"/>
            </a:endParaRPr>
          </a:p>
          <a:p>
            <a:pPr>
              <a:lnSpc>
                <a:spcPts val="375"/>
              </a:lnSpc>
              <a:spcBef>
                <a:spcPts val="22"/>
              </a:spcBef>
            </a:pPr>
            <a:endParaRPr sz="375"/>
          </a:p>
          <a:p>
            <a:pPr>
              <a:lnSpc>
                <a:spcPts val="682"/>
              </a:lnSpc>
            </a:pPr>
            <a:endParaRPr sz="682"/>
          </a:p>
          <a:p>
            <a:pPr>
              <a:lnSpc>
                <a:spcPts val="682"/>
              </a:lnSpc>
            </a:pPr>
            <a:endParaRPr sz="682"/>
          </a:p>
          <a:p>
            <a:pPr>
              <a:lnSpc>
                <a:spcPts val="682"/>
              </a:lnSpc>
            </a:pPr>
            <a:endParaRPr sz="682"/>
          </a:p>
          <a:p>
            <a:pPr marL="8659">
              <a:lnSpc>
                <a:spcPts val="1224"/>
              </a:lnSpc>
            </a:pPr>
            <a:r>
              <a:rPr sz="1057" b="1" spc="-7" dirty="0">
                <a:latin typeface="Arial"/>
                <a:cs typeface="Arial"/>
              </a:rPr>
              <a:t>TX</a:t>
            </a:r>
            <a:endParaRPr sz="1057">
              <a:latin typeface="Arial"/>
              <a:cs typeface="Arial"/>
            </a:endParaRPr>
          </a:p>
          <a:p>
            <a:pPr marL="544642" algn="ctr">
              <a:lnSpc>
                <a:spcPts val="1224"/>
              </a:lnSpc>
            </a:pPr>
            <a:r>
              <a:rPr sz="1057" b="1" spc="-7" dirty="0">
                <a:latin typeface="Arial"/>
                <a:cs typeface="Arial"/>
              </a:rPr>
              <a:t>TX</a:t>
            </a:r>
            <a:endParaRPr sz="1057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338302" y="4431746"/>
            <a:ext cx="203489" cy="16841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8659"/>
            <a:r>
              <a:rPr sz="1057" b="1" spc="-10" dirty="0">
                <a:latin typeface="Arial"/>
                <a:cs typeface="Arial"/>
              </a:rPr>
              <a:t>RX</a:t>
            </a:r>
            <a:endParaRPr sz="1057">
              <a:latin typeface="Arial"/>
              <a:cs typeface="Arial"/>
            </a:endParaRPr>
          </a:p>
        </p:txBody>
      </p:sp>
      <p:sp>
        <p:nvSpPr>
          <p:cNvPr id="74" name="Title 1">
            <a:extLst>
              <a:ext uri="{FF2B5EF4-FFF2-40B4-BE49-F238E27FC236}">
                <a16:creationId xmlns:a16="http://schemas.microsoft.com/office/drawing/2014/main" id="{E2A3D900-6ADB-4F38-8C8D-375E76E59F24}"/>
              </a:ext>
            </a:extLst>
          </p:cNvPr>
          <p:cNvSpPr txBox="1">
            <a:spLocks/>
          </p:cNvSpPr>
          <p:nvPr/>
        </p:nvSpPr>
        <p:spPr>
          <a:xfrm>
            <a:off x="715472" y="136526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Wireless System Design Considerations </a:t>
            </a:r>
          </a:p>
          <a:p>
            <a:pPr fontAlgn="auto">
              <a:spcAft>
                <a:spcPts val="0"/>
              </a:spcAft>
            </a:pPr>
            <a:r>
              <a:rPr lang="en-SG" sz="28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Simplex Radio System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6348C0A-F5F9-4D7A-8B6A-DA1933BC5F8B}"/>
              </a:ext>
            </a:extLst>
          </p:cNvPr>
          <p:cNvSpPr/>
          <p:nvPr/>
        </p:nvSpPr>
        <p:spPr>
          <a:xfrm>
            <a:off x="-241011" y="6063780"/>
            <a:ext cx="26244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1 System Design Considerations</a:t>
            </a:r>
          </a:p>
        </p:txBody>
      </p:sp>
      <p:pic>
        <p:nvPicPr>
          <p:cNvPr id="2" name="Pg13">
            <a:hlinkClick r:id="" action="ppaction://media"/>
            <a:extLst>
              <a:ext uri="{FF2B5EF4-FFF2-40B4-BE49-F238E27FC236}">
                <a16:creationId xmlns:a16="http://schemas.microsoft.com/office/drawing/2014/main" id="{61B14E9E-FA8E-45ED-8618-AB88D91381C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959279" y="5498979"/>
            <a:ext cx="609600" cy="609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193388E-9A59-5A2F-1FDB-2AEDAB5BE077}"/>
              </a:ext>
            </a:extLst>
          </p:cNvPr>
          <p:cNvSpPr/>
          <p:nvPr/>
        </p:nvSpPr>
        <p:spPr>
          <a:xfrm>
            <a:off x="0" y="0"/>
            <a:ext cx="92528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5134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40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45685" y="1682882"/>
            <a:ext cx="5096710" cy="15175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just">
              <a:lnSpc>
                <a:spcPts val="341"/>
              </a:lnSpc>
              <a:spcBef>
                <a:spcPts val="600"/>
              </a:spcBef>
              <a:buFont typeface="Arial"/>
              <a:buChar char="•"/>
            </a:pPr>
            <a:endParaRPr sz="2800" dirty="0"/>
          </a:p>
          <a:p>
            <a:pPr marL="433376" marR="8659" lvl="1" indent="-165384" algn="just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/>
              <a:buChar char="▪"/>
              <a:tabLst>
                <a:tab pos="433376" algn="l"/>
              </a:tabLst>
            </a:pPr>
            <a:r>
              <a:rPr lang="en-SG" sz="2800" dirty="0">
                <a:cs typeface="Arial"/>
              </a:rPr>
              <a:t>Two direction communication using the same frequency.</a:t>
            </a:r>
          </a:p>
          <a:p>
            <a:pPr marL="433376" marR="8659" lvl="1" indent="-165384" algn="just"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/>
              <a:buChar char="▪"/>
              <a:tabLst>
                <a:tab pos="433376" algn="l"/>
              </a:tabLst>
            </a:pPr>
            <a:r>
              <a:rPr lang="en-SG" sz="2800" dirty="0">
                <a:cs typeface="Arial"/>
              </a:rPr>
              <a:t>Each station can either </a:t>
            </a:r>
            <a:r>
              <a:rPr lang="en-SG" sz="2800" b="1" dirty="0">
                <a:solidFill>
                  <a:srgbClr val="FF0000"/>
                </a:solidFill>
                <a:cs typeface="Arial"/>
              </a:rPr>
              <a:t>transmit or receive but not at the same time </a:t>
            </a:r>
            <a:r>
              <a:rPr lang="en-SG" sz="2800" dirty="0">
                <a:cs typeface="Arial"/>
              </a:rPr>
              <a:t>(not simultaneously).</a:t>
            </a:r>
          </a:p>
          <a:p>
            <a:pPr marL="433376" marR="149798" lvl="1" indent="-165384" algn="just">
              <a:spcBef>
                <a:spcPts val="303"/>
              </a:spcBef>
              <a:buClr>
                <a:srgbClr val="FF0000"/>
              </a:buClr>
              <a:buFont typeface="Arial"/>
              <a:buChar char="▪"/>
              <a:tabLst>
                <a:tab pos="433376" algn="l"/>
              </a:tabLst>
            </a:pPr>
            <a:r>
              <a:rPr sz="2800" spc="3" dirty="0">
                <a:cs typeface="Arial"/>
              </a:rPr>
              <a:t>Examples:</a:t>
            </a:r>
            <a:r>
              <a:rPr lang="en-US" sz="2800" spc="3" dirty="0"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cs typeface="Arial"/>
              </a:rPr>
              <a:t>Walkie-talkie</a:t>
            </a:r>
            <a:r>
              <a:rPr sz="2800" spc="3" dirty="0">
                <a:cs typeface="Arial"/>
              </a:rPr>
              <a:t>, </a:t>
            </a:r>
            <a:r>
              <a:rPr sz="2800" dirty="0">
                <a:cs typeface="Arial"/>
              </a:rPr>
              <a:t>wireles</a:t>
            </a:r>
            <a:r>
              <a:rPr sz="2800" spc="3" dirty="0">
                <a:cs typeface="Arial"/>
              </a:rPr>
              <a:t>s </a:t>
            </a:r>
            <a:r>
              <a:rPr sz="2800" dirty="0">
                <a:cs typeface="Arial"/>
              </a:rPr>
              <a:t>keyboar</a:t>
            </a:r>
            <a:r>
              <a:rPr sz="2800" spc="7" dirty="0">
                <a:cs typeface="Arial"/>
              </a:rPr>
              <a:t>d</a:t>
            </a:r>
            <a:r>
              <a:rPr sz="2800" spc="3" dirty="0">
                <a:cs typeface="Arial"/>
              </a:rPr>
              <a:t> mouse</a:t>
            </a:r>
            <a:r>
              <a:rPr lang="en-SG" sz="2800" spc="3" dirty="0">
                <a:cs typeface="Arial"/>
              </a:rPr>
              <a:t>.</a:t>
            </a:r>
            <a:endParaRPr sz="2800" dirty="0"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110486" y="971913"/>
            <a:ext cx="824323" cy="136651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7" name="object 7"/>
          <p:cNvSpPr/>
          <p:nvPr/>
        </p:nvSpPr>
        <p:spPr>
          <a:xfrm>
            <a:off x="8563843" y="1530048"/>
            <a:ext cx="734117" cy="380826"/>
          </a:xfrm>
          <a:custGeom>
            <a:avLst/>
            <a:gdLst/>
            <a:ahLst/>
            <a:cxnLst/>
            <a:rect l="l" t="t" r="r" b="b"/>
            <a:pathLst>
              <a:path w="1076705" h="558545">
                <a:moveTo>
                  <a:pt x="72276" y="514981"/>
                </a:moveTo>
                <a:lnTo>
                  <a:pt x="55625" y="482345"/>
                </a:lnTo>
                <a:lnTo>
                  <a:pt x="0" y="558545"/>
                </a:lnTo>
                <a:lnTo>
                  <a:pt x="56387" y="557629"/>
                </a:lnTo>
                <a:lnTo>
                  <a:pt x="56387" y="525779"/>
                </a:lnTo>
                <a:lnTo>
                  <a:pt x="57150" y="522731"/>
                </a:lnTo>
                <a:lnTo>
                  <a:pt x="60197" y="521207"/>
                </a:lnTo>
                <a:lnTo>
                  <a:pt x="72276" y="514981"/>
                </a:lnTo>
                <a:close/>
              </a:path>
              <a:path w="1076705" h="558545">
                <a:moveTo>
                  <a:pt x="77226" y="524683"/>
                </a:moveTo>
                <a:lnTo>
                  <a:pt x="72276" y="514981"/>
                </a:lnTo>
                <a:lnTo>
                  <a:pt x="60197" y="521207"/>
                </a:lnTo>
                <a:lnTo>
                  <a:pt x="57150" y="522731"/>
                </a:lnTo>
                <a:lnTo>
                  <a:pt x="56387" y="525779"/>
                </a:lnTo>
                <a:lnTo>
                  <a:pt x="57912" y="528827"/>
                </a:lnTo>
                <a:lnTo>
                  <a:pt x="58673" y="531113"/>
                </a:lnTo>
                <a:lnTo>
                  <a:pt x="61721" y="531876"/>
                </a:lnTo>
                <a:lnTo>
                  <a:pt x="64769" y="531113"/>
                </a:lnTo>
                <a:lnTo>
                  <a:pt x="77226" y="524683"/>
                </a:lnTo>
                <a:close/>
              </a:path>
              <a:path w="1076705" h="558545">
                <a:moveTo>
                  <a:pt x="93725" y="557021"/>
                </a:moveTo>
                <a:lnTo>
                  <a:pt x="77226" y="524683"/>
                </a:lnTo>
                <a:lnTo>
                  <a:pt x="64769" y="531113"/>
                </a:lnTo>
                <a:lnTo>
                  <a:pt x="61721" y="531876"/>
                </a:lnTo>
                <a:lnTo>
                  <a:pt x="58673" y="531113"/>
                </a:lnTo>
                <a:lnTo>
                  <a:pt x="57912" y="528827"/>
                </a:lnTo>
                <a:lnTo>
                  <a:pt x="56387" y="525779"/>
                </a:lnTo>
                <a:lnTo>
                  <a:pt x="56387" y="557629"/>
                </a:lnTo>
                <a:lnTo>
                  <a:pt x="93725" y="557021"/>
                </a:lnTo>
                <a:close/>
              </a:path>
              <a:path w="1076705" h="558545">
                <a:moveTo>
                  <a:pt x="1076705" y="6857"/>
                </a:moveTo>
                <a:lnTo>
                  <a:pt x="1075181" y="3809"/>
                </a:lnTo>
                <a:lnTo>
                  <a:pt x="1073657" y="1523"/>
                </a:lnTo>
                <a:lnTo>
                  <a:pt x="1070609" y="0"/>
                </a:lnTo>
                <a:lnTo>
                  <a:pt x="1068323" y="1523"/>
                </a:lnTo>
                <a:lnTo>
                  <a:pt x="72276" y="514981"/>
                </a:lnTo>
                <a:lnTo>
                  <a:pt x="77226" y="524683"/>
                </a:lnTo>
                <a:lnTo>
                  <a:pt x="1072895" y="10667"/>
                </a:lnTo>
                <a:lnTo>
                  <a:pt x="1075943" y="9905"/>
                </a:lnTo>
                <a:lnTo>
                  <a:pt x="1076705" y="68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8" name="object 8"/>
          <p:cNvSpPr/>
          <p:nvPr/>
        </p:nvSpPr>
        <p:spPr>
          <a:xfrm>
            <a:off x="9293803" y="1537841"/>
            <a:ext cx="0" cy="302375"/>
          </a:xfrm>
          <a:custGeom>
            <a:avLst/>
            <a:gdLst/>
            <a:ahLst/>
            <a:cxnLst/>
            <a:rect l="l" t="t" r="r" b="b"/>
            <a:pathLst>
              <a:path h="443484">
                <a:moveTo>
                  <a:pt x="0" y="443484"/>
                </a:moveTo>
                <a:lnTo>
                  <a:pt x="0" y="0"/>
                </a:lnTo>
              </a:path>
            </a:pathLst>
          </a:custGeom>
          <a:ln w="1047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9" name="object 9"/>
          <p:cNvSpPr/>
          <p:nvPr/>
        </p:nvSpPr>
        <p:spPr>
          <a:xfrm>
            <a:off x="9289648" y="1550829"/>
            <a:ext cx="543444" cy="293543"/>
          </a:xfrm>
          <a:custGeom>
            <a:avLst/>
            <a:gdLst/>
            <a:ahLst/>
            <a:cxnLst/>
            <a:rect l="l" t="t" r="r" b="b"/>
            <a:pathLst>
              <a:path w="797051" h="430529">
                <a:moveTo>
                  <a:pt x="725743" y="44865"/>
                </a:moveTo>
                <a:lnTo>
                  <a:pt x="720748" y="35547"/>
                </a:lnTo>
                <a:lnTo>
                  <a:pt x="3809" y="419862"/>
                </a:lnTo>
                <a:lnTo>
                  <a:pt x="762" y="421386"/>
                </a:lnTo>
                <a:lnTo>
                  <a:pt x="0" y="424434"/>
                </a:lnTo>
                <a:lnTo>
                  <a:pt x="1524" y="427482"/>
                </a:lnTo>
                <a:lnTo>
                  <a:pt x="3048" y="429767"/>
                </a:lnTo>
                <a:lnTo>
                  <a:pt x="6095" y="430529"/>
                </a:lnTo>
                <a:lnTo>
                  <a:pt x="8381" y="429005"/>
                </a:lnTo>
                <a:lnTo>
                  <a:pt x="725743" y="44865"/>
                </a:lnTo>
                <a:close/>
              </a:path>
              <a:path w="797051" h="430529">
                <a:moveTo>
                  <a:pt x="797051" y="0"/>
                </a:moveTo>
                <a:lnTo>
                  <a:pt x="703326" y="3048"/>
                </a:lnTo>
                <a:lnTo>
                  <a:pt x="720748" y="35547"/>
                </a:lnTo>
                <a:lnTo>
                  <a:pt x="733043" y="28955"/>
                </a:lnTo>
                <a:lnTo>
                  <a:pt x="735329" y="27432"/>
                </a:lnTo>
                <a:lnTo>
                  <a:pt x="739139" y="28193"/>
                </a:lnTo>
                <a:lnTo>
                  <a:pt x="739901" y="31241"/>
                </a:lnTo>
                <a:lnTo>
                  <a:pt x="741426" y="33527"/>
                </a:lnTo>
                <a:lnTo>
                  <a:pt x="741426" y="74119"/>
                </a:lnTo>
                <a:lnTo>
                  <a:pt x="742950" y="76962"/>
                </a:lnTo>
                <a:lnTo>
                  <a:pt x="797051" y="0"/>
                </a:lnTo>
                <a:close/>
              </a:path>
              <a:path w="797051" h="430529">
                <a:moveTo>
                  <a:pt x="741426" y="33527"/>
                </a:moveTo>
                <a:lnTo>
                  <a:pt x="739901" y="31241"/>
                </a:lnTo>
                <a:lnTo>
                  <a:pt x="739139" y="28193"/>
                </a:lnTo>
                <a:lnTo>
                  <a:pt x="735329" y="27432"/>
                </a:lnTo>
                <a:lnTo>
                  <a:pt x="733043" y="28955"/>
                </a:lnTo>
                <a:lnTo>
                  <a:pt x="720748" y="35547"/>
                </a:lnTo>
                <a:lnTo>
                  <a:pt x="725743" y="44865"/>
                </a:lnTo>
                <a:lnTo>
                  <a:pt x="738377" y="38100"/>
                </a:lnTo>
                <a:lnTo>
                  <a:pt x="740663" y="36575"/>
                </a:lnTo>
                <a:lnTo>
                  <a:pt x="741426" y="33527"/>
                </a:lnTo>
                <a:close/>
              </a:path>
              <a:path w="797051" h="430529">
                <a:moveTo>
                  <a:pt x="741426" y="74119"/>
                </a:moveTo>
                <a:lnTo>
                  <a:pt x="741426" y="33527"/>
                </a:lnTo>
                <a:lnTo>
                  <a:pt x="740663" y="36575"/>
                </a:lnTo>
                <a:lnTo>
                  <a:pt x="738377" y="38100"/>
                </a:lnTo>
                <a:lnTo>
                  <a:pt x="725743" y="44865"/>
                </a:lnTo>
                <a:lnTo>
                  <a:pt x="741426" y="741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sp>
        <p:nvSpPr>
          <p:cNvPr id="10" name="object 10"/>
          <p:cNvSpPr/>
          <p:nvPr/>
        </p:nvSpPr>
        <p:spPr>
          <a:xfrm>
            <a:off x="7365302" y="1171602"/>
            <a:ext cx="966744" cy="92466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227"/>
          </a:p>
        </p:txBody>
      </p:sp>
      <p:graphicFrame>
        <p:nvGraphicFramePr>
          <p:cNvPr id="1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1107972"/>
              </p:ext>
            </p:extLst>
          </p:nvPr>
        </p:nvGraphicFramePr>
        <p:xfrm>
          <a:off x="6513407" y="2265746"/>
          <a:ext cx="5096710" cy="3363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6" imgW="3276600" imgH="2162556" progId="Word.Picture.8">
                  <p:embed/>
                </p:oleObj>
              </mc:Choice>
              <mc:Fallback>
                <p:oleObj name="Picture" r:id="rId6" imgW="3276600" imgH="2162556" progId="Word.Picture.8">
                  <p:embed/>
                  <p:pic>
                    <p:nvPicPr>
                      <p:cNvPr id="1434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3407" y="2265746"/>
                        <a:ext cx="5096710" cy="33635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F2B856C2-30D2-49A7-A1AA-90CDBB364958}"/>
              </a:ext>
            </a:extLst>
          </p:cNvPr>
          <p:cNvSpPr txBox="1">
            <a:spLocks/>
          </p:cNvSpPr>
          <p:nvPr/>
        </p:nvSpPr>
        <p:spPr>
          <a:xfrm>
            <a:off x="715472" y="136526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Wireless System Design Considerations </a:t>
            </a:r>
          </a:p>
          <a:p>
            <a:pPr fontAlgn="auto">
              <a:spcAft>
                <a:spcPts val="0"/>
              </a:spcAft>
            </a:pPr>
            <a:r>
              <a:rPr lang="en-SG" sz="28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Half Duplex Radio System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B9470B-6DE8-4B6A-B022-EB95D2B27502}"/>
              </a:ext>
            </a:extLst>
          </p:cNvPr>
          <p:cNvSpPr/>
          <p:nvPr/>
        </p:nvSpPr>
        <p:spPr>
          <a:xfrm>
            <a:off x="-241011" y="6063780"/>
            <a:ext cx="26244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1 System Design Considerations</a:t>
            </a:r>
          </a:p>
        </p:txBody>
      </p:sp>
      <p:pic>
        <p:nvPicPr>
          <p:cNvPr id="2" name="Pg14">
            <a:hlinkClick r:id="" action="ppaction://media"/>
            <a:extLst>
              <a:ext uri="{FF2B5EF4-FFF2-40B4-BE49-F238E27FC236}">
                <a16:creationId xmlns:a16="http://schemas.microsoft.com/office/drawing/2014/main" id="{8839F475-A9ED-44E9-AB1B-8F04EC23E4C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9913047" y="5510393"/>
            <a:ext cx="609600" cy="609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4A4660D-7651-2A50-CD62-CAF533FF3C81}"/>
              </a:ext>
            </a:extLst>
          </p:cNvPr>
          <p:cNvSpPr/>
          <p:nvPr/>
        </p:nvSpPr>
        <p:spPr>
          <a:xfrm>
            <a:off x="0" y="0"/>
            <a:ext cx="92528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3821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00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58483" y="1310086"/>
            <a:ext cx="5349587" cy="15175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42900" marR="1066339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33376" algn="l"/>
              </a:tabLst>
            </a:pPr>
            <a:r>
              <a:rPr sz="2800" spc="3" dirty="0">
                <a:cs typeface="Arial"/>
              </a:rPr>
              <a:t>Radi</a:t>
            </a:r>
            <a:r>
              <a:rPr sz="2800" spc="7" dirty="0">
                <a:cs typeface="Arial"/>
              </a:rPr>
              <a:t>o</a:t>
            </a:r>
            <a:r>
              <a:rPr sz="2800" spc="3" dirty="0">
                <a:cs typeface="Arial"/>
              </a:rPr>
              <a:t> systems </a:t>
            </a:r>
            <a:r>
              <a:rPr sz="2800" spc="-3" dirty="0">
                <a:cs typeface="Arial"/>
              </a:rPr>
              <a:t>i</a:t>
            </a:r>
            <a:r>
              <a:rPr sz="2800" spc="7" dirty="0">
                <a:cs typeface="Arial"/>
              </a:rPr>
              <a:t>n</a:t>
            </a:r>
            <a:r>
              <a:rPr sz="2800" spc="3" dirty="0">
                <a:cs typeface="Arial"/>
              </a:rPr>
              <a:t> </a:t>
            </a:r>
            <a:r>
              <a:rPr sz="2800" dirty="0">
                <a:cs typeface="Arial"/>
              </a:rPr>
              <a:t>whic</a:t>
            </a:r>
            <a:r>
              <a:rPr sz="2800" spc="7" dirty="0">
                <a:cs typeface="Arial"/>
              </a:rPr>
              <a:t>h</a:t>
            </a:r>
            <a:r>
              <a:rPr lang="en-SG" sz="2800" spc="3" dirty="0">
                <a:cs typeface="Arial"/>
              </a:rPr>
              <a:t> e</a:t>
            </a:r>
            <a:r>
              <a:rPr sz="2800" spc="3" dirty="0">
                <a:cs typeface="Arial"/>
              </a:rPr>
              <a:t>ac</a:t>
            </a:r>
            <a:r>
              <a:rPr sz="2800" spc="7" dirty="0">
                <a:cs typeface="Arial"/>
              </a:rPr>
              <a:t>h</a:t>
            </a:r>
            <a:r>
              <a:rPr sz="2800" spc="3" dirty="0">
                <a:cs typeface="Arial"/>
              </a:rPr>
              <a:t> e</a:t>
            </a:r>
            <a:r>
              <a:rPr sz="2800" spc="14" dirty="0">
                <a:cs typeface="Arial"/>
              </a:rPr>
              <a:t>n</a:t>
            </a:r>
            <a:r>
              <a:rPr sz="2800" spc="7" dirty="0">
                <a:cs typeface="Arial"/>
              </a:rPr>
              <a:t>d</a:t>
            </a:r>
            <a:r>
              <a:rPr sz="2800" spc="3" dirty="0">
                <a:cs typeface="Arial"/>
              </a:rPr>
              <a:t> ca</a:t>
            </a:r>
            <a:r>
              <a:rPr sz="2800" spc="7" dirty="0">
                <a:cs typeface="Arial"/>
              </a:rPr>
              <a:t>n</a:t>
            </a:r>
            <a:r>
              <a:rPr sz="2800" spc="3" dirty="0"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cs typeface="Arial"/>
              </a:rPr>
              <a:t>transmi</a:t>
            </a:r>
            <a:r>
              <a:rPr sz="2800" b="1" spc="3" dirty="0">
                <a:solidFill>
                  <a:srgbClr val="FF0000"/>
                </a:solidFill>
                <a:cs typeface="Arial"/>
              </a:rPr>
              <a:t>t an</a:t>
            </a:r>
            <a:r>
              <a:rPr sz="2800" b="1" spc="7" dirty="0">
                <a:solidFill>
                  <a:srgbClr val="FF0000"/>
                </a:solidFill>
                <a:cs typeface="Arial"/>
              </a:rPr>
              <a:t>d</a:t>
            </a:r>
            <a:r>
              <a:rPr sz="2800" b="1" spc="3" dirty="0">
                <a:solidFill>
                  <a:srgbClr val="FF0000"/>
                </a:solidFill>
                <a:cs typeface="Arial"/>
              </a:rPr>
              <a:t> </a:t>
            </a:r>
            <a:r>
              <a:rPr sz="2800" b="1" dirty="0">
                <a:solidFill>
                  <a:srgbClr val="FF0000"/>
                </a:solidFill>
                <a:cs typeface="Arial"/>
              </a:rPr>
              <a:t>receive</a:t>
            </a:r>
            <a:r>
              <a:rPr lang="en-US" sz="2800" b="1" dirty="0">
                <a:solidFill>
                  <a:srgbClr val="FF0000"/>
                </a:solidFill>
                <a:cs typeface="Arial"/>
              </a:rPr>
              <a:t> s</a:t>
            </a:r>
            <a:r>
              <a:rPr sz="2800" b="1" dirty="0">
                <a:solidFill>
                  <a:srgbClr val="FF0000"/>
                </a:solidFill>
                <a:cs typeface="Arial"/>
              </a:rPr>
              <a:t>imultaneously</a:t>
            </a:r>
            <a:r>
              <a:rPr lang="en-US" sz="2800" b="1" dirty="0">
                <a:solidFill>
                  <a:srgbClr val="FF0000"/>
                </a:solidFill>
                <a:cs typeface="Arial"/>
              </a:rPr>
              <a:t>.</a:t>
            </a:r>
            <a:endParaRPr sz="2800" b="1" dirty="0">
              <a:solidFill>
                <a:srgbClr val="FF0000"/>
              </a:solidFill>
              <a:cs typeface="Arial"/>
            </a:endParaRPr>
          </a:p>
          <a:p>
            <a:pPr marL="3429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33376" algn="l"/>
              </a:tabLst>
            </a:pPr>
            <a:r>
              <a:rPr sz="2800" dirty="0">
                <a:cs typeface="Arial"/>
              </a:rPr>
              <a:t>Typicall</a:t>
            </a:r>
            <a:r>
              <a:rPr sz="2800" spc="3" dirty="0">
                <a:cs typeface="Arial"/>
              </a:rPr>
              <a:t>y </a:t>
            </a:r>
            <a:r>
              <a:rPr sz="2800" dirty="0">
                <a:cs typeface="Arial"/>
              </a:rPr>
              <a:t>tw</a:t>
            </a:r>
            <a:r>
              <a:rPr sz="2800" spc="7" dirty="0">
                <a:cs typeface="Arial"/>
              </a:rPr>
              <a:t>o</a:t>
            </a:r>
            <a:r>
              <a:rPr sz="2800" spc="3" dirty="0">
                <a:cs typeface="Arial"/>
              </a:rPr>
              <a:t> </a:t>
            </a:r>
            <a:r>
              <a:rPr sz="2800" dirty="0">
                <a:cs typeface="Arial"/>
              </a:rPr>
              <a:t>frequencie</a:t>
            </a:r>
            <a:r>
              <a:rPr sz="2800" spc="3" dirty="0">
                <a:cs typeface="Arial"/>
              </a:rPr>
              <a:t>s </a:t>
            </a:r>
            <a:r>
              <a:rPr sz="2800" dirty="0">
                <a:cs typeface="Arial"/>
              </a:rPr>
              <a:t>ar</a:t>
            </a:r>
            <a:r>
              <a:rPr sz="2800" spc="7" dirty="0">
                <a:cs typeface="Arial"/>
              </a:rPr>
              <a:t>e</a:t>
            </a:r>
            <a:r>
              <a:rPr sz="2800" spc="3" dirty="0">
                <a:cs typeface="Arial"/>
              </a:rPr>
              <a:t> use</a:t>
            </a:r>
            <a:r>
              <a:rPr sz="2800" spc="7" dirty="0">
                <a:cs typeface="Arial"/>
              </a:rPr>
              <a:t>d</a:t>
            </a:r>
            <a:r>
              <a:rPr sz="2800" spc="3" dirty="0">
                <a:cs typeface="Arial"/>
              </a:rPr>
              <a:t> </a:t>
            </a:r>
            <a:r>
              <a:rPr sz="2800" dirty="0">
                <a:cs typeface="Arial"/>
              </a:rPr>
              <a:t>t</a:t>
            </a:r>
            <a:r>
              <a:rPr sz="2800" spc="7" dirty="0">
                <a:cs typeface="Arial"/>
              </a:rPr>
              <a:t>o</a:t>
            </a:r>
            <a:r>
              <a:rPr sz="2800" spc="10" dirty="0">
                <a:cs typeface="Arial"/>
              </a:rPr>
              <a:t> </a:t>
            </a:r>
            <a:r>
              <a:rPr sz="2800" spc="3" dirty="0">
                <a:cs typeface="Arial"/>
              </a:rPr>
              <a:t>set u</a:t>
            </a:r>
            <a:r>
              <a:rPr sz="2800" spc="7" dirty="0">
                <a:cs typeface="Arial"/>
              </a:rPr>
              <a:t>p</a:t>
            </a:r>
            <a:r>
              <a:rPr sz="2800" spc="3" dirty="0">
                <a:cs typeface="Arial"/>
              </a:rPr>
              <a:t> </a:t>
            </a:r>
            <a:r>
              <a:rPr sz="2800" dirty="0">
                <a:cs typeface="Arial"/>
              </a:rPr>
              <a:t>th</a:t>
            </a:r>
            <a:r>
              <a:rPr sz="2800" spc="7" dirty="0">
                <a:cs typeface="Arial"/>
              </a:rPr>
              <a:t>e</a:t>
            </a:r>
            <a:r>
              <a:rPr sz="2800" spc="3" dirty="0">
                <a:cs typeface="Arial"/>
              </a:rPr>
              <a:t> communicatio</a:t>
            </a:r>
            <a:r>
              <a:rPr sz="2800" spc="7" dirty="0">
                <a:cs typeface="Arial"/>
              </a:rPr>
              <a:t>n</a:t>
            </a:r>
            <a:r>
              <a:rPr sz="2800" spc="3" dirty="0">
                <a:cs typeface="Arial"/>
              </a:rPr>
              <a:t> </a:t>
            </a:r>
            <a:r>
              <a:rPr sz="2800" dirty="0">
                <a:cs typeface="Arial"/>
              </a:rPr>
              <a:t>channel</a:t>
            </a:r>
            <a:r>
              <a:rPr lang="en-SG" sz="2800" dirty="0">
                <a:cs typeface="Arial"/>
              </a:rPr>
              <a:t>; one for transmit and the other for receive.</a:t>
            </a:r>
          </a:p>
          <a:p>
            <a:pPr marL="342900" lvl="1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>
                <a:tab pos="433376" algn="l"/>
              </a:tabLst>
            </a:pPr>
            <a:r>
              <a:rPr lang="en-SG" sz="2800" dirty="0">
                <a:cs typeface="Arial"/>
              </a:rPr>
              <a:t>Example: CT2 Cordless Phone, </a:t>
            </a:r>
            <a:r>
              <a:rPr lang="en-SG" sz="2800" b="1" dirty="0">
                <a:solidFill>
                  <a:srgbClr val="FF0000"/>
                </a:solidFill>
                <a:cs typeface="Arial"/>
              </a:rPr>
              <a:t>Cellular Phone</a:t>
            </a:r>
            <a:r>
              <a:rPr lang="en-SG" sz="2800" dirty="0">
                <a:cs typeface="Arial"/>
              </a:rPr>
              <a:t> (3G,4G, LTE, etc.)</a:t>
            </a:r>
            <a:endParaRPr sz="2800" dirty="0"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3272" y="1928228"/>
            <a:ext cx="6163323" cy="342023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05AEAA5-6F35-4F43-AD3F-B5265E2C98E3}"/>
              </a:ext>
            </a:extLst>
          </p:cNvPr>
          <p:cNvSpPr txBox="1">
            <a:spLocks/>
          </p:cNvSpPr>
          <p:nvPr/>
        </p:nvSpPr>
        <p:spPr>
          <a:xfrm>
            <a:off x="715472" y="136526"/>
            <a:ext cx="10515600" cy="1038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SG" sz="32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Wireless System Design Considerations </a:t>
            </a:r>
          </a:p>
          <a:p>
            <a:pPr fontAlgn="auto">
              <a:spcAft>
                <a:spcPts val="0"/>
              </a:spcAft>
            </a:pPr>
            <a:r>
              <a:rPr lang="en-SG" sz="280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Full Duplex Radio System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E14A52-AC75-4082-A860-D10FC1D1BB27}"/>
              </a:ext>
            </a:extLst>
          </p:cNvPr>
          <p:cNvSpPr/>
          <p:nvPr/>
        </p:nvSpPr>
        <p:spPr>
          <a:xfrm>
            <a:off x="-241011" y="6063780"/>
            <a:ext cx="26244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1 System Design Considerations</a:t>
            </a:r>
          </a:p>
        </p:txBody>
      </p:sp>
      <p:pic>
        <p:nvPicPr>
          <p:cNvPr id="3" name="Pg15">
            <a:hlinkClick r:id="" action="ppaction://media"/>
            <a:extLst>
              <a:ext uri="{FF2B5EF4-FFF2-40B4-BE49-F238E27FC236}">
                <a16:creationId xmlns:a16="http://schemas.microsoft.com/office/drawing/2014/main" id="{11F1EAD9-7EF4-4B11-BCE1-D9FDE354F73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823018" y="5344717"/>
            <a:ext cx="609600" cy="609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16A46B2-75F9-FE9A-8065-00DD9AE0FA4D}"/>
              </a:ext>
            </a:extLst>
          </p:cNvPr>
          <p:cNvSpPr/>
          <p:nvPr/>
        </p:nvSpPr>
        <p:spPr>
          <a:xfrm>
            <a:off x="0" y="0"/>
            <a:ext cx="92528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8068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54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BCC37CF4-8C5F-27DF-B128-ADE92A60F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673" y="276999"/>
            <a:ext cx="9369928" cy="52274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FC98708-38A9-95E6-463A-00F330A7FCE7}"/>
              </a:ext>
            </a:extLst>
          </p:cNvPr>
          <p:cNvSpPr/>
          <p:nvPr/>
        </p:nvSpPr>
        <p:spPr>
          <a:xfrm>
            <a:off x="0" y="0"/>
            <a:ext cx="92528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00B354-AC29-9415-C079-6303DAE28A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050" y="6038076"/>
            <a:ext cx="1762125" cy="5429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5313B6-9315-861D-CF0C-337303B1DEF1}"/>
              </a:ext>
            </a:extLst>
          </p:cNvPr>
          <p:cNvSpPr txBox="1"/>
          <p:nvPr/>
        </p:nvSpPr>
        <p:spPr>
          <a:xfrm>
            <a:off x="2332238" y="5663207"/>
            <a:ext cx="75275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0" i="0" dirty="0">
                <a:solidFill>
                  <a:srgbClr val="0D0D0D"/>
                </a:solidFill>
                <a:effectLst/>
                <a:latin typeface="Roboto" panose="02000000000000000000" pitchFamily="2" charset="0"/>
              </a:rPr>
              <a:t>What is Simplex, Half Duplex &amp; Full Duplex, Different Types of Telecommunication Transmission Modes.</a:t>
            </a:r>
          </a:p>
          <a:p>
            <a:r>
              <a:rPr lang="en-SG" b="0" i="0" u="none" strike="noStrike" dirty="0">
                <a:effectLst/>
                <a:latin typeface="Roboto" panose="02000000000000000000" pitchFamily="2" charset="0"/>
                <a:hlinkClick r:id="rId2"/>
              </a:rPr>
              <a:t>https://youtu.be/07pFHyOrN_k</a:t>
            </a:r>
            <a:endParaRPr lang="en-SG" dirty="0"/>
          </a:p>
        </p:txBody>
      </p:sp>
      <p:pic>
        <p:nvPicPr>
          <p:cNvPr id="4100" name="Picture 4" descr="Miscellaneous Video's – Centurian Park Family">
            <a:extLst>
              <a:ext uri="{FF2B5EF4-FFF2-40B4-BE49-F238E27FC236}">
                <a16:creationId xmlns:a16="http://schemas.microsoft.com/office/drawing/2014/main" id="{F2FC59B5-8F70-388F-0F76-A765F7749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6552" y="94229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BEF0202-9D09-6249-7FC1-94F81D53C14B}"/>
              </a:ext>
            </a:extLst>
          </p:cNvPr>
          <p:cNvSpPr txBox="1"/>
          <p:nvPr/>
        </p:nvSpPr>
        <p:spPr>
          <a:xfrm>
            <a:off x="9859762" y="3085420"/>
            <a:ext cx="20811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dirty="0"/>
              <a:t>Pls see this </a:t>
            </a:r>
            <a:r>
              <a:rPr lang="en-SG" sz="3200" dirty="0" err="1"/>
              <a:t>Youtube</a:t>
            </a:r>
            <a:r>
              <a:rPr lang="en-SG" sz="3200" dirty="0"/>
              <a:t> video to understand more</a:t>
            </a:r>
            <a:r>
              <a:rPr lang="en-SG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6374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883268" y="891425"/>
            <a:ext cx="9650415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397587-C9B9-45CC-92A2-E542EB9D4DF5}"/>
              </a:ext>
            </a:extLst>
          </p:cNvPr>
          <p:cNvSpPr/>
          <p:nvPr/>
        </p:nvSpPr>
        <p:spPr>
          <a:xfrm>
            <a:off x="-241011" y="6063780"/>
            <a:ext cx="262443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/>
            <a:r>
              <a:rPr lang="en-SG" sz="1200" dirty="0"/>
              <a:t>1 System Design Considerations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D88621-BFD5-4167-A859-84DBDA46622A}"/>
              </a:ext>
            </a:extLst>
          </p:cNvPr>
          <p:cNvSpPr/>
          <p:nvPr/>
        </p:nvSpPr>
        <p:spPr>
          <a:xfrm>
            <a:off x="4183201" y="1454940"/>
            <a:ext cx="3825598" cy="212365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SG" sz="6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cs typeface="Calibri" panose="020F0502020204030204" pitchFamily="34" charset="0"/>
              </a:rPr>
              <a:t>Thank you</a:t>
            </a:r>
          </a:p>
          <a:p>
            <a:pPr algn="ctr"/>
            <a:endParaRPr lang="en-SG" sz="6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cs typeface="Calibri" panose="020F0502020204030204" pitchFamily="34" charset="0"/>
            </a:endParaRPr>
          </a:p>
        </p:txBody>
      </p:sp>
      <p:pic>
        <p:nvPicPr>
          <p:cNvPr id="8" name="Pg18">
            <a:hlinkClick r:id="" action="ppaction://media"/>
            <a:extLst>
              <a:ext uri="{FF2B5EF4-FFF2-40B4-BE49-F238E27FC236}">
                <a16:creationId xmlns:a16="http://schemas.microsoft.com/office/drawing/2014/main" id="{2149CE5A-1F5A-4E38-81BB-09DAFB9D9CC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924083" y="5349700"/>
            <a:ext cx="609600" cy="6096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056E02E-D55C-4068-18E1-916B12524A32}"/>
              </a:ext>
            </a:extLst>
          </p:cNvPr>
          <p:cNvSpPr/>
          <p:nvPr/>
        </p:nvSpPr>
        <p:spPr>
          <a:xfrm>
            <a:off x="0" y="0"/>
            <a:ext cx="925286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28001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6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21101</TotalTime>
  <Words>510</Words>
  <Application>Microsoft Office PowerPoint</Application>
  <PresentationFormat>Widescreen</PresentationFormat>
  <Paragraphs>89</Paragraphs>
  <Slides>13</Slides>
  <Notes>2</Notes>
  <HiddenSlides>0</HiddenSlides>
  <MMClips>13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Roboto</vt:lpstr>
      <vt:lpstr>Office Theme</vt:lpstr>
      <vt:lpstr>Picture</vt:lpstr>
      <vt:lpstr>EGE321 Wireless Communication &amp; Networking Introduction</vt:lpstr>
      <vt:lpstr>Module EGE321 Wireless Communication &amp; Networking Chapter 1. System Design Considerations</vt:lpstr>
      <vt:lpstr>Contents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Nanyang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 Wireless System Implemetation &amp; Tests 1. Wireless Network Deployment</dc:title>
  <dc:creator>LIM TECK BENG</dc:creator>
  <cp:lastModifiedBy>Chang Fatt LEE (NYP)</cp:lastModifiedBy>
  <cp:revision>283</cp:revision>
  <dcterms:created xsi:type="dcterms:W3CDTF">2016-03-19T14:52:50Z</dcterms:created>
  <dcterms:modified xsi:type="dcterms:W3CDTF">2025-10-18T10:20:48Z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abe128f-e2ab-4b18-9c62-301caee5e80a_Enabled">
    <vt:lpwstr>true</vt:lpwstr>
  </property>
  <property fmtid="{D5CDD505-2E9C-101B-9397-08002B2CF9AE}" pid="3" name="MSIP_Label_babe128f-e2ab-4b18-9c62-301caee5e80a_SetDate">
    <vt:lpwstr>2023-09-25T02:44:32Z</vt:lpwstr>
  </property>
  <property fmtid="{D5CDD505-2E9C-101B-9397-08002B2CF9AE}" pid="4" name="MSIP_Label_babe128f-e2ab-4b18-9c62-301caee5e80a_Method">
    <vt:lpwstr>Privileged</vt:lpwstr>
  </property>
  <property fmtid="{D5CDD505-2E9C-101B-9397-08002B2CF9AE}" pid="5" name="MSIP_Label_babe128f-e2ab-4b18-9c62-301caee5e80a_Name">
    <vt:lpwstr>OFFICIAL [OPEN]</vt:lpwstr>
  </property>
  <property fmtid="{D5CDD505-2E9C-101B-9397-08002B2CF9AE}" pid="6" name="MSIP_Label_babe128f-e2ab-4b18-9c62-301caee5e80a_SiteId">
    <vt:lpwstr>243ebaed-00d0-4690-a7dc-75893b0d9f98</vt:lpwstr>
  </property>
  <property fmtid="{D5CDD505-2E9C-101B-9397-08002B2CF9AE}" pid="7" name="MSIP_Label_babe128f-e2ab-4b18-9c62-301caee5e80a_ActionId">
    <vt:lpwstr>81944ad0-1aad-45fe-b9c5-3b717b278b99</vt:lpwstr>
  </property>
  <property fmtid="{D5CDD505-2E9C-101B-9397-08002B2CF9AE}" pid="8" name="MSIP_Label_babe128f-e2ab-4b18-9c62-301caee5e80a_ContentBits">
    <vt:lpwstr>1</vt:lpwstr>
  </property>
  <property fmtid="{D5CDD505-2E9C-101B-9397-08002B2CF9AE}" pid="9" name="ClassificationContentMarkingHeaderLocations">
    <vt:lpwstr>Office Theme:5</vt:lpwstr>
  </property>
  <property fmtid="{D5CDD505-2E9C-101B-9397-08002B2CF9AE}" pid="10" name="ClassificationContentMarkingHeaderText">
    <vt:lpwstr>Official (Open)</vt:lpwstr>
  </property>
</Properties>
</file>