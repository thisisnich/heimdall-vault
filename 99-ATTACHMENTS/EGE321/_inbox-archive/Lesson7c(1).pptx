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633" r:id="rId4"/>
    <p:sldId id="620" r:id="rId5"/>
    <p:sldId id="634" r:id="rId6"/>
    <p:sldId id="621" r:id="rId7"/>
    <p:sldId id="624" r:id="rId8"/>
    <p:sldId id="635" r:id="rId9"/>
    <p:sldId id="622" r:id="rId10"/>
    <p:sldId id="623" r:id="rId11"/>
    <p:sldId id="587" r:id="rId12"/>
    <p:sldId id="625" r:id="rId13"/>
    <p:sldId id="636" r:id="rId14"/>
    <p:sldId id="619" r:id="rId15"/>
    <p:sldId id="626" r:id="rId16"/>
    <p:sldId id="572" r:id="rId17"/>
    <p:sldId id="571" r:id="rId18"/>
    <p:sldId id="627" r:id="rId19"/>
    <p:sldId id="628" r:id="rId20"/>
    <p:sldId id="629" r:id="rId21"/>
    <p:sldId id="630" r:id="rId22"/>
    <p:sldId id="631" r:id="rId23"/>
    <p:sldId id="632" r:id="rId24"/>
    <p:sldId id="473" r:id="rId25"/>
    <p:sldId id="552" r:id="rId26"/>
    <p:sldId id="637" r:id="rId2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199" autoAdjust="0"/>
    <p:restoredTop sz="86456" autoAdjust="0"/>
  </p:normalViewPr>
  <p:slideViewPr>
    <p:cSldViewPr snapToGrid="0">
      <p:cViewPr varScale="1">
        <p:scale>
          <a:sx n="151" d="100"/>
          <a:sy n="151" d="100"/>
        </p:scale>
        <p:origin x="1612"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2056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7403C14-3C46-449B-91D3-779C3EAC3963}" type="datetimeFigureOut">
              <a:rPr lang="en-US" smtClean="0"/>
              <a:t>10/24/2025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83627CE-1CF8-444E-9F93-C191CD3011DB}" type="slidenum">
              <a:rPr lang="en-US" smtClean="0"/>
              <a:t>‹#›</a:t>
            </a:fld>
            <a:endParaRPr lang="en-US"/>
          </a:p>
        </p:txBody>
      </p:sp>
    </p:spTree>
    <p:extLst>
      <p:ext uri="{BB962C8B-B14F-4D97-AF65-F5344CB8AC3E}">
        <p14:creationId xmlns:p14="http://schemas.microsoft.com/office/powerpoint/2010/main" val="392713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3627CE-1CF8-444E-9F93-C191CD3011DB}" type="slidenum">
              <a:rPr lang="en-US" smtClean="0"/>
              <a:t>1</a:t>
            </a:fld>
            <a:endParaRPr lang="en-US"/>
          </a:p>
        </p:txBody>
      </p:sp>
    </p:spTree>
    <p:extLst>
      <p:ext uri="{BB962C8B-B14F-4D97-AF65-F5344CB8AC3E}">
        <p14:creationId xmlns:p14="http://schemas.microsoft.com/office/powerpoint/2010/main" val="135779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83627CE-1CF8-444E-9F93-C191CD3011DB}" type="slidenum">
              <a:rPr lang="en-US" smtClean="0"/>
              <a:t>3</a:t>
            </a:fld>
            <a:endParaRPr lang="en-US"/>
          </a:p>
        </p:txBody>
      </p:sp>
    </p:spTree>
    <p:extLst>
      <p:ext uri="{BB962C8B-B14F-4D97-AF65-F5344CB8AC3E}">
        <p14:creationId xmlns:p14="http://schemas.microsoft.com/office/powerpoint/2010/main" val="3373288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83627CE-1CF8-444E-9F93-C191CD3011DB}" type="slidenum">
              <a:rPr lang="en-US" smtClean="0"/>
              <a:t>4</a:t>
            </a:fld>
            <a:endParaRPr lang="en-US"/>
          </a:p>
        </p:txBody>
      </p:sp>
    </p:spTree>
    <p:extLst>
      <p:ext uri="{BB962C8B-B14F-4D97-AF65-F5344CB8AC3E}">
        <p14:creationId xmlns:p14="http://schemas.microsoft.com/office/powerpoint/2010/main" val="2706648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83627CE-1CF8-444E-9F93-C191CD3011DB}" type="slidenum">
              <a:rPr lang="en-US" smtClean="0"/>
              <a:t>5</a:t>
            </a:fld>
            <a:endParaRPr lang="en-US"/>
          </a:p>
        </p:txBody>
      </p:sp>
    </p:spTree>
    <p:extLst>
      <p:ext uri="{BB962C8B-B14F-4D97-AF65-F5344CB8AC3E}">
        <p14:creationId xmlns:p14="http://schemas.microsoft.com/office/powerpoint/2010/main" val="2114712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BCEB1291-583B-4BED-9B2D-75257A95F579}" type="slidenum">
              <a:rPr lang="en-US" altLang="en-US" sz="1200"/>
              <a:pPr/>
              <a:t>6</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508037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3627CE-1CF8-444E-9F93-C191CD3011DB}" type="slidenum">
              <a:rPr lang="en-US" smtClean="0"/>
              <a:t>7</a:t>
            </a:fld>
            <a:endParaRPr lang="en-US"/>
          </a:p>
        </p:txBody>
      </p:sp>
    </p:spTree>
    <p:extLst>
      <p:ext uri="{BB962C8B-B14F-4D97-AF65-F5344CB8AC3E}">
        <p14:creationId xmlns:p14="http://schemas.microsoft.com/office/powerpoint/2010/main" val="1535326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83627CE-1CF8-444E-9F93-C191CD3011DB}" type="slidenum">
              <a:rPr lang="en-US" smtClean="0"/>
              <a:t>8</a:t>
            </a:fld>
            <a:endParaRPr lang="en-US"/>
          </a:p>
        </p:txBody>
      </p:sp>
    </p:spTree>
    <p:extLst>
      <p:ext uri="{BB962C8B-B14F-4D97-AF65-F5344CB8AC3E}">
        <p14:creationId xmlns:p14="http://schemas.microsoft.com/office/powerpoint/2010/main" val="1685584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C0060-802C-46CB-A6E5-3F4D3BBF271A}" type="slidenum">
              <a:rPr lang="en-US" altLang="en-US"/>
              <a:pPr>
                <a:spcBef>
                  <a:spcPct val="0"/>
                </a:spcBef>
              </a:pPr>
              <a:t>11</a:t>
            </a:fld>
            <a:endParaRPr lang="en-US" altLang="en-US"/>
          </a:p>
        </p:txBody>
      </p:sp>
      <p:sp>
        <p:nvSpPr>
          <p:cNvPr id="132099" name="Rectangle 2"/>
          <p:cNvSpPr>
            <a:spLocks noGrp="1" noRot="1" noChangeAspect="1" noChangeArrowheads="1" noTextEdit="1"/>
          </p:cNvSpPr>
          <p:nvPr>
            <p:ph type="sldImg"/>
          </p:nvPr>
        </p:nvSpPr>
        <p:spPr>
          <a:xfrm>
            <a:off x="-1420813" y="808038"/>
            <a:ext cx="9580563" cy="5389562"/>
          </a:xfrm>
          <a:ln/>
        </p:spPr>
      </p:sp>
      <p:sp>
        <p:nvSpPr>
          <p:cNvPr id="132100" name="Rectangle 3"/>
          <p:cNvSpPr>
            <a:spLocks noGrp="1" noChangeArrowheads="1"/>
          </p:cNvSpPr>
          <p:nvPr>
            <p:ph type="body" idx="1"/>
          </p:nvPr>
        </p:nvSpPr>
        <p:spPr>
          <a:xfrm>
            <a:off x="675047" y="6464379"/>
            <a:ext cx="5463317" cy="35036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4158840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83627CE-1CF8-444E-9F93-C191CD3011DB}" type="slidenum">
              <a:rPr lang="en-US" smtClean="0"/>
              <a:t>13</a:t>
            </a:fld>
            <a:endParaRPr lang="en-US"/>
          </a:p>
        </p:txBody>
      </p:sp>
    </p:spTree>
    <p:extLst>
      <p:ext uri="{BB962C8B-B14F-4D97-AF65-F5344CB8AC3E}">
        <p14:creationId xmlns:p14="http://schemas.microsoft.com/office/powerpoint/2010/main" val="3824832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0B7393-D409-44B6-819D-D939D4E98C67}" type="slidenum">
              <a:rPr lang="en-US" altLang="en-US"/>
              <a:pPr>
                <a:spcBef>
                  <a:spcPct val="0"/>
                </a:spcBef>
              </a:pPr>
              <a:t>14</a:t>
            </a:fld>
            <a:endParaRPr lang="en-US" altLang="en-US"/>
          </a:p>
        </p:txBody>
      </p:sp>
      <p:sp>
        <p:nvSpPr>
          <p:cNvPr id="147459" name="Rectangle 2"/>
          <p:cNvSpPr>
            <a:spLocks noGrp="1" noRot="1" noChangeAspect="1" noChangeArrowheads="1" noTextEdit="1"/>
          </p:cNvSpPr>
          <p:nvPr>
            <p:ph type="sldImg"/>
          </p:nvPr>
        </p:nvSpPr>
        <p:spPr>
          <a:xfrm>
            <a:off x="-1420813" y="808038"/>
            <a:ext cx="9580563" cy="5389562"/>
          </a:xfrm>
          <a:ln/>
        </p:spPr>
      </p:sp>
      <p:sp>
        <p:nvSpPr>
          <p:cNvPr id="147460" name="Rectangle 3"/>
          <p:cNvSpPr>
            <a:spLocks noGrp="1" noChangeArrowheads="1"/>
          </p:cNvSpPr>
          <p:nvPr>
            <p:ph type="body" idx="1"/>
          </p:nvPr>
        </p:nvSpPr>
        <p:spPr>
          <a:xfrm>
            <a:off x="675047" y="6645333"/>
            <a:ext cx="5463317" cy="3322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78975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0B7393-D409-44B6-819D-D939D4E98C67}" type="slidenum">
              <a:rPr lang="en-US" altLang="en-US"/>
              <a:pPr>
                <a:spcBef>
                  <a:spcPct val="0"/>
                </a:spcBef>
              </a:pPr>
              <a:t>15</a:t>
            </a:fld>
            <a:endParaRPr lang="en-US" altLang="en-US"/>
          </a:p>
        </p:txBody>
      </p:sp>
      <p:sp>
        <p:nvSpPr>
          <p:cNvPr id="147459" name="Rectangle 2"/>
          <p:cNvSpPr>
            <a:spLocks noGrp="1" noRot="1" noChangeAspect="1" noChangeArrowheads="1" noTextEdit="1"/>
          </p:cNvSpPr>
          <p:nvPr>
            <p:ph type="sldImg"/>
          </p:nvPr>
        </p:nvSpPr>
        <p:spPr>
          <a:xfrm>
            <a:off x="-1420813" y="808038"/>
            <a:ext cx="9580563" cy="5389562"/>
          </a:xfrm>
          <a:ln/>
        </p:spPr>
      </p:sp>
      <p:sp>
        <p:nvSpPr>
          <p:cNvPr id="147460" name="Rectangle 3"/>
          <p:cNvSpPr>
            <a:spLocks noGrp="1" noChangeArrowheads="1"/>
          </p:cNvSpPr>
          <p:nvPr>
            <p:ph type="body" idx="1"/>
          </p:nvPr>
        </p:nvSpPr>
        <p:spPr>
          <a:xfrm>
            <a:off x="675047" y="6645333"/>
            <a:ext cx="5463317" cy="3322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991133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0B7393-D409-44B6-819D-D939D4E98C67}" type="slidenum">
              <a:rPr lang="en-US" altLang="en-US"/>
              <a:pPr>
                <a:spcBef>
                  <a:spcPct val="0"/>
                </a:spcBef>
              </a:pPr>
              <a:t>16</a:t>
            </a:fld>
            <a:endParaRPr lang="en-US" altLang="en-US"/>
          </a:p>
        </p:txBody>
      </p:sp>
      <p:sp>
        <p:nvSpPr>
          <p:cNvPr id="147459" name="Rectangle 2"/>
          <p:cNvSpPr>
            <a:spLocks noGrp="1" noRot="1" noChangeAspect="1" noChangeArrowheads="1" noTextEdit="1"/>
          </p:cNvSpPr>
          <p:nvPr>
            <p:ph type="sldImg"/>
          </p:nvPr>
        </p:nvSpPr>
        <p:spPr>
          <a:xfrm>
            <a:off x="-1420813" y="808038"/>
            <a:ext cx="9580563" cy="5389562"/>
          </a:xfrm>
          <a:ln/>
        </p:spPr>
      </p:sp>
      <p:sp>
        <p:nvSpPr>
          <p:cNvPr id="147460" name="Rectangle 3"/>
          <p:cNvSpPr>
            <a:spLocks noGrp="1" noChangeArrowheads="1"/>
          </p:cNvSpPr>
          <p:nvPr>
            <p:ph type="body" idx="1"/>
          </p:nvPr>
        </p:nvSpPr>
        <p:spPr>
          <a:xfrm>
            <a:off x="675047" y="6645333"/>
            <a:ext cx="5463317" cy="3322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268355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0B7393-D409-44B6-819D-D939D4E98C67}" type="slidenum">
              <a:rPr lang="en-US" altLang="en-US"/>
              <a:pPr>
                <a:spcBef>
                  <a:spcPct val="0"/>
                </a:spcBef>
              </a:pPr>
              <a:t>17</a:t>
            </a:fld>
            <a:endParaRPr lang="en-US" altLang="en-US"/>
          </a:p>
        </p:txBody>
      </p:sp>
      <p:sp>
        <p:nvSpPr>
          <p:cNvPr id="147459" name="Rectangle 2"/>
          <p:cNvSpPr>
            <a:spLocks noGrp="1" noRot="1" noChangeAspect="1" noChangeArrowheads="1" noTextEdit="1"/>
          </p:cNvSpPr>
          <p:nvPr>
            <p:ph type="sldImg"/>
          </p:nvPr>
        </p:nvSpPr>
        <p:spPr>
          <a:xfrm>
            <a:off x="-1420813" y="808038"/>
            <a:ext cx="9580563" cy="5389562"/>
          </a:xfrm>
          <a:ln/>
        </p:spPr>
      </p:sp>
      <p:sp>
        <p:nvSpPr>
          <p:cNvPr id="147460" name="Rectangle 3"/>
          <p:cNvSpPr>
            <a:spLocks noGrp="1" noChangeArrowheads="1"/>
          </p:cNvSpPr>
          <p:nvPr>
            <p:ph type="body" idx="1"/>
          </p:nvPr>
        </p:nvSpPr>
        <p:spPr>
          <a:xfrm>
            <a:off x="675047" y="6645333"/>
            <a:ext cx="5463317" cy="3322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355191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Times New Roman" panose="02020603050405020304" pitchFamily="18" charset="0"/>
              </a:defRPr>
            </a:lvl1pPr>
            <a:lvl2pPr marL="752475" indent="-288925" defTabSz="915988">
              <a:spcBef>
                <a:spcPct val="30000"/>
              </a:spcBef>
              <a:defRPr sz="1200">
                <a:solidFill>
                  <a:schemeClr val="tx1"/>
                </a:solidFill>
                <a:latin typeface="Times New Roman" panose="02020603050405020304" pitchFamily="18" charset="0"/>
              </a:defRPr>
            </a:lvl2pPr>
            <a:lvl3pPr marL="1157288" indent="-230188" defTabSz="915988">
              <a:spcBef>
                <a:spcPct val="30000"/>
              </a:spcBef>
              <a:defRPr sz="1200">
                <a:solidFill>
                  <a:schemeClr val="tx1"/>
                </a:solidFill>
                <a:latin typeface="Times New Roman" panose="02020603050405020304" pitchFamily="18" charset="0"/>
              </a:defRPr>
            </a:lvl3pPr>
            <a:lvl4pPr marL="1620838" indent="-230188" defTabSz="915988">
              <a:spcBef>
                <a:spcPct val="30000"/>
              </a:spcBef>
              <a:defRPr sz="1200">
                <a:solidFill>
                  <a:schemeClr val="tx1"/>
                </a:solidFill>
                <a:latin typeface="Times New Roman" panose="02020603050405020304" pitchFamily="18" charset="0"/>
              </a:defRPr>
            </a:lvl4pPr>
            <a:lvl5pPr marL="2084388" indent="-230188" defTabSz="915988">
              <a:spcBef>
                <a:spcPct val="30000"/>
              </a:spcBef>
              <a:defRPr sz="1200">
                <a:solidFill>
                  <a:schemeClr val="tx1"/>
                </a:solidFill>
                <a:latin typeface="Times New Roman" panose="02020603050405020304" pitchFamily="18" charset="0"/>
              </a:defRPr>
            </a:lvl5pPr>
            <a:lvl6pPr marL="2541588" indent="-230188" defTabSz="915988" eaLnBrk="0" fontAlgn="base" hangingPunct="0">
              <a:spcBef>
                <a:spcPct val="30000"/>
              </a:spcBef>
              <a:spcAft>
                <a:spcPct val="0"/>
              </a:spcAft>
              <a:defRPr sz="1200">
                <a:solidFill>
                  <a:schemeClr val="tx1"/>
                </a:solidFill>
                <a:latin typeface="Times New Roman" panose="02020603050405020304" pitchFamily="18" charset="0"/>
              </a:defRPr>
            </a:lvl6pPr>
            <a:lvl7pPr marL="2998788" indent="-230188" defTabSz="915988" eaLnBrk="0" fontAlgn="base" hangingPunct="0">
              <a:spcBef>
                <a:spcPct val="30000"/>
              </a:spcBef>
              <a:spcAft>
                <a:spcPct val="0"/>
              </a:spcAft>
              <a:defRPr sz="1200">
                <a:solidFill>
                  <a:schemeClr val="tx1"/>
                </a:solidFill>
                <a:latin typeface="Times New Roman" panose="02020603050405020304" pitchFamily="18" charset="0"/>
              </a:defRPr>
            </a:lvl7pPr>
            <a:lvl8pPr marL="3455988" indent="-230188" defTabSz="915988" eaLnBrk="0" fontAlgn="base" hangingPunct="0">
              <a:spcBef>
                <a:spcPct val="30000"/>
              </a:spcBef>
              <a:spcAft>
                <a:spcPct val="0"/>
              </a:spcAft>
              <a:defRPr sz="1200">
                <a:solidFill>
                  <a:schemeClr val="tx1"/>
                </a:solidFill>
                <a:latin typeface="Times New Roman" panose="02020603050405020304" pitchFamily="18" charset="0"/>
              </a:defRPr>
            </a:lvl8pPr>
            <a:lvl9pPr marL="3913188" indent="-230188" defTabSz="9159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FF799C-D85C-4758-9006-9487E9752B8E}" type="slidenum">
              <a:rPr lang="en-US" altLang="en-US"/>
              <a:pPr>
                <a:spcBef>
                  <a:spcPct val="0"/>
                </a:spcBef>
              </a:pPr>
              <a:t>18</a:t>
            </a:fld>
            <a:endParaRPr lang="en-US" altLang="en-US"/>
          </a:p>
        </p:txBody>
      </p:sp>
      <p:sp>
        <p:nvSpPr>
          <p:cNvPr id="148483" name="Rectangle 2"/>
          <p:cNvSpPr>
            <a:spLocks noGrp="1" noRot="1" noChangeAspect="1" noChangeArrowheads="1" noTextEdit="1"/>
          </p:cNvSpPr>
          <p:nvPr>
            <p:ph type="sldImg"/>
          </p:nvPr>
        </p:nvSpPr>
        <p:spPr>
          <a:xfrm>
            <a:off x="-1420813" y="808038"/>
            <a:ext cx="9580563" cy="5389562"/>
          </a:xfrm>
          <a:ln/>
        </p:spPr>
      </p:sp>
      <p:sp>
        <p:nvSpPr>
          <p:cNvPr id="148484" name="Rectangle 3"/>
          <p:cNvSpPr>
            <a:spLocks noGrp="1" noChangeArrowheads="1"/>
          </p:cNvSpPr>
          <p:nvPr>
            <p:ph type="body" idx="1"/>
          </p:nvPr>
        </p:nvSpPr>
        <p:spPr>
          <a:xfrm>
            <a:off x="675047" y="6645333"/>
            <a:ext cx="5463317" cy="3322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914176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3627CE-1CF8-444E-9F93-C191CD3011DB}" type="slidenum">
              <a:rPr lang="en-US" smtClean="0"/>
              <a:t>21</a:t>
            </a:fld>
            <a:endParaRPr lang="en-US"/>
          </a:p>
        </p:txBody>
      </p:sp>
    </p:spTree>
    <p:extLst>
      <p:ext uri="{BB962C8B-B14F-4D97-AF65-F5344CB8AC3E}">
        <p14:creationId xmlns:p14="http://schemas.microsoft.com/office/powerpoint/2010/main" val="2287213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75595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90"/>
            <a:ext cx="10515600" cy="1325563"/>
          </a:xfrm>
        </p:spPr>
        <p:txBody>
          <a:bodyPr/>
          <a:lstStyle/>
          <a:p>
            <a:r>
              <a:rPr lang="en-US"/>
              <a:t>Click to edit Master title style</a:t>
            </a:r>
          </a:p>
        </p:txBody>
      </p:sp>
      <p:sp>
        <p:nvSpPr>
          <p:cNvPr id="3" name="Content Placeholder 2"/>
          <p:cNvSpPr>
            <a:spLocks noGrp="1"/>
          </p:cNvSpPr>
          <p:nvPr>
            <p:ph idx="1"/>
          </p:nvPr>
        </p:nvSpPr>
        <p:spPr>
          <a:xfrm>
            <a:off x="838200" y="161117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35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38"/>
            <a:ext cx="10515600" cy="1325563"/>
          </a:xfrm>
        </p:spPr>
        <p:txBody>
          <a:bodyPr/>
          <a:lstStyle/>
          <a:p>
            <a:r>
              <a:rPr lang="en-US"/>
              <a:t>Click to edit Master title style</a:t>
            </a:r>
          </a:p>
        </p:txBody>
      </p:sp>
      <p:sp>
        <p:nvSpPr>
          <p:cNvPr id="3" name="Content Placeholder 2"/>
          <p:cNvSpPr>
            <a:spLocks noGrp="1"/>
          </p:cNvSpPr>
          <p:nvPr>
            <p:ph sz="half" idx="1"/>
          </p:nvPr>
        </p:nvSpPr>
        <p:spPr>
          <a:xfrm>
            <a:off x="838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225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134662"/>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150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179595"/>
            <a:ext cx="10515600" cy="1325563"/>
          </a:xfrm>
        </p:spPr>
        <p:txBody>
          <a:bodyPr/>
          <a:lstStyle/>
          <a:p>
            <a:r>
              <a:rPr lang="en-US"/>
              <a:t>Click to edit Master title style</a:t>
            </a:r>
          </a:p>
        </p:txBody>
      </p:sp>
    </p:spTree>
    <p:extLst>
      <p:ext uri="{BB962C8B-B14F-4D97-AF65-F5344CB8AC3E}">
        <p14:creationId xmlns:p14="http://schemas.microsoft.com/office/powerpoint/2010/main" val="412516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13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69068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8" descr="Corporate NYP Logo_Horizontal_RGB"/>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76383" y="161019"/>
            <a:ext cx="2101771" cy="55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F4BB008-E771-B7EB-B453-2AB9062476EF}"/>
              </a:ext>
            </a:extLst>
          </p:cNvPr>
          <p:cNvSpPr txBox="1"/>
          <p:nvPr userDrawn="1">
            <p:extLst>
              <p:ext uri="{1162E1C5-73C7-4A58-AE30-91384D911F3F}">
                <p184:classification xmlns:p184="http://schemas.microsoft.com/office/powerpoint/2018/4/main" val="hdr"/>
              </p:ext>
            </p:extLst>
          </p:nvPr>
        </p:nvSpPr>
        <p:spPr>
          <a:xfrm>
            <a:off x="0" y="0"/>
            <a:ext cx="774700"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cs typeface="Calibri" panose="020F0502020204030204" pitchFamily="34" charset="0"/>
              </a:rPr>
              <a:t>Official (Open)</a:t>
            </a:r>
          </a:p>
        </p:txBody>
      </p:sp>
    </p:spTree>
    <p:extLst>
      <p:ext uri="{BB962C8B-B14F-4D97-AF65-F5344CB8AC3E}">
        <p14:creationId xmlns:p14="http://schemas.microsoft.com/office/powerpoint/2010/main" val="350339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hyperlink" Target="https://youtu.be/dWNj1NCEEeo" TargetMode="External"/><Relationship Id="rId4" Type="http://schemas.openxmlformats.org/officeDocument/2006/relationships/hyperlink" Target="https://youtu.be/sdKytf5cgq0"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hyperlink" Target="https://youtu.be/mFgGLqjU9Fc" TargetMode="Externa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2.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hyperlink" Target="https://youtu.be/5T0RE2_2GzM"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jpeg"/><Relationship Id="rId4" Type="http://schemas.openxmlformats.org/officeDocument/2006/relationships/hyperlink" Target="https://youtu.be/BVbGugzt-FY"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2.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2.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2.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p3"/><Relationship Id="rId1" Type="http://schemas.microsoft.com/office/2007/relationships/media" Target="../media/media14.mp3"/><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2.png"/><Relationship Id="rId4"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2.png"/><Relationship Id="rId4" Type="http://schemas.openxmlformats.org/officeDocument/2006/relationships/image" Target="../media/image15.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0.mp3"/><Relationship Id="rId1" Type="http://schemas.microsoft.com/office/2007/relationships/media" Target="../media/media20.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SG" sz="2800" b="1" dirty="0"/>
              <a:t>Module EGE321</a:t>
            </a:r>
            <a:br>
              <a:rPr lang="en-SG" sz="2800" b="1" dirty="0"/>
            </a:br>
            <a:r>
              <a:rPr lang="en-SG" sz="4000" b="1" dirty="0"/>
              <a:t>Wireless Communication &amp; Networking</a:t>
            </a:r>
            <a:br>
              <a:rPr lang="en-SG" sz="4000" b="1" dirty="0"/>
            </a:br>
            <a:r>
              <a:rPr lang="en-SG" sz="2800" dirty="0"/>
              <a:t>Chapter 2.3 Digital Modulation Techniques</a:t>
            </a:r>
            <a:endParaRPr lang="en-US" sz="2800" dirty="0"/>
          </a:p>
        </p:txBody>
      </p:sp>
      <p:pic>
        <p:nvPicPr>
          <p:cNvPr id="3" name="Pg1">
            <a:hlinkClick r:id="" action="ppaction://media"/>
            <a:extLst>
              <a:ext uri="{FF2B5EF4-FFF2-40B4-BE49-F238E27FC236}">
                <a16:creationId xmlns:a16="http://schemas.microsoft.com/office/drawing/2014/main" id="{7FD8EC2D-8013-416E-83A9-2879F74BC36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8400" y="5709010"/>
            <a:ext cx="609600" cy="609600"/>
          </a:xfrm>
          <a:prstGeom prst="rect">
            <a:avLst/>
          </a:prstGeom>
        </p:spPr>
      </p:pic>
      <p:sp>
        <p:nvSpPr>
          <p:cNvPr id="11" name="Rectangle 10">
            <a:extLst>
              <a:ext uri="{FF2B5EF4-FFF2-40B4-BE49-F238E27FC236}">
                <a16:creationId xmlns:a16="http://schemas.microsoft.com/office/drawing/2014/main" id="{8E964695-CF0E-4993-9454-21B2417AFC05}"/>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Tree>
    <p:extLst>
      <p:ext uri="{BB962C8B-B14F-4D97-AF65-F5344CB8AC3E}">
        <p14:creationId xmlns:p14="http://schemas.microsoft.com/office/powerpoint/2010/main" val="370396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27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sz="3200" b="1" dirty="0">
                <a:effectLst>
                  <a:outerShdw blurRad="38100" dist="38100" dir="2700000" algn="tl">
                    <a:srgbClr val="000000">
                      <a:alpha val="43137"/>
                    </a:srgbClr>
                  </a:outerShdw>
                </a:effectLst>
              </a:rPr>
              <a:t>Contents</a:t>
            </a:r>
            <a:r>
              <a:rPr lang="en-SG" sz="3200" dirty="0"/>
              <a:t> </a:t>
            </a:r>
            <a:endParaRPr lang="en-US" sz="3200" dirty="0"/>
          </a:p>
        </p:txBody>
      </p:sp>
      <p:sp>
        <p:nvSpPr>
          <p:cNvPr id="3" name="Content Placeholder 2"/>
          <p:cNvSpPr>
            <a:spLocks noGrp="1"/>
          </p:cNvSpPr>
          <p:nvPr>
            <p:ph idx="1"/>
          </p:nvPr>
        </p:nvSpPr>
        <p:spPr>
          <a:xfrm>
            <a:off x="1369142" y="1741832"/>
            <a:ext cx="10515600" cy="4351338"/>
          </a:xfrm>
        </p:spPr>
        <p:txBody>
          <a:bodyPr>
            <a:normAutofit/>
          </a:bodyPr>
          <a:lstStyle/>
          <a:p>
            <a:pPr marL="457200" lvl="1" indent="0">
              <a:buNone/>
            </a:pPr>
            <a:r>
              <a:rPr lang="en-GB" sz="2800" dirty="0"/>
              <a:t>2. 	Wireless Communications System</a:t>
            </a:r>
          </a:p>
          <a:p>
            <a:pPr marL="457200" lvl="1" indent="0">
              <a:buNone/>
            </a:pPr>
            <a:r>
              <a:rPr lang="en-GB" sz="2800" dirty="0"/>
              <a:t>	2.1	</a:t>
            </a:r>
            <a:r>
              <a:rPr lang="en-SG" sz="2800" dirty="0"/>
              <a:t>Communication System Architecture</a:t>
            </a:r>
          </a:p>
          <a:p>
            <a:pPr marL="457200" lvl="1" indent="0">
              <a:buNone/>
            </a:pPr>
            <a:r>
              <a:rPr lang="en-SG" sz="2800" dirty="0"/>
              <a:t>	2.2	Radio Propagation and Link Budget Analysis</a:t>
            </a:r>
          </a:p>
          <a:p>
            <a:pPr marL="457200" lvl="1" indent="0">
              <a:buNone/>
            </a:pPr>
            <a:r>
              <a:rPr lang="en-SG" sz="2800" b="1" dirty="0"/>
              <a:t>	</a:t>
            </a:r>
            <a:r>
              <a:rPr lang="en-SG" sz="2800" b="1" dirty="0">
                <a:highlight>
                  <a:srgbClr val="00FF00"/>
                </a:highlight>
              </a:rPr>
              <a:t>2.3	Digital Modulation Technique (Part II)</a:t>
            </a:r>
          </a:p>
          <a:p>
            <a:pPr marL="457200" lvl="1" indent="0">
              <a:buNone/>
            </a:pPr>
            <a:r>
              <a:rPr lang="en-SG" sz="2800" b="1" dirty="0"/>
              <a:t>	</a:t>
            </a:r>
          </a:p>
          <a:p>
            <a:pPr marL="457200" lvl="1" indent="0">
              <a:buNone/>
            </a:pPr>
            <a:endParaRPr lang="en-SG" dirty="0"/>
          </a:p>
          <a:p>
            <a:pPr marL="457200" lvl="1" indent="0">
              <a:buNone/>
            </a:pPr>
            <a:r>
              <a:rPr lang="en-SG" dirty="0"/>
              <a:t>		</a:t>
            </a:r>
          </a:p>
          <a:p>
            <a:pPr marL="457200" lvl="1" indent="0">
              <a:buNone/>
            </a:pPr>
            <a:r>
              <a:rPr lang="en-SG" dirty="0"/>
              <a:t>		</a:t>
            </a:r>
            <a:endParaRPr lang="en-US" dirty="0"/>
          </a:p>
        </p:txBody>
      </p:sp>
      <p:sp>
        <p:nvSpPr>
          <p:cNvPr id="5" name="Slide Number Placeholder 4"/>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Page </a:t>
            </a:r>
            <a:fld id="{A862897D-0F50-4425-B5E1-82FAA232DFBF}" type="slidenum">
              <a:rPr lang="en-US" smtClean="0"/>
              <a:pPr/>
              <a:t>2</a:t>
            </a:fld>
            <a:r>
              <a:rPr lang="en-US" dirty="0"/>
              <a:t> of 60</a:t>
            </a:r>
          </a:p>
        </p:txBody>
      </p:sp>
      <p:sp>
        <p:nvSpPr>
          <p:cNvPr id="6" name="Rectangle 5">
            <a:extLst>
              <a:ext uri="{FF2B5EF4-FFF2-40B4-BE49-F238E27FC236}">
                <a16:creationId xmlns:a16="http://schemas.microsoft.com/office/drawing/2014/main" id="{64229F9C-EAEB-1257-866C-272AA1A87933}"/>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941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3"/>
          <a:stretch>
            <a:fillRect/>
          </a:stretch>
        </p:blipFill>
        <p:spPr>
          <a:xfrm>
            <a:off x="260654" y="5853409"/>
            <a:ext cx="1762125" cy="542925"/>
          </a:xfrm>
          <a:prstGeom prst="rect">
            <a:avLst/>
          </a:prstGeom>
        </p:spPr>
      </p:pic>
      <p:sp>
        <p:nvSpPr>
          <p:cNvPr id="10" name="TextBox 9">
            <a:hlinkClick r:id="rId4"/>
            <a:extLst>
              <a:ext uri="{FF2B5EF4-FFF2-40B4-BE49-F238E27FC236}">
                <a16:creationId xmlns:a16="http://schemas.microsoft.com/office/drawing/2014/main" id="{B25313B6-9315-861D-CF0C-337303B1DEF1}"/>
              </a:ext>
            </a:extLst>
          </p:cNvPr>
          <p:cNvSpPr txBox="1"/>
          <p:nvPr/>
        </p:nvSpPr>
        <p:spPr>
          <a:xfrm>
            <a:off x="2332238" y="5663207"/>
            <a:ext cx="7527524" cy="1200329"/>
          </a:xfrm>
          <a:prstGeom prst="rect">
            <a:avLst/>
          </a:prstGeom>
          <a:noFill/>
        </p:spPr>
        <p:txBody>
          <a:bodyPr wrap="square">
            <a:spAutoFit/>
          </a:bodyPr>
          <a:lstStyle/>
          <a:p>
            <a:r>
              <a:rPr lang="en-SG" b="0" i="0" dirty="0">
                <a:effectLst/>
                <a:latin typeface="Roboto" panose="02000000000000000000" pitchFamily="2" charset="0"/>
              </a:rPr>
              <a:t>Digital Mod Part 6. Why we Need to Have so Many Different Levels, BPSK, QPSK of Digital Modulation.</a:t>
            </a:r>
          </a:p>
          <a:p>
            <a:r>
              <a:rPr lang="en-SG" b="0" i="0" u="none" strike="noStrike" dirty="0">
                <a:effectLst/>
                <a:latin typeface="Roboto" panose="02000000000000000000" pitchFamily="2" charset="0"/>
                <a:hlinkClick r:id="rId5"/>
              </a:rPr>
              <a:t>https://youtu.be/dWNj1NCEEeo</a:t>
            </a:r>
            <a:endParaRPr lang="en-SG" b="0" i="0" dirty="0">
              <a:effectLst/>
              <a:latin typeface="Roboto" panose="02000000000000000000" pitchFamily="2" charset="0"/>
            </a:endParaRPr>
          </a:p>
          <a:p>
            <a:endParaRPr lang="en-SG" b="0" i="0" dirty="0">
              <a:effectLst/>
              <a:latin typeface="Roboto" panose="02000000000000000000" pitchFamily="2" charset="0"/>
            </a:endParaRPr>
          </a:p>
        </p:txBody>
      </p:sp>
      <p:pic>
        <p:nvPicPr>
          <p:cNvPr id="4100" name="Picture 4" descr="Miscellaneous Video's – Centurian Park Family">
            <a:hlinkClick r:id="rId5"/>
            <a:extLst>
              <a:ext uri="{FF2B5EF4-FFF2-40B4-BE49-F238E27FC236}">
                <a16:creationId xmlns:a16="http://schemas.microsoft.com/office/drawing/2014/main" id="{F2FC59B5-8F70-388F-0F76-A765F77495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5"/>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5"/>
            <a:extLst>
              <a:ext uri="{FF2B5EF4-FFF2-40B4-BE49-F238E27FC236}">
                <a16:creationId xmlns:a16="http://schemas.microsoft.com/office/drawing/2014/main" id="{DB89AE9A-7D9C-5C48-7EC9-21BC04ED9E19}"/>
              </a:ext>
            </a:extLst>
          </p:cNvPr>
          <p:cNvPicPr>
            <a:picLocks noChangeAspect="1"/>
          </p:cNvPicPr>
          <p:nvPr/>
        </p:nvPicPr>
        <p:blipFill>
          <a:blip r:embed="rId7"/>
          <a:stretch>
            <a:fillRect/>
          </a:stretch>
        </p:blipFill>
        <p:spPr>
          <a:xfrm>
            <a:off x="462643" y="380422"/>
            <a:ext cx="8842664" cy="4922325"/>
          </a:xfrm>
          <a:prstGeom prst="rect">
            <a:avLst/>
          </a:prstGeom>
        </p:spPr>
      </p:pic>
    </p:spTree>
    <p:extLst>
      <p:ext uri="{BB962C8B-B14F-4D97-AF65-F5344CB8AC3E}">
        <p14:creationId xmlns:p14="http://schemas.microsoft.com/office/powerpoint/2010/main" val="836545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98783" y="5494866"/>
            <a:ext cx="11394433" cy="822325"/>
          </a:xfrm>
        </p:spPr>
        <p:txBody>
          <a:bodyPr>
            <a:normAutofit/>
          </a:bodyPr>
          <a:lstStyle/>
          <a:p>
            <a:pPr marL="0" indent="0">
              <a:lnSpc>
                <a:spcPct val="80000"/>
              </a:lnSpc>
              <a:buNone/>
            </a:pPr>
            <a:r>
              <a:rPr lang="en-US" altLang="en-US" sz="2400" dirty="0">
                <a:solidFill>
                  <a:srgbClr val="0070C0"/>
                </a:solidFill>
              </a:rPr>
              <a:t>Quadrature Phase Shift Keying has twice the bandwidth efficiency of BPSK since 2 bits are transmitted in a single modulation symbol </a:t>
            </a:r>
            <a:endParaRPr lang="en-GB" altLang="en-US" sz="2400" dirty="0">
              <a:solidFill>
                <a:srgbClr val="0070C0"/>
              </a:solidFill>
            </a:endParaRPr>
          </a:p>
        </p:txBody>
      </p:sp>
      <p:grpSp>
        <p:nvGrpSpPr>
          <p:cNvPr id="2" name="Group 1"/>
          <p:cNvGrpSpPr/>
          <p:nvPr/>
        </p:nvGrpSpPr>
        <p:grpSpPr>
          <a:xfrm>
            <a:off x="2351603" y="865856"/>
            <a:ext cx="3612406" cy="4363075"/>
            <a:chOff x="2697383" y="1257599"/>
            <a:chExt cx="2760598" cy="3333791"/>
          </a:xfrm>
        </p:grpSpPr>
        <p:sp>
          <p:nvSpPr>
            <p:cNvPr id="47108" name="Line 4"/>
            <p:cNvSpPr>
              <a:spLocks noChangeShapeType="1"/>
            </p:cNvSpPr>
            <p:nvPr/>
          </p:nvSpPr>
          <p:spPr bwMode="auto">
            <a:xfrm>
              <a:off x="3999582" y="1334252"/>
              <a:ext cx="0" cy="2430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09" name="Line 5"/>
            <p:cNvSpPr>
              <a:spLocks noChangeShapeType="1"/>
            </p:cNvSpPr>
            <p:nvPr/>
          </p:nvSpPr>
          <p:spPr bwMode="auto">
            <a:xfrm>
              <a:off x="2739107" y="2637589"/>
              <a:ext cx="2476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7119" name="Group 15"/>
            <p:cNvGrpSpPr>
              <a:grpSpLocks/>
            </p:cNvGrpSpPr>
            <p:nvPr/>
          </p:nvGrpSpPr>
          <p:grpSpPr bwMode="auto">
            <a:xfrm>
              <a:off x="3088358" y="1739065"/>
              <a:ext cx="1822451" cy="1800225"/>
              <a:chOff x="945" y="1338"/>
              <a:chExt cx="1148" cy="1134"/>
            </a:xfrm>
          </p:grpSpPr>
          <p:sp>
            <p:nvSpPr>
              <p:cNvPr id="47110" name="Oval 6"/>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5" name="Oval 11"/>
              <p:cNvSpPr>
                <a:spLocks noChangeArrowheads="1"/>
              </p:cNvSpPr>
              <p:nvPr/>
            </p:nvSpPr>
            <p:spPr bwMode="auto">
              <a:xfrm>
                <a:off x="945"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6" name="Oval 12"/>
              <p:cNvSpPr>
                <a:spLocks noChangeArrowheads="1"/>
              </p:cNvSpPr>
              <p:nvPr/>
            </p:nvSpPr>
            <p:spPr bwMode="auto">
              <a:xfrm>
                <a:off x="2008"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7" name="Oval 13"/>
              <p:cNvSpPr>
                <a:spLocks noChangeArrowheads="1"/>
              </p:cNvSpPr>
              <p:nvPr/>
            </p:nvSpPr>
            <p:spPr bwMode="auto">
              <a:xfrm>
                <a:off x="1470" y="133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8" name="Oval 14"/>
              <p:cNvSpPr>
                <a:spLocks noChangeArrowheads="1"/>
              </p:cNvSpPr>
              <p:nvPr/>
            </p:nvSpPr>
            <p:spPr bwMode="auto">
              <a:xfrm>
                <a:off x="1477" y="2387"/>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7128" name="Text Box 24"/>
            <p:cNvSpPr txBox="1">
              <a:spLocks noChangeArrowheads="1"/>
            </p:cNvSpPr>
            <p:nvPr/>
          </p:nvSpPr>
          <p:spPr bwMode="auto">
            <a:xfrm>
              <a:off x="2697383" y="3674228"/>
              <a:ext cx="2463110" cy="91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dirty="0"/>
                <a:t>Carrier phases </a:t>
              </a:r>
              <a:br>
                <a:rPr lang="en-US" altLang="en-US" sz="2400" dirty="0"/>
              </a:br>
              <a:r>
                <a:rPr lang="en-US" altLang="en-US" sz="2400" dirty="0"/>
                <a:t>{0, </a:t>
              </a:r>
              <a:r>
                <a:rPr lang="en-US" altLang="en-US" sz="2400" dirty="0">
                  <a:sym typeface="Symbol" panose="05050102010706020507" pitchFamily="18" charset="2"/>
                </a:rPr>
                <a:t>/2, , 3/2}</a:t>
              </a:r>
            </a:p>
            <a:p>
              <a:pPr algn="ctr"/>
              <a:r>
                <a:rPr lang="en-US" altLang="en-US" sz="2400" dirty="0">
                  <a:sym typeface="Symbol" panose="05050102010706020507" pitchFamily="18" charset="2"/>
                </a:rPr>
                <a:t>{0, 90, 180, 270 degree} </a:t>
              </a:r>
            </a:p>
          </p:txBody>
        </p:sp>
        <p:sp>
          <p:nvSpPr>
            <p:cNvPr id="47132" name="Text Box 28"/>
            <p:cNvSpPr txBox="1">
              <a:spLocks noChangeArrowheads="1"/>
            </p:cNvSpPr>
            <p:nvPr/>
          </p:nvSpPr>
          <p:spPr bwMode="auto">
            <a:xfrm>
              <a:off x="4105492" y="1257599"/>
              <a:ext cx="340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Q</a:t>
              </a:r>
              <a:endParaRPr lang="en-GB" altLang="en-US" dirty="0"/>
            </a:p>
          </p:txBody>
        </p:sp>
        <p:sp>
          <p:nvSpPr>
            <p:cNvPr id="47133" name="Text Box 29"/>
            <p:cNvSpPr txBox="1">
              <a:spLocks noChangeArrowheads="1"/>
            </p:cNvSpPr>
            <p:nvPr/>
          </p:nvSpPr>
          <p:spPr bwMode="auto">
            <a:xfrm>
              <a:off x="5215607" y="2356321"/>
              <a:ext cx="2423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I</a:t>
              </a:r>
              <a:endParaRPr lang="en-GB" altLang="en-US" dirty="0"/>
            </a:p>
          </p:txBody>
        </p:sp>
      </p:grpSp>
      <p:sp>
        <p:nvSpPr>
          <p:cNvPr id="30" name="Rectangle 2"/>
          <p:cNvSpPr txBox="1">
            <a:spLocks noChangeArrowheads="1"/>
          </p:cNvSpPr>
          <p:nvPr/>
        </p:nvSpPr>
        <p:spPr>
          <a:xfrm>
            <a:off x="708810" y="15368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QPSK</a:t>
            </a:r>
          </a:p>
          <a:p>
            <a:r>
              <a:rPr lang="en-GB" sz="2400" b="1" dirty="0">
                <a:solidFill>
                  <a:srgbClr val="C00000"/>
                </a:solidFill>
                <a:latin typeface="Arial Black" panose="020B0A04020102020204" pitchFamily="34" charset="0"/>
              </a:rPr>
              <a:t>QPSK Constellation Diagram </a:t>
            </a:r>
            <a:endParaRPr lang="en-US" sz="2400" b="1" dirty="0">
              <a:solidFill>
                <a:srgbClr val="C00000"/>
              </a:solidFill>
              <a:latin typeface="Arial Black" panose="020B0A04020102020204" pitchFamily="34" charset="0"/>
            </a:endParaRPr>
          </a:p>
        </p:txBody>
      </p:sp>
      <p:grpSp>
        <p:nvGrpSpPr>
          <p:cNvPr id="31" name="Group 30"/>
          <p:cNvGrpSpPr/>
          <p:nvPr/>
        </p:nvGrpSpPr>
        <p:grpSpPr>
          <a:xfrm>
            <a:off x="6625792" y="865856"/>
            <a:ext cx="3733433" cy="4363075"/>
            <a:chOff x="2604895" y="1257599"/>
            <a:chExt cx="2853086" cy="3333791"/>
          </a:xfrm>
        </p:grpSpPr>
        <p:sp>
          <p:nvSpPr>
            <p:cNvPr id="32" name="Line 4"/>
            <p:cNvSpPr>
              <a:spLocks noChangeShapeType="1"/>
            </p:cNvSpPr>
            <p:nvPr/>
          </p:nvSpPr>
          <p:spPr bwMode="auto">
            <a:xfrm>
              <a:off x="3999582" y="1334252"/>
              <a:ext cx="0" cy="2430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5"/>
            <p:cNvSpPr>
              <a:spLocks noChangeShapeType="1"/>
            </p:cNvSpPr>
            <p:nvPr/>
          </p:nvSpPr>
          <p:spPr bwMode="auto">
            <a:xfrm>
              <a:off x="2739107" y="2637589"/>
              <a:ext cx="2476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4" name="Group 15"/>
            <p:cNvGrpSpPr>
              <a:grpSpLocks/>
            </p:cNvGrpSpPr>
            <p:nvPr/>
          </p:nvGrpSpPr>
          <p:grpSpPr bwMode="auto">
            <a:xfrm>
              <a:off x="3145507" y="1805741"/>
              <a:ext cx="1709738" cy="1665288"/>
              <a:chOff x="981" y="1380"/>
              <a:chExt cx="1077" cy="1049"/>
            </a:xfrm>
          </p:grpSpPr>
          <p:sp>
            <p:nvSpPr>
              <p:cNvPr id="38" name="Oval 6"/>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Oval 11"/>
              <p:cNvSpPr>
                <a:spLocks noChangeArrowheads="1"/>
              </p:cNvSpPr>
              <p:nvPr/>
            </p:nvSpPr>
            <p:spPr bwMode="auto">
              <a:xfrm>
                <a:off x="1071" y="1519"/>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Oval 12"/>
              <p:cNvSpPr>
                <a:spLocks noChangeArrowheads="1"/>
              </p:cNvSpPr>
              <p:nvPr/>
            </p:nvSpPr>
            <p:spPr bwMode="auto">
              <a:xfrm>
                <a:off x="1896" y="219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Oval 13"/>
              <p:cNvSpPr>
                <a:spLocks noChangeArrowheads="1"/>
              </p:cNvSpPr>
              <p:nvPr/>
            </p:nvSpPr>
            <p:spPr bwMode="auto">
              <a:xfrm>
                <a:off x="1862" y="1499"/>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Oval 14"/>
              <p:cNvSpPr>
                <a:spLocks noChangeArrowheads="1"/>
              </p:cNvSpPr>
              <p:nvPr/>
            </p:nvSpPr>
            <p:spPr bwMode="auto">
              <a:xfrm>
                <a:off x="1085" y="221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 name="Text Box 24"/>
            <p:cNvSpPr txBox="1">
              <a:spLocks noChangeArrowheads="1"/>
            </p:cNvSpPr>
            <p:nvPr/>
          </p:nvSpPr>
          <p:spPr bwMode="auto">
            <a:xfrm>
              <a:off x="2604895" y="3674228"/>
              <a:ext cx="2648088" cy="91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dirty="0"/>
                <a:t>Carrier phases </a:t>
              </a:r>
              <a:br>
                <a:rPr lang="en-US" altLang="en-US" sz="2400" dirty="0"/>
              </a:br>
              <a:r>
                <a:rPr lang="en-US" altLang="en-US" sz="2400" dirty="0"/>
                <a:t>{</a:t>
              </a:r>
              <a:r>
                <a:rPr lang="en-US" altLang="en-US" sz="2400" dirty="0">
                  <a:sym typeface="Symbol" panose="05050102010706020507" pitchFamily="18" charset="2"/>
                </a:rPr>
                <a:t>/4</a:t>
              </a:r>
              <a:r>
                <a:rPr lang="en-US" altLang="en-US" sz="2400" dirty="0"/>
                <a:t>, 3</a:t>
              </a:r>
              <a:r>
                <a:rPr lang="en-US" altLang="en-US" sz="2400" dirty="0">
                  <a:sym typeface="Symbol" panose="05050102010706020507" pitchFamily="18" charset="2"/>
                </a:rPr>
                <a:t>/4, 5/4, 7/4}</a:t>
              </a:r>
            </a:p>
            <a:p>
              <a:pPr algn="ctr"/>
              <a:r>
                <a:rPr lang="en-US" altLang="en-US" sz="2400" dirty="0">
                  <a:sym typeface="Symbol" panose="05050102010706020507" pitchFamily="18" charset="2"/>
                </a:rPr>
                <a:t>{45, 135, 225, 315 degree}</a:t>
              </a:r>
            </a:p>
          </p:txBody>
        </p:sp>
        <p:sp>
          <p:nvSpPr>
            <p:cNvPr id="36" name="Text Box 28"/>
            <p:cNvSpPr txBox="1">
              <a:spLocks noChangeArrowheads="1"/>
            </p:cNvSpPr>
            <p:nvPr/>
          </p:nvSpPr>
          <p:spPr bwMode="auto">
            <a:xfrm>
              <a:off x="4105492" y="1257599"/>
              <a:ext cx="340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Q</a:t>
              </a:r>
              <a:endParaRPr lang="en-GB" altLang="en-US" dirty="0"/>
            </a:p>
          </p:txBody>
        </p:sp>
        <p:sp>
          <p:nvSpPr>
            <p:cNvPr id="37" name="Text Box 29"/>
            <p:cNvSpPr txBox="1">
              <a:spLocks noChangeArrowheads="1"/>
            </p:cNvSpPr>
            <p:nvPr/>
          </p:nvSpPr>
          <p:spPr bwMode="auto">
            <a:xfrm>
              <a:off x="5215607" y="2356321"/>
              <a:ext cx="2423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I</a:t>
              </a:r>
              <a:endParaRPr lang="en-GB" altLang="en-US" dirty="0"/>
            </a:p>
          </p:txBody>
        </p:sp>
      </p:grpSp>
      <p:sp>
        <p:nvSpPr>
          <p:cNvPr id="44" name="Rectangle 43">
            <a:extLst>
              <a:ext uri="{FF2B5EF4-FFF2-40B4-BE49-F238E27FC236}">
                <a16:creationId xmlns:a16="http://schemas.microsoft.com/office/drawing/2014/main" id="{8982BE1F-F355-42B0-8161-F8DE36D7CA2A}"/>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45" name="Footer Placeholder 4">
            <a:extLst>
              <a:ext uri="{FF2B5EF4-FFF2-40B4-BE49-F238E27FC236}">
                <a16:creationId xmlns:a16="http://schemas.microsoft.com/office/drawing/2014/main" id="{33374C2A-6924-4325-951F-C880F7FC10F2}"/>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23 of 41</a:t>
            </a:r>
            <a:endParaRPr lang="en-US" sz="1200" dirty="0"/>
          </a:p>
        </p:txBody>
      </p:sp>
      <p:pic>
        <p:nvPicPr>
          <p:cNvPr id="3" name="Pg23">
            <a:hlinkClick r:id="" action="ppaction://media"/>
            <a:extLst>
              <a:ext uri="{FF2B5EF4-FFF2-40B4-BE49-F238E27FC236}">
                <a16:creationId xmlns:a16="http://schemas.microsoft.com/office/drawing/2014/main" id="{12269EA0-87F3-4403-86A8-4EB3C6E1DFB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42064" y="5842751"/>
            <a:ext cx="609600" cy="609600"/>
          </a:xfrm>
          <a:prstGeom prst="rect">
            <a:avLst/>
          </a:prstGeom>
        </p:spPr>
      </p:pic>
      <p:sp>
        <p:nvSpPr>
          <p:cNvPr id="4" name="Rectangle 3">
            <a:extLst>
              <a:ext uri="{FF2B5EF4-FFF2-40B4-BE49-F238E27FC236}">
                <a16:creationId xmlns:a16="http://schemas.microsoft.com/office/drawing/2014/main" id="{F8877DBE-3A15-2546-C50B-044B5F50257B}"/>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8230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19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3"/>
          <a:stretch>
            <a:fillRect/>
          </a:stretch>
        </p:blipFill>
        <p:spPr>
          <a:xfrm>
            <a:off x="260654" y="5853409"/>
            <a:ext cx="1762125" cy="542925"/>
          </a:xfrm>
          <a:prstGeom prst="rect">
            <a:avLst/>
          </a:prstGeom>
        </p:spPr>
      </p:pic>
      <p:sp>
        <p:nvSpPr>
          <p:cNvPr id="10" name="TextBox 9">
            <a:hlinkClick r:id="rId4"/>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effectLst/>
                <a:latin typeface="Roboto" panose="02000000000000000000" pitchFamily="2" charset="0"/>
              </a:rPr>
              <a:t>Digital Mod Part 5. How Signal Representation by Constellation Diagram: 8PSK, 16PSK, 16QAM &amp; 64QAM.</a:t>
            </a:r>
          </a:p>
          <a:p>
            <a:r>
              <a:rPr lang="en-SG" b="0" i="0" u="none" strike="noStrike" dirty="0">
                <a:effectLst/>
                <a:latin typeface="Roboto" panose="02000000000000000000" pitchFamily="2" charset="0"/>
                <a:hlinkClick r:id="rId4"/>
              </a:rPr>
              <a:t>https://youtu.be/mFgGLqjU9Fc</a:t>
            </a:r>
            <a:endParaRPr lang="en-SG" b="0" i="0" dirty="0">
              <a:effectLst/>
              <a:latin typeface="Roboto" panose="02000000000000000000" pitchFamily="2" charset="0"/>
            </a:endParaRPr>
          </a:p>
        </p:txBody>
      </p:sp>
      <p:pic>
        <p:nvPicPr>
          <p:cNvPr id="4100" name="Picture 4" descr="Miscellaneous Video's – Centurian Park Family">
            <a:hlinkClick r:id="rId4"/>
            <a:extLst>
              <a:ext uri="{FF2B5EF4-FFF2-40B4-BE49-F238E27FC236}">
                <a16:creationId xmlns:a16="http://schemas.microsoft.com/office/drawing/2014/main" id="{F2FC59B5-8F70-388F-0F76-A765F7749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4"/>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hlinkClick r:id="rId4"/>
            <a:extLst>
              <a:ext uri="{FF2B5EF4-FFF2-40B4-BE49-F238E27FC236}">
                <a16:creationId xmlns:a16="http://schemas.microsoft.com/office/drawing/2014/main" id="{0A08CEDE-C7C4-F555-B705-7625A8972F0A}"/>
              </a:ext>
            </a:extLst>
          </p:cNvPr>
          <p:cNvPicPr>
            <a:picLocks noChangeAspect="1"/>
          </p:cNvPicPr>
          <p:nvPr/>
        </p:nvPicPr>
        <p:blipFill>
          <a:blip r:embed="rId6"/>
          <a:stretch>
            <a:fillRect/>
          </a:stretch>
        </p:blipFill>
        <p:spPr>
          <a:xfrm>
            <a:off x="251050" y="256952"/>
            <a:ext cx="9359749" cy="5236101"/>
          </a:xfrm>
          <a:prstGeom prst="rect">
            <a:avLst/>
          </a:prstGeom>
        </p:spPr>
      </p:pic>
    </p:spTree>
    <p:extLst>
      <p:ext uri="{BB962C8B-B14F-4D97-AF65-F5344CB8AC3E}">
        <p14:creationId xmlns:p14="http://schemas.microsoft.com/office/powerpoint/2010/main" val="2924656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4" name="Picture 205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4273" y="1655786"/>
            <a:ext cx="4273280" cy="3707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QPSK</a:t>
            </a:r>
          </a:p>
          <a:p>
            <a:r>
              <a:rPr lang="en-GB" sz="2400" b="1" dirty="0">
                <a:solidFill>
                  <a:srgbClr val="C00000"/>
                </a:solidFill>
                <a:latin typeface="Arial Black" panose="020B0A04020102020204" pitchFamily="34" charset="0"/>
              </a:rPr>
              <a:t>QPSK Constellation Diagram </a:t>
            </a:r>
            <a:endParaRPr lang="en-US" sz="2400" b="1" dirty="0">
              <a:solidFill>
                <a:srgbClr val="C00000"/>
              </a:solidFill>
              <a:latin typeface="Arial Black" panose="020B0A04020102020204" pitchFamily="34" charset="0"/>
            </a:endParaRPr>
          </a:p>
        </p:txBody>
      </p:sp>
      <p:sp>
        <p:nvSpPr>
          <p:cNvPr id="11" name="Rectangle 10">
            <a:extLst>
              <a:ext uri="{FF2B5EF4-FFF2-40B4-BE49-F238E27FC236}">
                <a16:creationId xmlns:a16="http://schemas.microsoft.com/office/drawing/2014/main" id="{A464632F-956B-4B2C-A1BC-F07745060206}"/>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2" name="Footer Placeholder 4">
            <a:extLst>
              <a:ext uri="{FF2B5EF4-FFF2-40B4-BE49-F238E27FC236}">
                <a16:creationId xmlns:a16="http://schemas.microsoft.com/office/drawing/2014/main" id="{6E97C26A-2A16-4DCB-B121-84346A743C80}"/>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24 of 41</a:t>
            </a:r>
            <a:endParaRPr lang="en-US" sz="1200" dirty="0"/>
          </a:p>
        </p:txBody>
      </p:sp>
      <p:pic>
        <p:nvPicPr>
          <p:cNvPr id="2" name="Picture 1">
            <a:extLst>
              <a:ext uri="{FF2B5EF4-FFF2-40B4-BE49-F238E27FC236}">
                <a16:creationId xmlns:a16="http://schemas.microsoft.com/office/drawing/2014/main" id="{706A5178-05B9-4B7C-A449-8EE7F82C152E}"/>
              </a:ext>
            </a:extLst>
          </p:cNvPr>
          <p:cNvPicPr>
            <a:picLocks noChangeAspect="1"/>
          </p:cNvPicPr>
          <p:nvPr/>
        </p:nvPicPr>
        <p:blipFill>
          <a:blip r:embed="rId6"/>
          <a:stretch>
            <a:fillRect/>
          </a:stretch>
        </p:blipFill>
        <p:spPr>
          <a:xfrm>
            <a:off x="978080" y="1274026"/>
            <a:ext cx="4453816" cy="4470751"/>
          </a:xfrm>
          <a:prstGeom prst="rect">
            <a:avLst/>
          </a:prstGeom>
        </p:spPr>
      </p:pic>
      <p:sp>
        <p:nvSpPr>
          <p:cNvPr id="3" name="Oval 2">
            <a:extLst>
              <a:ext uri="{FF2B5EF4-FFF2-40B4-BE49-F238E27FC236}">
                <a16:creationId xmlns:a16="http://schemas.microsoft.com/office/drawing/2014/main" id="{93E36D4E-85C6-4BE8-903C-0BCA37EEEA75}"/>
              </a:ext>
            </a:extLst>
          </p:cNvPr>
          <p:cNvSpPr/>
          <p:nvPr/>
        </p:nvSpPr>
        <p:spPr>
          <a:xfrm>
            <a:off x="7576457" y="246561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2123D65-6824-4795-BE4B-6C4E54BB75E2}"/>
              </a:ext>
            </a:extLst>
          </p:cNvPr>
          <p:cNvSpPr/>
          <p:nvPr/>
        </p:nvSpPr>
        <p:spPr>
          <a:xfrm>
            <a:off x="7331528" y="210990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0977B1D-E004-4091-A097-BF6C34FCDF33}"/>
              </a:ext>
            </a:extLst>
          </p:cNvPr>
          <p:cNvSpPr/>
          <p:nvPr/>
        </p:nvSpPr>
        <p:spPr>
          <a:xfrm>
            <a:off x="7147019" y="235131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C126C82-326B-4600-95F5-080F738A3972}"/>
              </a:ext>
            </a:extLst>
          </p:cNvPr>
          <p:cNvSpPr/>
          <p:nvPr/>
        </p:nvSpPr>
        <p:spPr>
          <a:xfrm>
            <a:off x="7576457" y="2024557"/>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7CB477A-1E34-4694-B6A1-2B9E7BE16956}"/>
              </a:ext>
            </a:extLst>
          </p:cNvPr>
          <p:cNvSpPr/>
          <p:nvPr/>
        </p:nvSpPr>
        <p:spPr>
          <a:xfrm>
            <a:off x="7102928" y="257991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21887F-6455-4A30-ADFC-3248003E5E9C}"/>
              </a:ext>
            </a:extLst>
          </p:cNvPr>
          <p:cNvSpPr/>
          <p:nvPr/>
        </p:nvSpPr>
        <p:spPr>
          <a:xfrm>
            <a:off x="9594418" y="1967407"/>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611E5C0-687F-478C-B05C-71EF41551B02}"/>
              </a:ext>
            </a:extLst>
          </p:cNvPr>
          <p:cNvSpPr/>
          <p:nvPr/>
        </p:nvSpPr>
        <p:spPr>
          <a:xfrm>
            <a:off x="9823018" y="1967407"/>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2F2DBA3-AC97-46C9-A405-AF2E263618F2}"/>
              </a:ext>
            </a:extLst>
          </p:cNvPr>
          <p:cNvSpPr/>
          <p:nvPr/>
        </p:nvSpPr>
        <p:spPr>
          <a:xfrm>
            <a:off x="9823017" y="223701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EFE3A0D-6DF4-42C0-9567-9A8AAAAFDC4C}"/>
              </a:ext>
            </a:extLst>
          </p:cNvPr>
          <p:cNvSpPr/>
          <p:nvPr/>
        </p:nvSpPr>
        <p:spPr>
          <a:xfrm>
            <a:off x="9561760" y="2423551"/>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AE9C795-E4A3-4F8A-BB88-6700472C1C5C}"/>
              </a:ext>
            </a:extLst>
          </p:cNvPr>
          <p:cNvSpPr/>
          <p:nvPr/>
        </p:nvSpPr>
        <p:spPr>
          <a:xfrm>
            <a:off x="9533998" y="2219476"/>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872BF2D-DFC9-461B-856D-51A99A597A6F}"/>
              </a:ext>
            </a:extLst>
          </p:cNvPr>
          <p:cNvSpPr/>
          <p:nvPr/>
        </p:nvSpPr>
        <p:spPr>
          <a:xfrm>
            <a:off x="7195182" y="4806042"/>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31EC8C7-1CD8-480A-9D99-6A35B59B0554}"/>
              </a:ext>
            </a:extLst>
          </p:cNvPr>
          <p:cNvSpPr/>
          <p:nvPr/>
        </p:nvSpPr>
        <p:spPr>
          <a:xfrm>
            <a:off x="7380514" y="4993971"/>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CD810B2-0C37-4081-9A21-4DA34F8DCACF}"/>
              </a:ext>
            </a:extLst>
          </p:cNvPr>
          <p:cNvSpPr/>
          <p:nvPr/>
        </p:nvSpPr>
        <p:spPr>
          <a:xfrm>
            <a:off x="7760966" y="4993971"/>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33F2431-6E5A-4FBD-A64A-25F463A435C7}"/>
              </a:ext>
            </a:extLst>
          </p:cNvPr>
          <p:cNvSpPr/>
          <p:nvPr/>
        </p:nvSpPr>
        <p:spPr>
          <a:xfrm>
            <a:off x="7591963" y="4516736"/>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AEC2A6A-0D54-48A2-AF70-432409019C66}"/>
              </a:ext>
            </a:extLst>
          </p:cNvPr>
          <p:cNvSpPr/>
          <p:nvPr/>
        </p:nvSpPr>
        <p:spPr>
          <a:xfrm>
            <a:off x="7407454" y="4691742"/>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05694CA-0DD9-493C-A6C2-1DFA10F17C85}"/>
              </a:ext>
            </a:extLst>
          </p:cNvPr>
          <p:cNvSpPr/>
          <p:nvPr/>
        </p:nvSpPr>
        <p:spPr>
          <a:xfrm>
            <a:off x="9571549" y="4936821"/>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241866A-6702-4F1B-B103-2C2FD9592D90}"/>
              </a:ext>
            </a:extLst>
          </p:cNvPr>
          <p:cNvSpPr/>
          <p:nvPr/>
        </p:nvSpPr>
        <p:spPr>
          <a:xfrm>
            <a:off x="9859746" y="4879671"/>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40ACAF8-29CF-4088-B1A0-98A8F0471281}"/>
              </a:ext>
            </a:extLst>
          </p:cNvPr>
          <p:cNvSpPr/>
          <p:nvPr/>
        </p:nvSpPr>
        <p:spPr>
          <a:xfrm>
            <a:off x="10076089" y="4634592"/>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EAA3DDF-9F94-4CD3-AAE2-253B88F638CC}"/>
              </a:ext>
            </a:extLst>
          </p:cNvPr>
          <p:cNvSpPr/>
          <p:nvPr/>
        </p:nvSpPr>
        <p:spPr>
          <a:xfrm>
            <a:off x="9951177" y="443861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C63A1E0-3797-4DBB-B797-D410BB146F0A}"/>
              </a:ext>
            </a:extLst>
          </p:cNvPr>
          <p:cNvSpPr/>
          <p:nvPr/>
        </p:nvSpPr>
        <p:spPr>
          <a:xfrm>
            <a:off x="9675237" y="4495764"/>
            <a:ext cx="184509"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g24">
            <a:hlinkClick r:id="" action="ppaction://media"/>
            <a:extLst>
              <a:ext uri="{FF2B5EF4-FFF2-40B4-BE49-F238E27FC236}">
                <a16:creationId xmlns:a16="http://schemas.microsoft.com/office/drawing/2014/main" id="{F0E4C774-A8CB-46AA-9125-6148930D435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012969" y="5746748"/>
            <a:ext cx="609600" cy="609600"/>
          </a:xfrm>
          <a:prstGeom prst="rect">
            <a:avLst/>
          </a:prstGeom>
        </p:spPr>
      </p:pic>
      <p:sp>
        <p:nvSpPr>
          <p:cNvPr id="5" name="Rectangle 4">
            <a:extLst>
              <a:ext uri="{FF2B5EF4-FFF2-40B4-BE49-F238E27FC236}">
                <a16:creationId xmlns:a16="http://schemas.microsoft.com/office/drawing/2014/main" id="{A28C7E9B-03C8-8C7F-84DA-F8317C84F1FC}"/>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5587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58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205" name="Group 53"/>
          <p:cNvGrpSpPr>
            <a:grpSpLocks/>
          </p:cNvGrpSpPr>
          <p:nvPr/>
        </p:nvGrpSpPr>
        <p:grpSpPr bwMode="auto">
          <a:xfrm>
            <a:off x="4746625" y="2168525"/>
            <a:ext cx="2476500" cy="2565400"/>
            <a:chOff x="272" y="1352"/>
            <a:chExt cx="1560" cy="1616"/>
          </a:xfrm>
        </p:grpSpPr>
        <p:sp>
          <p:nvSpPr>
            <p:cNvPr id="49198" name="Oval 46" descr="Large confetti"/>
            <p:cNvSpPr>
              <a:spLocks noChangeArrowheads="1"/>
            </p:cNvSpPr>
            <p:nvPr/>
          </p:nvSpPr>
          <p:spPr bwMode="auto">
            <a:xfrm>
              <a:off x="1463" y="2046"/>
              <a:ext cx="283" cy="284"/>
            </a:xfrm>
            <a:prstGeom prst="ellipse">
              <a:avLst/>
            </a:prstGeom>
            <a:pattFill prst="lgConfetti">
              <a:fgClr>
                <a:schemeClr val="tx2"/>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9" name="Oval 47" descr="Large confetti"/>
            <p:cNvSpPr>
              <a:spLocks noChangeArrowheads="1"/>
            </p:cNvSpPr>
            <p:nvPr/>
          </p:nvSpPr>
          <p:spPr bwMode="auto">
            <a:xfrm>
              <a:off x="329" y="2046"/>
              <a:ext cx="283" cy="284"/>
            </a:xfrm>
            <a:prstGeom prst="ellipse">
              <a:avLst/>
            </a:prstGeom>
            <a:pattFill prst="lgConfetti">
              <a:fgClr>
                <a:schemeClr val="tx2"/>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0" name="Oval 48" descr="Large confetti"/>
            <p:cNvSpPr>
              <a:spLocks noChangeArrowheads="1"/>
            </p:cNvSpPr>
            <p:nvPr/>
          </p:nvSpPr>
          <p:spPr bwMode="auto">
            <a:xfrm>
              <a:off x="924" y="1479"/>
              <a:ext cx="283" cy="284"/>
            </a:xfrm>
            <a:prstGeom prst="ellipse">
              <a:avLst/>
            </a:prstGeom>
            <a:pattFill prst="lgConfetti">
              <a:fgClr>
                <a:schemeClr val="tx2"/>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1" name="Oval 49" descr="Large confetti"/>
            <p:cNvSpPr>
              <a:spLocks noChangeArrowheads="1"/>
            </p:cNvSpPr>
            <p:nvPr/>
          </p:nvSpPr>
          <p:spPr bwMode="auto">
            <a:xfrm>
              <a:off x="924" y="2613"/>
              <a:ext cx="283" cy="284"/>
            </a:xfrm>
            <a:prstGeom prst="ellipse">
              <a:avLst/>
            </a:prstGeom>
            <a:pattFill prst="lgConfetti">
              <a:fgClr>
                <a:schemeClr val="tx2"/>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9179" name="Group 27"/>
            <p:cNvGrpSpPr>
              <a:grpSpLocks/>
            </p:cNvGrpSpPr>
            <p:nvPr/>
          </p:nvGrpSpPr>
          <p:grpSpPr bwMode="auto">
            <a:xfrm>
              <a:off x="272" y="1352"/>
              <a:ext cx="1560" cy="1616"/>
              <a:chOff x="484" y="1168"/>
              <a:chExt cx="1560" cy="1616"/>
            </a:xfrm>
          </p:grpSpPr>
          <p:grpSp>
            <p:nvGrpSpPr>
              <p:cNvPr id="49158" name="Group 6"/>
              <p:cNvGrpSpPr>
                <a:grpSpLocks/>
              </p:cNvGrpSpPr>
              <p:nvPr/>
            </p:nvGrpSpPr>
            <p:grpSpPr bwMode="auto">
              <a:xfrm>
                <a:off x="484" y="1168"/>
                <a:ext cx="1560" cy="1616"/>
                <a:chOff x="470" y="1593"/>
                <a:chExt cx="1560" cy="1616"/>
              </a:xfrm>
            </p:grpSpPr>
            <p:sp>
              <p:nvSpPr>
                <p:cNvPr id="49155" name="Oval 3"/>
                <p:cNvSpPr>
                  <a:spLocks noChangeArrowheads="1"/>
                </p:cNvSpPr>
                <p:nvPr/>
              </p:nvSpPr>
              <p:spPr bwMode="auto">
                <a:xfrm>
                  <a:off x="470" y="1593"/>
                  <a:ext cx="1559" cy="161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6" name="Line 4"/>
                <p:cNvSpPr>
                  <a:spLocks noChangeShapeType="1"/>
                </p:cNvSpPr>
                <p:nvPr/>
              </p:nvSpPr>
              <p:spPr bwMode="auto">
                <a:xfrm>
                  <a:off x="1264" y="1593"/>
                  <a:ext cx="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7" name="Line 5"/>
                <p:cNvSpPr>
                  <a:spLocks noChangeShapeType="1"/>
                </p:cNvSpPr>
                <p:nvPr/>
              </p:nvSpPr>
              <p:spPr bwMode="auto">
                <a:xfrm>
                  <a:off x="470" y="2415"/>
                  <a:ext cx="15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9159" name="Oval 7"/>
              <p:cNvSpPr>
                <a:spLocks noChangeArrowheads="1"/>
              </p:cNvSpPr>
              <p:nvPr/>
            </p:nvSpPr>
            <p:spPr bwMode="auto">
              <a:xfrm>
                <a:off x="1235" y="1395"/>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0" name="Oval 8"/>
              <p:cNvSpPr>
                <a:spLocks noChangeArrowheads="1"/>
              </p:cNvSpPr>
              <p:nvPr/>
            </p:nvSpPr>
            <p:spPr bwMode="auto">
              <a:xfrm>
                <a:off x="1760"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1" name="Oval 9"/>
              <p:cNvSpPr>
                <a:spLocks noChangeArrowheads="1"/>
              </p:cNvSpPr>
              <p:nvPr/>
            </p:nvSpPr>
            <p:spPr bwMode="auto">
              <a:xfrm>
                <a:off x="654"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2" name="Oval 10"/>
              <p:cNvSpPr>
                <a:spLocks noChangeArrowheads="1"/>
              </p:cNvSpPr>
              <p:nvPr/>
            </p:nvSpPr>
            <p:spPr bwMode="auto">
              <a:xfrm>
                <a:off x="1235" y="2529"/>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49189" name="Group 37"/>
          <p:cNvGrpSpPr>
            <a:grpSpLocks/>
          </p:cNvGrpSpPr>
          <p:nvPr/>
        </p:nvGrpSpPr>
        <p:grpSpPr bwMode="auto">
          <a:xfrm>
            <a:off x="1256507" y="2146300"/>
            <a:ext cx="2476500" cy="2565400"/>
            <a:chOff x="484" y="1168"/>
            <a:chExt cx="1560" cy="1616"/>
          </a:xfrm>
        </p:grpSpPr>
        <p:grpSp>
          <p:nvGrpSpPr>
            <p:cNvPr id="49190" name="Group 38"/>
            <p:cNvGrpSpPr>
              <a:grpSpLocks/>
            </p:cNvGrpSpPr>
            <p:nvPr/>
          </p:nvGrpSpPr>
          <p:grpSpPr bwMode="auto">
            <a:xfrm>
              <a:off x="484" y="1168"/>
              <a:ext cx="1560" cy="1616"/>
              <a:chOff x="470" y="1593"/>
              <a:chExt cx="1560" cy="1616"/>
            </a:xfrm>
          </p:grpSpPr>
          <p:sp>
            <p:nvSpPr>
              <p:cNvPr id="49191" name="Oval 39"/>
              <p:cNvSpPr>
                <a:spLocks noChangeArrowheads="1"/>
              </p:cNvSpPr>
              <p:nvPr/>
            </p:nvSpPr>
            <p:spPr bwMode="auto">
              <a:xfrm>
                <a:off x="470" y="1593"/>
                <a:ext cx="1559" cy="161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2" name="Line 40"/>
              <p:cNvSpPr>
                <a:spLocks noChangeShapeType="1"/>
              </p:cNvSpPr>
              <p:nvPr/>
            </p:nvSpPr>
            <p:spPr bwMode="auto">
              <a:xfrm>
                <a:off x="1264" y="1593"/>
                <a:ext cx="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93" name="Line 41"/>
              <p:cNvSpPr>
                <a:spLocks noChangeShapeType="1"/>
              </p:cNvSpPr>
              <p:nvPr/>
            </p:nvSpPr>
            <p:spPr bwMode="auto">
              <a:xfrm>
                <a:off x="470" y="2415"/>
                <a:ext cx="15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9194" name="Oval 42"/>
            <p:cNvSpPr>
              <a:spLocks noChangeArrowheads="1"/>
            </p:cNvSpPr>
            <p:nvPr/>
          </p:nvSpPr>
          <p:spPr bwMode="auto">
            <a:xfrm>
              <a:off x="1235" y="1395"/>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5" name="Oval 43"/>
            <p:cNvSpPr>
              <a:spLocks noChangeArrowheads="1"/>
            </p:cNvSpPr>
            <p:nvPr/>
          </p:nvSpPr>
          <p:spPr bwMode="auto">
            <a:xfrm>
              <a:off x="1760"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6" name="Oval 44"/>
            <p:cNvSpPr>
              <a:spLocks noChangeArrowheads="1"/>
            </p:cNvSpPr>
            <p:nvPr/>
          </p:nvSpPr>
          <p:spPr bwMode="auto">
            <a:xfrm>
              <a:off x="654"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7" name="Oval 45"/>
            <p:cNvSpPr>
              <a:spLocks noChangeArrowheads="1"/>
            </p:cNvSpPr>
            <p:nvPr/>
          </p:nvSpPr>
          <p:spPr bwMode="auto">
            <a:xfrm>
              <a:off x="1235" y="2529"/>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206" name="Group 54"/>
          <p:cNvGrpSpPr>
            <a:grpSpLocks/>
          </p:cNvGrpSpPr>
          <p:nvPr/>
        </p:nvGrpSpPr>
        <p:grpSpPr bwMode="auto">
          <a:xfrm>
            <a:off x="8584768" y="2124075"/>
            <a:ext cx="2476500" cy="2565400"/>
            <a:chOff x="2086" y="1352"/>
            <a:chExt cx="1560" cy="1616"/>
          </a:xfrm>
        </p:grpSpPr>
        <p:grpSp>
          <p:nvGrpSpPr>
            <p:cNvPr id="49180" name="Group 28"/>
            <p:cNvGrpSpPr>
              <a:grpSpLocks/>
            </p:cNvGrpSpPr>
            <p:nvPr/>
          </p:nvGrpSpPr>
          <p:grpSpPr bwMode="auto">
            <a:xfrm>
              <a:off x="2086" y="1352"/>
              <a:ext cx="1560" cy="1616"/>
              <a:chOff x="484" y="1168"/>
              <a:chExt cx="1560" cy="1616"/>
            </a:xfrm>
          </p:grpSpPr>
          <p:grpSp>
            <p:nvGrpSpPr>
              <p:cNvPr id="49181" name="Group 29"/>
              <p:cNvGrpSpPr>
                <a:grpSpLocks/>
              </p:cNvGrpSpPr>
              <p:nvPr/>
            </p:nvGrpSpPr>
            <p:grpSpPr bwMode="auto">
              <a:xfrm>
                <a:off x="484" y="1168"/>
                <a:ext cx="1560" cy="1616"/>
                <a:chOff x="470" y="1593"/>
                <a:chExt cx="1560" cy="1616"/>
              </a:xfrm>
            </p:grpSpPr>
            <p:sp>
              <p:nvSpPr>
                <p:cNvPr id="49182" name="Oval 30"/>
                <p:cNvSpPr>
                  <a:spLocks noChangeArrowheads="1"/>
                </p:cNvSpPr>
                <p:nvPr/>
              </p:nvSpPr>
              <p:spPr bwMode="auto">
                <a:xfrm>
                  <a:off x="470" y="1593"/>
                  <a:ext cx="1559" cy="161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3" name="Line 31"/>
                <p:cNvSpPr>
                  <a:spLocks noChangeShapeType="1"/>
                </p:cNvSpPr>
                <p:nvPr/>
              </p:nvSpPr>
              <p:spPr bwMode="auto">
                <a:xfrm>
                  <a:off x="1264" y="1593"/>
                  <a:ext cx="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84" name="Line 32"/>
                <p:cNvSpPr>
                  <a:spLocks noChangeShapeType="1"/>
                </p:cNvSpPr>
                <p:nvPr/>
              </p:nvSpPr>
              <p:spPr bwMode="auto">
                <a:xfrm>
                  <a:off x="470" y="2415"/>
                  <a:ext cx="15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9185" name="Oval 33"/>
              <p:cNvSpPr>
                <a:spLocks noChangeArrowheads="1"/>
              </p:cNvSpPr>
              <p:nvPr/>
            </p:nvSpPr>
            <p:spPr bwMode="auto">
              <a:xfrm>
                <a:off x="1235" y="1395"/>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6" name="Oval 34"/>
              <p:cNvSpPr>
                <a:spLocks noChangeArrowheads="1"/>
              </p:cNvSpPr>
              <p:nvPr/>
            </p:nvSpPr>
            <p:spPr bwMode="auto">
              <a:xfrm>
                <a:off x="1760"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7" name="Oval 35"/>
              <p:cNvSpPr>
                <a:spLocks noChangeArrowheads="1"/>
              </p:cNvSpPr>
              <p:nvPr/>
            </p:nvSpPr>
            <p:spPr bwMode="auto">
              <a:xfrm>
                <a:off x="654" y="1947"/>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8" name="Oval 36"/>
              <p:cNvSpPr>
                <a:spLocks noChangeArrowheads="1"/>
              </p:cNvSpPr>
              <p:nvPr/>
            </p:nvSpPr>
            <p:spPr bwMode="auto">
              <a:xfrm>
                <a:off x="1235" y="2529"/>
                <a:ext cx="85"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9202" name="Oval 50"/>
            <p:cNvSpPr>
              <a:spLocks noChangeArrowheads="1"/>
            </p:cNvSpPr>
            <p:nvPr/>
          </p:nvSpPr>
          <p:spPr bwMode="auto">
            <a:xfrm>
              <a:off x="2285" y="1621"/>
              <a:ext cx="1134" cy="1106"/>
            </a:xfrm>
            <a:prstGeom prst="ellipse">
              <a:avLst/>
            </a:prstGeom>
            <a:noFill/>
            <a:ln w="5715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3" name="Oval 51"/>
            <p:cNvSpPr>
              <a:spLocks noChangeArrowheads="1"/>
            </p:cNvSpPr>
            <p:nvPr/>
          </p:nvSpPr>
          <p:spPr bwMode="auto">
            <a:xfrm>
              <a:off x="2398" y="1742"/>
              <a:ext cx="935" cy="892"/>
            </a:xfrm>
            <a:prstGeom prst="ellipse">
              <a:avLst/>
            </a:prstGeom>
            <a:noFill/>
            <a:ln w="5715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4" name="Freeform 52"/>
            <p:cNvSpPr>
              <a:spLocks/>
            </p:cNvSpPr>
            <p:nvPr/>
          </p:nvSpPr>
          <p:spPr bwMode="auto">
            <a:xfrm>
              <a:off x="2285" y="1621"/>
              <a:ext cx="1134" cy="1134"/>
            </a:xfrm>
            <a:custGeom>
              <a:avLst/>
              <a:gdLst>
                <a:gd name="T0" fmla="*/ 0 w 1134"/>
                <a:gd name="T1" fmla="*/ 879 h 1134"/>
                <a:gd name="T2" fmla="*/ 368 w 1134"/>
                <a:gd name="T3" fmla="*/ 539 h 1134"/>
                <a:gd name="T4" fmla="*/ 0 w 1134"/>
                <a:gd name="T5" fmla="*/ 227 h 1134"/>
                <a:gd name="T6" fmla="*/ 255 w 1134"/>
                <a:gd name="T7" fmla="*/ 0 h 1134"/>
                <a:gd name="T8" fmla="*/ 595 w 1134"/>
                <a:gd name="T9" fmla="*/ 341 h 1134"/>
                <a:gd name="T10" fmla="*/ 935 w 1134"/>
                <a:gd name="T11" fmla="*/ 29 h 1134"/>
                <a:gd name="T12" fmla="*/ 1134 w 1134"/>
                <a:gd name="T13" fmla="*/ 284 h 1134"/>
                <a:gd name="T14" fmla="*/ 822 w 1134"/>
                <a:gd name="T15" fmla="*/ 539 h 1134"/>
                <a:gd name="T16" fmla="*/ 1134 w 1134"/>
                <a:gd name="T17" fmla="*/ 879 h 1134"/>
                <a:gd name="T18" fmla="*/ 907 w 1134"/>
                <a:gd name="T19" fmla="*/ 1078 h 1134"/>
                <a:gd name="T20" fmla="*/ 595 w 1134"/>
                <a:gd name="T21" fmla="*/ 822 h 1134"/>
                <a:gd name="T22" fmla="*/ 255 w 1134"/>
                <a:gd name="T23" fmla="*/ 1134 h 1134"/>
                <a:gd name="T24" fmla="*/ 0 w 1134"/>
                <a:gd name="T25" fmla="*/ 879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4" h="1134">
                  <a:moveTo>
                    <a:pt x="0" y="879"/>
                  </a:moveTo>
                  <a:lnTo>
                    <a:pt x="368" y="539"/>
                  </a:lnTo>
                  <a:lnTo>
                    <a:pt x="0" y="227"/>
                  </a:lnTo>
                  <a:lnTo>
                    <a:pt x="255" y="0"/>
                  </a:lnTo>
                  <a:lnTo>
                    <a:pt x="595" y="341"/>
                  </a:lnTo>
                  <a:lnTo>
                    <a:pt x="935" y="29"/>
                  </a:lnTo>
                  <a:lnTo>
                    <a:pt x="1134" y="284"/>
                  </a:lnTo>
                  <a:lnTo>
                    <a:pt x="822" y="539"/>
                  </a:lnTo>
                  <a:lnTo>
                    <a:pt x="1134" y="879"/>
                  </a:lnTo>
                  <a:lnTo>
                    <a:pt x="907" y="1078"/>
                  </a:lnTo>
                  <a:lnTo>
                    <a:pt x="595" y="822"/>
                  </a:lnTo>
                  <a:lnTo>
                    <a:pt x="255" y="1134"/>
                  </a:lnTo>
                  <a:lnTo>
                    <a:pt x="0" y="879"/>
                  </a:ln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9207" name="Text Box 55"/>
          <p:cNvSpPr txBox="1">
            <a:spLocks noChangeArrowheads="1"/>
          </p:cNvSpPr>
          <p:nvPr/>
        </p:nvSpPr>
        <p:spPr bwMode="auto">
          <a:xfrm>
            <a:off x="1638038" y="4864554"/>
            <a:ext cx="16442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Perfect channel</a:t>
            </a:r>
            <a:endParaRPr lang="en-GB" altLang="en-US" dirty="0"/>
          </a:p>
        </p:txBody>
      </p:sp>
      <p:sp>
        <p:nvSpPr>
          <p:cNvPr id="49208" name="Text Box 56"/>
          <p:cNvSpPr txBox="1">
            <a:spLocks noChangeArrowheads="1"/>
          </p:cNvSpPr>
          <p:nvPr/>
        </p:nvSpPr>
        <p:spPr bwMode="auto">
          <a:xfrm>
            <a:off x="5351768" y="4871005"/>
            <a:ext cx="13090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White noise</a:t>
            </a:r>
            <a:endParaRPr lang="en-GB" altLang="en-US" dirty="0"/>
          </a:p>
        </p:txBody>
      </p:sp>
      <p:sp>
        <p:nvSpPr>
          <p:cNvPr id="49209" name="Text Box 57"/>
          <p:cNvSpPr txBox="1">
            <a:spLocks noChangeArrowheads="1"/>
          </p:cNvSpPr>
          <p:nvPr/>
        </p:nvSpPr>
        <p:spPr bwMode="auto">
          <a:xfrm>
            <a:off x="9289472" y="4820722"/>
            <a:ext cx="12448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Phase jitter</a:t>
            </a:r>
            <a:endParaRPr lang="en-GB" altLang="en-US" dirty="0"/>
          </a:p>
        </p:txBody>
      </p:sp>
      <p:sp>
        <p:nvSpPr>
          <p:cNvPr id="46"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M-</a:t>
            </a:r>
            <a:r>
              <a:rPr lang="en-GB" sz="3600" b="1" dirty="0" err="1">
                <a:solidFill>
                  <a:srgbClr val="C00000"/>
                </a:solidFill>
                <a:latin typeface="+mn-lt"/>
              </a:rPr>
              <a:t>ary</a:t>
            </a:r>
            <a:r>
              <a:rPr lang="en-GB" sz="3600" b="1" dirty="0">
                <a:solidFill>
                  <a:srgbClr val="C00000"/>
                </a:solidFill>
                <a:latin typeface="+mn-lt"/>
              </a:rPr>
              <a:t> Modulation</a:t>
            </a:r>
          </a:p>
          <a:p>
            <a:r>
              <a:rPr lang="en-GB" sz="2400" b="1" dirty="0">
                <a:solidFill>
                  <a:srgbClr val="C00000"/>
                </a:solidFill>
                <a:latin typeface="Arial Black" panose="020B0A04020102020204" pitchFamily="34" charset="0"/>
              </a:rPr>
              <a:t>M-</a:t>
            </a:r>
            <a:r>
              <a:rPr lang="en-GB" sz="2400" b="1" dirty="0" err="1">
                <a:solidFill>
                  <a:srgbClr val="C00000"/>
                </a:solidFill>
                <a:latin typeface="Arial Black" panose="020B0A04020102020204" pitchFamily="34" charset="0"/>
              </a:rPr>
              <a:t>ary</a:t>
            </a:r>
            <a:r>
              <a:rPr lang="en-GB" sz="2400" b="1" dirty="0">
                <a:solidFill>
                  <a:srgbClr val="C00000"/>
                </a:solidFill>
                <a:latin typeface="Arial Black" panose="020B0A04020102020204" pitchFamily="34" charset="0"/>
              </a:rPr>
              <a:t> </a:t>
            </a:r>
            <a:r>
              <a:rPr lang="en-GB" sz="2400" b="1">
                <a:solidFill>
                  <a:srgbClr val="C00000"/>
                </a:solidFill>
                <a:latin typeface="Arial Black" panose="020B0A04020102020204" pitchFamily="34" charset="0"/>
              </a:rPr>
              <a:t>Modulation with </a:t>
            </a:r>
            <a:r>
              <a:rPr lang="en-GB" sz="2400" b="1" dirty="0">
                <a:solidFill>
                  <a:srgbClr val="C00000"/>
                </a:solidFill>
                <a:latin typeface="Arial Black" panose="020B0A04020102020204" pitchFamily="34" charset="0"/>
              </a:rPr>
              <a:t>Noise &amp; Distortion </a:t>
            </a:r>
            <a:endParaRPr lang="en-US" sz="2400" b="1" dirty="0">
              <a:solidFill>
                <a:srgbClr val="C00000"/>
              </a:solidFill>
              <a:latin typeface="Arial Black" panose="020B0A04020102020204" pitchFamily="34" charset="0"/>
            </a:endParaRPr>
          </a:p>
        </p:txBody>
      </p:sp>
      <p:sp>
        <p:nvSpPr>
          <p:cNvPr id="47" name="Rectangle 46">
            <a:extLst>
              <a:ext uri="{FF2B5EF4-FFF2-40B4-BE49-F238E27FC236}">
                <a16:creationId xmlns:a16="http://schemas.microsoft.com/office/drawing/2014/main" id="{864F69B7-FEE7-46F7-B19F-6DCA92A1682A}"/>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48" name="Footer Placeholder 4">
            <a:extLst>
              <a:ext uri="{FF2B5EF4-FFF2-40B4-BE49-F238E27FC236}">
                <a16:creationId xmlns:a16="http://schemas.microsoft.com/office/drawing/2014/main" id="{53D18D61-D799-4650-89AE-6B42715CA2EB}"/>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25 of 41</a:t>
            </a:r>
            <a:endParaRPr lang="en-US" sz="1200" dirty="0"/>
          </a:p>
        </p:txBody>
      </p:sp>
      <p:pic>
        <p:nvPicPr>
          <p:cNvPr id="2" name="Pg25">
            <a:hlinkClick r:id="" action="ppaction://media"/>
            <a:extLst>
              <a:ext uri="{FF2B5EF4-FFF2-40B4-BE49-F238E27FC236}">
                <a16:creationId xmlns:a16="http://schemas.microsoft.com/office/drawing/2014/main" id="{F455C004-D701-4631-A7EB-FDE501C5972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33942" y="5785302"/>
            <a:ext cx="609600" cy="609600"/>
          </a:xfrm>
          <a:prstGeom prst="rect">
            <a:avLst/>
          </a:prstGeom>
        </p:spPr>
      </p:pic>
      <p:sp>
        <p:nvSpPr>
          <p:cNvPr id="3" name="Rectangle 2">
            <a:extLst>
              <a:ext uri="{FF2B5EF4-FFF2-40B4-BE49-F238E27FC236}">
                <a16:creationId xmlns:a16="http://schemas.microsoft.com/office/drawing/2014/main" id="{2822B2E9-0EA4-C704-F49B-01E268AEA38D}"/>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31030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6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3"/>
          <a:stretch>
            <a:fillRect/>
          </a:stretch>
        </p:blipFill>
        <p:spPr>
          <a:xfrm>
            <a:off x="260654" y="5853409"/>
            <a:ext cx="1762125" cy="542925"/>
          </a:xfrm>
          <a:prstGeom prst="rect">
            <a:avLst/>
          </a:prstGeom>
        </p:spPr>
      </p:pic>
      <p:sp>
        <p:nvSpPr>
          <p:cNvPr id="10" name="TextBox 9">
            <a:hlinkClick r:id="rId4"/>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effectLst/>
                <a:latin typeface="Roboto" panose="02000000000000000000" pitchFamily="2" charset="0"/>
              </a:rPr>
              <a:t>Digital Mod Part 7. Constellation Diagram Error: IQ Imbalance, Quadrature &amp; Offset Carrier Leakage.</a:t>
            </a:r>
          </a:p>
          <a:p>
            <a:r>
              <a:rPr lang="en-SG" b="0" i="0" u="none" strike="noStrike" dirty="0">
                <a:effectLst/>
                <a:latin typeface="Roboto" panose="02000000000000000000" pitchFamily="2" charset="0"/>
                <a:hlinkClick r:id="rId4"/>
              </a:rPr>
              <a:t>https://youtu.be/5T0RE2_2GzM</a:t>
            </a:r>
            <a:endParaRPr lang="en-SG" b="0" i="0" dirty="0">
              <a:effectLst/>
              <a:latin typeface="Roboto" panose="02000000000000000000" pitchFamily="2" charset="0"/>
            </a:endParaRPr>
          </a:p>
        </p:txBody>
      </p:sp>
      <p:pic>
        <p:nvPicPr>
          <p:cNvPr id="4100" name="Picture 4" descr="Miscellaneous Video's – Centurian Park Family">
            <a:hlinkClick r:id="rId4"/>
            <a:extLst>
              <a:ext uri="{FF2B5EF4-FFF2-40B4-BE49-F238E27FC236}">
                <a16:creationId xmlns:a16="http://schemas.microsoft.com/office/drawing/2014/main" id="{F2FC59B5-8F70-388F-0F76-A765F7749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4"/>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4"/>
            <a:extLst>
              <a:ext uri="{FF2B5EF4-FFF2-40B4-BE49-F238E27FC236}">
                <a16:creationId xmlns:a16="http://schemas.microsoft.com/office/drawing/2014/main" id="{85F937C9-3AE0-376D-0091-E777A2D3F1BB}"/>
              </a:ext>
            </a:extLst>
          </p:cNvPr>
          <p:cNvPicPr>
            <a:picLocks noChangeAspect="1"/>
          </p:cNvPicPr>
          <p:nvPr/>
        </p:nvPicPr>
        <p:blipFill>
          <a:blip r:embed="rId6"/>
          <a:stretch>
            <a:fillRect/>
          </a:stretch>
        </p:blipFill>
        <p:spPr>
          <a:xfrm>
            <a:off x="462642" y="300241"/>
            <a:ext cx="8962121" cy="5019904"/>
          </a:xfrm>
          <a:prstGeom prst="rect">
            <a:avLst/>
          </a:prstGeom>
        </p:spPr>
      </p:pic>
    </p:spTree>
    <p:extLst>
      <p:ext uri="{BB962C8B-B14F-4D97-AF65-F5344CB8AC3E}">
        <p14:creationId xmlns:p14="http://schemas.microsoft.com/office/powerpoint/2010/main" val="413303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8" name="Group 6"/>
          <p:cNvGrpSpPr>
            <a:grpSpLocks/>
          </p:cNvGrpSpPr>
          <p:nvPr/>
        </p:nvGrpSpPr>
        <p:grpSpPr bwMode="auto">
          <a:xfrm>
            <a:off x="8391386" y="1654890"/>
            <a:ext cx="1800225" cy="1800225"/>
            <a:chOff x="952" y="1338"/>
            <a:chExt cx="1134" cy="1134"/>
          </a:xfrm>
        </p:grpSpPr>
        <p:sp>
          <p:nvSpPr>
            <p:cNvPr id="54279" name="Oval 7"/>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0" name="Oval 8"/>
            <p:cNvSpPr>
              <a:spLocks noChangeArrowheads="1"/>
            </p:cNvSpPr>
            <p:nvPr/>
          </p:nvSpPr>
          <p:spPr bwMode="auto">
            <a:xfrm>
              <a:off x="952"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1" name="Oval 9"/>
            <p:cNvSpPr>
              <a:spLocks noChangeArrowheads="1"/>
            </p:cNvSpPr>
            <p:nvPr/>
          </p:nvSpPr>
          <p:spPr bwMode="auto">
            <a:xfrm>
              <a:off x="2001"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2" name="Oval 10"/>
            <p:cNvSpPr>
              <a:spLocks noChangeArrowheads="1"/>
            </p:cNvSpPr>
            <p:nvPr/>
          </p:nvSpPr>
          <p:spPr bwMode="auto">
            <a:xfrm>
              <a:off x="1463" y="133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3" name="Oval 11"/>
            <p:cNvSpPr>
              <a:spLocks noChangeArrowheads="1"/>
            </p:cNvSpPr>
            <p:nvPr/>
          </p:nvSpPr>
          <p:spPr bwMode="auto">
            <a:xfrm>
              <a:off x="1463" y="2387"/>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4296" name="Group 24"/>
          <p:cNvGrpSpPr>
            <a:grpSpLocks/>
          </p:cNvGrpSpPr>
          <p:nvPr/>
        </p:nvGrpSpPr>
        <p:grpSpPr bwMode="auto">
          <a:xfrm>
            <a:off x="4587734" y="1294527"/>
            <a:ext cx="2763838" cy="2474913"/>
            <a:chOff x="3447" y="1111"/>
            <a:chExt cx="1741" cy="1559"/>
          </a:xfrm>
        </p:grpSpPr>
        <p:grpSp>
          <p:nvGrpSpPr>
            <p:cNvPr id="54284" name="Group 12"/>
            <p:cNvGrpSpPr>
              <a:grpSpLocks/>
            </p:cNvGrpSpPr>
            <p:nvPr/>
          </p:nvGrpSpPr>
          <p:grpSpPr bwMode="auto">
            <a:xfrm rot="-2884372">
              <a:off x="3675" y="1338"/>
              <a:ext cx="1128" cy="1128"/>
              <a:chOff x="955" y="1338"/>
              <a:chExt cx="1128" cy="1128"/>
            </a:xfrm>
          </p:grpSpPr>
          <p:sp>
            <p:nvSpPr>
              <p:cNvPr id="54285" name="Oval 13"/>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6" name="Oval 14"/>
              <p:cNvSpPr>
                <a:spLocks noChangeArrowheads="1"/>
              </p:cNvSpPr>
              <p:nvPr/>
            </p:nvSpPr>
            <p:spPr bwMode="auto">
              <a:xfrm>
                <a:off x="955" y="1799"/>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7" name="Oval 15"/>
              <p:cNvSpPr>
                <a:spLocks noChangeArrowheads="1"/>
              </p:cNvSpPr>
              <p:nvPr/>
            </p:nvSpPr>
            <p:spPr bwMode="auto">
              <a:xfrm>
                <a:off x="1998" y="1901"/>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8" name="Oval 16"/>
              <p:cNvSpPr>
                <a:spLocks noChangeArrowheads="1"/>
              </p:cNvSpPr>
              <p:nvPr/>
            </p:nvSpPr>
            <p:spPr bwMode="auto">
              <a:xfrm>
                <a:off x="1463" y="133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9" name="Oval 17"/>
              <p:cNvSpPr>
                <a:spLocks noChangeArrowheads="1"/>
              </p:cNvSpPr>
              <p:nvPr/>
            </p:nvSpPr>
            <p:spPr bwMode="auto">
              <a:xfrm>
                <a:off x="1475" y="2381"/>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4290" name="Line 18"/>
            <p:cNvSpPr>
              <a:spLocks noChangeShapeType="1"/>
            </p:cNvSpPr>
            <p:nvPr/>
          </p:nvSpPr>
          <p:spPr bwMode="auto">
            <a:xfrm>
              <a:off x="4241" y="1139"/>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91" name="Line 19"/>
            <p:cNvSpPr>
              <a:spLocks noChangeShapeType="1"/>
            </p:cNvSpPr>
            <p:nvPr/>
          </p:nvSpPr>
          <p:spPr bwMode="auto">
            <a:xfrm>
              <a:off x="3447" y="1901"/>
              <a:ext cx="15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94" name="Text Box 22"/>
            <p:cNvSpPr txBox="1">
              <a:spLocks noChangeArrowheads="1"/>
            </p:cNvSpPr>
            <p:nvPr/>
          </p:nvSpPr>
          <p:spPr bwMode="auto">
            <a:xfrm>
              <a:off x="5035" y="1735"/>
              <a:ext cx="1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endParaRPr lang="en-GB" altLang="en-US"/>
            </a:p>
          </p:txBody>
        </p:sp>
        <p:sp>
          <p:nvSpPr>
            <p:cNvPr id="54295" name="Text Box 23"/>
            <p:cNvSpPr txBox="1">
              <a:spLocks noChangeArrowheads="1"/>
            </p:cNvSpPr>
            <p:nvPr/>
          </p:nvSpPr>
          <p:spPr bwMode="auto">
            <a:xfrm>
              <a:off x="4241" y="1111"/>
              <a:ext cx="2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Q</a:t>
              </a:r>
              <a:endParaRPr lang="en-GB" altLang="en-US"/>
            </a:p>
          </p:txBody>
        </p:sp>
      </p:grpSp>
      <p:grpSp>
        <p:nvGrpSpPr>
          <p:cNvPr id="54297" name="Group 25"/>
          <p:cNvGrpSpPr>
            <a:grpSpLocks/>
          </p:cNvGrpSpPr>
          <p:nvPr/>
        </p:nvGrpSpPr>
        <p:grpSpPr bwMode="auto">
          <a:xfrm>
            <a:off x="8032611" y="1294527"/>
            <a:ext cx="2763838" cy="2474913"/>
            <a:chOff x="3447" y="1111"/>
            <a:chExt cx="1741" cy="1559"/>
          </a:xfrm>
        </p:grpSpPr>
        <p:grpSp>
          <p:nvGrpSpPr>
            <p:cNvPr id="54298" name="Group 26"/>
            <p:cNvGrpSpPr>
              <a:grpSpLocks/>
            </p:cNvGrpSpPr>
            <p:nvPr/>
          </p:nvGrpSpPr>
          <p:grpSpPr bwMode="auto">
            <a:xfrm rot="-2884372">
              <a:off x="3674" y="1338"/>
              <a:ext cx="1134" cy="1134"/>
              <a:chOff x="952" y="1338"/>
              <a:chExt cx="1134" cy="1134"/>
            </a:xfrm>
          </p:grpSpPr>
          <p:sp>
            <p:nvSpPr>
              <p:cNvPr id="54299" name="Oval 27"/>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0" name="Oval 28"/>
              <p:cNvSpPr>
                <a:spLocks noChangeArrowheads="1"/>
              </p:cNvSpPr>
              <p:nvPr/>
            </p:nvSpPr>
            <p:spPr bwMode="auto">
              <a:xfrm>
                <a:off x="952"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1" name="Oval 29"/>
              <p:cNvSpPr>
                <a:spLocks noChangeArrowheads="1"/>
              </p:cNvSpPr>
              <p:nvPr/>
            </p:nvSpPr>
            <p:spPr bwMode="auto">
              <a:xfrm>
                <a:off x="2001" y="186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2" name="Oval 30"/>
              <p:cNvSpPr>
                <a:spLocks noChangeArrowheads="1"/>
              </p:cNvSpPr>
              <p:nvPr/>
            </p:nvSpPr>
            <p:spPr bwMode="auto">
              <a:xfrm>
                <a:off x="1463" y="133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3" name="Oval 31"/>
              <p:cNvSpPr>
                <a:spLocks noChangeArrowheads="1"/>
              </p:cNvSpPr>
              <p:nvPr/>
            </p:nvSpPr>
            <p:spPr bwMode="auto">
              <a:xfrm>
                <a:off x="1463" y="2387"/>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4304" name="Line 32"/>
            <p:cNvSpPr>
              <a:spLocks noChangeShapeType="1"/>
            </p:cNvSpPr>
            <p:nvPr/>
          </p:nvSpPr>
          <p:spPr bwMode="auto">
            <a:xfrm>
              <a:off x="4241" y="1139"/>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05" name="Line 33"/>
            <p:cNvSpPr>
              <a:spLocks noChangeShapeType="1"/>
            </p:cNvSpPr>
            <p:nvPr/>
          </p:nvSpPr>
          <p:spPr bwMode="auto">
            <a:xfrm>
              <a:off x="3447" y="1901"/>
              <a:ext cx="15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06" name="Text Box 34"/>
            <p:cNvSpPr txBox="1">
              <a:spLocks noChangeArrowheads="1"/>
            </p:cNvSpPr>
            <p:nvPr/>
          </p:nvSpPr>
          <p:spPr bwMode="auto">
            <a:xfrm>
              <a:off x="5035" y="1735"/>
              <a:ext cx="1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endParaRPr lang="en-GB" altLang="en-US"/>
            </a:p>
          </p:txBody>
        </p:sp>
        <p:sp>
          <p:nvSpPr>
            <p:cNvPr id="54307" name="Text Box 35"/>
            <p:cNvSpPr txBox="1">
              <a:spLocks noChangeArrowheads="1"/>
            </p:cNvSpPr>
            <p:nvPr/>
          </p:nvSpPr>
          <p:spPr bwMode="auto">
            <a:xfrm>
              <a:off x="4241" y="1111"/>
              <a:ext cx="2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Q</a:t>
              </a:r>
              <a:endParaRPr lang="en-GB" altLang="en-US"/>
            </a:p>
          </p:txBody>
        </p:sp>
      </p:grpSp>
      <p:sp>
        <p:nvSpPr>
          <p:cNvPr id="54310" name="Oval 38"/>
          <p:cNvSpPr>
            <a:spLocks noChangeArrowheads="1"/>
          </p:cNvSpPr>
          <p:nvPr/>
        </p:nvSpPr>
        <p:spPr bwMode="auto">
          <a:xfrm rot="-2884372">
            <a:off x="1726332" y="1724450"/>
            <a:ext cx="1709737" cy="1665287"/>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1" name="Oval 39"/>
          <p:cNvSpPr>
            <a:spLocks noChangeArrowheads="1"/>
          </p:cNvSpPr>
          <p:nvPr/>
        </p:nvSpPr>
        <p:spPr bwMode="auto">
          <a:xfrm rot="-2884372">
            <a:off x="1869206" y="3053187"/>
            <a:ext cx="134938" cy="134937"/>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2" name="Oval 40"/>
          <p:cNvSpPr>
            <a:spLocks noChangeArrowheads="1"/>
          </p:cNvSpPr>
          <p:nvPr/>
        </p:nvSpPr>
        <p:spPr bwMode="auto">
          <a:xfrm rot="-2884372">
            <a:off x="3129681" y="1929237"/>
            <a:ext cx="134938" cy="134937"/>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3" name="Oval 41"/>
          <p:cNvSpPr>
            <a:spLocks noChangeArrowheads="1"/>
          </p:cNvSpPr>
          <p:nvPr/>
        </p:nvSpPr>
        <p:spPr bwMode="auto">
          <a:xfrm rot="-2884372">
            <a:off x="1880319" y="1949874"/>
            <a:ext cx="134937" cy="13493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4" name="Oval 42"/>
          <p:cNvSpPr>
            <a:spLocks noChangeArrowheads="1"/>
          </p:cNvSpPr>
          <p:nvPr/>
        </p:nvSpPr>
        <p:spPr bwMode="auto">
          <a:xfrm rot="-2884372">
            <a:off x="3174132" y="2984925"/>
            <a:ext cx="134937" cy="134937"/>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5" name="Line 43"/>
          <p:cNvSpPr>
            <a:spLocks noChangeShapeType="1"/>
          </p:cNvSpPr>
          <p:nvPr/>
        </p:nvSpPr>
        <p:spPr bwMode="auto">
          <a:xfrm>
            <a:off x="2581993" y="1343449"/>
            <a:ext cx="0" cy="2430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16" name="Line 44"/>
          <p:cNvSpPr>
            <a:spLocks noChangeShapeType="1"/>
          </p:cNvSpPr>
          <p:nvPr/>
        </p:nvSpPr>
        <p:spPr bwMode="auto">
          <a:xfrm>
            <a:off x="1321518" y="2553124"/>
            <a:ext cx="2476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17" name="Text Box 45"/>
          <p:cNvSpPr txBox="1">
            <a:spLocks noChangeArrowheads="1"/>
          </p:cNvSpPr>
          <p:nvPr/>
        </p:nvSpPr>
        <p:spPr bwMode="auto">
          <a:xfrm>
            <a:off x="3842468" y="2289599"/>
            <a:ext cx="2423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endParaRPr lang="en-GB" altLang="en-US"/>
          </a:p>
        </p:txBody>
      </p:sp>
      <p:sp>
        <p:nvSpPr>
          <p:cNvPr id="54318" name="Text Box 46"/>
          <p:cNvSpPr txBox="1">
            <a:spLocks noChangeArrowheads="1"/>
          </p:cNvSpPr>
          <p:nvPr/>
        </p:nvSpPr>
        <p:spPr bwMode="auto">
          <a:xfrm>
            <a:off x="2581993" y="1298999"/>
            <a:ext cx="340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Q</a:t>
            </a:r>
            <a:endParaRPr lang="en-GB" altLang="en-US"/>
          </a:p>
        </p:txBody>
      </p:sp>
      <p:sp>
        <p:nvSpPr>
          <p:cNvPr id="54319" name="Line 47"/>
          <p:cNvSpPr>
            <a:spLocks noChangeShapeType="1"/>
          </p:cNvSpPr>
          <p:nvPr/>
        </p:nvSpPr>
        <p:spPr bwMode="auto">
          <a:xfrm>
            <a:off x="2004143" y="2018136"/>
            <a:ext cx="112553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0" name="Line 48"/>
          <p:cNvSpPr>
            <a:spLocks noChangeShapeType="1"/>
          </p:cNvSpPr>
          <p:nvPr/>
        </p:nvSpPr>
        <p:spPr bwMode="auto">
          <a:xfrm>
            <a:off x="2004143" y="3099224"/>
            <a:ext cx="116998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1" name="Line 49"/>
          <p:cNvSpPr>
            <a:spLocks noChangeShapeType="1"/>
          </p:cNvSpPr>
          <p:nvPr/>
        </p:nvSpPr>
        <p:spPr bwMode="auto">
          <a:xfrm flipH="1">
            <a:off x="2004143" y="2064174"/>
            <a:ext cx="1125538" cy="9890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2" name="Line 50"/>
          <p:cNvSpPr>
            <a:spLocks noChangeShapeType="1"/>
          </p:cNvSpPr>
          <p:nvPr/>
        </p:nvSpPr>
        <p:spPr bwMode="auto">
          <a:xfrm>
            <a:off x="2004143" y="2064174"/>
            <a:ext cx="1169988" cy="9890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3" name="Line 51"/>
          <p:cNvSpPr>
            <a:spLocks noChangeShapeType="1"/>
          </p:cNvSpPr>
          <p:nvPr/>
        </p:nvSpPr>
        <p:spPr bwMode="auto">
          <a:xfrm>
            <a:off x="1959693" y="2108624"/>
            <a:ext cx="0" cy="94456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4" name="Line 52"/>
          <p:cNvSpPr>
            <a:spLocks noChangeShapeType="1"/>
          </p:cNvSpPr>
          <p:nvPr/>
        </p:nvSpPr>
        <p:spPr bwMode="auto">
          <a:xfrm>
            <a:off x="3218581" y="2064174"/>
            <a:ext cx="0" cy="9890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6" name="Freeform 54"/>
          <p:cNvSpPr>
            <a:spLocks/>
          </p:cNvSpPr>
          <p:nvPr/>
        </p:nvSpPr>
        <p:spPr bwMode="auto">
          <a:xfrm>
            <a:off x="5216384" y="1970801"/>
            <a:ext cx="1260475" cy="1123950"/>
          </a:xfrm>
          <a:custGeom>
            <a:avLst/>
            <a:gdLst>
              <a:gd name="T0" fmla="*/ 0 w 794"/>
              <a:gd name="T1" fmla="*/ 28 h 708"/>
              <a:gd name="T2" fmla="*/ 0 w 794"/>
              <a:gd name="T3" fmla="*/ 708 h 708"/>
              <a:gd name="T4" fmla="*/ 794 w 794"/>
              <a:gd name="T5" fmla="*/ 708 h 708"/>
              <a:gd name="T6" fmla="*/ 794 w 794"/>
              <a:gd name="T7" fmla="*/ 0 h 708"/>
              <a:gd name="T8" fmla="*/ 0 w 794"/>
              <a:gd name="T9" fmla="*/ 28 h 708"/>
            </a:gdLst>
            <a:ahLst/>
            <a:cxnLst>
              <a:cxn ang="0">
                <a:pos x="T0" y="T1"/>
              </a:cxn>
              <a:cxn ang="0">
                <a:pos x="T2" y="T3"/>
              </a:cxn>
              <a:cxn ang="0">
                <a:pos x="T4" y="T5"/>
              </a:cxn>
              <a:cxn ang="0">
                <a:pos x="T6" y="T7"/>
              </a:cxn>
              <a:cxn ang="0">
                <a:pos x="T8" y="T9"/>
              </a:cxn>
            </a:cxnLst>
            <a:rect l="0" t="0" r="r" b="b"/>
            <a:pathLst>
              <a:path w="794" h="708">
                <a:moveTo>
                  <a:pt x="0" y="28"/>
                </a:moveTo>
                <a:lnTo>
                  <a:pt x="0" y="708"/>
                </a:lnTo>
                <a:lnTo>
                  <a:pt x="794" y="708"/>
                </a:lnTo>
                <a:lnTo>
                  <a:pt x="794" y="0"/>
                </a:lnTo>
                <a:lnTo>
                  <a:pt x="0" y="28"/>
                </a:lnTo>
                <a:close/>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7" name="Freeform 55"/>
          <p:cNvSpPr>
            <a:spLocks/>
          </p:cNvSpPr>
          <p:nvPr/>
        </p:nvSpPr>
        <p:spPr bwMode="auto">
          <a:xfrm>
            <a:off x="8437424" y="1700926"/>
            <a:ext cx="1709737" cy="1663700"/>
          </a:xfrm>
          <a:custGeom>
            <a:avLst/>
            <a:gdLst>
              <a:gd name="T0" fmla="*/ 141 w 1077"/>
              <a:gd name="T1" fmla="*/ 198 h 1048"/>
              <a:gd name="T2" fmla="*/ 0 w 1077"/>
              <a:gd name="T3" fmla="*/ 538 h 1048"/>
              <a:gd name="T4" fmla="*/ 170 w 1077"/>
              <a:gd name="T5" fmla="*/ 935 h 1048"/>
              <a:gd name="T6" fmla="*/ 538 w 1077"/>
              <a:gd name="T7" fmla="*/ 1048 h 1048"/>
              <a:gd name="T8" fmla="*/ 907 w 1077"/>
              <a:gd name="T9" fmla="*/ 907 h 1048"/>
              <a:gd name="T10" fmla="*/ 1077 w 1077"/>
              <a:gd name="T11" fmla="*/ 510 h 1048"/>
              <a:gd name="T12" fmla="*/ 907 w 1077"/>
              <a:gd name="T13" fmla="*/ 141 h 1048"/>
              <a:gd name="T14" fmla="*/ 538 w 1077"/>
              <a:gd name="T15" fmla="*/ 0 h 1048"/>
              <a:gd name="T16" fmla="*/ 141 w 1077"/>
              <a:gd name="T17" fmla="*/ 198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7" h="1048">
                <a:moveTo>
                  <a:pt x="141" y="198"/>
                </a:moveTo>
                <a:lnTo>
                  <a:pt x="0" y="538"/>
                </a:lnTo>
                <a:lnTo>
                  <a:pt x="170" y="935"/>
                </a:lnTo>
                <a:lnTo>
                  <a:pt x="538" y="1048"/>
                </a:lnTo>
                <a:lnTo>
                  <a:pt x="907" y="907"/>
                </a:lnTo>
                <a:lnTo>
                  <a:pt x="1077" y="510"/>
                </a:lnTo>
                <a:lnTo>
                  <a:pt x="907" y="141"/>
                </a:lnTo>
                <a:lnTo>
                  <a:pt x="538" y="0"/>
                </a:lnTo>
                <a:lnTo>
                  <a:pt x="141" y="198"/>
                </a:lnTo>
                <a:close/>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8" name="Freeform 56"/>
          <p:cNvSpPr>
            <a:spLocks/>
          </p:cNvSpPr>
          <p:nvPr/>
        </p:nvSpPr>
        <p:spPr bwMode="auto">
          <a:xfrm>
            <a:off x="8481874" y="1745376"/>
            <a:ext cx="1665287" cy="1619250"/>
          </a:xfrm>
          <a:custGeom>
            <a:avLst/>
            <a:gdLst>
              <a:gd name="T0" fmla="*/ 113 w 1049"/>
              <a:gd name="T1" fmla="*/ 170 h 1020"/>
              <a:gd name="T2" fmla="*/ 482 w 1049"/>
              <a:gd name="T3" fmla="*/ 1020 h 1020"/>
              <a:gd name="T4" fmla="*/ 851 w 1049"/>
              <a:gd name="T5" fmla="*/ 113 h 1020"/>
              <a:gd name="T6" fmla="*/ 0 w 1049"/>
              <a:gd name="T7" fmla="*/ 510 h 1020"/>
              <a:gd name="T8" fmla="*/ 907 w 1049"/>
              <a:gd name="T9" fmla="*/ 879 h 1020"/>
              <a:gd name="T10" fmla="*/ 510 w 1049"/>
              <a:gd name="T11" fmla="*/ 0 h 1020"/>
              <a:gd name="T12" fmla="*/ 170 w 1049"/>
              <a:gd name="T13" fmla="*/ 907 h 1020"/>
              <a:gd name="T14" fmla="*/ 1049 w 1049"/>
              <a:gd name="T15" fmla="*/ 510 h 1020"/>
              <a:gd name="T16" fmla="*/ 113 w 1049"/>
              <a:gd name="T17" fmla="*/ 17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1020">
                <a:moveTo>
                  <a:pt x="113" y="170"/>
                </a:moveTo>
                <a:lnTo>
                  <a:pt x="482" y="1020"/>
                </a:lnTo>
                <a:lnTo>
                  <a:pt x="851" y="113"/>
                </a:lnTo>
                <a:lnTo>
                  <a:pt x="0" y="510"/>
                </a:lnTo>
                <a:lnTo>
                  <a:pt x="907" y="879"/>
                </a:lnTo>
                <a:lnTo>
                  <a:pt x="510" y="0"/>
                </a:lnTo>
                <a:lnTo>
                  <a:pt x="170" y="907"/>
                </a:lnTo>
                <a:lnTo>
                  <a:pt x="1049" y="510"/>
                </a:lnTo>
                <a:lnTo>
                  <a:pt x="113" y="170"/>
                </a:lnTo>
                <a:close/>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29" name="Text Box 57"/>
          <p:cNvSpPr txBox="1">
            <a:spLocks noChangeArrowheads="1"/>
          </p:cNvSpPr>
          <p:nvPr/>
        </p:nvSpPr>
        <p:spPr bwMode="auto">
          <a:xfrm>
            <a:off x="1734268" y="3548486"/>
            <a:ext cx="19750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Conventional QPSK</a:t>
            </a:r>
            <a:endParaRPr lang="en-GB" altLang="en-US" dirty="0"/>
          </a:p>
        </p:txBody>
      </p:sp>
      <p:sp>
        <p:nvSpPr>
          <p:cNvPr id="54331" name="Text Box 59"/>
          <p:cNvSpPr txBox="1">
            <a:spLocks noChangeArrowheads="1"/>
          </p:cNvSpPr>
          <p:nvPr/>
        </p:nvSpPr>
        <p:spPr bwMode="auto">
          <a:xfrm>
            <a:off x="8801973" y="3594141"/>
            <a:ext cx="10711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ym typeface="Symbol" panose="05050102010706020507" pitchFamily="18" charset="2"/>
              </a:rPr>
              <a:t>/4 </a:t>
            </a:r>
            <a:r>
              <a:rPr lang="en-US" altLang="en-US" dirty="0"/>
              <a:t>QPSK</a:t>
            </a:r>
            <a:endParaRPr lang="en-GB" altLang="en-US" dirty="0"/>
          </a:p>
        </p:txBody>
      </p:sp>
      <p:sp>
        <p:nvSpPr>
          <p:cNvPr id="54332" name="Text Box 60"/>
          <p:cNvSpPr txBox="1">
            <a:spLocks noChangeArrowheads="1"/>
          </p:cNvSpPr>
          <p:nvPr/>
        </p:nvSpPr>
        <p:spPr bwMode="auto">
          <a:xfrm>
            <a:off x="5127483" y="3636089"/>
            <a:ext cx="13067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Offset QPSK</a:t>
            </a:r>
            <a:endParaRPr lang="en-GB" altLang="en-US" dirty="0"/>
          </a:p>
        </p:txBody>
      </p:sp>
      <p:sp>
        <p:nvSpPr>
          <p:cNvPr id="58"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QPSK</a:t>
            </a:r>
          </a:p>
          <a:p>
            <a:r>
              <a:rPr lang="en-GB" sz="2400" b="1" dirty="0">
                <a:solidFill>
                  <a:srgbClr val="C00000"/>
                </a:solidFill>
                <a:latin typeface="Arial Black" panose="020B0A04020102020204" pitchFamily="34" charset="0"/>
              </a:rPr>
              <a:t>QPSK Constellation Diagram </a:t>
            </a:r>
            <a:endParaRPr lang="en-US" sz="2400" b="1" dirty="0">
              <a:solidFill>
                <a:srgbClr val="C00000"/>
              </a:solidFill>
              <a:latin typeface="Arial Black" panose="020B0A04020102020204" pitchFamily="34" charset="0"/>
            </a:endParaRPr>
          </a:p>
        </p:txBody>
      </p:sp>
      <p:sp>
        <p:nvSpPr>
          <p:cNvPr id="3" name="Rectangle 2"/>
          <p:cNvSpPr/>
          <p:nvPr/>
        </p:nvSpPr>
        <p:spPr>
          <a:xfrm>
            <a:off x="1570007" y="4126550"/>
            <a:ext cx="2249468" cy="1872500"/>
          </a:xfrm>
          <a:prstGeom prst="rect">
            <a:avLst/>
          </a:prstGeom>
        </p:spPr>
        <p:txBody>
          <a:bodyPr wrap="square">
            <a:spAutoFit/>
          </a:bodyPr>
          <a:lstStyle/>
          <a:p>
            <a:pPr>
              <a:lnSpc>
                <a:spcPct val="80000"/>
              </a:lnSpc>
            </a:pPr>
            <a:r>
              <a:rPr lang="en-US" altLang="en-US" sz="2400" dirty="0"/>
              <a:t>Conventional QPSK has transitions through zero (i.e. 180</a:t>
            </a:r>
            <a:r>
              <a:rPr lang="en-US" altLang="en-US" sz="2400" baseline="30000" dirty="0"/>
              <a:t>0</a:t>
            </a:r>
            <a:r>
              <a:rPr lang="en-US" altLang="en-US" sz="2400" dirty="0"/>
              <a:t> phase transition). </a:t>
            </a:r>
          </a:p>
        </p:txBody>
      </p:sp>
      <p:sp>
        <p:nvSpPr>
          <p:cNvPr id="4" name="Rectangle 3"/>
          <p:cNvSpPr/>
          <p:nvPr/>
        </p:nvSpPr>
        <p:spPr>
          <a:xfrm>
            <a:off x="4801608" y="4087095"/>
            <a:ext cx="2428520" cy="2167966"/>
          </a:xfrm>
          <a:prstGeom prst="rect">
            <a:avLst/>
          </a:prstGeom>
        </p:spPr>
        <p:txBody>
          <a:bodyPr wrap="square">
            <a:spAutoFit/>
          </a:bodyPr>
          <a:lstStyle/>
          <a:p>
            <a:pPr>
              <a:lnSpc>
                <a:spcPct val="80000"/>
              </a:lnSpc>
            </a:pPr>
            <a:r>
              <a:rPr lang="en-US" altLang="en-US" sz="2400" dirty="0"/>
              <a:t>In Offset QPSK, the phase transitions are limited to 90</a:t>
            </a:r>
            <a:r>
              <a:rPr lang="en-US" altLang="en-US" sz="2400" baseline="30000" dirty="0"/>
              <a:t>0</a:t>
            </a:r>
            <a:r>
              <a:rPr lang="en-US" altLang="en-US" sz="2400" dirty="0"/>
              <a:t>, the transitions on the I and Q channels are staggered.</a:t>
            </a:r>
          </a:p>
        </p:txBody>
      </p:sp>
      <p:sp>
        <p:nvSpPr>
          <p:cNvPr id="5" name="Rectangle 4"/>
          <p:cNvSpPr/>
          <p:nvPr/>
        </p:nvSpPr>
        <p:spPr>
          <a:xfrm>
            <a:off x="7799026" y="4046973"/>
            <a:ext cx="3530019" cy="2167966"/>
          </a:xfrm>
          <a:prstGeom prst="rect">
            <a:avLst/>
          </a:prstGeom>
        </p:spPr>
        <p:txBody>
          <a:bodyPr wrap="square">
            <a:spAutoFit/>
          </a:bodyPr>
          <a:lstStyle/>
          <a:p>
            <a:pPr>
              <a:lnSpc>
                <a:spcPct val="80000"/>
              </a:lnSpc>
            </a:pPr>
            <a:r>
              <a:rPr lang="en-US" altLang="en-US" sz="2400" dirty="0"/>
              <a:t>In </a:t>
            </a:r>
            <a:r>
              <a:rPr lang="en-US" altLang="en-US" sz="2400" dirty="0">
                <a:sym typeface="Symbol" panose="05050102010706020507" pitchFamily="18" charset="2"/>
              </a:rPr>
              <a:t>/4 </a:t>
            </a:r>
            <a:r>
              <a:rPr lang="en-US" altLang="en-US" sz="2400" dirty="0"/>
              <a:t>QPSK the set of constellation points are toggled to each symbol, so transitions through zero cannot occur. This scheme produces the lowest envelope variations.</a:t>
            </a:r>
          </a:p>
        </p:txBody>
      </p:sp>
      <p:sp>
        <p:nvSpPr>
          <p:cNvPr id="59" name="Rectangle 58">
            <a:extLst>
              <a:ext uri="{FF2B5EF4-FFF2-40B4-BE49-F238E27FC236}">
                <a16:creationId xmlns:a16="http://schemas.microsoft.com/office/drawing/2014/main" id="{0844484B-8B46-482B-A1F5-6E36F04471FC}"/>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60" name="Footer Placeholder 4">
            <a:extLst>
              <a:ext uri="{FF2B5EF4-FFF2-40B4-BE49-F238E27FC236}">
                <a16:creationId xmlns:a16="http://schemas.microsoft.com/office/drawing/2014/main" id="{A69AFE44-18E7-4731-B5ED-7F4FF6181370}"/>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26 of 41</a:t>
            </a:r>
            <a:endParaRPr lang="en-US" sz="1200" dirty="0"/>
          </a:p>
        </p:txBody>
      </p:sp>
      <p:pic>
        <p:nvPicPr>
          <p:cNvPr id="2" name="Pg26">
            <a:hlinkClick r:id="" action="ppaction://media"/>
            <a:extLst>
              <a:ext uri="{FF2B5EF4-FFF2-40B4-BE49-F238E27FC236}">
                <a16:creationId xmlns:a16="http://schemas.microsoft.com/office/drawing/2014/main" id="{986365FB-3FC1-45E9-A660-2AFC49557D9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12393" y="5871746"/>
            <a:ext cx="609600" cy="609600"/>
          </a:xfrm>
          <a:prstGeom prst="rect">
            <a:avLst/>
          </a:prstGeom>
        </p:spPr>
      </p:pic>
      <p:sp>
        <p:nvSpPr>
          <p:cNvPr id="6" name="Rectangle 5">
            <a:extLst>
              <a:ext uri="{FF2B5EF4-FFF2-40B4-BE49-F238E27FC236}">
                <a16:creationId xmlns:a16="http://schemas.microsoft.com/office/drawing/2014/main" id="{6D0FCB58-F01D-E166-1E78-497BA91B224C}"/>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286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5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8" name="Group 28"/>
          <p:cNvGrpSpPr>
            <a:grpSpLocks/>
          </p:cNvGrpSpPr>
          <p:nvPr/>
        </p:nvGrpSpPr>
        <p:grpSpPr bwMode="auto">
          <a:xfrm>
            <a:off x="947656" y="1593408"/>
            <a:ext cx="1439863" cy="1439862"/>
            <a:chOff x="612" y="1253"/>
            <a:chExt cx="907" cy="907"/>
          </a:xfrm>
        </p:grpSpPr>
        <p:grpSp>
          <p:nvGrpSpPr>
            <p:cNvPr id="61446" name="Group 6"/>
            <p:cNvGrpSpPr>
              <a:grpSpLocks/>
            </p:cNvGrpSpPr>
            <p:nvPr/>
          </p:nvGrpSpPr>
          <p:grpSpPr bwMode="auto">
            <a:xfrm>
              <a:off x="612" y="1253"/>
              <a:ext cx="907" cy="907"/>
              <a:chOff x="612" y="1253"/>
              <a:chExt cx="907" cy="907"/>
            </a:xfrm>
          </p:grpSpPr>
          <p:sp>
            <p:nvSpPr>
              <p:cNvPr id="61444" name="Line 4"/>
              <p:cNvSpPr>
                <a:spLocks noChangeShapeType="1"/>
              </p:cNvSpPr>
              <p:nvPr/>
            </p:nvSpPr>
            <p:spPr bwMode="auto">
              <a:xfrm>
                <a:off x="1066" y="1253"/>
                <a:ext cx="0" cy="90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5" name="Line 5"/>
              <p:cNvSpPr>
                <a:spLocks noChangeShapeType="1"/>
              </p:cNvSpPr>
              <p:nvPr/>
            </p:nvSpPr>
            <p:spPr bwMode="auto">
              <a:xfrm>
                <a:off x="612" y="1706"/>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1452" name="Group 12"/>
            <p:cNvGrpSpPr>
              <a:grpSpLocks/>
            </p:cNvGrpSpPr>
            <p:nvPr/>
          </p:nvGrpSpPr>
          <p:grpSpPr bwMode="auto">
            <a:xfrm>
              <a:off x="669" y="1763"/>
              <a:ext cx="312" cy="340"/>
              <a:chOff x="640" y="1281"/>
              <a:chExt cx="312" cy="340"/>
            </a:xfrm>
          </p:grpSpPr>
          <p:sp>
            <p:nvSpPr>
              <p:cNvPr id="61448" name="Oval 8"/>
              <p:cNvSpPr>
                <a:spLocks noChangeArrowheads="1"/>
              </p:cNvSpPr>
              <p:nvPr/>
            </p:nvSpPr>
            <p:spPr bwMode="auto">
              <a:xfrm>
                <a:off x="867"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49" name="Oval 9"/>
              <p:cNvSpPr>
                <a:spLocks noChangeArrowheads="1"/>
              </p:cNvSpPr>
              <p:nvPr/>
            </p:nvSpPr>
            <p:spPr bwMode="auto">
              <a:xfrm>
                <a:off x="640"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0" name="Oval 10"/>
              <p:cNvSpPr>
                <a:spLocks noChangeArrowheads="1"/>
              </p:cNvSpPr>
              <p:nvPr/>
            </p:nvSpPr>
            <p:spPr bwMode="auto">
              <a:xfrm>
                <a:off x="867"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1" name="Oval 11"/>
              <p:cNvSpPr>
                <a:spLocks noChangeArrowheads="1"/>
              </p:cNvSpPr>
              <p:nvPr/>
            </p:nvSpPr>
            <p:spPr bwMode="auto">
              <a:xfrm>
                <a:off x="640"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53" name="Group 13"/>
            <p:cNvGrpSpPr>
              <a:grpSpLocks/>
            </p:cNvGrpSpPr>
            <p:nvPr/>
          </p:nvGrpSpPr>
          <p:grpSpPr bwMode="auto">
            <a:xfrm>
              <a:off x="669" y="1310"/>
              <a:ext cx="312" cy="340"/>
              <a:chOff x="640" y="1281"/>
              <a:chExt cx="312" cy="340"/>
            </a:xfrm>
          </p:grpSpPr>
          <p:sp>
            <p:nvSpPr>
              <p:cNvPr id="61454" name="Oval 14"/>
              <p:cNvSpPr>
                <a:spLocks noChangeArrowheads="1"/>
              </p:cNvSpPr>
              <p:nvPr/>
            </p:nvSpPr>
            <p:spPr bwMode="auto">
              <a:xfrm>
                <a:off x="867"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5" name="Oval 15"/>
              <p:cNvSpPr>
                <a:spLocks noChangeArrowheads="1"/>
              </p:cNvSpPr>
              <p:nvPr/>
            </p:nvSpPr>
            <p:spPr bwMode="auto">
              <a:xfrm>
                <a:off x="640"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6" name="Oval 16"/>
              <p:cNvSpPr>
                <a:spLocks noChangeArrowheads="1"/>
              </p:cNvSpPr>
              <p:nvPr/>
            </p:nvSpPr>
            <p:spPr bwMode="auto">
              <a:xfrm>
                <a:off x="867"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7" name="Oval 17"/>
              <p:cNvSpPr>
                <a:spLocks noChangeArrowheads="1"/>
              </p:cNvSpPr>
              <p:nvPr/>
            </p:nvSpPr>
            <p:spPr bwMode="auto">
              <a:xfrm>
                <a:off x="640"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58" name="Group 18"/>
            <p:cNvGrpSpPr>
              <a:grpSpLocks/>
            </p:cNvGrpSpPr>
            <p:nvPr/>
          </p:nvGrpSpPr>
          <p:grpSpPr bwMode="auto">
            <a:xfrm>
              <a:off x="1151" y="1763"/>
              <a:ext cx="312" cy="340"/>
              <a:chOff x="640" y="1281"/>
              <a:chExt cx="312" cy="340"/>
            </a:xfrm>
          </p:grpSpPr>
          <p:sp>
            <p:nvSpPr>
              <p:cNvPr id="61459" name="Oval 19"/>
              <p:cNvSpPr>
                <a:spLocks noChangeArrowheads="1"/>
              </p:cNvSpPr>
              <p:nvPr/>
            </p:nvSpPr>
            <p:spPr bwMode="auto">
              <a:xfrm>
                <a:off x="867"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0" name="Oval 20"/>
              <p:cNvSpPr>
                <a:spLocks noChangeArrowheads="1"/>
              </p:cNvSpPr>
              <p:nvPr/>
            </p:nvSpPr>
            <p:spPr bwMode="auto">
              <a:xfrm>
                <a:off x="640"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1" name="Oval 21"/>
              <p:cNvSpPr>
                <a:spLocks noChangeArrowheads="1"/>
              </p:cNvSpPr>
              <p:nvPr/>
            </p:nvSpPr>
            <p:spPr bwMode="auto">
              <a:xfrm>
                <a:off x="867"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2" name="Oval 22"/>
              <p:cNvSpPr>
                <a:spLocks noChangeArrowheads="1"/>
              </p:cNvSpPr>
              <p:nvPr/>
            </p:nvSpPr>
            <p:spPr bwMode="auto">
              <a:xfrm>
                <a:off x="640"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463" name="Group 23"/>
            <p:cNvGrpSpPr>
              <a:grpSpLocks/>
            </p:cNvGrpSpPr>
            <p:nvPr/>
          </p:nvGrpSpPr>
          <p:grpSpPr bwMode="auto">
            <a:xfrm>
              <a:off x="1151" y="1310"/>
              <a:ext cx="312" cy="340"/>
              <a:chOff x="640" y="1281"/>
              <a:chExt cx="312" cy="340"/>
            </a:xfrm>
          </p:grpSpPr>
          <p:sp>
            <p:nvSpPr>
              <p:cNvPr id="61464" name="Oval 24"/>
              <p:cNvSpPr>
                <a:spLocks noChangeArrowheads="1"/>
              </p:cNvSpPr>
              <p:nvPr/>
            </p:nvSpPr>
            <p:spPr bwMode="auto">
              <a:xfrm>
                <a:off x="867"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5" name="Oval 25"/>
              <p:cNvSpPr>
                <a:spLocks noChangeArrowheads="1"/>
              </p:cNvSpPr>
              <p:nvPr/>
            </p:nvSpPr>
            <p:spPr bwMode="auto">
              <a:xfrm>
                <a:off x="640"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6" name="Oval 26"/>
              <p:cNvSpPr>
                <a:spLocks noChangeArrowheads="1"/>
              </p:cNvSpPr>
              <p:nvPr/>
            </p:nvSpPr>
            <p:spPr bwMode="auto">
              <a:xfrm>
                <a:off x="867"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7" name="Oval 27"/>
              <p:cNvSpPr>
                <a:spLocks noChangeArrowheads="1"/>
              </p:cNvSpPr>
              <p:nvPr/>
            </p:nvSpPr>
            <p:spPr bwMode="auto">
              <a:xfrm>
                <a:off x="640"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1551" name="Group 111"/>
          <p:cNvGrpSpPr>
            <a:grpSpLocks/>
          </p:cNvGrpSpPr>
          <p:nvPr/>
        </p:nvGrpSpPr>
        <p:grpSpPr bwMode="auto">
          <a:xfrm>
            <a:off x="3108244" y="1458470"/>
            <a:ext cx="1530350" cy="1574800"/>
            <a:chOff x="2398" y="1196"/>
            <a:chExt cx="964" cy="992"/>
          </a:xfrm>
        </p:grpSpPr>
        <p:grpSp>
          <p:nvGrpSpPr>
            <p:cNvPr id="61470" name="Group 30"/>
            <p:cNvGrpSpPr>
              <a:grpSpLocks/>
            </p:cNvGrpSpPr>
            <p:nvPr/>
          </p:nvGrpSpPr>
          <p:grpSpPr bwMode="auto">
            <a:xfrm>
              <a:off x="2426" y="1253"/>
              <a:ext cx="907" cy="907"/>
              <a:chOff x="612" y="1253"/>
              <a:chExt cx="907" cy="907"/>
            </a:xfrm>
          </p:grpSpPr>
          <p:sp>
            <p:nvSpPr>
              <p:cNvPr id="61471" name="Line 31"/>
              <p:cNvSpPr>
                <a:spLocks noChangeShapeType="1"/>
              </p:cNvSpPr>
              <p:nvPr/>
            </p:nvSpPr>
            <p:spPr bwMode="auto">
              <a:xfrm>
                <a:off x="1066" y="1253"/>
                <a:ext cx="0" cy="90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2" name="Line 32"/>
              <p:cNvSpPr>
                <a:spLocks noChangeShapeType="1"/>
              </p:cNvSpPr>
              <p:nvPr/>
            </p:nvSpPr>
            <p:spPr bwMode="auto">
              <a:xfrm>
                <a:off x="612" y="1706"/>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1517" name="Oval 77"/>
            <p:cNvSpPr>
              <a:spLocks noChangeArrowheads="1"/>
            </p:cNvSpPr>
            <p:nvPr/>
          </p:nvSpPr>
          <p:spPr bwMode="auto">
            <a:xfrm>
              <a:off x="2426" y="1253"/>
              <a:ext cx="907" cy="907"/>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8" name="Oval 78"/>
            <p:cNvSpPr>
              <a:spLocks noChangeArrowheads="1"/>
            </p:cNvSpPr>
            <p:nvPr/>
          </p:nvSpPr>
          <p:spPr bwMode="auto">
            <a:xfrm>
              <a:off x="3135" y="133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9" name="Oval 79"/>
            <p:cNvSpPr>
              <a:spLocks noChangeArrowheads="1"/>
            </p:cNvSpPr>
            <p:nvPr/>
          </p:nvSpPr>
          <p:spPr bwMode="auto">
            <a:xfrm>
              <a:off x="3163" y="199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0" name="Oval 80"/>
            <p:cNvSpPr>
              <a:spLocks noChangeArrowheads="1"/>
            </p:cNvSpPr>
            <p:nvPr/>
          </p:nvSpPr>
          <p:spPr bwMode="auto">
            <a:xfrm>
              <a:off x="2511" y="133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1" name="Oval 81"/>
            <p:cNvSpPr>
              <a:spLocks noChangeArrowheads="1"/>
            </p:cNvSpPr>
            <p:nvPr/>
          </p:nvSpPr>
          <p:spPr bwMode="auto">
            <a:xfrm>
              <a:off x="3277" y="165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2" name="Oval 82"/>
            <p:cNvSpPr>
              <a:spLocks noChangeArrowheads="1"/>
            </p:cNvSpPr>
            <p:nvPr/>
          </p:nvSpPr>
          <p:spPr bwMode="auto">
            <a:xfrm>
              <a:off x="2398" y="167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3" name="Oval 83"/>
            <p:cNvSpPr>
              <a:spLocks noChangeArrowheads="1"/>
            </p:cNvSpPr>
            <p:nvPr/>
          </p:nvSpPr>
          <p:spPr bwMode="auto">
            <a:xfrm>
              <a:off x="2823" y="2103"/>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5" name="Oval 85"/>
            <p:cNvSpPr>
              <a:spLocks noChangeArrowheads="1"/>
            </p:cNvSpPr>
            <p:nvPr/>
          </p:nvSpPr>
          <p:spPr bwMode="auto">
            <a:xfrm>
              <a:off x="3249" y="184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6" name="Oval 86"/>
            <p:cNvSpPr>
              <a:spLocks noChangeArrowheads="1"/>
            </p:cNvSpPr>
            <p:nvPr/>
          </p:nvSpPr>
          <p:spPr bwMode="auto">
            <a:xfrm>
              <a:off x="3022" y="2075"/>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7" name="Oval 87"/>
            <p:cNvSpPr>
              <a:spLocks noChangeArrowheads="1"/>
            </p:cNvSpPr>
            <p:nvPr/>
          </p:nvSpPr>
          <p:spPr bwMode="auto">
            <a:xfrm>
              <a:off x="2823" y="119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8" name="Oval 88"/>
            <p:cNvSpPr>
              <a:spLocks noChangeArrowheads="1"/>
            </p:cNvSpPr>
            <p:nvPr/>
          </p:nvSpPr>
          <p:spPr bwMode="auto">
            <a:xfrm>
              <a:off x="2993" y="1224"/>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9" name="Oval 89"/>
            <p:cNvSpPr>
              <a:spLocks noChangeArrowheads="1"/>
            </p:cNvSpPr>
            <p:nvPr/>
          </p:nvSpPr>
          <p:spPr bwMode="auto">
            <a:xfrm>
              <a:off x="2653" y="1253"/>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0" name="Oval 90"/>
            <p:cNvSpPr>
              <a:spLocks noChangeArrowheads="1"/>
            </p:cNvSpPr>
            <p:nvPr/>
          </p:nvSpPr>
          <p:spPr bwMode="auto">
            <a:xfrm>
              <a:off x="2426" y="148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1" name="Oval 91"/>
            <p:cNvSpPr>
              <a:spLocks noChangeArrowheads="1"/>
            </p:cNvSpPr>
            <p:nvPr/>
          </p:nvSpPr>
          <p:spPr bwMode="auto">
            <a:xfrm>
              <a:off x="2426" y="184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2" name="Oval 92"/>
            <p:cNvSpPr>
              <a:spLocks noChangeArrowheads="1"/>
            </p:cNvSpPr>
            <p:nvPr/>
          </p:nvSpPr>
          <p:spPr bwMode="auto">
            <a:xfrm>
              <a:off x="2653" y="2075"/>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3" name="Oval 93"/>
            <p:cNvSpPr>
              <a:spLocks noChangeArrowheads="1"/>
            </p:cNvSpPr>
            <p:nvPr/>
          </p:nvSpPr>
          <p:spPr bwMode="auto">
            <a:xfrm>
              <a:off x="2511" y="199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0" name="Oval 100"/>
            <p:cNvSpPr>
              <a:spLocks noChangeArrowheads="1"/>
            </p:cNvSpPr>
            <p:nvPr/>
          </p:nvSpPr>
          <p:spPr bwMode="auto">
            <a:xfrm>
              <a:off x="3249" y="148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1552" name="Group 112"/>
          <p:cNvGrpSpPr>
            <a:grpSpLocks/>
          </p:cNvGrpSpPr>
          <p:nvPr/>
        </p:nvGrpSpPr>
        <p:grpSpPr bwMode="auto">
          <a:xfrm>
            <a:off x="5340340" y="1533939"/>
            <a:ext cx="1530350" cy="1439862"/>
            <a:chOff x="4212" y="1253"/>
            <a:chExt cx="964" cy="907"/>
          </a:xfrm>
        </p:grpSpPr>
        <p:sp>
          <p:nvSpPr>
            <p:cNvPr id="61447" name="Oval 7"/>
            <p:cNvSpPr>
              <a:spLocks noChangeArrowheads="1"/>
            </p:cNvSpPr>
            <p:nvPr/>
          </p:nvSpPr>
          <p:spPr bwMode="auto">
            <a:xfrm>
              <a:off x="5063" y="184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1494" name="Group 54"/>
            <p:cNvGrpSpPr>
              <a:grpSpLocks/>
            </p:cNvGrpSpPr>
            <p:nvPr/>
          </p:nvGrpSpPr>
          <p:grpSpPr bwMode="auto">
            <a:xfrm>
              <a:off x="4241" y="1253"/>
              <a:ext cx="907" cy="907"/>
              <a:chOff x="612" y="1253"/>
              <a:chExt cx="907" cy="907"/>
            </a:xfrm>
          </p:grpSpPr>
          <p:sp>
            <p:nvSpPr>
              <p:cNvPr id="61495" name="Line 55"/>
              <p:cNvSpPr>
                <a:spLocks noChangeShapeType="1"/>
              </p:cNvSpPr>
              <p:nvPr/>
            </p:nvSpPr>
            <p:spPr bwMode="auto">
              <a:xfrm>
                <a:off x="1066" y="1253"/>
                <a:ext cx="0" cy="90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96" name="Line 56"/>
              <p:cNvSpPr>
                <a:spLocks noChangeShapeType="1"/>
              </p:cNvSpPr>
              <p:nvPr/>
            </p:nvSpPr>
            <p:spPr bwMode="auto">
              <a:xfrm>
                <a:off x="612" y="1706"/>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1524" name="Oval 84"/>
            <p:cNvSpPr>
              <a:spLocks noChangeArrowheads="1"/>
            </p:cNvSpPr>
            <p:nvPr/>
          </p:nvSpPr>
          <p:spPr bwMode="auto">
            <a:xfrm>
              <a:off x="4638" y="1423"/>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4" name="Oval 94"/>
            <p:cNvSpPr>
              <a:spLocks noChangeArrowheads="1"/>
            </p:cNvSpPr>
            <p:nvPr/>
          </p:nvSpPr>
          <p:spPr bwMode="auto">
            <a:xfrm>
              <a:off x="4836" y="148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5" name="Oval 95"/>
            <p:cNvSpPr>
              <a:spLocks noChangeArrowheads="1"/>
            </p:cNvSpPr>
            <p:nvPr/>
          </p:nvSpPr>
          <p:spPr bwMode="auto">
            <a:xfrm>
              <a:off x="4468" y="1480"/>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6" name="Oval 96"/>
            <p:cNvSpPr>
              <a:spLocks noChangeArrowheads="1"/>
            </p:cNvSpPr>
            <p:nvPr/>
          </p:nvSpPr>
          <p:spPr bwMode="auto">
            <a:xfrm>
              <a:off x="4468" y="184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7" name="Oval 97"/>
            <p:cNvSpPr>
              <a:spLocks noChangeArrowheads="1"/>
            </p:cNvSpPr>
            <p:nvPr/>
          </p:nvSpPr>
          <p:spPr bwMode="auto">
            <a:xfrm>
              <a:off x="4921" y="167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8" name="Oval 98"/>
            <p:cNvSpPr>
              <a:spLocks noChangeArrowheads="1"/>
            </p:cNvSpPr>
            <p:nvPr/>
          </p:nvSpPr>
          <p:spPr bwMode="auto">
            <a:xfrm>
              <a:off x="4411" y="167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39" name="Oval 99"/>
            <p:cNvSpPr>
              <a:spLocks noChangeArrowheads="1"/>
            </p:cNvSpPr>
            <p:nvPr/>
          </p:nvSpPr>
          <p:spPr bwMode="auto">
            <a:xfrm>
              <a:off x="4666" y="1933"/>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1" name="Oval 101"/>
            <p:cNvSpPr>
              <a:spLocks noChangeArrowheads="1"/>
            </p:cNvSpPr>
            <p:nvPr/>
          </p:nvSpPr>
          <p:spPr bwMode="auto">
            <a:xfrm>
              <a:off x="4241" y="1253"/>
              <a:ext cx="907" cy="907"/>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2" name="Oval 102"/>
            <p:cNvSpPr>
              <a:spLocks noChangeArrowheads="1"/>
            </p:cNvSpPr>
            <p:nvPr/>
          </p:nvSpPr>
          <p:spPr bwMode="auto">
            <a:xfrm>
              <a:off x="4439" y="1451"/>
              <a:ext cx="539" cy="53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3" name="Oval 103"/>
            <p:cNvSpPr>
              <a:spLocks noChangeArrowheads="1"/>
            </p:cNvSpPr>
            <p:nvPr/>
          </p:nvSpPr>
          <p:spPr bwMode="auto">
            <a:xfrm>
              <a:off x="5091" y="150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4" name="Oval 104"/>
            <p:cNvSpPr>
              <a:spLocks noChangeArrowheads="1"/>
            </p:cNvSpPr>
            <p:nvPr/>
          </p:nvSpPr>
          <p:spPr bwMode="auto">
            <a:xfrm>
              <a:off x="4836" y="1253"/>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5" name="Oval 105"/>
            <p:cNvSpPr>
              <a:spLocks noChangeArrowheads="1"/>
            </p:cNvSpPr>
            <p:nvPr/>
          </p:nvSpPr>
          <p:spPr bwMode="auto">
            <a:xfrm>
              <a:off x="4411" y="1281"/>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6" name="Oval 106"/>
            <p:cNvSpPr>
              <a:spLocks noChangeArrowheads="1"/>
            </p:cNvSpPr>
            <p:nvPr/>
          </p:nvSpPr>
          <p:spPr bwMode="auto">
            <a:xfrm>
              <a:off x="4212" y="1536"/>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7" name="Oval 107"/>
            <p:cNvSpPr>
              <a:spLocks noChangeArrowheads="1"/>
            </p:cNvSpPr>
            <p:nvPr/>
          </p:nvSpPr>
          <p:spPr bwMode="auto">
            <a:xfrm>
              <a:off x="4241" y="1848"/>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8" name="Oval 108"/>
            <p:cNvSpPr>
              <a:spLocks noChangeArrowheads="1"/>
            </p:cNvSpPr>
            <p:nvPr/>
          </p:nvSpPr>
          <p:spPr bwMode="auto">
            <a:xfrm>
              <a:off x="4439" y="2075"/>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9" name="Oval 109"/>
            <p:cNvSpPr>
              <a:spLocks noChangeArrowheads="1"/>
            </p:cNvSpPr>
            <p:nvPr/>
          </p:nvSpPr>
          <p:spPr bwMode="auto">
            <a:xfrm>
              <a:off x="4864" y="1877"/>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0" name="Oval 110"/>
            <p:cNvSpPr>
              <a:spLocks noChangeArrowheads="1"/>
            </p:cNvSpPr>
            <p:nvPr/>
          </p:nvSpPr>
          <p:spPr bwMode="auto">
            <a:xfrm>
              <a:off x="4864" y="2075"/>
              <a:ext cx="85" cy="8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553" name="Text Box 113"/>
          <p:cNvSpPr txBox="1">
            <a:spLocks noChangeArrowheads="1"/>
          </p:cNvSpPr>
          <p:nvPr/>
        </p:nvSpPr>
        <p:spPr bwMode="auto">
          <a:xfrm>
            <a:off x="1169905" y="3057083"/>
            <a:ext cx="10438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16 QAM</a:t>
            </a:r>
            <a:endParaRPr lang="en-GB" altLang="en-US" sz="2000" dirty="0"/>
          </a:p>
        </p:txBody>
      </p:sp>
      <p:sp>
        <p:nvSpPr>
          <p:cNvPr id="61554" name="Text Box 114"/>
          <p:cNvSpPr txBox="1">
            <a:spLocks noChangeArrowheads="1"/>
          </p:cNvSpPr>
          <p:nvPr/>
        </p:nvSpPr>
        <p:spPr bwMode="auto">
          <a:xfrm>
            <a:off x="5656254" y="3116676"/>
            <a:ext cx="10358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16 APSK</a:t>
            </a:r>
            <a:endParaRPr lang="en-GB" altLang="en-US" sz="2000"/>
          </a:p>
        </p:txBody>
      </p:sp>
      <p:sp>
        <p:nvSpPr>
          <p:cNvPr id="61555" name="Text Box 115"/>
          <p:cNvSpPr txBox="1">
            <a:spLocks noChangeArrowheads="1"/>
          </p:cNvSpPr>
          <p:nvPr/>
        </p:nvSpPr>
        <p:spPr bwMode="auto">
          <a:xfrm>
            <a:off x="3333670" y="3131695"/>
            <a:ext cx="8867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16 PSK</a:t>
            </a:r>
            <a:endParaRPr lang="en-GB" altLang="en-US" sz="2000" dirty="0"/>
          </a:p>
        </p:txBody>
      </p:sp>
      <p:sp>
        <p:nvSpPr>
          <p:cNvPr id="77"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M-</a:t>
            </a:r>
            <a:r>
              <a:rPr lang="en-GB" sz="2400" b="1" dirty="0" err="1">
                <a:solidFill>
                  <a:srgbClr val="C00000"/>
                </a:solidFill>
                <a:latin typeface="Arial Black" panose="020B0A04020102020204" pitchFamily="34" charset="0"/>
              </a:rPr>
              <a:t>ary</a:t>
            </a:r>
            <a:r>
              <a:rPr lang="en-GB" sz="2400" b="1" dirty="0">
                <a:solidFill>
                  <a:srgbClr val="C00000"/>
                </a:solidFill>
                <a:latin typeface="Arial Black" panose="020B0A04020102020204" pitchFamily="34" charset="0"/>
              </a:rPr>
              <a:t> Modulation Constellation Diagram  </a:t>
            </a:r>
            <a:endParaRPr lang="en-US" sz="2400" b="1" dirty="0">
              <a:solidFill>
                <a:srgbClr val="C00000"/>
              </a:solidFill>
              <a:latin typeface="Arial Black" panose="020B0A04020102020204" pitchFamily="34" charset="0"/>
            </a:endParaRPr>
          </a:p>
        </p:txBody>
      </p:sp>
      <p:pic>
        <p:nvPicPr>
          <p:cNvPr id="3" name="Picture 2"/>
          <p:cNvPicPr>
            <a:picLocks noChangeAspect="1"/>
          </p:cNvPicPr>
          <p:nvPr/>
        </p:nvPicPr>
        <p:blipFill>
          <a:blip r:embed="rId4"/>
          <a:stretch>
            <a:fillRect/>
          </a:stretch>
        </p:blipFill>
        <p:spPr>
          <a:xfrm>
            <a:off x="7855643" y="1186214"/>
            <a:ext cx="3629025" cy="3200400"/>
          </a:xfrm>
          <a:prstGeom prst="rect">
            <a:avLst/>
          </a:prstGeom>
        </p:spPr>
      </p:pic>
      <p:sp>
        <p:nvSpPr>
          <p:cNvPr id="424" name="Text Box 113"/>
          <p:cNvSpPr txBox="1">
            <a:spLocks noChangeArrowheads="1"/>
          </p:cNvSpPr>
          <p:nvPr/>
        </p:nvSpPr>
        <p:spPr bwMode="auto">
          <a:xfrm>
            <a:off x="9148217" y="4456256"/>
            <a:ext cx="10438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64 QAM</a:t>
            </a:r>
            <a:endParaRPr lang="en-GB" altLang="en-US" sz="2000" dirty="0"/>
          </a:p>
        </p:txBody>
      </p:sp>
      <p:sp>
        <p:nvSpPr>
          <p:cNvPr id="4" name="Rectangle 3"/>
          <p:cNvSpPr/>
          <p:nvPr/>
        </p:nvSpPr>
        <p:spPr>
          <a:xfrm>
            <a:off x="869870" y="3986527"/>
            <a:ext cx="6096000" cy="1281569"/>
          </a:xfrm>
          <a:prstGeom prst="rect">
            <a:avLst/>
          </a:prstGeom>
        </p:spPr>
        <p:txBody>
          <a:bodyPr>
            <a:spAutoFit/>
          </a:bodyPr>
          <a:lstStyle/>
          <a:p>
            <a:pPr algn="just">
              <a:lnSpc>
                <a:spcPct val="80000"/>
              </a:lnSpc>
            </a:pPr>
            <a:r>
              <a:rPr lang="en-US" altLang="en-US" sz="2400" dirty="0"/>
              <a:t>Amplitude and phase shift keying can be combined to transmit several bits per symbol. They are more bandwidth-efficient, but more susceptible to noise.</a:t>
            </a:r>
          </a:p>
        </p:txBody>
      </p:sp>
      <p:sp>
        <p:nvSpPr>
          <p:cNvPr id="80" name="Rectangle 79">
            <a:extLst>
              <a:ext uri="{FF2B5EF4-FFF2-40B4-BE49-F238E27FC236}">
                <a16:creationId xmlns:a16="http://schemas.microsoft.com/office/drawing/2014/main" id="{C8D7854B-DF2C-480E-A4EF-29D3324DE7BE}"/>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82" name="Footer Placeholder 4">
            <a:extLst>
              <a:ext uri="{FF2B5EF4-FFF2-40B4-BE49-F238E27FC236}">
                <a16:creationId xmlns:a16="http://schemas.microsoft.com/office/drawing/2014/main" id="{B15B8363-2A2B-499F-9F10-87A51A7E896D}"/>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27 of 41</a:t>
            </a:r>
            <a:endParaRPr lang="en-US" sz="1200" dirty="0"/>
          </a:p>
        </p:txBody>
      </p:sp>
      <p:pic>
        <p:nvPicPr>
          <p:cNvPr id="2" name="Pg27">
            <a:hlinkClick r:id="" action="ppaction://media"/>
            <a:extLst>
              <a:ext uri="{FF2B5EF4-FFF2-40B4-BE49-F238E27FC236}">
                <a16:creationId xmlns:a16="http://schemas.microsoft.com/office/drawing/2014/main" id="{9D463755-8096-4AEA-842F-65F0A1236A3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4425" y="5671786"/>
            <a:ext cx="609600" cy="609600"/>
          </a:xfrm>
          <a:prstGeom prst="rect">
            <a:avLst/>
          </a:prstGeom>
        </p:spPr>
      </p:pic>
      <p:sp>
        <p:nvSpPr>
          <p:cNvPr id="5" name="Rectangle 4">
            <a:extLst>
              <a:ext uri="{FF2B5EF4-FFF2-40B4-BE49-F238E27FC236}">
                <a16:creationId xmlns:a16="http://schemas.microsoft.com/office/drawing/2014/main" id="{26BA724E-93DF-0AD1-372E-000E0A99EAA0}"/>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5607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95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9" name="Group 176"/>
          <p:cNvGrpSpPr>
            <a:grpSpLocks/>
          </p:cNvGrpSpPr>
          <p:nvPr/>
        </p:nvGrpSpPr>
        <p:grpSpPr bwMode="auto">
          <a:xfrm>
            <a:off x="2168525" y="1683109"/>
            <a:ext cx="7359650" cy="4621213"/>
            <a:chOff x="415" y="681"/>
            <a:chExt cx="4636" cy="2911"/>
          </a:xfrm>
        </p:grpSpPr>
        <p:grpSp>
          <p:nvGrpSpPr>
            <p:cNvPr id="50182" name="Group 3"/>
            <p:cNvGrpSpPr>
              <a:grpSpLocks/>
            </p:cNvGrpSpPr>
            <p:nvPr/>
          </p:nvGrpSpPr>
          <p:grpSpPr bwMode="auto">
            <a:xfrm>
              <a:off x="415" y="681"/>
              <a:ext cx="2110" cy="2147"/>
              <a:chOff x="480" y="1200"/>
              <a:chExt cx="2109" cy="2147"/>
            </a:xfrm>
          </p:grpSpPr>
          <p:sp>
            <p:nvSpPr>
              <p:cNvPr id="50318" name="Rectangle 4"/>
              <p:cNvSpPr>
                <a:spLocks noChangeArrowheads="1"/>
              </p:cNvSpPr>
              <p:nvPr/>
            </p:nvSpPr>
            <p:spPr bwMode="auto">
              <a:xfrm>
                <a:off x="480" y="1200"/>
                <a:ext cx="2109" cy="2147"/>
              </a:xfrm>
              <a:prstGeom prst="rect">
                <a:avLst/>
              </a:prstGeom>
              <a:solidFill>
                <a:srgbClr val="FFFFFF"/>
              </a:solidFill>
              <a:ln w="19050">
                <a:solidFill>
                  <a:srgbClr val="FFFFFF"/>
                </a:solidFill>
                <a:miter lim="800000"/>
                <a:headEnd/>
                <a:tailEnd/>
              </a:ln>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19" name="Oval 5"/>
              <p:cNvSpPr>
                <a:spLocks noChangeArrowheads="1"/>
              </p:cNvSpPr>
              <p:nvPr/>
            </p:nvSpPr>
            <p:spPr bwMode="auto">
              <a:xfrm>
                <a:off x="1757" y="1986"/>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0" name="Oval 6"/>
              <p:cNvSpPr>
                <a:spLocks noChangeArrowheads="1"/>
              </p:cNvSpPr>
              <p:nvPr/>
            </p:nvSpPr>
            <p:spPr bwMode="auto">
              <a:xfrm>
                <a:off x="1324" y="1986"/>
                <a:ext cx="46"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1" name="Oval 7"/>
              <p:cNvSpPr>
                <a:spLocks noChangeArrowheads="1"/>
              </p:cNvSpPr>
              <p:nvPr/>
            </p:nvSpPr>
            <p:spPr bwMode="auto">
              <a:xfrm>
                <a:off x="1757" y="2420"/>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2" name="Oval 8"/>
              <p:cNvSpPr>
                <a:spLocks noChangeArrowheads="1"/>
              </p:cNvSpPr>
              <p:nvPr/>
            </p:nvSpPr>
            <p:spPr bwMode="auto">
              <a:xfrm>
                <a:off x="1324" y="2420"/>
                <a:ext cx="46"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3" name="Oval 9"/>
              <p:cNvSpPr>
                <a:spLocks noChangeArrowheads="1"/>
              </p:cNvSpPr>
              <p:nvPr/>
            </p:nvSpPr>
            <p:spPr bwMode="auto">
              <a:xfrm>
                <a:off x="2179" y="1986"/>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4" name="Oval 10"/>
              <p:cNvSpPr>
                <a:spLocks noChangeArrowheads="1"/>
              </p:cNvSpPr>
              <p:nvPr/>
            </p:nvSpPr>
            <p:spPr bwMode="auto">
              <a:xfrm>
                <a:off x="902" y="1986"/>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5" name="Oval 11"/>
              <p:cNvSpPr>
                <a:spLocks noChangeArrowheads="1"/>
              </p:cNvSpPr>
              <p:nvPr/>
            </p:nvSpPr>
            <p:spPr bwMode="auto">
              <a:xfrm>
                <a:off x="2179" y="2420"/>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6" name="Oval 12"/>
              <p:cNvSpPr>
                <a:spLocks noChangeArrowheads="1"/>
              </p:cNvSpPr>
              <p:nvPr/>
            </p:nvSpPr>
            <p:spPr bwMode="auto">
              <a:xfrm>
                <a:off x="902" y="2420"/>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7" name="Oval 13"/>
              <p:cNvSpPr>
                <a:spLocks noChangeArrowheads="1"/>
              </p:cNvSpPr>
              <p:nvPr/>
            </p:nvSpPr>
            <p:spPr bwMode="auto">
              <a:xfrm>
                <a:off x="1757" y="1564"/>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8" name="Oval 14"/>
              <p:cNvSpPr>
                <a:spLocks noChangeArrowheads="1"/>
              </p:cNvSpPr>
              <p:nvPr/>
            </p:nvSpPr>
            <p:spPr bwMode="auto">
              <a:xfrm>
                <a:off x="1324" y="1564"/>
                <a:ext cx="46"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29" name="Oval 15"/>
              <p:cNvSpPr>
                <a:spLocks noChangeArrowheads="1"/>
              </p:cNvSpPr>
              <p:nvPr/>
            </p:nvSpPr>
            <p:spPr bwMode="auto">
              <a:xfrm>
                <a:off x="1757" y="2843"/>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0" name="Oval 16"/>
              <p:cNvSpPr>
                <a:spLocks noChangeArrowheads="1"/>
              </p:cNvSpPr>
              <p:nvPr/>
            </p:nvSpPr>
            <p:spPr bwMode="auto">
              <a:xfrm>
                <a:off x="1324" y="2843"/>
                <a:ext cx="46"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1" name="Oval 17"/>
              <p:cNvSpPr>
                <a:spLocks noChangeArrowheads="1"/>
              </p:cNvSpPr>
              <p:nvPr/>
            </p:nvSpPr>
            <p:spPr bwMode="auto">
              <a:xfrm>
                <a:off x="2179" y="1564"/>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2" name="Oval 18"/>
              <p:cNvSpPr>
                <a:spLocks noChangeArrowheads="1"/>
              </p:cNvSpPr>
              <p:nvPr/>
            </p:nvSpPr>
            <p:spPr bwMode="auto">
              <a:xfrm>
                <a:off x="902" y="1564"/>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3" name="Oval 19"/>
              <p:cNvSpPr>
                <a:spLocks noChangeArrowheads="1"/>
              </p:cNvSpPr>
              <p:nvPr/>
            </p:nvSpPr>
            <p:spPr bwMode="auto">
              <a:xfrm>
                <a:off x="2179" y="2843"/>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4" name="Oval 20"/>
              <p:cNvSpPr>
                <a:spLocks noChangeArrowheads="1"/>
              </p:cNvSpPr>
              <p:nvPr/>
            </p:nvSpPr>
            <p:spPr bwMode="auto">
              <a:xfrm>
                <a:off x="902" y="2843"/>
                <a:ext cx="47" cy="4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335" name="Line 21"/>
              <p:cNvSpPr>
                <a:spLocks noChangeShapeType="1"/>
              </p:cNvSpPr>
              <p:nvPr/>
            </p:nvSpPr>
            <p:spPr bwMode="auto">
              <a:xfrm>
                <a:off x="749" y="2221"/>
                <a:ext cx="160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336" name="Line 22"/>
              <p:cNvSpPr>
                <a:spLocks noChangeShapeType="1"/>
              </p:cNvSpPr>
              <p:nvPr/>
            </p:nvSpPr>
            <p:spPr bwMode="auto">
              <a:xfrm flipV="1">
                <a:off x="1558" y="1575"/>
                <a:ext cx="1" cy="127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337" name="Rectangle 23"/>
              <p:cNvSpPr>
                <a:spLocks noChangeArrowheads="1"/>
              </p:cNvSpPr>
              <p:nvPr/>
            </p:nvSpPr>
            <p:spPr bwMode="auto">
              <a:xfrm>
                <a:off x="1769" y="19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0</a:t>
                </a:r>
                <a:endParaRPr lang="en-US" altLang="en-US" sz="1600"/>
              </a:p>
            </p:txBody>
          </p:sp>
          <p:sp>
            <p:nvSpPr>
              <p:cNvPr id="50338" name="Rectangle 24"/>
              <p:cNvSpPr>
                <a:spLocks noChangeArrowheads="1"/>
              </p:cNvSpPr>
              <p:nvPr/>
            </p:nvSpPr>
            <p:spPr bwMode="auto">
              <a:xfrm>
                <a:off x="1335" y="19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a:t>
                </a:r>
                <a:endParaRPr lang="en-US" altLang="en-US" sz="1600"/>
              </a:p>
            </p:txBody>
          </p:sp>
          <p:sp>
            <p:nvSpPr>
              <p:cNvPr id="50339" name="Rectangle 25"/>
              <p:cNvSpPr>
                <a:spLocks noChangeArrowheads="1"/>
              </p:cNvSpPr>
              <p:nvPr/>
            </p:nvSpPr>
            <p:spPr bwMode="auto">
              <a:xfrm>
                <a:off x="1769" y="235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2</a:t>
                </a:r>
                <a:endParaRPr lang="en-US" altLang="en-US" sz="1600"/>
              </a:p>
            </p:txBody>
          </p:sp>
          <p:sp>
            <p:nvSpPr>
              <p:cNvPr id="50340" name="Rectangle 26"/>
              <p:cNvSpPr>
                <a:spLocks noChangeArrowheads="1"/>
              </p:cNvSpPr>
              <p:nvPr/>
            </p:nvSpPr>
            <p:spPr bwMode="auto">
              <a:xfrm>
                <a:off x="1335" y="235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3</a:t>
                </a:r>
                <a:endParaRPr lang="en-US" altLang="en-US" sz="1600"/>
              </a:p>
            </p:txBody>
          </p:sp>
          <p:sp>
            <p:nvSpPr>
              <p:cNvPr id="50341" name="Rectangle 27"/>
              <p:cNvSpPr>
                <a:spLocks noChangeArrowheads="1"/>
              </p:cNvSpPr>
              <p:nvPr/>
            </p:nvSpPr>
            <p:spPr bwMode="auto">
              <a:xfrm>
                <a:off x="2191" y="19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4</a:t>
                </a:r>
                <a:endParaRPr lang="en-US" altLang="en-US" sz="1600"/>
              </a:p>
            </p:txBody>
          </p:sp>
          <p:sp>
            <p:nvSpPr>
              <p:cNvPr id="50342" name="Rectangle 28"/>
              <p:cNvSpPr>
                <a:spLocks noChangeArrowheads="1"/>
              </p:cNvSpPr>
              <p:nvPr/>
            </p:nvSpPr>
            <p:spPr bwMode="auto">
              <a:xfrm>
                <a:off x="913" y="19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5</a:t>
                </a:r>
                <a:endParaRPr lang="en-US" altLang="en-US" sz="1600"/>
              </a:p>
            </p:txBody>
          </p:sp>
          <p:sp>
            <p:nvSpPr>
              <p:cNvPr id="50343" name="Rectangle 29"/>
              <p:cNvSpPr>
                <a:spLocks noChangeArrowheads="1"/>
              </p:cNvSpPr>
              <p:nvPr/>
            </p:nvSpPr>
            <p:spPr bwMode="auto">
              <a:xfrm>
                <a:off x="2191" y="235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6</a:t>
                </a:r>
                <a:endParaRPr lang="en-US" altLang="en-US" sz="1600"/>
              </a:p>
            </p:txBody>
          </p:sp>
          <p:sp>
            <p:nvSpPr>
              <p:cNvPr id="50344" name="Rectangle 30"/>
              <p:cNvSpPr>
                <a:spLocks noChangeArrowheads="1"/>
              </p:cNvSpPr>
              <p:nvPr/>
            </p:nvSpPr>
            <p:spPr bwMode="auto">
              <a:xfrm>
                <a:off x="913" y="235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7</a:t>
                </a:r>
                <a:endParaRPr lang="en-US" altLang="en-US" sz="1600"/>
              </a:p>
            </p:txBody>
          </p:sp>
          <p:sp>
            <p:nvSpPr>
              <p:cNvPr id="50345" name="Rectangle 31"/>
              <p:cNvSpPr>
                <a:spLocks noChangeArrowheads="1"/>
              </p:cNvSpPr>
              <p:nvPr/>
            </p:nvSpPr>
            <p:spPr bwMode="auto">
              <a:xfrm>
                <a:off x="1769" y="149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8</a:t>
                </a:r>
                <a:endParaRPr lang="en-US" altLang="en-US" sz="1600"/>
              </a:p>
            </p:txBody>
          </p:sp>
          <p:sp>
            <p:nvSpPr>
              <p:cNvPr id="50346" name="Rectangle 32"/>
              <p:cNvSpPr>
                <a:spLocks noChangeArrowheads="1"/>
              </p:cNvSpPr>
              <p:nvPr/>
            </p:nvSpPr>
            <p:spPr bwMode="auto">
              <a:xfrm>
                <a:off x="1335" y="149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9</a:t>
                </a:r>
                <a:endParaRPr lang="en-US" altLang="en-US" sz="1600"/>
              </a:p>
            </p:txBody>
          </p:sp>
          <p:sp>
            <p:nvSpPr>
              <p:cNvPr id="50347" name="Rectangle 33"/>
              <p:cNvSpPr>
                <a:spLocks noChangeArrowheads="1"/>
              </p:cNvSpPr>
              <p:nvPr/>
            </p:nvSpPr>
            <p:spPr bwMode="auto">
              <a:xfrm>
                <a:off x="1769" y="27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10</a:t>
                </a:r>
                <a:endParaRPr lang="en-US" altLang="en-US" sz="1600"/>
              </a:p>
            </p:txBody>
          </p:sp>
          <p:sp>
            <p:nvSpPr>
              <p:cNvPr id="50348" name="Rectangle 34"/>
              <p:cNvSpPr>
                <a:spLocks noChangeArrowheads="1"/>
              </p:cNvSpPr>
              <p:nvPr/>
            </p:nvSpPr>
            <p:spPr bwMode="auto">
              <a:xfrm>
                <a:off x="1335" y="2772"/>
                <a:ext cx="15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11</a:t>
                </a:r>
                <a:endParaRPr lang="en-US" altLang="en-US" sz="1600"/>
              </a:p>
            </p:txBody>
          </p:sp>
          <p:sp>
            <p:nvSpPr>
              <p:cNvPr id="50349" name="Rectangle 35"/>
              <p:cNvSpPr>
                <a:spLocks noChangeArrowheads="1"/>
              </p:cNvSpPr>
              <p:nvPr/>
            </p:nvSpPr>
            <p:spPr bwMode="auto">
              <a:xfrm>
                <a:off x="2191" y="1493"/>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12</a:t>
                </a:r>
                <a:endParaRPr lang="en-US" altLang="en-US" sz="1600"/>
              </a:p>
            </p:txBody>
          </p:sp>
          <p:sp>
            <p:nvSpPr>
              <p:cNvPr id="50350" name="Rectangle 36"/>
              <p:cNvSpPr>
                <a:spLocks noChangeArrowheads="1"/>
              </p:cNvSpPr>
              <p:nvPr/>
            </p:nvSpPr>
            <p:spPr bwMode="auto">
              <a:xfrm>
                <a:off x="913" y="1493"/>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13</a:t>
                </a:r>
                <a:endParaRPr lang="en-US" altLang="en-US" sz="1600"/>
              </a:p>
            </p:txBody>
          </p:sp>
          <p:sp>
            <p:nvSpPr>
              <p:cNvPr id="50351" name="Rectangle 37"/>
              <p:cNvSpPr>
                <a:spLocks noChangeArrowheads="1"/>
              </p:cNvSpPr>
              <p:nvPr/>
            </p:nvSpPr>
            <p:spPr bwMode="auto">
              <a:xfrm>
                <a:off x="2191" y="27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dirty="0">
                    <a:solidFill>
                      <a:srgbClr val="000000"/>
                    </a:solidFill>
                    <a:latin typeface="Helvetica" panose="020B0604020202020204" pitchFamily="34" charset="0"/>
                  </a:rPr>
                  <a:t>14</a:t>
                </a:r>
                <a:endParaRPr lang="en-US" altLang="en-US" sz="1600" dirty="0"/>
              </a:p>
            </p:txBody>
          </p:sp>
          <p:sp>
            <p:nvSpPr>
              <p:cNvPr id="50352" name="Rectangle 38"/>
              <p:cNvSpPr>
                <a:spLocks noChangeArrowheads="1"/>
              </p:cNvSpPr>
              <p:nvPr/>
            </p:nvSpPr>
            <p:spPr bwMode="auto">
              <a:xfrm>
                <a:off x="913" y="27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800">
                    <a:solidFill>
                      <a:srgbClr val="000000"/>
                    </a:solidFill>
                    <a:latin typeface="Helvetica" panose="020B0604020202020204" pitchFamily="34" charset="0"/>
                  </a:rPr>
                  <a:t>15</a:t>
                </a:r>
                <a:endParaRPr lang="en-US" altLang="en-US" sz="1600"/>
              </a:p>
            </p:txBody>
          </p:sp>
        </p:grpSp>
        <p:grpSp>
          <p:nvGrpSpPr>
            <p:cNvPr id="50183" name="Group 39"/>
            <p:cNvGrpSpPr>
              <a:grpSpLocks/>
            </p:cNvGrpSpPr>
            <p:nvPr/>
          </p:nvGrpSpPr>
          <p:grpSpPr bwMode="auto">
            <a:xfrm>
              <a:off x="2892" y="752"/>
              <a:ext cx="2159" cy="1927"/>
              <a:chOff x="2909" y="1388"/>
              <a:chExt cx="2158" cy="1927"/>
            </a:xfrm>
          </p:grpSpPr>
          <p:sp>
            <p:nvSpPr>
              <p:cNvPr id="50188" name="Oval 40"/>
              <p:cNvSpPr>
                <a:spLocks noChangeArrowheads="1"/>
              </p:cNvSpPr>
              <p:nvPr/>
            </p:nvSpPr>
            <p:spPr bwMode="auto">
              <a:xfrm>
                <a:off x="4031" y="2215"/>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89" name="Oval 41"/>
              <p:cNvSpPr>
                <a:spLocks noChangeArrowheads="1"/>
              </p:cNvSpPr>
              <p:nvPr/>
            </p:nvSpPr>
            <p:spPr bwMode="auto">
              <a:xfrm>
                <a:off x="3758" y="2215"/>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0" name="Oval 42"/>
              <p:cNvSpPr>
                <a:spLocks noChangeArrowheads="1"/>
              </p:cNvSpPr>
              <p:nvPr/>
            </p:nvSpPr>
            <p:spPr bwMode="auto">
              <a:xfrm>
                <a:off x="4031" y="245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1" name="Oval 43"/>
              <p:cNvSpPr>
                <a:spLocks noChangeArrowheads="1"/>
              </p:cNvSpPr>
              <p:nvPr/>
            </p:nvSpPr>
            <p:spPr bwMode="auto">
              <a:xfrm>
                <a:off x="3758" y="245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2" name="Oval 44"/>
              <p:cNvSpPr>
                <a:spLocks noChangeArrowheads="1"/>
              </p:cNvSpPr>
              <p:nvPr/>
            </p:nvSpPr>
            <p:spPr bwMode="auto">
              <a:xfrm>
                <a:off x="3196" y="2215"/>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3" name="Oval 45"/>
              <p:cNvSpPr>
                <a:spLocks noChangeArrowheads="1"/>
              </p:cNvSpPr>
              <p:nvPr/>
            </p:nvSpPr>
            <p:spPr bwMode="auto">
              <a:xfrm>
                <a:off x="3470" y="2215"/>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4" name="Oval 46"/>
              <p:cNvSpPr>
                <a:spLocks noChangeArrowheads="1"/>
              </p:cNvSpPr>
              <p:nvPr/>
            </p:nvSpPr>
            <p:spPr bwMode="auto">
              <a:xfrm>
                <a:off x="3196" y="245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5" name="Oval 47"/>
              <p:cNvSpPr>
                <a:spLocks noChangeArrowheads="1"/>
              </p:cNvSpPr>
              <p:nvPr/>
            </p:nvSpPr>
            <p:spPr bwMode="auto">
              <a:xfrm>
                <a:off x="3470" y="245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6" name="Oval 48"/>
              <p:cNvSpPr>
                <a:spLocks noChangeArrowheads="1"/>
              </p:cNvSpPr>
              <p:nvPr/>
            </p:nvSpPr>
            <p:spPr bwMode="auto">
              <a:xfrm>
                <a:off x="4031" y="2953"/>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7" name="Oval 49"/>
              <p:cNvSpPr>
                <a:spLocks noChangeArrowheads="1"/>
              </p:cNvSpPr>
              <p:nvPr/>
            </p:nvSpPr>
            <p:spPr bwMode="auto">
              <a:xfrm>
                <a:off x="3758" y="2953"/>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8" name="Oval 50"/>
              <p:cNvSpPr>
                <a:spLocks noChangeArrowheads="1"/>
              </p:cNvSpPr>
              <p:nvPr/>
            </p:nvSpPr>
            <p:spPr bwMode="auto">
              <a:xfrm>
                <a:off x="4031" y="2711"/>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199" name="Oval 51"/>
              <p:cNvSpPr>
                <a:spLocks noChangeArrowheads="1"/>
              </p:cNvSpPr>
              <p:nvPr/>
            </p:nvSpPr>
            <p:spPr bwMode="auto">
              <a:xfrm>
                <a:off x="3758" y="2711"/>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0" name="Oval 52"/>
              <p:cNvSpPr>
                <a:spLocks noChangeArrowheads="1"/>
              </p:cNvSpPr>
              <p:nvPr/>
            </p:nvSpPr>
            <p:spPr bwMode="auto">
              <a:xfrm>
                <a:off x="3196" y="2953"/>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1" name="Oval 53"/>
              <p:cNvSpPr>
                <a:spLocks noChangeArrowheads="1"/>
              </p:cNvSpPr>
              <p:nvPr/>
            </p:nvSpPr>
            <p:spPr bwMode="auto">
              <a:xfrm>
                <a:off x="3470" y="2953"/>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2" name="Oval 54"/>
              <p:cNvSpPr>
                <a:spLocks noChangeArrowheads="1"/>
              </p:cNvSpPr>
              <p:nvPr/>
            </p:nvSpPr>
            <p:spPr bwMode="auto">
              <a:xfrm>
                <a:off x="3196" y="2711"/>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3" name="Oval 55"/>
              <p:cNvSpPr>
                <a:spLocks noChangeArrowheads="1"/>
              </p:cNvSpPr>
              <p:nvPr/>
            </p:nvSpPr>
            <p:spPr bwMode="auto">
              <a:xfrm>
                <a:off x="3470" y="2711"/>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4" name="Oval 56"/>
              <p:cNvSpPr>
                <a:spLocks noChangeArrowheads="1"/>
              </p:cNvSpPr>
              <p:nvPr/>
            </p:nvSpPr>
            <p:spPr bwMode="auto">
              <a:xfrm>
                <a:off x="4319" y="2215"/>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5" name="Oval 57"/>
              <p:cNvSpPr>
                <a:spLocks noChangeArrowheads="1"/>
              </p:cNvSpPr>
              <p:nvPr/>
            </p:nvSpPr>
            <p:spPr bwMode="auto">
              <a:xfrm>
                <a:off x="4592" y="2215"/>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6" name="Oval 58"/>
              <p:cNvSpPr>
                <a:spLocks noChangeArrowheads="1"/>
              </p:cNvSpPr>
              <p:nvPr/>
            </p:nvSpPr>
            <p:spPr bwMode="auto">
              <a:xfrm>
                <a:off x="4319" y="245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7" name="Oval 59"/>
              <p:cNvSpPr>
                <a:spLocks noChangeArrowheads="1"/>
              </p:cNvSpPr>
              <p:nvPr/>
            </p:nvSpPr>
            <p:spPr bwMode="auto">
              <a:xfrm>
                <a:off x="4592" y="245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8" name="Oval 60"/>
              <p:cNvSpPr>
                <a:spLocks noChangeArrowheads="1"/>
              </p:cNvSpPr>
              <p:nvPr/>
            </p:nvSpPr>
            <p:spPr bwMode="auto">
              <a:xfrm>
                <a:off x="2909" y="2215"/>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09" name="Oval 61"/>
              <p:cNvSpPr>
                <a:spLocks noChangeArrowheads="1"/>
              </p:cNvSpPr>
              <p:nvPr/>
            </p:nvSpPr>
            <p:spPr bwMode="auto">
              <a:xfrm>
                <a:off x="4880" y="2215"/>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0" name="Oval 62"/>
              <p:cNvSpPr>
                <a:spLocks noChangeArrowheads="1"/>
              </p:cNvSpPr>
              <p:nvPr/>
            </p:nvSpPr>
            <p:spPr bwMode="auto">
              <a:xfrm>
                <a:off x="2909" y="245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1" name="Oval 63"/>
              <p:cNvSpPr>
                <a:spLocks noChangeArrowheads="1"/>
              </p:cNvSpPr>
              <p:nvPr/>
            </p:nvSpPr>
            <p:spPr bwMode="auto">
              <a:xfrm>
                <a:off x="4880" y="245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2" name="Oval 64"/>
              <p:cNvSpPr>
                <a:spLocks noChangeArrowheads="1"/>
              </p:cNvSpPr>
              <p:nvPr/>
            </p:nvSpPr>
            <p:spPr bwMode="auto">
              <a:xfrm>
                <a:off x="4319" y="2953"/>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3" name="Oval 65"/>
              <p:cNvSpPr>
                <a:spLocks noChangeArrowheads="1"/>
              </p:cNvSpPr>
              <p:nvPr/>
            </p:nvSpPr>
            <p:spPr bwMode="auto">
              <a:xfrm>
                <a:off x="4592" y="2953"/>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4" name="Oval 66"/>
              <p:cNvSpPr>
                <a:spLocks noChangeArrowheads="1"/>
              </p:cNvSpPr>
              <p:nvPr/>
            </p:nvSpPr>
            <p:spPr bwMode="auto">
              <a:xfrm>
                <a:off x="4319" y="2711"/>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5" name="Oval 67"/>
              <p:cNvSpPr>
                <a:spLocks noChangeArrowheads="1"/>
              </p:cNvSpPr>
              <p:nvPr/>
            </p:nvSpPr>
            <p:spPr bwMode="auto">
              <a:xfrm>
                <a:off x="4592" y="2711"/>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6" name="Oval 68"/>
              <p:cNvSpPr>
                <a:spLocks noChangeArrowheads="1"/>
              </p:cNvSpPr>
              <p:nvPr/>
            </p:nvSpPr>
            <p:spPr bwMode="auto">
              <a:xfrm>
                <a:off x="2909" y="2953"/>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7" name="Oval 69"/>
              <p:cNvSpPr>
                <a:spLocks noChangeArrowheads="1"/>
              </p:cNvSpPr>
              <p:nvPr/>
            </p:nvSpPr>
            <p:spPr bwMode="auto">
              <a:xfrm>
                <a:off x="4880" y="2953"/>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8" name="Oval 70"/>
              <p:cNvSpPr>
                <a:spLocks noChangeArrowheads="1"/>
              </p:cNvSpPr>
              <p:nvPr/>
            </p:nvSpPr>
            <p:spPr bwMode="auto">
              <a:xfrm>
                <a:off x="2909" y="2711"/>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19" name="Oval 71"/>
              <p:cNvSpPr>
                <a:spLocks noChangeArrowheads="1"/>
              </p:cNvSpPr>
              <p:nvPr/>
            </p:nvSpPr>
            <p:spPr bwMode="auto">
              <a:xfrm>
                <a:off x="4880" y="2711"/>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0" name="Oval 72"/>
              <p:cNvSpPr>
                <a:spLocks noChangeArrowheads="1"/>
              </p:cNvSpPr>
              <p:nvPr/>
            </p:nvSpPr>
            <p:spPr bwMode="auto">
              <a:xfrm>
                <a:off x="4031" y="1960"/>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1" name="Oval 73"/>
              <p:cNvSpPr>
                <a:spLocks noChangeArrowheads="1"/>
              </p:cNvSpPr>
              <p:nvPr/>
            </p:nvSpPr>
            <p:spPr bwMode="auto">
              <a:xfrm>
                <a:off x="3758" y="1960"/>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2" name="Oval 74"/>
              <p:cNvSpPr>
                <a:spLocks noChangeArrowheads="1"/>
              </p:cNvSpPr>
              <p:nvPr/>
            </p:nvSpPr>
            <p:spPr bwMode="auto">
              <a:xfrm>
                <a:off x="4031" y="1719"/>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3" name="Oval 75"/>
              <p:cNvSpPr>
                <a:spLocks noChangeArrowheads="1"/>
              </p:cNvSpPr>
              <p:nvPr/>
            </p:nvSpPr>
            <p:spPr bwMode="auto">
              <a:xfrm>
                <a:off x="3758" y="1719"/>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4" name="Oval 76"/>
              <p:cNvSpPr>
                <a:spLocks noChangeArrowheads="1"/>
              </p:cNvSpPr>
              <p:nvPr/>
            </p:nvSpPr>
            <p:spPr bwMode="auto">
              <a:xfrm>
                <a:off x="3196" y="1960"/>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5" name="Oval 77"/>
              <p:cNvSpPr>
                <a:spLocks noChangeArrowheads="1"/>
              </p:cNvSpPr>
              <p:nvPr/>
            </p:nvSpPr>
            <p:spPr bwMode="auto">
              <a:xfrm>
                <a:off x="3470" y="1960"/>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6" name="Oval 78"/>
              <p:cNvSpPr>
                <a:spLocks noChangeArrowheads="1"/>
              </p:cNvSpPr>
              <p:nvPr/>
            </p:nvSpPr>
            <p:spPr bwMode="auto">
              <a:xfrm>
                <a:off x="3196" y="1719"/>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7" name="Oval 79"/>
              <p:cNvSpPr>
                <a:spLocks noChangeArrowheads="1"/>
              </p:cNvSpPr>
              <p:nvPr/>
            </p:nvSpPr>
            <p:spPr bwMode="auto">
              <a:xfrm>
                <a:off x="3470" y="1719"/>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8" name="Oval 80"/>
              <p:cNvSpPr>
                <a:spLocks noChangeArrowheads="1"/>
              </p:cNvSpPr>
              <p:nvPr/>
            </p:nvSpPr>
            <p:spPr bwMode="auto">
              <a:xfrm>
                <a:off x="4031" y="320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29" name="Oval 81"/>
              <p:cNvSpPr>
                <a:spLocks noChangeArrowheads="1"/>
              </p:cNvSpPr>
              <p:nvPr/>
            </p:nvSpPr>
            <p:spPr bwMode="auto">
              <a:xfrm>
                <a:off x="3758" y="320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0" name="Oval 82"/>
              <p:cNvSpPr>
                <a:spLocks noChangeArrowheads="1"/>
              </p:cNvSpPr>
              <p:nvPr/>
            </p:nvSpPr>
            <p:spPr bwMode="auto">
              <a:xfrm>
                <a:off x="4031" y="1464"/>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1" name="Oval 83"/>
              <p:cNvSpPr>
                <a:spLocks noChangeArrowheads="1"/>
              </p:cNvSpPr>
              <p:nvPr/>
            </p:nvSpPr>
            <p:spPr bwMode="auto">
              <a:xfrm>
                <a:off x="3758" y="1464"/>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2" name="Oval 84"/>
              <p:cNvSpPr>
                <a:spLocks noChangeArrowheads="1"/>
              </p:cNvSpPr>
              <p:nvPr/>
            </p:nvSpPr>
            <p:spPr bwMode="auto">
              <a:xfrm>
                <a:off x="3196" y="320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3" name="Oval 85"/>
              <p:cNvSpPr>
                <a:spLocks noChangeArrowheads="1"/>
              </p:cNvSpPr>
              <p:nvPr/>
            </p:nvSpPr>
            <p:spPr bwMode="auto">
              <a:xfrm>
                <a:off x="3470" y="320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4" name="Oval 86"/>
              <p:cNvSpPr>
                <a:spLocks noChangeArrowheads="1"/>
              </p:cNvSpPr>
              <p:nvPr/>
            </p:nvSpPr>
            <p:spPr bwMode="auto">
              <a:xfrm>
                <a:off x="3196" y="1464"/>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5" name="Oval 87"/>
              <p:cNvSpPr>
                <a:spLocks noChangeArrowheads="1"/>
              </p:cNvSpPr>
              <p:nvPr/>
            </p:nvSpPr>
            <p:spPr bwMode="auto">
              <a:xfrm>
                <a:off x="3470" y="1464"/>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6" name="Oval 88"/>
              <p:cNvSpPr>
                <a:spLocks noChangeArrowheads="1"/>
              </p:cNvSpPr>
              <p:nvPr/>
            </p:nvSpPr>
            <p:spPr bwMode="auto">
              <a:xfrm>
                <a:off x="4319" y="1960"/>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7" name="Oval 89"/>
              <p:cNvSpPr>
                <a:spLocks noChangeArrowheads="1"/>
              </p:cNvSpPr>
              <p:nvPr/>
            </p:nvSpPr>
            <p:spPr bwMode="auto">
              <a:xfrm>
                <a:off x="4592" y="1960"/>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8" name="Oval 90"/>
              <p:cNvSpPr>
                <a:spLocks noChangeArrowheads="1"/>
              </p:cNvSpPr>
              <p:nvPr/>
            </p:nvSpPr>
            <p:spPr bwMode="auto">
              <a:xfrm>
                <a:off x="4319" y="1719"/>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39" name="Oval 91"/>
              <p:cNvSpPr>
                <a:spLocks noChangeArrowheads="1"/>
              </p:cNvSpPr>
              <p:nvPr/>
            </p:nvSpPr>
            <p:spPr bwMode="auto">
              <a:xfrm>
                <a:off x="4592" y="1719"/>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0" name="Oval 92"/>
              <p:cNvSpPr>
                <a:spLocks noChangeArrowheads="1"/>
              </p:cNvSpPr>
              <p:nvPr/>
            </p:nvSpPr>
            <p:spPr bwMode="auto">
              <a:xfrm>
                <a:off x="2909" y="1960"/>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1" name="Oval 93"/>
              <p:cNvSpPr>
                <a:spLocks noChangeArrowheads="1"/>
              </p:cNvSpPr>
              <p:nvPr/>
            </p:nvSpPr>
            <p:spPr bwMode="auto">
              <a:xfrm>
                <a:off x="4880" y="1960"/>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2" name="Oval 94"/>
              <p:cNvSpPr>
                <a:spLocks noChangeArrowheads="1"/>
              </p:cNvSpPr>
              <p:nvPr/>
            </p:nvSpPr>
            <p:spPr bwMode="auto">
              <a:xfrm>
                <a:off x="2909" y="1719"/>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3" name="Oval 95"/>
              <p:cNvSpPr>
                <a:spLocks noChangeArrowheads="1"/>
              </p:cNvSpPr>
              <p:nvPr/>
            </p:nvSpPr>
            <p:spPr bwMode="auto">
              <a:xfrm>
                <a:off x="4880" y="1719"/>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4" name="Oval 96"/>
              <p:cNvSpPr>
                <a:spLocks noChangeArrowheads="1"/>
              </p:cNvSpPr>
              <p:nvPr/>
            </p:nvSpPr>
            <p:spPr bwMode="auto">
              <a:xfrm>
                <a:off x="4319" y="320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5" name="Oval 97"/>
              <p:cNvSpPr>
                <a:spLocks noChangeArrowheads="1"/>
              </p:cNvSpPr>
              <p:nvPr/>
            </p:nvSpPr>
            <p:spPr bwMode="auto">
              <a:xfrm>
                <a:off x="4592" y="320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6" name="Oval 98"/>
              <p:cNvSpPr>
                <a:spLocks noChangeArrowheads="1"/>
              </p:cNvSpPr>
              <p:nvPr/>
            </p:nvSpPr>
            <p:spPr bwMode="auto">
              <a:xfrm>
                <a:off x="4319" y="1464"/>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7" name="Oval 99"/>
              <p:cNvSpPr>
                <a:spLocks noChangeArrowheads="1"/>
              </p:cNvSpPr>
              <p:nvPr/>
            </p:nvSpPr>
            <p:spPr bwMode="auto">
              <a:xfrm>
                <a:off x="4592" y="1464"/>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8" name="Oval 100"/>
              <p:cNvSpPr>
                <a:spLocks noChangeArrowheads="1"/>
              </p:cNvSpPr>
              <p:nvPr/>
            </p:nvSpPr>
            <p:spPr bwMode="auto">
              <a:xfrm>
                <a:off x="2909" y="3207"/>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49" name="Oval 101"/>
              <p:cNvSpPr>
                <a:spLocks noChangeArrowheads="1"/>
              </p:cNvSpPr>
              <p:nvPr/>
            </p:nvSpPr>
            <p:spPr bwMode="auto">
              <a:xfrm>
                <a:off x="4880" y="3207"/>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50" name="Oval 102"/>
              <p:cNvSpPr>
                <a:spLocks noChangeArrowheads="1"/>
              </p:cNvSpPr>
              <p:nvPr/>
            </p:nvSpPr>
            <p:spPr bwMode="auto">
              <a:xfrm>
                <a:off x="2909" y="1464"/>
                <a:ext cx="57"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51" name="Oval 103"/>
              <p:cNvSpPr>
                <a:spLocks noChangeArrowheads="1"/>
              </p:cNvSpPr>
              <p:nvPr/>
            </p:nvSpPr>
            <p:spPr bwMode="auto">
              <a:xfrm>
                <a:off x="4880" y="1464"/>
                <a:ext cx="58" cy="5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50252" name="Line 104"/>
              <p:cNvSpPr>
                <a:spLocks noChangeShapeType="1"/>
              </p:cNvSpPr>
              <p:nvPr/>
            </p:nvSpPr>
            <p:spPr bwMode="auto">
              <a:xfrm>
                <a:off x="2923" y="2355"/>
                <a:ext cx="1972"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253" name="Line 105"/>
              <p:cNvSpPr>
                <a:spLocks noChangeShapeType="1"/>
              </p:cNvSpPr>
              <p:nvPr/>
            </p:nvSpPr>
            <p:spPr bwMode="auto">
              <a:xfrm flipV="1">
                <a:off x="3916" y="1413"/>
                <a:ext cx="1" cy="18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254" name="Rectangle 106"/>
              <p:cNvSpPr>
                <a:spLocks noChangeArrowheads="1"/>
              </p:cNvSpPr>
              <p:nvPr/>
            </p:nvSpPr>
            <p:spPr bwMode="auto">
              <a:xfrm>
                <a:off x="4046" y="2139"/>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0</a:t>
                </a:r>
                <a:endParaRPr lang="en-US" altLang="en-US" sz="1600"/>
              </a:p>
            </p:txBody>
          </p:sp>
          <p:sp>
            <p:nvSpPr>
              <p:cNvPr id="50255" name="Rectangle 107"/>
              <p:cNvSpPr>
                <a:spLocks noChangeArrowheads="1"/>
              </p:cNvSpPr>
              <p:nvPr/>
            </p:nvSpPr>
            <p:spPr bwMode="auto">
              <a:xfrm>
                <a:off x="3772" y="2139"/>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a:t>
                </a:r>
                <a:endParaRPr lang="en-US" altLang="en-US" sz="1600"/>
              </a:p>
            </p:txBody>
          </p:sp>
          <p:sp>
            <p:nvSpPr>
              <p:cNvPr id="50256" name="Rectangle 108"/>
              <p:cNvSpPr>
                <a:spLocks noChangeArrowheads="1"/>
              </p:cNvSpPr>
              <p:nvPr/>
            </p:nvSpPr>
            <p:spPr bwMode="auto">
              <a:xfrm>
                <a:off x="4046" y="2380"/>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a:t>
                </a:r>
                <a:endParaRPr lang="en-US" altLang="en-US" sz="1600"/>
              </a:p>
            </p:txBody>
          </p:sp>
          <p:sp>
            <p:nvSpPr>
              <p:cNvPr id="50257" name="Rectangle 109"/>
              <p:cNvSpPr>
                <a:spLocks noChangeArrowheads="1"/>
              </p:cNvSpPr>
              <p:nvPr/>
            </p:nvSpPr>
            <p:spPr bwMode="auto">
              <a:xfrm>
                <a:off x="3772" y="2380"/>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a:t>
                </a:r>
                <a:endParaRPr lang="en-US" altLang="en-US" sz="1600"/>
              </a:p>
            </p:txBody>
          </p:sp>
          <p:sp>
            <p:nvSpPr>
              <p:cNvPr id="50258" name="Rectangle 110"/>
              <p:cNvSpPr>
                <a:spLocks noChangeArrowheads="1"/>
              </p:cNvSpPr>
              <p:nvPr/>
            </p:nvSpPr>
            <p:spPr bwMode="auto">
              <a:xfrm>
                <a:off x="3211" y="2139"/>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a:t>
                </a:r>
                <a:endParaRPr lang="en-US" altLang="en-US" sz="1600"/>
              </a:p>
            </p:txBody>
          </p:sp>
          <p:sp>
            <p:nvSpPr>
              <p:cNvPr id="50259" name="Rectangle 111"/>
              <p:cNvSpPr>
                <a:spLocks noChangeArrowheads="1"/>
              </p:cNvSpPr>
              <p:nvPr/>
            </p:nvSpPr>
            <p:spPr bwMode="auto">
              <a:xfrm>
                <a:off x="3484" y="2139"/>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a:t>
                </a:r>
                <a:endParaRPr lang="en-US" altLang="en-US" sz="1600"/>
              </a:p>
            </p:txBody>
          </p:sp>
          <p:sp>
            <p:nvSpPr>
              <p:cNvPr id="50260" name="Rectangle 112"/>
              <p:cNvSpPr>
                <a:spLocks noChangeArrowheads="1"/>
              </p:cNvSpPr>
              <p:nvPr/>
            </p:nvSpPr>
            <p:spPr bwMode="auto">
              <a:xfrm>
                <a:off x="3211" y="2380"/>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6</a:t>
                </a:r>
                <a:endParaRPr lang="en-US" altLang="en-US" sz="1600"/>
              </a:p>
            </p:txBody>
          </p:sp>
          <p:sp>
            <p:nvSpPr>
              <p:cNvPr id="50261" name="Rectangle 113"/>
              <p:cNvSpPr>
                <a:spLocks noChangeArrowheads="1"/>
              </p:cNvSpPr>
              <p:nvPr/>
            </p:nvSpPr>
            <p:spPr bwMode="auto">
              <a:xfrm>
                <a:off x="3484" y="2380"/>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7</a:t>
                </a:r>
                <a:endParaRPr lang="en-US" altLang="en-US" sz="1600"/>
              </a:p>
            </p:txBody>
          </p:sp>
          <p:sp>
            <p:nvSpPr>
              <p:cNvPr id="50262" name="Rectangle 114"/>
              <p:cNvSpPr>
                <a:spLocks noChangeArrowheads="1"/>
              </p:cNvSpPr>
              <p:nvPr/>
            </p:nvSpPr>
            <p:spPr bwMode="auto">
              <a:xfrm>
                <a:off x="4046" y="2876"/>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8</a:t>
                </a:r>
                <a:endParaRPr lang="en-US" altLang="en-US" sz="1600"/>
              </a:p>
            </p:txBody>
          </p:sp>
          <p:sp>
            <p:nvSpPr>
              <p:cNvPr id="50263" name="Rectangle 115"/>
              <p:cNvSpPr>
                <a:spLocks noChangeArrowheads="1"/>
              </p:cNvSpPr>
              <p:nvPr/>
            </p:nvSpPr>
            <p:spPr bwMode="auto">
              <a:xfrm>
                <a:off x="3772" y="2876"/>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9</a:t>
                </a:r>
                <a:endParaRPr lang="en-US" altLang="en-US" sz="1600"/>
              </a:p>
            </p:txBody>
          </p:sp>
          <p:sp>
            <p:nvSpPr>
              <p:cNvPr id="50264" name="Rectangle 116"/>
              <p:cNvSpPr>
                <a:spLocks noChangeArrowheads="1"/>
              </p:cNvSpPr>
              <p:nvPr/>
            </p:nvSpPr>
            <p:spPr bwMode="auto">
              <a:xfrm>
                <a:off x="4046"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10</a:t>
                </a:r>
                <a:endParaRPr lang="en-US" altLang="en-US" sz="1600"/>
              </a:p>
            </p:txBody>
          </p:sp>
          <p:sp>
            <p:nvSpPr>
              <p:cNvPr id="50265" name="Rectangle 117"/>
              <p:cNvSpPr>
                <a:spLocks noChangeArrowheads="1"/>
              </p:cNvSpPr>
              <p:nvPr/>
            </p:nvSpPr>
            <p:spPr bwMode="auto">
              <a:xfrm>
                <a:off x="3772" y="2635"/>
                <a:ext cx="1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11</a:t>
                </a:r>
                <a:endParaRPr lang="en-US" altLang="en-US" sz="1600"/>
              </a:p>
            </p:txBody>
          </p:sp>
          <p:sp>
            <p:nvSpPr>
              <p:cNvPr id="50266" name="Rectangle 118"/>
              <p:cNvSpPr>
                <a:spLocks noChangeArrowheads="1"/>
              </p:cNvSpPr>
              <p:nvPr/>
            </p:nvSpPr>
            <p:spPr bwMode="auto">
              <a:xfrm>
                <a:off x="3211"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12</a:t>
                </a:r>
                <a:endParaRPr lang="en-US" altLang="en-US" sz="1600"/>
              </a:p>
            </p:txBody>
          </p:sp>
          <p:sp>
            <p:nvSpPr>
              <p:cNvPr id="50267" name="Rectangle 119"/>
              <p:cNvSpPr>
                <a:spLocks noChangeArrowheads="1"/>
              </p:cNvSpPr>
              <p:nvPr/>
            </p:nvSpPr>
            <p:spPr bwMode="auto">
              <a:xfrm>
                <a:off x="3484"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13</a:t>
                </a:r>
                <a:endParaRPr lang="en-US" altLang="en-US" sz="1600"/>
              </a:p>
            </p:txBody>
          </p:sp>
          <p:sp>
            <p:nvSpPr>
              <p:cNvPr id="50268" name="Rectangle 120"/>
              <p:cNvSpPr>
                <a:spLocks noChangeArrowheads="1"/>
              </p:cNvSpPr>
              <p:nvPr/>
            </p:nvSpPr>
            <p:spPr bwMode="auto">
              <a:xfrm>
                <a:off x="3211"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14</a:t>
                </a:r>
                <a:endParaRPr lang="en-US" altLang="en-US" sz="1600"/>
              </a:p>
            </p:txBody>
          </p:sp>
          <p:sp>
            <p:nvSpPr>
              <p:cNvPr id="50269" name="Rectangle 121"/>
              <p:cNvSpPr>
                <a:spLocks noChangeArrowheads="1"/>
              </p:cNvSpPr>
              <p:nvPr/>
            </p:nvSpPr>
            <p:spPr bwMode="auto">
              <a:xfrm>
                <a:off x="3484"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15</a:t>
                </a:r>
                <a:endParaRPr lang="en-US" altLang="en-US" sz="1600"/>
              </a:p>
            </p:txBody>
          </p:sp>
          <p:sp>
            <p:nvSpPr>
              <p:cNvPr id="50270" name="Rectangle 122"/>
              <p:cNvSpPr>
                <a:spLocks noChangeArrowheads="1"/>
              </p:cNvSpPr>
              <p:nvPr/>
            </p:nvSpPr>
            <p:spPr bwMode="auto">
              <a:xfrm>
                <a:off x="4333" y="2139"/>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16</a:t>
                </a:r>
                <a:endParaRPr lang="en-US" altLang="en-US" sz="1600"/>
              </a:p>
            </p:txBody>
          </p:sp>
          <p:sp>
            <p:nvSpPr>
              <p:cNvPr id="50271" name="Rectangle 123"/>
              <p:cNvSpPr>
                <a:spLocks noChangeArrowheads="1"/>
              </p:cNvSpPr>
              <p:nvPr/>
            </p:nvSpPr>
            <p:spPr bwMode="auto">
              <a:xfrm>
                <a:off x="4607" y="2139"/>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17</a:t>
                </a:r>
                <a:endParaRPr lang="en-US" altLang="en-US" sz="1600"/>
              </a:p>
            </p:txBody>
          </p:sp>
          <p:sp>
            <p:nvSpPr>
              <p:cNvPr id="50272" name="Rectangle 124"/>
              <p:cNvSpPr>
                <a:spLocks noChangeArrowheads="1"/>
              </p:cNvSpPr>
              <p:nvPr/>
            </p:nvSpPr>
            <p:spPr bwMode="auto">
              <a:xfrm>
                <a:off x="4333" y="2380"/>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18</a:t>
                </a:r>
                <a:endParaRPr lang="en-US" altLang="en-US" sz="1600"/>
              </a:p>
            </p:txBody>
          </p:sp>
          <p:sp>
            <p:nvSpPr>
              <p:cNvPr id="50273" name="Rectangle 125"/>
              <p:cNvSpPr>
                <a:spLocks noChangeArrowheads="1"/>
              </p:cNvSpPr>
              <p:nvPr/>
            </p:nvSpPr>
            <p:spPr bwMode="auto">
              <a:xfrm>
                <a:off x="4607" y="2380"/>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19</a:t>
                </a:r>
                <a:endParaRPr lang="en-US" altLang="en-US" sz="1600"/>
              </a:p>
            </p:txBody>
          </p:sp>
          <p:sp>
            <p:nvSpPr>
              <p:cNvPr id="50274" name="Rectangle 126"/>
              <p:cNvSpPr>
                <a:spLocks noChangeArrowheads="1"/>
              </p:cNvSpPr>
              <p:nvPr/>
            </p:nvSpPr>
            <p:spPr bwMode="auto">
              <a:xfrm>
                <a:off x="2923" y="2139"/>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20</a:t>
                </a:r>
                <a:endParaRPr lang="en-US" altLang="en-US" sz="1600"/>
              </a:p>
            </p:txBody>
          </p:sp>
          <p:sp>
            <p:nvSpPr>
              <p:cNvPr id="50275" name="Rectangle 127"/>
              <p:cNvSpPr>
                <a:spLocks noChangeArrowheads="1"/>
              </p:cNvSpPr>
              <p:nvPr/>
            </p:nvSpPr>
            <p:spPr bwMode="auto">
              <a:xfrm>
                <a:off x="4895" y="2139"/>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21</a:t>
                </a:r>
                <a:endParaRPr lang="en-US" altLang="en-US" sz="1600"/>
              </a:p>
            </p:txBody>
          </p:sp>
          <p:sp>
            <p:nvSpPr>
              <p:cNvPr id="50276" name="Rectangle 128"/>
              <p:cNvSpPr>
                <a:spLocks noChangeArrowheads="1"/>
              </p:cNvSpPr>
              <p:nvPr/>
            </p:nvSpPr>
            <p:spPr bwMode="auto">
              <a:xfrm>
                <a:off x="2923" y="2380"/>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22</a:t>
                </a:r>
                <a:endParaRPr lang="en-US" altLang="en-US" sz="1600"/>
              </a:p>
            </p:txBody>
          </p:sp>
          <p:sp>
            <p:nvSpPr>
              <p:cNvPr id="50277" name="Rectangle 129"/>
              <p:cNvSpPr>
                <a:spLocks noChangeArrowheads="1"/>
              </p:cNvSpPr>
              <p:nvPr/>
            </p:nvSpPr>
            <p:spPr bwMode="auto">
              <a:xfrm>
                <a:off x="4895" y="2380"/>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23</a:t>
                </a:r>
                <a:endParaRPr lang="en-US" altLang="en-US" sz="1600"/>
              </a:p>
            </p:txBody>
          </p:sp>
          <p:sp>
            <p:nvSpPr>
              <p:cNvPr id="50278" name="Rectangle 130"/>
              <p:cNvSpPr>
                <a:spLocks noChangeArrowheads="1"/>
              </p:cNvSpPr>
              <p:nvPr/>
            </p:nvSpPr>
            <p:spPr bwMode="auto">
              <a:xfrm>
                <a:off x="4333"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24</a:t>
                </a:r>
                <a:endParaRPr lang="en-US" altLang="en-US" sz="1600"/>
              </a:p>
            </p:txBody>
          </p:sp>
          <p:sp>
            <p:nvSpPr>
              <p:cNvPr id="50279" name="Rectangle 131"/>
              <p:cNvSpPr>
                <a:spLocks noChangeArrowheads="1"/>
              </p:cNvSpPr>
              <p:nvPr/>
            </p:nvSpPr>
            <p:spPr bwMode="auto">
              <a:xfrm>
                <a:off x="4607"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25</a:t>
                </a:r>
                <a:endParaRPr lang="en-US" altLang="en-US" sz="1600"/>
              </a:p>
            </p:txBody>
          </p:sp>
          <p:sp>
            <p:nvSpPr>
              <p:cNvPr id="50280" name="Rectangle 132"/>
              <p:cNvSpPr>
                <a:spLocks noChangeArrowheads="1"/>
              </p:cNvSpPr>
              <p:nvPr/>
            </p:nvSpPr>
            <p:spPr bwMode="auto">
              <a:xfrm>
                <a:off x="4333"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26</a:t>
                </a:r>
                <a:endParaRPr lang="en-US" altLang="en-US" sz="1600"/>
              </a:p>
            </p:txBody>
          </p:sp>
          <p:sp>
            <p:nvSpPr>
              <p:cNvPr id="50281" name="Rectangle 133"/>
              <p:cNvSpPr>
                <a:spLocks noChangeArrowheads="1"/>
              </p:cNvSpPr>
              <p:nvPr/>
            </p:nvSpPr>
            <p:spPr bwMode="auto">
              <a:xfrm>
                <a:off x="4607"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27</a:t>
                </a:r>
                <a:endParaRPr lang="en-US" altLang="en-US" sz="1600"/>
              </a:p>
            </p:txBody>
          </p:sp>
          <p:sp>
            <p:nvSpPr>
              <p:cNvPr id="50282" name="Rectangle 134"/>
              <p:cNvSpPr>
                <a:spLocks noChangeArrowheads="1"/>
              </p:cNvSpPr>
              <p:nvPr/>
            </p:nvSpPr>
            <p:spPr bwMode="auto">
              <a:xfrm>
                <a:off x="2923"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28</a:t>
                </a:r>
                <a:endParaRPr lang="en-US" altLang="en-US" sz="1600"/>
              </a:p>
            </p:txBody>
          </p:sp>
          <p:sp>
            <p:nvSpPr>
              <p:cNvPr id="50283" name="Rectangle 135"/>
              <p:cNvSpPr>
                <a:spLocks noChangeArrowheads="1"/>
              </p:cNvSpPr>
              <p:nvPr/>
            </p:nvSpPr>
            <p:spPr bwMode="auto">
              <a:xfrm>
                <a:off x="4895" y="2876"/>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29</a:t>
                </a:r>
                <a:endParaRPr lang="en-US" altLang="en-US" sz="1600"/>
              </a:p>
            </p:txBody>
          </p:sp>
          <p:sp>
            <p:nvSpPr>
              <p:cNvPr id="50284" name="Rectangle 136"/>
              <p:cNvSpPr>
                <a:spLocks noChangeArrowheads="1"/>
              </p:cNvSpPr>
              <p:nvPr/>
            </p:nvSpPr>
            <p:spPr bwMode="auto">
              <a:xfrm>
                <a:off x="2923"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30</a:t>
                </a:r>
                <a:endParaRPr lang="en-US" altLang="en-US" sz="1600"/>
              </a:p>
            </p:txBody>
          </p:sp>
          <p:sp>
            <p:nvSpPr>
              <p:cNvPr id="50285" name="Rectangle 137"/>
              <p:cNvSpPr>
                <a:spLocks noChangeArrowheads="1"/>
              </p:cNvSpPr>
              <p:nvPr/>
            </p:nvSpPr>
            <p:spPr bwMode="auto">
              <a:xfrm>
                <a:off x="4895" y="2635"/>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31</a:t>
                </a:r>
                <a:endParaRPr lang="en-US" altLang="en-US" sz="1600"/>
              </a:p>
            </p:txBody>
          </p:sp>
          <p:sp>
            <p:nvSpPr>
              <p:cNvPr id="50286" name="Rectangle 138"/>
              <p:cNvSpPr>
                <a:spLocks noChangeArrowheads="1"/>
              </p:cNvSpPr>
              <p:nvPr/>
            </p:nvSpPr>
            <p:spPr bwMode="auto">
              <a:xfrm>
                <a:off x="4046"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32</a:t>
                </a:r>
                <a:endParaRPr lang="en-US" altLang="en-US" sz="1600"/>
              </a:p>
            </p:txBody>
          </p:sp>
          <p:sp>
            <p:nvSpPr>
              <p:cNvPr id="50287" name="Rectangle 139"/>
              <p:cNvSpPr>
                <a:spLocks noChangeArrowheads="1"/>
              </p:cNvSpPr>
              <p:nvPr/>
            </p:nvSpPr>
            <p:spPr bwMode="auto">
              <a:xfrm>
                <a:off x="3772"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33</a:t>
                </a:r>
                <a:endParaRPr lang="en-US" altLang="en-US" sz="1600"/>
              </a:p>
            </p:txBody>
          </p:sp>
          <p:sp>
            <p:nvSpPr>
              <p:cNvPr id="50288" name="Rectangle 140"/>
              <p:cNvSpPr>
                <a:spLocks noChangeArrowheads="1"/>
              </p:cNvSpPr>
              <p:nvPr/>
            </p:nvSpPr>
            <p:spPr bwMode="auto">
              <a:xfrm>
                <a:off x="4046"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34</a:t>
                </a:r>
                <a:endParaRPr lang="en-US" altLang="en-US" sz="1600"/>
              </a:p>
            </p:txBody>
          </p:sp>
          <p:sp>
            <p:nvSpPr>
              <p:cNvPr id="50289" name="Rectangle 141"/>
              <p:cNvSpPr>
                <a:spLocks noChangeArrowheads="1"/>
              </p:cNvSpPr>
              <p:nvPr/>
            </p:nvSpPr>
            <p:spPr bwMode="auto">
              <a:xfrm>
                <a:off x="3772"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35</a:t>
                </a:r>
                <a:endParaRPr lang="en-US" altLang="en-US" sz="1600"/>
              </a:p>
            </p:txBody>
          </p:sp>
          <p:sp>
            <p:nvSpPr>
              <p:cNvPr id="50290" name="Rectangle 142"/>
              <p:cNvSpPr>
                <a:spLocks noChangeArrowheads="1"/>
              </p:cNvSpPr>
              <p:nvPr/>
            </p:nvSpPr>
            <p:spPr bwMode="auto">
              <a:xfrm>
                <a:off x="3211"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36</a:t>
                </a:r>
                <a:endParaRPr lang="en-US" altLang="en-US" sz="1600"/>
              </a:p>
            </p:txBody>
          </p:sp>
          <p:sp>
            <p:nvSpPr>
              <p:cNvPr id="50291" name="Rectangle 143"/>
              <p:cNvSpPr>
                <a:spLocks noChangeArrowheads="1"/>
              </p:cNvSpPr>
              <p:nvPr/>
            </p:nvSpPr>
            <p:spPr bwMode="auto">
              <a:xfrm>
                <a:off x="3484"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37</a:t>
                </a:r>
                <a:endParaRPr lang="en-US" altLang="en-US" sz="1600"/>
              </a:p>
            </p:txBody>
          </p:sp>
          <p:sp>
            <p:nvSpPr>
              <p:cNvPr id="50292" name="Rectangle 144"/>
              <p:cNvSpPr>
                <a:spLocks noChangeArrowheads="1"/>
              </p:cNvSpPr>
              <p:nvPr/>
            </p:nvSpPr>
            <p:spPr bwMode="auto">
              <a:xfrm>
                <a:off x="3211"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38</a:t>
                </a:r>
                <a:endParaRPr lang="en-US" altLang="en-US" sz="1600"/>
              </a:p>
            </p:txBody>
          </p:sp>
          <p:sp>
            <p:nvSpPr>
              <p:cNvPr id="50293" name="Rectangle 145"/>
              <p:cNvSpPr>
                <a:spLocks noChangeArrowheads="1"/>
              </p:cNvSpPr>
              <p:nvPr/>
            </p:nvSpPr>
            <p:spPr bwMode="auto">
              <a:xfrm>
                <a:off x="3484"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39</a:t>
                </a:r>
                <a:endParaRPr lang="en-US" altLang="en-US" sz="1600"/>
              </a:p>
            </p:txBody>
          </p:sp>
          <p:sp>
            <p:nvSpPr>
              <p:cNvPr id="50294" name="Rectangle 146"/>
              <p:cNvSpPr>
                <a:spLocks noChangeArrowheads="1"/>
              </p:cNvSpPr>
              <p:nvPr/>
            </p:nvSpPr>
            <p:spPr bwMode="auto">
              <a:xfrm>
                <a:off x="4046"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40</a:t>
                </a:r>
                <a:endParaRPr lang="en-US" altLang="en-US" sz="1600"/>
              </a:p>
            </p:txBody>
          </p:sp>
          <p:sp>
            <p:nvSpPr>
              <p:cNvPr id="50295" name="Rectangle 147"/>
              <p:cNvSpPr>
                <a:spLocks noChangeArrowheads="1"/>
              </p:cNvSpPr>
              <p:nvPr/>
            </p:nvSpPr>
            <p:spPr bwMode="auto">
              <a:xfrm>
                <a:off x="3772"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41</a:t>
                </a:r>
                <a:endParaRPr lang="en-US" altLang="en-US" sz="1600"/>
              </a:p>
            </p:txBody>
          </p:sp>
          <p:sp>
            <p:nvSpPr>
              <p:cNvPr id="50296" name="Rectangle 148"/>
              <p:cNvSpPr>
                <a:spLocks noChangeArrowheads="1"/>
              </p:cNvSpPr>
              <p:nvPr/>
            </p:nvSpPr>
            <p:spPr bwMode="auto">
              <a:xfrm>
                <a:off x="4046"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42</a:t>
                </a:r>
                <a:endParaRPr lang="en-US" altLang="en-US" sz="1600"/>
              </a:p>
            </p:txBody>
          </p:sp>
          <p:sp>
            <p:nvSpPr>
              <p:cNvPr id="50297" name="Rectangle 149"/>
              <p:cNvSpPr>
                <a:spLocks noChangeArrowheads="1"/>
              </p:cNvSpPr>
              <p:nvPr/>
            </p:nvSpPr>
            <p:spPr bwMode="auto">
              <a:xfrm>
                <a:off x="3772"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43</a:t>
                </a:r>
                <a:endParaRPr lang="en-US" altLang="en-US" sz="1600"/>
              </a:p>
            </p:txBody>
          </p:sp>
          <p:sp>
            <p:nvSpPr>
              <p:cNvPr id="50298" name="Rectangle 150"/>
              <p:cNvSpPr>
                <a:spLocks noChangeArrowheads="1"/>
              </p:cNvSpPr>
              <p:nvPr/>
            </p:nvSpPr>
            <p:spPr bwMode="auto">
              <a:xfrm>
                <a:off x="3211"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44</a:t>
                </a:r>
                <a:endParaRPr lang="en-US" altLang="en-US" sz="1600"/>
              </a:p>
            </p:txBody>
          </p:sp>
          <p:sp>
            <p:nvSpPr>
              <p:cNvPr id="50299" name="Rectangle 151"/>
              <p:cNvSpPr>
                <a:spLocks noChangeArrowheads="1"/>
              </p:cNvSpPr>
              <p:nvPr/>
            </p:nvSpPr>
            <p:spPr bwMode="auto">
              <a:xfrm>
                <a:off x="3484"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45</a:t>
                </a:r>
                <a:endParaRPr lang="en-US" altLang="en-US" sz="1600"/>
              </a:p>
            </p:txBody>
          </p:sp>
          <p:sp>
            <p:nvSpPr>
              <p:cNvPr id="50300" name="Rectangle 152"/>
              <p:cNvSpPr>
                <a:spLocks noChangeArrowheads="1"/>
              </p:cNvSpPr>
              <p:nvPr/>
            </p:nvSpPr>
            <p:spPr bwMode="auto">
              <a:xfrm>
                <a:off x="3211"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46</a:t>
                </a:r>
                <a:endParaRPr lang="en-US" altLang="en-US" sz="1600"/>
              </a:p>
            </p:txBody>
          </p:sp>
          <p:sp>
            <p:nvSpPr>
              <p:cNvPr id="50301" name="Rectangle 153"/>
              <p:cNvSpPr>
                <a:spLocks noChangeArrowheads="1"/>
              </p:cNvSpPr>
              <p:nvPr/>
            </p:nvSpPr>
            <p:spPr bwMode="auto">
              <a:xfrm>
                <a:off x="3484"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47</a:t>
                </a:r>
                <a:endParaRPr lang="en-US" altLang="en-US" sz="1600"/>
              </a:p>
            </p:txBody>
          </p:sp>
          <p:sp>
            <p:nvSpPr>
              <p:cNvPr id="50302" name="Rectangle 154"/>
              <p:cNvSpPr>
                <a:spLocks noChangeArrowheads="1"/>
              </p:cNvSpPr>
              <p:nvPr/>
            </p:nvSpPr>
            <p:spPr bwMode="auto">
              <a:xfrm>
                <a:off x="4333"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48</a:t>
                </a:r>
                <a:endParaRPr lang="en-US" altLang="en-US" sz="1600"/>
              </a:p>
            </p:txBody>
          </p:sp>
          <p:sp>
            <p:nvSpPr>
              <p:cNvPr id="50303" name="Rectangle 155"/>
              <p:cNvSpPr>
                <a:spLocks noChangeArrowheads="1"/>
              </p:cNvSpPr>
              <p:nvPr/>
            </p:nvSpPr>
            <p:spPr bwMode="auto">
              <a:xfrm>
                <a:off x="4607"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49</a:t>
                </a:r>
                <a:endParaRPr lang="en-US" altLang="en-US" sz="1600"/>
              </a:p>
            </p:txBody>
          </p:sp>
          <p:sp>
            <p:nvSpPr>
              <p:cNvPr id="50304" name="Rectangle 156"/>
              <p:cNvSpPr>
                <a:spLocks noChangeArrowheads="1"/>
              </p:cNvSpPr>
              <p:nvPr/>
            </p:nvSpPr>
            <p:spPr bwMode="auto">
              <a:xfrm>
                <a:off x="4333"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50</a:t>
                </a:r>
                <a:endParaRPr lang="en-US" altLang="en-US" sz="1600"/>
              </a:p>
            </p:txBody>
          </p:sp>
          <p:sp>
            <p:nvSpPr>
              <p:cNvPr id="50305" name="Rectangle 157"/>
              <p:cNvSpPr>
                <a:spLocks noChangeArrowheads="1"/>
              </p:cNvSpPr>
              <p:nvPr/>
            </p:nvSpPr>
            <p:spPr bwMode="auto">
              <a:xfrm>
                <a:off x="4607"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51</a:t>
                </a:r>
                <a:endParaRPr lang="en-US" altLang="en-US" sz="1600"/>
              </a:p>
            </p:txBody>
          </p:sp>
          <p:sp>
            <p:nvSpPr>
              <p:cNvPr id="50306" name="Rectangle 158"/>
              <p:cNvSpPr>
                <a:spLocks noChangeArrowheads="1"/>
              </p:cNvSpPr>
              <p:nvPr/>
            </p:nvSpPr>
            <p:spPr bwMode="auto">
              <a:xfrm>
                <a:off x="2923"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52</a:t>
                </a:r>
                <a:endParaRPr lang="en-US" altLang="en-US" sz="1600"/>
              </a:p>
            </p:txBody>
          </p:sp>
          <p:sp>
            <p:nvSpPr>
              <p:cNvPr id="50307" name="Rectangle 159"/>
              <p:cNvSpPr>
                <a:spLocks noChangeArrowheads="1"/>
              </p:cNvSpPr>
              <p:nvPr/>
            </p:nvSpPr>
            <p:spPr bwMode="auto">
              <a:xfrm>
                <a:off x="4895" y="1884"/>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53</a:t>
                </a:r>
                <a:endParaRPr lang="en-US" altLang="en-US" sz="1600"/>
              </a:p>
            </p:txBody>
          </p:sp>
          <p:sp>
            <p:nvSpPr>
              <p:cNvPr id="50308" name="Rectangle 160"/>
              <p:cNvSpPr>
                <a:spLocks noChangeArrowheads="1"/>
              </p:cNvSpPr>
              <p:nvPr/>
            </p:nvSpPr>
            <p:spPr bwMode="auto">
              <a:xfrm>
                <a:off x="2923"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54</a:t>
                </a:r>
                <a:endParaRPr lang="en-US" altLang="en-US" sz="1600"/>
              </a:p>
            </p:txBody>
          </p:sp>
          <p:sp>
            <p:nvSpPr>
              <p:cNvPr id="50309" name="Rectangle 161"/>
              <p:cNvSpPr>
                <a:spLocks noChangeArrowheads="1"/>
              </p:cNvSpPr>
              <p:nvPr/>
            </p:nvSpPr>
            <p:spPr bwMode="auto">
              <a:xfrm>
                <a:off x="4895" y="1642"/>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55</a:t>
                </a:r>
                <a:endParaRPr lang="en-US" altLang="en-US" sz="1600"/>
              </a:p>
            </p:txBody>
          </p:sp>
          <p:sp>
            <p:nvSpPr>
              <p:cNvPr id="50310" name="Rectangle 162"/>
              <p:cNvSpPr>
                <a:spLocks noChangeArrowheads="1"/>
              </p:cNvSpPr>
              <p:nvPr/>
            </p:nvSpPr>
            <p:spPr bwMode="auto">
              <a:xfrm>
                <a:off x="4333"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56</a:t>
                </a:r>
                <a:endParaRPr lang="en-US" altLang="en-US" sz="1600"/>
              </a:p>
            </p:txBody>
          </p:sp>
          <p:sp>
            <p:nvSpPr>
              <p:cNvPr id="50311" name="Rectangle 163"/>
              <p:cNvSpPr>
                <a:spLocks noChangeArrowheads="1"/>
              </p:cNvSpPr>
              <p:nvPr/>
            </p:nvSpPr>
            <p:spPr bwMode="auto">
              <a:xfrm>
                <a:off x="4607"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57</a:t>
                </a:r>
                <a:endParaRPr lang="en-US" altLang="en-US" sz="1600"/>
              </a:p>
            </p:txBody>
          </p:sp>
          <p:sp>
            <p:nvSpPr>
              <p:cNvPr id="50312" name="Rectangle 164"/>
              <p:cNvSpPr>
                <a:spLocks noChangeArrowheads="1"/>
              </p:cNvSpPr>
              <p:nvPr/>
            </p:nvSpPr>
            <p:spPr bwMode="auto">
              <a:xfrm>
                <a:off x="4333"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58</a:t>
                </a:r>
                <a:endParaRPr lang="en-US" altLang="en-US" sz="1600"/>
              </a:p>
            </p:txBody>
          </p:sp>
          <p:sp>
            <p:nvSpPr>
              <p:cNvPr id="50313" name="Rectangle 165"/>
              <p:cNvSpPr>
                <a:spLocks noChangeArrowheads="1"/>
              </p:cNvSpPr>
              <p:nvPr/>
            </p:nvSpPr>
            <p:spPr bwMode="auto">
              <a:xfrm>
                <a:off x="4607"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59</a:t>
                </a:r>
                <a:endParaRPr lang="en-US" altLang="en-US" sz="1600"/>
              </a:p>
            </p:txBody>
          </p:sp>
          <p:sp>
            <p:nvSpPr>
              <p:cNvPr id="50314" name="Rectangle 166"/>
              <p:cNvSpPr>
                <a:spLocks noChangeArrowheads="1"/>
              </p:cNvSpPr>
              <p:nvPr/>
            </p:nvSpPr>
            <p:spPr bwMode="auto">
              <a:xfrm>
                <a:off x="2923"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60</a:t>
                </a:r>
                <a:endParaRPr lang="en-US" altLang="en-US" sz="1600"/>
              </a:p>
            </p:txBody>
          </p:sp>
          <p:sp>
            <p:nvSpPr>
              <p:cNvPr id="50315" name="Rectangle 167"/>
              <p:cNvSpPr>
                <a:spLocks noChangeArrowheads="1"/>
              </p:cNvSpPr>
              <p:nvPr/>
            </p:nvSpPr>
            <p:spPr bwMode="auto">
              <a:xfrm>
                <a:off x="4895" y="3131"/>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61</a:t>
                </a:r>
                <a:endParaRPr lang="en-US" altLang="en-US" sz="1600"/>
              </a:p>
            </p:txBody>
          </p:sp>
          <p:sp>
            <p:nvSpPr>
              <p:cNvPr id="50316" name="Rectangle 168"/>
              <p:cNvSpPr>
                <a:spLocks noChangeArrowheads="1"/>
              </p:cNvSpPr>
              <p:nvPr/>
            </p:nvSpPr>
            <p:spPr bwMode="auto">
              <a:xfrm>
                <a:off x="2923"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62</a:t>
                </a:r>
                <a:endParaRPr lang="en-US" altLang="en-US" sz="1600"/>
              </a:p>
            </p:txBody>
          </p:sp>
          <p:sp>
            <p:nvSpPr>
              <p:cNvPr id="50317" name="Rectangle 169"/>
              <p:cNvSpPr>
                <a:spLocks noChangeArrowheads="1"/>
              </p:cNvSpPr>
              <p:nvPr/>
            </p:nvSpPr>
            <p:spPr bwMode="auto">
              <a:xfrm>
                <a:off x="4895" y="1388"/>
                <a:ext cx="17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900">
                    <a:solidFill>
                      <a:srgbClr val="000000"/>
                    </a:solidFill>
                    <a:latin typeface="Helvetica" panose="020B0604020202020204" pitchFamily="34" charset="0"/>
                  </a:rPr>
                  <a:t>63</a:t>
                </a:r>
                <a:endParaRPr lang="en-US" altLang="en-US" sz="1600"/>
              </a:p>
            </p:txBody>
          </p:sp>
        </p:grpSp>
        <p:sp>
          <p:nvSpPr>
            <p:cNvPr id="50184" name="Text Box 170"/>
            <p:cNvSpPr txBox="1">
              <a:spLocks noChangeArrowheads="1"/>
            </p:cNvSpPr>
            <p:nvPr/>
          </p:nvSpPr>
          <p:spPr bwMode="auto">
            <a:xfrm>
              <a:off x="1165" y="2552"/>
              <a:ext cx="6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FF33CC"/>
                  </a:solidFill>
                </a:rPr>
                <a:t>16-QAM</a:t>
              </a:r>
              <a:endParaRPr lang="en-US" altLang="en-US" sz="1600"/>
            </a:p>
          </p:txBody>
        </p:sp>
        <p:sp>
          <p:nvSpPr>
            <p:cNvPr id="50185" name="Text Box 171"/>
            <p:cNvSpPr txBox="1">
              <a:spLocks noChangeArrowheads="1"/>
            </p:cNvSpPr>
            <p:nvPr/>
          </p:nvSpPr>
          <p:spPr bwMode="auto">
            <a:xfrm>
              <a:off x="3569" y="2792"/>
              <a:ext cx="6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FF33CC"/>
                  </a:solidFill>
                </a:rPr>
                <a:t>64-QAM</a:t>
              </a:r>
              <a:endParaRPr lang="en-US" altLang="en-US" sz="1600"/>
            </a:p>
          </p:txBody>
        </p:sp>
        <p:sp>
          <p:nvSpPr>
            <p:cNvPr id="50186" name="Text Box 172"/>
            <p:cNvSpPr txBox="1">
              <a:spLocks noChangeArrowheads="1"/>
            </p:cNvSpPr>
            <p:nvPr/>
          </p:nvSpPr>
          <p:spPr bwMode="auto">
            <a:xfrm>
              <a:off x="736" y="3010"/>
              <a:ext cx="167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3333CC"/>
                  </a:solidFill>
                </a:rPr>
                <a:t>16QAM: 1 symbol =&gt; 4 bits</a:t>
              </a:r>
            </a:p>
            <a:p>
              <a:pPr>
                <a:spcBef>
                  <a:spcPct val="0"/>
                </a:spcBef>
                <a:buSzTx/>
                <a:buFontTx/>
                <a:buNone/>
              </a:pPr>
              <a:endParaRPr lang="en-US" altLang="en-US" sz="1600">
                <a:solidFill>
                  <a:srgbClr val="3333CC"/>
                </a:solidFill>
              </a:endParaRPr>
            </a:p>
            <a:p>
              <a:pPr>
                <a:spcBef>
                  <a:spcPct val="0"/>
                </a:spcBef>
                <a:buSzTx/>
                <a:buFontTx/>
                <a:buNone/>
              </a:pPr>
              <a:r>
                <a:rPr lang="en-US" altLang="en-US" sz="1600">
                  <a:solidFill>
                    <a:srgbClr val="3333CC"/>
                  </a:solidFill>
                </a:rPr>
                <a:t>Symbol rate = 1/4 bit rate</a:t>
              </a:r>
              <a:endParaRPr lang="en-US" altLang="en-US" sz="1600"/>
            </a:p>
          </p:txBody>
        </p:sp>
        <p:sp>
          <p:nvSpPr>
            <p:cNvPr id="50187" name="Text Box 173"/>
            <p:cNvSpPr txBox="1">
              <a:spLocks noChangeArrowheads="1"/>
            </p:cNvSpPr>
            <p:nvPr/>
          </p:nvSpPr>
          <p:spPr bwMode="auto">
            <a:xfrm>
              <a:off x="3191" y="3069"/>
              <a:ext cx="167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3333CC"/>
                  </a:solidFill>
                </a:rPr>
                <a:t>64QAM: 1 symbol =&gt; 6 bits</a:t>
              </a:r>
            </a:p>
            <a:p>
              <a:pPr>
                <a:spcBef>
                  <a:spcPct val="0"/>
                </a:spcBef>
                <a:buSzTx/>
                <a:buFontTx/>
                <a:buNone/>
              </a:pPr>
              <a:endParaRPr lang="en-US" altLang="en-US" sz="1600">
                <a:solidFill>
                  <a:srgbClr val="3333CC"/>
                </a:solidFill>
              </a:endParaRPr>
            </a:p>
            <a:p>
              <a:pPr>
                <a:spcBef>
                  <a:spcPct val="0"/>
                </a:spcBef>
                <a:buSzTx/>
                <a:buFontTx/>
                <a:buNone/>
              </a:pPr>
              <a:r>
                <a:rPr lang="en-US" altLang="en-US" sz="1600">
                  <a:solidFill>
                    <a:srgbClr val="3333CC"/>
                  </a:solidFill>
                </a:rPr>
                <a:t>Symbol rate = 1/6 bit rate</a:t>
              </a:r>
            </a:p>
          </p:txBody>
        </p:sp>
      </p:grpSp>
      <p:sp>
        <p:nvSpPr>
          <p:cNvPr id="180"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QAM</a:t>
            </a:r>
          </a:p>
          <a:p>
            <a:r>
              <a:rPr lang="en-GB" sz="2400" b="1" dirty="0">
                <a:solidFill>
                  <a:srgbClr val="C00000"/>
                </a:solidFill>
                <a:latin typeface="Arial Black" panose="020B0A04020102020204" pitchFamily="34" charset="0"/>
              </a:rPr>
              <a:t>Quadrature Amplitude Modulation(QAM)  Constellation (1)</a:t>
            </a:r>
            <a:endParaRPr lang="en-US" sz="2400" b="1" dirty="0">
              <a:solidFill>
                <a:srgbClr val="C00000"/>
              </a:solidFill>
              <a:latin typeface="Arial Black" panose="020B0A04020102020204" pitchFamily="34" charset="0"/>
            </a:endParaRPr>
          </a:p>
        </p:txBody>
      </p:sp>
      <p:sp>
        <p:nvSpPr>
          <p:cNvPr id="181" name="Rectangle 180">
            <a:extLst>
              <a:ext uri="{FF2B5EF4-FFF2-40B4-BE49-F238E27FC236}">
                <a16:creationId xmlns:a16="http://schemas.microsoft.com/office/drawing/2014/main" id="{FEFEA23A-F525-4F23-A98F-367A01D734D0}"/>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82" name="Footer Placeholder 4">
            <a:extLst>
              <a:ext uri="{FF2B5EF4-FFF2-40B4-BE49-F238E27FC236}">
                <a16:creationId xmlns:a16="http://schemas.microsoft.com/office/drawing/2014/main" id="{471E4BCE-7B08-4D0A-AE53-30212E8CBACC}"/>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28 of 41</a:t>
            </a:r>
            <a:endParaRPr lang="en-US" sz="1200" dirty="0"/>
          </a:p>
        </p:txBody>
      </p:sp>
      <p:pic>
        <p:nvPicPr>
          <p:cNvPr id="2" name="Pg28">
            <a:hlinkClick r:id="" action="ppaction://media"/>
            <a:extLst>
              <a:ext uri="{FF2B5EF4-FFF2-40B4-BE49-F238E27FC236}">
                <a16:creationId xmlns:a16="http://schemas.microsoft.com/office/drawing/2014/main" id="{AC00BE3C-8928-43DA-BA60-72E3CDEE4AF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4425" y="5852566"/>
            <a:ext cx="609600" cy="609600"/>
          </a:xfrm>
          <a:prstGeom prst="rect">
            <a:avLst/>
          </a:prstGeom>
        </p:spPr>
      </p:pic>
      <p:sp>
        <p:nvSpPr>
          <p:cNvPr id="3" name="Rectangle 2">
            <a:extLst>
              <a:ext uri="{FF2B5EF4-FFF2-40B4-BE49-F238E27FC236}">
                <a16:creationId xmlns:a16="http://schemas.microsoft.com/office/drawing/2014/main" id="{F2415C50-ABDE-AAD3-B0D2-C7C9A531A3AA}"/>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4099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83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74987" y="-106162"/>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SG" sz="3600" b="1" dirty="0">
                <a:solidFill>
                  <a:srgbClr val="C00000"/>
                </a:solidFill>
                <a:latin typeface="+mn-lt"/>
              </a:rPr>
              <a:t>Digital Modulation Schemes</a:t>
            </a:r>
          </a:p>
          <a:p>
            <a:pPr algn="l"/>
            <a:r>
              <a:rPr lang="en-SG" sz="2400" b="1" dirty="0">
                <a:solidFill>
                  <a:srgbClr val="C00000"/>
                </a:solidFill>
                <a:latin typeface="Arial Black" panose="020B0A04020102020204" pitchFamily="34" charset="0"/>
              </a:rPr>
              <a:t>What is Digital Modulation? </a:t>
            </a:r>
            <a:endParaRPr lang="en-US" sz="2400" b="1" dirty="0">
              <a:solidFill>
                <a:srgbClr val="C00000"/>
              </a:solidFill>
              <a:latin typeface="Arial Black" panose="020B0A04020102020204" pitchFamily="34" charset="0"/>
            </a:endParaRPr>
          </a:p>
        </p:txBody>
      </p:sp>
      <p:sp>
        <p:nvSpPr>
          <p:cNvPr id="3" name="Rectangle 2"/>
          <p:cNvSpPr/>
          <p:nvPr/>
        </p:nvSpPr>
        <p:spPr>
          <a:xfrm>
            <a:off x="874987" y="1479550"/>
            <a:ext cx="10691371" cy="4093428"/>
          </a:xfrm>
          <a:prstGeom prst="rect">
            <a:avLst/>
          </a:prstGeom>
        </p:spPr>
        <p:txBody>
          <a:bodyPr wrap="square">
            <a:spAutoFit/>
          </a:bodyPr>
          <a:lstStyle/>
          <a:p>
            <a:r>
              <a:rPr lang="en-GB" sz="2400" dirty="0">
                <a:solidFill>
                  <a:srgbClr val="FF0000"/>
                </a:solidFill>
                <a:ea typeface="Times New Roman" panose="02020603050405020304" pitchFamily="18" charset="0"/>
                <a:cs typeface="Times New Roman" panose="02020603050405020304" pitchFamily="18" charset="0"/>
              </a:rPr>
              <a:t>Question 5</a:t>
            </a:r>
          </a:p>
          <a:p>
            <a:r>
              <a:rPr lang="en-US" sz="2400" i="1" dirty="0"/>
              <a:t>State a figure of merit commonly used to characterize the overall performance of a digital communication system.</a:t>
            </a:r>
          </a:p>
          <a:p>
            <a:endParaRPr lang="en-GB" sz="1000" i="1" dirty="0"/>
          </a:p>
          <a:p>
            <a:r>
              <a:rPr lang="en-GB" sz="2400" dirty="0">
                <a:solidFill>
                  <a:srgbClr val="FF0000"/>
                </a:solidFill>
                <a:ea typeface="Times New Roman" panose="02020603050405020304" pitchFamily="18" charset="0"/>
                <a:cs typeface="Times New Roman" panose="02020603050405020304" pitchFamily="18" charset="0"/>
              </a:rPr>
              <a:t>ANS</a:t>
            </a:r>
          </a:p>
          <a:p>
            <a:r>
              <a:rPr lang="en-US" sz="2400" dirty="0"/>
              <a:t>Bit Error Rate</a:t>
            </a:r>
          </a:p>
          <a:p>
            <a:endParaRPr lang="en-US" sz="2400" i="1" dirty="0">
              <a:solidFill>
                <a:srgbClr val="FF0000"/>
              </a:solidFill>
              <a:ea typeface="Times New Roman" panose="02020603050405020304" pitchFamily="18" charset="0"/>
              <a:cs typeface="Times New Roman" panose="02020603050405020304" pitchFamily="18" charset="0"/>
            </a:endParaRPr>
          </a:p>
          <a:p>
            <a:r>
              <a:rPr lang="en-GB" sz="2400" dirty="0">
                <a:solidFill>
                  <a:srgbClr val="FF0000"/>
                </a:solidFill>
                <a:ea typeface="Times New Roman" panose="02020603050405020304" pitchFamily="18" charset="0"/>
                <a:cs typeface="Times New Roman" panose="02020603050405020304" pitchFamily="18" charset="0"/>
              </a:rPr>
              <a:t>Question 6</a:t>
            </a:r>
            <a:endParaRPr lang="en-US" sz="2400" i="1" dirty="0">
              <a:solidFill>
                <a:srgbClr val="FF0000"/>
              </a:solidFill>
              <a:ea typeface="Times New Roman" panose="02020603050405020304" pitchFamily="18" charset="0"/>
              <a:cs typeface="Times New Roman" panose="02020603050405020304" pitchFamily="18" charset="0"/>
            </a:endParaRPr>
          </a:p>
          <a:p>
            <a:r>
              <a:rPr lang="en-US" sz="2400" i="1" dirty="0"/>
              <a:t>Name a method of analyzing digital modulated signals.</a:t>
            </a:r>
          </a:p>
          <a:p>
            <a:endParaRPr lang="en-US" sz="1000" i="1" dirty="0"/>
          </a:p>
          <a:p>
            <a:r>
              <a:rPr lang="en-US" sz="2400" dirty="0">
                <a:solidFill>
                  <a:srgbClr val="FF0000"/>
                </a:solidFill>
              </a:rPr>
              <a:t>ANS</a:t>
            </a:r>
          </a:p>
          <a:p>
            <a:r>
              <a:rPr lang="en-US" sz="2400" dirty="0"/>
              <a:t>Vector diagram or </a:t>
            </a:r>
            <a:r>
              <a:rPr lang="en-GB" sz="2400" dirty="0"/>
              <a:t>Constellation Diagram </a:t>
            </a:r>
            <a:r>
              <a:rPr lang="en-US" dirty="0"/>
              <a:t>	</a:t>
            </a:r>
            <a:endParaRPr lang="en-GB" sz="2400" i="1" dirty="0">
              <a:solidFill>
                <a:srgbClr val="FF0000"/>
              </a:solidFill>
              <a:ea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1C3CF56-B4CC-4C5C-9A30-2990DDE0B6C8}"/>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7" name="Footer Placeholder 4">
            <a:extLst>
              <a:ext uri="{FF2B5EF4-FFF2-40B4-BE49-F238E27FC236}">
                <a16:creationId xmlns:a16="http://schemas.microsoft.com/office/drawing/2014/main" id="{20F4469C-1005-4AE5-A6F7-84B6275A1855}"/>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29 of 41</a:t>
            </a:r>
            <a:endParaRPr lang="en-US" sz="1200" dirty="0"/>
          </a:p>
        </p:txBody>
      </p:sp>
      <p:pic>
        <p:nvPicPr>
          <p:cNvPr id="2" name="Pg29">
            <a:hlinkClick r:id="" action="ppaction://media"/>
            <a:extLst>
              <a:ext uri="{FF2B5EF4-FFF2-40B4-BE49-F238E27FC236}">
                <a16:creationId xmlns:a16="http://schemas.microsoft.com/office/drawing/2014/main" id="{D80CA1DA-8BBF-43A2-967C-4FF49C97938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6432" y="5676192"/>
            <a:ext cx="609600" cy="609600"/>
          </a:xfrm>
          <a:prstGeom prst="rect">
            <a:avLst/>
          </a:prstGeom>
        </p:spPr>
      </p:pic>
      <p:sp>
        <p:nvSpPr>
          <p:cNvPr id="4" name="Rectangle 3">
            <a:extLst>
              <a:ext uri="{FF2B5EF4-FFF2-40B4-BE49-F238E27FC236}">
                <a16:creationId xmlns:a16="http://schemas.microsoft.com/office/drawing/2014/main" id="{ADA72060-BEA8-B835-3119-2CECD2FD6982}"/>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8960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4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3"/>
          <a:stretch>
            <a:fillRect/>
          </a:stretch>
        </p:blipFill>
        <p:spPr>
          <a:xfrm>
            <a:off x="260654" y="5853409"/>
            <a:ext cx="1762125" cy="542925"/>
          </a:xfrm>
          <a:prstGeom prst="rect">
            <a:avLst/>
          </a:prstGeom>
        </p:spPr>
      </p:pic>
      <p:sp>
        <p:nvSpPr>
          <p:cNvPr id="10" name="TextBox 9">
            <a:hlinkClick r:id="rId4"/>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effectLst/>
                <a:latin typeface="Roboto" panose="02000000000000000000" pitchFamily="2" charset="0"/>
              </a:rPr>
              <a:t>Digital Mod Part 8. How Error Vector Magnitude, EVM can be used as Modulation Quality Metric.</a:t>
            </a:r>
          </a:p>
          <a:p>
            <a:r>
              <a:rPr lang="en-SG" b="0" i="0" u="none" strike="noStrike" dirty="0">
                <a:effectLst/>
                <a:latin typeface="Roboto" panose="02000000000000000000" pitchFamily="2" charset="0"/>
                <a:hlinkClick r:id="rId4"/>
              </a:rPr>
              <a:t>https://youtu.be/BVbGugzt-FY</a:t>
            </a:r>
            <a:endParaRPr lang="en-SG" b="0" i="0" dirty="0">
              <a:effectLst/>
              <a:latin typeface="Roboto" panose="02000000000000000000" pitchFamily="2" charset="0"/>
            </a:endParaRPr>
          </a:p>
        </p:txBody>
      </p:sp>
      <p:pic>
        <p:nvPicPr>
          <p:cNvPr id="4100" name="Picture 4" descr="Miscellaneous Video's – Centurian Park Family">
            <a:hlinkClick r:id="rId4"/>
            <a:extLst>
              <a:ext uri="{FF2B5EF4-FFF2-40B4-BE49-F238E27FC236}">
                <a16:creationId xmlns:a16="http://schemas.microsoft.com/office/drawing/2014/main" id="{F2FC59B5-8F70-388F-0F76-A765F7749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4"/>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hlinkClick r:id="rId4"/>
            <a:extLst>
              <a:ext uri="{FF2B5EF4-FFF2-40B4-BE49-F238E27FC236}">
                <a16:creationId xmlns:a16="http://schemas.microsoft.com/office/drawing/2014/main" id="{AD66F1BB-2A41-51B7-08A2-968AE15F6342}"/>
              </a:ext>
            </a:extLst>
          </p:cNvPr>
          <p:cNvPicPr>
            <a:picLocks noChangeAspect="1"/>
          </p:cNvPicPr>
          <p:nvPr/>
        </p:nvPicPr>
        <p:blipFill>
          <a:blip r:embed="rId6"/>
          <a:stretch>
            <a:fillRect/>
          </a:stretch>
        </p:blipFill>
        <p:spPr>
          <a:xfrm>
            <a:off x="462643" y="366393"/>
            <a:ext cx="8981990" cy="5017218"/>
          </a:xfrm>
          <a:prstGeom prst="rect">
            <a:avLst/>
          </a:prstGeom>
        </p:spPr>
      </p:pic>
    </p:spTree>
    <p:extLst>
      <p:ext uri="{BB962C8B-B14F-4D97-AF65-F5344CB8AC3E}">
        <p14:creationId xmlns:p14="http://schemas.microsoft.com/office/powerpoint/2010/main" val="512164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BPSK</a:t>
            </a:r>
          </a:p>
          <a:p>
            <a:r>
              <a:rPr lang="en-GB" sz="2400" b="1" dirty="0">
                <a:solidFill>
                  <a:srgbClr val="C00000"/>
                </a:solidFill>
                <a:latin typeface="Arial Black" panose="020B0A04020102020204" pitchFamily="34" charset="0"/>
              </a:rPr>
              <a:t>BPSK Modulator</a:t>
            </a:r>
            <a:endParaRPr lang="en-US" sz="2400" b="1" dirty="0">
              <a:solidFill>
                <a:srgbClr val="C00000"/>
              </a:solidFill>
              <a:latin typeface="Arial Black" panose="020B0A04020102020204" pitchFamily="34" charset="0"/>
            </a:endParaRPr>
          </a:p>
        </p:txBody>
      </p:sp>
      <p:pic>
        <p:nvPicPr>
          <p:cNvPr id="3" name="Picture 2">
            <a:extLst>
              <a:ext uri="{FF2B5EF4-FFF2-40B4-BE49-F238E27FC236}">
                <a16:creationId xmlns:a16="http://schemas.microsoft.com/office/drawing/2014/main" id="{322A21D3-A402-462B-ADEE-A439BE7A95DD}"/>
              </a:ext>
            </a:extLst>
          </p:cNvPr>
          <p:cNvPicPr>
            <a:picLocks noChangeAspect="1"/>
          </p:cNvPicPr>
          <p:nvPr/>
        </p:nvPicPr>
        <p:blipFill>
          <a:blip r:embed="rId3"/>
          <a:stretch>
            <a:fillRect/>
          </a:stretch>
        </p:blipFill>
        <p:spPr>
          <a:xfrm>
            <a:off x="1357312" y="1350936"/>
            <a:ext cx="9001913" cy="4686423"/>
          </a:xfrm>
          <a:prstGeom prst="rect">
            <a:avLst/>
          </a:prstGeom>
        </p:spPr>
      </p:pic>
      <p:sp>
        <p:nvSpPr>
          <p:cNvPr id="7" name="Rectangle 6">
            <a:extLst>
              <a:ext uri="{FF2B5EF4-FFF2-40B4-BE49-F238E27FC236}">
                <a16:creationId xmlns:a16="http://schemas.microsoft.com/office/drawing/2014/main" id="{969B8ABC-A5BE-4129-8303-E9E03E3FF8DF}"/>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8" name="Footer Placeholder 4">
            <a:extLst>
              <a:ext uri="{FF2B5EF4-FFF2-40B4-BE49-F238E27FC236}">
                <a16:creationId xmlns:a16="http://schemas.microsoft.com/office/drawing/2014/main" id="{5578EB4E-A585-44F1-AB63-611416D3AFF2}"/>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30 of 41</a:t>
            </a:r>
            <a:endParaRPr lang="en-US" sz="1200" dirty="0"/>
          </a:p>
        </p:txBody>
      </p:sp>
      <p:sp>
        <p:nvSpPr>
          <p:cNvPr id="2" name="Rectangle 1">
            <a:extLst>
              <a:ext uri="{FF2B5EF4-FFF2-40B4-BE49-F238E27FC236}">
                <a16:creationId xmlns:a16="http://schemas.microsoft.com/office/drawing/2014/main" id="{E82714FC-8149-581C-41DF-3E8CDF648C2D}"/>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59384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BPSK</a:t>
            </a:r>
          </a:p>
          <a:p>
            <a:r>
              <a:rPr lang="en-GB" sz="2400" b="1" dirty="0">
                <a:solidFill>
                  <a:srgbClr val="C00000"/>
                </a:solidFill>
                <a:latin typeface="Arial Black" panose="020B0A04020102020204" pitchFamily="34" charset="0"/>
              </a:rPr>
              <a:t>BPSK Modulator</a:t>
            </a:r>
            <a:endParaRPr lang="en-US" sz="2400" b="1" dirty="0">
              <a:solidFill>
                <a:srgbClr val="C00000"/>
              </a:solidFill>
              <a:latin typeface="Arial Black" panose="020B0A04020102020204" pitchFamily="34" charset="0"/>
            </a:endParaRPr>
          </a:p>
        </p:txBody>
      </p:sp>
      <p:sp>
        <p:nvSpPr>
          <p:cNvPr id="6" name="Rectangle 3">
            <a:extLst>
              <a:ext uri="{FF2B5EF4-FFF2-40B4-BE49-F238E27FC236}">
                <a16:creationId xmlns:a16="http://schemas.microsoft.com/office/drawing/2014/main" id="{83D0901D-EB4E-4CB6-8AED-1F5235275D18}"/>
              </a:ext>
            </a:extLst>
          </p:cNvPr>
          <p:cNvSpPr txBox="1">
            <a:spLocks noChangeArrowheads="1"/>
          </p:cNvSpPr>
          <p:nvPr/>
        </p:nvSpPr>
        <p:spPr>
          <a:xfrm>
            <a:off x="613611" y="1404185"/>
            <a:ext cx="10920663" cy="4191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sz="2400" dirty="0"/>
              <a:t>There are two switches, S1 and S2 in the diagram. Whether the switches are on or off are depend on the  data bits (100 Hz). For example, when the data is 1, switch S1 will be on and switch S2 will be off. </a:t>
            </a:r>
          </a:p>
          <a:p>
            <a:pPr algn="just"/>
            <a:r>
              <a:rPr lang="en-GB" altLang="en-US" sz="2400" dirty="0"/>
              <a:t>The carrier wave being higher frequency (1KHz) has two signals. One signal is in phase and another one is 180 degree out of phase. Which carrier signal (in phase or out of phase) appears on the output depends on which switch is on,</a:t>
            </a:r>
          </a:p>
          <a:p>
            <a:pPr algn="just"/>
            <a:r>
              <a:rPr lang="en-GB" altLang="en-US" sz="2400" dirty="0"/>
              <a:t>When the data is one, switch 1 will be on and switch 2 will be off. When switch 1 is on, the carrier signal, in phase will appear at the output. </a:t>
            </a:r>
          </a:p>
          <a:p>
            <a:pPr algn="just"/>
            <a:r>
              <a:rPr lang="en-GB" altLang="en-US" sz="2400" dirty="0"/>
              <a:t>When the data is zero, switch 2 will be on and switch 1 will be off. When switch 2 is on, the carrier signal, out of phase will appear at the output</a:t>
            </a:r>
          </a:p>
        </p:txBody>
      </p:sp>
      <p:sp>
        <p:nvSpPr>
          <p:cNvPr id="8" name="Rectangle 7">
            <a:extLst>
              <a:ext uri="{FF2B5EF4-FFF2-40B4-BE49-F238E27FC236}">
                <a16:creationId xmlns:a16="http://schemas.microsoft.com/office/drawing/2014/main" id="{E5BDB4C8-EADE-4DBF-A4C2-C7EDEAE11D42}"/>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9" name="Footer Placeholder 4">
            <a:extLst>
              <a:ext uri="{FF2B5EF4-FFF2-40B4-BE49-F238E27FC236}">
                <a16:creationId xmlns:a16="http://schemas.microsoft.com/office/drawing/2014/main" id="{B3602CDE-0D5A-4604-80E6-30BA99C4B06B}"/>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31 of 41</a:t>
            </a:r>
            <a:endParaRPr lang="en-US" sz="1200" dirty="0"/>
          </a:p>
        </p:txBody>
      </p:sp>
      <p:pic>
        <p:nvPicPr>
          <p:cNvPr id="2" name="Pg31">
            <a:hlinkClick r:id="" action="ppaction://media"/>
            <a:extLst>
              <a:ext uri="{FF2B5EF4-FFF2-40B4-BE49-F238E27FC236}">
                <a16:creationId xmlns:a16="http://schemas.microsoft.com/office/drawing/2014/main" id="{2FA03158-461F-4A2E-BE6E-D384749139E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98137" y="5774324"/>
            <a:ext cx="609600" cy="609600"/>
          </a:xfrm>
          <a:prstGeom prst="rect">
            <a:avLst/>
          </a:prstGeom>
        </p:spPr>
      </p:pic>
      <p:sp>
        <p:nvSpPr>
          <p:cNvPr id="3" name="Rectangle 2">
            <a:extLst>
              <a:ext uri="{FF2B5EF4-FFF2-40B4-BE49-F238E27FC236}">
                <a16:creationId xmlns:a16="http://schemas.microsoft.com/office/drawing/2014/main" id="{24AC2832-C4BC-52CD-2F70-E736E6F78CA6}"/>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7394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88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08810" y="1424561"/>
            <a:ext cx="8409607" cy="4032357"/>
            <a:chOff x="2324351" y="1969907"/>
            <a:chExt cx="6965901" cy="2934432"/>
          </a:xfrm>
        </p:grpSpPr>
        <p:grpSp>
          <p:nvGrpSpPr>
            <p:cNvPr id="66564" name="Group 4"/>
            <p:cNvGrpSpPr>
              <a:grpSpLocks/>
            </p:cNvGrpSpPr>
            <p:nvPr/>
          </p:nvGrpSpPr>
          <p:grpSpPr bwMode="auto">
            <a:xfrm>
              <a:off x="4989763" y="2271211"/>
              <a:ext cx="457200" cy="457200"/>
              <a:chOff x="1248" y="2160"/>
              <a:chExt cx="288" cy="288"/>
            </a:xfrm>
          </p:grpSpPr>
          <p:sp>
            <p:nvSpPr>
              <p:cNvPr id="66686" name="Rectangle 5"/>
              <p:cNvSpPr>
                <a:spLocks noChangeArrowheads="1"/>
              </p:cNvSpPr>
              <p:nvPr/>
            </p:nvSpPr>
            <p:spPr bwMode="auto">
              <a:xfrm>
                <a:off x="1248" y="2160"/>
                <a:ext cx="288" cy="288"/>
              </a:xfrm>
              <a:prstGeom prst="rect">
                <a:avLst/>
              </a:prstGeom>
              <a:solidFill>
                <a:srgbClr val="CCFFFF"/>
              </a:solidFill>
              <a:ln w="2857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grpSp>
            <p:nvGrpSpPr>
              <p:cNvPr id="66687" name="Group 6"/>
              <p:cNvGrpSpPr>
                <a:grpSpLocks/>
              </p:cNvGrpSpPr>
              <p:nvPr/>
            </p:nvGrpSpPr>
            <p:grpSpPr bwMode="auto">
              <a:xfrm>
                <a:off x="1340" y="2205"/>
                <a:ext cx="106" cy="46"/>
                <a:chOff x="4223" y="1377"/>
                <a:chExt cx="62" cy="29"/>
              </a:xfrm>
            </p:grpSpPr>
            <p:grpSp>
              <p:nvGrpSpPr>
                <p:cNvPr id="66704" name="Group 7"/>
                <p:cNvGrpSpPr>
                  <a:grpSpLocks/>
                </p:cNvGrpSpPr>
                <p:nvPr/>
              </p:nvGrpSpPr>
              <p:grpSpPr bwMode="auto">
                <a:xfrm>
                  <a:off x="4258" y="1391"/>
                  <a:ext cx="27" cy="15"/>
                  <a:chOff x="4258" y="1391"/>
                  <a:chExt cx="27" cy="15"/>
                </a:xfrm>
              </p:grpSpPr>
              <p:sp>
                <p:nvSpPr>
                  <p:cNvPr id="66708" name="Arc 8"/>
                  <p:cNvSpPr>
                    <a:spLocks/>
                  </p:cNvSpPr>
                  <p:nvPr/>
                </p:nvSpPr>
                <p:spPr bwMode="auto">
                  <a:xfrm>
                    <a:off x="4258"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709" name="Arc 9"/>
                  <p:cNvSpPr>
                    <a:spLocks/>
                  </p:cNvSpPr>
                  <p:nvPr/>
                </p:nvSpPr>
                <p:spPr bwMode="auto">
                  <a:xfrm>
                    <a:off x="4271"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705" name="Group 10"/>
                <p:cNvGrpSpPr>
                  <a:grpSpLocks/>
                </p:cNvGrpSpPr>
                <p:nvPr/>
              </p:nvGrpSpPr>
              <p:grpSpPr bwMode="auto">
                <a:xfrm>
                  <a:off x="4223" y="1377"/>
                  <a:ext cx="27" cy="15"/>
                  <a:chOff x="4223" y="1377"/>
                  <a:chExt cx="27" cy="15"/>
                </a:xfrm>
              </p:grpSpPr>
              <p:sp>
                <p:nvSpPr>
                  <p:cNvPr id="66706" name="Arc 11"/>
                  <p:cNvSpPr>
                    <a:spLocks/>
                  </p:cNvSpPr>
                  <p:nvPr/>
                </p:nvSpPr>
                <p:spPr bwMode="auto">
                  <a:xfrm>
                    <a:off x="4223" y="1377"/>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707" name="Arc 12"/>
                  <p:cNvSpPr>
                    <a:spLocks/>
                  </p:cNvSpPr>
                  <p:nvPr/>
                </p:nvSpPr>
                <p:spPr bwMode="auto">
                  <a:xfrm>
                    <a:off x="4236" y="1377"/>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88" name="Group 13"/>
              <p:cNvGrpSpPr>
                <a:grpSpLocks/>
              </p:cNvGrpSpPr>
              <p:nvPr/>
            </p:nvGrpSpPr>
            <p:grpSpPr bwMode="auto">
              <a:xfrm>
                <a:off x="1340" y="2281"/>
                <a:ext cx="106" cy="45"/>
                <a:chOff x="4223" y="1425"/>
                <a:chExt cx="62" cy="29"/>
              </a:xfrm>
            </p:grpSpPr>
            <p:grpSp>
              <p:nvGrpSpPr>
                <p:cNvPr id="66698" name="Group 14"/>
                <p:cNvGrpSpPr>
                  <a:grpSpLocks/>
                </p:cNvGrpSpPr>
                <p:nvPr/>
              </p:nvGrpSpPr>
              <p:grpSpPr bwMode="auto">
                <a:xfrm>
                  <a:off x="4258" y="1439"/>
                  <a:ext cx="27" cy="15"/>
                  <a:chOff x="4258" y="1439"/>
                  <a:chExt cx="27" cy="15"/>
                </a:xfrm>
              </p:grpSpPr>
              <p:sp>
                <p:nvSpPr>
                  <p:cNvPr id="66702" name="Arc 15"/>
                  <p:cNvSpPr>
                    <a:spLocks/>
                  </p:cNvSpPr>
                  <p:nvPr/>
                </p:nvSpPr>
                <p:spPr bwMode="auto">
                  <a:xfrm>
                    <a:off x="4258"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703" name="Arc 16"/>
                  <p:cNvSpPr>
                    <a:spLocks/>
                  </p:cNvSpPr>
                  <p:nvPr/>
                </p:nvSpPr>
                <p:spPr bwMode="auto">
                  <a:xfrm>
                    <a:off x="4271"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99" name="Group 17"/>
                <p:cNvGrpSpPr>
                  <a:grpSpLocks/>
                </p:cNvGrpSpPr>
                <p:nvPr/>
              </p:nvGrpSpPr>
              <p:grpSpPr bwMode="auto">
                <a:xfrm>
                  <a:off x="4223" y="1425"/>
                  <a:ext cx="27" cy="15"/>
                  <a:chOff x="4223" y="1425"/>
                  <a:chExt cx="27" cy="15"/>
                </a:xfrm>
              </p:grpSpPr>
              <p:sp>
                <p:nvSpPr>
                  <p:cNvPr id="66700" name="Arc 18"/>
                  <p:cNvSpPr>
                    <a:spLocks/>
                  </p:cNvSpPr>
                  <p:nvPr/>
                </p:nvSpPr>
                <p:spPr bwMode="auto">
                  <a:xfrm>
                    <a:off x="4223" y="1425"/>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701" name="Arc 19"/>
                  <p:cNvSpPr>
                    <a:spLocks/>
                  </p:cNvSpPr>
                  <p:nvPr/>
                </p:nvSpPr>
                <p:spPr bwMode="auto">
                  <a:xfrm>
                    <a:off x="4236" y="1425"/>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89" name="Group 20"/>
              <p:cNvGrpSpPr>
                <a:grpSpLocks/>
              </p:cNvGrpSpPr>
              <p:nvPr/>
            </p:nvGrpSpPr>
            <p:grpSpPr bwMode="auto">
              <a:xfrm>
                <a:off x="1340" y="2356"/>
                <a:ext cx="106" cy="45"/>
                <a:chOff x="4223" y="1473"/>
                <a:chExt cx="62" cy="29"/>
              </a:xfrm>
            </p:grpSpPr>
            <p:grpSp>
              <p:nvGrpSpPr>
                <p:cNvPr id="66692" name="Group 21"/>
                <p:cNvGrpSpPr>
                  <a:grpSpLocks/>
                </p:cNvGrpSpPr>
                <p:nvPr/>
              </p:nvGrpSpPr>
              <p:grpSpPr bwMode="auto">
                <a:xfrm>
                  <a:off x="4258" y="1487"/>
                  <a:ext cx="27" cy="15"/>
                  <a:chOff x="4258" y="1487"/>
                  <a:chExt cx="27" cy="15"/>
                </a:xfrm>
              </p:grpSpPr>
              <p:sp>
                <p:nvSpPr>
                  <p:cNvPr id="66696" name="Arc 22"/>
                  <p:cNvSpPr>
                    <a:spLocks/>
                  </p:cNvSpPr>
                  <p:nvPr/>
                </p:nvSpPr>
                <p:spPr bwMode="auto">
                  <a:xfrm>
                    <a:off x="4258"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97" name="Arc 23"/>
                  <p:cNvSpPr>
                    <a:spLocks/>
                  </p:cNvSpPr>
                  <p:nvPr/>
                </p:nvSpPr>
                <p:spPr bwMode="auto">
                  <a:xfrm>
                    <a:off x="4271"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93" name="Group 24"/>
                <p:cNvGrpSpPr>
                  <a:grpSpLocks/>
                </p:cNvGrpSpPr>
                <p:nvPr/>
              </p:nvGrpSpPr>
              <p:grpSpPr bwMode="auto">
                <a:xfrm>
                  <a:off x="4223" y="1473"/>
                  <a:ext cx="27" cy="15"/>
                  <a:chOff x="4223" y="1473"/>
                  <a:chExt cx="27" cy="15"/>
                </a:xfrm>
              </p:grpSpPr>
              <p:sp>
                <p:nvSpPr>
                  <p:cNvPr id="66694" name="Arc 25"/>
                  <p:cNvSpPr>
                    <a:spLocks/>
                  </p:cNvSpPr>
                  <p:nvPr/>
                </p:nvSpPr>
                <p:spPr bwMode="auto">
                  <a:xfrm>
                    <a:off x="4223" y="1473"/>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95" name="Arc 26"/>
                  <p:cNvSpPr>
                    <a:spLocks/>
                  </p:cNvSpPr>
                  <p:nvPr/>
                </p:nvSpPr>
                <p:spPr bwMode="auto">
                  <a:xfrm>
                    <a:off x="4236" y="1473"/>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sp>
            <p:nvSpPr>
              <p:cNvPr id="66690" name="Line 27"/>
              <p:cNvSpPr>
                <a:spLocks noChangeShapeType="1"/>
              </p:cNvSpPr>
              <p:nvPr/>
            </p:nvSpPr>
            <p:spPr bwMode="auto">
              <a:xfrm flipV="1">
                <a:off x="1376" y="2265"/>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1" name="Line 28"/>
              <p:cNvSpPr>
                <a:spLocks noChangeShapeType="1"/>
              </p:cNvSpPr>
              <p:nvPr/>
            </p:nvSpPr>
            <p:spPr bwMode="auto">
              <a:xfrm flipV="1">
                <a:off x="1376" y="2190"/>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565" name="Group 29"/>
            <p:cNvGrpSpPr>
              <a:grpSpLocks/>
            </p:cNvGrpSpPr>
            <p:nvPr/>
          </p:nvGrpSpPr>
          <p:grpSpPr bwMode="auto">
            <a:xfrm>
              <a:off x="4991351" y="4090486"/>
              <a:ext cx="457200" cy="457200"/>
              <a:chOff x="1248" y="2160"/>
              <a:chExt cx="288" cy="288"/>
            </a:xfrm>
          </p:grpSpPr>
          <p:sp>
            <p:nvSpPr>
              <p:cNvPr id="66662" name="Rectangle 30"/>
              <p:cNvSpPr>
                <a:spLocks noChangeArrowheads="1"/>
              </p:cNvSpPr>
              <p:nvPr/>
            </p:nvSpPr>
            <p:spPr bwMode="auto">
              <a:xfrm>
                <a:off x="1248" y="2160"/>
                <a:ext cx="288" cy="288"/>
              </a:xfrm>
              <a:prstGeom prst="rect">
                <a:avLst/>
              </a:prstGeom>
              <a:solidFill>
                <a:srgbClr val="CCFFFF"/>
              </a:solidFill>
              <a:ln w="2857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grpSp>
            <p:nvGrpSpPr>
              <p:cNvPr id="66663" name="Group 31"/>
              <p:cNvGrpSpPr>
                <a:grpSpLocks/>
              </p:cNvGrpSpPr>
              <p:nvPr/>
            </p:nvGrpSpPr>
            <p:grpSpPr bwMode="auto">
              <a:xfrm>
                <a:off x="1340" y="2205"/>
                <a:ext cx="106" cy="46"/>
                <a:chOff x="4223" y="1377"/>
                <a:chExt cx="62" cy="29"/>
              </a:xfrm>
            </p:grpSpPr>
            <p:grpSp>
              <p:nvGrpSpPr>
                <p:cNvPr id="66680" name="Group 32"/>
                <p:cNvGrpSpPr>
                  <a:grpSpLocks/>
                </p:cNvGrpSpPr>
                <p:nvPr/>
              </p:nvGrpSpPr>
              <p:grpSpPr bwMode="auto">
                <a:xfrm>
                  <a:off x="4258" y="1391"/>
                  <a:ext cx="27" cy="15"/>
                  <a:chOff x="4258" y="1391"/>
                  <a:chExt cx="27" cy="15"/>
                </a:xfrm>
              </p:grpSpPr>
              <p:sp>
                <p:nvSpPr>
                  <p:cNvPr id="66684" name="Arc 33"/>
                  <p:cNvSpPr>
                    <a:spLocks/>
                  </p:cNvSpPr>
                  <p:nvPr/>
                </p:nvSpPr>
                <p:spPr bwMode="auto">
                  <a:xfrm>
                    <a:off x="4258"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85" name="Arc 34"/>
                  <p:cNvSpPr>
                    <a:spLocks/>
                  </p:cNvSpPr>
                  <p:nvPr/>
                </p:nvSpPr>
                <p:spPr bwMode="auto">
                  <a:xfrm>
                    <a:off x="4271"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81" name="Group 35"/>
                <p:cNvGrpSpPr>
                  <a:grpSpLocks/>
                </p:cNvGrpSpPr>
                <p:nvPr/>
              </p:nvGrpSpPr>
              <p:grpSpPr bwMode="auto">
                <a:xfrm>
                  <a:off x="4223" y="1377"/>
                  <a:ext cx="27" cy="15"/>
                  <a:chOff x="4223" y="1377"/>
                  <a:chExt cx="27" cy="15"/>
                </a:xfrm>
              </p:grpSpPr>
              <p:sp>
                <p:nvSpPr>
                  <p:cNvPr id="66682" name="Arc 36"/>
                  <p:cNvSpPr>
                    <a:spLocks/>
                  </p:cNvSpPr>
                  <p:nvPr/>
                </p:nvSpPr>
                <p:spPr bwMode="auto">
                  <a:xfrm>
                    <a:off x="4223" y="1377"/>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83" name="Arc 37"/>
                  <p:cNvSpPr>
                    <a:spLocks/>
                  </p:cNvSpPr>
                  <p:nvPr/>
                </p:nvSpPr>
                <p:spPr bwMode="auto">
                  <a:xfrm>
                    <a:off x="4236" y="1377"/>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64" name="Group 38"/>
              <p:cNvGrpSpPr>
                <a:grpSpLocks/>
              </p:cNvGrpSpPr>
              <p:nvPr/>
            </p:nvGrpSpPr>
            <p:grpSpPr bwMode="auto">
              <a:xfrm>
                <a:off x="1340" y="2281"/>
                <a:ext cx="106" cy="45"/>
                <a:chOff x="4223" y="1425"/>
                <a:chExt cx="62" cy="29"/>
              </a:xfrm>
            </p:grpSpPr>
            <p:grpSp>
              <p:nvGrpSpPr>
                <p:cNvPr id="66674" name="Group 39"/>
                <p:cNvGrpSpPr>
                  <a:grpSpLocks/>
                </p:cNvGrpSpPr>
                <p:nvPr/>
              </p:nvGrpSpPr>
              <p:grpSpPr bwMode="auto">
                <a:xfrm>
                  <a:off x="4258" y="1439"/>
                  <a:ext cx="27" cy="15"/>
                  <a:chOff x="4258" y="1439"/>
                  <a:chExt cx="27" cy="15"/>
                </a:xfrm>
              </p:grpSpPr>
              <p:sp>
                <p:nvSpPr>
                  <p:cNvPr id="66678" name="Arc 40"/>
                  <p:cNvSpPr>
                    <a:spLocks/>
                  </p:cNvSpPr>
                  <p:nvPr/>
                </p:nvSpPr>
                <p:spPr bwMode="auto">
                  <a:xfrm>
                    <a:off x="4258"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79" name="Arc 41"/>
                  <p:cNvSpPr>
                    <a:spLocks/>
                  </p:cNvSpPr>
                  <p:nvPr/>
                </p:nvSpPr>
                <p:spPr bwMode="auto">
                  <a:xfrm>
                    <a:off x="4271"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75" name="Group 42"/>
                <p:cNvGrpSpPr>
                  <a:grpSpLocks/>
                </p:cNvGrpSpPr>
                <p:nvPr/>
              </p:nvGrpSpPr>
              <p:grpSpPr bwMode="auto">
                <a:xfrm>
                  <a:off x="4223" y="1425"/>
                  <a:ext cx="27" cy="15"/>
                  <a:chOff x="4223" y="1425"/>
                  <a:chExt cx="27" cy="15"/>
                </a:xfrm>
              </p:grpSpPr>
              <p:sp>
                <p:nvSpPr>
                  <p:cNvPr id="66676" name="Arc 43"/>
                  <p:cNvSpPr>
                    <a:spLocks/>
                  </p:cNvSpPr>
                  <p:nvPr/>
                </p:nvSpPr>
                <p:spPr bwMode="auto">
                  <a:xfrm>
                    <a:off x="4223" y="1425"/>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77" name="Arc 44"/>
                  <p:cNvSpPr>
                    <a:spLocks/>
                  </p:cNvSpPr>
                  <p:nvPr/>
                </p:nvSpPr>
                <p:spPr bwMode="auto">
                  <a:xfrm>
                    <a:off x="4236" y="1425"/>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65" name="Group 45"/>
              <p:cNvGrpSpPr>
                <a:grpSpLocks/>
              </p:cNvGrpSpPr>
              <p:nvPr/>
            </p:nvGrpSpPr>
            <p:grpSpPr bwMode="auto">
              <a:xfrm>
                <a:off x="1340" y="2356"/>
                <a:ext cx="106" cy="45"/>
                <a:chOff x="4223" y="1473"/>
                <a:chExt cx="62" cy="29"/>
              </a:xfrm>
            </p:grpSpPr>
            <p:grpSp>
              <p:nvGrpSpPr>
                <p:cNvPr id="66668" name="Group 46"/>
                <p:cNvGrpSpPr>
                  <a:grpSpLocks/>
                </p:cNvGrpSpPr>
                <p:nvPr/>
              </p:nvGrpSpPr>
              <p:grpSpPr bwMode="auto">
                <a:xfrm>
                  <a:off x="4258" y="1487"/>
                  <a:ext cx="27" cy="15"/>
                  <a:chOff x="4258" y="1487"/>
                  <a:chExt cx="27" cy="15"/>
                </a:xfrm>
              </p:grpSpPr>
              <p:sp>
                <p:nvSpPr>
                  <p:cNvPr id="66672" name="Arc 47"/>
                  <p:cNvSpPr>
                    <a:spLocks/>
                  </p:cNvSpPr>
                  <p:nvPr/>
                </p:nvSpPr>
                <p:spPr bwMode="auto">
                  <a:xfrm>
                    <a:off x="4258"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73" name="Arc 48"/>
                  <p:cNvSpPr>
                    <a:spLocks/>
                  </p:cNvSpPr>
                  <p:nvPr/>
                </p:nvSpPr>
                <p:spPr bwMode="auto">
                  <a:xfrm>
                    <a:off x="4271"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69" name="Group 49"/>
                <p:cNvGrpSpPr>
                  <a:grpSpLocks/>
                </p:cNvGrpSpPr>
                <p:nvPr/>
              </p:nvGrpSpPr>
              <p:grpSpPr bwMode="auto">
                <a:xfrm>
                  <a:off x="4223" y="1473"/>
                  <a:ext cx="27" cy="15"/>
                  <a:chOff x="4223" y="1473"/>
                  <a:chExt cx="27" cy="15"/>
                </a:xfrm>
              </p:grpSpPr>
              <p:sp>
                <p:nvSpPr>
                  <p:cNvPr id="66670" name="Arc 50"/>
                  <p:cNvSpPr>
                    <a:spLocks/>
                  </p:cNvSpPr>
                  <p:nvPr/>
                </p:nvSpPr>
                <p:spPr bwMode="auto">
                  <a:xfrm>
                    <a:off x="4223" y="1473"/>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71" name="Arc 51"/>
                  <p:cNvSpPr>
                    <a:spLocks/>
                  </p:cNvSpPr>
                  <p:nvPr/>
                </p:nvSpPr>
                <p:spPr bwMode="auto">
                  <a:xfrm>
                    <a:off x="4236" y="1473"/>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sp>
            <p:nvSpPr>
              <p:cNvPr id="66666" name="Line 52"/>
              <p:cNvSpPr>
                <a:spLocks noChangeShapeType="1"/>
              </p:cNvSpPr>
              <p:nvPr/>
            </p:nvSpPr>
            <p:spPr bwMode="auto">
              <a:xfrm flipV="1">
                <a:off x="1376" y="2265"/>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7" name="Line 53"/>
              <p:cNvSpPr>
                <a:spLocks noChangeShapeType="1"/>
              </p:cNvSpPr>
              <p:nvPr/>
            </p:nvSpPr>
            <p:spPr bwMode="auto">
              <a:xfrm flipV="1">
                <a:off x="1376" y="2190"/>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6566" name="Rectangle 54"/>
            <p:cNvSpPr>
              <a:spLocks noChangeArrowheads="1"/>
            </p:cNvSpPr>
            <p:nvPr/>
          </p:nvSpPr>
          <p:spPr bwMode="auto">
            <a:xfrm rot="10800000">
              <a:off x="3707063" y="3085598"/>
              <a:ext cx="935038" cy="541338"/>
            </a:xfrm>
            <a:prstGeom prst="rect">
              <a:avLst/>
            </a:prstGeom>
            <a:solidFill>
              <a:srgbClr val="CCFFFF"/>
            </a:solidFill>
            <a:ln w="28575">
              <a:solidFill>
                <a:schemeClr val="tx1"/>
              </a:solidFill>
              <a:miter lim="800000"/>
              <a:headEnd/>
              <a:tailEnd/>
            </a:ln>
            <a:effectLst>
              <a:outerShdw dist="35921" dir="2700000" algn="ctr" rotWithShape="0">
                <a:schemeClr val="bg2"/>
              </a:outerShdw>
            </a:effectLst>
          </p:spPr>
          <p:txBody>
            <a:bodyPr rot="10800000"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SzTx/>
                <a:buFontTx/>
                <a:buNone/>
              </a:pPr>
              <a:r>
                <a:rPr lang="en-US" altLang="en-US" sz="1200"/>
                <a:t>Data</a:t>
              </a:r>
            </a:p>
            <a:p>
              <a:pPr algn="ctr">
                <a:spcBef>
                  <a:spcPct val="0"/>
                </a:spcBef>
                <a:buSzTx/>
                <a:buFontTx/>
                <a:buNone/>
              </a:pPr>
              <a:r>
                <a:rPr lang="en-US" altLang="en-US" sz="1200"/>
                <a:t>Splitter</a:t>
              </a:r>
              <a:endParaRPr lang="en-US" altLang="en-US" sz="1400"/>
            </a:p>
          </p:txBody>
        </p:sp>
        <p:sp>
          <p:nvSpPr>
            <p:cNvPr id="66567" name="Text Box 55"/>
            <p:cNvSpPr txBox="1">
              <a:spLocks noChangeArrowheads="1"/>
            </p:cNvSpPr>
            <p:nvPr/>
          </p:nvSpPr>
          <p:spPr bwMode="auto">
            <a:xfrm>
              <a:off x="4907214" y="2968123"/>
              <a:ext cx="766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CC3300"/>
                  </a:solidFill>
                </a:rPr>
                <a:t>carrier</a:t>
              </a:r>
              <a:endParaRPr lang="en-US" altLang="en-US" sz="1600"/>
            </a:p>
          </p:txBody>
        </p:sp>
        <p:grpSp>
          <p:nvGrpSpPr>
            <p:cNvPr id="66568" name="Group 56"/>
            <p:cNvGrpSpPr>
              <a:grpSpLocks/>
            </p:cNvGrpSpPr>
            <p:nvPr/>
          </p:nvGrpSpPr>
          <p:grpSpPr bwMode="auto">
            <a:xfrm>
              <a:off x="6291513" y="2309311"/>
              <a:ext cx="381000" cy="381000"/>
              <a:chOff x="1440" y="1728"/>
              <a:chExt cx="240" cy="240"/>
            </a:xfrm>
          </p:grpSpPr>
          <p:sp>
            <p:nvSpPr>
              <p:cNvPr id="66659" name="Oval 57"/>
              <p:cNvSpPr>
                <a:spLocks noChangeArrowheads="1"/>
              </p:cNvSpPr>
              <p:nvPr/>
            </p:nvSpPr>
            <p:spPr bwMode="auto">
              <a:xfrm flipV="1">
                <a:off x="1440" y="1728"/>
                <a:ext cx="240" cy="240"/>
              </a:xfrm>
              <a:prstGeom prst="ellipse">
                <a:avLst/>
              </a:prstGeom>
              <a:solidFill>
                <a:srgbClr val="CCFFFF"/>
              </a:solidFill>
              <a:ln w="28575">
                <a:solidFill>
                  <a:schemeClr val="tx1"/>
                </a:solidFill>
                <a:round/>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66660" name="Line 58"/>
              <p:cNvSpPr>
                <a:spLocks noChangeShapeType="1"/>
              </p:cNvSpPr>
              <p:nvPr/>
            </p:nvSpPr>
            <p:spPr bwMode="auto">
              <a:xfrm>
                <a:off x="1480" y="1757"/>
                <a:ext cx="160" cy="1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1" name="Line 59"/>
              <p:cNvSpPr>
                <a:spLocks noChangeShapeType="1"/>
              </p:cNvSpPr>
              <p:nvPr/>
            </p:nvSpPr>
            <p:spPr bwMode="auto">
              <a:xfrm flipV="1">
                <a:off x="1480" y="1767"/>
                <a:ext cx="160" cy="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569" name="Group 60"/>
            <p:cNvGrpSpPr>
              <a:grpSpLocks/>
            </p:cNvGrpSpPr>
            <p:nvPr/>
          </p:nvGrpSpPr>
          <p:grpSpPr bwMode="auto">
            <a:xfrm>
              <a:off x="6291513" y="4128586"/>
              <a:ext cx="381000" cy="381000"/>
              <a:chOff x="1440" y="1728"/>
              <a:chExt cx="240" cy="240"/>
            </a:xfrm>
          </p:grpSpPr>
          <p:sp>
            <p:nvSpPr>
              <p:cNvPr id="66656" name="Oval 61"/>
              <p:cNvSpPr>
                <a:spLocks noChangeArrowheads="1"/>
              </p:cNvSpPr>
              <p:nvPr/>
            </p:nvSpPr>
            <p:spPr bwMode="auto">
              <a:xfrm flipV="1">
                <a:off x="1440" y="1728"/>
                <a:ext cx="240" cy="240"/>
              </a:xfrm>
              <a:prstGeom prst="ellipse">
                <a:avLst/>
              </a:prstGeom>
              <a:solidFill>
                <a:srgbClr val="CCFFFF"/>
              </a:solidFill>
              <a:ln w="28575">
                <a:solidFill>
                  <a:schemeClr val="tx1"/>
                </a:solidFill>
                <a:round/>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66657" name="Line 62"/>
              <p:cNvSpPr>
                <a:spLocks noChangeShapeType="1"/>
              </p:cNvSpPr>
              <p:nvPr/>
            </p:nvSpPr>
            <p:spPr bwMode="auto">
              <a:xfrm>
                <a:off x="1480" y="1757"/>
                <a:ext cx="160" cy="1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8" name="Line 63"/>
              <p:cNvSpPr>
                <a:spLocks noChangeShapeType="1"/>
              </p:cNvSpPr>
              <p:nvPr/>
            </p:nvSpPr>
            <p:spPr bwMode="auto">
              <a:xfrm flipV="1">
                <a:off x="1480" y="1767"/>
                <a:ext cx="160" cy="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570" name="Group 64"/>
            <p:cNvGrpSpPr>
              <a:grpSpLocks/>
            </p:cNvGrpSpPr>
            <p:nvPr/>
          </p:nvGrpSpPr>
          <p:grpSpPr bwMode="auto">
            <a:xfrm>
              <a:off x="5753351" y="2926848"/>
              <a:ext cx="381000" cy="400050"/>
              <a:chOff x="4032" y="1728"/>
              <a:chExt cx="255" cy="252"/>
            </a:xfrm>
          </p:grpSpPr>
          <p:sp>
            <p:nvSpPr>
              <p:cNvPr id="66649" name="Oval 65"/>
              <p:cNvSpPr>
                <a:spLocks noChangeArrowheads="1"/>
              </p:cNvSpPr>
              <p:nvPr/>
            </p:nvSpPr>
            <p:spPr bwMode="auto">
              <a:xfrm flipH="1">
                <a:off x="4032" y="1728"/>
                <a:ext cx="255" cy="252"/>
              </a:xfrm>
              <a:prstGeom prst="ellipse">
                <a:avLst/>
              </a:prstGeom>
              <a:solidFill>
                <a:srgbClr val="CCFFFF"/>
              </a:solidFill>
              <a:ln w="28575">
                <a:solidFill>
                  <a:schemeClr val="tx1"/>
                </a:solidFill>
                <a:round/>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grpSp>
            <p:nvGrpSpPr>
              <p:cNvPr id="66650" name="Group 66"/>
              <p:cNvGrpSpPr>
                <a:grpSpLocks/>
              </p:cNvGrpSpPr>
              <p:nvPr/>
            </p:nvGrpSpPr>
            <p:grpSpPr bwMode="auto">
              <a:xfrm flipH="1">
                <a:off x="4163" y="1859"/>
                <a:ext cx="88" cy="61"/>
                <a:chOff x="2451" y="2303"/>
                <a:chExt cx="27" cy="15"/>
              </a:xfrm>
            </p:grpSpPr>
            <p:sp>
              <p:nvSpPr>
                <p:cNvPr id="66654" name="Arc 67"/>
                <p:cNvSpPr>
                  <a:spLocks/>
                </p:cNvSpPr>
                <p:nvPr/>
              </p:nvSpPr>
              <p:spPr bwMode="auto">
                <a:xfrm>
                  <a:off x="2464" y="2303"/>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55" name="Arc 68"/>
                <p:cNvSpPr>
                  <a:spLocks/>
                </p:cNvSpPr>
                <p:nvPr/>
              </p:nvSpPr>
              <p:spPr bwMode="auto">
                <a:xfrm>
                  <a:off x="2451" y="2303"/>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51" name="Group 69"/>
              <p:cNvGrpSpPr>
                <a:grpSpLocks/>
              </p:cNvGrpSpPr>
              <p:nvPr/>
            </p:nvGrpSpPr>
            <p:grpSpPr bwMode="auto">
              <a:xfrm flipH="1">
                <a:off x="4080" y="1801"/>
                <a:ext cx="83" cy="75"/>
                <a:chOff x="2487" y="2289"/>
                <a:chExt cx="27" cy="15"/>
              </a:xfrm>
            </p:grpSpPr>
            <p:sp>
              <p:nvSpPr>
                <p:cNvPr id="66652" name="Arc 70"/>
                <p:cNvSpPr>
                  <a:spLocks/>
                </p:cNvSpPr>
                <p:nvPr/>
              </p:nvSpPr>
              <p:spPr bwMode="auto">
                <a:xfrm>
                  <a:off x="2500" y="2289"/>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53" name="Arc 71"/>
                <p:cNvSpPr>
                  <a:spLocks/>
                </p:cNvSpPr>
                <p:nvPr/>
              </p:nvSpPr>
              <p:spPr bwMode="auto">
                <a:xfrm>
                  <a:off x="2487" y="2289"/>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571" name="Group 72"/>
            <p:cNvGrpSpPr>
              <a:grpSpLocks/>
            </p:cNvGrpSpPr>
            <p:nvPr/>
          </p:nvGrpSpPr>
          <p:grpSpPr bwMode="auto">
            <a:xfrm>
              <a:off x="7126538" y="3155448"/>
              <a:ext cx="381000" cy="381000"/>
              <a:chOff x="4032" y="2208"/>
              <a:chExt cx="240" cy="240"/>
            </a:xfrm>
          </p:grpSpPr>
          <p:sp>
            <p:nvSpPr>
              <p:cNvPr id="66646" name="Oval 73"/>
              <p:cNvSpPr>
                <a:spLocks noChangeArrowheads="1"/>
              </p:cNvSpPr>
              <p:nvPr/>
            </p:nvSpPr>
            <p:spPr bwMode="auto">
              <a:xfrm flipH="1">
                <a:off x="4032" y="2208"/>
                <a:ext cx="240" cy="240"/>
              </a:xfrm>
              <a:prstGeom prst="ellipse">
                <a:avLst/>
              </a:prstGeom>
              <a:solidFill>
                <a:srgbClr val="CCFFFF"/>
              </a:solidFill>
              <a:ln w="28575">
                <a:solidFill>
                  <a:schemeClr val="tx1"/>
                </a:solidFill>
                <a:round/>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sp>
            <p:nvSpPr>
              <p:cNvPr id="66647" name="Line 74"/>
              <p:cNvSpPr>
                <a:spLocks noChangeShapeType="1"/>
              </p:cNvSpPr>
              <p:nvPr/>
            </p:nvSpPr>
            <p:spPr bwMode="auto">
              <a:xfrm>
                <a:off x="4083" y="2332"/>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48" name="Line 75"/>
              <p:cNvSpPr>
                <a:spLocks noChangeShapeType="1"/>
              </p:cNvSpPr>
              <p:nvPr/>
            </p:nvSpPr>
            <p:spPr bwMode="auto">
              <a:xfrm>
                <a:off x="4151" y="2259"/>
                <a:ext cx="0" cy="1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66572" name="AutoShape 76"/>
            <p:cNvCxnSpPr>
              <a:cxnSpLocks noChangeShapeType="1"/>
              <a:stCxn id="66656" idx="6"/>
              <a:endCxn id="66646" idx="4"/>
            </p:cNvCxnSpPr>
            <p:nvPr/>
          </p:nvCxnSpPr>
          <p:spPr bwMode="auto">
            <a:xfrm flipV="1">
              <a:off x="6686802" y="3550736"/>
              <a:ext cx="630237" cy="7683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6573" name="AutoShape 77"/>
            <p:cNvCxnSpPr>
              <a:cxnSpLocks noChangeShapeType="1"/>
              <a:stCxn id="66659" idx="6"/>
              <a:endCxn id="66646" idx="0"/>
            </p:cNvCxnSpPr>
            <p:nvPr/>
          </p:nvCxnSpPr>
          <p:spPr bwMode="auto">
            <a:xfrm>
              <a:off x="6686802" y="2499811"/>
              <a:ext cx="630237" cy="6413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6574" name="Rectangle 78"/>
            <p:cNvSpPr>
              <a:spLocks noChangeArrowheads="1"/>
            </p:cNvSpPr>
            <p:nvPr/>
          </p:nvSpPr>
          <p:spPr bwMode="auto">
            <a:xfrm rot="10800000">
              <a:off x="6277227" y="3407862"/>
              <a:ext cx="407987" cy="415925"/>
            </a:xfrm>
            <a:prstGeom prst="rect">
              <a:avLst/>
            </a:prstGeom>
            <a:solidFill>
              <a:srgbClr val="CCFFFF"/>
            </a:solidFill>
            <a:ln w="28575">
              <a:solidFill>
                <a:schemeClr val="tx1"/>
              </a:solidFill>
              <a:miter lim="800000"/>
              <a:headEnd/>
              <a:tailEnd/>
            </a:ln>
            <a:effectLst>
              <a:outerShdw dist="35921" dir="2700000" algn="ctr" rotWithShape="0">
                <a:schemeClr val="bg2"/>
              </a:outerShdw>
            </a:effectLst>
          </p:spPr>
          <p:txBody>
            <a:bodyPr rot="10800000"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SzTx/>
                <a:buFontTx/>
                <a:buNone/>
              </a:pPr>
              <a:r>
                <a:rPr lang="en-US" altLang="en-US" sz="1200">
                  <a:latin typeface="Times New Roman" panose="02020603050405020304" pitchFamily="18" charset="0"/>
                </a:rPr>
                <a:t> 90</a:t>
              </a:r>
              <a:r>
                <a:rPr lang="en-US" altLang="en-US" sz="1200">
                  <a:latin typeface="Times New Roman" panose="02020603050405020304" pitchFamily="18" charset="0"/>
                  <a:sym typeface="Symbol" panose="05050102010706020507" pitchFamily="18" charset="2"/>
                </a:rPr>
                <a:t></a:t>
              </a:r>
              <a:endParaRPr lang="en-US" altLang="en-US" sz="2400">
                <a:latin typeface="Times New Roman" panose="02020603050405020304" pitchFamily="18" charset="0"/>
              </a:endParaRPr>
            </a:p>
          </p:txBody>
        </p:sp>
        <p:cxnSp>
          <p:nvCxnSpPr>
            <p:cNvPr id="66575" name="AutoShape 79"/>
            <p:cNvCxnSpPr>
              <a:cxnSpLocks noChangeShapeType="1"/>
              <a:stCxn id="66574" idx="0"/>
              <a:endCxn id="66656" idx="4"/>
            </p:cNvCxnSpPr>
            <p:nvPr/>
          </p:nvCxnSpPr>
          <p:spPr bwMode="auto">
            <a:xfrm>
              <a:off x="6482013" y="3838074"/>
              <a:ext cx="0" cy="2762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6" name="AutoShape 80"/>
            <p:cNvCxnSpPr>
              <a:cxnSpLocks noChangeShapeType="1"/>
              <a:stCxn id="66574" idx="2"/>
              <a:endCxn id="66659" idx="0"/>
            </p:cNvCxnSpPr>
            <p:nvPr/>
          </p:nvCxnSpPr>
          <p:spPr bwMode="auto">
            <a:xfrm flipV="1">
              <a:off x="6482013" y="2704599"/>
              <a:ext cx="0" cy="688975"/>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66577" name="Line 81"/>
            <p:cNvSpPr>
              <a:spLocks noChangeShapeType="1"/>
            </p:cNvSpPr>
            <p:nvPr/>
          </p:nvSpPr>
          <p:spPr bwMode="auto">
            <a:xfrm>
              <a:off x="6166101" y="3144336"/>
              <a:ext cx="317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cxnSp>
          <p:nvCxnSpPr>
            <p:cNvPr id="66578" name="AutoShape 82"/>
            <p:cNvCxnSpPr>
              <a:cxnSpLocks noChangeShapeType="1"/>
              <a:stCxn id="66646" idx="2"/>
            </p:cNvCxnSpPr>
            <p:nvPr/>
          </p:nvCxnSpPr>
          <p:spPr bwMode="auto">
            <a:xfrm>
              <a:off x="7521826" y="3345948"/>
              <a:ext cx="366712"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79" name="AutoShape 83"/>
            <p:cNvCxnSpPr>
              <a:cxnSpLocks noChangeShapeType="1"/>
              <a:stCxn id="66686" idx="3"/>
              <a:endCxn id="66659" idx="2"/>
            </p:cNvCxnSpPr>
            <p:nvPr/>
          </p:nvCxnSpPr>
          <p:spPr bwMode="auto">
            <a:xfrm>
              <a:off x="5461252" y="2499811"/>
              <a:ext cx="815975"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80" name="AutoShape 84"/>
            <p:cNvCxnSpPr>
              <a:cxnSpLocks noChangeShapeType="1"/>
              <a:stCxn id="66662" idx="3"/>
              <a:endCxn id="66656" idx="2"/>
            </p:cNvCxnSpPr>
            <p:nvPr/>
          </p:nvCxnSpPr>
          <p:spPr bwMode="auto">
            <a:xfrm>
              <a:off x="5462838" y="4319086"/>
              <a:ext cx="814388"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581" name="AutoShape 85"/>
            <p:cNvCxnSpPr>
              <a:cxnSpLocks noChangeShapeType="1"/>
              <a:stCxn id="66566" idx="3"/>
            </p:cNvCxnSpPr>
            <p:nvPr/>
          </p:nvCxnSpPr>
          <p:spPr bwMode="auto">
            <a:xfrm flipH="1">
              <a:off x="3067301" y="3357062"/>
              <a:ext cx="627062" cy="3175"/>
            </a:xfrm>
            <a:prstGeom prst="straightConnector1">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66582" name="AutoShape 86"/>
            <p:cNvCxnSpPr>
              <a:cxnSpLocks noChangeShapeType="1"/>
              <a:stCxn id="66566" idx="2"/>
              <a:endCxn id="66686" idx="1"/>
            </p:cNvCxnSpPr>
            <p:nvPr/>
          </p:nvCxnSpPr>
          <p:spPr bwMode="auto">
            <a:xfrm rot="-5400000">
              <a:off x="4288883" y="2386305"/>
              <a:ext cx="573087" cy="8001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6583" name="AutoShape 87"/>
            <p:cNvCxnSpPr>
              <a:cxnSpLocks noChangeShapeType="1"/>
              <a:stCxn id="66566" idx="0"/>
              <a:endCxn id="66662" idx="1"/>
            </p:cNvCxnSpPr>
            <p:nvPr/>
          </p:nvCxnSpPr>
          <p:spPr bwMode="auto">
            <a:xfrm rot="16200000" flipH="1">
              <a:off x="4238083" y="3580106"/>
              <a:ext cx="676275" cy="801687"/>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6584" name="Text Box 88"/>
            <p:cNvSpPr txBox="1">
              <a:spLocks noChangeArrowheads="1"/>
            </p:cNvSpPr>
            <p:nvPr/>
          </p:nvSpPr>
          <p:spPr bwMode="auto">
            <a:xfrm>
              <a:off x="2324351" y="3180848"/>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a:sym typeface="Symbol" panose="05050102010706020507" pitchFamily="18" charset="2"/>
                </a:rPr>
                <a:t>Data in</a:t>
              </a:r>
            </a:p>
            <a:p>
              <a:pPr>
                <a:spcBef>
                  <a:spcPct val="0"/>
                </a:spcBef>
                <a:buSzTx/>
                <a:buFontTx/>
                <a:buNone/>
              </a:pPr>
              <a:r>
                <a:rPr lang="en-US" altLang="en-US" sz="1200">
                  <a:sym typeface="Symbol" panose="05050102010706020507" pitchFamily="18" charset="2"/>
                </a:rPr>
                <a:t>Bit rate = Rb</a:t>
              </a:r>
              <a:endParaRPr lang="en-US" altLang="en-US" sz="1000">
                <a:sym typeface="Symbol" panose="05050102010706020507" pitchFamily="18" charset="2"/>
              </a:endParaRPr>
            </a:p>
          </p:txBody>
        </p:sp>
        <p:sp>
          <p:nvSpPr>
            <p:cNvPr id="66585" name="Text Box 89"/>
            <p:cNvSpPr txBox="1">
              <a:spLocks noChangeArrowheads="1"/>
            </p:cNvSpPr>
            <p:nvPr/>
          </p:nvSpPr>
          <p:spPr bwMode="auto">
            <a:xfrm>
              <a:off x="8428240" y="3049086"/>
              <a:ext cx="8620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QPSK out</a:t>
              </a:r>
            </a:p>
          </p:txBody>
        </p:sp>
        <p:sp>
          <p:nvSpPr>
            <p:cNvPr id="66586" name="Text Box 90"/>
            <p:cNvSpPr txBox="1">
              <a:spLocks noChangeArrowheads="1"/>
            </p:cNvSpPr>
            <p:nvPr/>
          </p:nvSpPr>
          <p:spPr bwMode="auto">
            <a:xfrm>
              <a:off x="5014488" y="4629702"/>
              <a:ext cx="463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LPF</a:t>
              </a:r>
              <a:endParaRPr lang="en-US" altLang="en-US" sz="1600" dirty="0">
                <a:sym typeface="Symbol" panose="05050102010706020507" pitchFamily="18" charset="2"/>
              </a:endParaRPr>
            </a:p>
          </p:txBody>
        </p:sp>
        <p:sp>
          <p:nvSpPr>
            <p:cNvPr id="66587" name="Text Box 91"/>
            <p:cNvSpPr txBox="1">
              <a:spLocks noChangeArrowheads="1"/>
            </p:cNvSpPr>
            <p:nvPr/>
          </p:nvSpPr>
          <p:spPr bwMode="auto">
            <a:xfrm>
              <a:off x="5034314" y="1969907"/>
              <a:ext cx="463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LPF</a:t>
              </a:r>
              <a:endParaRPr lang="en-US" altLang="en-US" sz="1600" dirty="0">
                <a:sym typeface="Symbol" panose="05050102010706020507" pitchFamily="18" charset="2"/>
              </a:endParaRPr>
            </a:p>
          </p:txBody>
        </p:sp>
        <p:sp>
          <p:nvSpPr>
            <p:cNvPr id="66588" name="Text Box 92"/>
            <p:cNvSpPr txBox="1">
              <a:spLocks noChangeArrowheads="1"/>
            </p:cNvSpPr>
            <p:nvPr/>
          </p:nvSpPr>
          <p:spPr bwMode="auto">
            <a:xfrm>
              <a:off x="5988301" y="2052814"/>
              <a:ext cx="1533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Balanced modulator</a:t>
              </a:r>
              <a:endParaRPr lang="en-US" altLang="en-US" sz="1600" dirty="0">
                <a:sym typeface="Symbol" panose="05050102010706020507" pitchFamily="18" charset="2"/>
              </a:endParaRPr>
            </a:p>
          </p:txBody>
        </p:sp>
        <p:sp>
          <p:nvSpPr>
            <p:cNvPr id="66589" name="Text Box 93"/>
            <p:cNvSpPr txBox="1">
              <a:spLocks noChangeArrowheads="1"/>
            </p:cNvSpPr>
            <p:nvPr/>
          </p:nvSpPr>
          <p:spPr bwMode="auto">
            <a:xfrm>
              <a:off x="5952518" y="4604213"/>
              <a:ext cx="1533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Balanced modulator</a:t>
              </a:r>
              <a:endParaRPr lang="en-US" altLang="en-US" sz="1600" dirty="0">
                <a:sym typeface="Symbol" panose="05050102010706020507" pitchFamily="18" charset="2"/>
              </a:endParaRPr>
            </a:p>
          </p:txBody>
        </p:sp>
        <p:sp>
          <p:nvSpPr>
            <p:cNvPr id="66590" name="Text Box 94"/>
            <p:cNvSpPr txBox="1">
              <a:spLocks noChangeArrowheads="1"/>
            </p:cNvSpPr>
            <p:nvPr/>
          </p:nvSpPr>
          <p:spPr bwMode="auto">
            <a:xfrm>
              <a:off x="5548563" y="4369886"/>
              <a:ext cx="342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CC3300"/>
                  </a:solidFill>
                  <a:sym typeface="Symbol" panose="05050102010706020507" pitchFamily="18" charset="2"/>
                </a:rPr>
                <a:t>Q</a:t>
              </a:r>
              <a:endParaRPr lang="en-US" altLang="en-US" sz="1600">
                <a:sym typeface="Symbol" panose="05050102010706020507" pitchFamily="18" charset="2"/>
              </a:endParaRPr>
            </a:p>
          </p:txBody>
        </p:sp>
        <p:sp>
          <p:nvSpPr>
            <p:cNvPr id="66591" name="Text Box 95"/>
            <p:cNvSpPr txBox="1">
              <a:spLocks noChangeArrowheads="1"/>
            </p:cNvSpPr>
            <p:nvPr/>
          </p:nvSpPr>
          <p:spPr bwMode="auto">
            <a:xfrm>
              <a:off x="5602538" y="2120398"/>
              <a:ext cx="241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600">
                  <a:solidFill>
                    <a:srgbClr val="0033CC"/>
                  </a:solidFill>
                  <a:sym typeface="Symbol" panose="05050102010706020507" pitchFamily="18" charset="2"/>
                </a:rPr>
                <a:t>I</a:t>
              </a:r>
              <a:endParaRPr lang="en-US" altLang="en-US" sz="1600">
                <a:sym typeface="Symbol" panose="05050102010706020507" pitchFamily="18" charset="2"/>
              </a:endParaRPr>
            </a:p>
          </p:txBody>
        </p:sp>
        <p:sp>
          <p:nvSpPr>
            <p:cNvPr id="66592" name="Text Box 96"/>
            <p:cNvSpPr txBox="1">
              <a:spLocks noChangeArrowheads="1"/>
            </p:cNvSpPr>
            <p:nvPr/>
          </p:nvSpPr>
          <p:spPr bwMode="auto">
            <a:xfrm>
              <a:off x="3189435" y="4375612"/>
              <a:ext cx="1798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Quadrature data stream</a:t>
              </a:r>
            </a:p>
            <a:p>
              <a:pPr>
                <a:spcBef>
                  <a:spcPct val="0"/>
                </a:spcBef>
                <a:buSzTx/>
                <a:buFontTx/>
                <a:buNone/>
              </a:pPr>
              <a:r>
                <a:rPr lang="en-US" altLang="en-US" sz="1200" dirty="0">
                  <a:sym typeface="Symbol" panose="05050102010706020507" pitchFamily="18" charset="2"/>
                </a:rPr>
                <a:t>Symbol rate = </a:t>
              </a:r>
              <a:r>
                <a:rPr lang="en-US" altLang="en-US" sz="1200" dirty="0" err="1">
                  <a:sym typeface="Symbol" panose="05050102010706020507" pitchFamily="18" charset="2"/>
                </a:rPr>
                <a:t>Rb</a:t>
              </a:r>
              <a:r>
                <a:rPr lang="en-US" altLang="en-US" sz="1200" dirty="0">
                  <a:sym typeface="Symbol" panose="05050102010706020507" pitchFamily="18" charset="2"/>
                </a:rPr>
                <a:t>/2</a:t>
              </a:r>
            </a:p>
          </p:txBody>
        </p:sp>
        <p:sp>
          <p:nvSpPr>
            <p:cNvPr id="66593" name="Text Box 97"/>
            <p:cNvSpPr txBox="1">
              <a:spLocks noChangeArrowheads="1"/>
            </p:cNvSpPr>
            <p:nvPr/>
          </p:nvSpPr>
          <p:spPr bwMode="auto">
            <a:xfrm>
              <a:off x="3240496" y="2093411"/>
              <a:ext cx="162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200" dirty="0">
                  <a:sym typeface="Symbol" panose="05050102010706020507" pitchFamily="18" charset="2"/>
                </a:rPr>
                <a:t>In-phase data stream</a:t>
              </a:r>
            </a:p>
            <a:p>
              <a:pPr>
                <a:spcBef>
                  <a:spcPct val="0"/>
                </a:spcBef>
                <a:buSzTx/>
                <a:buFontTx/>
                <a:buNone/>
              </a:pPr>
              <a:r>
                <a:rPr lang="en-US" altLang="en-US" sz="1200" dirty="0">
                  <a:sym typeface="Symbol" panose="05050102010706020507" pitchFamily="18" charset="2"/>
                </a:rPr>
                <a:t>Symbol rate = </a:t>
              </a:r>
              <a:r>
                <a:rPr lang="en-US" altLang="en-US" sz="1200" dirty="0" err="1">
                  <a:sym typeface="Symbol" panose="05050102010706020507" pitchFamily="18" charset="2"/>
                </a:rPr>
                <a:t>Rb</a:t>
              </a:r>
              <a:r>
                <a:rPr lang="en-US" altLang="en-US" sz="1200" dirty="0">
                  <a:sym typeface="Symbol" panose="05050102010706020507" pitchFamily="18" charset="2"/>
                </a:rPr>
                <a:t>/2</a:t>
              </a:r>
            </a:p>
          </p:txBody>
        </p:sp>
        <p:grpSp>
          <p:nvGrpSpPr>
            <p:cNvPr id="66617" name="Group 124"/>
            <p:cNvGrpSpPr>
              <a:grpSpLocks/>
            </p:cNvGrpSpPr>
            <p:nvPr/>
          </p:nvGrpSpPr>
          <p:grpSpPr bwMode="auto">
            <a:xfrm>
              <a:off x="7886951" y="3150686"/>
              <a:ext cx="406400" cy="419100"/>
              <a:chOff x="1248" y="2592"/>
              <a:chExt cx="288" cy="288"/>
            </a:xfrm>
          </p:grpSpPr>
          <p:sp>
            <p:nvSpPr>
              <p:cNvPr id="66622" name="Rectangle 125"/>
              <p:cNvSpPr>
                <a:spLocks noChangeArrowheads="1"/>
              </p:cNvSpPr>
              <p:nvPr/>
            </p:nvSpPr>
            <p:spPr bwMode="auto">
              <a:xfrm>
                <a:off x="1248" y="2592"/>
                <a:ext cx="288" cy="288"/>
              </a:xfrm>
              <a:prstGeom prst="rect">
                <a:avLst/>
              </a:prstGeom>
              <a:solidFill>
                <a:srgbClr val="CCFFFF"/>
              </a:solidFill>
              <a:ln w="2857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SzTx/>
                  <a:buFontTx/>
                  <a:buNone/>
                </a:pPr>
                <a:endParaRPr lang="en-US" altLang="en-US" sz="1400"/>
              </a:p>
            </p:txBody>
          </p:sp>
          <p:grpSp>
            <p:nvGrpSpPr>
              <p:cNvPr id="66623" name="Group 126"/>
              <p:cNvGrpSpPr>
                <a:grpSpLocks/>
              </p:cNvGrpSpPr>
              <p:nvPr/>
            </p:nvGrpSpPr>
            <p:grpSpPr bwMode="auto">
              <a:xfrm>
                <a:off x="1340" y="2637"/>
                <a:ext cx="106" cy="46"/>
                <a:chOff x="4223" y="1377"/>
                <a:chExt cx="62" cy="29"/>
              </a:xfrm>
            </p:grpSpPr>
            <p:grpSp>
              <p:nvGrpSpPr>
                <p:cNvPr id="66640" name="Group 127"/>
                <p:cNvGrpSpPr>
                  <a:grpSpLocks/>
                </p:cNvGrpSpPr>
                <p:nvPr/>
              </p:nvGrpSpPr>
              <p:grpSpPr bwMode="auto">
                <a:xfrm>
                  <a:off x="4258" y="1391"/>
                  <a:ext cx="27" cy="15"/>
                  <a:chOff x="4258" y="1391"/>
                  <a:chExt cx="27" cy="15"/>
                </a:xfrm>
              </p:grpSpPr>
              <p:sp>
                <p:nvSpPr>
                  <p:cNvPr id="66644" name="Arc 128"/>
                  <p:cNvSpPr>
                    <a:spLocks/>
                  </p:cNvSpPr>
                  <p:nvPr/>
                </p:nvSpPr>
                <p:spPr bwMode="auto">
                  <a:xfrm>
                    <a:off x="4258"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45" name="Arc 129"/>
                  <p:cNvSpPr>
                    <a:spLocks/>
                  </p:cNvSpPr>
                  <p:nvPr/>
                </p:nvSpPr>
                <p:spPr bwMode="auto">
                  <a:xfrm>
                    <a:off x="4271" y="1391"/>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41" name="Group 130"/>
                <p:cNvGrpSpPr>
                  <a:grpSpLocks/>
                </p:cNvGrpSpPr>
                <p:nvPr/>
              </p:nvGrpSpPr>
              <p:grpSpPr bwMode="auto">
                <a:xfrm>
                  <a:off x="4223" y="1377"/>
                  <a:ext cx="27" cy="15"/>
                  <a:chOff x="4223" y="1377"/>
                  <a:chExt cx="27" cy="15"/>
                </a:xfrm>
              </p:grpSpPr>
              <p:sp>
                <p:nvSpPr>
                  <p:cNvPr id="66642" name="Arc 131"/>
                  <p:cNvSpPr>
                    <a:spLocks/>
                  </p:cNvSpPr>
                  <p:nvPr/>
                </p:nvSpPr>
                <p:spPr bwMode="auto">
                  <a:xfrm>
                    <a:off x="4223" y="1377"/>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43" name="Arc 132"/>
                  <p:cNvSpPr>
                    <a:spLocks/>
                  </p:cNvSpPr>
                  <p:nvPr/>
                </p:nvSpPr>
                <p:spPr bwMode="auto">
                  <a:xfrm>
                    <a:off x="4236" y="1377"/>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24" name="Group 133"/>
              <p:cNvGrpSpPr>
                <a:grpSpLocks/>
              </p:cNvGrpSpPr>
              <p:nvPr/>
            </p:nvGrpSpPr>
            <p:grpSpPr bwMode="auto">
              <a:xfrm>
                <a:off x="1340" y="2713"/>
                <a:ext cx="106" cy="45"/>
                <a:chOff x="4223" y="1425"/>
                <a:chExt cx="62" cy="29"/>
              </a:xfrm>
            </p:grpSpPr>
            <p:grpSp>
              <p:nvGrpSpPr>
                <p:cNvPr id="66634" name="Group 134"/>
                <p:cNvGrpSpPr>
                  <a:grpSpLocks/>
                </p:cNvGrpSpPr>
                <p:nvPr/>
              </p:nvGrpSpPr>
              <p:grpSpPr bwMode="auto">
                <a:xfrm>
                  <a:off x="4258" y="1439"/>
                  <a:ext cx="27" cy="15"/>
                  <a:chOff x="4258" y="1439"/>
                  <a:chExt cx="27" cy="15"/>
                </a:xfrm>
              </p:grpSpPr>
              <p:sp>
                <p:nvSpPr>
                  <p:cNvPr id="66638" name="Arc 135"/>
                  <p:cNvSpPr>
                    <a:spLocks/>
                  </p:cNvSpPr>
                  <p:nvPr/>
                </p:nvSpPr>
                <p:spPr bwMode="auto">
                  <a:xfrm>
                    <a:off x="4258"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39" name="Arc 136"/>
                  <p:cNvSpPr>
                    <a:spLocks/>
                  </p:cNvSpPr>
                  <p:nvPr/>
                </p:nvSpPr>
                <p:spPr bwMode="auto">
                  <a:xfrm>
                    <a:off x="4271" y="1439"/>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35" name="Group 137"/>
                <p:cNvGrpSpPr>
                  <a:grpSpLocks/>
                </p:cNvGrpSpPr>
                <p:nvPr/>
              </p:nvGrpSpPr>
              <p:grpSpPr bwMode="auto">
                <a:xfrm>
                  <a:off x="4223" y="1425"/>
                  <a:ext cx="27" cy="15"/>
                  <a:chOff x="4223" y="1425"/>
                  <a:chExt cx="27" cy="15"/>
                </a:xfrm>
              </p:grpSpPr>
              <p:sp>
                <p:nvSpPr>
                  <p:cNvPr id="66636" name="Arc 138"/>
                  <p:cNvSpPr>
                    <a:spLocks/>
                  </p:cNvSpPr>
                  <p:nvPr/>
                </p:nvSpPr>
                <p:spPr bwMode="auto">
                  <a:xfrm>
                    <a:off x="4223" y="1425"/>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37" name="Arc 139"/>
                  <p:cNvSpPr>
                    <a:spLocks/>
                  </p:cNvSpPr>
                  <p:nvPr/>
                </p:nvSpPr>
                <p:spPr bwMode="auto">
                  <a:xfrm>
                    <a:off x="4236" y="1425"/>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grpSp>
            <p:nvGrpSpPr>
              <p:cNvPr id="66625" name="Group 140"/>
              <p:cNvGrpSpPr>
                <a:grpSpLocks/>
              </p:cNvGrpSpPr>
              <p:nvPr/>
            </p:nvGrpSpPr>
            <p:grpSpPr bwMode="auto">
              <a:xfrm>
                <a:off x="1340" y="2788"/>
                <a:ext cx="106" cy="45"/>
                <a:chOff x="4223" y="1473"/>
                <a:chExt cx="62" cy="29"/>
              </a:xfrm>
            </p:grpSpPr>
            <p:grpSp>
              <p:nvGrpSpPr>
                <p:cNvPr id="66628" name="Group 141"/>
                <p:cNvGrpSpPr>
                  <a:grpSpLocks/>
                </p:cNvGrpSpPr>
                <p:nvPr/>
              </p:nvGrpSpPr>
              <p:grpSpPr bwMode="auto">
                <a:xfrm>
                  <a:off x="4258" y="1487"/>
                  <a:ext cx="27" cy="15"/>
                  <a:chOff x="4258" y="1487"/>
                  <a:chExt cx="27" cy="15"/>
                </a:xfrm>
              </p:grpSpPr>
              <p:sp>
                <p:nvSpPr>
                  <p:cNvPr id="66632" name="Arc 142"/>
                  <p:cNvSpPr>
                    <a:spLocks/>
                  </p:cNvSpPr>
                  <p:nvPr/>
                </p:nvSpPr>
                <p:spPr bwMode="auto">
                  <a:xfrm>
                    <a:off x="4258"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33" name="Arc 143"/>
                  <p:cNvSpPr>
                    <a:spLocks/>
                  </p:cNvSpPr>
                  <p:nvPr/>
                </p:nvSpPr>
                <p:spPr bwMode="auto">
                  <a:xfrm>
                    <a:off x="4271" y="1487"/>
                    <a:ext cx="14" cy="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CCFFFF"/>
                  </a:solidFill>
                  <a:ln w="28575" cap="rnd">
                    <a:solidFill>
                      <a:schemeClr val="tx1"/>
                    </a:solidFill>
                    <a:round/>
                    <a:headEnd/>
                    <a:tailEnd/>
                  </a:ln>
                </p:spPr>
                <p:txBody>
                  <a:bodyPr wrap="none" anchor="ctr"/>
                  <a:lstStyle/>
                  <a:p>
                    <a:endParaRPr lang="en-US"/>
                  </a:p>
                </p:txBody>
              </p:sp>
            </p:grpSp>
            <p:grpSp>
              <p:nvGrpSpPr>
                <p:cNvPr id="66629" name="Group 144"/>
                <p:cNvGrpSpPr>
                  <a:grpSpLocks/>
                </p:cNvGrpSpPr>
                <p:nvPr/>
              </p:nvGrpSpPr>
              <p:grpSpPr bwMode="auto">
                <a:xfrm>
                  <a:off x="4223" y="1473"/>
                  <a:ext cx="27" cy="15"/>
                  <a:chOff x="4223" y="1473"/>
                  <a:chExt cx="27" cy="15"/>
                </a:xfrm>
              </p:grpSpPr>
              <p:sp>
                <p:nvSpPr>
                  <p:cNvPr id="66630" name="Arc 145"/>
                  <p:cNvSpPr>
                    <a:spLocks/>
                  </p:cNvSpPr>
                  <p:nvPr/>
                </p:nvSpPr>
                <p:spPr bwMode="auto">
                  <a:xfrm>
                    <a:off x="4223" y="1473"/>
                    <a:ext cx="14" cy="15"/>
                  </a:xfrm>
                  <a:custGeom>
                    <a:avLst/>
                    <a:gdLst>
                      <a:gd name="T0" fmla="*/ 0 w 21600"/>
                      <a:gd name="T1" fmla="*/ 0 h 21541"/>
                      <a:gd name="T2" fmla="*/ 0 w 21600"/>
                      <a:gd name="T3" fmla="*/ 0 h 21541"/>
                      <a:gd name="T4" fmla="*/ 0 w 21600"/>
                      <a:gd name="T5" fmla="*/ 0 h 21541"/>
                      <a:gd name="T6" fmla="*/ 0 60000 65536"/>
                      <a:gd name="T7" fmla="*/ 0 60000 65536"/>
                      <a:gd name="T8" fmla="*/ 0 60000 65536"/>
                      <a:gd name="T9" fmla="*/ 0 w 21600"/>
                      <a:gd name="T10" fmla="*/ 0 h 21541"/>
                      <a:gd name="T11" fmla="*/ 21600 w 21600"/>
                      <a:gd name="T12" fmla="*/ 21541 h 21541"/>
                    </a:gdLst>
                    <a:ahLst/>
                    <a:cxnLst>
                      <a:cxn ang="T6">
                        <a:pos x="T0" y="T1"/>
                      </a:cxn>
                      <a:cxn ang="T7">
                        <a:pos x="T2" y="T3"/>
                      </a:cxn>
                      <a:cxn ang="T8">
                        <a:pos x="T4" y="T5"/>
                      </a:cxn>
                    </a:cxnLst>
                    <a:rect l="T9" t="T10" r="T11" b="T12"/>
                    <a:pathLst>
                      <a:path w="21600" h="21541" fill="none" extrusionOk="0">
                        <a:moveTo>
                          <a:pt x="0" y="21541"/>
                        </a:moveTo>
                        <a:cubicBezTo>
                          <a:pt x="0" y="10230"/>
                          <a:pt x="8724" y="835"/>
                          <a:pt x="20004" y="0"/>
                        </a:cubicBezTo>
                      </a:path>
                      <a:path w="21600" h="21541" stroke="0" extrusionOk="0">
                        <a:moveTo>
                          <a:pt x="0" y="21541"/>
                        </a:moveTo>
                        <a:cubicBezTo>
                          <a:pt x="0" y="10230"/>
                          <a:pt x="8724" y="835"/>
                          <a:pt x="20004" y="0"/>
                        </a:cubicBezTo>
                        <a:lnTo>
                          <a:pt x="21600" y="21541"/>
                        </a:lnTo>
                        <a:lnTo>
                          <a:pt x="0" y="21541"/>
                        </a:lnTo>
                        <a:close/>
                      </a:path>
                    </a:pathLst>
                  </a:custGeom>
                  <a:solidFill>
                    <a:srgbClr val="CCFFFF"/>
                  </a:solidFill>
                  <a:ln w="28575" cap="rnd">
                    <a:solidFill>
                      <a:schemeClr val="tx1"/>
                    </a:solidFill>
                    <a:round/>
                    <a:headEnd/>
                    <a:tailEnd/>
                  </a:ln>
                </p:spPr>
                <p:txBody>
                  <a:bodyPr wrap="none" anchor="ctr"/>
                  <a:lstStyle/>
                  <a:p>
                    <a:endParaRPr lang="en-US"/>
                  </a:p>
                </p:txBody>
              </p:sp>
              <p:sp>
                <p:nvSpPr>
                  <p:cNvPr id="66631" name="Arc 146"/>
                  <p:cNvSpPr>
                    <a:spLocks/>
                  </p:cNvSpPr>
                  <p:nvPr/>
                </p:nvSpPr>
                <p:spPr bwMode="auto">
                  <a:xfrm>
                    <a:off x="4236" y="1473"/>
                    <a:ext cx="14" cy="15"/>
                  </a:xfrm>
                  <a:custGeom>
                    <a:avLst/>
                    <a:gdLst>
                      <a:gd name="T0" fmla="*/ 0 w 23196"/>
                      <a:gd name="T1" fmla="*/ 0 h 21600"/>
                      <a:gd name="T2" fmla="*/ 0 w 23196"/>
                      <a:gd name="T3" fmla="*/ 0 h 21600"/>
                      <a:gd name="T4" fmla="*/ 0 w 23196"/>
                      <a:gd name="T5" fmla="*/ 0 h 21600"/>
                      <a:gd name="T6" fmla="*/ 0 60000 65536"/>
                      <a:gd name="T7" fmla="*/ 0 60000 65536"/>
                      <a:gd name="T8" fmla="*/ 0 60000 65536"/>
                      <a:gd name="T9" fmla="*/ 0 w 23196"/>
                      <a:gd name="T10" fmla="*/ 0 h 21600"/>
                      <a:gd name="T11" fmla="*/ 23196 w 23196"/>
                      <a:gd name="T12" fmla="*/ 21600 h 21600"/>
                    </a:gdLst>
                    <a:ahLst/>
                    <a:cxnLst>
                      <a:cxn ang="T6">
                        <a:pos x="T0" y="T1"/>
                      </a:cxn>
                      <a:cxn ang="T7">
                        <a:pos x="T2" y="T3"/>
                      </a:cxn>
                      <a:cxn ang="T8">
                        <a:pos x="T4" y="T5"/>
                      </a:cxn>
                    </a:cxnLst>
                    <a:rect l="T9" t="T10" r="T11" b="T12"/>
                    <a:pathLst>
                      <a:path w="23196" h="21600" fill="none" extrusionOk="0">
                        <a:moveTo>
                          <a:pt x="0" y="59"/>
                        </a:moveTo>
                        <a:cubicBezTo>
                          <a:pt x="531" y="19"/>
                          <a:pt x="1063" y="-1"/>
                          <a:pt x="1596" y="0"/>
                        </a:cubicBezTo>
                        <a:cubicBezTo>
                          <a:pt x="13525" y="0"/>
                          <a:pt x="23196" y="9670"/>
                          <a:pt x="23196" y="21600"/>
                        </a:cubicBezTo>
                      </a:path>
                      <a:path w="23196" h="21600" stroke="0" extrusionOk="0">
                        <a:moveTo>
                          <a:pt x="0" y="59"/>
                        </a:moveTo>
                        <a:cubicBezTo>
                          <a:pt x="531" y="19"/>
                          <a:pt x="1063" y="-1"/>
                          <a:pt x="1596" y="0"/>
                        </a:cubicBezTo>
                        <a:cubicBezTo>
                          <a:pt x="13525" y="0"/>
                          <a:pt x="23196" y="9670"/>
                          <a:pt x="23196" y="21600"/>
                        </a:cubicBezTo>
                        <a:lnTo>
                          <a:pt x="1596" y="21600"/>
                        </a:lnTo>
                        <a:lnTo>
                          <a:pt x="0" y="59"/>
                        </a:lnTo>
                        <a:close/>
                      </a:path>
                    </a:pathLst>
                  </a:custGeom>
                  <a:solidFill>
                    <a:srgbClr val="CCFFFF"/>
                  </a:solidFill>
                  <a:ln w="28575" cap="rnd">
                    <a:solidFill>
                      <a:schemeClr val="tx1"/>
                    </a:solidFill>
                    <a:round/>
                    <a:headEnd/>
                    <a:tailEnd/>
                  </a:ln>
                </p:spPr>
                <p:txBody>
                  <a:bodyPr wrap="none" anchor="ctr"/>
                  <a:lstStyle/>
                  <a:p>
                    <a:endParaRPr lang="en-US"/>
                  </a:p>
                </p:txBody>
              </p:sp>
            </p:grpSp>
          </p:grpSp>
          <p:sp>
            <p:nvSpPr>
              <p:cNvPr id="66626" name="Line 147"/>
              <p:cNvSpPr>
                <a:spLocks noChangeShapeType="1"/>
              </p:cNvSpPr>
              <p:nvPr/>
            </p:nvSpPr>
            <p:spPr bwMode="auto">
              <a:xfrm flipV="1">
                <a:off x="1371" y="2767"/>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27" name="Line 148"/>
              <p:cNvSpPr>
                <a:spLocks noChangeShapeType="1"/>
              </p:cNvSpPr>
              <p:nvPr/>
            </p:nvSpPr>
            <p:spPr bwMode="auto">
              <a:xfrm flipV="1">
                <a:off x="1376" y="2622"/>
                <a:ext cx="37" cy="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66618" name="AutoShape 149"/>
            <p:cNvCxnSpPr>
              <a:cxnSpLocks noChangeShapeType="1"/>
              <a:stCxn id="66622" idx="3"/>
            </p:cNvCxnSpPr>
            <p:nvPr/>
          </p:nvCxnSpPr>
          <p:spPr bwMode="auto">
            <a:xfrm>
              <a:off x="8307639" y="3360236"/>
              <a:ext cx="290513" cy="6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6619" name="Text Box 150"/>
            <p:cNvSpPr txBox="1">
              <a:spLocks noChangeArrowheads="1"/>
            </p:cNvSpPr>
            <p:nvPr/>
          </p:nvSpPr>
          <p:spPr bwMode="auto">
            <a:xfrm>
              <a:off x="7820277" y="2844298"/>
              <a:ext cx="53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SzTx/>
                <a:buFontTx/>
                <a:buNone/>
              </a:pPr>
              <a:r>
                <a:rPr lang="en-US" altLang="en-US" sz="1400">
                  <a:solidFill>
                    <a:schemeClr val="folHlink"/>
                  </a:solidFill>
                  <a:sym typeface="Symbol" panose="05050102010706020507" pitchFamily="18" charset="2"/>
                </a:rPr>
                <a:t>BPF</a:t>
              </a:r>
              <a:endParaRPr lang="en-US" altLang="en-US" sz="1600">
                <a:sym typeface="Symbol" panose="05050102010706020507" pitchFamily="18" charset="2"/>
              </a:endParaRPr>
            </a:p>
          </p:txBody>
        </p:sp>
      </p:grpSp>
      <p:sp>
        <p:nvSpPr>
          <p:cNvPr id="151"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M-</a:t>
            </a:r>
            <a:r>
              <a:rPr lang="en-GB" sz="3600" b="1" dirty="0" err="1">
                <a:solidFill>
                  <a:srgbClr val="C00000"/>
                </a:solidFill>
                <a:latin typeface="+mn-lt"/>
              </a:rPr>
              <a:t>ary</a:t>
            </a:r>
            <a:r>
              <a:rPr lang="en-GB" sz="3600" b="1" dirty="0">
                <a:solidFill>
                  <a:srgbClr val="C00000"/>
                </a:solidFill>
                <a:latin typeface="+mn-lt"/>
              </a:rPr>
              <a:t> QPSK</a:t>
            </a:r>
          </a:p>
          <a:p>
            <a:r>
              <a:rPr lang="en-GB" sz="2400" b="1" dirty="0">
                <a:solidFill>
                  <a:srgbClr val="C00000"/>
                </a:solidFill>
                <a:latin typeface="Arial Black" panose="020B0A04020102020204" pitchFamily="34" charset="0"/>
              </a:rPr>
              <a:t>QPSK Modulator</a:t>
            </a:r>
            <a:endParaRPr lang="en-US" sz="2400" b="1" dirty="0">
              <a:solidFill>
                <a:srgbClr val="C00000"/>
              </a:solidFill>
              <a:latin typeface="Arial Black" panose="020B0A04020102020204" pitchFamily="34" charset="0"/>
            </a:endParaRPr>
          </a:p>
        </p:txBody>
      </p:sp>
      <p:grpSp>
        <p:nvGrpSpPr>
          <p:cNvPr id="154" name="Group 153"/>
          <p:cNvGrpSpPr/>
          <p:nvPr/>
        </p:nvGrpSpPr>
        <p:grpSpPr>
          <a:xfrm>
            <a:off x="8598083" y="2627620"/>
            <a:ext cx="3557808" cy="3281169"/>
            <a:chOff x="2739107" y="1257599"/>
            <a:chExt cx="2718874" cy="2507115"/>
          </a:xfrm>
        </p:grpSpPr>
        <p:sp>
          <p:nvSpPr>
            <p:cNvPr id="155" name="Line 4"/>
            <p:cNvSpPr>
              <a:spLocks noChangeShapeType="1"/>
            </p:cNvSpPr>
            <p:nvPr/>
          </p:nvSpPr>
          <p:spPr bwMode="auto">
            <a:xfrm>
              <a:off x="3999582" y="1334252"/>
              <a:ext cx="0" cy="2430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6" name="Line 5"/>
            <p:cNvSpPr>
              <a:spLocks noChangeShapeType="1"/>
            </p:cNvSpPr>
            <p:nvPr/>
          </p:nvSpPr>
          <p:spPr bwMode="auto">
            <a:xfrm>
              <a:off x="2739107" y="2637589"/>
              <a:ext cx="2476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7" name="Group 15"/>
            <p:cNvGrpSpPr>
              <a:grpSpLocks/>
            </p:cNvGrpSpPr>
            <p:nvPr/>
          </p:nvGrpSpPr>
          <p:grpSpPr bwMode="auto">
            <a:xfrm>
              <a:off x="3145507" y="1805741"/>
              <a:ext cx="1709738" cy="1665288"/>
              <a:chOff x="981" y="1380"/>
              <a:chExt cx="1077" cy="1049"/>
            </a:xfrm>
          </p:grpSpPr>
          <p:sp>
            <p:nvSpPr>
              <p:cNvPr id="161" name="Oval 6"/>
              <p:cNvSpPr>
                <a:spLocks noChangeArrowheads="1"/>
              </p:cNvSpPr>
              <p:nvPr/>
            </p:nvSpPr>
            <p:spPr bwMode="auto">
              <a:xfrm>
                <a:off x="981" y="1380"/>
                <a:ext cx="1077" cy="1049"/>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2" name="Oval 11"/>
              <p:cNvSpPr>
                <a:spLocks noChangeArrowheads="1"/>
              </p:cNvSpPr>
              <p:nvPr/>
            </p:nvSpPr>
            <p:spPr bwMode="auto">
              <a:xfrm>
                <a:off x="1071" y="1519"/>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 name="Oval 12"/>
              <p:cNvSpPr>
                <a:spLocks noChangeArrowheads="1"/>
              </p:cNvSpPr>
              <p:nvPr/>
            </p:nvSpPr>
            <p:spPr bwMode="auto">
              <a:xfrm>
                <a:off x="1896" y="2198"/>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 name="Oval 13"/>
              <p:cNvSpPr>
                <a:spLocks noChangeArrowheads="1"/>
              </p:cNvSpPr>
              <p:nvPr/>
            </p:nvSpPr>
            <p:spPr bwMode="auto">
              <a:xfrm>
                <a:off x="1862" y="1499"/>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5" name="Oval 14"/>
              <p:cNvSpPr>
                <a:spLocks noChangeArrowheads="1"/>
              </p:cNvSpPr>
              <p:nvPr/>
            </p:nvSpPr>
            <p:spPr bwMode="auto">
              <a:xfrm>
                <a:off x="1085" y="2212"/>
                <a:ext cx="85" cy="85"/>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9" name="Text Box 28"/>
            <p:cNvSpPr txBox="1">
              <a:spLocks noChangeArrowheads="1"/>
            </p:cNvSpPr>
            <p:nvPr/>
          </p:nvSpPr>
          <p:spPr bwMode="auto">
            <a:xfrm>
              <a:off x="4105492" y="1257599"/>
              <a:ext cx="340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Q</a:t>
              </a:r>
              <a:endParaRPr lang="en-GB" altLang="en-US" dirty="0"/>
            </a:p>
          </p:txBody>
        </p:sp>
        <p:sp>
          <p:nvSpPr>
            <p:cNvPr id="160" name="Text Box 29"/>
            <p:cNvSpPr txBox="1">
              <a:spLocks noChangeArrowheads="1"/>
            </p:cNvSpPr>
            <p:nvPr/>
          </p:nvSpPr>
          <p:spPr bwMode="auto">
            <a:xfrm>
              <a:off x="5215607" y="2356321"/>
              <a:ext cx="2423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I</a:t>
              </a:r>
              <a:endParaRPr lang="en-GB" altLang="en-US" dirty="0"/>
            </a:p>
          </p:txBody>
        </p:sp>
      </p:grpSp>
      <p:sp>
        <p:nvSpPr>
          <p:cNvPr id="139" name="Rectangle 138">
            <a:extLst>
              <a:ext uri="{FF2B5EF4-FFF2-40B4-BE49-F238E27FC236}">
                <a16:creationId xmlns:a16="http://schemas.microsoft.com/office/drawing/2014/main" id="{3404B053-3CA6-4EDD-A3DB-CFAC1E39CD5B}"/>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40" name="Footer Placeholder 4">
            <a:extLst>
              <a:ext uri="{FF2B5EF4-FFF2-40B4-BE49-F238E27FC236}">
                <a16:creationId xmlns:a16="http://schemas.microsoft.com/office/drawing/2014/main" id="{3D822CC9-1CBB-4EBA-A147-12B94FAFDAC1}"/>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32 of 41</a:t>
            </a:r>
            <a:endParaRPr lang="en-US" sz="1200" dirty="0"/>
          </a:p>
        </p:txBody>
      </p:sp>
      <p:pic>
        <p:nvPicPr>
          <p:cNvPr id="2" name="Pg32">
            <a:hlinkClick r:id="" action="ppaction://media"/>
            <a:extLst>
              <a:ext uri="{FF2B5EF4-FFF2-40B4-BE49-F238E27FC236}">
                <a16:creationId xmlns:a16="http://schemas.microsoft.com/office/drawing/2014/main" id="{860DF760-8B2F-4019-A49B-A0DC1DA6894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999037" y="5796168"/>
            <a:ext cx="609600" cy="609600"/>
          </a:xfrm>
          <a:prstGeom prst="rect">
            <a:avLst/>
          </a:prstGeom>
        </p:spPr>
      </p:pic>
      <p:sp>
        <p:nvSpPr>
          <p:cNvPr id="3" name="Rectangle 2">
            <a:extLst>
              <a:ext uri="{FF2B5EF4-FFF2-40B4-BE49-F238E27FC236}">
                <a16:creationId xmlns:a16="http://schemas.microsoft.com/office/drawing/2014/main" id="{AD13915F-8B14-EEF8-05D1-74CD3B34801E}"/>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349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4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613611" y="1404185"/>
            <a:ext cx="10920663" cy="4191000"/>
          </a:xfrm>
        </p:spPr>
        <p:txBody>
          <a:bodyPr>
            <a:normAutofit/>
          </a:bodyPr>
          <a:lstStyle/>
          <a:p>
            <a:pPr algn="just" eaLnBrk="1" hangingPunct="1"/>
            <a:r>
              <a:rPr lang="en-US" altLang="en-US" sz="2400" dirty="0"/>
              <a:t>In the QPSK modulator, the incoming bit-stream is divided into two parallel streams to be fed simultaneously to the I and Q balanced modulators to construct the 2 bit symbols. The carrier output from the modulator is controlled by the digital bit stream and by adding together the I and Q outputs, the phase state diagram is generated.</a:t>
            </a:r>
          </a:p>
          <a:p>
            <a:pPr marL="0" indent="0" algn="just" eaLnBrk="1" hangingPunct="1">
              <a:buNone/>
            </a:pPr>
            <a:endParaRPr lang="en-US" altLang="en-US" sz="2400" dirty="0"/>
          </a:p>
          <a:p>
            <a:pPr algn="just" eaLnBrk="1" hangingPunct="1"/>
            <a:r>
              <a:rPr lang="en-US" altLang="en-US" sz="2400" dirty="0"/>
              <a:t>The LPF is a baseband filter (Raised Cosine filter) used to shape the spectrum of the incoming pulses. The filter at the output of the modulator confines the power spectrum of the QPSK signal within the allocated band. This prevents spill-over of signal energy into adjacent channels and also removes out-of-band spurious signals generated during the modulation process.</a:t>
            </a:r>
            <a:endParaRPr lang="en-GB" altLang="en-US" sz="2400" dirty="0"/>
          </a:p>
        </p:txBody>
      </p:sp>
      <p:sp>
        <p:nvSpPr>
          <p:cNvPr id="7"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 M-</a:t>
            </a:r>
            <a:r>
              <a:rPr lang="en-GB" sz="3600" b="1" dirty="0" err="1">
                <a:solidFill>
                  <a:srgbClr val="C00000"/>
                </a:solidFill>
                <a:latin typeface="+mn-lt"/>
              </a:rPr>
              <a:t>ary</a:t>
            </a:r>
            <a:r>
              <a:rPr lang="en-GB" sz="3600" b="1" dirty="0">
                <a:solidFill>
                  <a:srgbClr val="C00000"/>
                </a:solidFill>
                <a:latin typeface="+mn-lt"/>
              </a:rPr>
              <a:t> QPSK</a:t>
            </a:r>
          </a:p>
          <a:p>
            <a:r>
              <a:rPr lang="en-GB" sz="2400" b="1" dirty="0">
                <a:solidFill>
                  <a:srgbClr val="C00000"/>
                </a:solidFill>
                <a:latin typeface="Arial Black" panose="020B0A04020102020204" pitchFamily="34" charset="0"/>
              </a:rPr>
              <a:t>QPSK Modulator</a:t>
            </a:r>
            <a:endParaRPr lang="en-US" sz="2400" b="1" dirty="0">
              <a:solidFill>
                <a:srgbClr val="C00000"/>
              </a:solidFill>
              <a:latin typeface="Arial Black" panose="020B0A04020102020204" pitchFamily="34" charset="0"/>
            </a:endParaRPr>
          </a:p>
        </p:txBody>
      </p:sp>
      <p:sp>
        <p:nvSpPr>
          <p:cNvPr id="10" name="Rectangle 9">
            <a:extLst>
              <a:ext uri="{FF2B5EF4-FFF2-40B4-BE49-F238E27FC236}">
                <a16:creationId xmlns:a16="http://schemas.microsoft.com/office/drawing/2014/main" id="{A51520A1-1AA8-40D8-9420-A53C89CD436A}"/>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1" name="Footer Placeholder 4">
            <a:extLst>
              <a:ext uri="{FF2B5EF4-FFF2-40B4-BE49-F238E27FC236}">
                <a16:creationId xmlns:a16="http://schemas.microsoft.com/office/drawing/2014/main" id="{60944A44-10EC-4A1C-8893-434C477360B1}"/>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33 of 41</a:t>
            </a:r>
            <a:endParaRPr lang="en-US" sz="1200" dirty="0"/>
          </a:p>
        </p:txBody>
      </p:sp>
      <p:pic>
        <p:nvPicPr>
          <p:cNvPr id="2" name="Pg33">
            <a:hlinkClick r:id="" action="ppaction://media"/>
            <a:extLst>
              <a:ext uri="{FF2B5EF4-FFF2-40B4-BE49-F238E27FC236}">
                <a16:creationId xmlns:a16="http://schemas.microsoft.com/office/drawing/2014/main" id="{E36199F9-90E3-4146-82E6-FF23734736C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4425" y="5709010"/>
            <a:ext cx="609600" cy="609600"/>
          </a:xfrm>
          <a:prstGeom prst="rect">
            <a:avLst/>
          </a:prstGeom>
        </p:spPr>
      </p:pic>
      <p:sp>
        <p:nvSpPr>
          <p:cNvPr id="3" name="Rectangle 2">
            <a:extLst>
              <a:ext uri="{FF2B5EF4-FFF2-40B4-BE49-F238E27FC236}">
                <a16:creationId xmlns:a16="http://schemas.microsoft.com/office/drawing/2014/main" id="{C16B5A14-ED35-6C9A-432D-0C9A49456AA0}"/>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3855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2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2"/>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Assignment</a:t>
            </a:r>
            <a:endParaRPr lang="en-US" sz="2400" b="1" dirty="0">
              <a:solidFill>
                <a:srgbClr val="C00000"/>
              </a:solidFill>
              <a:latin typeface="Arial Black" panose="020B0A04020102020204" pitchFamily="34" charset="0"/>
            </a:endParaRPr>
          </a:p>
        </p:txBody>
      </p:sp>
      <p:sp>
        <p:nvSpPr>
          <p:cNvPr id="116" name="Rectangle 3">
            <a:extLst>
              <a:ext uri="{FF2B5EF4-FFF2-40B4-BE49-F238E27FC236}">
                <a16:creationId xmlns:a16="http://schemas.microsoft.com/office/drawing/2014/main" id="{D071608D-6288-4AF6-934E-57D4527D0F15}"/>
              </a:ext>
            </a:extLst>
          </p:cNvPr>
          <p:cNvSpPr txBox="1">
            <a:spLocks noChangeArrowheads="1"/>
          </p:cNvSpPr>
          <p:nvPr/>
        </p:nvSpPr>
        <p:spPr>
          <a:xfrm>
            <a:off x="840636" y="1333500"/>
            <a:ext cx="10146917" cy="4191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400" dirty="0"/>
              <a:t>Search from the internet for information of BPSK and QPSK demodulator. Submission via email with a diagram of BPSK and QPSK demodulator and simple explanation how it works.</a:t>
            </a:r>
          </a:p>
          <a:p>
            <a:pPr marL="0" indent="0" algn="just">
              <a:buNone/>
            </a:pPr>
            <a:endParaRPr lang="en-US" altLang="en-US" sz="2400" dirty="0"/>
          </a:p>
        </p:txBody>
      </p:sp>
      <p:sp>
        <p:nvSpPr>
          <p:cNvPr id="7" name="Rectangle 6">
            <a:extLst>
              <a:ext uri="{FF2B5EF4-FFF2-40B4-BE49-F238E27FC236}">
                <a16:creationId xmlns:a16="http://schemas.microsoft.com/office/drawing/2014/main" id="{24411C41-BFEE-4067-ACE7-3D8C5954715F}"/>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8" name="Footer Placeholder 4">
            <a:extLst>
              <a:ext uri="{FF2B5EF4-FFF2-40B4-BE49-F238E27FC236}">
                <a16:creationId xmlns:a16="http://schemas.microsoft.com/office/drawing/2014/main" id="{DADA444D-6F9E-4024-AE13-B52EB6681BC6}"/>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34 of 41</a:t>
            </a:r>
            <a:endParaRPr lang="en-US" sz="1200" dirty="0"/>
          </a:p>
        </p:txBody>
      </p:sp>
      <p:pic>
        <p:nvPicPr>
          <p:cNvPr id="2" name="Pg34">
            <a:hlinkClick r:id="" action="ppaction://media"/>
            <a:extLst>
              <a:ext uri="{FF2B5EF4-FFF2-40B4-BE49-F238E27FC236}">
                <a16:creationId xmlns:a16="http://schemas.microsoft.com/office/drawing/2014/main" id="{81BD7EB5-A33F-4817-B3D7-414DF077832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4425" y="5709010"/>
            <a:ext cx="609600" cy="609600"/>
          </a:xfrm>
          <a:prstGeom prst="rect">
            <a:avLst/>
          </a:prstGeom>
        </p:spPr>
      </p:pic>
      <p:sp>
        <p:nvSpPr>
          <p:cNvPr id="3" name="Rectangle 2">
            <a:extLst>
              <a:ext uri="{FF2B5EF4-FFF2-40B4-BE49-F238E27FC236}">
                <a16:creationId xmlns:a16="http://schemas.microsoft.com/office/drawing/2014/main" id="{BF89B26E-D02C-EC7E-A3CC-168D3304A3DF}"/>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9141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20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63F543E-ACA9-449D-84D5-A61672FEC61F}"/>
              </a:ext>
            </a:extLst>
          </p:cNvPr>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Raise Cosine</a:t>
            </a:r>
            <a:endParaRPr lang="en-US" sz="2400" b="1" dirty="0">
              <a:solidFill>
                <a:srgbClr val="C00000"/>
              </a:solidFill>
              <a:latin typeface="Arial Black" panose="020B0A04020102020204" pitchFamily="34" charset="0"/>
            </a:endParaRPr>
          </a:p>
        </p:txBody>
      </p:sp>
      <p:sp>
        <p:nvSpPr>
          <p:cNvPr id="13" name="Rectangle 8">
            <a:extLst>
              <a:ext uri="{FF2B5EF4-FFF2-40B4-BE49-F238E27FC236}">
                <a16:creationId xmlns:a16="http://schemas.microsoft.com/office/drawing/2014/main" id="{3387847A-4111-4F42-9F23-C05CE1D26ADA}"/>
              </a:ext>
            </a:extLst>
          </p:cNvPr>
          <p:cNvSpPr>
            <a:spLocks noChangeArrowheads="1"/>
          </p:cNvSpPr>
          <p:nvPr/>
        </p:nvSpPr>
        <p:spPr bwMode="auto">
          <a:xfrm>
            <a:off x="86555" y="1436565"/>
            <a:ext cx="5447462"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lvl="0" indent="-342900">
              <a:buFont typeface="Arial" panose="020B0604020202020204" pitchFamily="34" charset="0"/>
              <a:buChar char="•"/>
            </a:pPr>
            <a:r>
              <a:rPr lang="en-US" altLang="en-US" sz="2400" b="1" dirty="0">
                <a:solidFill>
                  <a:srgbClr val="FF0000"/>
                </a:solidFill>
                <a:latin typeface="+mn-lt"/>
                <a:cs typeface="Arial" panose="020B0604020202020204" pitchFamily="34" charset="0"/>
              </a:rPr>
              <a:t>R</a:t>
            </a:r>
            <a:r>
              <a:rPr kumimoji="0" lang="en-US" altLang="en-US" sz="2400" b="1" i="0" u="none" strike="noStrike" cap="none" normalizeH="0" baseline="0" dirty="0">
                <a:ln>
                  <a:noFill/>
                </a:ln>
                <a:solidFill>
                  <a:srgbClr val="FF0000"/>
                </a:solidFill>
                <a:effectLst/>
                <a:latin typeface="+mn-lt"/>
                <a:cs typeface="Arial" panose="020B0604020202020204" pitchFamily="34" charset="0"/>
              </a:rPr>
              <a:t>aised-cosine filter</a:t>
            </a:r>
            <a:r>
              <a:rPr kumimoji="0" lang="en-US" altLang="en-US" sz="2400" b="0" i="0" u="none" strike="noStrike" cap="none" normalizeH="0" baseline="0" dirty="0">
                <a:ln>
                  <a:noFill/>
                </a:ln>
                <a:effectLst/>
                <a:latin typeface="+mn-lt"/>
                <a:cs typeface="Arial" panose="020B0604020202020204" pitchFamily="34" charset="0"/>
              </a:rPr>
              <a:t> used for pulse-shaping in digital modulation. </a:t>
            </a:r>
          </a:p>
          <a:p>
            <a:pPr marL="342900" lvl="0" indent="-342900">
              <a:buFont typeface="Arial" panose="020B0604020202020204" pitchFamily="34" charset="0"/>
              <a:buChar char="•"/>
            </a:pPr>
            <a:r>
              <a:rPr kumimoji="0" lang="en-US" altLang="en-US" sz="2400" b="0" i="0" u="none" strike="noStrike" cap="none" normalizeH="0" baseline="0" dirty="0">
                <a:ln>
                  <a:noFill/>
                </a:ln>
                <a:effectLst/>
                <a:latin typeface="+mn-lt"/>
                <a:cs typeface="Arial" panose="020B0604020202020204" pitchFamily="34" charset="0"/>
              </a:rPr>
              <a:t>The purpose is to </a:t>
            </a:r>
            <a:r>
              <a:rPr kumimoji="0" lang="en-US" altLang="en-US" sz="2400" b="0" i="0" u="none" strike="noStrike" cap="none" normalizeH="0" baseline="0" dirty="0" err="1">
                <a:ln>
                  <a:noFill/>
                </a:ln>
                <a:effectLst/>
                <a:latin typeface="+mn-lt"/>
                <a:cs typeface="Arial" panose="020B0604020202020204" pitchFamily="34" charset="0"/>
              </a:rPr>
              <a:t>minimise</a:t>
            </a:r>
            <a:r>
              <a:rPr kumimoji="0" lang="en-US" altLang="en-US" sz="2400" b="0" i="0" u="none" strike="noStrike" cap="none" normalizeH="0" baseline="0" dirty="0">
                <a:ln>
                  <a:noFill/>
                </a:ln>
                <a:effectLst/>
                <a:latin typeface="+mn-lt"/>
                <a:cs typeface="Arial" panose="020B0604020202020204" pitchFamily="34" charset="0"/>
              </a:rPr>
              <a:t> </a:t>
            </a:r>
            <a:r>
              <a:rPr kumimoji="0" lang="en-US" altLang="en-US" sz="2400" b="0" i="0" u="none" strike="noStrike" cap="none" normalizeH="0" baseline="0" dirty="0" err="1">
                <a:ln>
                  <a:noFill/>
                </a:ln>
                <a:effectLst/>
                <a:latin typeface="+mn-lt"/>
                <a:cs typeface="Arial" panose="020B0604020202020204" pitchFamily="34" charset="0"/>
              </a:rPr>
              <a:t>intersymbol</a:t>
            </a:r>
            <a:r>
              <a:rPr kumimoji="0" lang="en-US" altLang="en-US" sz="2400" b="0" i="0" u="none" strike="noStrike" cap="none" normalizeH="0" baseline="0" dirty="0">
                <a:ln>
                  <a:noFill/>
                </a:ln>
                <a:effectLst/>
                <a:latin typeface="+mn-lt"/>
                <a:cs typeface="Arial" panose="020B0604020202020204" pitchFamily="34" charset="0"/>
              </a:rPr>
              <a:t> interference (ISI).  </a:t>
            </a:r>
          </a:p>
          <a:p>
            <a:pPr marL="342900" lvl="0" indent="-342900">
              <a:buFont typeface="Arial" panose="020B0604020202020204" pitchFamily="34" charset="0"/>
              <a:buChar char="•"/>
            </a:pPr>
            <a:endParaRPr lang="en-US" altLang="en-US" sz="2400" dirty="0">
              <a:latin typeface="+mn-lt"/>
              <a:cs typeface="Arial" panose="020B0604020202020204" pitchFamily="34" charset="0"/>
            </a:endParaRPr>
          </a:p>
          <a:p>
            <a:pPr marL="342900" lvl="0" indent="-342900">
              <a:buFont typeface="Arial" panose="020B0604020202020204" pitchFamily="34" charset="0"/>
              <a:buChar char="•"/>
            </a:pPr>
            <a:r>
              <a:rPr lang="en-SG" sz="2400" b="1" dirty="0">
                <a:solidFill>
                  <a:srgbClr val="FF0000"/>
                </a:solidFill>
                <a:latin typeface="+mn-lt"/>
              </a:rPr>
              <a:t>ISI</a:t>
            </a:r>
            <a:r>
              <a:rPr lang="en-SG" sz="2400" dirty="0">
                <a:latin typeface="+mn-lt"/>
              </a:rPr>
              <a:t> interferes with subsequent symbols and has similar effect as noise.</a:t>
            </a:r>
          </a:p>
          <a:p>
            <a:pPr marL="342900" lvl="0" indent="-342900">
              <a:buFont typeface="Arial" panose="020B0604020202020204" pitchFamily="34" charset="0"/>
              <a:buChar char="•"/>
            </a:pPr>
            <a:endParaRPr lang="en-SG" altLang="en-US" sz="2400" dirty="0">
              <a:latin typeface="+mn-lt"/>
              <a:cs typeface="Arial" panose="020B0604020202020204" pitchFamily="34" charset="0"/>
            </a:endParaRPr>
          </a:p>
          <a:p>
            <a:pPr marL="342900" lvl="0" indent="-342900">
              <a:buFont typeface="Arial" panose="020B0604020202020204" pitchFamily="34" charset="0"/>
              <a:buChar char="•"/>
            </a:pPr>
            <a:r>
              <a:rPr lang="en-SG" sz="2400" dirty="0">
                <a:latin typeface="+mn-lt"/>
              </a:rPr>
              <a:t>The spreading of the pulse is beyond its allotted time interval and hence it causes to interfere with neighbouring pulses.</a:t>
            </a:r>
            <a:endParaRPr lang="en-US" altLang="en-US" sz="2400" dirty="0">
              <a:latin typeface="+mn-lt"/>
              <a:cs typeface="Arial" panose="020B0604020202020204" pitchFamily="34" charset="0"/>
            </a:endParaRPr>
          </a:p>
        </p:txBody>
      </p:sp>
      <p:sp>
        <p:nvSpPr>
          <p:cNvPr id="14" name="AutoShape 9" descr="\beta =1">
            <a:extLst>
              <a:ext uri="{FF2B5EF4-FFF2-40B4-BE49-F238E27FC236}">
                <a16:creationId xmlns:a16="http://schemas.microsoft.com/office/drawing/2014/main" id="{FCFA7E22-3DFB-49E1-9132-25D08A97FE06}"/>
              </a:ext>
            </a:extLst>
          </p:cNvPr>
          <p:cNvSpPr>
            <a:spLocks noChangeAspect="1" noChangeArrowheads="1"/>
          </p:cNvSpPr>
          <p:nvPr/>
        </p:nvSpPr>
        <p:spPr bwMode="auto">
          <a:xfrm>
            <a:off x="14484124" y="27130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0" descr="f">
            <a:extLst>
              <a:ext uri="{FF2B5EF4-FFF2-40B4-BE49-F238E27FC236}">
                <a16:creationId xmlns:a16="http://schemas.microsoft.com/office/drawing/2014/main" id="{17F69F01-9EE2-4208-B38A-40562D0737B6}"/>
              </a:ext>
            </a:extLst>
          </p:cNvPr>
          <p:cNvSpPr>
            <a:spLocks noChangeAspect="1" noChangeArrowheads="1"/>
          </p:cNvSpPr>
          <p:nvPr/>
        </p:nvSpPr>
        <p:spPr bwMode="auto">
          <a:xfrm>
            <a:off x="17598799" y="27130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78" name="Picture 14">
            <a:extLst>
              <a:ext uri="{FF2B5EF4-FFF2-40B4-BE49-F238E27FC236}">
                <a16:creationId xmlns:a16="http://schemas.microsoft.com/office/drawing/2014/main" id="{03E01C9B-05A5-42DD-AE90-9D16B7CD36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2102" y="1861144"/>
            <a:ext cx="6289986" cy="33756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BD7B283-954C-4CC2-9975-5EA11BF6FF28}"/>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0" name="Footer Placeholder 4">
            <a:extLst>
              <a:ext uri="{FF2B5EF4-FFF2-40B4-BE49-F238E27FC236}">
                <a16:creationId xmlns:a16="http://schemas.microsoft.com/office/drawing/2014/main" id="{E6DD13C5-21D1-435B-A669-2265AD2C4439}"/>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35 of 41</a:t>
            </a:r>
            <a:endParaRPr lang="en-US" sz="1200" dirty="0"/>
          </a:p>
        </p:txBody>
      </p:sp>
      <p:pic>
        <p:nvPicPr>
          <p:cNvPr id="2" name="Pg35">
            <a:hlinkClick r:id="" action="ppaction://media"/>
            <a:extLst>
              <a:ext uri="{FF2B5EF4-FFF2-40B4-BE49-F238E27FC236}">
                <a16:creationId xmlns:a16="http://schemas.microsoft.com/office/drawing/2014/main" id="{B4C2A0B5-64F3-4ED3-AABB-53882C63C32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4425" y="5676542"/>
            <a:ext cx="609600" cy="609600"/>
          </a:xfrm>
          <a:prstGeom prst="rect">
            <a:avLst/>
          </a:prstGeom>
        </p:spPr>
      </p:pic>
      <p:sp>
        <p:nvSpPr>
          <p:cNvPr id="3" name="Rectangle 2">
            <a:extLst>
              <a:ext uri="{FF2B5EF4-FFF2-40B4-BE49-F238E27FC236}">
                <a16:creationId xmlns:a16="http://schemas.microsoft.com/office/drawing/2014/main" id="{393431F6-B286-646C-76C0-ABD8DDF3BF70}"/>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0839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67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90D98DC-6F2D-4476-9415-45823277C8AC}"/>
              </a:ext>
            </a:extLst>
          </p:cNvPr>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Raise Cosine (Example)</a:t>
            </a:r>
            <a:endParaRPr lang="en-US" sz="2400" b="1" dirty="0">
              <a:solidFill>
                <a:srgbClr val="C00000"/>
              </a:solidFill>
              <a:latin typeface="Arial Black" panose="020B0A04020102020204" pitchFamily="34" charset="0"/>
            </a:endParaRPr>
          </a:p>
        </p:txBody>
      </p:sp>
      <p:sp>
        <p:nvSpPr>
          <p:cNvPr id="5" name="Rectangle 4">
            <a:extLst>
              <a:ext uri="{FF2B5EF4-FFF2-40B4-BE49-F238E27FC236}">
                <a16:creationId xmlns:a16="http://schemas.microsoft.com/office/drawing/2014/main" id="{E60625F4-2E0F-42D4-8109-E6F8E1CA89CC}"/>
              </a:ext>
            </a:extLst>
          </p:cNvPr>
          <p:cNvSpPr/>
          <p:nvPr/>
        </p:nvSpPr>
        <p:spPr>
          <a:xfrm>
            <a:off x="490476" y="1410355"/>
            <a:ext cx="11380395" cy="5447645"/>
          </a:xfrm>
          <a:prstGeom prst="rect">
            <a:avLst/>
          </a:prstGeom>
        </p:spPr>
        <p:txBody>
          <a:bodyPr wrap="square">
            <a:spAutoFit/>
          </a:bodyPr>
          <a:lstStyle/>
          <a:p>
            <a:pPr marR="0" lvl="0" algn="just">
              <a:spcBef>
                <a:spcPts val="0"/>
              </a:spcBef>
              <a:spcAft>
                <a:spcPts val="0"/>
              </a:spcAft>
            </a:pPr>
            <a:r>
              <a:rPr lang="en-GB" sz="2400" dirty="0">
                <a:ea typeface="Times New Roman" panose="02020603050405020304" pitchFamily="18" charset="0"/>
              </a:rPr>
              <a:t>An unfiltered 2Mbps digital data stream is modulated onto a 900 MHz carrier using BPSK modulation. </a:t>
            </a:r>
            <a:endParaRPr lang="en-US" sz="2400" dirty="0">
              <a:ea typeface="Times New Roman" panose="02020603050405020304" pitchFamily="18" charset="0"/>
            </a:endParaRPr>
          </a:p>
          <a:p>
            <a:pPr marL="457200" marR="0" algn="just">
              <a:spcBef>
                <a:spcPts val="0"/>
              </a:spcBef>
              <a:spcAft>
                <a:spcPts val="0"/>
              </a:spcAft>
            </a:pPr>
            <a:r>
              <a:rPr lang="en-GB" sz="2400" dirty="0">
                <a:ea typeface="Times New Roman" panose="02020603050405020304" pitchFamily="18" charset="0"/>
              </a:rPr>
              <a:t> </a:t>
            </a:r>
            <a:endParaRPr lang="en-US" sz="2400" dirty="0">
              <a:ea typeface="Times New Roman" panose="02020603050405020304" pitchFamily="18" charset="0"/>
            </a:endParaRPr>
          </a:p>
          <a:p>
            <a:pPr marL="342900" marR="0" lvl="0" indent="-342900" algn="just">
              <a:spcBef>
                <a:spcPts val="0"/>
              </a:spcBef>
              <a:spcAft>
                <a:spcPts val="0"/>
              </a:spcAft>
              <a:buFont typeface="+mj-lt"/>
              <a:buAutoNum type="romanLcParenBoth"/>
            </a:pPr>
            <a:r>
              <a:rPr lang="en-GB" sz="2400" dirty="0">
                <a:ea typeface="Times New Roman" panose="02020603050405020304" pitchFamily="18" charset="0"/>
              </a:rPr>
              <a:t>Sketch the RF spectrum of the unfiltered BPSK signal. </a:t>
            </a:r>
            <a:endParaRPr lang="en-US" sz="2400" dirty="0">
              <a:ea typeface="Times New Roman" panose="02020603050405020304" pitchFamily="18" charset="0"/>
            </a:endParaRPr>
          </a:p>
          <a:p>
            <a:pPr marL="914400" marR="0" algn="just">
              <a:spcBef>
                <a:spcPts val="0"/>
              </a:spcBef>
              <a:spcAft>
                <a:spcPts val="0"/>
              </a:spcAft>
            </a:pPr>
            <a:r>
              <a:rPr lang="en-GB" sz="2400" dirty="0">
                <a:ea typeface="Times New Roman" panose="02020603050405020304" pitchFamily="18" charset="0"/>
              </a:rPr>
              <a:t> </a:t>
            </a:r>
            <a:endParaRPr lang="en-US" sz="2400" dirty="0">
              <a:ea typeface="Times New Roman" panose="02020603050405020304" pitchFamily="18" charset="0"/>
            </a:endParaRPr>
          </a:p>
          <a:p>
            <a:pPr marR="0" lvl="0" algn="just">
              <a:spcBef>
                <a:spcPts val="0"/>
              </a:spcBef>
              <a:spcAft>
                <a:spcPts val="0"/>
              </a:spcAft>
            </a:pPr>
            <a:r>
              <a:rPr lang="en-GB" sz="2400" dirty="0">
                <a:ea typeface="Times New Roman" panose="02020603050405020304" pitchFamily="18" charset="0"/>
              </a:rPr>
              <a:t>(ii) Calculate the RF </a:t>
            </a:r>
            <a:r>
              <a:rPr lang="en-GB" sz="2400" dirty="0" err="1">
                <a:ea typeface="Times New Roman" panose="02020603050405020304" pitchFamily="18" charset="0"/>
              </a:rPr>
              <a:t>mainlobe</a:t>
            </a:r>
            <a:r>
              <a:rPr lang="en-GB" sz="2400" dirty="0">
                <a:ea typeface="Times New Roman" panose="02020603050405020304" pitchFamily="18" charset="0"/>
              </a:rPr>
              <a:t> bandwidth. </a:t>
            </a:r>
            <a:endParaRPr lang="en-US" sz="2400" dirty="0">
              <a:ea typeface="Times New Roman" panose="02020603050405020304" pitchFamily="18" charset="0"/>
            </a:endParaRPr>
          </a:p>
          <a:p>
            <a:pPr marR="0" lvl="0" algn="just">
              <a:spcBef>
                <a:spcPts val="0"/>
              </a:spcBef>
              <a:spcAft>
                <a:spcPts val="0"/>
              </a:spcAft>
            </a:pPr>
            <a:endParaRPr lang="en-US" sz="2400" dirty="0">
              <a:ea typeface="Times New Roman" panose="02020603050405020304" pitchFamily="18" charset="0"/>
            </a:endParaRPr>
          </a:p>
          <a:p>
            <a:pPr marR="0" lvl="0" algn="just">
              <a:spcBef>
                <a:spcPts val="0"/>
              </a:spcBef>
              <a:spcAft>
                <a:spcPts val="0"/>
              </a:spcAft>
            </a:pPr>
            <a:r>
              <a:rPr lang="en-US" sz="2400" dirty="0">
                <a:ea typeface="Times New Roman" panose="02020603050405020304" pitchFamily="18" charset="0"/>
              </a:rPr>
              <a:t>(iii) </a:t>
            </a:r>
            <a:r>
              <a:rPr lang="en-GB" sz="2400" dirty="0">
                <a:ea typeface="Times New Roman" panose="02020603050405020304" pitchFamily="18" charset="0"/>
              </a:rPr>
              <a:t>Suppose the RF transmission bandwidth allowed is 2.6MHz. Suggest how a Raised Cosine filter can be used to meet this requirement. Draw the RF spectrum with the raised cosine filter. 		</a:t>
            </a:r>
            <a:endParaRPr lang="en-US" sz="2400" dirty="0">
              <a:ea typeface="Times New Roman" panose="02020603050405020304" pitchFamily="18" charset="0"/>
            </a:endParaRPr>
          </a:p>
          <a:p>
            <a:pPr marL="457200" marR="0" algn="r">
              <a:spcBef>
                <a:spcPts val="0"/>
              </a:spcBef>
              <a:spcAft>
                <a:spcPts val="0"/>
              </a:spcAft>
            </a:pPr>
            <a:r>
              <a:rPr lang="en-GB" sz="2400" dirty="0">
                <a:ea typeface="Times New Roman" panose="02020603050405020304" pitchFamily="18" charset="0"/>
              </a:rPr>
              <a:t> </a:t>
            </a:r>
            <a:endParaRPr lang="en-US" sz="2400" dirty="0">
              <a:ea typeface="Times New Roman" panose="02020603050405020304" pitchFamily="18" charset="0"/>
            </a:endParaRPr>
          </a:p>
          <a:p>
            <a:pPr marR="0" lvl="0" algn="just" fontAlgn="base" hangingPunct="0">
              <a:spcBef>
                <a:spcPts val="0"/>
              </a:spcBef>
              <a:spcAft>
                <a:spcPts val="0"/>
              </a:spcAft>
              <a:tabLst>
                <a:tab pos="360045" algn="l"/>
              </a:tabLst>
            </a:pPr>
            <a:r>
              <a:rPr lang="en-GB" sz="2400" dirty="0">
                <a:ea typeface="Times New Roman" panose="02020603050405020304" pitchFamily="18" charset="0"/>
                <a:cs typeface="Arial" panose="020B0604020202020204" pitchFamily="34" charset="0"/>
              </a:rPr>
              <a:t>(iv) The effect of the roll-off factor on the RF bandwidth and the Inter-symbol Interference (ISI).  </a:t>
            </a:r>
            <a:r>
              <a:rPr lang="en-GB" dirty="0">
                <a:latin typeface="Arial" panose="020B0604020202020204" pitchFamily="34" charset="0"/>
                <a:ea typeface="Times New Roman" panose="02020603050405020304" pitchFamily="18" charset="0"/>
                <a:cs typeface="Arial" panose="020B0604020202020204" pitchFamily="34" charset="0"/>
              </a:rPr>
              <a:t>			</a:t>
            </a:r>
            <a:endParaRPr lang="en-US" dirty="0">
              <a:latin typeface="Arial" panose="020B0604020202020204" pitchFamily="34" charset="0"/>
              <a:ea typeface="Times New Roman" panose="02020603050405020304" pitchFamily="18" charset="0"/>
              <a:cs typeface="Times New Roman" panose="02020603050405020304" pitchFamily="18" charset="0"/>
            </a:endParaRPr>
          </a:p>
          <a:p>
            <a:pPr marL="228600" marR="0" algn="r">
              <a:spcBef>
                <a:spcPts val="0"/>
              </a:spcBef>
              <a:spcAft>
                <a:spcPts val="0"/>
              </a:spcAft>
              <a:tabLst>
                <a:tab pos="360045" algn="l"/>
              </a:tabLst>
            </a:pPr>
            <a:r>
              <a:rPr lang="en-GB" dirty="0">
                <a:latin typeface="Arial" panose="020B0604020202020204" pitchFamily="34" charset="0"/>
                <a:ea typeface="Times New Roman" panose="02020603050405020304" pitchFamily="18" charset="0"/>
                <a:cs typeface="Arial" panose="020B0604020202020204" pitchFamily="34" charset="0"/>
              </a:rPr>
              <a:t>                                        </a:t>
            </a:r>
            <a:endParaRPr lang="en-US" dirty="0">
              <a:latin typeface="Arial" panose="020B0604020202020204" pitchFamily="34" charset="0"/>
              <a:ea typeface="Times New Roman" panose="02020603050405020304" pitchFamily="18" charset="0"/>
              <a:cs typeface="Times New Roman" panose="02020603050405020304" pitchFamily="18" charset="0"/>
            </a:endParaRPr>
          </a:p>
          <a:p>
            <a:pPr algn="just">
              <a:tabLst>
                <a:tab pos="0" algn="l"/>
                <a:tab pos="360045" algn="l"/>
              </a:tabLst>
            </a:pPr>
            <a:endParaRPr lang="en-US"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C404DDE7-2BAA-4321-92C2-197EBDD6DF5E}"/>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8" name="Footer Placeholder 4">
            <a:extLst>
              <a:ext uri="{FF2B5EF4-FFF2-40B4-BE49-F238E27FC236}">
                <a16:creationId xmlns:a16="http://schemas.microsoft.com/office/drawing/2014/main" id="{F95508EF-A86A-49AE-8C0C-0BD98D145316}"/>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36 of 41</a:t>
            </a:r>
            <a:endParaRPr lang="en-US" sz="1200" dirty="0"/>
          </a:p>
        </p:txBody>
      </p:sp>
      <p:pic>
        <p:nvPicPr>
          <p:cNvPr id="2" name="Pg36">
            <a:hlinkClick r:id="" action="ppaction://media"/>
            <a:extLst>
              <a:ext uri="{FF2B5EF4-FFF2-40B4-BE49-F238E27FC236}">
                <a16:creationId xmlns:a16="http://schemas.microsoft.com/office/drawing/2014/main" id="{D32AB667-7ED2-4C88-B0BC-BAD8453B56D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54425" y="5779405"/>
            <a:ext cx="609600" cy="609600"/>
          </a:xfrm>
          <a:prstGeom prst="rect">
            <a:avLst/>
          </a:prstGeom>
        </p:spPr>
      </p:pic>
      <p:sp>
        <p:nvSpPr>
          <p:cNvPr id="3" name="Rectangle 2">
            <a:extLst>
              <a:ext uri="{FF2B5EF4-FFF2-40B4-BE49-F238E27FC236}">
                <a16:creationId xmlns:a16="http://schemas.microsoft.com/office/drawing/2014/main" id="{8697FF1E-68DB-AB17-A985-BC50309A6FA7}"/>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6896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0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90D98DC-6F2D-4476-9415-45823277C8AC}"/>
              </a:ext>
            </a:extLst>
          </p:cNvPr>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Raise Cosine (Example)</a:t>
            </a:r>
            <a:endParaRPr lang="en-US" sz="2400" b="1" dirty="0">
              <a:solidFill>
                <a:srgbClr val="C00000"/>
              </a:solidFill>
              <a:latin typeface="Arial Black" panose="020B0A04020102020204" pitchFamily="34" charset="0"/>
            </a:endParaRPr>
          </a:p>
        </p:txBody>
      </p:sp>
      <p:grpSp>
        <p:nvGrpSpPr>
          <p:cNvPr id="6" name="Canvas 35911">
            <a:extLst>
              <a:ext uri="{FF2B5EF4-FFF2-40B4-BE49-F238E27FC236}">
                <a16:creationId xmlns:a16="http://schemas.microsoft.com/office/drawing/2014/main" id="{0D9036CF-378C-4762-BB8C-BCD6AA43B16A}"/>
              </a:ext>
            </a:extLst>
          </p:cNvPr>
          <p:cNvGrpSpPr/>
          <p:nvPr/>
        </p:nvGrpSpPr>
        <p:grpSpPr>
          <a:xfrm>
            <a:off x="3209128" y="1376316"/>
            <a:ext cx="5437414" cy="2312427"/>
            <a:chOff x="-125100" y="15674"/>
            <a:chExt cx="4044950" cy="1368425"/>
          </a:xfrm>
        </p:grpSpPr>
        <p:sp>
          <p:nvSpPr>
            <p:cNvPr id="7" name="Rectangle 6">
              <a:extLst>
                <a:ext uri="{FF2B5EF4-FFF2-40B4-BE49-F238E27FC236}">
                  <a16:creationId xmlns:a16="http://schemas.microsoft.com/office/drawing/2014/main" id="{4AC15FCC-52D8-4274-A003-94114CBF7D83}"/>
                </a:ext>
              </a:extLst>
            </p:cNvPr>
            <p:cNvSpPr/>
            <p:nvPr/>
          </p:nvSpPr>
          <p:spPr>
            <a:xfrm>
              <a:off x="-125100" y="15674"/>
              <a:ext cx="4044950" cy="1368425"/>
            </a:xfrm>
            <a:prstGeom prst="rect">
              <a:avLst/>
            </a:prstGeom>
            <a:noFill/>
            <a:ln>
              <a:noFill/>
            </a:ln>
          </p:spPr>
          <p:txBody>
            <a:bodyPr/>
            <a:lstStyle/>
            <a:p>
              <a:endParaRPr lang="en-US"/>
            </a:p>
          </p:txBody>
        </p:sp>
        <p:grpSp>
          <p:nvGrpSpPr>
            <p:cNvPr id="8" name="Group 7">
              <a:extLst>
                <a:ext uri="{FF2B5EF4-FFF2-40B4-BE49-F238E27FC236}">
                  <a16:creationId xmlns:a16="http://schemas.microsoft.com/office/drawing/2014/main" id="{B0D21450-7A82-46B3-B970-2CA02F31B282}"/>
                </a:ext>
              </a:extLst>
            </p:cNvPr>
            <p:cNvGrpSpPr>
              <a:grpSpLocks/>
            </p:cNvGrpSpPr>
            <p:nvPr/>
          </p:nvGrpSpPr>
          <p:grpSpPr bwMode="auto">
            <a:xfrm>
              <a:off x="0" y="320553"/>
              <a:ext cx="3041940" cy="758669"/>
              <a:chOff x="1998" y="2084"/>
              <a:chExt cx="2684" cy="692"/>
            </a:xfrm>
          </p:grpSpPr>
          <p:grpSp>
            <p:nvGrpSpPr>
              <p:cNvPr id="12" name="Group 11">
                <a:extLst>
                  <a:ext uri="{FF2B5EF4-FFF2-40B4-BE49-F238E27FC236}">
                    <a16:creationId xmlns:a16="http://schemas.microsoft.com/office/drawing/2014/main" id="{14DB2136-AAC9-49DF-9701-D7C288785BBC}"/>
                  </a:ext>
                </a:extLst>
              </p:cNvPr>
              <p:cNvGrpSpPr>
                <a:grpSpLocks/>
              </p:cNvGrpSpPr>
              <p:nvPr/>
            </p:nvGrpSpPr>
            <p:grpSpPr bwMode="auto">
              <a:xfrm>
                <a:off x="2812" y="2084"/>
                <a:ext cx="1056" cy="692"/>
                <a:chOff x="2812" y="2084"/>
                <a:chExt cx="1056" cy="692"/>
              </a:xfrm>
            </p:grpSpPr>
            <p:sp>
              <p:nvSpPr>
                <p:cNvPr id="31" name="Arc 1018">
                  <a:extLst>
                    <a:ext uri="{FF2B5EF4-FFF2-40B4-BE49-F238E27FC236}">
                      <a16:creationId xmlns:a16="http://schemas.microsoft.com/office/drawing/2014/main" id="{7C31EA01-A37D-4B85-9C7E-51760B8CA7F6}"/>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32" name="Arc 1019">
                  <a:extLst>
                    <a:ext uri="{FF2B5EF4-FFF2-40B4-BE49-F238E27FC236}">
                      <a16:creationId xmlns:a16="http://schemas.microsoft.com/office/drawing/2014/main" id="{31B99AC6-43D5-48CC-A09F-FC9309305B6F}"/>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3" name="Group 12">
                <a:extLst>
                  <a:ext uri="{FF2B5EF4-FFF2-40B4-BE49-F238E27FC236}">
                    <a16:creationId xmlns:a16="http://schemas.microsoft.com/office/drawing/2014/main" id="{39EED663-DF55-4AE1-B0F9-8E27D63C445D}"/>
                  </a:ext>
                </a:extLst>
              </p:cNvPr>
              <p:cNvGrpSpPr>
                <a:grpSpLocks/>
              </p:cNvGrpSpPr>
              <p:nvPr/>
            </p:nvGrpSpPr>
            <p:grpSpPr bwMode="auto">
              <a:xfrm>
                <a:off x="3868" y="2432"/>
                <a:ext cx="388" cy="344"/>
                <a:chOff x="2812" y="2084"/>
                <a:chExt cx="1056" cy="692"/>
              </a:xfrm>
            </p:grpSpPr>
            <p:sp>
              <p:nvSpPr>
                <p:cNvPr id="29" name="Arc 1021">
                  <a:extLst>
                    <a:ext uri="{FF2B5EF4-FFF2-40B4-BE49-F238E27FC236}">
                      <a16:creationId xmlns:a16="http://schemas.microsoft.com/office/drawing/2014/main" id="{E7DBA738-95A1-4000-BC20-FC99A30D592B}"/>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30" name="Arc 1022">
                  <a:extLst>
                    <a:ext uri="{FF2B5EF4-FFF2-40B4-BE49-F238E27FC236}">
                      <a16:creationId xmlns:a16="http://schemas.microsoft.com/office/drawing/2014/main" id="{54B27C15-5A91-4116-A8C2-E89EA95EAF78}"/>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4" name="Group 13">
                <a:extLst>
                  <a:ext uri="{FF2B5EF4-FFF2-40B4-BE49-F238E27FC236}">
                    <a16:creationId xmlns:a16="http://schemas.microsoft.com/office/drawing/2014/main" id="{C9762A77-B0D9-4DC4-8B50-F19D3A33EE22}"/>
                  </a:ext>
                </a:extLst>
              </p:cNvPr>
              <p:cNvGrpSpPr>
                <a:grpSpLocks/>
              </p:cNvGrpSpPr>
              <p:nvPr/>
            </p:nvGrpSpPr>
            <p:grpSpPr bwMode="auto">
              <a:xfrm>
                <a:off x="2424" y="2432"/>
                <a:ext cx="388" cy="344"/>
                <a:chOff x="2812" y="2084"/>
                <a:chExt cx="1056" cy="692"/>
              </a:xfrm>
            </p:grpSpPr>
            <p:sp>
              <p:nvSpPr>
                <p:cNvPr id="27" name="Arc 1024">
                  <a:extLst>
                    <a:ext uri="{FF2B5EF4-FFF2-40B4-BE49-F238E27FC236}">
                      <a16:creationId xmlns:a16="http://schemas.microsoft.com/office/drawing/2014/main" id="{857F5BC7-B581-42FD-9B8F-35DB37FEDCB6}"/>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28" name="Arc 1025">
                  <a:extLst>
                    <a:ext uri="{FF2B5EF4-FFF2-40B4-BE49-F238E27FC236}">
                      <a16:creationId xmlns:a16="http://schemas.microsoft.com/office/drawing/2014/main" id="{D6697582-9735-4E8C-94B8-37925CBE2008}"/>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5" name="Group 14">
                <a:extLst>
                  <a:ext uri="{FF2B5EF4-FFF2-40B4-BE49-F238E27FC236}">
                    <a16:creationId xmlns:a16="http://schemas.microsoft.com/office/drawing/2014/main" id="{B108C95A-D0D9-4445-98BF-DCD4AD506C4E}"/>
                  </a:ext>
                </a:extLst>
              </p:cNvPr>
              <p:cNvGrpSpPr>
                <a:grpSpLocks/>
              </p:cNvGrpSpPr>
              <p:nvPr/>
            </p:nvGrpSpPr>
            <p:grpSpPr bwMode="auto">
              <a:xfrm>
                <a:off x="1998" y="2624"/>
                <a:ext cx="182" cy="152"/>
                <a:chOff x="2812" y="2084"/>
                <a:chExt cx="1056" cy="692"/>
              </a:xfrm>
            </p:grpSpPr>
            <p:sp>
              <p:nvSpPr>
                <p:cNvPr id="25" name="Arc 1027">
                  <a:extLst>
                    <a:ext uri="{FF2B5EF4-FFF2-40B4-BE49-F238E27FC236}">
                      <a16:creationId xmlns:a16="http://schemas.microsoft.com/office/drawing/2014/main" id="{F3716B8D-BB11-4F4F-BE6A-DE91CF238C6F}"/>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26" name="Arc 1028">
                  <a:extLst>
                    <a:ext uri="{FF2B5EF4-FFF2-40B4-BE49-F238E27FC236}">
                      <a16:creationId xmlns:a16="http://schemas.microsoft.com/office/drawing/2014/main" id="{A5C16501-9DF3-4E03-9460-1AFB2FDE91D6}"/>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6" name="Group 15">
                <a:extLst>
                  <a:ext uri="{FF2B5EF4-FFF2-40B4-BE49-F238E27FC236}">
                    <a16:creationId xmlns:a16="http://schemas.microsoft.com/office/drawing/2014/main" id="{13162DE2-AAC9-4116-9F6F-C61A7002CEC2}"/>
                  </a:ext>
                </a:extLst>
              </p:cNvPr>
              <p:cNvGrpSpPr>
                <a:grpSpLocks/>
              </p:cNvGrpSpPr>
              <p:nvPr/>
            </p:nvGrpSpPr>
            <p:grpSpPr bwMode="auto">
              <a:xfrm>
                <a:off x="2180" y="2576"/>
                <a:ext cx="244" cy="200"/>
                <a:chOff x="2812" y="2084"/>
                <a:chExt cx="1056" cy="692"/>
              </a:xfrm>
            </p:grpSpPr>
            <p:sp>
              <p:nvSpPr>
                <p:cNvPr id="23" name="Arc 1030">
                  <a:extLst>
                    <a:ext uri="{FF2B5EF4-FFF2-40B4-BE49-F238E27FC236}">
                      <a16:creationId xmlns:a16="http://schemas.microsoft.com/office/drawing/2014/main" id="{E83F1DB9-91AA-43F0-A0A5-452F3FB06A94}"/>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24" name="Arc 1031">
                  <a:extLst>
                    <a:ext uri="{FF2B5EF4-FFF2-40B4-BE49-F238E27FC236}">
                      <a16:creationId xmlns:a16="http://schemas.microsoft.com/office/drawing/2014/main" id="{87C82EAE-CA8D-4B44-9741-C278D528A623}"/>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7" name="Group 16">
                <a:extLst>
                  <a:ext uri="{FF2B5EF4-FFF2-40B4-BE49-F238E27FC236}">
                    <a16:creationId xmlns:a16="http://schemas.microsoft.com/office/drawing/2014/main" id="{75ADED60-7331-44F6-A637-E4926A8C4820}"/>
                  </a:ext>
                </a:extLst>
              </p:cNvPr>
              <p:cNvGrpSpPr>
                <a:grpSpLocks/>
              </p:cNvGrpSpPr>
              <p:nvPr/>
            </p:nvGrpSpPr>
            <p:grpSpPr bwMode="auto">
              <a:xfrm>
                <a:off x="4256" y="2576"/>
                <a:ext cx="244" cy="200"/>
                <a:chOff x="2812" y="2084"/>
                <a:chExt cx="1056" cy="692"/>
              </a:xfrm>
            </p:grpSpPr>
            <p:sp>
              <p:nvSpPr>
                <p:cNvPr id="21" name="Arc 1033">
                  <a:extLst>
                    <a:ext uri="{FF2B5EF4-FFF2-40B4-BE49-F238E27FC236}">
                      <a16:creationId xmlns:a16="http://schemas.microsoft.com/office/drawing/2014/main" id="{67E42031-ABA1-467C-888E-98FDAC501E7A}"/>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22" name="Arc 1034">
                  <a:extLst>
                    <a:ext uri="{FF2B5EF4-FFF2-40B4-BE49-F238E27FC236}">
                      <a16:creationId xmlns:a16="http://schemas.microsoft.com/office/drawing/2014/main" id="{D388583F-BA70-4716-98FC-196BD5C67937}"/>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nvGrpSpPr>
              <p:cNvPr id="18" name="Group 17">
                <a:extLst>
                  <a:ext uri="{FF2B5EF4-FFF2-40B4-BE49-F238E27FC236}">
                    <a16:creationId xmlns:a16="http://schemas.microsoft.com/office/drawing/2014/main" id="{60EE6B2D-E06C-4D4C-B564-98F045FD69DF}"/>
                  </a:ext>
                </a:extLst>
              </p:cNvPr>
              <p:cNvGrpSpPr>
                <a:grpSpLocks/>
              </p:cNvGrpSpPr>
              <p:nvPr/>
            </p:nvGrpSpPr>
            <p:grpSpPr bwMode="auto">
              <a:xfrm>
                <a:off x="4500" y="2624"/>
                <a:ext cx="182" cy="152"/>
                <a:chOff x="2812" y="2084"/>
                <a:chExt cx="1056" cy="692"/>
              </a:xfrm>
            </p:grpSpPr>
            <p:sp>
              <p:nvSpPr>
                <p:cNvPr id="19" name="Arc 1036">
                  <a:extLst>
                    <a:ext uri="{FF2B5EF4-FFF2-40B4-BE49-F238E27FC236}">
                      <a16:creationId xmlns:a16="http://schemas.microsoft.com/office/drawing/2014/main" id="{12014F67-34D3-40DD-A0C7-C82060109A50}"/>
                    </a:ext>
                  </a:extLst>
                </p:cNvPr>
                <p:cNvSpPr>
                  <a:spLocks/>
                </p:cNvSpPr>
                <p:nvPr/>
              </p:nvSpPr>
              <p:spPr bwMode="auto">
                <a:xfrm flipH="1">
                  <a:off x="2812"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sp>
              <p:nvSpPr>
                <p:cNvPr id="20" name="Arc 1037">
                  <a:extLst>
                    <a:ext uri="{FF2B5EF4-FFF2-40B4-BE49-F238E27FC236}">
                      <a16:creationId xmlns:a16="http://schemas.microsoft.com/office/drawing/2014/main" id="{BB3A4805-27F3-4816-AD90-0A1FD3B19F2C}"/>
                    </a:ext>
                  </a:extLst>
                </p:cNvPr>
                <p:cNvSpPr>
                  <a:spLocks/>
                </p:cNvSpPr>
                <p:nvPr/>
              </p:nvSpPr>
              <p:spPr bwMode="auto">
                <a:xfrm>
                  <a:off x="3340" y="2084"/>
                  <a:ext cx="528" cy="6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CC3300"/>
                  </a:solidFill>
                  <a:round/>
                  <a:headEnd/>
                  <a:tailEnd/>
                </a:ln>
                <a:effectLst/>
                <a:extLst>
                  <a:ext uri="{909E8E84-426E-40DD-AFC4-6F175D3DCCD1}">
                    <a14:hiddenFill xmlns:a14="http://schemas.microsoft.com/office/drawing/2010/main">
                      <a:solidFill>
                        <a:srgbClr val="78C0B2"/>
                      </a:solidFill>
                    </a14:hiddenFill>
                  </a:ext>
                  <a:ext uri="{AF507438-7753-43E0-B8FC-AC1667EBCBE1}">
                    <a14:hiddenEffects xmlns:a14="http://schemas.microsoft.com/office/drawing/2010/main">
                      <a:effectLst>
                        <a:outerShdw dist="35921" dir="2700000" algn="ctr" rotWithShape="0">
                          <a:srgbClr val="333333"/>
                        </a:outerShdw>
                      </a:effectLst>
                    </a14:hiddenEffects>
                  </a:ext>
                </a:extLst>
              </p:spPr>
              <p:txBody>
                <a:bodyPr rot="0" vert="horz" wrap="square" lIns="91440" tIns="45720" rIns="91440" bIns="45720" anchor="ctr" anchorCtr="0" upright="1">
                  <a:noAutofit/>
                </a:bodyPr>
                <a:lstStyle/>
                <a:p>
                  <a:endParaRPr lang="en-US"/>
                </a:p>
              </p:txBody>
            </p:sp>
          </p:grpSp>
        </p:grpSp>
        <p:cxnSp>
          <p:nvCxnSpPr>
            <p:cNvPr id="9" name="Line 1038">
              <a:extLst>
                <a:ext uri="{FF2B5EF4-FFF2-40B4-BE49-F238E27FC236}">
                  <a16:creationId xmlns:a16="http://schemas.microsoft.com/office/drawing/2014/main" id="{6FA04F38-9884-4D5B-B5E4-B13270902104}"/>
                </a:ext>
              </a:extLst>
            </p:cNvPr>
            <p:cNvCxnSpPr/>
            <p:nvPr/>
          </p:nvCxnSpPr>
          <p:spPr bwMode="auto">
            <a:xfrm flipV="1">
              <a:off x="1520970" y="110509"/>
              <a:ext cx="0" cy="968713"/>
            </a:xfrm>
            <a:prstGeom prst="line">
              <a:avLst/>
            </a:prstGeom>
            <a:noFill/>
            <a:ln w="28575">
              <a:solidFill>
                <a:srgbClr val="00264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333333"/>
                    </a:outerShdw>
                  </a:effectLst>
                </a14:hiddenEffects>
              </a:ext>
            </a:extLst>
          </p:spPr>
        </p:cxnSp>
        <p:sp>
          <p:nvSpPr>
            <p:cNvPr id="10" name="Text Box 1039">
              <a:extLst>
                <a:ext uri="{FF2B5EF4-FFF2-40B4-BE49-F238E27FC236}">
                  <a16:creationId xmlns:a16="http://schemas.microsoft.com/office/drawing/2014/main" id="{410727E6-50EE-4557-96CE-984F84A3CAEF}"/>
                </a:ext>
              </a:extLst>
            </p:cNvPr>
            <p:cNvSpPr txBox="1">
              <a:spLocks noChangeArrowheads="1"/>
            </p:cNvSpPr>
            <p:nvPr/>
          </p:nvSpPr>
          <p:spPr bwMode="auto">
            <a:xfrm>
              <a:off x="3203361" y="1091667"/>
              <a:ext cx="651956" cy="277447"/>
            </a:xfrm>
            <a:prstGeom prst="rect">
              <a:avLst/>
            </a:prstGeom>
            <a:noFill/>
            <a:ln>
              <a:noFill/>
            </a:ln>
            <a:effectLst/>
            <a:extLst>
              <a:ext uri="{909E8E84-426E-40DD-AFC4-6F175D3DCCD1}">
                <a14:hiddenFill xmlns:a14="http://schemas.microsoft.com/office/drawing/2010/main">
                  <a:solidFill>
                    <a:srgbClr val="78C0B2"/>
                  </a:solidFill>
                </a14:hiddenFill>
              </a:ex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upright="1">
              <a:noAutofit/>
            </a:bodyPr>
            <a:lstStyle/>
            <a:p>
              <a:pPr marL="0" marR="0">
                <a:spcBef>
                  <a:spcPts val="0"/>
                </a:spcBef>
                <a:spcAft>
                  <a:spcPts val="0"/>
                </a:spcAft>
              </a:pPr>
              <a:r>
                <a:rPr lang="en-US" dirty="0">
                  <a:solidFill>
                    <a:srgbClr val="00264C"/>
                  </a:solidFill>
                  <a:effectLst/>
                  <a:latin typeface="Arial" panose="020B0604020202020204" pitchFamily="34" charset="0"/>
                  <a:ea typeface="Times New Roman" panose="02020603050405020304" pitchFamily="18" charset="0"/>
                  <a:cs typeface="Arial" panose="020B0604020202020204" pitchFamily="34" charset="0"/>
                </a:rPr>
                <a:t>f(MHz</a:t>
              </a:r>
              <a:r>
                <a:rPr lang="en-US" sz="1000" dirty="0">
                  <a:solidFill>
                    <a:srgbClr val="00264C"/>
                  </a:solidFill>
                  <a:effectLst/>
                  <a:latin typeface="Arial" panose="020B0604020202020204" pitchFamily="34" charset="0"/>
                  <a:ea typeface="Times New Roman" panose="02020603050405020304" pitchFamily="18" charset="0"/>
                  <a:cs typeface="Arial" panose="020B0604020202020204" pitchFamily="34" charset="0"/>
                </a:rPr>
                <a:t>)</a:t>
              </a:r>
              <a:endParaRPr lang="en-US" sz="12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11" name="Text Box 1040">
              <a:extLst>
                <a:ext uri="{FF2B5EF4-FFF2-40B4-BE49-F238E27FC236}">
                  <a16:creationId xmlns:a16="http://schemas.microsoft.com/office/drawing/2014/main" id="{43D96360-1606-4FF1-B300-50D0449D5CF0}"/>
                </a:ext>
              </a:extLst>
            </p:cNvPr>
            <p:cNvSpPr txBox="1">
              <a:spLocks noChangeArrowheads="1"/>
            </p:cNvSpPr>
            <p:nvPr/>
          </p:nvSpPr>
          <p:spPr bwMode="auto">
            <a:xfrm>
              <a:off x="592631" y="1102767"/>
              <a:ext cx="2253850" cy="218560"/>
            </a:xfrm>
            <a:prstGeom prst="rect">
              <a:avLst/>
            </a:prstGeom>
            <a:noFill/>
            <a:ln>
              <a:noFill/>
            </a:ln>
            <a:effectLst/>
            <a:extLst>
              <a:ext uri="{909E8E84-426E-40DD-AFC4-6F175D3DCCD1}">
                <a14:hiddenFill xmlns:a14="http://schemas.microsoft.com/office/drawing/2010/main">
                  <a:solidFill>
                    <a:srgbClr val="78C0B2"/>
                  </a:solidFill>
                </a14:hiddenFill>
              </a:ex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upright="1">
              <a:spAutoFit/>
            </a:bodyPr>
            <a:lstStyle/>
            <a:p>
              <a:pPr marL="0" marR="0">
                <a:spcBef>
                  <a:spcPts val="0"/>
                </a:spcBef>
                <a:spcAft>
                  <a:spcPts val="0"/>
                </a:spcAft>
              </a:pPr>
              <a:r>
                <a:rPr lang="en-US" dirty="0">
                  <a:solidFill>
                    <a:srgbClr val="00264C"/>
                  </a:solidFill>
                  <a:effectLst/>
                  <a:latin typeface="Arial" panose="020B0604020202020204" pitchFamily="34" charset="0"/>
                  <a:ea typeface="Times New Roman" panose="02020603050405020304" pitchFamily="18" charset="0"/>
                  <a:cs typeface="Arial" panose="020B0604020202020204" pitchFamily="34" charset="0"/>
                </a:rPr>
                <a:t>  898       900       902</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grpSp>
      <p:cxnSp>
        <p:nvCxnSpPr>
          <p:cNvPr id="33" name="Straight Connector 32">
            <a:extLst>
              <a:ext uri="{FF2B5EF4-FFF2-40B4-BE49-F238E27FC236}">
                <a16:creationId xmlns:a16="http://schemas.microsoft.com/office/drawing/2014/main" id="{43717661-B9C1-42F4-8A2E-534F4CF21C53}"/>
              </a:ext>
            </a:extLst>
          </p:cNvPr>
          <p:cNvCxnSpPr>
            <a:cxnSpLocks noChangeShapeType="1"/>
          </p:cNvCxnSpPr>
          <p:nvPr/>
        </p:nvCxnSpPr>
        <p:spPr bwMode="auto">
          <a:xfrm>
            <a:off x="3246142" y="3160846"/>
            <a:ext cx="4875457"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 name="Rectangle 29">
            <a:extLst>
              <a:ext uri="{FF2B5EF4-FFF2-40B4-BE49-F238E27FC236}">
                <a16:creationId xmlns:a16="http://schemas.microsoft.com/office/drawing/2014/main" id="{CA26995B-01DA-4294-848C-5E27CDC52D2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30">
            <a:extLst>
              <a:ext uri="{FF2B5EF4-FFF2-40B4-BE49-F238E27FC236}">
                <a16:creationId xmlns:a16="http://schemas.microsoft.com/office/drawing/2014/main" id="{5CFDB808-1F6B-43FF-8262-CD2E2A08311D}"/>
              </a:ext>
            </a:extLst>
          </p:cNvPr>
          <p:cNvSpPr>
            <a:spLocks noChangeArrowheads="1"/>
          </p:cNvSpPr>
          <p:nvPr/>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A6639F16-842B-45E8-BE9D-93051528E2D5}"/>
              </a:ext>
            </a:extLst>
          </p:cNvPr>
          <p:cNvSpPr txBox="1"/>
          <p:nvPr/>
        </p:nvSpPr>
        <p:spPr>
          <a:xfrm>
            <a:off x="576247" y="1444293"/>
            <a:ext cx="11953905" cy="4801314"/>
          </a:xfrm>
          <a:prstGeom prst="rect">
            <a:avLst/>
          </a:prstGeom>
          <a:noFill/>
        </p:spPr>
        <p:txBody>
          <a:bodyPr wrap="square" rtlCol="0">
            <a:spAutoFit/>
          </a:bodyPr>
          <a:lstStyle/>
          <a:p>
            <a:r>
              <a:rPr lang="en-US" sz="2400" dirty="0" err="1"/>
              <a:t>i</a:t>
            </a:r>
            <a:r>
              <a:rPr lang="en-US" sz="2400" dirty="0"/>
              <a:t>)</a:t>
            </a:r>
          </a:p>
          <a:p>
            <a:endParaRPr lang="en-US" sz="2400" dirty="0"/>
          </a:p>
          <a:p>
            <a:endParaRPr lang="en-US" sz="2400" dirty="0"/>
          </a:p>
          <a:p>
            <a:endParaRPr lang="en-US" sz="2400" dirty="0"/>
          </a:p>
          <a:p>
            <a:endParaRPr lang="en-US" sz="2400" dirty="0"/>
          </a:p>
          <a:p>
            <a:endParaRPr lang="en-US" sz="2400" dirty="0"/>
          </a:p>
          <a:p>
            <a:endParaRPr lang="en-US" sz="2400" dirty="0"/>
          </a:p>
          <a:p>
            <a:r>
              <a:rPr lang="en-GB" sz="2400" dirty="0"/>
              <a:t>ii) RF </a:t>
            </a:r>
            <a:r>
              <a:rPr lang="en-GB" sz="2400" dirty="0" err="1"/>
              <a:t>mainlobe</a:t>
            </a:r>
            <a:r>
              <a:rPr lang="en-GB" sz="2400" dirty="0"/>
              <a:t> bandwidth =2 x Symbol rate = 4MHz		         </a:t>
            </a:r>
            <a:endParaRPr lang="en-US" sz="2400" dirty="0"/>
          </a:p>
          <a:p>
            <a:r>
              <a:rPr lang="en-GB" sz="2400" dirty="0"/>
              <a:t> </a:t>
            </a:r>
            <a:endParaRPr lang="en-US" sz="2400" dirty="0"/>
          </a:p>
          <a:p>
            <a:r>
              <a:rPr lang="en-GB" sz="2400" dirty="0"/>
              <a:t>iii) To constraint the bandwidth to 2.6MHz, we need to use a raised cosine filter of </a:t>
            </a:r>
            <a:r>
              <a:rPr lang="en-GB" sz="2400" dirty="0">
                <a:sym typeface="Symbol" panose="05050102010706020507" pitchFamily="18" charset="2"/>
              </a:rPr>
              <a:t></a:t>
            </a:r>
            <a:r>
              <a:rPr lang="en-GB" sz="2400" dirty="0"/>
              <a:t>=0.3, </a:t>
            </a:r>
          </a:p>
          <a:p>
            <a:r>
              <a:rPr lang="en-GB" sz="2400" dirty="0"/>
              <a:t>this will result in RF bandwidth = (1+ </a:t>
            </a:r>
            <a:r>
              <a:rPr lang="en-GB" sz="2400" dirty="0">
                <a:sym typeface="Symbol" panose="05050102010706020507" pitchFamily="18" charset="2"/>
              </a:rPr>
              <a:t></a:t>
            </a:r>
            <a:r>
              <a:rPr lang="en-GB" sz="2400" dirty="0"/>
              <a:t>)x 2M= 2.6MHz. </a:t>
            </a:r>
            <a:endParaRPr lang="en-US" sz="2400" dirty="0"/>
          </a:p>
          <a:p>
            <a:endParaRPr lang="en-US" sz="2400" dirty="0"/>
          </a:p>
          <a:p>
            <a:pPr marL="400050" indent="-400050">
              <a:buFont typeface="+mj-lt"/>
              <a:buAutoNum type="romanUcPeriod"/>
            </a:pPr>
            <a:endParaRPr lang="en-US" dirty="0"/>
          </a:p>
        </p:txBody>
      </p:sp>
      <p:sp>
        <p:nvSpPr>
          <p:cNvPr id="35" name="Rectangle 34">
            <a:extLst>
              <a:ext uri="{FF2B5EF4-FFF2-40B4-BE49-F238E27FC236}">
                <a16:creationId xmlns:a16="http://schemas.microsoft.com/office/drawing/2014/main" id="{09856423-B1AD-4A95-9EEB-9492BA385A28}"/>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36" name="Footer Placeholder 4">
            <a:extLst>
              <a:ext uri="{FF2B5EF4-FFF2-40B4-BE49-F238E27FC236}">
                <a16:creationId xmlns:a16="http://schemas.microsoft.com/office/drawing/2014/main" id="{32DE5AA5-92A8-4150-AF85-BCC2D0EFB309}"/>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37 of 41</a:t>
            </a:r>
            <a:endParaRPr lang="en-US" sz="1200" dirty="0"/>
          </a:p>
        </p:txBody>
      </p:sp>
      <p:pic>
        <p:nvPicPr>
          <p:cNvPr id="5" name="Pg37">
            <a:hlinkClick r:id="" action="ppaction://media"/>
            <a:extLst>
              <a:ext uri="{FF2B5EF4-FFF2-40B4-BE49-F238E27FC236}">
                <a16:creationId xmlns:a16="http://schemas.microsoft.com/office/drawing/2014/main" id="{5A4AC9DF-BD04-4178-BA14-CE306FFF0C3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791200" y="3124200"/>
            <a:ext cx="609600" cy="609600"/>
          </a:xfrm>
          <a:prstGeom prst="rect">
            <a:avLst/>
          </a:prstGeom>
        </p:spPr>
      </p:pic>
      <p:sp>
        <p:nvSpPr>
          <p:cNvPr id="38" name="Rectangle 37">
            <a:extLst>
              <a:ext uri="{FF2B5EF4-FFF2-40B4-BE49-F238E27FC236}">
                <a16:creationId xmlns:a16="http://schemas.microsoft.com/office/drawing/2014/main" id="{F63D7AC6-91E7-AD66-86D9-BD7AC6D956EF}"/>
              </a:ext>
            </a:extLst>
          </p:cNvPr>
          <p:cNvSpPr/>
          <p:nvPr/>
        </p:nvSpPr>
        <p:spPr>
          <a:xfrm>
            <a:off x="0" y="0"/>
            <a:ext cx="874987" cy="200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15339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1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ECE403-D9D0-47A8-AA5E-AC7C761E69B7}"/>
              </a:ext>
            </a:extLst>
          </p:cNvPr>
          <p:cNvGrpSpPr>
            <a:grpSpLocks/>
          </p:cNvGrpSpPr>
          <p:nvPr/>
        </p:nvGrpSpPr>
        <p:grpSpPr bwMode="auto">
          <a:xfrm>
            <a:off x="2509100" y="1275166"/>
            <a:ext cx="7669984" cy="4193888"/>
            <a:chOff x="2730" y="13411"/>
            <a:chExt cx="6586" cy="21467"/>
          </a:xfrm>
        </p:grpSpPr>
        <p:grpSp>
          <p:nvGrpSpPr>
            <p:cNvPr id="5" name="Group 4">
              <a:extLst>
                <a:ext uri="{FF2B5EF4-FFF2-40B4-BE49-F238E27FC236}">
                  <a16:creationId xmlns:a16="http://schemas.microsoft.com/office/drawing/2014/main" id="{FDA119E1-960D-40B1-AB77-516A8AC74A0E}"/>
                </a:ext>
              </a:extLst>
            </p:cNvPr>
            <p:cNvGrpSpPr>
              <a:grpSpLocks/>
            </p:cNvGrpSpPr>
            <p:nvPr/>
          </p:nvGrpSpPr>
          <p:grpSpPr bwMode="auto">
            <a:xfrm>
              <a:off x="2730" y="13411"/>
              <a:ext cx="6586" cy="21467"/>
              <a:chOff x="-2862" y="1791"/>
              <a:chExt cx="41823" cy="21467"/>
            </a:xfrm>
          </p:grpSpPr>
          <p:cxnSp>
            <p:nvCxnSpPr>
              <p:cNvPr id="7" name="Straight Arrow Connector 6">
                <a:extLst>
                  <a:ext uri="{FF2B5EF4-FFF2-40B4-BE49-F238E27FC236}">
                    <a16:creationId xmlns:a16="http://schemas.microsoft.com/office/drawing/2014/main" id="{56DD76E6-CF5D-4A4A-8A24-14600759B0AD}"/>
                  </a:ext>
                </a:extLst>
              </p:cNvPr>
              <p:cNvCxnSpPr>
                <a:cxnSpLocks noChangeShapeType="1"/>
              </p:cNvCxnSpPr>
              <p:nvPr/>
            </p:nvCxnSpPr>
            <p:spPr bwMode="auto">
              <a:xfrm>
                <a:off x="0" y="15266"/>
                <a:ext cx="36732" cy="0"/>
              </a:xfrm>
              <a:prstGeom prst="straightConnector1">
                <a:avLst/>
              </a:prstGeom>
              <a:noFill/>
              <a:ln w="9525">
                <a:solidFill>
                  <a:schemeClr val="tx1">
                    <a:lumMod val="100000"/>
                    <a:lumOff val="0"/>
                  </a:schemeClr>
                </a:solidFill>
                <a:round/>
                <a:headEnd/>
                <a:tailEnd type="arrow" w="med" len="med"/>
              </a:ln>
              <a:extLst>
                <a:ext uri="{909E8E84-426E-40DD-AFC4-6F175D3DCCD1}">
                  <a14:hiddenFill xmlns:a14="http://schemas.microsoft.com/office/drawing/2010/main">
                    <a:noFill/>
                  </a14:hiddenFill>
                </a:ext>
              </a:extLst>
            </p:spPr>
          </p:cxnSp>
          <p:cxnSp>
            <p:nvCxnSpPr>
              <p:cNvPr id="8" name="Straight Arrow Connector 7">
                <a:extLst>
                  <a:ext uri="{FF2B5EF4-FFF2-40B4-BE49-F238E27FC236}">
                    <a16:creationId xmlns:a16="http://schemas.microsoft.com/office/drawing/2014/main" id="{0A1FB94F-A2B7-4761-A45A-03FB458B6083}"/>
                  </a:ext>
                </a:extLst>
              </p:cNvPr>
              <p:cNvCxnSpPr>
                <a:cxnSpLocks noChangeShapeType="1"/>
              </p:cNvCxnSpPr>
              <p:nvPr/>
            </p:nvCxnSpPr>
            <p:spPr bwMode="auto">
              <a:xfrm flipH="1" flipV="1">
                <a:off x="13899" y="1791"/>
                <a:ext cx="95" cy="13475"/>
              </a:xfrm>
              <a:prstGeom prst="straightConnector1">
                <a:avLst/>
              </a:prstGeom>
              <a:noFill/>
              <a:ln w="9525">
                <a:solidFill>
                  <a:schemeClr val="tx1">
                    <a:lumMod val="100000"/>
                    <a:lumOff val="0"/>
                  </a:schemeClr>
                </a:solidFill>
                <a:round/>
                <a:headEnd/>
                <a:tailEnd type="arrow" w="med" len="med"/>
              </a:ln>
              <a:extLst>
                <a:ext uri="{909E8E84-426E-40DD-AFC4-6F175D3DCCD1}">
                  <a14:hiddenFill xmlns:a14="http://schemas.microsoft.com/office/drawing/2010/main">
                    <a:noFill/>
                  </a14:hiddenFill>
                </a:ext>
              </a:extLst>
            </p:spPr>
          </p:cxnSp>
          <p:sp>
            <p:nvSpPr>
              <p:cNvPr id="9" name="Freeform 194">
                <a:extLst>
                  <a:ext uri="{FF2B5EF4-FFF2-40B4-BE49-F238E27FC236}">
                    <a16:creationId xmlns:a16="http://schemas.microsoft.com/office/drawing/2014/main" id="{5F283238-C99C-4747-8579-6FB1BA05F0BF}"/>
                  </a:ext>
                </a:extLst>
              </p:cNvPr>
              <p:cNvSpPr>
                <a:spLocks/>
              </p:cNvSpPr>
              <p:nvPr/>
            </p:nvSpPr>
            <p:spPr bwMode="auto">
              <a:xfrm>
                <a:off x="14073" y="3657"/>
                <a:ext cx="8111" cy="11689"/>
              </a:xfrm>
              <a:custGeom>
                <a:avLst/>
                <a:gdLst>
                  <a:gd name="T0" fmla="*/ 0 w 811033"/>
                  <a:gd name="T1" fmla="*/ 0 h 1168842"/>
                  <a:gd name="T2" fmla="*/ 341906 w 811033"/>
                  <a:gd name="T3" fmla="*/ 79513 h 1168842"/>
                  <a:gd name="T4" fmla="*/ 580445 w 811033"/>
                  <a:gd name="T5" fmla="*/ 381663 h 1168842"/>
                  <a:gd name="T6" fmla="*/ 731520 w 811033"/>
                  <a:gd name="T7" fmla="*/ 818985 h 1168842"/>
                  <a:gd name="T8" fmla="*/ 811033 w 811033"/>
                  <a:gd name="T9" fmla="*/ 1168842 h 1168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1033" h="1168842">
                    <a:moveTo>
                      <a:pt x="0" y="0"/>
                    </a:moveTo>
                    <a:cubicBezTo>
                      <a:pt x="122582" y="7951"/>
                      <a:pt x="245165" y="15903"/>
                      <a:pt x="341906" y="79513"/>
                    </a:cubicBezTo>
                    <a:cubicBezTo>
                      <a:pt x="438647" y="143123"/>
                      <a:pt x="515509" y="258418"/>
                      <a:pt x="580445" y="381663"/>
                    </a:cubicBezTo>
                    <a:cubicBezTo>
                      <a:pt x="645381" y="504908"/>
                      <a:pt x="693089" y="687789"/>
                      <a:pt x="731520" y="818985"/>
                    </a:cubicBezTo>
                    <a:cubicBezTo>
                      <a:pt x="769951" y="950181"/>
                      <a:pt x="790492" y="1059511"/>
                      <a:pt x="811033" y="1168842"/>
                    </a:cubicBezTo>
                  </a:path>
                </a:pathLst>
              </a:custGeom>
              <a:noFill/>
              <a:ln w="25400">
                <a:solidFill>
                  <a:schemeClr val="tx1">
                    <a:lumMod val="100000"/>
                    <a:lumOff val="0"/>
                  </a:schemeClr>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ctr" anchorCtr="0" upright="1">
                <a:noAutofit/>
              </a:bodyPr>
              <a:lstStyle/>
              <a:p>
                <a:endParaRPr lang="en-US"/>
              </a:p>
            </p:txBody>
          </p:sp>
          <p:sp>
            <p:nvSpPr>
              <p:cNvPr id="10" name="Freeform 196">
                <a:extLst>
                  <a:ext uri="{FF2B5EF4-FFF2-40B4-BE49-F238E27FC236}">
                    <a16:creationId xmlns:a16="http://schemas.microsoft.com/office/drawing/2014/main" id="{45ECBA03-1D9B-4B17-99C4-0C3F1CECB483}"/>
                  </a:ext>
                </a:extLst>
              </p:cNvPr>
              <p:cNvSpPr>
                <a:spLocks/>
              </p:cNvSpPr>
              <p:nvPr/>
            </p:nvSpPr>
            <p:spPr bwMode="auto">
              <a:xfrm flipH="1">
                <a:off x="5883" y="3657"/>
                <a:ext cx="8109" cy="11684"/>
              </a:xfrm>
              <a:custGeom>
                <a:avLst/>
                <a:gdLst>
                  <a:gd name="T0" fmla="*/ 0 w 811033"/>
                  <a:gd name="T1" fmla="*/ 0 h 1168842"/>
                  <a:gd name="T2" fmla="*/ 341848 w 811033"/>
                  <a:gd name="T3" fmla="*/ 79483 h 1168842"/>
                  <a:gd name="T4" fmla="*/ 580346 w 811033"/>
                  <a:gd name="T5" fmla="*/ 381519 h 1168842"/>
                  <a:gd name="T6" fmla="*/ 731396 w 811033"/>
                  <a:gd name="T7" fmla="*/ 818675 h 1168842"/>
                  <a:gd name="T8" fmla="*/ 810895 w 811033"/>
                  <a:gd name="T9" fmla="*/ 1168400 h 1168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1033" h="1168842">
                    <a:moveTo>
                      <a:pt x="0" y="0"/>
                    </a:moveTo>
                    <a:cubicBezTo>
                      <a:pt x="122582" y="7951"/>
                      <a:pt x="245165" y="15903"/>
                      <a:pt x="341906" y="79513"/>
                    </a:cubicBezTo>
                    <a:cubicBezTo>
                      <a:pt x="438647" y="143123"/>
                      <a:pt x="515509" y="258418"/>
                      <a:pt x="580445" y="381663"/>
                    </a:cubicBezTo>
                    <a:cubicBezTo>
                      <a:pt x="645381" y="504908"/>
                      <a:pt x="693089" y="687789"/>
                      <a:pt x="731520" y="818985"/>
                    </a:cubicBezTo>
                    <a:cubicBezTo>
                      <a:pt x="769951" y="950181"/>
                      <a:pt x="790492" y="1059511"/>
                      <a:pt x="811033" y="1168842"/>
                    </a:cubicBezTo>
                  </a:path>
                </a:pathLst>
              </a:custGeom>
              <a:noFill/>
              <a:ln w="25400">
                <a:solidFill>
                  <a:schemeClr val="tx1">
                    <a:lumMod val="100000"/>
                    <a:lumOff val="0"/>
                  </a:schemeClr>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ctr" anchorCtr="0" upright="1">
                <a:noAutofit/>
              </a:bodyPr>
              <a:lstStyle/>
              <a:p>
                <a:endParaRPr lang="en-US"/>
              </a:p>
            </p:txBody>
          </p:sp>
          <p:sp>
            <p:nvSpPr>
              <p:cNvPr id="11" name="Text Box 1028">
                <a:extLst>
                  <a:ext uri="{FF2B5EF4-FFF2-40B4-BE49-F238E27FC236}">
                    <a16:creationId xmlns:a16="http://schemas.microsoft.com/office/drawing/2014/main" id="{CD2A557E-4BA3-456E-8C47-A5D494C62F73}"/>
                  </a:ext>
                </a:extLst>
              </p:cNvPr>
              <p:cNvSpPr txBox="1">
                <a:spLocks noChangeArrowheads="1"/>
              </p:cNvSpPr>
              <p:nvPr/>
            </p:nvSpPr>
            <p:spPr bwMode="auto">
              <a:xfrm>
                <a:off x="20981" y="15299"/>
                <a:ext cx="17980" cy="7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dirty="0">
                    <a:effectLst/>
                    <a:ea typeface="Times New Roman" panose="02020603050405020304" pitchFamily="18" charset="0"/>
                    <a:cs typeface="Arial" panose="020B0604020202020204" pitchFamily="34" charset="0"/>
                  </a:rPr>
                  <a:t>fc + Rs (1 + α)/2</a:t>
                </a:r>
                <a:endParaRPr lang="en-US" dirty="0">
                  <a:effectLst/>
                  <a:ea typeface="Times New Roman" panose="02020603050405020304" pitchFamily="18" charset="0"/>
                  <a:cs typeface="Times New Roman" panose="02020603050405020304" pitchFamily="18" charset="0"/>
                </a:endParaRPr>
              </a:p>
              <a:p>
                <a:pPr marL="0" marR="0">
                  <a:spcBef>
                    <a:spcPts val="0"/>
                  </a:spcBef>
                  <a:spcAft>
                    <a:spcPts val="0"/>
                  </a:spcAft>
                </a:pPr>
                <a:r>
                  <a:rPr lang="en-GB" dirty="0">
                    <a:effectLst/>
                    <a:ea typeface="Times New Roman" panose="02020603050405020304" pitchFamily="18" charset="0"/>
                    <a:cs typeface="Arial" panose="020B0604020202020204" pitchFamily="34" charset="0"/>
                  </a:rPr>
                  <a:t>=900MHz +2.6MHz/2</a:t>
                </a:r>
                <a:endParaRPr lang="en-US" dirty="0">
                  <a:effectLst/>
                  <a:ea typeface="Times New Roman" panose="02020603050405020304" pitchFamily="18" charset="0"/>
                  <a:cs typeface="Times New Roman" panose="02020603050405020304" pitchFamily="18" charset="0"/>
                </a:endParaRPr>
              </a:p>
              <a:p>
                <a:pPr marL="0" marR="0">
                  <a:spcBef>
                    <a:spcPts val="0"/>
                  </a:spcBef>
                  <a:spcAft>
                    <a:spcPts val="0"/>
                  </a:spcAft>
                </a:pPr>
                <a:r>
                  <a:rPr lang="en-GB" dirty="0">
                    <a:effectLst/>
                    <a:ea typeface="Times New Roman" panose="02020603050405020304" pitchFamily="18" charset="0"/>
                    <a:cs typeface="Arial" panose="020B0604020202020204" pitchFamily="34" charset="0"/>
                  </a:rPr>
                  <a:t>=901.3MHz</a:t>
                </a:r>
                <a:endParaRPr lang="en-US" dirty="0">
                  <a:effectLst/>
                  <a:ea typeface="Times New Roman" panose="02020603050405020304" pitchFamily="18" charset="0"/>
                  <a:cs typeface="Times New Roman" panose="02020603050405020304" pitchFamily="18" charset="0"/>
                </a:endParaRPr>
              </a:p>
            </p:txBody>
          </p:sp>
          <p:sp>
            <p:nvSpPr>
              <p:cNvPr id="12" name="Text Box 1029">
                <a:extLst>
                  <a:ext uri="{FF2B5EF4-FFF2-40B4-BE49-F238E27FC236}">
                    <a16:creationId xmlns:a16="http://schemas.microsoft.com/office/drawing/2014/main" id="{4D7077F8-382B-4CEF-8EFB-0AC8FD05C0E3}"/>
                  </a:ext>
                </a:extLst>
              </p:cNvPr>
              <p:cNvSpPr txBox="1">
                <a:spLocks noChangeArrowheads="1"/>
              </p:cNvSpPr>
              <p:nvPr/>
            </p:nvSpPr>
            <p:spPr bwMode="auto">
              <a:xfrm>
                <a:off x="-2862" y="15495"/>
                <a:ext cx="16384" cy="5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spAutoFit/>
              </a:bodyPr>
              <a:lstStyle/>
              <a:p>
                <a:pPr marL="0" marR="0">
                  <a:spcBef>
                    <a:spcPts val="0"/>
                  </a:spcBef>
                  <a:spcAft>
                    <a:spcPts val="0"/>
                  </a:spcAft>
                </a:pPr>
                <a:r>
                  <a:rPr lang="en-GB" dirty="0">
                    <a:effectLst/>
                    <a:ea typeface="Times New Roman" panose="02020603050405020304" pitchFamily="18" charset="0"/>
                    <a:cs typeface="Arial" panose="020B0604020202020204" pitchFamily="34" charset="0"/>
                  </a:rPr>
                  <a:t>fc - Rs (1 + α)/2</a:t>
                </a:r>
                <a:endParaRPr lang="en-US" dirty="0">
                  <a:effectLst/>
                  <a:ea typeface="Times New Roman" panose="02020603050405020304" pitchFamily="18" charset="0"/>
                  <a:cs typeface="Times New Roman" panose="02020603050405020304" pitchFamily="18" charset="0"/>
                </a:endParaRPr>
              </a:p>
              <a:p>
                <a:pPr marL="0" marR="0">
                  <a:spcBef>
                    <a:spcPts val="0"/>
                  </a:spcBef>
                  <a:spcAft>
                    <a:spcPts val="0"/>
                  </a:spcAft>
                </a:pPr>
                <a:r>
                  <a:rPr lang="en-GB" dirty="0">
                    <a:effectLst/>
                    <a:ea typeface="Times New Roman" panose="02020603050405020304" pitchFamily="18" charset="0"/>
                    <a:cs typeface="Arial" panose="020B0604020202020204" pitchFamily="34" charset="0"/>
                  </a:rPr>
                  <a:t>=900MHz-2.6MHz/2</a:t>
                </a:r>
                <a:endParaRPr lang="en-US" dirty="0">
                  <a:effectLst/>
                  <a:ea typeface="Times New Roman" panose="02020603050405020304" pitchFamily="18" charset="0"/>
                  <a:cs typeface="Times New Roman" panose="02020603050405020304" pitchFamily="18" charset="0"/>
                </a:endParaRPr>
              </a:p>
              <a:p>
                <a:pPr marL="0" marR="0">
                  <a:spcBef>
                    <a:spcPts val="0"/>
                  </a:spcBef>
                  <a:spcAft>
                    <a:spcPts val="0"/>
                  </a:spcAft>
                </a:pPr>
                <a:r>
                  <a:rPr lang="en-GB" dirty="0">
                    <a:effectLst/>
                    <a:ea typeface="Times New Roman" panose="02020603050405020304" pitchFamily="18" charset="0"/>
                    <a:cs typeface="Arial" panose="020B0604020202020204" pitchFamily="34" charset="0"/>
                  </a:rPr>
                  <a:t>=898.7MHz</a:t>
                </a:r>
                <a:endParaRPr lang="en-US" dirty="0">
                  <a:effectLst/>
                  <a:ea typeface="Times New Roman" panose="02020603050405020304" pitchFamily="18" charset="0"/>
                  <a:cs typeface="Times New Roman" panose="02020603050405020304" pitchFamily="18" charset="0"/>
                </a:endParaRPr>
              </a:p>
              <a:p>
                <a:pPr marL="0" marR="0">
                  <a:spcBef>
                    <a:spcPts val="0"/>
                  </a:spcBef>
                  <a:spcAft>
                    <a:spcPts val="0"/>
                  </a:spcAft>
                </a:pPr>
                <a:r>
                  <a:rPr lang="en-GB" sz="12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200" dirty="0">
                  <a:effectLst/>
                  <a:latin typeface="Arial" panose="020B0604020202020204" pitchFamily="34" charset="0"/>
                  <a:ea typeface="Times New Roman" panose="02020603050405020304" pitchFamily="18" charset="0"/>
                  <a:cs typeface="Times New Roman" panose="02020603050405020304" pitchFamily="18" charset="0"/>
                </a:endParaRPr>
              </a:p>
            </p:txBody>
          </p:sp>
        </p:grpSp>
        <p:sp>
          <p:nvSpPr>
            <p:cNvPr id="6" name="Text Box 2">
              <a:extLst>
                <a:ext uri="{FF2B5EF4-FFF2-40B4-BE49-F238E27FC236}">
                  <a16:creationId xmlns:a16="http://schemas.microsoft.com/office/drawing/2014/main" id="{AA70AFBF-00D4-4167-824D-54C035982F93}"/>
                </a:ext>
              </a:extLst>
            </p:cNvPr>
            <p:cNvSpPr txBox="1">
              <a:spLocks noChangeArrowheads="1"/>
            </p:cNvSpPr>
            <p:nvPr/>
          </p:nvSpPr>
          <p:spPr bwMode="auto">
            <a:xfrm>
              <a:off x="4933" y="27190"/>
              <a:ext cx="1552" cy="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spAutoFit/>
            </a:bodyPr>
            <a:lstStyle/>
            <a:p>
              <a:pPr marL="0" marR="0">
                <a:spcBef>
                  <a:spcPts val="0"/>
                </a:spcBef>
                <a:spcAft>
                  <a:spcPts val="0"/>
                </a:spcAft>
              </a:pPr>
              <a:r>
                <a:rPr lang="en-GB" dirty="0">
                  <a:effectLst/>
                  <a:ea typeface="Times New Roman" panose="02020603050405020304" pitchFamily="18" charset="0"/>
                  <a:cs typeface="Times New Roman" panose="02020603050405020304" pitchFamily="18" charset="0"/>
                </a:rPr>
                <a:t>fc=900MHz</a:t>
              </a:r>
              <a:endParaRPr lang="en-US" dirty="0">
                <a:effectLst/>
                <a:ea typeface="Times New Roman" panose="02020603050405020304" pitchFamily="18" charset="0"/>
                <a:cs typeface="Times New Roman" panose="02020603050405020304" pitchFamily="18" charset="0"/>
              </a:endParaRPr>
            </a:p>
          </p:txBody>
        </p:sp>
      </p:grpSp>
      <p:sp>
        <p:nvSpPr>
          <p:cNvPr id="13" name="Rectangle 12">
            <a:extLst>
              <a:ext uri="{FF2B5EF4-FFF2-40B4-BE49-F238E27FC236}">
                <a16:creationId xmlns:a16="http://schemas.microsoft.com/office/drawing/2014/main" id="{F1179816-A6A3-4623-81C1-CD529DE26153}"/>
              </a:ext>
            </a:extLst>
          </p:cNvPr>
          <p:cNvSpPr/>
          <p:nvPr/>
        </p:nvSpPr>
        <p:spPr>
          <a:xfrm>
            <a:off x="1321605" y="4859773"/>
            <a:ext cx="9215641" cy="1200329"/>
          </a:xfrm>
          <a:prstGeom prst="rect">
            <a:avLst/>
          </a:prstGeom>
        </p:spPr>
        <p:txBody>
          <a:bodyPr wrap="square">
            <a:spAutoFit/>
          </a:bodyPr>
          <a:lstStyle/>
          <a:p>
            <a:pPr algn="just"/>
            <a:r>
              <a:rPr lang="en-SG" sz="2400" dirty="0">
                <a:ea typeface="Times New Roman" panose="02020603050405020304" pitchFamily="18" charset="0"/>
                <a:cs typeface="Times New Roman" panose="02020603050405020304" pitchFamily="18" charset="0"/>
              </a:rPr>
              <a:t> </a:t>
            </a:r>
            <a:endParaRPr lang="en-US" sz="2400" dirty="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mj-lt"/>
              <a:buAutoNum type="romanLcParenBoth" startAt="4"/>
              <a:tabLst>
                <a:tab pos="0" algn="l"/>
                <a:tab pos="360045" algn="l"/>
              </a:tabLst>
            </a:pPr>
            <a:r>
              <a:rPr lang="en-GB" sz="2400" dirty="0">
                <a:ea typeface="Times New Roman" panose="02020603050405020304" pitchFamily="18" charset="0"/>
                <a:cs typeface="Arial" panose="020B0604020202020204" pitchFamily="34" charset="0"/>
              </a:rPr>
              <a:t> When </a:t>
            </a:r>
            <a:r>
              <a:rPr lang="en-GB" sz="2400" dirty="0">
                <a:ea typeface="Times New Roman" panose="02020603050405020304" pitchFamily="18" charset="0"/>
                <a:cs typeface="Times New Roman" panose="02020603050405020304" pitchFamily="18" charset="0"/>
                <a:sym typeface="Symbol" panose="05050102010706020507" pitchFamily="18" charset="2"/>
              </a:rPr>
              <a:t></a:t>
            </a:r>
            <a:r>
              <a:rPr lang="en-GB" sz="2400" dirty="0">
                <a:ea typeface="Times New Roman" panose="02020603050405020304" pitchFamily="18" charset="0"/>
                <a:cs typeface="Arial" panose="020B0604020202020204" pitchFamily="34" charset="0"/>
              </a:rPr>
              <a:t> increases, bandwidth increases and ISI reduces.</a:t>
            </a:r>
            <a:endParaRPr lang="en-US" sz="2400" dirty="0">
              <a:ea typeface="Times New Roman" panose="02020603050405020304" pitchFamily="18" charset="0"/>
              <a:cs typeface="Times New Roman" panose="02020603050405020304" pitchFamily="18" charset="0"/>
            </a:endParaRPr>
          </a:p>
          <a:p>
            <a:r>
              <a:rPr lang="en-GB" sz="2400" dirty="0">
                <a:ea typeface="Times New Roman" panose="02020603050405020304" pitchFamily="18" charset="0"/>
              </a:rPr>
              <a:t>       When </a:t>
            </a:r>
            <a:r>
              <a:rPr lang="en-GB" sz="2400" dirty="0">
                <a:ea typeface="Times New Roman" panose="02020603050405020304" pitchFamily="18" charset="0"/>
                <a:cs typeface="Arial" panose="020B0604020202020204" pitchFamily="34" charset="0"/>
                <a:sym typeface="Symbol" panose="05050102010706020507" pitchFamily="18" charset="2"/>
              </a:rPr>
              <a:t></a:t>
            </a:r>
            <a:r>
              <a:rPr lang="en-GB" sz="2400" dirty="0">
                <a:ea typeface="Times New Roman" panose="02020603050405020304" pitchFamily="18" charset="0"/>
              </a:rPr>
              <a:t> decrease, bandwidth reduces and ISI increases.</a:t>
            </a:r>
            <a:endParaRPr lang="en-US" sz="2400" dirty="0"/>
          </a:p>
        </p:txBody>
      </p:sp>
      <p:sp>
        <p:nvSpPr>
          <p:cNvPr id="14" name="Rectangle 2">
            <a:extLst>
              <a:ext uri="{FF2B5EF4-FFF2-40B4-BE49-F238E27FC236}">
                <a16:creationId xmlns:a16="http://schemas.microsoft.com/office/drawing/2014/main" id="{95D919C3-8DE3-4AF3-B146-7EFEE4AF3CEF}"/>
              </a:ext>
            </a:extLst>
          </p:cNvPr>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Raise Cosine (Example)</a:t>
            </a:r>
            <a:endParaRPr lang="en-US" sz="2400" b="1" dirty="0">
              <a:solidFill>
                <a:srgbClr val="C00000"/>
              </a:solidFill>
              <a:latin typeface="Arial Black" panose="020B0A04020102020204" pitchFamily="34" charset="0"/>
            </a:endParaRPr>
          </a:p>
        </p:txBody>
      </p:sp>
      <p:sp>
        <p:nvSpPr>
          <p:cNvPr id="16" name="Rectangle 15">
            <a:extLst>
              <a:ext uri="{FF2B5EF4-FFF2-40B4-BE49-F238E27FC236}">
                <a16:creationId xmlns:a16="http://schemas.microsoft.com/office/drawing/2014/main" id="{6322F952-CBDC-4D3F-9C70-E52EBE4460DD}"/>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17" name="Footer Placeholder 4">
            <a:extLst>
              <a:ext uri="{FF2B5EF4-FFF2-40B4-BE49-F238E27FC236}">
                <a16:creationId xmlns:a16="http://schemas.microsoft.com/office/drawing/2014/main" id="{2F99A520-7B43-4D67-9FBC-EF56D7A776C5}"/>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38 of 41</a:t>
            </a:r>
            <a:endParaRPr lang="en-US" sz="1200" dirty="0"/>
          </a:p>
        </p:txBody>
      </p:sp>
      <p:pic>
        <p:nvPicPr>
          <p:cNvPr id="2" name="Pg38">
            <a:hlinkClick r:id="" action="ppaction://media"/>
            <a:extLst>
              <a:ext uri="{FF2B5EF4-FFF2-40B4-BE49-F238E27FC236}">
                <a16:creationId xmlns:a16="http://schemas.microsoft.com/office/drawing/2014/main" id="{F9A8DDC8-3A15-4EF3-A671-6A303426E21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7646" y="5709010"/>
            <a:ext cx="609600" cy="609600"/>
          </a:xfrm>
          <a:prstGeom prst="rect">
            <a:avLst/>
          </a:prstGeom>
        </p:spPr>
      </p:pic>
    </p:spTree>
    <p:extLst>
      <p:ext uri="{BB962C8B-B14F-4D97-AF65-F5344CB8AC3E}">
        <p14:creationId xmlns:p14="http://schemas.microsoft.com/office/powerpoint/2010/main" val="365174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6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erpreting an eye diagram">
            <a:extLst>
              <a:ext uri="{FF2B5EF4-FFF2-40B4-BE49-F238E27FC236}">
                <a16:creationId xmlns:a16="http://schemas.microsoft.com/office/drawing/2014/main" id="{02121FE2-ACE7-4C33-B21A-489E0E8DC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5034" y="850433"/>
            <a:ext cx="6833254" cy="36783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425D12B1-7817-4401-881A-B17B7A16ECC6}"/>
              </a:ext>
            </a:extLst>
          </p:cNvPr>
          <p:cNvSpPr txBox="1">
            <a:spLocks noChangeArrowheads="1"/>
          </p:cNvSpPr>
          <p:nvPr/>
        </p:nvSpPr>
        <p:spPr>
          <a:xfrm>
            <a:off x="708810" y="125972"/>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Modulation Scheme </a:t>
            </a:r>
          </a:p>
          <a:p>
            <a:r>
              <a:rPr lang="en-GB" sz="2400" b="1" dirty="0">
                <a:solidFill>
                  <a:srgbClr val="C00000"/>
                </a:solidFill>
                <a:latin typeface="Arial Black" panose="020B0A04020102020204" pitchFamily="34" charset="0"/>
              </a:rPr>
              <a:t>Eye diagram</a:t>
            </a:r>
            <a:endParaRPr lang="en-US" sz="2400" b="1" dirty="0">
              <a:solidFill>
                <a:srgbClr val="C00000"/>
              </a:solidFill>
              <a:latin typeface="Arial Black" panose="020B0A04020102020204" pitchFamily="34" charset="0"/>
            </a:endParaRPr>
          </a:p>
        </p:txBody>
      </p:sp>
      <p:sp>
        <p:nvSpPr>
          <p:cNvPr id="2" name="Rectangle 1">
            <a:extLst>
              <a:ext uri="{FF2B5EF4-FFF2-40B4-BE49-F238E27FC236}">
                <a16:creationId xmlns:a16="http://schemas.microsoft.com/office/drawing/2014/main" id="{EC3DB9BF-8B59-4ABE-AD16-C70ED9C2F080}"/>
              </a:ext>
            </a:extLst>
          </p:cNvPr>
          <p:cNvSpPr/>
          <p:nvPr/>
        </p:nvSpPr>
        <p:spPr>
          <a:xfrm>
            <a:off x="253962" y="4653114"/>
            <a:ext cx="11684075" cy="1200329"/>
          </a:xfrm>
          <a:prstGeom prst="rect">
            <a:avLst/>
          </a:prstGeom>
        </p:spPr>
        <p:txBody>
          <a:bodyPr wrap="square">
            <a:spAutoFit/>
          </a:bodyPr>
          <a:lstStyle/>
          <a:p>
            <a:r>
              <a:rPr lang="en-SG" sz="2400" dirty="0"/>
              <a:t>An eye diagram is a indicator of the quality of signals in high-speed digital transmissions. </a:t>
            </a:r>
          </a:p>
          <a:p>
            <a:r>
              <a:rPr lang="en-SG" sz="2400" dirty="0"/>
              <a:t>An eye diagram can be presented in an oscilloscope and indicate the best point for sampling, divulge the SNR at the sampling point, and indicate the amount of jitter and distortion</a:t>
            </a:r>
            <a:endParaRPr lang="en-US" sz="2400" dirty="0"/>
          </a:p>
        </p:txBody>
      </p:sp>
      <p:sp>
        <p:nvSpPr>
          <p:cNvPr id="7" name="Rectangle 6">
            <a:extLst>
              <a:ext uri="{FF2B5EF4-FFF2-40B4-BE49-F238E27FC236}">
                <a16:creationId xmlns:a16="http://schemas.microsoft.com/office/drawing/2014/main" id="{5FEDCDE0-C4EB-40DF-9E57-339FC0EB6FD6}"/>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8" name="Footer Placeholder 4">
            <a:extLst>
              <a:ext uri="{FF2B5EF4-FFF2-40B4-BE49-F238E27FC236}">
                <a16:creationId xmlns:a16="http://schemas.microsoft.com/office/drawing/2014/main" id="{7D94C673-6093-43F9-A1BB-D2CEB6F2ABE7}"/>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39 of 41</a:t>
            </a:r>
            <a:endParaRPr lang="en-US" sz="1200" dirty="0"/>
          </a:p>
        </p:txBody>
      </p:sp>
      <p:pic>
        <p:nvPicPr>
          <p:cNvPr id="10" name="Pg39">
            <a:hlinkClick r:id="" action="ppaction://media"/>
            <a:extLst>
              <a:ext uri="{FF2B5EF4-FFF2-40B4-BE49-F238E27FC236}">
                <a16:creationId xmlns:a16="http://schemas.microsoft.com/office/drawing/2014/main" id="{8320B1CE-0FE5-4DAD-B22B-8AAB70054EB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4425" y="5672939"/>
            <a:ext cx="609600" cy="609600"/>
          </a:xfrm>
          <a:prstGeom prst="rect">
            <a:avLst/>
          </a:prstGeom>
        </p:spPr>
      </p:pic>
    </p:spTree>
    <p:extLst>
      <p:ext uri="{BB962C8B-B14F-4D97-AF65-F5344CB8AC3E}">
        <p14:creationId xmlns:p14="http://schemas.microsoft.com/office/powerpoint/2010/main" val="202042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3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865239" y="1486185"/>
            <a:ext cx="10939182" cy="4371426"/>
          </a:xfrm>
          <a:prstGeom prst="rect">
            <a:avLst/>
          </a:prstGeom>
        </p:spPr>
        <p:txBody>
          <a:bodyPr vert="horz" wrap="square" lIns="0" tIns="0" rIns="0" bIns="0" rtlCol="0">
            <a:noAutofit/>
          </a:bodyPr>
          <a:lstStyle/>
          <a:p>
            <a:pPr marL="103660">
              <a:tabLst>
                <a:tab pos="406235" algn="l"/>
              </a:tabLst>
            </a:pPr>
            <a:r>
              <a:rPr lang="en-US" sz="2400" dirty="0">
                <a:cs typeface="Times New Roman"/>
              </a:rPr>
              <a:t>1) </a:t>
            </a:r>
            <a:r>
              <a:rPr sz="2400" dirty="0">
                <a:cs typeface="Times New Roman"/>
              </a:rPr>
              <a:t>Signal</a:t>
            </a:r>
            <a:r>
              <a:rPr sz="2400" spc="22" dirty="0">
                <a:cs typeface="Times New Roman"/>
              </a:rPr>
              <a:t>-</a:t>
            </a:r>
            <a:r>
              <a:rPr sz="2400" dirty="0">
                <a:cs typeface="Times New Roman"/>
              </a:rPr>
              <a:t>to</a:t>
            </a:r>
            <a:r>
              <a:rPr sz="2400" spc="22" dirty="0">
                <a:cs typeface="Times New Roman"/>
              </a:rPr>
              <a:t>-</a:t>
            </a:r>
            <a:r>
              <a:rPr sz="2400" spc="-4" dirty="0">
                <a:cs typeface="Times New Roman"/>
              </a:rPr>
              <a:t>nois</a:t>
            </a:r>
            <a:r>
              <a:rPr sz="2400" dirty="0">
                <a:cs typeface="Times New Roman"/>
              </a:rPr>
              <a:t>e</a:t>
            </a:r>
            <a:r>
              <a:rPr sz="2400" spc="-40" dirty="0">
                <a:cs typeface="Times New Roman"/>
              </a:rPr>
              <a:t> </a:t>
            </a:r>
            <a:r>
              <a:rPr sz="2400" spc="-4" dirty="0">
                <a:cs typeface="Times New Roman"/>
              </a:rPr>
              <a:t>rati</a:t>
            </a:r>
            <a:r>
              <a:rPr sz="2400" dirty="0">
                <a:cs typeface="Times New Roman"/>
              </a:rPr>
              <a:t>o</a:t>
            </a:r>
            <a:r>
              <a:rPr sz="2400" spc="-40" dirty="0">
                <a:cs typeface="Times New Roman"/>
              </a:rPr>
              <a:t> </a:t>
            </a:r>
            <a:r>
              <a:rPr sz="2400" spc="-4" dirty="0">
                <a:cs typeface="Times New Roman"/>
              </a:rPr>
              <a:t>(SNR)</a:t>
            </a:r>
            <a:endParaRPr sz="2400" dirty="0">
              <a:cs typeface="Times New Roman"/>
            </a:endParaRPr>
          </a:p>
          <a:p>
            <a:pPr>
              <a:lnSpc>
                <a:spcPts val="485"/>
              </a:lnSpc>
              <a:spcBef>
                <a:spcPts val="17"/>
              </a:spcBef>
              <a:buFont typeface="Wingdings"/>
              <a:buChar char="❍"/>
            </a:pPr>
            <a:endParaRPr sz="2400" dirty="0"/>
          </a:p>
          <a:p>
            <a:pPr marL="103660">
              <a:tabLst>
                <a:tab pos="406235" algn="l"/>
              </a:tabLst>
            </a:pPr>
            <a:r>
              <a:rPr lang="en-US" sz="2400" spc="-4" dirty="0">
                <a:cs typeface="Times New Roman"/>
              </a:rPr>
              <a:t>2) </a:t>
            </a:r>
            <a:r>
              <a:rPr sz="2400" spc="-4" dirty="0">
                <a:cs typeface="Times New Roman"/>
              </a:rPr>
              <a:t>Probabilit</a:t>
            </a:r>
            <a:r>
              <a:rPr sz="2400" dirty="0">
                <a:cs typeface="Times New Roman"/>
              </a:rPr>
              <a:t>y</a:t>
            </a:r>
            <a:r>
              <a:rPr sz="2400" spc="-4" dirty="0">
                <a:cs typeface="Times New Roman"/>
              </a:rPr>
              <a:t> o</a:t>
            </a:r>
            <a:r>
              <a:rPr sz="2400" dirty="0">
                <a:cs typeface="Times New Roman"/>
              </a:rPr>
              <a:t>f</a:t>
            </a:r>
            <a:r>
              <a:rPr sz="2400" spc="-4" dirty="0">
                <a:cs typeface="Times New Roman"/>
              </a:rPr>
              <a:t> erro</a:t>
            </a:r>
            <a:r>
              <a:rPr sz="2400" dirty="0">
                <a:cs typeface="Times New Roman"/>
              </a:rPr>
              <a:t>r</a:t>
            </a:r>
            <a:r>
              <a:rPr sz="2400" spc="-4" dirty="0">
                <a:cs typeface="Times New Roman"/>
              </a:rPr>
              <a:t> o</a:t>
            </a:r>
            <a:r>
              <a:rPr sz="2400" dirty="0">
                <a:cs typeface="Times New Roman"/>
              </a:rPr>
              <a:t>r</a:t>
            </a:r>
            <a:r>
              <a:rPr sz="2400" spc="-4" dirty="0">
                <a:cs typeface="Times New Roman"/>
              </a:rPr>
              <a:t> Bi</a:t>
            </a:r>
            <a:r>
              <a:rPr sz="2400" dirty="0">
                <a:cs typeface="Times New Roman"/>
              </a:rPr>
              <a:t>t</a:t>
            </a:r>
            <a:r>
              <a:rPr sz="2400" spc="-4" dirty="0">
                <a:cs typeface="Times New Roman"/>
              </a:rPr>
              <a:t> Erro</a:t>
            </a:r>
            <a:r>
              <a:rPr sz="2400" dirty="0">
                <a:cs typeface="Times New Roman"/>
              </a:rPr>
              <a:t>r</a:t>
            </a:r>
            <a:r>
              <a:rPr sz="2400" spc="-4" dirty="0">
                <a:cs typeface="Times New Roman"/>
              </a:rPr>
              <a:t> Rat</a:t>
            </a:r>
            <a:r>
              <a:rPr sz="2400" dirty="0">
                <a:cs typeface="Times New Roman"/>
              </a:rPr>
              <a:t>e</a:t>
            </a:r>
            <a:r>
              <a:rPr sz="2400" spc="-4" dirty="0">
                <a:cs typeface="Times New Roman"/>
              </a:rPr>
              <a:t> (BER)</a:t>
            </a:r>
            <a:endParaRPr sz="2400" dirty="0">
              <a:cs typeface="Times New Roman"/>
            </a:endParaRPr>
          </a:p>
          <a:p>
            <a:pPr>
              <a:lnSpc>
                <a:spcPts val="529"/>
              </a:lnSpc>
              <a:spcBef>
                <a:spcPts val="39"/>
              </a:spcBef>
              <a:buFont typeface="Wingdings"/>
              <a:buChar char="❍"/>
            </a:pPr>
            <a:endParaRPr sz="2400" dirty="0"/>
          </a:p>
          <a:p>
            <a:pPr marL="103660">
              <a:tabLst>
                <a:tab pos="406235" algn="l"/>
              </a:tabLst>
            </a:pPr>
            <a:r>
              <a:rPr lang="en-US" sz="2400" spc="-4" dirty="0">
                <a:cs typeface="Times New Roman"/>
              </a:rPr>
              <a:t>3) </a:t>
            </a:r>
            <a:r>
              <a:rPr sz="2400" spc="-4" dirty="0">
                <a:cs typeface="Times New Roman"/>
              </a:rPr>
              <a:t>Powe</a:t>
            </a:r>
            <a:r>
              <a:rPr sz="2400" dirty="0">
                <a:cs typeface="Times New Roman"/>
              </a:rPr>
              <a:t>r</a:t>
            </a:r>
            <a:r>
              <a:rPr sz="2400" spc="-4" dirty="0">
                <a:cs typeface="Times New Roman"/>
              </a:rPr>
              <a:t> Efficiency</a:t>
            </a:r>
            <a:endParaRPr sz="2400" baseline="-21505" dirty="0">
              <a:cs typeface="Times New Roman"/>
            </a:endParaRPr>
          </a:p>
          <a:p>
            <a:pPr>
              <a:lnSpc>
                <a:spcPts val="529"/>
              </a:lnSpc>
              <a:spcBef>
                <a:spcPts val="12"/>
              </a:spcBef>
              <a:buFont typeface="Wingdings"/>
              <a:buChar char="❍"/>
            </a:pPr>
            <a:endParaRPr sz="2400" dirty="0"/>
          </a:p>
          <a:p>
            <a:pPr marL="507093" marR="112065" lvl="1">
              <a:lnSpc>
                <a:spcPts val="2515"/>
              </a:lnSpc>
              <a:tabLst>
                <a:tab pos="759239" algn="l"/>
              </a:tabLst>
            </a:pPr>
            <a:r>
              <a:rPr sz="2400" spc="-4" dirty="0">
                <a:cs typeface="Times New Roman"/>
              </a:rPr>
              <a:t>Powe</a:t>
            </a:r>
            <a:r>
              <a:rPr sz="2400" dirty="0">
                <a:cs typeface="Times New Roman"/>
              </a:rPr>
              <a:t>r</a:t>
            </a:r>
            <a:r>
              <a:rPr sz="2400" spc="-4" dirty="0">
                <a:cs typeface="Times New Roman"/>
              </a:rPr>
              <a:t> efficienc</a:t>
            </a:r>
            <a:r>
              <a:rPr sz="2400" dirty="0">
                <a:cs typeface="Times New Roman"/>
              </a:rPr>
              <a:t>y</a:t>
            </a:r>
            <a:r>
              <a:rPr sz="2400" spc="-4" dirty="0">
                <a:cs typeface="Times New Roman"/>
              </a:rPr>
              <a:t> i</a:t>
            </a:r>
            <a:r>
              <a:rPr sz="2400" dirty="0">
                <a:cs typeface="Times New Roman"/>
              </a:rPr>
              <a:t>s</a:t>
            </a:r>
            <a:r>
              <a:rPr sz="2400" spc="-4" dirty="0">
                <a:cs typeface="Times New Roman"/>
              </a:rPr>
              <a:t> </a:t>
            </a:r>
            <a:r>
              <a:rPr sz="2400" dirty="0">
                <a:cs typeface="Times New Roman"/>
              </a:rPr>
              <a:t>a</a:t>
            </a:r>
            <a:r>
              <a:rPr sz="2400" spc="-4" dirty="0">
                <a:cs typeface="Times New Roman"/>
              </a:rPr>
              <a:t> measur</a:t>
            </a:r>
            <a:r>
              <a:rPr sz="2400" dirty="0">
                <a:cs typeface="Times New Roman"/>
              </a:rPr>
              <a:t>e</a:t>
            </a:r>
            <a:r>
              <a:rPr sz="2400" spc="-4" dirty="0">
                <a:cs typeface="Times New Roman"/>
              </a:rPr>
              <a:t> o</a:t>
            </a:r>
            <a:r>
              <a:rPr sz="2400" dirty="0">
                <a:cs typeface="Times New Roman"/>
              </a:rPr>
              <a:t>f</a:t>
            </a:r>
            <a:r>
              <a:rPr sz="2400" spc="-4" dirty="0">
                <a:cs typeface="Times New Roman"/>
              </a:rPr>
              <a:t> ho</a:t>
            </a:r>
            <a:r>
              <a:rPr sz="2400" dirty="0">
                <a:cs typeface="Times New Roman"/>
              </a:rPr>
              <a:t>w</a:t>
            </a:r>
            <a:r>
              <a:rPr sz="2400" spc="-4" dirty="0">
                <a:cs typeface="Times New Roman"/>
              </a:rPr>
              <a:t> muc</a:t>
            </a:r>
            <a:r>
              <a:rPr sz="2400" dirty="0">
                <a:cs typeface="Times New Roman"/>
              </a:rPr>
              <a:t>h</a:t>
            </a:r>
            <a:r>
              <a:rPr sz="2400" spc="-4" dirty="0">
                <a:cs typeface="Times New Roman"/>
              </a:rPr>
              <a:t> receive</a:t>
            </a:r>
            <a:r>
              <a:rPr sz="2400" dirty="0">
                <a:cs typeface="Times New Roman"/>
              </a:rPr>
              <a:t>d</a:t>
            </a:r>
            <a:r>
              <a:rPr sz="2400" spc="-4" dirty="0">
                <a:cs typeface="Times New Roman"/>
              </a:rPr>
              <a:t> powe</a:t>
            </a:r>
            <a:r>
              <a:rPr sz="2400" dirty="0">
                <a:cs typeface="Times New Roman"/>
              </a:rPr>
              <a:t>r</a:t>
            </a:r>
            <a:r>
              <a:rPr sz="2400" spc="-4" dirty="0">
                <a:cs typeface="Times New Roman"/>
              </a:rPr>
              <a:t> is </a:t>
            </a:r>
            <a:r>
              <a:rPr sz="2400" dirty="0">
                <a:cs typeface="Times New Roman"/>
              </a:rPr>
              <a:t>needed to achieve a specified BER (inversely proportional to BER</a:t>
            </a:r>
            <a:r>
              <a:rPr lang="en-US" sz="2400" dirty="0">
                <a:cs typeface="Times New Roman"/>
              </a:rPr>
              <a:t>)</a:t>
            </a:r>
            <a:endParaRPr sz="2400" dirty="0">
              <a:cs typeface="Times New Roman"/>
            </a:endParaRPr>
          </a:p>
          <a:p>
            <a:pPr lvl="1">
              <a:lnSpc>
                <a:spcPts val="574"/>
              </a:lnSpc>
              <a:spcBef>
                <a:spcPts val="22"/>
              </a:spcBef>
              <a:buFont typeface="Wingdings"/>
              <a:buChar char="·"/>
            </a:pPr>
            <a:endParaRPr sz="2400" dirty="0"/>
          </a:p>
          <a:p>
            <a:pPr marL="507093" marR="986170" lvl="1">
              <a:lnSpc>
                <a:spcPts val="2515"/>
              </a:lnSpc>
              <a:tabLst>
                <a:tab pos="759239" algn="l"/>
              </a:tabLst>
            </a:pPr>
            <a:r>
              <a:rPr sz="2400" spc="-9" dirty="0">
                <a:cs typeface="Times New Roman"/>
              </a:rPr>
              <a:t>A</a:t>
            </a:r>
            <a:r>
              <a:rPr sz="2400" dirty="0">
                <a:cs typeface="Times New Roman"/>
              </a:rPr>
              <a:t>s</a:t>
            </a:r>
            <a:r>
              <a:rPr sz="2400" spc="-9" dirty="0">
                <a:cs typeface="Times New Roman"/>
              </a:rPr>
              <a:t> BE</a:t>
            </a:r>
            <a:r>
              <a:rPr sz="2400" dirty="0">
                <a:cs typeface="Times New Roman"/>
              </a:rPr>
              <a:t>R</a:t>
            </a:r>
            <a:r>
              <a:rPr sz="2400" spc="-9" dirty="0">
                <a:cs typeface="Times New Roman"/>
              </a:rPr>
              <a:t> increases</a:t>
            </a:r>
            <a:r>
              <a:rPr sz="2400" dirty="0">
                <a:cs typeface="Times New Roman"/>
              </a:rPr>
              <a:t>,</a:t>
            </a:r>
            <a:r>
              <a:rPr lang="en-US" sz="2400" spc="-9" dirty="0">
                <a:cs typeface="Times New Roman"/>
              </a:rPr>
              <a:t> power efficiency </a:t>
            </a:r>
            <a:r>
              <a:rPr sz="2400" spc="-4" dirty="0">
                <a:cs typeface="Times New Roman"/>
              </a:rPr>
              <a:t>decrease</a:t>
            </a:r>
            <a:r>
              <a:rPr sz="2400" dirty="0">
                <a:cs typeface="Times New Roman"/>
              </a:rPr>
              <a:t>s</a:t>
            </a:r>
            <a:r>
              <a:rPr sz="2400" spc="-4" dirty="0">
                <a:cs typeface="Times New Roman"/>
              </a:rPr>
              <a:t> sinc</a:t>
            </a:r>
            <a:r>
              <a:rPr sz="2400" dirty="0">
                <a:cs typeface="Times New Roman"/>
              </a:rPr>
              <a:t>e</a:t>
            </a:r>
            <a:r>
              <a:rPr sz="2400" spc="-4" dirty="0">
                <a:cs typeface="Times New Roman"/>
              </a:rPr>
              <a:t> transmitte</a:t>
            </a:r>
            <a:r>
              <a:rPr sz="2400" dirty="0">
                <a:cs typeface="Times New Roman"/>
              </a:rPr>
              <a:t>d</a:t>
            </a:r>
            <a:r>
              <a:rPr sz="2400" spc="-4" dirty="0">
                <a:cs typeface="Times New Roman"/>
              </a:rPr>
              <a:t> powe</a:t>
            </a:r>
            <a:r>
              <a:rPr sz="2400" dirty="0">
                <a:cs typeface="Times New Roman"/>
              </a:rPr>
              <a:t>r</a:t>
            </a:r>
            <a:r>
              <a:rPr sz="2400" spc="-4" dirty="0">
                <a:cs typeface="Times New Roman"/>
              </a:rPr>
              <a:t> is </a:t>
            </a:r>
            <a:r>
              <a:rPr sz="2400" spc="-9" dirty="0">
                <a:cs typeface="Times New Roman"/>
              </a:rPr>
              <a:t>“wasted</a:t>
            </a:r>
            <a:r>
              <a:rPr sz="2400" dirty="0">
                <a:cs typeface="Times New Roman"/>
              </a:rPr>
              <a:t>”</a:t>
            </a:r>
            <a:r>
              <a:rPr sz="2400" spc="-9" dirty="0">
                <a:cs typeface="Times New Roman"/>
              </a:rPr>
              <a:t> o</a:t>
            </a:r>
            <a:r>
              <a:rPr sz="2400" dirty="0">
                <a:cs typeface="Times New Roman"/>
              </a:rPr>
              <a:t>n</a:t>
            </a:r>
            <a:r>
              <a:rPr sz="2400" spc="-9" dirty="0">
                <a:cs typeface="Times New Roman"/>
              </a:rPr>
              <a:t> mor</a:t>
            </a:r>
            <a:r>
              <a:rPr sz="2400" dirty="0">
                <a:cs typeface="Times New Roman"/>
              </a:rPr>
              <a:t>e</a:t>
            </a:r>
            <a:r>
              <a:rPr sz="2400" spc="-9" dirty="0">
                <a:cs typeface="Times New Roman"/>
              </a:rPr>
              <a:t> ba</a:t>
            </a:r>
            <a:r>
              <a:rPr sz="2400" dirty="0">
                <a:cs typeface="Times New Roman"/>
              </a:rPr>
              <a:t>d</a:t>
            </a:r>
            <a:r>
              <a:rPr sz="2400" spc="-9" dirty="0">
                <a:cs typeface="Times New Roman"/>
              </a:rPr>
              <a:t> data</a:t>
            </a:r>
            <a:endParaRPr sz="2400" dirty="0">
              <a:cs typeface="Times New Roman"/>
            </a:endParaRPr>
          </a:p>
          <a:p>
            <a:pPr lvl="1">
              <a:lnSpc>
                <a:spcPts val="485"/>
              </a:lnSpc>
              <a:spcBef>
                <a:spcPts val="4"/>
              </a:spcBef>
              <a:buFont typeface="Wingdings"/>
              <a:buChar char="·"/>
            </a:pPr>
            <a:endParaRPr sz="2400" dirty="0"/>
          </a:p>
          <a:p>
            <a:pPr marL="103660">
              <a:tabLst>
                <a:tab pos="406235" algn="l"/>
              </a:tabLst>
            </a:pPr>
            <a:r>
              <a:rPr lang="en-US" sz="2400" dirty="0">
                <a:cs typeface="Times New Roman"/>
              </a:rPr>
              <a:t>4) </a:t>
            </a:r>
            <a:r>
              <a:rPr sz="2400" dirty="0">
                <a:cs typeface="Times New Roman"/>
              </a:rPr>
              <a:t>Bandwidth</a:t>
            </a:r>
            <a:r>
              <a:rPr sz="2400" spc="-13" dirty="0">
                <a:cs typeface="Times New Roman"/>
              </a:rPr>
              <a:t> </a:t>
            </a:r>
            <a:r>
              <a:rPr sz="2400" dirty="0">
                <a:cs typeface="Times New Roman"/>
              </a:rPr>
              <a:t>Efficiency</a:t>
            </a:r>
            <a:r>
              <a:rPr sz="2400" spc="-13" dirty="0">
                <a:cs typeface="Times New Roman"/>
              </a:rPr>
              <a:t> </a:t>
            </a:r>
            <a:r>
              <a:rPr sz="2400" dirty="0">
                <a:cs typeface="Times New Roman"/>
              </a:rPr>
              <a:t>(or</a:t>
            </a:r>
            <a:r>
              <a:rPr sz="2400" spc="-13" dirty="0">
                <a:cs typeface="Times New Roman"/>
              </a:rPr>
              <a:t> </a:t>
            </a:r>
            <a:r>
              <a:rPr sz="2400" dirty="0">
                <a:cs typeface="Times New Roman"/>
              </a:rPr>
              <a:t>Spectral</a:t>
            </a:r>
            <a:r>
              <a:rPr sz="2400" spc="-13" dirty="0">
                <a:cs typeface="Times New Roman"/>
              </a:rPr>
              <a:t> </a:t>
            </a:r>
            <a:r>
              <a:rPr sz="2400" dirty="0">
                <a:cs typeface="Times New Roman"/>
              </a:rPr>
              <a:t>Efficiency)</a:t>
            </a:r>
            <a:endParaRPr sz="2400" baseline="-21505" dirty="0">
              <a:cs typeface="Times New Roman"/>
            </a:endParaRPr>
          </a:p>
          <a:p>
            <a:pPr marL="507093" lvl="1">
              <a:spcBef>
                <a:spcPts val="437"/>
              </a:spcBef>
              <a:tabLst>
                <a:tab pos="759239" algn="l"/>
              </a:tabLst>
            </a:pPr>
            <a:r>
              <a:rPr sz="2400" spc="-4" dirty="0">
                <a:cs typeface="Times New Roman"/>
              </a:rPr>
              <a:t>Define</a:t>
            </a:r>
            <a:r>
              <a:rPr sz="2400" dirty="0">
                <a:cs typeface="Times New Roman"/>
              </a:rPr>
              <a:t>d</a:t>
            </a:r>
            <a:r>
              <a:rPr sz="2400" spc="-4" dirty="0">
                <a:cs typeface="Times New Roman"/>
              </a:rPr>
              <a:t> a</a:t>
            </a:r>
            <a:r>
              <a:rPr sz="2400" dirty="0">
                <a:cs typeface="Times New Roman"/>
              </a:rPr>
              <a:t>s</a:t>
            </a:r>
            <a:r>
              <a:rPr sz="2400" spc="-4" dirty="0">
                <a:cs typeface="Times New Roman"/>
              </a:rPr>
              <a:t> th</a:t>
            </a:r>
            <a:r>
              <a:rPr sz="2400" dirty="0">
                <a:cs typeface="Times New Roman"/>
              </a:rPr>
              <a:t>e</a:t>
            </a:r>
            <a:r>
              <a:rPr sz="2400" spc="-4" dirty="0">
                <a:cs typeface="Times New Roman"/>
              </a:rPr>
              <a:t> rati</a:t>
            </a:r>
            <a:r>
              <a:rPr sz="2400" dirty="0">
                <a:cs typeface="Times New Roman"/>
              </a:rPr>
              <a:t>o</a:t>
            </a:r>
            <a:r>
              <a:rPr sz="2400" spc="-4" dirty="0">
                <a:cs typeface="Times New Roman"/>
              </a:rPr>
              <a:t> o</a:t>
            </a:r>
            <a:r>
              <a:rPr sz="2400" dirty="0">
                <a:cs typeface="Times New Roman"/>
              </a:rPr>
              <a:t>f</a:t>
            </a:r>
            <a:r>
              <a:rPr sz="2400" spc="-4" dirty="0">
                <a:cs typeface="Times New Roman"/>
              </a:rPr>
              <a:t> th</a:t>
            </a:r>
            <a:r>
              <a:rPr sz="2400" dirty="0">
                <a:cs typeface="Times New Roman"/>
              </a:rPr>
              <a:t>e</a:t>
            </a:r>
            <a:r>
              <a:rPr sz="2400" spc="-4" dirty="0">
                <a:cs typeface="Times New Roman"/>
              </a:rPr>
              <a:t> bi</a:t>
            </a:r>
            <a:r>
              <a:rPr sz="2400" dirty="0">
                <a:cs typeface="Times New Roman"/>
              </a:rPr>
              <a:t>t</a:t>
            </a:r>
            <a:r>
              <a:rPr sz="2400" spc="-4" dirty="0">
                <a:cs typeface="Times New Roman"/>
              </a:rPr>
              <a:t> rat</a:t>
            </a:r>
            <a:r>
              <a:rPr sz="2400" dirty="0">
                <a:cs typeface="Times New Roman"/>
              </a:rPr>
              <a:t>e</a:t>
            </a:r>
            <a:r>
              <a:rPr sz="2400" spc="-4" dirty="0">
                <a:cs typeface="Times New Roman"/>
              </a:rPr>
              <a:t> t</a:t>
            </a:r>
            <a:r>
              <a:rPr sz="2400" dirty="0">
                <a:cs typeface="Times New Roman"/>
              </a:rPr>
              <a:t>o</a:t>
            </a:r>
            <a:r>
              <a:rPr sz="2400" spc="-4" dirty="0">
                <a:cs typeface="Times New Roman"/>
              </a:rPr>
              <a:t> th</a:t>
            </a:r>
            <a:r>
              <a:rPr sz="2400" dirty="0">
                <a:cs typeface="Times New Roman"/>
              </a:rPr>
              <a:t>e</a:t>
            </a:r>
            <a:r>
              <a:rPr sz="2400" spc="-4" dirty="0">
                <a:cs typeface="Times New Roman"/>
              </a:rPr>
              <a:t> channe</a:t>
            </a:r>
            <a:r>
              <a:rPr sz="2400" dirty="0">
                <a:cs typeface="Times New Roman"/>
              </a:rPr>
              <a:t>l</a:t>
            </a:r>
            <a:r>
              <a:rPr sz="2400" spc="-4" dirty="0">
                <a:cs typeface="Times New Roman"/>
              </a:rPr>
              <a:t> bandwidth</a:t>
            </a:r>
            <a:endParaRPr lang="en-US" sz="2400" spc="-4" dirty="0">
              <a:cs typeface="Times New Roman"/>
            </a:endParaRPr>
          </a:p>
          <a:p>
            <a:pPr marL="507093" lvl="1">
              <a:spcBef>
                <a:spcPts val="437"/>
              </a:spcBef>
              <a:tabLst>
                <a:tab pos="759239" algn="l"/>
              </a:tabLst>
            </a:pPr>
            <a:r>
              <a:rPr lang="en-SG" sz="2400" spc="-4" dirty="0">
                <a:cs typeface="Times New Roman"/>
              </a:rPr>
              <a:t>Th</a:t>
            </a:r>
            <a:r>
              <a:rPr lang="en-SG" sz="2400" dirty="0">
                <a:cs typeface="Times New Roman"/>
              </a:rPr>
              <a:t>e</a:t>
            </a:r>
            <a:r>
              <a:rPr lang="en-SG" sz="2400" spc="-4" dirty="0">
                <a:cs typeface="Times New Roman"/>
              </a:rPr>
              <a:t> capacit</a:t>
            </a:r>
            <a:r>
              <a:rPr lang="en-SG" sz="2400" dirty="0">
                <a:cs typeface="Times New Roman"/>
              </a:rPr>
              <a:t>y</a:t>
            </a:r>
            <a:r>
              <a:rPr lang="en-SG" sz="2400" spc="-4" dirty="0">
                <a:cs typeface="Times New Roman"/>
              </a:rPr>
              <a:t> o</a:t>
            </a:r>
            <a:r>
              <a:rPr lang="en-SG" sz="2400" dirty="0">
                <a:cs typeface="Times New Roman"/>
              </a:rPr>
              <a:t>f</a:t>
            </a:r>
            <a:r>
              <a:rPr lang="en-SG" sz="2400" spc="-4" dirty="0">
                <a:cs typeface="Times New Roman"/>
              </a:rPr>
              <a:t> </a:t>
            </a:r>
            <a:r>
              <a:rPr lang="en-SG" sz="2400" dirty="0">
                <a:cs typeface="Times New Roman"/>
              </a:rPr>
              <a:t>a</a:t>
            </a:r>
            <a:r>
              <a:rPr lang="en-SG" sz="2400" spc="-4" dirty="0">
                <a:cs typeface="Times New Roman"/>
              </a:rPr>
              <a:t> digita</a:t>
            </a:r>
            <a:r>
              <a:rPr lang="en-SG" sz="2400" dirty="0">
                <a:cs typeface="Times New Roman"/>
              </a:rPr>
              <a:t>l</a:t>
            </a:r>
            <a:r>
              <a:rPr lang="en-SG" sz="2400" spc="-4" dirty="0">
                <a:cs typeface="Times New Roman"/>
              </a:rPr>
              <a:t> syste</a:t>
            </a:r>
            <a:r>
              <a:rPr lang="en-SG" sz="2400" dirty="0">
                <a:cs typeface="Times New Roman"/>
              </a:rPr>
              <a:t>m</a:t>
            </a:r>
            <a:r>
              <a:rPr lang="en-SG" sz="2400" spc="-4" dirty="0">
                <a:cs typeface="Times New Roman"/>
              </a:rPr>
              <a:t> i</a:t>
            </a:r>
            <a:r>
              <a:rPr lang="en-SG" sz="2400" dirty="0">
                <a:cs typeface="Times New Roman"/>
              </a:rPr>
              <a:t>s</a:t>
            </a:r>
            <a:r>
              <a:rPr lang="en-SG" sz="2400" spc="-4" dirty="0">
                <a:cs typeface="Times New Roman"/>
              </a:rPr>
              <a:t> directl</a:t>
            </a:r>
            <a:r>
              <a:rPr lang="en-SG" sz="2400" dirty="0">
                <a:cs typeface="Times New Roman"/>
              </a:rPr>
              <a:t>y</a:t>
            </a:r>
            <a:r>
              <a:rPr lang="en-SG" sz="2400" spc="-4" dirty="0">
                <a:cs typeface="Times New Roman"/>
              </a:rPr>
              <a:t> relate</a:t>
            </a:r>
            <a:r>
              <a:rPr lang="en-SG" sz="2400" dirty="0">
                <a:cs typeface="Times New Roman"/>
              </a:rPr>
              <a:t>d</a:t>
            </a:r>
            <a:r>
              <a:rPr lang="en-SG" sz="2400" spc="-4" dirty="0">
                <a:cs typeface="Times New Roman"/>
              </a:rPr>
              <a:t> t</a:t>
            </a:r>
            <a:r>
              <a:rPr lang="en-SG" sz="2400" dirty="0">
                <a:cs typeface="Times New Roman"/>
              </a:rPr>
              <a:t>o</a:t>
            </a:r>
            <a:r>
              <a:rPr lang="en-SG" sz="2400" spc="-71" dirty="0">
                <a:cs typeface="Times New Roman"/>
              </a:rPr>
              <a:t> bandwidth efficiency</a:t>
            </a:r>
            <a:endParaRPr lang="en-SG" sz="2400" baseline="-21505" dirty="0">
              <a:cs typeface="Times New Roman"/>
            </a:endParaRPr>
          </a:p>
          <a:p>
            <a:pPr marL="507093" lvl="1">
              <a:spcBef>
                <a:spcPts val="437"/>
              </a:spcBef>
              <a:tabLst>
                <a:tab pos="759239" algn="l"/>
              </a:tabLst>
            </a:pPr>
            <a:endParaRPr lang="en-SG" sz="2400" dirty="0">
              <a:cs typeface="Times New Roman"/>
            </a:endParaRPr>
          </a:p>
        </p:txBody>
      </p:sp>
      <p:sp>
        <p:nvSpPr>
          <p:cNvPr id="16" name="Title 1"/>
          <p:cNvSpPr txBox="1">
            <a:spLocks/>
          </p:cNvSpPr>
          <p:nvPr/>
        </p:nvSpPr>
        <p:spPr>
          <a:xfrm>
            <a:off x="865239" y="-1779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3600" b="1" dirty="0">
                <a:solidFill>
                  <a:srgbClr val="C00000"/>
                </a:solidFill>
              </a:rPr>
              <a:t>Digital Modulation Applications</a:t>
            </a:r>
            <a:endParaRPr lang="en-US" sz="3600" b="1" dirty="0">
              <a:solidFill>
                <a:srgbClr val="C00000"/>
              </a:solidFill>
            </a:endParaRPr>
          </a:p>
          <a:p>
            <a:r>
              <a:rPr lang="en-SG" sz="2400" spc="-9" dirty="0">
                <a:solidFill>
                  <a:srgbClr val="C00000"/>
                </a:solidFill>
                <a:latin typeface="Arial Black" panose="020B0A04020102020204" pitchFamily="34" charset="0"/>
                <a:cs typeface="Times New Roman"/>
              </a:rPr>
              <a:t>Factor</a:t>
            </a:r>
            <a:r>
              <a:rPr lang="en-SG" sz="2400" dirty="0">
                <a:solidFill>
                  <a:srgbClr val="C00000"/>
                </a:solidFill>
                <a:latin typeface="Arial Black" panose="020B0A04020102020204" pitchFamily="34" charset="0"/>
                <a:cs typeface="Times New Roman"/>
              </a:rPr>
              <a:t>s</a:t>
            </a:r>
            <a:r>
              <a:rPr lang="en-SG" sz="2400" spc="-40" dirty="0">
                <a:solidFill>
                  <a:srgbClr val="C00000"/>
                </a:solidFill>
                <a:latin typeface="Arial Black" panose="020B0A04020102020204" pitchFamily="34" charset="0"/>
                <a:cs typeface="Times New Roman"/>
              </a:rPr>
              <a:t> </a:t>
            </a:r>
            <a:r>
              <a:rPr lang="en-SG" sz="2400" spc="-9" dirty="0">
                <a:solidFill>
                  <a:srgbClr val="C00000"/>
                </a:solidFill>
                <a:latin typeface="Arial Black" panose="020B0A04020102020204" pitchFamily="34" charset="0"/>
                <a:cs typeface="Times New Roman"/>
              </a:rPr>
              <a:t>Affectin</a:t>
            </a:r>
            <a:r>
              <a:rPr lang="en-SG" sz="2400" dirty="0">
                <a:solidFill>
                  <a:srgbClr val="C00000"/>
                </a:solidFill>
                <a:latin typeface="Arial Black" panose="020B0A04020102020204" pitchFamily="34" charset="0"/>
                <a:cs typeface="Times New Roman"/>
              </a:rPr>
              <a:t>g</a:t>
            </a:r>
            <a:r>
              <a:rPr lang="en-SG" sz="2400" spc="-40" dirty="0">
                <a:solidFill>
                  <a:srgbClr val="C00000"/>
                </a:solidFill>
                <a:latin typeface="Arial Black" panose="020B0A04020102020204" pitchFamily="34" charset="0"/>
                <a:cs typeface="Times New Roman"/>
              </a:rPr>
              <a:t> </a:t>
            </a:r>
            <a:r>
              <a:rPr lang="en-SG" sz="2400" spc="-9" dirty="0">
                <a:solidFill>
                  <a:srgbClr val="C00000"/>
                </a:solidFill>
                <a:latin typeface="Arial Black" panose="020B0A04020102020204" pitchFamily="34" charset="0"/>
                <a:cs typeface="Times New Roman"/>
              </a:rPr>
              <a:t>Choic</a:t>
            </a:r>
            <a:r>
              <a:rPr lang="en-SG" sz="2400" dirty="0">
                <a:solidFill>
                  <a:srgbClr val="C00000"/>
                </a:solidFill>
                <a:latin typeface="Arial Black" panose="020B0A04020102020204" pitchFamily="34" charset="0"/>
                <a:cs typeface="Times New Roman"/>
              </a:rPr>
              <a:t>e</a:t>
            </a:r>
            <a:r>
              <a:rPr lang="en-SG" sz="2400" spc="-40" dirty="0">
                <a:solidFill>
                  <a:srgbClr val="C00000"/>
                </a:solidFill>
                <a:latin typeface="Arial Black" panose="020B0A04020102020204" pitchFamily="34" charset="0"/>
                <a:cs typeface="Times New Roman"/>
              </a:rPr>
              <a:t> </a:t>
            </a:r>
            <a:r>
              <a:rPr lang="en-SG" sz="2400" spc="-9" dirty="0">
                <a:solidFill>
                  <a:srgbClr val="C00000"/>
                </a:solidFill>
                <a:latin typeface="Arial Black" panose="020B0A04020102020204" pitchFamily="34" charset="0"/>
                <a:cs typeface="Times New Roman"/>
              </a:rPr>
              <a:t>o</a:t>
            </a:r>
            <a:r>
              <a:rPr lang="en-SG" sz="2400" dirty="0">
                <a:solidFill>
                  <a:srgbClr val="C00000"/>
                </a:solidFill>
                <a:latin typeface="Arial Black" panose="020B0A04020102020204" pitchFamily="34" charset="0"/>
                <a:cs typeface="Times New Roman"/>
              </a:rPr>
              <a:t>f</a:t>
            </a:r>
            <a:r>
              <a:rPr lang="en-SG" sz="2400" spc="-40" dirty="0">
                <a:solidFill>
                  <a:srgbClr val="C00000"/>
                </a:solidFill>
                <a:latin typeface="Arial Black" panose="020B0A04020102020204" pitchFamily="34" charset="0"/>
                <a:cs typeface="Times New Roman"/>
              </a:rPr>
              <a:t> </a:t>
            </a:r>
            <a:r>
              <a:rPr lang="en-SG" sz="2400" spc="-9" dirty="0">
                <a:solidFill>
                  <a:srgbClr val="C00000"/>
                </a:solidFill>
                <a:latin typeface="Arial Black" panose="020B0A04020102020204" pitchFamily="34" charset="0"/>
                <a:cs typeface="Times New Roman"/>
              </a:rPr>
              <a:t>Modulation </a:t>
            </a:r>
            <a:endParaRPr lang="en-US" sz="2400" b="1" dirty="0">
              <a:solidFill>
                <a:srgbClr val="C00000"/>
              </a:solidFill>
              <a:latin typeface="Arial Black" panose="020B0A04020102020204" pitchFamily="34" charset="0"/>
            </a:endParaRPr>
          </a:p>
        </p:txBody>
      </p:sp>
      <p:sp>
        <p:nvSpPr>
          <p:cNvPr id="20" name="Rectangle 19">
            <a:extLst>
              <a:ext uri="{FF2B5EF4-FFF2-40B4-BE49-F238E27FC236}">
                <a16:creationId xmlns:a16="http://schemas.microsoft.com/office/drawing/2014/main" id="{2162D419-5C84-44F5-917D-ADAF7B003D6C}"/>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21" name="Footer Placeholder 4">
            <a:extLst>
              <a:ext uri="{FF2B5EF4-FFF2-40B4-BE49-F238E27FC236}">
                <a16:creationId xmlns:a16="http://schemas.microsoft.com/office/drawing/2014/main" id="{99E56D74-1C9B-41CD-BA2D-57D6D6B8A3FD}"/>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dirty="0"/>
              <a:t>Page 40 of 41</a:t>
            </a:r>
            <a:endParaRPr lang="en-US" sz="1200" dirty="0"/>
          </a:p>
        </p:txBody>
      </p:sp>
      <p:pic>
        <p:nvPicPr>
          <p:cNvPr id="2" name="Pg40">
            <a:hlinkClick r:id="" action="ppaction://media"/>
            <a:extLst>
              <a:ext uri="{FF2B5EF4-FFF2-40B4-BE49-F238E27FC236}">
                <a16:creationId xmlns:a16="http://schemas.microsoft.com/office/drawing/2014/main" id="{64438745-0665-4A3B-827A-45DB31F5A62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69286" y="5586565"/>
            <a:ext cx="609600" cy="609600"/>
          </a:xfrm>
          <a:prstGeom prst="rect">
            <a:avLst/>
          </a:prstGeom>
        </p:spPr>
      </p:pic>
    </p:spTree>
    <p:extLst>
      <p:ext uri="{BB962C8B-B14F-4D97-AF65-F5344CB8AC3E}">
        <p14:creationId xmlns:p14="http://schemas.microsoft.com/office/powerpoint/2010/main" val="427453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62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p:cNvSpPr>
            <a:spLocks noChangeArrowheads="1"/>
          </p:cNvSpPr>
          <p:nvPr/>
        </p:nvSpPr>
        <p:spPr bwMode="auto">
          <a:xfrm>
            <a:off x="395053" y="1168205"/>
            <a:ext cx="1179694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eaLnBrk="0" fontAlgn="base" hangingPunct="0">
              <a:spcBef>
                <a:spcPct val="0"/>
              </a:spcBef>
              <a:spcAft>
                <a:spcPct val="0"/>
              </a:spcAft>
              <a:tabLst>
                <a:tab pos="1143000" algn="l"/>
              </a:tabLst>
              <a:defRPr>
                <a:solidFill>
                  <a:schemeClr val="tx1"/>
                </a:solidFill>
                <a:latin typeface="Arial" panose="020B0604020202020204" pitchFamily="34" charset="0"/>
              </a:defRPr>
            </a:lvl2pPr>
            <a:lvl3pPr eaLnBrk="0" fontAlgn="base" hangingPunct="0">
              <a:spcBef>
                <a:spcPct val="0"/>
              </a:spcBef>
              <a:spcAft>
                <a:spcPct val="0"/>
              </a:spcAft>
              <a:tabLst>
                <a:tab pos="1143000" algn="l"/>
              </a:tabLst>
              <a:defRPr>
                <a:solidFill>
                  <a:schemeClr val="tx1"/>
                </a:solidFill>
                <a:latin typeface="Arial" panose="020B0604020202020204" pitchFamily="34" charset="0"/>
              </a:defRPr>
            </a:lvl3pPr>
            <a:lvl4pPr eaLnBrk="0" fontAlgn="base" hangingPunct="0">
              <a:spcBef>
                <a:spcPct val="0"/>
              </a:spcBef>
              <a:spcAft>
                <a:spcPct val="0"/>
              </a:spcAft>
              <a:tabLst>
                <a:tab pos="1143000" algn="l"/>
              </a:tabLst>
              <a:defRPr>
                <a:solidFill>
                  <a:schemeClr val="tx1"/>
                </a:solidFill>
                <a:latin typeface="Arial" panose="020B0604020202020204" pitchFamily="34" charset="0"/>
              </a:defRPr>
            </a:lvl4pPr>
            <a:lvl5pPr eaLnBrk="0" fontAlgn="base" hangingPunct="0">
              <a:spcBef>
                <a:spcPct val="0"/>
              </a:spcBef>
              <a:spcAft>
                <a:spcPct val="0"/>
              </a:spcAft>
              <a:tabLst>
                <a:tab pos="1143000" algn="l"/>
              </a:tabLst>
              <a:defRPr>
                <a:solidFill>
                  <a:schemeClr val="tx1"/>
                </a:solidFill>
                <a:latin typeface="Arial" panose="020B0604020202020204" pitchFamily="34" charset="0"/>
              </a:defRPr>
            </a:lvl5pPr>
            <a:lvl6pPr eaLnBrk="0" fontAlgn="base" hangingPunct="0">
              <a:spcBef>
                <a:spcPct val="0"/>
              </a:spcBef>
              <a:spcAft>
                <a:spcPct val="0"/>
              </a:spcAft>
              <a:tabLst>
                <a:tab pos="1143000" algn="l"/>
              </a:tabLst>
              <a:defRPr>
                <a:solidFill>
                  <a:schemeClr val="tx1"/>
                </a:solidFill>
                <a:latin typeface="Arial" panose="020B0604020202020204" pitchFamily="34" charset="0"/>
              </a:defRPr>
            </a:lvl6pPr>
            <a:lvl7pPr eaLnBrk="0" fontAlgn="base" hangingPunct="0">
              <a:spcBef>
                <a:spcPct val="0"/>
              </a:spcBef>
              <a:spcAft>
                <a:spcPct val="0"/>
              </a:spcAft>
              <a:tabLst>
                <a:tab pos="1143000" algn="l"/>
              </a:tabLst>
              <a:defRPr>
                <a:solidFill>
                  <a:schemeClr val="tx1"/>
                </a:solidFill>
                <a:latin typeface="Arial" panose="020B0604020202020204" pitchFamily="34" charset="0"/>
              </a:defRPr>
            </a:lvl7pPr>
            <a:lvl8pPr eaLnBrk="0" fontAlgn="base" hangingPunct="0">
              <a:spcBef>
                <a:spcPct val="0"/>
              </a:spcBef>
              <a:spcAft>
                <a:spcPct val="0"/>
              </a:spcAft>
              <a:tabLst>
                <a:tab pos="1143000" algn="l"/>
              </a:tabLst>
              <a:defRPr>
                <a:solidFill>
                  <a:schemeClr val="tx1"/>
                </a:solidFill>
                <a:latin typeface="Arial" panose="020B0604020202020204" pitchFamily="34" charset="0"/>
              </a:defRPr>
            </a:lvl8pPr>
            <a:lvl9pPr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MSK, GMSK	GSM, CDPD</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BPSK		Deep space telemetry, cable modems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Lucida Sans"/>
              </a:rPr>
              <a:t>QPSK, 		Satellite, CDMA, NADC, TETRA, PHS, PDC, LMDS, DVB-S, cable (return</a:t>
            </a: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lang="en-US" altLang="en-US" sz="2400" dirty="0">
                <a:latin typeface="Calibri" panose="020F0502020204030204" pitchFamily="34" charset="0"/>
                <a:ea typeface="Lucida Sans"/>
                <a:cs typeface="Lucida Sans"/>
              </a:rPr>
              <a:t>π/4 DQPSK	</a:t>
            </a: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Lucida Sans"/>
              </a:rPr>
              <a:t>path), cable modems, TFTS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OQPSK		CDMA, satellite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FSK, GFSK	DECT, paging, RAM mobile data, AMPS, CT2, ERMES, land mobile, public safety</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8, 16 VSB	North American digital TV (ATV), broadcast, cable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8PSK		Satellite, aircraft, telemetry pilots for monitoring broadband video systems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16 QAM		Microwave digital radio, modems, DVB-C, DVB-T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32 QAM		Terrestrial microwave, DVB-T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64 QAM		DVB-C, modems, broadband set top boxes, MMDS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r>
              <a:rPr kumimoji="0" lang="en-US" altLang="en-US" sz="2400" b="0" i="0" u="none" strike="noStrike" cap="none" normalizeH="0" baseline="0" dirty="0">
                <a:ln>
                  <a:noFill/>
                </a:ln>
                <a:solidFill>
                  <a:schemeClr val="tx1"/>
                </a:solidFill>
                <a:effectLst/>
                <a:latin typeface="Calibri" panose="020F0502020204030204" pitchFamily="34" charset="0"/>
                <a:ea typeface="Lucida Sans"/>
                <a:cs typeface="Times New Roman" panose="02020603050405020304" pitchFamily="18" charset="0"/>
              </a:rPr>
              <a:t>256 QAM	Modems, DVB-C (Europe), Digital Video (US)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143000" algn="l"/>
              </a:tabLst>
            </a:pPr>
            <a:endParaRPr kumimoji="0" lang="en-US" altLang="en-US" sz="2400" b="0" i="0" u="none" strike="noStrike" cap="none" normalizeH="0" baseline="0" dirty="0">
              <a:ln>
                <a:noFill/>
              </a:ln>
              <a:solidFill>
                <a:schemeClr val="tx1"/>
              </a:solidFill>
              <a:effectLst/>
            </a:endParaRPr>
          </a:p>
        </p:txBody>
      </p:sp>
      <p:sp>
        <p:nvSpPr>
          <p:cNvPr id="13" name="Title 1"/>
          <p:cNvSpPr txBox="1">
            <a:spLocks/>
          </p:cNvSpPr>
          <p:nvPr/>
        </p:nvSpPr>
        <p:spPr>
          <a:xfrm>
            <a:off x="838200" y="-144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3600" b="1" dirty="0">
                <a:solidFill>
                  <a:srgbClr val="C00000"/>
                </a:solidFill>
              </a:rPr>
              <a:t>Digital Modulation Applications</a:t>
            </a:r>
            <a:endParaRPr lang="en-US" sz="3600" b="1" dirty="0">
              <a:solidFill>
                <a:srgbClr val="C00000"/>
              </a:solidFill>
            </a:endParaRPr>
          </a:p>
          <a:p>
            <a:r>
              <a:rPr lang="en-SG" sz="2400" spc="-9" dirty="0">
                <a:solidFill>
                  <a:srgbClr val="C00000"/>
                </a:solidFill>
                <a:latin typeface="Arial Black" panose="020B0A04020102020204" pitchFamily="34" charset="0"/>
                <a:cs typeface="Times New Roman"/>
              </a:rPr>
              <a:t>Applications of Different Modulation Schemes </a:t>
            </a:r>
            <a:endParaRPr lang="en-US" sz="2400" b="1" dirty="0">
              <a:solidFill>
                <a:srgbClr val="C00000"/>
              </a:solidFill>
              <a:latin typeface="Arial Black" panose="020B0A04020102020204" pitchFamily="34" charset="0"/>
            </a:endParaRPr>
          </a:p>
        </p:txBody>
      </p:sp>
      <p:sp>
        <p:nvSpPr>
          <p:cNvPr id="8" name="Rectangle 7">
            <a:extLst>
              <a:ext uri="{FF2B5EF4-FFF2-40B4-BE49-F238E27FC236}">
                <a16:creationId xmlns:a16="http://schemas.microsoft.com/office/drawing/2014/main" id="{E9CC5B7F-22B0-44F3-BA46-1DF378FA5F16}"/>
              </a:ext>
            </a:extLst>
          </p:cNvPr>
          <p:cNvSpPr/>
          <p:nvPr/>
        </p:nvSpPr>
        <p:spPr>
          <a:xfrm>
            <a:off x="-241011" y="6318610"/>
            <a:ext cx="3473836" cy="338554"/>
          </a:xfrm>
          <a:prstGeom prst="rect">
            <a:avLst/>
          </a:prstGeom>
        </p:spPr>
        <p:txBody>
          <a:bodyPr wrap="none">
            <a:spAutoFit/>
          </a:bodyPr>
          <a:lstStyle/>
          <a:p>
            <a:pPr lvl="1"/>
            <a:r>
              <a:rPr lang="en-SG" sz="1600" dirty="0"/>
              <a:t>2.3 Digital Modulation Techniques</a:t>
            </a:r>
          </a:p>
        </p:txBody>
      </p:sp>
      <p:sp>
        <p:nvSpPr>
          <p:cNvPr id="9" name="Footer Placeholder 4">
            <a:extLst>
              <a:ext uri="{FF2B5EF4-FFF2-40B4-BE49-F238E27FC236}">
                <a16:creationId xmlns:a16="http://schemas.microsoft.com/office/drawing/2014/main" id="{F71B4772-DA16-42F5-9772-71090B94CBCC}"/>
              </a:ext>
            </a:extLst>
          </p:cNvPr>
          <p:cNvSpPr txBox="1">
            <a:spLocks/>
          </p:cNvSpPr>
          <p:nvPr/>
        </p:nvSpPr>
        <p:spPr>
          <a:xfrm>
            <a:off x="5431896" y="6356348"/>
            <a:ext cx="232907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200"/>
              <a:t>Page 41 </a:t>
            </a:r>
            <a:r>
              <a:rPr lang="en-SG" sz="1200" dirty="0"/>
              <a:t>of 41</a:t>
            </a:r>
            <a:endParaRPr lang="en-US" sz="1200" dirty="0"/>
          </a:p>
        </p:txBody>
      </p:sp>
      <p:pic>
        <p:nvPicPr>
          <p:cNvPr id="2" name="Pg41">
            <a:hlinkClick r:id="" action="ppaction://media"/>
            <a:extLst>
              <a:ext uri="{FF2B5EF4-FFF2-40B4-BE49-F238E27FC236}">
                <a16:creationId xmlns:a16="http://schemas.microsoft.com/office/drawing/2014/main" id="{4B78C435-5A40-4848-B59A-0C36116B0A5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85614" y="5599500"/>
            <a:ext cx="609600" cy="609600"/>
          </a:xfrm>
          <a:prstGeom prst="rect">
            <a:avLst/>
          </a:prstGeom>
        </p:spPr>
      </p:pic>
    </p:spTree>
    <p:extLst>
      <p:ext uri="{BB962C8B-B14F-4D97-AF65-F5344CB8AC3E}">
        <p14:creationId xmlns:p14="http://schemas.microsoft.com/office/powerpoint/2010/main" val="387385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1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7" name="Rectangle 6">
            <a:extLst>
              <a:ext uri="{FF2B5EF4-FFF2-40B4-BE49-F238E27FC236}">
                <a16:creationId xmlns:a16="http://schemas.microsoft.com/office/drawing/2014/main" id="{21D88621-BFD5-4167-A859-84DBDA46622A}"/>
              </a:ext>
            </a:extLst>
          </p:cNvPr>
          <p:cNvSpPr/>
          <p:nvPr/>
        </p:nvSpPr>
        <p:spPr>
          <a:xfrm>
            <a:off x="4183201" y="1454940"/>
            <a:ext cx="3825598" cy="2123658"/>
          </a:xfrm>
          <a:prstGeom prst="rect">
            <a:avLst/>
          </a:prstGeom>
          <a:noFill/>
        </p:spPr>
        <p:txBody>
          <a:bodyPr wrap="none" lIns="91440" tIns="45720" rIns="91440" bIns="45720">
            <a:spAutoFit/>
          </a:bodyPr>
          <a:lstStyle/>
          <a:p>
            <a:pPr algn="ctr"/>
            <a:r>
              <a:rPr lang="en-SG" sz="6600" b="1" dirty="0">
                <a:ln w="22225">
                  <a:solidFill>
                    <a:schemeClr val="accent2"/>
                  </a:solidFill>
                  <a:prstDash val="solid"/>
                </a:ln>
                <a:solidFill>
                  <a:schemeClr val="accent2">
                    <a:lumMod val="40000"/>
                    <a:lumOff val="60000"/>
                  </a:schemeClr>
                </a:solidFill>
                <a:cs typeface="Calibri" panose="020F0502020204030204" pitchFamily="34" charset="0"/>
              </a:rPr>
              <a:t>Thank you</a:t>
            </a:r>
          </a:p>
          <a:p>
            <a:pPr algn="ctr"/>
            <a:endParaRPr lang="en-SG" sz="6600" b="1" dirty="0">
              <a:ln w="22225">
                <a:solidFill>
                  <a:schemeClr val="accent2"/>
                </a:solidFill>
                <a:prstDash val="solid"/>
              </a:ln>
              <a:solidFill>
                <a:schemeClr val="accent2">
                  <a:lumMod val="40000"/>
                  <a:lumOff val="60000"/>
                </a:schemeClr>
              </a:solidFill>
              <a:cs typeface="Calibri" panose="020F0502020204030204" pitchFamily="34" charset="0"/>
            </a:endParaRPr>
          </a:p>
        </p:txBody>
      </p:sp>
      <p:pic>
        <p:nvPicPr>
          <p:cNvPr id="2" name="Pg37">
            <a:hlinkClick r:id="" action="ppaction://media"/>
            <a:extLst>
              <a:ext uri="{FF2B5EF4-FFF2-40B4-BE49-F238E27FC236}">
                <a16:creationId xmlns:a16="http://schemas.microsoft.com/office/drawing/2014/main" id="{E2AE13B3-2B90-425A-A467-E5115A8D3BD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4083" y="5403060"/>
            <a:ext cx="609600" cy="609600"/>
          </a:xfrm>
          <a:prstGeom prst="rect">
            <a:avLst/>
          </a:prstGeom>
        </p:spPr>
      </p:pic>
      <p:sp>
        <p:nvSpPr>
          <p:cNvPr id="3" name="Rectangle 2">
            <a:extLst>
              <a:ext uri="{FF2B5EF4-FFF2-40B4-BE49-F238E27FC236}">
                <a16:creationId xmlns:a16="http://schemas.microsoft.com/office/drawing/2014/main" id="{3C283207-8931-EBB4-46DA-7958BF0E6011}"/>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3054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23619</TotalTime>
  <Words>1825</Words>
  <Application>Microsoft Office PowerPoint</Application>
  <PresentationFormat>Widescreen</PresentationFormat>
  <Paragraphs>338</Paragraphs>
  <Slides>26</Slides>
  <Notes>15</Notes>
  <HiddenSlides>0</HiddenSlides>
  <MMClips>20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 Black</vt:lpstr>
      <vt:lpstr>Calibri</vt:lpstr>
      <vt:lpstr>Calibri Light</vt:lpstr>
      <vt:lpstr>Helvetica</vt:lpstr>
      <vt:lpstr>Roboto</vt:lpstr>
      <vt:lpstr>Symbol</vt:lpstr>
      <vt:lpstr>Times New Roman</vt:lpstr>
      <vt:lpstr>Wingdings</vt:lpstr>
      <vt:lpstr>Office Theme</vt:lpstr>
      <vt:lpstr>Module EGE321 Wireless Communication &amp; Networking Chapter 2.3 Digital Modulation Techniques</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Wireless System Implemetation &amp; Tests 1. Wireless Network Deployment</dc:title>
  <dc:creator>LIM TECK BENG</dc:creator>
  <cp:lastModifiedBy>Chang Fatt LEE (NYP)</cp:lastModifiedBy>
  <cp:revision>322</cp:revision>
  <cp:lastPrinted>2017-03-28T07:01:02Z</cp:lastPrinted>
  <dcterms:created xsi:type="dcterms:W3CDTF">2016-03-19T14:52:50Z</dcterms:created>
  <dcterms:modified xsi:type="dcterms:W3CDTF">2025-10-24T06:23:36Z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be128f-e2ab-4b18-9c62-301caee5e80a_Enabled">
    <vt:lpwstr>true</vt:lpwstr>
  </property>
  <property fmtid="{D5CDD505-2E9C-101B-9397-08002B2CF9AE}" pid="3" name="MSIP_Label_babe128f-e2ab-4b18-9c62-301caee5e80a_SetDate">
    <vt:lpwstr>2023-11-26T06:00:41Z</vt:lpwstr>
  </property>
  <property fmtid="{D5CDD505-2E9C-101B-9397-08002B2CF9AE}" pid="4" name="MSIP_Label_babe128f-e2ab-4b18-9c62-301caee5e80a_Method">
    <vt:lpwstr>Privileged</vt:lpwstr>
  </property>
  <property fmtid="{D5CDD505-2E9C-101B-9397-08002B2CF9AE}" pid="5" name="MSIP_Label_babe128f-e2ab-4b18-9c62-301caee5e80a_Name">
    <vt:lpwstr>OFFICIAL [OPEN]</vt:lpwstr>
  </property>
  <property fmtid="{D5CDD505-2E9C-101B-9397-08002B2CF9AE}" pid="6" name="MSIP_Label_babe128f-e2ab-4b18-9c62-301caee5e80a_SiteId">
    <vt:lpwstr>243ebaed-00d0-4690-a7dc-75893b0d9f98</vt:lpwstr>
  </property>
  <property fmtid="{D5CDD505-2E9C-101B-9397-08002B2CF9AE}" pid="7" name="MSIP_Label_babe128f-e2ab-4b18-9c62-301caee5e80a_ActionId">
    <vt:lpwstr>0282cd87-d6ac-4af4-a00a-12f7b94d41c0</vt:lpwstr>
  </property>
  <property fmtid="{D5CDD505-2E9C-101B-9397-08002B2CF9AE}" pid="8" name="MSIP_Label_babe128f-e2ab-4b18-9c62-301caee5e80a_ContentBits">
    <vt:lpwstr>1</vt:lpwstr>
  </property>
  <property fmtid="{D5CDD505-2E9C-101B-9397-08002B2CF9AE}" pid="9" name="ClassificationContentMarkingHeaderLocations">
    <vt:lpwstr>Office Theme:5</vt:lpwstr>
  </property>
  <property fmtid="{D5CDD505-2E9C-101B-9397-08002B2CF9AE}" pid="10" name="ClassificationContentMarkingHeaderText">
    <vt:lpwstr>Official (Open)</vt:lpwstr>
  </property>
</Properties>
</file>