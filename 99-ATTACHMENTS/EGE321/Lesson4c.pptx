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79" r:id="rId4"/>
    <p:sldId id="327" r:id="rId5"/>
    <p:sldId id="392" r:id="rId6"/>
    <p:sldId id="393" r:id="rId7"/>
    <p:sldId id="331" r:id="rId8"/>
    <p:sldId id="332" r:id="rId9"/>
    <p:sldId id="340" r:id="rId10"/>
    <p:sldId id="390" r:id="rId11"/>
    <p:sldId id="606" r:id="rId12"/>
    <p:sldId id="341" r:id="rId13"/>
    <p:sldId id="350" r:id="rId14"/>
    <p:sldId id="345" r:id="rId15"/>
    <p:sldId id="346" r:id="rId16"/>
    <p:sldId id="347" r:id="rId17"/>
    <p:sldId id="351" r:id="rId18"/>
    <p:sldId id="348" r:id="rId19"/>
    <p:sldId id="385" r:id="rId20"/>
    <p:sldId id="349" r:id="rId21"/>
    <p:sldId id="353" r:id="rId22"/>
    <p:sldId id="358" r:id="rId23"/>
    <p:sldId id="359" r:id="rId24"/>
    <p:sldId id="386" r:id="rId25"/>
    <p:sldId id="360" r:id="rId26"/>
    <p:sldId id="389" r:id="rId27"/>
    <p:sldId id="607" r:id="rId28"/>
    <p:sldId id="610" r:id="rId29"/>
    <p:sldId id="608" r:id="rId30"/>
    <p:sldId id="394" r:id="rId31"/>
    <p:sldId id="60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12199" autoAdjust="0"/>
    <p:restoredTop sz="94434" autoAdjust="0"/>
  </p:normalViewPr>
  <p:slideViewPr>
    <p:cSldViewPr snapToGrid="0">
      <p:cViewPr varScale="1">
        <p:scale>
          <a:sx n="72" d="100"/>
          <a:sy n="72" d="100"/>
        </p:scale>
        <p:origin x="764" y="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05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03C14-3C46-449B-91D3-779C3EAC396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627CE-1CF8-444E-9F93-C191CD301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139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627CE-1CF8-444E-9F93-C191CD3011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79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3627CE-1CF8-444E-9F93-C191CD3011D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59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627CE-1CF8-444E-9F93-C191CD3011D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01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627CE-1CF8-444E-9F93-C191CD3011D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349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024730" y="6356348"/>
            <a:ext cx="2329070" cy="365125"/>
          </a:xfrm>
          <a:prstGeom prst="rect">
            <a:avLst/>
          </a:prstGeom>
        </p:spPr>
        <p:txBody>
          <a:bodyPr/>
          <a:lstStyle/>
          <a:p>
            <a:r>
              <a:rPr lang="en-SG" dirty="0"/>
              <a:t>Effective Date: 20 April 2020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24400" y="635634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Page </a:t>
            </a:r>
            <a:fld id="{3AE61142-E722-463F-A30E-82CE7BA425BB}" type="slidenum">
              <a:rPr lang="en-US" smtClean="0"/>
              <a:pPr/>
              <a:t>‹#›</a:t>
            </a:fld>
            <a:r>
              <a:rPr lang="en-US" dirty="0"/>
              <a:t> of 60</a:t>
            </a:r>
          </a:p>
        </p:txBody>
      </p:sp>
    </p:spTree>
    <p:extLst>
      <p:ext uri="{BB962C8B-B14F-4D97-AF65-F5344CB8AC3E}">
        <p14:creationId xmlns:p14="http://schemas.microsoft.com/office/powerpoint/2010/main" val="375595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309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1175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024730" y="6356348"/>
            <a:ext cx="2329070" cy="365125"/>
          </a:xfrm>
          <a:prstGeom prst="rect">
            <a:avLst/>
          </a:prstGeom>
        </p:spPr>
        <p:txBody>
          <a:bodyPr/>
          <a:lstStyle/>
          <a:p>
            <a:r>
              <a:rPr lang="en-SG" dirty="0"/>
              <a:t>Effective Date: 21 April 2020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24400" y="635634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Page </a:t>
            </a:r>
            <a:fld id="{A862897D-0F50-4425-B5E1-82FAA232DFBF}" type="slidenum">
              <a:rPr lang="en-US" smtClean="0"/>
              <a:pPr/>
              <a:t>‹#›</a:t>
            </a:fld>
            <a:r>
              <a:rPr lang="en-US" dirty="0"/>
              <a:t> of 60</a:t>
            </a:r>
          </a:p>
        </p:txBody>
      </p:sp>
    </p:spTree>
    <p:extLst>
      <p:ext uri="{BB962C8B-B14F-4D97-AF65-F5344CB8AC3E}">
        <p14:creationId xmlns:p14="http://schemas.microsoft.com/office/powerpoint/2010/main" val="1473570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983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44787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44787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024730" y="6356348"/>
            <a:ext cx="2329070" cy="365125"/>
          </a:xfrm>
          <a:prstGeom prst="rect">
            <a:avLst/>
          </a:prstGeom>
        </p:spPr>
        <p:txBody>
          <a:bodyPr/>
          <a:lstStyle/>
          <a:p>
            <a:r>
              <a:rPr lang="en-SG" dirty="0"/>
              <a:t>Effective Date: 20 April 2020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724400" y="635634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Page </a:t>
            </a:r>
            <a:fld id="{A862897D-0F50-4425-B5E1-82FAA232DFBF}" type="slidenum">
              <a:rPr lang="en-US" smtClean="0"/>
              <a:pPr/>
              <a:t>‹#›</a:t>
            </a:fld>
            <a:r>
              <a:rPr lang="en-US" dirty="0"/>
              <a:t> of 60</a:t>
            </a:r>
          </a:p>
        </p:txBody>
      </p:sp>
    </p:spTree>
    <p:extLst>
      <p:ext uri="{BB962C8B-B14F-4D97-AF65-F5344CB8AC3E}">
        <p14:creationId xmlns:p14="http://schemas.microsoft.com/office/powerpoint/2010/main" val="472257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662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024730" y="6356348"/>
            <a:ext cx="2329070" cy="365125"/>
          </a:xfrm>
          <a:prstGeom prst="rect">
            <a:avLst/>
          </a:prstGeom>
        </p:spPr>
        <p:txBody>
          <a:bodyPr/>
          <a:lstStyle/>
          <a:p>
            <a:r>
              <a:rPr lang="en-SG" dirty="0"/>
              <a:t>Effective Date: 20 April 2020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724400" y="635634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Page </a:t>
            </a:r>
            <a:fld id="{A862897D-0F50-4425-B5E1-82FAA232DFBF}" type="slidenum">
              <a:rPr lang="en-US" smtClean="0"/>
              <a:pPr/>
              <a:t>‹#›</a:t>
            </a:fld>
            <a:r>
              <a:rPr lang="en-US" dirty="0"/>
              <a:t> of 60</a:t>
            </a:r>
          </a:p>
        </p:txBody>
      </p:sp>
    </p:spTree>
    <p:extLst>
      <p:ext uri="{BB962C8B-B14F-4D97-AF65-F5344CB8AC3E}">
        <p14:creationId xmlns:p14="http://schemas.microsoft.com/office/powerpoint/2010/main" val="2751503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959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024730" y="6356348"/>
            <a:ext cx="2329070" cy="365125"/>
          </a:xfrm>
          <a:prstGeom prst="rect">
            <a:avLst/>
          </a:prstGeom>
        </p:spPr>
        <p:txBody>
          <a:bodyPr/>
          <a:lstStyle/>
          <a:p>
            <a:r>
              <a:rPr lang="en-SG" dirty="0"/>
              <a:t>Effective Date: 20 April 2020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724400" y="635634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Page </a:t>
            </a:r>
            <a:fld id="{A862897D-0F50-4425-B5E1-82FAA232DFBF}" type="slidenum">
              <a:rPr lang="en-US" smtClean="0"/>
              <a:pPr/>
              <a:t>‹#›</a:t>
            </a:fld>
            <a:r>
              <a:rPr lang="en-US" dirty="0"/>
              <a:t> of 60</a:t>
            </a:r>
          </a:p>
        </p:txBody>
      </p:sp>
    </p:spTree>
    <p:extLst>
      <p:ext uri="{BB962C8B-B14F-4D97-AF65-F5344CB8AC3E}">
        <p14:creationId xmlns:p14="http://schemas.microsoft.com/office/powerpoint/2010/main" val="412516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024730" y="6356348"/>
            <a:ext cx="2329070" cy="365125"/>
          </a:xfrm>
          <a:prstGeom prst="rect">
            <a:avLst/>
          </a:prstGeom>
        </p:spPr>
        <p:txBody>
          <a:bodyPr/>
          <a:lstStyle/>
          <a:p>
            <a:r>
              <a:rPr lang="en-SG" dirty="0"/>
              <a:t>Effective Date: 20 April 2020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724400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A862897D-0F50-4425-B5E1-82FAA232D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135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8" descr="Corporate NYP Logo_Horizontal_RGB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6383" y="161019"/>
            <a:ext cx="2101771" cy="550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E884B8-0192-B159-C6D8-742A9BB73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0" y="0"/>
            <a:ext cx="7747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 (Open)</a:t>
            </a:r>
          </a:p>
        </p:txBody>
      </p:sp>
    </p:spTree>
    <p:extLst>
      <p:ext uri="{BB962C8B-B14F-4D97-AF65-F5344CB8AC3E}">
        <p14:creationId xmlns:p14="http://schemas.microsoft.com/office/powerpoint/2010/main" val="3503397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wmf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oleObject" Target="../embeddings/oleObject1.bin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2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2.png"/><Relationship Id="rId5" Type="http://schemas.openxmlformats.org/officeDocument/2006/relationships/image" Target="../media/image9.w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11.jpeg"/><Relationship Id="rId5" Type="http://schemas.openxmlformats.org/officeDocument/2006/relationships/image" Target="../media/image10.w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xPiMMvZ5zTQ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6" Type="http://schemas.openxmlformats.org/officeDocument/2006/relationships/image" Target="../media/image2.png"/><Relationship Id="rId5" Type="http://schemas.openxmlformats.org/officeDocument/2006/relationships/image" Target="../media/image15.wmf"/><Relationship Id="rId4" Type="http://schemas.openxmlformats.org/officeDocument/2006/relationships/oleObject" Target="../embeddings/oleObject5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6" Type="http://schemas.openxmlformats.org/officeDocument/2006/relationships/image" Target="../media/image2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60.png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5" Type="http://schemas.openxmlformats.org/officeDocument/2006/relationships/image" Target="../media/image18.wmf"/><Relationship Id="rId4" Type="http://schemas.openxmlformats.org/officeDocument/2006/relationships/oleObject" Target="../embeddings/oleObject6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0.wmf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6" Type="http://schemas.openxmlformats.org/officeDocument/2006/relationships/oleObject" Target="../embeddings/oleObject8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7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5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6" Type="http://schemas.openxmlformats.org/officeDocument/2006/relationships/image" Target="../media/image22.wmf"/><Relationship Id="rId5" Type="http://schemas.openxmlformats.org/officeDocument/2006/relationships/oleObject" Target="../embeddings/oleObject9.bin"/><Relationship Id="rId4" Type="http://schemas.openxmlformats.org/officeDocument/2006/relationships/notesSlide" Target="../notesSlides/notesSlide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6" Type="http://schemas.openxmlformats.org/officeDocument/2006/relationships/image" Target="../media/image2.png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0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wmf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1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3.bin"/><Relationship Id="rId4" Type="http://schemas.openxmlformats.org/officeDocument/2006/relationships/notesSlide" Target="../notesSlides/notesSlide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ymF3ZMlp4f8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3.jpeg"/><Relationship Id="rId4" Type="http://schemas.openxmlformats.org/officeDocument/2006/relationships/hyperlink" Target="https://youtu.be/VpBsqt4DuXs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3ba8ytGTcP8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13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ssYxLkdHRyU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13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4.mp3"/><Relationship Id="rId1" Type="http://schemas.microsoft.com/office/2007/relationships/media" Target="../media/media24.mp3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5.mp3"/><Relationship Id="rId1" Type="http://schemas.microsoft.com/office/2007/relationships/media" Target="../media/media25.mp3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SG" sz="2800" b="1" dirty="0"/>
              <a:t>Module EGE321</a:t>
            </a:r>
            <a:br>
              <a:rPr lang="en-SG" sz="2800" b="1" dirty="0"/>
            </a:br>
            <a:r>
              <a:rPr lang="en-SG" sz="4000" b="1" dirty="0"/>
              <a:t>Wireless Communication &amp; Networking</a:t>
            </a:r>
            <a:br>
              <a:rPr lang="en-SG" sz="4000" b="1" dirty="0"/>
            </a:br>
            <a:r>
              <a:rPr lang="en-SG" sz="2800" dirty="0"/>
              <a:t>Chapter 2.2 Radio Propagation and Link Budget</a:t>
            </a:r>
            <a:endParaRPr lang="en-US" sz="2800" dirty="0"/>
          </a:p>
        </p:txBody>
      </p:sp>
      <p:sp>
        <p:nvSpPr>
          <p:cNvPr id="9" name="Rectangle 8"/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3" name="Pg1">
            <a:hlinkClick r:id="" action="ppaction://media"/>
            <a:extLst>
              <a:ext uri="{FF2B5EF4-FFF2-40B4-BE49-F238E27FC236}">
                <a16:creationId xmlns:a16="http://schemas.microsoft.com/office/drawing/2014/main" id="{9A3A4694-E443-4BC5-8336-B4A4CE2ACBA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928485" y="570526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96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1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Contents</a:t>
            </a:r>
            <a:r>
              <a:rPr lang="en-SG" sz="3200" dirty="0"/>
              <a:t>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SG" dirty="0"/>
              <a:t>2.2		Radio Propagation and Link Budget</a:t>
            </a:r>
          </a:p>
          <a:p>
            <a:pPr marL="457200" lvl="1" indent="0">
              <a:buNone/>
            </a:pPr>
            <a:r>
              <a:rPr lang="en-SG" dirty="0"/>
              <a:t>		</a:t>
            </a:r>
            <a:r>
              <a:rPr lang="en-SG" b="1" dirty="0">
                <a:highlight>
                  <a:srgbClr val="00FF00"/>
                </a:highlight>
              </a:rPr>
              <a:t>2.2.1  	Electromagnetic Wave Propagation</a:t>
            </a:r>
          </a:p>
          <a:p>
            <a:pPr marL="457200" lvl="1" indent="0">
              <a:buNone/>
            </a:pPr>
            <a:r>
              <a:rPr lang="en-SG" b="1" dirty="0"/>
              <a:t>		</a:t>
            </a:r>
            <a:r>
              <a:rPr lang="en-SG" b="1" dirty="0">
                <a:highlight>
                  <a:srgbClr val="00FF00"/>
                </a:highlight>
              </a:rPr>
              <a:t>2.2.2	Propagation Path Loss Model</a:t>
            </a:r>
          </a:p>
          <a:p>
            <a:pPr marL="457200" lvl="1" indent="0">
              <a:buNone/>
            </a:pPr>
            <a:r>
              <a:rPr lang="en-SG" dirty="0"/>
              <a:t>		2.2.3	Link Performance Analysis</a:t>
            </a:r>
          </a:p>
          <a:p>
            <a:pPr marL="457200" lvl="1" indent="0">
              <a:buNone/>
            </a:pPr>
            <a:r>
              <a:rPr lang="en-SG" dirty="0"/>
              <a:t>		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E29A67-AA8A-407E-8B4C-D1AC022121F0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4" name="Pg2">
            <a:hlinkClick r:id="" action="ppaction://media"/>
            <a:extLst>
              <a:ext uri="{FF2B5EF4-FFF2-40B4-BE49-F238E27FC236}">
                <a16:creationId xmlns:a16="http://schemas.microsoft.com/office/drawing/2014/main" id="{ABBD59B8-3157-4DBE-9916-B226A98E16E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48406" y="570901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41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91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875420" y="1272167"/>
            <a:ext cx="6393607" cy="4295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spcAft>
                <a:spcPct val="0"/>
              </a:spcAft>
              <a:buSzPct val="80000"/>
              <a:buFont typeface="Wingdings" pitchFamily="2" charset="2"/>
              <a:buChar char="l"/>
              <a:tabLst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SimSun" pitchFamily="2" charset="-122"/>
              </a:rPr>
              <a:t>The entire range of frequencies that is occupied by the electromagnetic waves is referred as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SimSun" pitchFamily="2" charset="-122"/>
              </a:rPr>
              <a:t>electromagnetic spectrum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SimSun" pitchFamily="2" charset="-122"/>
            </a:endParaRPr>
          </a:p>
          <a:p>
            <a:pPr marL="342900" marR="0" lvl="0" indent="-342900" algn="l" defTabSz="914400" rtl="0" eaLnBrk="1" fontAlgn="base" latinLnBrk="0" hangingPunct="1">
              <a:spcAft>
                <a:spcPct val="0"/>
              </a:spcAft>
              <a:buSzPct val="80000"/>
              <a:buFont typeface="Wingdings" pitchFamily="2" charset="2"/>
              <a:buChar char="l"/>
              <a:tabLst/>
              <a:defRPr/>
            </a:pPr>
            <a:r>
              <a:rPr lang="en-GB" sz="2400" dirty="0">
                <a:latin typeface="+mn-lt"/>
              </a:rPr>
              <a:t>Allocation of frequencies is made by world-wide agreements under the control of the </a:t>
            </a:r>
            <a:r>
              <a:rPr lang="en-GB" sz="2400" b="1" dirty="0">
                <a:latin typeface="+mn-lt"/>
              </a:rPr>
              <a:t>International Telecommunications Union (ITU)</a:t>
            </a:r>
          </a:p>
          <a:p>
            <a:pPr marL="342900" marR="0" lvl="0" indent="-342900" algn="l" defTabSz="914400" rtl="0" eaLnBrk="1" fontAlgn="base" latinLnBrk="0" hangingPunct="1">
              <a:spcAft>
                <a:spcPct val="0"/>
              </a:spcAft>
              <a:buSzPct val="80000"/>
              <a:buFont typeface="Wingdings" pitchFamily="2" charset="2"/>
              <a:buChar char="l"/>
              <a:tabLst/>
              <a:defRPr/>
            </a:pPr>
            <a:r>
              <a:rPr lang="en-GB" sz="2400" dirty="0">
                <a:latin typeface="+mn-lt"/>
              </a:rPr>
              <a:t>Representatives from different countries meet at regular ITU conference to decide what services should be allowed to use which frequencies</a:t>
            </a:r>
          </a:p>
          <a:p>
            <a:pPr marL="342900" marR="0" lvl="0" indent="-342900" algn="l" defTabSz="914400" rtl="0" eaLnBrk="1" fontAlgn="base" latinLnBrk="0" hangingPunct="1">
              <a:spcAft>
                <a:spcPct val="0"/>
              </a:spcAft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 sz="2400" dirty="0">
                <a:latin typeface="+mn-lt"/>
                <a:ea typeface="宋体" pitchFamily="2" charset="-122"/>
              </a:rPr>
              <a:t>These are necessary so as not to cause interference to each other’s transmission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tabLst/>
              <a:defRPr/>
            </a:pPr>
            <a:endParaRPr kumimoji="0" lang="en-US" altLang="zh-CN" sz="1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SimSun" pitchFamily="2" charset="-122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7413344" y="769285"/>
            <a:ext cx="5082776" cy="5660870"/>
            <a:chOff x="7823904" y="-201997"/>
            <a:chExt cx="4405198" cy="5343555"/>
          </a:xfrm>
        </p:grpSpPr>
        <p:pic>
          <p:nvPicPr>
            <p:cNvPr id="7" name="Picture 5" descr="Spectrum"/>
            <p:cNvPicPr>
              <a:picLocks noChangeAspect="1" noChangeArrowheads="1"/>
            </p:cNvPicPr>
            <p:nvPr/>
          </p:nvPicPr>
          <p:blipFill>
            <a:blip r:embed="rId4" cstate="print"/>
            <a:srcRect r="53452"/>
            <a:stretch>
              <a:fillRect/>
            </a:stretch>
          </p:blipFill>
          <p:spPr bwMode="auto">
            <a:xfrm>
              <a:off x="7823904" y="272696"/>
              <a:ext cx="1619250" cy="4868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9264064" y="566395"/>
              <a:ext cx="2488224" cy="4524315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200" dirty="0"/>
                <a:t>Legend:</a:t>
              </a:r>
            </a:p>
            <a:p>
              <a:r>
                <a:rPr lang="en-US" sz="1200" dirty="0"/>
                <a:t>γ = Gamma rays</a:t>
              </a:r>
            </a:p>
            <a:p>
              <a:r>
                <a:rPr lang="en-US" sz="1200" dirty="0"/>
                <a:t>HX = Hard X-rays</a:t>
              </a:r>
            </a:p>
            <a:p>
              <a:r>
                <a:rPr lang="en-US" sz="1200" dirty="0"/>
                <a:t>SX = Soft X-Rays</a:t>
              </a:r>
            </a:p>
            <a:p>
              <a:r>
                <a:rPr lang="en-US" sz="1200" dirty="0"/>
                <a:t>EUV = Extreme ultraviolet</a:t>
              </a:r>
            </a:p>
            <a:p>
              <a:r>
                <a:rPr lang="en-US" sz="1200" dirty="0"/>
                <a:t>NUV = Near ultraviolet</a:t>
              </a:r>
            </a:p>
            <a:p>
              <a:r>
                <a:rPr lang="en-US" sz="1200" dirty="0"/>
                <a:t>Visible light</a:t>
              </a:r>
            </a:p>
            <a:p>
              <a:r>
                <a:rPr lang="en-US" sz="1200" dirty="0"/>
                <a:t>NIR = Near infrared</a:t>
              </a:r>
            </a:p>
            <a:p>
              <a:r>
                <a:rPr lang="en-US" sz="1200" dirty="0"/>
                <a:t>MIR = Moderate infrared</a:t>
              </a:r>
            </a:p>
            <a:p>
              <a:r>
                <a:rPr lang="en-US" sz="1200" dirty="0"/>
                <a:t>FIR = Far infrared</a:t>
              </a:r>
            </a:p>
            <a:p>
              <a:endParaRPr lang="en-US" sz="1200" dirty="0"/>
            </a:p>
            <a:p>
              <a:r>
                <a:rPr lang="en-US" sz="1200" dirty="0"/>
                <a:t>Radio waves:</a:t>
              </a:r>
            </a:p>
            <a:p>
              <a:r>
                <a:rPr lang="en-US" sz="1200" dirty="0"/>
                <a:t>EHF = Extremely high frequency (Microwaves)</a:t>
              </a:r>
            </a:p>
            <a:p>
              <a:r>
                <a:rPr lang="en-US" sz="1200" dirty="0"/>
                <a:t>SHF = Super high frequency (Microwaves)</a:t>
              </a:r>
            </a:p>
            <a:p>
              <a:r>
                <a:rPr lang="en-US" sz="1200" dirty="0"/>
                <a:t>UHF = Ultrahigh frequency</a:t>
              </a:r>
            </a:p>
            <a:p>
              <a:r>
                <a:rPr lang="en-US" sz="1200" dirty="0"/>
                <a:t>VHF = Very high frequency</a:t>
              </a:r>
            </a:p>
            <a:p>
              <a:r>
                <a:rPr lang="en-US" sz="1200" dirty="0"/>
                <a:t>HF = High frequency</a:t>
              </a:r>
            </a:p>
            <a:p>
              <a:r>
                <a:rPr lang="en-US" sz="1200" dirty="0"/>
                <a:t>MF = Medium frequency</a:t>
              </a:r>
            </a:p>
            <a:p>
              <a:r>
                <a:rPr lang="en-US" sz="1200" dirty="0"/>
                <a:t>LF = Low frequency</a:t>
              </a:r>
            </a:p>
            <a:p>
              <a:r>
                <a:rPr lang="en-US" sz="1200" dirty="0"/>
                <a:t>VLF = Very low frequency</a:t>
              </a:r>
            </a:p>
            <a:p>
              <a:r>
                <a:rPr lang="en-US" sz="1200" dirty="0"/>
                <a:t>VF = Voice frequency</a:t>
              </a:r>
            </a:p>
            <a:p>
              <a:r>
                <a:rPr lang="en-US" sz="1200" dirty="0"/>
                <a:t>ELF = Extremely low frequency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9998664" y="-201997"/>
              <a:ext cx="2230438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sz="1000" dirty="0"/>
                <a:t>GHz = Gigahertz (10</a:t>
              </a:r>
              <a:r>
                <a:rPr lang="en-GB" sz="1000" baseline="30000" dirty="0"/>
                <a:t>9</a:t>
              </a:r>
              <a:r>
                <a:rPr lang="en-GB" sz="1000" dirty="0"/>
                <a:t>) (billion)</a:t>
              </a:r>
            </a:p>
            <a:p>
              <a:pPr eaLnBrk="1" hangingPunct="1"/>
              <a:r>
                <a:rPr lang="en-GB" sz="1000" dirty="0"/>
                <a:t>THz = Terahertz (10</a:t>
              </a:r>
              <a:r>
                <a:rPr lang="en-GB" sz="1000" baseline="30000" dirty="0"/>
                <a:t>12</a:t>
              </a:r>
              <a:r>
                <a:rPr lang="en-GB" sz="1000" dirty="0"/>
                <a:t>) (Trillion)</a:t>
              </a:r>
            </a:p>
            <a:p>
              <a:pPr eaLnBrk="1" hangingPunct="1"/>
              <a:r>
                <a:rPr lang="en-GB" sz="1000" dirty="0"/>
                <a:t>PHz = </a:t>
              </a:r>
              <a:r>
                <a:rPr lang="en-GB" sz="1000" dirty="0" err="1"/>
                <a:t>Petahertz</a:t>
              </a:r>
              <a:r>
                <a:rPr lang="en-GB" sz="1000" dirty="0"/>
                <a:t> (10</a:t>
              </a:r>
              <a:r>
                <a:rPr lang="en-GB" sz="1000" baseline="30000" dirty="0"/>
                <a:t>15</a:t>
              </a:r>
              <a:r>
                <a:rPr lang="en-GB" sz="1000" dirty="0"/>
                <a:t>) (Quadrillion)</a:t>
              </a:r>
            </a:p>
            <a:p>
              <a:pPr eaLnBrk="1" hangingPunct="1"/>
              <a:r>
                <a:rPr lang="en-GB" sz="1000" dirty="0"/>
                <a:t>EHz = </a:t>
              </a:r>
              <a:r>
                <a:rPr lang="en-GB" sz="1000" dirty="0" err="1"/>
                <a:t>Exahertz</a:t>
              </a:r>
              <a:r>
                <a:rPr lang="en-GB" sz="1000" dirty="0"/>
                <a:t> (10</a:t>
              </a:r>
              <a:r>
                <a:rPr lang="en-GB" sz="1000" baseline="30000" dirty="0"/>
                <a:t>18</a:t>
              </a:r>
              <a:r>
                <a:rPr lang="en-GB" sz="1000" dirty="0"/>
                <a:t>) (Quintillion)</a:t>
              </a:r>
              <a:endParaRPr lang="en-US" sz="1000" dirty="0"/>
            </a:p>
          </p:txBody>
        </p:sp>
      </p:grpSp>
      <p:sp>
        <p:nvSpPr>
          <p:cNvPr id="17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600" b="1" dirty="0">
                <a:solidFill>
                  <a:srgbClr val="C00000"/>
                </a:solidFill>
                <a:latin typeface="+mn-lt"/>
              </a:rPr>
              <a:t>Electromagnetic Wave Propagation</a:t>
            </a:r>
          </a:p>
          <a:p>
            <a:pPr fontAlgn="auto">
              <a:spcAft>
                <a:spcPts val="0"/>
              </a:spcAft>
            </a:pPr>
            <a:r>
              <a:rPr lang="en-SG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>Electromagnetic(EM) Spectrum (1)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3AD303-2DFA-4EEA-B753-AD76F6DFFCB1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2" name="Pg3">
            <a:hlinkClick r:id="" action="ppaction://media"/>
            <a:extLst>
              <a:ext uri="{FF2B5EF4-FFF2-40B4-BE49-F238E27FC236}">
                <a16:creationId xmlns:a16="http://schemas.microsoft.com/office/drawing/2014/main" id="{986E1FF3-230F-4B95-8DC5-541AA8A9BF3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922611" y="589558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61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39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146449" y="922441"/>
            <a:ext cx="11551565" cy="48244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>
                <a:ea typeface="宋体" pitchFamily="2" charset="-122"/>
              </a:rPr>
              <a:t>Information to be transmitted must be converted into signals that is </a:t>
            </a:r>
            <a:r>
              <a:rPr lang="en-US" altLang="zh-CN" sz="2400" b="1" dirty="0">
                <a:solidFill>
                  <a:srgbClr val="0000FF"/>
                </a:solidFill>
                <a:ea typeface="宋体" pitchFamily="2" charset="-122"/>
              </a:rPr>
              <a:t>compatible with the transmitting medium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>
                <a:ea typeface="宋体" pitchFamily="2" charset="-122"/>
              </a:rPr>
              <a:t>The information is converted into an electrical signal which consists of both </a:t>
            </a:r>
            <a:r>
              <a:rPr lang="en-US" altLang="zh-CN" sz="2400" b="1" dirty="0">
                <a:solidFill>
                  <a:srgbClr val="0000FF"/>
                </a:solidFill>
                <a:ea typeface="宋体" pitchFamily="2" charset="-122"/>
              </a:rPr>
              <a:t>Electric (E)</a:t>
            </a:r>
            <a:r>
              <a:rPr lang="en-US" altLang="zh-CN" sz="2400" dirty="0">
                <a:ea typeface="宋体" pitchFamily="2" charset="-122"/>
              </a:rPr>
              <a:t> and </a:t>
            </a:r>
            <a:r>
              <a:rPr lang="en-US" altLang="zh-CN" sz="2400" b="1" dirty="0">
                <a:solidFill>
                  <a:srgbClr val="0000FF"/>
                </a:solidFill>
                <a:ea typeface="宋体" pitchFamily="2" charset="-122"/>
              </a:rPr>
              <a:t>Magnetic (M)</a:t>
            </a:r>
            <a:r>
              <a:rPr lang="en-US" altLang="zh-CN" sz="2400" dirty="0">
                <a:solidFill>
                  <a:srgbClr val="3333CC"/>
                </a:solidFill>
                <a:ea typeface="宋体" pitchFamily="2" charset="-122"/>
              </a:rPr>
              <a:t> </a:t>
            </a:r>
            <a:r>
              <a:rPr lang="en-US" altLang="zh-CN" sz="2400" dirty="0">
                <a:ea typeface="宋体" pitchFamily="2" charset="-122"/>
              </a:rPr>
              <a:t>fields.  This is called a </a:t>
            </a:r>
            <a:r>
              <a:rPr lang="en-US" altLang="zh-CN" sz="2400" b="1" dirty="0">
                <a:solidFill>
                  <a:srgbClr val="0000FF"/>
                </a:solidFill>
                <a:ea typeface="宋体" pitchFamily="2" charset="-122"/>
              </a:rPr>
              <a:t>Electromagnetic (EM) wave</a:t>
            </a:r>
            <a:r>
              <a:rPr lang="en-US" altLang="zh-CN" sz="2400" dirty="0">
                <a:ea typeface="宋体" pitchFamily="2" charset="-122"/>
              </a:rPr>
              <a:t>. Radio Frequency (RF) wave is part of the EM wave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>
                <a:ea typeface="宋体" pitchFamily="2" charset="-122"/>
              </a:rPr>
              <a:t>The </a:t>
            </a:r>
            <a:r>
              <a:rPr lang="en-US" altLang="zh-CN" sz="2400" b="1" dirty="0">
                <a:solidFill>
                  <a:srgbClr val="0000FF"/>
                </a:solidFill>
                <a:ea typeface="宋体" pitchFamily="2" charset="-122"/>
              </a:rPr>
              <a:t>wavelength</a:t>
            </a:r>
            <a:r>
              <a:rPr lang="en-US" altLang="zh-CN" sz="2400" dirty="0">
                <a:solidFill>
                  <a:srgbClr val="0000FF"/>
                </a:solidFill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ea typeface="宋体" pitchFamily="2" charset="-122"/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  <a:ea typeface="宋体" pitchFamily="2" charset="-122"/>
                <a:sym typeface="Symbol"/>
              </a:rPr>
              <a:t>)</a:t>
            </a:r>
            <a:r>
              <a:rPr lang="en-US" altLang="zh-CN" sz="2400" dirty="0">
                <a:ea typeface="宋体" pitchFamily="2" charset="-122"/>
              </a:rPr>
              <a:t> of an electromagnetic wave is defined as:</a:t>
            </a:r>
            <a:r>
              <a:rPr lang="en-US" altLang="zh-CN" sz="2400" dirty="0">
                <a:ea typeface="宋体" pitchFamily="2" charset="-122"/>
                <a:sym typeface="Symbol" pitchFamily="18" charset="2"/>
              </a:rPr>
              <a:t> </a:t>
            </a:r>
          </a:p>
          <a:p>
            <a:pPr algn="just">
              <a:lnSpc>
                <a:spcPct val="100000"/>
              </a:lnSpc>
            </a:pPr>
            <a:endParaRPr lang="en-US" altLang="zh-CN" sz="1800" dirty="0">
              <a:ea typeface="宋体" pitchFamily="2" charset="-122"/>
              <a:sym typeface="Symbol" pitchFamily="18" charset="2"/>
            </a:endParaRPr>
          </a:p>
          <a:p>
            <a:pPr algn="just">
              <a:lnSpc>
                <a:spcPct val="100000"/>
              </a:lnSpc>
              <a:buFontTx/>
              <a:buChar char=" "/>
            </a:pPr>
            <a:r>
              <a:rPr lang="en-US" altLang="zh-CN" sz="1800" dirty="0">
                <a:ea typeface="宋体" pitchFamily="2" charset="-122"/>
                <a:sym typeface="Symbol" pitchFamily="18" charset="2"/>
              </a:rPr>
              <a:t>      </a:t>
            </a:r>
          </a:p>
          <a:p>
            <a:pPr algn="just">
              <a:lnSpc>
                <a:spcPct val="100000"/>
              </a:lnSpc>
            </a:pPr>
            <a:endParaRPr lang="en-US" altLang="zh-CN" sz="1800" dirty="0">
              <a:ea typeface="宋体" pitchFamily="2" charset="-122"/>
              <a:sym typeface="Symbol" pitchFamily="18" charset="2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>
                <a:ea typeface="宋体" pitchFamily="2" charset="-122"/>
                <a:sym typeface="Symbol" pitchFamily="18" charset="2"/>
              </a:rPr>
              <a:t>A wavelength is the </a:t>
            </a:r>
            <a:r>
              <a:rPr lang="en-US" altLang="zh-CN" sz="2400" b="1" dirty="0">
                <a:solidFill>
                  <a:srgbClr val="0000FF"/>
                </a:solidFill>
                <a:ea typeface="宋体" pitchFamily="2" charset="-122"/>
                <a:sym typeface="Symbol" pitchFamily="18" charset="2"/>
              </a:rPr>
              <a:t>distance travelled by the EM wave in the time of one period</a:t>
            </a:r>
            <a:r>
              <a:rPr lang="en-US" altLang="zh-CN" sz="2400" b="1" dirty="0">
                <a:solidFill>
                  <a:srgbClr val="3333CC"/>
                </a:solidFill>
                <a:ea typeface="宋体" pitchFamily="2" charset="-122"/>
                <a:sym typeface="Symbol" pitchFamily="18" charset="2"/>
              </a:rPr>
              <a:t>.</a:t>
            </a:r>
            <a:r>
              <a:rPr lang="en-US" altLang="zh-CN" sz="2400" b="1" dirty="0">
                <a:ea typeface="宋体" pitchFamily="2" charset="-122"/>
                <a:sym typeface="Symbol" pitchFamily="18" charset="2"/>
              </a:rPr>
              <a:t> </a:t>
            </a:r>
            <a:r>
              <a:rPr lang="en-US" altLang="zh-CN" sz="2400" dirty="0">
                <a:ea typeface="宋体" pitchFamily="2" charset="-122"/>
                <a:sym typeface="Symbol" pitchFamily="18" charset="2"/>
              </a:rPr>
              <a:t>The frequency of the EM wave is </a:t>
            </a:r>
            <a:r>
              <a:rPr lang="en-US" altLang="zh-CN" sz="2400" b="1" dirty="0">
                <a:ea typeface="宋体" pitchFamily="2" charset="-122"/>
                <a:sym typeface="Symbol" pitchFamily="18" charset="2"/>
              </a:rPr>
              <a:t>inversely proportional</a:t>
            </a:r>
            <a:r>
              <a:rPr lang="en-US" altLang="zh-CN" sz="2400" dirty="0">
                <a:ea typeface="宋体" pitchFamily="2" charset="-122"/>
                <a:sym typeface="Symbol" pitchFamily="18" charset="2"/>
              </a:rPr>
              <a:t> to the wavelength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>
                <a:ea typeface="宋体" pitchFamily="2" charset="-122"/>
              </a:rPr>
              <a:t>EM waves can travel through long distances, through </a:t>
            </a:r>
            <a:r>
              <a:rPr lang="en-US" altLang="zh-CN" sz="2400" b="1" dirty="0">
                <a:ea typeface="宋体" pitchFamily="2" charset="-122"/>
              </a:rPr>
              <a:t>guided medium </a:t>
            </a:r>
            <a:r>
              <a:rPr lang="en-US" altLang="zh-CN" sz="2400" dirty="0">
                <a:ea typeface="宋体" pitchFamily="2" charset="-122"/>
              </a:rPr>
              <a:t>such as </a:t>
            </a:r>
            <a:r>
              <a:rPr lang="en-US" altLang="zh-CN" sz="2400" b="1" dirty="0">
                <a:ea typeface="宋体" pitchFamily="2" charset="-122"/>
              </a:rPr>
              <a:t>transmission wires</a:t>
            </a:r>
            <a:r>
              <a:rPr lang="en-US" altLang="zh-CN" sz="2400" dirty="0">
                <a:ea typeface="宋体" pitchFamily="2" charset="-122"/>
              </a:rPr>
              <a:t> or </a:t>
            </a:r>
            <a:r>
              <a:rPr lang="en-US" altLang="zh-CN" sz="2400" b="1" dirty="0">
                <a:ea typeface="宋体" pitchFamily="2" charset="-122"/>
              </a:rPr>
              <a:t>unguided medium </a:t>
            </a:r>
            <a:r>
              <a:rPr lang="en-US" altLang="zh-CN" sz="2400" dirty="0">
                <a:ea typeface="宋体" pitchFamily="2" charset="-122"/>
              </a:rPr>
              <a:t>such as the </a:t>
            </a:r>
            <a:r>
              <a:rPr lang="en-US" altLang="zh-CN" sz="2400" b="1" dirty="0">
                <a:ea typeface="宋体" pitchFamily="2" charset="-122"/>
              </a:rPr>
              <a:t>free space or vacuum</a:t>
            </a:r>
          </a:p>
        </p:txBody>
      </p:sp>
      <p:pic>
        <p:nvPicPr>
          <p:cNvPr id="15" name="Picture 73" descr="wavele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270" y="2686083"/>
            <a:ext cx="2377503" cy="1484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Group 15"/>
          <p:cNvGrpSpPr/>
          <p:nvPr/>
        </p:nvGrpSpPr>
        <p:grpSpPr>
          <a:xfrm>
            <a:off x="834169" y="3312741"/>
            <a:ext cx="8137566" cy="978729"/>
            <a:chOff x="1547664" y="3975430"/>
            <a:chExt cx="8137566" cy="978729"/>
          </a:xfrm>
        </p:grpSpPr>
        <p:graphicFrame>
          <p:nvGraphicFramePr>
            <p:cNvPr id="17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2802105"/>
                </p:ext>
              </p:extLst>
            </p:nvPr>
          </p:nvGraphicFramePr>
          <p:xfrm>
            <a:off x="1547664" y="3982395"/>
            <a:ext cx="684212" cy="719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82400" imgH="507960" progId="Equation.3">
                    <p:embed/>
                  </p:oleObj>
                </mc:Choice>
                <mc:Fallback>
                  <p:oleObj name="Equation" r:id="rId6" imgW="482400" imgH="507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7664" y="3982395"/>
                          <a:ext cx="684212" cy="719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Box 17"/>
            <p:cNvSpPr txBox="1"/>
            <p:nvPr/>
          </p:nvSpPr>
          <p:spPr>
            <a:xfrm>
              <a:off x="2233062" y="3975430"/>
              <a:ext cx="7452168" cy="9787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834390" lvl="2" indent="-285750" algn="just">
                <a:lnSpc>
                  <a:spcPct val="120000"/>
                </a:lnSpc>
                <a:buFont typeface="Symbol" pitchFamily="18" charset="2"/>
                <a:buChar char="n"/>
              </a:pPr>
              <a:r>
                <a:rPr lang="en-US" altLang="zh-CN" sz="1600" dirty="0">
                  <a:ea typeface="宋体" pitchFamily="2" charset="-122"/>
                  <a:sym typeface="Symbol" pitchFamily="18" charset="2"/>
                </a:rPr>
                <a:t>= velocity of EM wave through transmission medium</a:t>
              </a:r>
            </a:p>
            <a:p>
              <a:pPr marL="548640" lvl="2" algn="just">
                <a:lnSpc>
                  <a:spcPct val="120000"/>
                </a:lnSpc>
              </a:pPr>
              <a:r>
                <a:rPr lang="en-US" altLang="zh-CN" sz="1600" dirty="0">
                  <a:ea typeface="宋体" pitchFamily="2" charset="-122"/>
                  <a:sym typeface="Symbol" pitchFamily="18" charset="2"/>
                </a:rPr>
                <a:t>c   = velocity of EM wave through free space is a constant = 3 x 10</a:t>
              </a:r>
              <a:r>
                <a:rPr lang="en-US" altLang="zh-CN" sz="1600" baseline="30000" dirty="0">
                  <a:ea typeface="宋体" pitchFamily="2" charset="-122"/>
                  <a:sym typeface="Symbol" pitchFamily="18" charset="2"/>
                </a:rPr>
                <a:t>8</a:t>
              </a:r>
              <a:r>
                <a:rPr lang="en-US" altLang="zh-CN" sz="1600" dirty="0">
                  <a:ea typeface="宋体" pitchFamily="2" charset="-122"/>
                  <a:sym typeface="Symbol" pitchFamily="18" charset="2"/>
                </a:rPr>
                <a:t> m/s </a:t>
              </a:r>
            </a:p>
            <a:p>
              <a:pPr lvl="1" algn="just">
                <a:lnSpc>
                  <a:spcPct val="120000"/>
                </a:lnSpc>
                <a:buFontTx/>
                <a:buChar char=" "/>
              </a:pPr>
              <a:r>
                <a:rPr lang="en-US" altLang="zh-CN" sz="1600" dirty="0">
                  <a:ea typeface="宋体" pitchFamily="2" charset="-122"/>
                  <a:sym typeface="Symbol" pitchFamily="18" charset="2"/>
                </a:rPr>
                <a:t> f   = frequency of EM wave</a:t>
              </a:r>
              <a:r>
                <a:rPr lang="en-US" altLang="zh-CN" sz="1600" dirty="0">
                  <a:ea typeface="宋体" pitchFamily="2" charset="-122"/>
                </a:rPr>
                <a:t> </a:t>
              </a:r>
            </a:p>
          </p:txBody>
        </p:sp>
      </p:grpSp>
      <p:sp>
        <p:nvSpPr>
          <p:cNvPr id="20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600" b="1" dirty="0">
                <a:solidFill>
                  <a:srgbClr val="C00000"/>
                </a:solidFill>
                <a:latin typeface="+mn-lt"/>
              </a:rPr>
              <a:t>Electromagnetic Wave Propagation</a:t>
            </a:r>
          </a:p>
          <a:p>
            <a:pPr fontAlgn="auto">
              <a:spcAft>
                <a:spcPts val="0"/>
              </a:spcAft>
            </a:pPr>
            <a:r>
              <a:rPr lang="en-SG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>Electromagnetic(EM) Spectrum (2)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B25437-7897-47D8-8981-949F6D9C9FED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3" name="Pg4">
            <a:hlinkClick r:id="" action="ppaction://media"/>
            <a:extLst>
              <a:ext uri="{FF2B5EF4-FFF2-40B4-BE49-F238E27FC236}">
                <a16:creationId xmlns:a16="http://schemas.microsoft.com/office/drawing/2014/main" id="{BBBEDEDA-7C50-4B89-BC78-478DD8E7F9D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856021" y="578802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645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7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04370" y="3753924"/>
            <a:ext cx="11983260" cy="2269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>
                <a:ea typeface="宋体" pitchFamily="2" charset="-122"/>
              </a:rPr>
              <a:t>The EM wave shown is a </a:t>
            </a:r>
            <a:r>
              <a:rPr lang="en-US" altLang="zh-CN" sz="2400" b="1" dirty="0">
                <a:solidFill>
                  <a:srgbClr val="0000FF"/>
                </a:solidFill>
                <a:ea typeface="宋体" pitchFamily="2" charset="-122"/>
              </a:rPr>
              <a:t>Transverse Electromagnetic Wave (TEM) </a:t>
            </a:r>
            <a:r>
              <a:rPr lang="en-US" altLang="zh-CN" sz="2400" dirty="0">
                <a:ea typeface="宋体" pitchFamily="2" charset="-122"/>
              </a:rPr>
              <a:t>as the </a:t>
            </a:r>
            <a:r>
              <a:rPr lang="en-US" altLang="zh-CN" sz="2400" b="1" dirty="0">
                <a:solidFill>
                  <a:srgbClr val="0000FF"/>
                </a:solidFill>
                <a:ea typeface="宋体" pitchFamily="2" charset="-122"/>
              </a:rPr>
              <a:t>electric field, E </a:t>
            </a:r>
            <a:r>
              <a:rPr lang="en-US" altLang="zh-CN" sz="2400" dirty="0">
                <a:ea typeface="宋体" pitchFamily="2" charset="-122"/>
              </a:rPr>
              <a:t>and the </a:t>
            </a:r>
            <a:r>
              <a:rPr lang="en-US" altLang="zh-CN" sz="2400" b="1" dirty="0">
                <a:solidFill>
                  <a:srgbClr val="0000FF"/>
                </a:solidFill>
                <a:ea typeface="宋体" pitchFamily="2" charset="-122"/>
              </a:rPr>
              <a:t>magnetic field, H </a:t>
            </a:r>
            <a:r>
              <a:rPr lang="en-US" altLang="zh-CN" sz="2400" dirty="0">
                <a:ea typeface="宋体" pitchFamily="2" charset="-122"/>
              </a:rPr>
              <a:t>are transverse to the direction of propagation</a:t>
            </a:r>
            <a:endParaRPr lang="en-US" sz="24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Polarization of a EM wave refers to the </a:t>
            </a:r>
            <a:r>
              <a:rPr lang="en-US" sz="2400" b="1" dirty="0">
                <a:solidFill>
                  <a:srgbClr val="0000FF"/>
                </a:solidFill>
              </a:rPr>
              <a:t>orientation of the E-field</a:t>
            </a:r>
            <a:r>
              <a:rPr lang="en-US" sz="2400" dirty="0"/>
              <a:t>. Two common types of polarization are: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Vertical Polarization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Horizontal Polarization</a:t>
            </a:r>
          </a:p>
          <a:p>
            <a:pPr marL="0" indent="0">
              <a:buNone/>
            </a:pPr>
            <a:endParaRPr lang="en-US" sz="1800" b="1" dirty="0"/>
          </a:p>
        </p:txBody>
      </p:sp>
      <p:grpSp>
        <p:nvGrpSpPr>
          <p:cNvPr id="7" name="Group 5"/>
          <p:cNvGrpSpPr>
            <a:grpSpLocks noChangeAspect="1"/>
          </p:cNvGrpSpPr>
          <p:nvPr/>
        </p:nvGrpSpPr>
        <p:grpSpPr bwMode="auto">
          <a:xfrm>
            <a:off x="342798" y="1168437"/>
            <a:ext cx="6282550" cy="2269802"/>
            <a:chOff x="545" y="1629"/>
            <a:chExt cx="5212" cy="870"/>
          </a:xfrm>
        </p:grpSpPr>
        <p:sp>
          <p:nvSpPr>
            <p:cNvPr id="8" name="Line 6"/>
            <p:cNvSpPr>
              <a:spLocks noChangeAspect="1" noChangeShapeType="1"/>
            </p:cNvSpPr>
            <p:nvPr/>
          </p:nvSpPr>
          <p:spPr bwMode="auto">
            <a:xfrm flipV="1">
              <a:off x="1219" y="1629"/>
              <a:ext cx="0" cy="465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9" name="Line 7"/>
            <p:cNvSpPr>
              <a:spLocks noChangeAspect="1" noChangeShapeType="1"/>
            </p:cNvSpPr>
            <p:nvPr/>
          </p:nvSpPr>
          <p:spPr bwMode="auto">
            <a:xfrm flipH="1">
              <a:off x="579" y="2094"/>
              <a:ext cx="640" cy="299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0" name="Line 8"/>
            <p:cNvSpPr>
              <a:spLocks noChangeAspect="1" noChangeShapeType="1"/>
            </p:cNvSpPr>
            <p:nvPr/>
          </p:nvSpPr>
          <p:spPr bwMode="auto">
            <a:xfrm>
              <a:off x="1219" y="2094"/>
              <a:ext cx="2048" cy="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1" name="Freeform 9"/>
            <p:cNvSpPr>
              <a:spLocks noChangeAspect="1"/>
            </p:cNvSpPr>
            <p:nvPr/>
          </p:nvSpPr>
          <p:spPr bwMode="auto">
            <a:xfrm>
              <a:off x="1219" y="1895"/>
              <a:ext cx="640" cy="199"/>
            </a:xfrm>
            <a:custGeom>
              <a:avLst/>
              <a:gdLst>
                <a:gd name="T0" fmla="*/ 0 w 288"/>
                <a:gd name="T1" fmla="*/ 95 h 288"/>
                <a:gd name="T2" fmla="*/ 1580 w 288"/>
                <a:gd name="T3" fmla="*/ 0 h 288"/>
                <a:gd name="T4" fmla="*/ 3160 w 288"/>
                <a:gd name="T5" fmla="*/ 95 h 288"/>
                <a:gd name="T6" fmla="*/ 0 60000 65536"/>
                <a:gd name="T7" fmla="*/ 0 60000 65536"/>
                <a:gd name="T8" fmla="*/ 0 60000 65536"/>
                <a:gd name="T9" fmla="*/ 0 w 288"/>
                <a:gd name="T10" fmla="*/ 0 h 288"/>
                <a:gd name="T11" fmla="*/ 288 w 288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288">
                  <a:moveTo>
                    <a:pt x="0" y="288"/>
                  </a:moveTo>
                  <a:cubicBezTo>
                    <a:pt x="48" y="144"/>
                    <a:pt x="96" y="0"/>
                    <a:pt x="144" y="0"/>
                  </a:cubicBezTo>
                  <a:cubicBezTo>
                    <a:pt x="192" y="0"/>
                    <a:pt x="264" y="240"/>
                    <a:pt x="288" y="288"/>
                  </a:cubicBezTo>
                </a:path>
              </a:pathLst>
            </a:cu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" name="Freeform 10"/>
            <p:cNvSpPr>
              <a:spLocks noChangeAspect="1"/>
            </p:cNvSpPr>
            <p:nvPr/>
          </p:nvSpPr>
          <p:spPr bwMode="auto">
            <a:xfrm flipH="1" flipV="1">
              <a:off x="1859" y="2094"/>
              <a:ext cx="640" cy="200"/>
            </a:xfrm>
            <a:custGeom>
              <a:avLst/>
              <a:gdLst>
                <a:gd name="T0" fmla="*/ 0 w 288"/>
                <a:gd name="T1" fmla="*/ 97 h 288"/>
                <a:gd name="T2" fmla="*/ 1580 w 288"/>
                <a:gd name="T3" fmla="*/ 0 h 288"/>
                <a:gd name="T4" fmla="*/ 3160 w 288"/>
                <a:gd name="T5" fmla="*/ 97 h 288"/>
                <a:gd name="T6" fmla="*/ 0 60000 65536"/>
                <a:gd name="T7" fmla="*/ 0 60000 65536"/>
                <a:gd name="T8" fmla="*/ 0 60000 65536"/>
                <a:gd name="T9" fmla="*/ 0 w 288"/>
                <a:gd name="T10" fmla="*/ 0 h 288"/>
                <a:gd name="T11" fmla="*/ 288 w 288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288">
                  <a:moveTo>
                    <a:pt x="0" y="288"/>
                  </a:moveTo>
                  <a:cubicBezTo>
                    <a:pt x="48" y="144"/>
                    <a:pt x="96" y="0"/>
                    <a:pt x="144" y="0"/>
                  </a:cubicBezTo>
                  <a:cubicBezTo>
                    <a:pt x="192" y="0"/>
                    <a:pt x="264" y="240"/>
                    <a:pt x="288" y="28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" name="Freeform 11"/>
            <p:cNvSpPr>
              <a:spLocks noChangeAspect="1"/>
            </p:cNvSpPr>
            <p:nvPr/>
          </p:nvSpPr>
          <p:spPr bwMode="auto">
            <a:xfrm>
              <a:off x="984" y="2094"/>
              <a:ext cx="875" cy="200"/>
            </a:xfrm>
            <a:custGeom>
              <a:avLst/>
              <a:gdLst>
                <a:gd name="T0" fmla="*/ 417 w 656"/>
                <a:gd name="T1" fmla="*/ 0 h 288"/>
                <a:gd name="T2" fmla="*/ 191 w 656"/>
                <a:gd name="T3" fmla="*/ 97 h 288"/>
                <a:gd name="T4" fmla="*/ 1557 w 656"/>
                <a:gd name="T5" fmla="*/ 0 h 288"/>
                <a:gd name="T6" fmla="*/ 0 60000 65536"/>
                <a:gd name="T7" fmla="*/ 0 60000 65536"/>
                <a:gd name="T8" fmla="*/ 0 60000 65536"/>
                <a:gd name="T9" fmla="*/ 0 w 656"/>
                <a:gd name="T10" fmla="*/ 0 h 288"/>
                <a:gd name="T11" fmla="*/ 656 w 656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56" h="288">
                  <a:moveTo>
                    <a:pt x="176" y="0"/>
                  </a:moveTo>
                  <a:cubicBezTo>
                    <a:pt x="88" y="144"/>
                    <a:pt x="0" y="288"/>
                    <a:pt x="80" y="288"/>
                  </a:cubicBezTo>
                  <a:cubicBezTo>
                    <a:pt x="160" y="288"/>
                    <a:pt x="408" y="144"/>
                    <a:pt x="656" y="0"/>
                  </a:cubicBezTo>
                </a:path>
              </a:pathLst>
            </a:cu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" name="Freeform 12"/>
            <p:cNvSpPr>
              <a:spLocks noChangeAspect="1"/>
            </p:cNvSpPr>
            <p:nvPr/>
          </p:nvSpPr>
          <p:spPr bwMode="auto">
            <a:xfrm flipH="1" flipV="1">
              <a:off x="1859" y="1895"/>
              <a:ext cx="874" cy="199"/>
            </a:xfrm>
            <a:custGeom>
              <a:avLst/>
              <a:gdLst>
                <a:gd name="T0" fmla="*/ 416 w 656"/>
                <a:gd name="T1" fmla="*/ 0 h 288"/>
                <a:gd name="T2" fmla="*/ 191 w 656"/>
                <a:gd name="T3" fmla="*/ 95 h 288"/>
                <a:gd name="T4" fmla="*/ 1551 w 656"/>
                <a:gd name="T5" fmla="*/ 0 h 288"/>
                <a:gd name="T6" fmla="*/ 0 60000 65536"/>
                <a:gd name="T7" fmla="*/ 0 60000 65536"/>
                <a:gd name="T8" fmla="*/ 0 60000 65536"/>
                <a:gd name="T9" fmla="*/ 0 w 656"/>
                <a:gd name="T10" fmla="*/ 0 h 288"/>
                <a:gd name="T11" fmla="*/ 656 w 656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56" h="288">
                  <a:moveTo>
                    <a:pt x="176" y="0"/>
                  </a:moveTo>
                  <a:cubicBezTo>
                    <a:pt x="88" y="144"/>
                    <a:pt x="0" y="288"/>
                    <a:pt x="80" y="288"/>
                  </a:cubicBezTo>
                  <a:cubicBezTo>
                    <a:pt x="160" y="288"/>
                    <a:pt x="408" y="144"/>
                    <a:pt x="656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" name="Line 13"/>
            <p:cNvSpPr>
              <a:spLocks noChangeAspect="1" noChangeShapeType="1"/>
            </p:cNvSpPr>
            <p:nvPr/>
          </p:nvSpPr>
          <p:spPr bwMode="auto">
            <a:xfrm flipV="1">
              <a:off x="2179" y="1895"/>
              <a:ext cx="448" cy="199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6" name="Text Box 14"/>
            <p:cNvSpPr txBox="1">
              <a:spLocks noChangeAspect="1" noChangeArrowheads="1"/>
            </p:cNvSpPr>
            <p:nvPr/>
          </p:nvSpPr>
          <p:spPr bwMode="auto">
            <a:xfrm>
              <a:off x="1209" y="1636"/>
              <a:ext cx="292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1pPr>
              <a:lvl2pPr marL="742950" indent="-28575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2pPr>
              <a:lvl3pPr marL="11430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3pPr>
              <a:lvl4pPr marL="16002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4pPr>
              <a:lvl5pPr marL="20574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kumimoji="0" lang="en-US" altLang="zh-CN" sz="1000">
                  <a:ea typeface="宋体" pitchFamily="2" charset="-122"/>
                </a:rPr>
                <a:t>y</a:t>
              </a:r>
            </a:p>
          </p:txBody>
        </p:sp>
        <p:sp>
          <p:nvSpPr>
            <p:cNvPr id="17" name="Text Box 15"/>
            <p:cNvSpPr txBox="1">
              <a:spLocks noChangeAspect="1" noChangeArrowheads="1"/>
            </p:cNvSpPr>
            <p:nvPr/>
          </p:nvSpPr>
          <p:spPr bwMode="auto">
            <a:xfrm>
              <a:off x="545" y="2367"/>
              <a:ext cx="302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1pPr>
              <a:lvl2pPr marL="742950" indent="-28575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2pPr>
              <a:lvl3pPr marL="11430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3pPr>
              <a:lvl4pPr marL="16002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4pPr>
              <a:lvl5pPr marL="20574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kumimoji="0" lang="en-US" altLang="zh-CN" sz="1000">
                  <a:ea typeface="宋体" pitchFamily="2" charset="-122"/>
                </a:rPr>
                <a:t>x</a:t>
              </a:r>
            </a:p>
          </p:txBody>
        </p:sp>
        <p:sp>
          <p:nvSpPr>
            <p:cNvPr id="18" name="Text Box 16"/>
            <p:cNvSpPr txBox="1">
              <a:spLocks noChangeAspect="1" noChangeArrowheads="1"/>
            </p:cNvSpPr>
            <p:nvPr/>
          </p:nvSpPr>
          <p:spPr bwMode="auto">
            <a:xfrm>
              <a:off x="3183" y="2029"/>
              <a:ext cx="294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1pPr>
              <a:lvl2pPr marL="742950" indent="-28575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2pPr>
              <a:lvl3pPr marL="11430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3pPr>
              <a:lvl4pPr marL="16002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4pPr>
              <a:lvl5pPr marL="20574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kumimoji="0" lang="en-US" altLang="zh-CN" sz="1000">
                  <a:ea typeface="宋体" pitchFamily="2" charset="-122"/>
                </a:rPr>
                <a:t>z</a:t>
              </a:r>
            </a:p>
          </p:txBody>
        </p:sp>
        <p:sp>
          <p:nvSpPr>
            <p:cNvPr id="19" name="Text Box 17"/>
            <p:cNvSpPr txBox="1">
              <a:spLocks noChangeAspect="1" noChangeArrowheads="1"/>
            </p:cNvSpPr>
            <p:nvPr/>
          </p:nvSpPr>
          <p:spPr bwMode="auto">
            <a:xfrm>
              <a:off x="2306" y="1949"/>
              <a:ext cx="396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1pPr>
              <a:lvl2pPr marL="742950" indent="-28575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2pPr>
              <a:lvl3pPr marL="11430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3pPr>
              <a:lvl4pPr marL="16002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4pPr>
              <a:lvl5pPr marL="20574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kumimoji="0" lang="en-US" altLang="zh-CN" sz="1000">
                  <a:ea typeface="宋体" pitchFamily="2" charset="-122"/>
                </a:rPr>
                <a:t>H</a:t>
              </a:r>
            </a:p>
          </p:txBody>
        </p:sp>
        <p:sp>
          <p:nvSpPr>
            <p:cNvPr id="20" name="Line 18"/>
            <p:cNvSpPr>
              <a:spLocks noChangeAspect="1" noChangeShapeType="1"/>
            </p:cNvSpPr>
            <p:nvPr/>
          </p:nvSpPr>
          <p:spPr bwMode="auto">
            <a:xfrm>
              <a:off x="2179" y="2094"/>
              <a:ext cx="0" cy="20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1" name="Text Box 19"/>
            <p:cNvSpPr txBox="1">
              <a:spLocks noChangeAspect="1" noChangeArrowheads="1"/>
            </p:cNvSpPr>
            <p:nvPr/>
          </p:nvSpPr>
          <p:spPr bwMode="auto">
            <a:xfrm>
              <a:off x="2132" y="2115"/>
              <a:ext cx="307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1pPr>
              <a:lvl2pPr marL="742950" indent="-28575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2pPr>
              <a:lvl3pPr marL="11430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3pPr>
              <a:lvl4pPr marL="16002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4pPr>
              <a:lvl5pPr marL="20574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kumimoji="0" lang="en-US" altLang="zh-CN" sz="1000">
                  <a:ea typeface="宋体" pitchFamily="2" charset="-122"/>
                </a:rPr>
                <a:t>E</a:t>
              </a:r>
            </a:p>
          </p:txBody>
        </p:sp>
        <p:sp>
          <p:nvSpPr>
            <p:cNvPr id="22" name="Line 20"/>
            <p:cNvSpPr>
              <a:spLocks noChangeAspect="1" noChangeShapeType="1"/>
            </p:cNvSpPr>
            <p:nvPr/>
          </p:nvSpPr>
          <p:spPr bwMode="auto">
            <a:xfrm flipV="1">
              <a:off x="1539" y="1895"/>
              <a:ext cx="0" cy="199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3" name="Line 21"/>
            <p:cNvSpPr>
              <a:spLocks noChangeAspect="1" noChangeShapeType="1"/>
            </p:cNvSpPr>
            <p:nvPr/>
          </p:nvSpPr>
          <p:spPr bwMode="auto">
            <a:xfrm flipH="1">
              <a:off x="1048" y="2094"/>
              <a:ext cx="491" cy="194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4" name="Text Box 22"/>
            <p:cNvSpPr txBox="1">
              <a:spLocks noChangeAspect="1" noChangeArrowheads="1"/>
            </p:cNvSpPr>
            <p:nvPr/>
          </p:nvSpPr>
          <p:spPr bwMode="auto">
            <a:xfrm>
              <a:off x="1303" y="1949"/>
              <a:ext cx="307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1pPr>
              <a:lvl2pPr marL="742950" indent="-28575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2pPr>
              <a:lvl3pPr marL="11430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3pPr>
              <a:lvl4pPr marL="16002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4pPr>
              <a:lvl5pPr marL="20574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kumimoji="0" lang="en-US" altLang="zh-CN" sz="1000">
                  <a:ea typeface="宋体" pitchFamily="2" charset="-122"/>
                </a:rPr>
                <a:t>E</a:t>
              </a:r>
            </a:p>
          </p:txBody>
        </p:sp>
        <p:sp>
          <p:nvSpPr>
            <p:cNvPr id="25" name="Text Box 23"/>
            <p:cNvSpPr txBox="1">
              <a:spLocks noChangeAspect="1" noChangeArrowheads="1"/>
            </p:cNvSpPr>
            <p:nvPr/>
          </p:nvSpPr>
          <p:spPr bwMode="auto">
            <a:xfrm>
              <a:off x="1091" y="2081"/>
              <a:ext cx="394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1pPr>
              <a:lvl2pPr marL="742950" indent="-28575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2pPr>
              <a:lvl3pPr marL="11430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3pPr>
              <a:lvl4pPr marL="16002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4pPr>
              <a:lvl5pPr marL="20574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kumimoji="0" lang="en-US" altLang="zh-CN" sz="1000">
                  <a:ea typeface="宋体" pitchFamily="2" charset="-122"/>
                </a:rPr>
                <a:t>H</a:t>
              </a:r>
            </a:p>
          </p:txBody>
        </p:sp>
        <p:sp>
          <p:nvSpPr>
            <p:cNvPr id="26" name="Text Box 24"/>
            <p:cNvSpPr txBox="1">
              <a:spLocks noChangeAspect="1" noChangeArrowheads="1"/>
            </p:cNvSpPr>
            <p:nvPr/>
          </p:nvSpPr>
          <p:spPr bwMode="auto">
            <a:xfrm>
              <a:off x="2535" y="1820"/>
              <a:ext cx="1269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1pPr>
              <a:lvl2pPr marL="742950" indent="-28575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2pPr>
              <a:lvl3pPr marL="11430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3pPr>
              <a:lvl4pPr marL="16002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4pPr>
              <a:lvl5pPr marL="20574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kumimoji="0" lang="en-US" altLang="zh-CN" sz="1400" dirty="0">
                  <a:ea typeface="宋体" pitchFamily="2" charset="-122"/>
                </a:rPr>
                <a:t>Direction of </a:t>
              </a:r>
            </a:p>
            <a:p>
              <a:pPr algn="ctr"/>
              <a:r>
                <a:rPr kumimoji="0" lang="en-US" altLang="zh-CN" sz="1400" dirty="0">
                  <a:ea typeface="宋体" pitchFamily="2" charset="-122"/>
                </a:rPr>
                <a:t>propagation</a:t>
              </a:r>
            </a:p>
          </p:txBody>
        </p:sp>
        <p:sp>
          <p:nvSpPr>
            <p:cNvPr id="27" name="Line 25"/>
            <p:cNvSpPr>
              <a:spLocks noChangeAspect="1" noChangeShapeType="1"/>
            </p:cNvSpPr>
            <p:nvPr/>
          </p:nvSpPr>
          <p:spPr bwMode="auto">
            <a:xfrm flipV="1">
              <a:off x="4227" y="1629"/>
              <a:ext cx="0" cy="465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8" name="Line 26"/>
            <p:cNvSpPr>
              <a:spLocks noChangeAspect="1" noChangeShapeType="1"/>
            </p:cNvSpPr>
            <p:nvPr/>
          </p:nvSpPr>
          <p:spPr bwMode="auto">
            <a:xfrm flipH="1">
              <a:off x="3587" y="2094"/>
              <a:ext cx="640" cy="299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9" name="Line 27"/>
            <p:cNvSpPr>
              <a:spLocks noChangeAspect="1" noChangeShapeType="1"/>
            </p:cNvSpPr>
            <p:nvPr/>
          </p:nvSpPr>
          <p:spPr bwMode="auto">
            <a:xfrm>
              <a:off x="4227" y="2094"/>
              <a:ext cx="1024" cy="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0" name="Text Box 28"/>
            <p:cNvSpPr txBox="1">
              <a:spLocks noChangeAspect="1" noChangeArrowheads="1"/>
            </p:cNvSpPr>
            <p:nvPr/>
          </p:nvSpPr>
          <p:spPr bwMode="auto">
            <a:xfrm>
              <a:off x="3555" y="2334"/>
              <a:ext cx="301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1pPr>
              <a:lvl2pPr marL="742950" indent="-28575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2pPr>
              <a:lvl3pPr marL="11430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3pPr>
              <a:lvl4pPr marL="16002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4pPr>
              <a:lvl5pPr marL="20574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kumimoji="0" lang="en-US" altLang="zh-CN" sz="1000">
                  <a:ea typeface="宋体" pitchFamily="2" charset="-122"/>
                </a:rPr>
                <a:t>x</a:t>
              </a:r>
            </a:p>
          </p:txBody>
        </p:sp>
        <p:sp>
          <p:nvSpPr>
            <p:cNvPr id="31" name="Text Box 29"/>
            <p:cNvSpPr txBox="1">
              <a:spLocks noChangeAspect="1" noChangeArrowheads="1"/>
            </p:cNvSpPr>
            <p:nvPr/>
          </p:nvSpPr>
          <p:spPr bwMode="auto">
            <a:xfrm>
              <a:off x="5217" y="2037"/>
              <a:ext cx="295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1pPr>
              <a:lvl2pPr marL="742950" indent="-28575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2pPr>
              <a:lvl3pPr marL="11430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3pPr>
              <a:lvl4pPr marL="16002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4pPr>
              <a:lvl5pPr marL="20574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kumimoji="0" lang="en-US" altLang="zh-CN" sz="1000" dirty="0">
                  <a:ea typeface="宋体" pitchFamily="2" charset="-122"/>
                </a:rPr>
                <a:t>z</a:t>
              </a:r>
            </a:p>
          </p:txBody>
        </p:sp>
        <p:sp>
          <p:nvSpPr>
            <p:cNvPr id="32" name="Line 30"/>
            <p:cNvSpPr>
              <a:spLocks noChangeAspect="1" noChangeShapeType="1"/>
            </p:cNvSpPr>
            <p:nvPr/>
          </p:nvSpPr>
          <p:spPr bwMode="auto">
            <a:xfrm flipV="1">
              <a:off x="4227" y="1762"/>
              <a:ext cx="0" cy="332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3" name="Line 31"/>
            <p:cNvSpPr>
              <a:spLocks noChangeAspect="1" noChangeShapeType="1"/>
            </p:cNvSpPr>
            <p:nvPr/>
          </p:nvSpPr>
          <p:spPr bwMode="auto">
            <a:xfrm flipH="1">
              <a:off x="3779" y="2094"/>
              <a:ext cx="448" cy="2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4" name="Line 32"/>
            <p:cNvSpPr>
              <a:spLocks noChangeAspect="1" noChangeShapeType="1"/>
            </p:cNvSpPr>
            <p:nvPr/>
          </p:nvSpPr>
          <p:spPr bwMode="auto">
            <a:xfrm>
              <a:off x="4227" y="2094"/>
              <a:ext cx="704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5" name="Text Box 33"/>
            <p:cNvSpPr txBox="1">
              <a:spLocks noChangeAspect="1" noChangeArrowheads="1"/>
            </p:cNvSpPr>
            <p:nvPr/>
          </p:nvSpPr>
          <p:spPr bwMode="auto">
            <a:xfrm>
              <a:off x="4261" y="1700"/>
              <a:ext cx="316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1pPr>
              <a:lvl2pPr marL="742950" indent="-28575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2pPr>
              <a:lvl3pPr marL="11430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3pPr>
              <a:lvl4pPr marL="16002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4pPr>
              <a:lvl5pPr marL="20574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kumimoji="0" lang="en-US" altLang="zh-CN" sz="1000">
                  <a:ea typeface="宋体" pitchFamily="2" charset="-122"/>
                </a:rPr>
                <a:t>E</a:t>
              </a:r>
              <a:r>
                <a:rPr kumimoji="0" lang="en-US" altLang="zh-CN" sz="1000" baseline="-25000">
                  <a:ea typeface="宋体" pitchFamily="2" charset="-122"/>
                </a:rPr>
                <a:t>y</a:t>
              </a:r>
              <a:endParaRPr kumimoji="0" lang="en-US" altLang="zh-CN" sz="1000">
                <a:ea typeface="宋体" pitchFamily="2" charset="-122"/>
              </a:endParaRPr>
            </a:p>
          </p:txBody>
        </p:sp>
        <p:sp>
          <p:nvSpPr>
            <p:cNvPr id="36" name="Text Box 34"/>
            <p:cNvSpPr txBox="1">
              <a:spLocks noChangeAspect="1" noChangeArrowheads="1"/>
            </p:cNvSpPr>
            <p:nvPr/>
          </p:nvSpPr>
          <p:spPr bwMode="auto">
            <a:xfrm>
              <a:off x="3880" y="2234"/>
              <a:ext cx="38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1pPr>
              <a:lvl2pPr marL="742950" indent="-28575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2pPr>
              <a:lvl3pPr marL="11430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3pPr>
              <a:lvl4pPr marL="16002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4pPr>
              <a:lvl5pPr marL="20574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kumimoji="0" lang="en-US" altLang="zh-CN" sz="1000" dirty="0">
                  <a:ea typeface="宋体" pitchFamily="2" charset="-122"/>
                </a:rPr>
                <a:t>H</a:t>
              </a:r>
              <a:r>
                <a:rPr kumimoji="0" lang="en-US" altLang="zh-CN" sz="1000" baseline="-25000" dirty="0">
                  <a:ea typeface="宋体" pitchFamily="2" charset="-122"/>
                </a:rPr>
                <a:t>x</a:t>
              </a:r>
              <a:endParaRPr kumimoji="0" lang="en-US" altLang="zh-CN" sz="1000" dirty="0">
                <a:ea typeface="宋体" pitchFamily="2" charset="-122"/>
              </a:endParaRPr>
            </a:p>
          </p:txBody>
        </p:sp>
        <p:sp>
          <p:nvSpPr>
            <p:cNvPr id="37" name="Text Box 35"/>
            <p:cNvSpPr txBox="1">
              <a:spLocks noChangeAspect="1" noChangeArrowheads="1"/>
            </p:cNvSpPr>
            <p:nvPr/>
          </p:nvSpPr>
          <p:spPr bwMode="auto">
            <a:xfrm>
              <a:off x="4618" y="1879"/>
              <a:ext cx="1139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1pPr>
              <a:lvl2pPr marL="742950" indent="-28575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2pPr>
              <a:lvl3pPr marL="11430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3pPr>
              <a:lvl4pPr marL="16002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4pPr>
              <a:lvl5pPr marL="20574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kumimoji="0" lang="en-US" altLang="zh-CN" sz="1400" dirty="0">
                  <a:ea typeface="宋体" pitchFamily="2" charset="-122"/>
                </a:rPr>
                <a:t>Direction of </a:t>
              </a:r>
            </a:p>
            <a:p>
              <a:pPr algn="ctr"/>
              <a:r>
                <a:rPr kumimoji="0" lang="en-US" altLang="zh-CN" sz="1400" dirty="0">
                  <a:ea typeface="宋体" pitchFamily="2" charset="-122"/>
                </a:rPr>
                <a:t>travel of wave</a:t>
              </a:r>
            </a:p>
          </p:txBody>
        </p:sp>
        <p:sp>
          <p:nvSpPr>
            <p:cNvPr id="38" name="Text Box 36"/>
            <p:cNvSpPr txBox="1">
              <a:spLocks noChangeAspect="1" noChangeArrowheads="1"/>
            </p:cNvSpPr>
            <p:nvPr/>
          </p:nvSpPr>
          <p:spPr bwMode="auto">
            <a:xfrm>
              <a:off x="4450" y="2251"/>
              <a:ext cx="76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1pPr>
              <a:lvl2pPr marL="742950" indent="-28575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2pPr>
              <a:lvl3pPr marL="11430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3pPr>
              <a:lvl4pPr marL="16002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4pPr>
              <a:lvl5pPr marL="2057400" indent="-228600"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3399"/>
                  </a:solidFill>
                  <a:latin typeface="Comic Sans MS" pitchFamily="66" charset="0"/>
                </a:defRPr>
              </a:lvl9pPr>
            </a:lstStyle>
            <a:p>
              <a:r>
                <a:rPr kumimoji="0" lang="en-US" altLang="zh-CN" sz="1000" b="1">
                  <a:solidFill>
                    <a:schemeClr val="tx1"/>
                  </a:solidFill>
                  <a:ea typeface="宋体" pitchFamily="2" charset="-122"/>
                </a:rPr>
                <a:t>E</a:t>
              </a:r>
              <a:r>
                <a:rPr kumimoji="0" lang="en-US" altLang="zh-CN" sz="1000" b="1" baseline="-25000">
                  <a:solidFill>
                    <a:schemeClr val="tx1"/>
                  </a:solidFill>
                  <a:ea typeface="宋体" pitchFamily="2" charset="-122"/>
                </a:rPr>
                <a:t>y</a:t>
              </a:r>
              <a:r>
                <a:rPr kumimoji="0" lang="en-US" altLang="zh-CN" sz="1000" b="1">
                  <a:solidFill>
                    <a:schemeClr val="tx1"/>
                  </a:solidFill>
                  <a:ea typeface="宋体" pitchFamily="2" charset="-122"/>
                </a:rPr>
                <a:t> X H</a:t>
              </a:r>
              <a:r>
                <a:rPr kumimoji="0" lang="en-US" altLang="zh-CN" sz="1000" b="1" baseline="-25000">
                  <a:solidFill>
                    <a:schemeClr val="tx1"/>
                  </a:solidFill>
                  <a:ea typeface="宋体" pitchFamily="2" charset="-122"/>
                </a:rPr>
                <a:t>z</a:t>
              </a:r>
              <a:endParaRPr kumimoji="0" lang="en-US" altLang="zh-CN" sz="1000" b="1">
                <a:solidFill>
                  <a:schemeClr val="tx1"/>
                </a:solidFill>
                <a:ea typeface="宋体" pitchFamily="2" charset="-122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7041296" y="904502"/>
            <a:ext cx="5046333" cy="2798068"/>
            <a:chOff x="4551945" y="4527154"/>
            <a:chExt cx="3978706" cy="1942282"/>
          </a:xfrm>
        </p:grpSpPr>
        <p:sp>
          <p:nvSpPr>
            <p:cNvPr id="40" name="TextBox 39"/>
            <p:cNvSpPr txBox="1"/>
            <p:nvPr/>
          </p:nvSpPr>
          <p:spPr>
            <a:xfrm>
              <a:off x="7308303" y="4702926"/>
              <a:ext cx="1222348" cy="918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latin typeface="Calibri" pitchFamily="34" charset="0"/>
                  <a:cs typeface="Calibri" pitchFamily="34" charset="0"/>
                </a:rPr>
                <a:t>Orientation of the E-field </a:t>
              </a:r>
            </a:p>
            <a:p>
              <a:r>
                <a:rPr lang="en-GB" sz="1600" dirty="0">
                  <a:latin typeface="Calibri" pitchFamily="34" charset="0"/>
                  <a:cs typeface="Calibri" pitchFamily="34" charset="0"/>
                </a:rPr>
                <a:t>will determine the Polarisation of the EM wave</a:t>
              </a:r>
              <a:endParaRPr lang="en-SG" sz="1600" dirty="0">
                <a:latin typeface="Calibri" pitchFamily="34" charset="0"/>
                <a:cs typeface="Calibri" pitchFamily="34" charset="0"/>
              </a:endParaRPr>
            </a:p>
          </p:txBody>
        </p:sp>
        <p:pic>
          <p:nvPicPr>
            <p:cNvPr id="41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1945" y="4527154"/>
              <a:ext cx="2756359" cy="1942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46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600" b="1" dirty="0">
                <a:solidFill>
                  <a:srgbClr val="C00000"/>
                </a:solidFill>
                <a:latin typeface="+mn-lt"/>
              </a:rPr>
              <a:t>Electromagnetic Wave Propagation</a:t>
            </a:r>
          </a:p>
          <a:p>
            <a:pPr fontAlgn="auto">
              <a:spcAft>
                <a:spcPts val="0"/>
              </a:spcAft>
            </a:pPr>
            <a:r>
              <a:rPr lang="en-SG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>EM Wave Propagation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14D0222-159A-4A94-98F5-A54961C1A310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2" name="Pg5">
            <a:hlinkClick r:id="" action="ppaction://media"/>
            <a:extLst>
              <a:ext uri="{FF2B5EF4-FFF2-40B4-BE49-F238E27FC236}">
                <a16:creationId xmlns:a16="http://schemas.microsoft.com/office/drawing/2014/main" id="{35800B42-593E-4BF9-9BCC-BC327850209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995988" y="581590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1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39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68755" y="1219414"/>
            <a:ext cx="5531918" cy="50262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Electromagnetic signals, after leaving the transmitting antenna, will experience the following propagation mechanisms:</a:t>
            </a:r>
          </a:p>
          <a:p>
            <a:endParaRPr lang="en-US" sz="2400" dirty="0"/>
          </a:p>
          <a:p>
            <a:pPr lvl="1"/>
            <a:r>
              <a:rPr lang="en-US" sz="2800" b="1" dirty="0">
                <a:solidFill>
                  <a:srgbClr val="0000FF"/>
                </a:solidFill>
              </a:rPr>
              <a:t>Reflection</a:t>
            </a:r>
          </a:p>
          <a:p>
            <a:pPr lvl="1"/>
            <a:r>
              <a:rPr lang="en-US" sz="2800" b="1" dirty="0">
                <a:solidFill>
                  <a:srgbClr val="0000FF"/>
                </a:solidFill>
              </a:rPr>
              <a:t>Diffraction</a:t>
            </a:r>
          </a:p>
          <a:p>
            <a:pPr lvl="1"/>
            <a:r>
              <a:rPr lang="en-US" sz="2800" b="1" dirty="0">
                <a:solidFill>
                  <a:srgbClr val="0000FF"/>
                </a:solidFill>
              </a:rPr>
              <a:t>Scattering</a:t>
            </a:r>
          </a:p>
          <a:p>
            <a:pPr lvl="1"/>
            <a:r>
              <a:rPr lang="en-US" sz="2800" b="1" dirty="0">
                <a:solidFill>
                  <a:srgbClr val="0000FF"/>
                </a:solidFill>
              </a:rPr>
              <a:t>Refraction</a:t>
            </a:r>
          </a:p>
          <a:p>
            <a:pPr lvl="1"/>
            <a:r>
              <a:rPr lang="en-US" sz="2800" b="1" dirty="0">
                <a:solidFill>
                  <a:srgbClr val="0000FF"/>
                </a:solidFill>
              </a:rPr>
              <a:t>Absorption</a:t>
            </a:r>
          </a:p>
          <a:p>
            <a:pPr lvl="1"/>
            <a:endParaRPr lang="en-US" b="1" dirty="0">
              <a:solidFill>
                <a:srgbClr val="0000FF"/>
              </a:solidFill>
            </a:endParaRPr>
          </a:p>
        </p:txBody>
      </p:sp>
      <p:pic>
        <p:nvPicPr>
          <p:cNvPr id="8" name="Picture 165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0673" y="1108699"/>
            <a:ext cx="5462151" cy="4812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600" b="1" dirty="0">
                <a:solidFill>
                  <a:srgbClr val="C00000"/>
                </a:solidFill>
                <a:latin typeface="+mn-lt"/>
              </a:rPr>
              <a:t>Electromagnetic Wave Propagation</a:t>
            </a:r>
          </a:p>
          <a:p>
            <a:pPr fontAlgn="auto">
              <a:spcAft>
                <a:spcPts val="0"/>
              </a:spcAft>
            </a:pPr>
            <a:r>
              <a:rPr lang="en-SG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>Radio Propagation Mechanism (1)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B3DAC9-4619-4393-8A5F-3A186194CB26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2" name="Pg6">
            <a:hlinkClick r:id="" action="ppaction://media"/>
            <a:extLst>
              <a:ext uri="{FF2B5EF4-FFF2-40B4-BE49-F238E27FC236}">
                <a16:creationId xmlns:a16="http://schemas.microsoft.com/office/drawing/2014/main" id="{86FDE3A5-3A3B-4AC5-B5BD-FE58ABF120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003436" y="582609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59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64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875420" y="1065520"/>
            <a:ext cx="87129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1pPr>
            <a:lvl2pPr marL="742950" indent="-28575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2pPr>
            <a:lvl3pPr marL="1143000" indent="-22860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3pPr>
            <a:lvl4pPr marL="1600200" indent="-22860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4pPr>
            <a:lvl5pPr marL="2057400" indent="-22860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3200" dirty="0">
                <a:solidFill>
                  <a:srgbClr val="C00000"/>
                </a:solidFill>
                <a:latin typeface="+mn-lt"/>
                <a:ea typeface="宋体" pitchFamily="2" charset="-122"/>
              </a:rPr>
              <a:t>Reflection</a:t>
            </a:r>
            <a:endParaRPr lang="en-GB" sz="32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875419" y="1860418"/>
            <a:ext cx="5919847" cy="3581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35000"/>
              <a:buFont typeface="Symbol" pitchFamily="18" charset="2"/>
              <a:buChar char="·"/>
            </a:pPr>
            <a:r>
              <a:rPr lang="en-US" sz="2400" dirty="0"/>
              <a:t>The EM signal impinges on an object whose dimension is very large as compared to the wavelength of the EM signal</a:t>
            </a:r>
          </a:p>
          <a:p>
            <a:pPr marL="0" indent="0">
              <a:buSzPct val="135000"/>
              <a:buNone/>
            </a:pPr>
            <a:endParaRPr lang="en-US" sz="1400" dirty="0"/>
          </a:p>
          <a:p>
            <a:pPr>
              <a:buSzPct val="135000"/>
              <a:buFont typeface="Symbol" pitchFamily="18" charset="2"/>
              <a:buChar char="·"/>
            </a:pPr>
            <a:r>
              <a:rPr lang="en-US" sz="2400" dirty="0"/>
              <a:t>Dimension large compared to wavelength(</a:t>
            </a:r>
            <a:r>
              <a:rPr lang="en-US" sz="2400" dirty="0">
                <a:sym typeface="Symbol" pitchFamily="18" charset="2"/>
              </a:rPr>
              <a:t>) of EM wave</a:t>
            </a:r>
          </a:p>
          <a:p>
            <a:pPr>
              <a:buSzPct val="135000"/>
              <a:buFont typeface="Symbol" pitchFamily="18" charset="2"/>
              <a:buChar char="·"/>
            </a:pPr>
            <a:endParaRPr lang="en-US" sz="1400" dirty="0"/>
          </a:p>
          <a:p>
            <a:pPr>
              <a:buSzPct val="135000"/>
              <a:buFont typeface="Symbol" pitchFamily="18" charset="2"/>
              <a:buChar char="·"/>
            </a:pPr>
            <a:r>
              <a:rPr lang="en-US" sz="2400" dirty="0"/>
              <a:t>Examples: earth surface, buildings and walls.</a:t>
            </a:r>
          </a:p>
          <a:p>
            <a:pPr>
              <a:buSzPct val="135000"/>
              <a:buFont typeface="Symbol" pitchFamily="18" charset="2"/>
              <a:buNone/>
            </a:pPr>
            <a:endParaRPr lang="en-US" dirty="0"/>
          </a:p>
          <a:p>
            <a:pPr>
              <a:buSzPct val="135000"/>
              <a:buFont typeface="Symbol" pitchFamily="18" charset="2"/>
              <a:buNone/>
            </a:pPr>
            <a:endParaRPr lang="en-US" dirty="0"/>
          </a:p>
          <a:p>
            <a:pPr>
              <a:buSzPct val="135000"/>
              <a:buFont typeface="Symbol" pitchFamily="18" charset="2"/>
              <a:buNone/>
            </a:pPr>
            <a:endParaRPr lang="en-US" dirty="0"/>
          </a:p>
          <a:p>
            <a:pPr>
              <a:buSzPct val="135000"/>
              <a:buFont typeface="Symbol" pitchFamily="18" charset="2"/>
              <a:buNone/>
            </a:pPr>
            <a:endParaRPr lang="en-US" b="1" dirty="0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102497"/>
              </p:ext>
            </p:extLst>
          </p:nvPr>
        </p:nvGraphicFramePr>
        <p:xfrm>
          <a:off x="7110060" y="1860418"/>
          <a:ext cx="4591484" cy="2966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2523960" imgH="2009880" progId="Word.Picture.8">
                  <p:embed/>
                </p:oleObj>
              </mc:Choice>
              <mc:Fallback>
                <p:oleObj name="Picture" r:id="rId4" imgW="2523960" imgH="200988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0060" y="1860418"/>
                        <a:ext cx="4591484" cy="29666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600" b="1" dirty="0">
                <a:solidFill>
                  <a:srgbClr val="C00000"/>
                </a:solidFill>
                <a:latin typeface="+mn-lt"/>
              </a:rPr>
              <a:t>Electromagnetic Wave Propagation</a:t>
            </a:r>
          </a:p>
          <a:p>
            <a:pPr fontAlgn="auto">
              <a:spcAft>
                <a:spcPts val="0"/>
              </a:spcAft>
            </a:pPr>
            <a:r>
              <a:rPr lang="en-SG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>Radio Propagation Mechanism (2)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620C0F-EE73-4F30-AF39-905CB97AE90B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2" name="Pg7">
            <a:hlinkClick r:id="" action="ppaction://media"/>
            <a:extLst>
              <a:ext uri="{FF2B5EF4-FFF2-40B4-BE49-F238E27FC236}">
                <a16:creationId xmlns:a16="http://schemas.microsoft.com/office/drawing/2014/main" id="{F25E8C8A-0A55-4D2E-9AE5-4508EBE4CD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943475" y="574674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23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44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875420" y="837521"/>
            <a:ext cx="87129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1pPr>
            <a:lvl2pPr marL="742950" indent="-28575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2pPr>
            <a:lvl3pPr marL="1143000" indent="-22860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3pPr>
            <a:lvl4pPr marL="1600200" indent="-22860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4pPr>
            <a:lvl5pPr marL="2057400" indent="-22860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3200" dirty="0">
                <a:solidFill>
                  <a:srgbClr val="C00000"/>
                </a:solidFill>
                <a:latin typeface="+mn-lt"/>
                <a:ea typeface="宋体" pitchFamily="2" charset="-122"/>
              </a:rPr>
              <a:t>Diffraction</a:t>
            </a:r>
            <a:endParaRPr lang="en-GB" sz="32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651853" y="1524656"/>
            <a:ext cx="10441160" cy="3024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35000"/>
            </a:pPr>
            <a:r>
              <a:rPr lang="en-US" sz="2400" dirty="0"/>
              <a:t>Occurs when radio path is </a:t>
            </a:r>
            <a:r>
              <a:rPr lang="en-US" sz="2400" b="1" dirty="0">
                <a:solidFill>
                  <a:srgbClr val="0000FF"/>
                </a:solidFill>
              </a:rPr>
              <a:t>blocked by an object that has sharp irregularities</a:t>
            </a:r>
          </a:p>
          <a:p>
            <a:pPr>
              <a:buSzPct val="135000"/>
            </a:pPr>
            <a:r>
              <a:rPr lang="en-US" sz="2400" dirty="0"/>
              <a:t>It is also often </a:t>
            </a:r>
            <a:r>
              <a:rPr lang="en-SG" sz="2400" dirty="0"/>
              <a:t>termed </a:t>
            </a:r>
            <a:r>
              <a:rPr lang="en-SG" sz="2400" b="1" dirty="0">
                <a:solidFill>
                  <a:srgbClr val="0000FF"/>
                </a:solidFill>
              </a:rPr>
              <a:t>shadowing</a:t>
            </a:r>
            <a:r>
              <a:rPr lang="en-SG" sz="2400" dirty="0"/>
              <a:t> because the diffracted field can reach the receiver even when shadowed by an impenetrable obstruction – </a:t>
            </a:r>
            <a:r>
              <a:rPr lang="en-SG" sz="2400" b="1" dirty="0">
                <a:solidFill>
                  <a:srgbClr val="0000FF"/>
                </a:solidFill>
              </a:rPr>
              <a:t>shadow region</a:t>
            </a:r>
            <a:endParaRPr lang="en-US" sz="2400" b="1" dirty="0">
              <a:solidFill>
                <a:srgbClr val="3333CC"/>
              </a:solidFill>
            </a:endParaRPr>
          </a:p>
          <a:p>
            <a:pPr>
              <a:buSzPct val="135000"/>
            </a:pPr>
            <a:r>
              <a:rPr lang="en-US" sz="2400" b="1" dirty="0">
                <a:solidFill>
                  <a:srgbClr val="3333CC"/>
                </a:solidFill>
              </a:rPr>
              <a:t>Examples: </a:t>
            </a:r>
            <a:r>
              <a:rPr lang="en-SG" sz="2400" dirty="0"/>
              <a:t>Sharp projections (buildings, mountain peaks) produces a maximum diffracted signal</a:t>
            </a:r>
            <a:endParaRPr lang="en-US" sz="2400" dirty="0"/>
          </a:p>
          <a:p>
            <a:pPr marL="0" indent="0">
              <a:buSzPct val="135000"/>
              <a:buFont typeface="Arial" panose="020B0604020202020204" pitchFamily="34" charset="0"/>
              <a:buNone/>
            </a:pPr>
            <a:endParaRPr lang="en-US" sz="1600" dirty="0"/>
          </a:p>
          <a:p>
            <a:pPr>
              <a:buSzPct val="135000"/>
            </a:pPr>
            <a:endParaRPr lang="en-US" sz="1600" b="1" dirty="0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4528900"/>
              </p:ext>
            </p:extLst>
          </p:nvPr>
        </p:nvGraphicFramePr>
        <p:xfrm>
          <a:off x="3104128" y="3204486"/>
          <a:ext cx="7781013" cy="2689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4181400" imgH="1523880" progId="Word.Picture.8">
                  <p:embed/>
                </p:oleObj>
              </mc:Choice>
              <mc:Fallback>
                <p:oleObj name="Picture" r:id="rId4" imgW="4181400" imgH="152388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4128" y="3204486"/>
                        <a:ext cx="7781013" cy="26890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600" b="1" dirty="0">
                <a:solidFill>
                  <a:srgbClr val="C00000"/>
                </a:solidFill>
                <a:latin typeface="+mn-lt"/>
              </a:rPr>
              <a:t>Electromagnetic Wave Propagation</a:t>
            </a:r>
          </a:p>
          <a:p>
            <a:pPr fontAlgn="auto">
              <a:spcAft>
                <a:spcPts val="0"/>
              </a:spcAft>
            </a:pPr>
            <a:r>
              <a:rPr lang="en-SG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>Radio Propagation Mechanism (3)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5E8037-4459-478C-9492-596C45D03242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2" name="Pg8">
            <a:hlinkClick r:id="" action="ppaction://media"/>
            <a:extLst>
              <a:ext uri="{FF2B5EF4-FFF2-40B4-BE49-F238E27FC236}">
                <a16:creationId xmlns:a16="http://schemas.microsoft.com/office/drawing/2014/main" id="{76F0F469-2B21-4CD2-8A4B-9531D5902E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074677" y="564438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12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92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875420" y="798132"/>
            <a:ext cx="87129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1pPr>
            <a:lvl2pPr marL="742950" indent="-28575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2pPr>
            <a:lvl3pPr marL="1143000" indent="-22860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3pPr>
            <a:lvl4pPr marL="1600200" indent="-22860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4pPr>
            <a:lvl5pPr marL="2057400" indent="-22860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3200" dirty="0">
                <a:solidFill>
                  <a:srgbClr val="C00000"/>
                </a:solidFill>
                <a:latin typeface="+mn-lt"/>
                <a:ea typeface="宋体" pitchFamily="2" charset="-122"/>
              </a:rPr>
              <a:t>Scattering</a:t>
            </a:r>
            <a:endParaRPr lang="en-GB" sz="32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38693" y="1357010"/>
            <a:ext cx="7611222" cy="49497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30000"/>
              </a:lnSpc>
              <a:buFont typeface="Monotype Sorts" pitchFamily="2" charset="2"/>
              <a:buNone/>
            </a:pPr>
            <a:endParaRPr lang="en-US" sz="1800" b="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rgbClr val="000000"/>
                </a:solidFill>
              </a:rPr>
              <a:t>Occurs when the EM wave strikes small, rough surfaces or other irregularities objects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0000FF"/>
                </a:solidFill>
              </a:rPr>
              <a:t>Object’s dimension small as compared to wavelength (</a:t>
            </a:r>
            <a:r>
              <a:rPr lang="en-US" sz="2400" b="1" dirty="0">
                <a:solidFill>
                  <a:srgbClr val="0000FF"/>
                </a:solidFill>
                <a:sym typeface="Symbol" pitchFamily="18" charset="2"/>
              </a:rPr>
              <a:t>) of EM wave</a:t>
            </a:r>
            <a:endParaRPr lang="en-US" sz="2400" dirty="0">
              <a:solidFill>
                <a:srgbClr val="0000FF"/>
              </a:solidFill>
              <a:sym typeface="Symbol" pitchFamily="18" charset="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rgbClr val="000000"/>
                </a:solidFill>
              </a:rPr>
              <a:t>Examples: Foliage, lampposts and street signs</a:t>
            </a:r>
            <a:endParaRPr lang="en-US" sz="2400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Surface roughness is tested by Rayleigh criterion which </a:t>
            </a:r>
            <a:r>
              <a:rPr lang="en-US" sz="2400" b="1" dirty="0">
                <a:solidFill>
                  <a:srgbClr val="0000FF"/>
                </a:solidFill>
              </a:rPr>
              <a:t>defines a critical height </a:t>
            </a:r>
            <a:r>
              <a:rPr lang="en-US" sz="2400" b="1" i="1" dirty="0" err="1">
                <a:solidFill>
                  <a:srgbClr val="0000FF"/>
                </a:solidFill>
              </a:rPr>
              <a:t>h</a:t>
            </a:r>
            <a:r>
              <a:rPr lang="en-US" sz="2400" b="1" i="1" baseline="-25000" dirty="0" err="1">
                <a:solidFill>
                  <a:srgbClr val="0000FF"/>
                </a:solidFill>
              </a:rPr>
              <a:t>c</a:t>
            </a:r>
            <a:r>
              <a:rPr lang="en-US" sz="2400" b="1" baseline="-25000" dirty="0">
                <a:solidFill>
                  <a:srgbClr val="0000FF"/>
                </a:solidFill>
              </a:rPr>
              <a:t> </a:t>
            </a:r>
            <a:r>
              <a:rPr lang="en-US" sz="2400" b="1" dirty="0">
                <a:solidFill>
                  <a:srgbClr val="0000FF"/>
                </a:solidFill>
              </a:rPr>
              <a:t> of surface protuberances:</a:t>
            </a:r>
          </a:p>
          <a:p>
            <a:pPr>
              <a:buFont typeface="Monotype Sorts" pitchFamily="2" charset="2"/>
              <a:buNone/>
            </a:pPr>
            <a:endParaRPr lang="en-US" sz="2400" dirty="0"/>
          </a:p>
          <a:p>
            <a:pPr>
              <a:buFont typeface="Monotype Sorts" pitchFamily="2" charset="2"/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A </a:t>
            </a:r>
            <a:r>
              <a:rPr lang="en-US" sz="2400" b="1" dirty="0"/>
              <a:t>surface is considered </a:t>
            </a:r>
            <a:r>
              <a:rPr lang="en-US" sz="2400" b="1" dirty="0">
                <a:solidFill>
                  <a:srgbClr val="0000FF"/>
                </a:solidFill>
              </a:rPr>
              <a:t>smooth</a:t>
            </a:r>
            <a:r>
              <a:rPr lang="en-US" sz="2400" b="1" dirty="0"/>
              <a:t> </a:t>
            </a:r>
            <a:r>
              <a:rPr lang="en-US" sz="2400" dirty="0"/>
              <a:t>if its minimum to maximum protuberance </a:t>
            </a:r>
            <a:r>
              <a:rPr lang="en-US" sz="2400" b="1" i="1" dirty="0">
                <a:solidFill>
                  <a:srgbClr val="0000FF"/>
                </a:solidFill>
              </a:rPr>
              <a:t>h</a:t>
            </a:r>
            <a:r>
              <a:rPr lang="en-US" sz="2400" b="1" dirty="0">
                <a:solidFill>
                  <a:srgbClr val="0000FF"/>
                </a:solidFill>
              </a:rPr>
              <a:t> &lt; </a:t>
            </a:r>
            <a:r>
              <a:rPr lang="en-US" sz="2400" b="1" i="1" dirty="0" err="1">
                <a:solidFill>
                  <a:srgbClr val="0000FF"/>
                </a:solidFill>
              </a:rPr>
              <a:t>h</a:t>
            </a:r>
            <a:r>
              <a:rPr lang="en-US" sz="2400" b="1" i="1" baseline="-25000" dirty="0" err="1">
                <a:solidFill>
                  <a:srgbClr val="0000FF"/>
                </a:solidFill>
              </a:rPr>
              <a:t>c</a:t>
            </a:r>
            <a:r>
              <a:rPr lang="en-US" sz="2400" baseline="-250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and is considered </a:t>
            </a:r>
            <a:r>
              <a:rPr lang="en-US" sz="2400" b="1" dirty="0">
                <a:solidFill>
                  <a:srgbClr val="0000FF"/>
                </a:solidFill>
              </a:rPr>
              <a:t>rough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if the </a:t>
            </a:r>
            <a:r>
              <a:rPr lang="en-US" sz="2400" b="1" dirty="0"/>
              <a:t>protuberance </a:t>
            </a:r>
            <a:r>
              <a:rPr lang="en-US" sz="2400" b="1" dirty="0">
                <a:solidFill>
                  <a:srgbClr val="0000FF"/>
                </a:solidFill>
              </a:rPr>
              <a:t>h &gt; </a:t>
            </a:r>
            <a:r>
              <a:rPr lang="en-US" sz="2400" b="1" i="1" dirty="0" err="1">
                <a:solidFill>
                  <a:srgbClr val="0000FF"/>
                </a:solidFill>
              </a:rPr>
              <a:t>h</a:t>
            </a:r>
            <a:r>
              <a:rPr lang="en-US" sz="2400" b="1" i="1" baseline="-25000" dirty="0" err="1">
                <a:solidFill>
                  <a:srgbClr val="0000FF"/>
                </a:solidFill>
              </a:rPr>
              <a:t>c</a:t>
            </a:r>
            <a:endParaRPr lang="en-US" sz="2400" b="1" dirty="0">
              <a:solidFill>
                <a:srgbClr val="0000FF"/>
              </a:solidFill>
            </a:endParaRPr>
          </a:p>
          <a:p>
            <a:pPr>
              <a:lnSpc>
                <a:spcPct val="50000"/>
              </a:lnSpc>
              <a:buFont typeface="Monotype Sorts" pitchFamily="2" charset="2"/>
              <a:buNone/>
            </a:pPr>
            <a:endParaRPr lang="en-US" sz="2400" b="1" dirty="0"/>
          </a:p>
          <a:p>
            <a:pPr>
              <a:buFont typeface="Monotype Sorts" pitchFamily="2" charset="2"/>
              <a:buNone/>
            </a:pPr>
            <a:endParaRPr lang="en-US" sz="1800" dirty="0">
              <a:solidFill>
                <a:srgbClr val="000000"/>
              </a:solidFill>
            </a:endParaRPr>
          </a:p>
        </p:txBody>
      </p:sp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574713"/>
              </p:ext>
            </p:extLst>
          </p:nvPr>
        </p:nvGraphicFramePr>
        <p:xfrm>
          <a:off x="704389" y="3831889"/>
          <a:ext cx="5596050" cy="1224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98720" imgH="1168200" progId="Equation.3">
                  <p:embed/>
                </p:oleObj>
              </mc:Choice>
              <mc:Fallback>
                <p:oleObj name="Equation" r:id="rId4" imgW="4698720" imgH="116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389" y="3831889"/>
                        <a:ext cx="5596050" cy="12241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600" b="1" dirty="0">
                <a:solidFill>
                  <a:srgbClr val="C00000"/>
                </a:solidFill>
                <a:latin typeface="+mn-lt"/>
              </a:rPr>
              <a:t>Electromagnetic Wave Propagation</a:t>
            </a:r>
          </a:p>
          <a:p>
            <a:pPr fontAlgn="auto">
              <a:spcAft>
                <a:spcPts val="0"/>
              </a:spcAft>
            </a:pPr>
            <a:r>
              <a:rPr lang="en-SG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>Radio Propagation Mechanism (4)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5C6CA3-D0B0-4940-9D7E-E0E26D0E1D61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7275" name="Picture 107" descr="Light Rayleigh Scattering Reflection Radiation, PNG, 1024x1024px, Light, Absorption, Area, Black, Black And White Download Free">
            <a:extLst>
              <a:ext uri="{FF2B5EF4-FFF2-40B4-BE49-F238E27FC236}">
                <a16:creationId xmlns:a16="http://schemas.microsoft.com/office/drawing/2014/main" id="{ADAF4939-853B-456C-AB34-6FB65C6CE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2092" y="1486630"/>
            <a:ext cx="3245519" cy="4538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g9">
            <a:hlinkClick r:id="" action="ppaction://media"/>
            <a:extLst>
              <a:ext uri="{FF2B5EF4-FFF2-40B4-BE49-F238E27FC236}">
                <a16:creationId xmlns:a16="http://schemas.microsoft.com/office/drawing/2014/main" id="{232F9248-8C8B-444B-B439-0703CEB023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949795" y="582376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84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17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800980" y="1005184"/>
            <a:ext cx="10156374" cy="4721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1pPr>
            <a:lvl2pPr marL="742950" indent="-28575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2pPr>
            <a:lvl3pPr marL="1143000" indent="-22860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3pPr>
            <a:lvl4pPr marL="1600200" indent="-22860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4pPr>
            <a:lvl5pPr marL="2057400" indent="-22860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sz="3200" dirty="0">
                <a:solidFill>
                  <a:srgbClr val="C00000"/>
                </a:solidFill>
                <a:latin typeface="+mn-lt"/>
                <a:ea typeface="宋体" pitchFamily="2" charset="-122"/>
              </a:rPr>
              <a:t>Example</a:t>
            </a:r>
          </a:p>
          <a:p>
            <a:pPr>
              <a:spcBef>
                <a:spcPct val="20000"/>
              </a:spcBef>
            </a:pPr>
            <a:endParaRPr lang="en-US" sz="1200" dirty="0">
              <a:solidFill>
                <a:srgbClr val="C00000"/>
              </a:solidFill>
              <a:latin typeface="+mn-lt"/>
              <a:ea typeface="宋体" pitchFamily="2" charset="-122"/>
            </a:endParaRPr>
          </a:p>
          <a:p>
            <a:pPr lvl="0"/>
            <a:r>
              <a:rPr lang="en-GB" sz="2400" dirty="0">
                <a:latin typeface="+mn-lt"/>
              </a:rPr>
              <a:t>An electromagnetic signal may encounter reflection or scattering when it hits an obstacle. Explain when reflection and scattering occur.	        </a:t>
            </a:r>
            <a:endParaRPr lang="en-US" sz="2400" dirty="0">
              <a:latin typeface="+mn-lt"/>
            </a:endParaRPr>
          </a:p>
          <a:p>
            <a:endParaRPr lang="en-US" sz="2400" dirty="0">
              <a:latin typeface="+mn-lt"/>
            </a:endParaRPr>
          </a:p>
          <a:p>
            <a:r>
              <a:rPr lang="en-US" sz="2400" b="1" u="sng" dirty="0">
                <a:latin typeface="+mn-lt"/>
              </a:rPr>
              <a:t>ANS</a:t>
            </a:r>
            <a:endParaRPr lang="en-US" sz="2400" dirty="0">
              <a:latin typeface="+mn-lt"/>
            </a:endParaRPr>
          </a:p>
          <a:p>
            <a:r>
              <a:rPr lang="en-US" sz="2400" dirty="0">
                <a:latin typeface="+mn-lt"/>
              </a:rPr>
              <a:t>When the EM signal hits an object whose dimension is very large compared to its wavelength, it undergoes reflection.           </a:t>
            </a:r>
          </a:p>
          <a:p>
            <a:r>
              <a:rPr lang="en-US" sz="2400" dirty="0">
                <a:latin typeface="+mn-lt"/>
              </a:rPr>
              <a:t> </a:t>
            </a:r>
          </a:p>
          <a:p>
            <a:r>
              <a:rPr lang="en-US" sz="2400" dirty="0">
                <a:latin typeface="+mn-lt"/>
              </a:rPr>
              <a:t>When the EM signal hits a small object whose dimension is small compared to its wavelength, it is redirected in all directions.	</a:t>
            </a:r>
          </a:p>
          <a:p>
            <a:pPr>
              <a:spcBef>
                <a:spcPct val="20000"/>
              </a:spcBef>
            </a:pPr>
            <a:endParaRPr lang="en-GB" sz="32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600" b="1" dirty="0">
                <a:solidFill>
                  <a:srgbClr val="C00000"/>
                </a:solidFill>
                <a:latin typeface="+mn-lt"/>
              </a:rPr>
              <a:t>Electromagnetic Wave Propagation</a:t>
            </a:r>
          </a:p>
          <a:p>
            <a:pPr fontAlgn="auto">
              <a:spcAft>
                <a:spcPts val="0"/>
              </a:spcAft>
            </a:pPr>
            <a:r>
              <a:rPr lang="en-SG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>Radio Propagation Mechanism (5)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7D95CC-FE80-47E3-A239-13FF532DFA98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2" name="Pg10">
            <a:hlinkClick r:id="" action="ppaction://media"/>
            <a:extLst>
              <a:ext uri="{FF2B5EF4-FFF2-40B4-BE49-F238E27FC236}">
                <a16:creationId xmlns:a16="http://schemas.microsoft.com/office/drawing/2014/main" id="{0FE58393-887E-4196-A6A1-A1880E5FCBF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988446" y="566029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92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9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FC98708-38A9-95E6-463A-00F330A7FCE7}"/>
              </a:ext>
            </a:extLst>
          </p:cNvPr>
          <p:cNvSpPr/>
          <p:nvPr/>
        </p:nvSpPr>
        <p:spPr>
          <a:xfrm>
            <a:off x="0" y="0"/>
            <a:ext cx="92528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00B354-AC29-9415-C079-6303DAE28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54" y="5853409"/>
            <a:ext cx="1762125" cy="542925"/>
          </a:xfrm>
          <a:prstGeom prst="rect">
            <a:avLst/>
          </a:prstGeom>
        </p:spPr>
      </p:pic>
      <p:sp>
        <p:nvSpPr>
          <p:cNvPr id="10" name="TextBox 9">
            <a:hlinkClick r:id="rId3"/>
            <a:extLst>
              <a:ext uri="{FF2B5EF4-FFF2-40B4-BE49-F238E27FC236}">
                <a16:creationId xmlns:a16="http://schemas.microsoft.com/office/drawing/2014/main" id="{B25313B6-9315-861D-CF0C-337303B1DEF1}"/>
              </a:ext>
            </a:extLst>
          </p:cNvPr>
          <p:cNvSpPr txBox="1"/>
          <p:nvPr/>
        </p:nvSpPr>
        <p:spPr>
          <a:xfrm>
            <a:off x="2332238" y="5663207"/>
            <a:ext cx="75275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Roboto" panose="02000000000000000000" pitchFamily="2" charset="0"/>
              </a:rPr>
              <a:t>Link Budget Part 1. Reflection, Refraction, Diffraction or Scattering, When EM Wave Hit an Obstacle.</a:t>
            </a:r>
          </a:p>
          <a:p>
            <a:r>
              <a:rPr lang="en-US" b="0" i="0" u="none" strike="noStrike" dirty="0">
                <a:solidFill>
                  <a:srgbClr val="065FD4"/>
                </a:solidFill>
                <a:effectLst/>
                <a:latin typeface="Roboto" panose="02000000000000000000" pitchFamily="2" charset="0"/>
                <a:hlinkClick r:id="rId3"/>
              </a:rPr>
              <a:t>https://youtu.be/xPiMMvZ5zTQ</a:t>
            </a:r>
            <a:endParaRPr lang="en-US" b="0" i="0" dirty="0">
              <a:solidFill>
                <a:srgbClr val="0D0D0D"/>
              </a:solidFill>
              <a:effectLst/>
              <a:latin typeface="Roboto" panose="02000000000000000000" pitchFamily="2" charset="0"/>
            </a:endParaRPr>
          </a:p>
        </p:txBody>
      </p:sp>
      <p:pic>
        <p:nvPicPr>
          <p:cNvPr id="4100" name="Picture 4" descr="Miscellaneous Video's – Centurian Park Family">
            <a:hlinkClick r:id="rId3"/>
            <a:extLst>
              <a:ext uri="{FF2B5EF4-FFF2-40B4-BE49-F238E27FC236}">
                <a16:creationId xmlns:a16="http://schemas.microsoft.com/office/drawing/2014/main" id="{F2FC59B5-8F70-388F-0F76-A765F7749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6552" y="94229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hlinkClick r:id="rId3"/>
            <a:extLst>
              <a:ext uri="{FF2B5EF4-FFF2-40B4-BE49-F238E27FC236}">
                <a16:creationId xmlns:a16="http://schemas.microsoft.com/office/drawing/2014/main" id="{ABEF0202-9D09-6249-7FC1-94F81D53C14B}"/>
              </a:ext>
            </a:extLst>
          </p:cNvPr>
          <p:cNvSpPr txBox="1"/>
          <p:nvPr/>
        </p:nvSpPr>
        <p:spPr>
          <a:xfrm>
            <a:off x="9859762" y="3085420"/>
            <a:ext cx="20811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Pls see this </a:t>
            </a:r>
            <a:r>
              <a:rPr lang="en-SG" sz="3200" dirty="0" err="1"/>
              <a:t>Youtube</a:t>
            </a:r>
            <a:r>
              <a:rPr lang="en-SG" sz="3200" dirty="0"/>
              <a:t> video to understand more</a:t>
            </a:r>
            <a:r>
              <a:rPr lang="en-SG" dirty="0"/>
              <a:t>.</a:t>
            </a:r>
          </a:p>
        </p:txBody>
      </p:sp>
      <p:pic>
        <p:nvPicPr>
          <p:cNvPr id="4" name="Picture 3">
            <a:hlinkClick r:id="rId3"/>
            <a:extLst>
              <a:ext uri="{FF2B5EF4-FFF2-40B4-BE49-F238E27FC236}">
                <a16:creationId xmlns:a16="http://schemas.microsoft.com/office/drawing/2014/main" id="{C0AF77B6-FB3F-B913-73F7-D4A0FB3CD9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23" y="138499"/>
            <a:ext cx="9649719" cy="540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202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-46783" y="1467964"/>
            <a:ext cx="5513571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Ground waves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0000FF"/>
                </a:solidFill>
              </a:rPr>
              <a:t>Space waves </a:t>
            </a:r>
            <a:r>
              <a:rPr lang="en-US" sz="2400" dirty="0"/>
              <a:t>– travels </a:t>
            </a:r>
            <a:r>
              <a:rPr lang="en-US" sz="2400" u="sng" dirty="0"/>
              <a:t>over</a:t>
            </a:r>
            <a:r>
              <a:rPr lang="en-US" sz="2400" dirty="0"/>
              <a:t> the earth surface.  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0000FF"/>
                </a:solidFill>
              </a:rPr>
              <a:t>Surface waves </a:t>
            </a:r>
            <a:r>
              <a:rPr lang="en-US" sz="2400" dirty="0"/>
              <a:t>– travels </a:t>
            </a:r>
            <a:r>
              <a:rPr lang="en-US" sz="2400" u="sng" dirty="0"/>
              <a:t>along</a:t>
            </a:r>
            <a:r>
              <a:rPr lang="en-US" sz="2400" dirty="0"/>
              <a:t> the surface of the earth. </a:t>
            </a:r>
            <a:r>
              <a:rPr lang="en-GB" sz="2400" dirty="0"/>
              <a:t>Signal usually below 2MHz (LF and MF bands)</a:t>
            </a:r>
            <a:endParaRPr lang="en-US" sz="24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Sky waves - </a:t>
            </a:r>
            <a:r>
              <a:rPr lang="en-US" dirty="0"/>
              <a:t>radio wave propagated upward from earth, whether reflected by the ionosphere or not.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dirty="0">
              <a:solidFill>
                <a:srgbClr val="0000FF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5873022" y="1334967"/>
            <a:ext cx="5919630" cy="3879614"/>
            <a:chOff x="128714" y="1346200"/>
            <a:chExt cx="8824454" cy="4684580"/>
          </a:xfrm>
        </p:grpSpPr>
        <p:grpSp>
          <p:nvGrpSpPr>
            <p:cNvPr id="9" name="Group 3"/>
            <p:cNvGrpSpPr>
              <a:grpSpLocks/>
            </p:cNvGrpSpPr>
            <p:nvPr/>
          </p:nvGrpSpPr>
          <p:grpSpPr bwMode="auto">
            <a:xfrm>
              <a:off x="609600" y="3048000"/>
              <a:ext cx="685800" cy="1524000"/>
              <a:chOff x="384" y="1776"/>
              <a:chExt cx="432" cy="960"/>
            </a:xfrm>
          </p:grpSpPr>
          <p:sp>
            <p:nvSpPr>
              <p:cNvPr id="31" name="Line 4"/>
              <p:cNvSpPr>
                <a:spLocks noChangeShapeType="1"/>
              </p:cNvSpPr>
              <p:nvPr/>
            </p:nvSpPr>
            <p:spPr bwMode="auto">
              <a:xfrm>
                <a:off x="384" y="2208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SG" sz="1100"/>
              </a:p>
            </p:txBody>
          </p:sp>
          <p:sp>
            <p:nvSpPr>
              <p:cNvPr id="32" name="Line 5"/>
              <p:cNvSpPr>
                <a:spLocks noChangeShapeType="1"/>
              </p:cNvSpPr>
              <p:nvPr/>
            </p:nvSpPr>
            <p:spPr bwMode="auto">
              <a:xfrm flipV="1">
                <a:off x="816" y="1776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SG" sz="1100"/>
              </a:p>
            </p:txBody>
          </p:sp>
          <p:sp>
            <p:nvSpPr>
              <p:cNvPr id="33" name="Line 6"/>
              <p:cNvSpPr>
                <a:spLocks noChangeShapeType="1"/>
              </p:cNvSpPr>
              <p:nvPr/>
            </p:nvSpPr>
            <p:spPr bwMode="auto">
              <a:xfrm>
                <a:off x="384" y="2304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SG" sz="1100"/>
              </a:p>
            </p:txBody>
          </p:sp>
          <p:sp>
            <p:nvSpPr>
              <p:cNvPr id="34" name="Line 7"/>
              <p:cNvSpPr>
                <a:spLocks noChangeShapeType="1"/>
              </p:cNvSpPr>
              <p:nvPr/>
            </p:nvSpPr>
            <p:spPr bwMode="auto">
              <a:xfrm flipV="1">
                <a:off x="816" y="2304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SG" sz="1100"/>
              </a:p>
            </p:txBody>
          </p:sp>
        </p:grpSp>
        <p:grpSp>
          <p:nvGrpSpPr>
            <p:cNvPr id="10" name="Group 8"/>
            <p:cNvGrpSpPr>
              <a:grpSpLocks/>
            </p:cNvGrpSpPr>
            <p:nvPr/>
          </p:nvGrpSpPr>
          <p:grpSpPr bwMode="auto">
            <a:xfrm flipH="1">
              <a:off x="7696200" y="3048000"/>
              <a:ext cx="685800" cy="1524000"/>
              <a:chOff x="2400" y="1872"/>
              <a:chExt cx="432" cy="960"/>
            </a:xfrm>
          </p:grpSpPr>
          <p:sp>
            <p:nvSpPr>
              <p:cNvPr id="27" name="Line 9"/>
              <p:cNvSpPr>
                <a:spLocks noChangeShapeType="1"/>
              </p:cNvSpPr>
              <p:nvPr/>
            </p:nvSpPr>
            <p:spPr bwMode="auto">
              <a:xfrm>
                <a:off x="2400" y="2304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SG" sz="1100"/>
              </a:p>
            </p:txBody>
          </p:sp>
          <p:sp>
            <p:nvSpPr>
              <p:cNvPr id="28" name="Line 10"/>
              <p:cNvSpPr>
                <a:spLocks noChangeShapeType="1"/>
              </p:cNvSpPr>
              <p:nvPr/>
            </p:nvSpPr>
            <p:spPr bwMode="auto">
              <a:xfrm flipV="1">
                <a:off x="2832" y="1872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SG" sz="1100"/>
              </a:p>
            </p:txBody>
          </p:sp>
          <p:sp>
            <p:nvSpPr>
              <p:cNvPr id="29" name="Line 11"/>
              <p:cNvSpPr>
                <a:spLocks noChangeShapeType="1"/>
              </p:cNvSpPr>
              <p:nvPr/>
            </p:nvSpPr>
            <p:spPr bwMode="auto">
              <a:xfrm>
                <a:off x="2400" y="240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SG" sz="1100"/>
              </a:p>
            </p:txBody>
          </p:sp>
          <p:sp>
            <p:nvSpPr>
              <p:cNvPr id="30" name="Line 12"/>
              <p:cNvSpPr>
                <a:spLocks noChangeShapeType="1"/>
              </p:cNvSpPr>
              <p:nvPr/>
            </p:nvSpPr>
            <p:spPr bwMode="auto">
              <a:xfrm flipV="1">
                <a:off x="2832" y="240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SG" sz="1100"/>
              </a:p>
            </p:txBody>
          </p:sp>
        </p:grpSp>
        <p:sp>
          <p:nvSpPr>
            <p:cNvPr id="11" name="Line 13"/>
            <p:cNvSpPr>
              <a:spLocks noChangeShapeType="1"/>
            </p:cNvSpPr>
            <p:nvPr/>
          </p:nvSpPr>
          <p:spPr bwMode="auto">
            <a:xfrm>
              <a:off x="1371600" y="3810000"/>
              <a:ext cx="6019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 sz="1100"/>
            </a:p>
          </p:txBody>
        </p:sp>
        <p:sp>
          <p:nvSpPr>
            <p:cNvPr id="12" name="Freeform 14"/>
            <p:cNvSpPr>
              <a:spLocks/>
            </p:cNvSpPr>
            <p:nvPr/>
          </p:nvSpPr>
          <p:spPr bwMode="auto">
            <a:xfrm>
              <a:off x="838200" y="1346200"/>
              <a:ext cx="7391400" cy="1168400"/>
            </a:xfrm>
            <a:custGeom>
              <a:avLst/>
              <a:gdLst>
                <a:gd name="T0" fmla="*/ 0 w 4656"/>
                <a:gd name="T1" fmla="*/ 1854835178 h 736"/>
                <a:gd name="T2" fmla="*/ 2056447431 w 4656"/>
                <a:gd name="T3" fmla="*/ 645159984 h 736"/>
                <a:gd name="T4" fmla="*/ 2147483647 w 4656"/>
                <a:gd name="T5" fmla="*/ 161289996 h 736"/>
                <a:gd name="T6" fmla="*/ 2147483647 w 4656"/>
                <a:gd name="T7" fmla="*/ 161289996 h 736"/>
                <a:gd name="T8" fmla="*/ 2147483647 w 4656"/>
                <a:gd name="T9" fmla="*/ 1129030022 h 736"/>
                <a:gd name="T10" fmla="*/ 2147483647 w 4656"/>
                <a:gd name="T11" fmla="*/ 1854835178 h 7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56"/>
                <a:gd name="T19" fmla="*/ 0 h 736"/>
                <a:gd name="T20" fmla="*/ 4656 w 4656"/>
                <a:gd name="T21" fmla="*/ 736 h 7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56" h="736">
                  <a:moveTo>
                    <a:pt x="0" y="736"/>
                  </a:moveTo>
                  <a:cubicBezTo>
                    <a:pt x="252" y="552"/>
                    <a:pt x="504" y="368"/>
                    <a:pt x="816" y="256"/>
                  </a:cubicBezTo>
                  <a:cubicBezTo>
                    <a:pt x="1128" y="144"/>
                    <a:pt x="1520" y="96"/>
                    <a:pt x="1872" y="64"/>
                  </a:cubicBezTo>
                  <a:cubicBezTo>
                    <a:pt x="2224" y="32"/>
                    <a:pt x="2552" y="0"/>
                    <a:pt x="2928" y="64"/>
                  </a:cubicBezTo>
                  <a:cubicBezTo>
                    <a:pt x="3304" y="128"/>
                    <a:pt x="3840" y="336"/>
                    <a:pt x="4128" y="448"/>
                  </a:cubicBezTo>
                  <a:cubicBezTo>
                    <a:pt x="4416" y="560"/>
                    <a:pt x="4536" y="648"/>
                    <a:pt x="4656" y="73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100"/>
            </a:p>
          </p:txBody>
        </p:sp>
        <p:sp>
          <p:nvSpPr>
            <p:cNvPr id="13" name="Freeform 15"/>
            <p:cNvSpPr>
              <a:spLocks/>
            </p:cNvSpPr>
            <p:nvPr/>
          </p:nvSpPr>
          <p:spPr bwMode="auto">
            <a:xfrm>
              <a:off x="914400" y="1905000"/>
              <a:ext cx="7391400" cy="1168400"/>
            </a:xfrm>
            <a:custGeom>
              <a:avLst/>
              <a:gdLst>
                <a:gd name="T0" fmla="*/ 0 w 4656"/>
                <a:gd name="T1" fmla="*/ 1854835178 h 736"/>
                <a:gd name="T2" fmla="*/ 2056447431 w 4656"/>
                <a:gd name="T3" fmla="*/ 645159984 h 736"/>
                <a:gd name="T4" fmla="*/ 2147483647 w 4656"/>
                <a:gd name="T5" fmla="*/ 161289996 h 736"/>
                <a:gd name="T6" fmla="*/ 2147483647 w 4656"/>
                <a:gd name="T7" fmla="*/ 161289996 h 736"/>
                <a:gd name="T8" fmla="*/ 2147483647 w 4656"/>
                <a:gd name="T9" fmla="*/ 1129030022 h 736"/>
                <a:gd name="T10" fmla="*/ 2147483647 w 4656"/>
                <a:gd name="T11" fmla="*/ 1854835178 h 7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56"/>
                <a:gd name="T19" fmla="*/ 0 h 736"/>
                <a:gd name="T20" fmla="*/ 4656 w 4656"/>
                <a:gd name="T21" fmla="*/ 736 h 7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56" h="736">
                  <a:moveTo>
                    <a:pt x="0" y="736"/>
                  </a:moveTo>
                  <a:cubicBezTo>
                    <a:pt x="252" y="552"/>
                    <a:pt x="504" y="368"/>
                    <a:pt x="816" y="256"/>
                  </a:cubicBezTo>
                  <a:cubicBezTo>
                    <a:pt x="1128" y="144"/>
                    <a:pt x="1520" y="96"/>
                    <a:pt x="1872" y="64"/>
                  </a:cubicBezTo>
                  <a:cubicBezTo>
                    <a:pt x="2224" y="32"/>
                    <a:pt x="2552" y="0"/>
                    <a:pt x="2928" y="64"/>
                  </a:cubicBezTo>
                  <a:cubicBezTo>
                    <a:pt x="3304" y="128"/>
                    <a:pt x="3840" y="336"/>
                    <a:pt x="4128" y="448"/>
                  </a:cubicBezTo>
                  <a:cubicBezTo>
                    <a:pt x="4416" y="560"/>
                    <a:pt x="4536" y="648"/>
                    <a:pt x="4656" y="73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100"/>
            </a:p>
          </p:txBody>
        </p:sp>
        <p:sp>
          <p:nvSpPr>
            <p:cNvPr id="14" name="Text Box 16"/>
            <p:cNvSpPr txBox="1">
              <a:spLocks noChangeArrowheads="1"/>
            </p:cNvSpPr>
            <p:nvPr/>
          </p:nvSpPr>
          <p:spPr bwMode="auto">
            <a:xfrm>
              <a:off x="2895600" y="1523999"/>
              <a:ext cx="3067009" cy="4356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100"/>
                <a:t>Earth’s Upper Atmosphere</a:t>
              </a:r>
            </a:p>
          </p:txBody>
        </p:sp>
        <p:sp>
          <p:nvSpPr>
            <p:cNvPr id="15" name="Rectangle 17" descr="Light upward diagonal"/>
            <p:cNvSpPr>
              <a:spLocks noChangeArrowheads="1"/>
            </p:cNvSpPr>
            <p:nvPr/>
          </p:nvSpPr>
          <p:spPr bwMode="auto">
            <a:xfrm>
              <a:off x="533400" y="5486400"/>
              <a:ext cx="8077200" cy="533400"/>
            </a:xfrm>
            <a:prstGeom prst="rect">
              <a:avLst/>
            </a:prstGeom>
            <a:pattFill prst="ltUpDiag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 sz="1100"/>
            </a:p>
          </p:txBody>
        </p:sp>
        <p:sp>
          <p:nvSpPr>
            <p:cNvPr id="16" name="Line 18"/>
            <p:cNvSpPr>
              <a:spLocks noChangeShapeType="1"/>
            </p:cNvSpPr>
            <p:nvPr/>
          </p:nvSpPr>
          <p:spPr bwMode="auto">
            <a:xfrm flipV="1">
              <a:off x="1371599" y="1909255"/>
              <a:ext cx="3192945" cy="1824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 sz="1100"/>
            </a:p>
          </p:txBody>
        </p:sp>
        <p:sp>
          <p:nvSpPr>
            <p:cNvPr id="17" name="Line 19"/>
            <p:cNvSpPr>
              <a:spLocks noChangeShapeType="1"/>
            </p:cNvSpPr>
            <p:nvPr/>
          </p:nvSpPr>
          <p:spPr bwMode="auto">
            <a:xfrm>
              <a:off x="4564548" y="1923308"/>
              <a:ext cx="2903052" cy="17342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 sz="1100"/>
            </a:p>
          </p:txBody>
        </p:sp>
        <p:sp>
          <p:nvSpPr>
            <p:cNvPr id="18" name="Line 22"/>
            <p:cNvSpPr>
              <a:spLocks noChangeShapeType="1"/>
            </p:cNvSpPr>
            <p:nvPr/>
          </p:nvSpPr>
          <p:spPr bwMode="auto">
            <a:xfrm>
              <a:off x="1447800" y="4114800"/>
              <a:ext cx="990600" cy="15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 sz="1100"/>
            </a:p>
          </p:txBody>
        </p:sp>
        <p:sp>
          <p:nvSpPr>
            <p:cNvPr id="19" name="Line 23"/>
            <p:cNvSpPr>
              <a:spLocks noChangeShapeType="1"/>
            </p:cNvSpPr>
            <p:nvPr/>
          </p:nvSpPr>
          <p:spPr bwMode="auto">
            <a:xfrm>
              <a:off x="2438400" y="5638800"/>
              <a:ext cx="419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 sz="1100"/>
            </a:p>
          </p:txBody>
        </p:sp>
        <p:sp>
          <p:nvSpPr>
            <p:cNvPr id="20" name="Line 24"/>
            <p:cNvSpPr>
              <a:spLocks noChangeShapeType="1"/>
            </p:cNvSpPr>
            <p:nvPr/>
          </p:nvSpPr>
          <p:spPr bwMode="auto">
            <a:xfrm flipV="1">
              <a:off x="6629400" y="4191000"/>
              <a:ext cx="838200" cy="144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 sz="1100"/>
            </a:p>
          </p:txBody>
        </p:sp>
        <p:sp>
          <p:nvSpPr>
            <p:cNvPr id="21" name="Text Box 25"/>
            <p:cNvSpPr txBox="1">
              <a:spLocks noChangeArrowheads="1"/>
            </p:cNvSpPr>
            <p:nvPr/>
          </p:nvSpPr>
          <p:spPr bwMode="auto">
            <a:xfrm>
              <a:off x="6629400" y="5595177"/>
              <a:ext cx="1908089" cy="4356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100" dirty="0"/>
                <a:t>Earth’s Surface</a:t>
              </a:r>
            </a:p>
          </p:txBody>
        </p:sp>
        <p:sp>
          <p:nvSpPr>
            <p:cNvPr id="22" name="Text Box 26"/>
            <p:cNvSpPr txBox="1">
              <a:spLocks noChangeArrowheads="1"/>
            </p:cNvSpPr>
            <p:nvPr/>
          </p:nvSpPr>
          <p:spPr bwMode="auto">
            <a:xfrm>
              <a:off x="2727324" y="3465513"/>
              <a:ext cx="3674443" cy="435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100" b="1" dirty="0"/>
                <a:t>Direct LOS wave (space wave)</a:t>
              </a:r>
            </a:p>
          </p:txBody>
        </p:sp>
        <p:sp>
          <p:nvSpPr>
            <p:cNvPr id="23" name="Text Box 27"/>
            <p:cNvSpPr txBox="1">
              <a:spLocks noChangeArrowheads="1"/>
            </p:cNvSpPr>
            <p:nvPr/>
          </p:nvSpPr>
          <p:spPr bwMode="auto">
            <a:xfrm rot="19898155">
              <a:off x="1827284" y="2619855"/>
              <a:ext cx="1361931" cy="4356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100" b="1" dirty="0"/>
                <a:t>Sky wave</a:t>
              </a:r>
            </a:p>
          </p:txBody>
        </p:sp>
        <p:sp>
          <p:nvSpPr>
            <p:cNvPr id="24" name="Text Box 29"/>
            <p:cNvSpPr txBox="1">
              <a:spLocks noChangeArrowheads="1"/>
            </p:cNvSpPr>
            <p:nvPr/>
          </p:nvSpPr>
          <p:spPr bwMode="auto">
            <a:xfrm>
              <a:off x="4825214" y="5079089"/>
              <a:ext cx="1804186" cy="4356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100" b="1" dirty="0"/>
                <a:t>Surface wave</a:t>
              </a:r>
            </a:p>
          </p:txBody>
        </p:sp>
        <p:sp>
          <p:nvSpPr>
            <p:cNvPr id="25" name="Text Box 30"/>
            <p:cNvSpPr txBox="1">
              <a:spLocks noChangeArrowheads="1"/>
            </p:cNvSpPr>
            <p:nvPr/>
          </p:nvSpPr>
          <p:spPr bwMode="auto">
            <a:xfrm>
              <a:off x="128714" y="3962399"/>
              <a:ext cx="1218065" cy="717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100" dirty="0"/>
                <a:t>Transmit</a:t>
              </a:r>
            </a:p>
            <a:p>
              <a:r>
                <a:rPr lang="en-US" sz="1100" dirty="0"/>
                <a:t>Antenna</a:t>
              </a:r>
            </a:p>
          </p:txBody>
        </p:sp>
        <p:sp>
          <p:nvSpPr>
            <p:cNvPr id="26" name="Text Box 31"/>
            <p:cNvSpPr txBox="1">
              <a:spLocks noChangeArrowheads="1"/>
            </p:cNvSpPr>
            <p:nvPr/>
          </p:nvSpPr>
          <p:spPr bwMode="auto">
            <a:xfrm>
              <a:off x="7772401" y="3962399"/>
              <a:ext cx="1180767" cy="717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100" dirty="0"/>
                <a:t>Receive</a:t>
              </a:r>
            </a:p>
            <a:p>
              <a:r>
                <a:rPr lang="en-US" sz="1100" dirty="0"/>
                <a:t>Antenna</a:t>
              </a:r>
            </a:p>
          </p:txBody>
        </p:sp>
      </p:grpSp>
      <p:sp>
        <p:nvSpPr>
          <p:cNvPr id="42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600" b="1" dirty="0">
                <a:solidFill>
                  <a:srgbClr val="C00000"/>
                </a:solidFill>
                <a:latin typeface="+mn-lt"/>
              </a:rPr>
              <a:t>Electromagnetic Wave Propagation</a:t>
            </a:r>
          </a:p>
          <a:p>
            <a:pPr fontAlgn="auto">
              <a:spcAft>
                <a:spcPts val="0"/>
              </a:spcAft>
            </a:pPr>
            <a:r>
              <a:rPr lang="en-SG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>RF Propagation Modes (1)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D1DF8B9-7F10-40A3-9ED0-B422E7098431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3" name="Pg11">
            <a:hlinkClick r:id="" action="ppaction://media"/>
            <a:extLst>
              <a:ext uri="{FF2B5EF4-FFF2-40B4-BE49-F238E27FC236}">
                <a16:creationId xmlns:a16="http://schemas.microsoft.com/office/drawing/2014/main" id="{097C353A-3A30-47ED-A6C4-6237F7C55A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929019" y="579116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147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42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/>
          <p:cNvGrpSpPr/>
          <p:nvPr/>
        </p:nvGrpSpPr>
        <p:grpSpPr>
          <a:xfrm>
            <a:off x="398294" y="952756"/>
            <a:ext cx="3750154" cy="2059787"/>
            <a:chOff x="-190110" y="1257300"/>
            <a:chExt cx="10396630" cy="5052377"/>
          </a:xfrm>
        </p:grpSpPr>
        <p:sp>
          <p:nvSpPr>
            <p:cNvPr id="55" name="Rectangle 25"/>
            <p:cNvSpPr>
              <a:spLocks noChangeArrowheads="1"/>
            </p:cNvSpPr>
            <p:nvPr/>
          </p:nvSpPr>
          <p:spPr bwMode="auto">
            <a:xfrm>
              <a:off x="1219200" y="1511300"/>
              <a:ext cx="5549900" cy="952500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SG" sz="1000"/>
            </a:p>
          </p:txBody>
        </p:sp>
        <p:sp>
          <p:nvSpPr>
            <p:cNvPr id="56" name="Text Box 5"/>
            <p:cNvSpPr txBox="1">
              <a:spLocks noChangeArrowheads="1"/>
            </p:cNvSpPr>
            <p:nvPr/>
          </p:nvSpPr>
          <p:spPr bwMode="auto">
            <a:xfrm>
              <a:off x="731184" y="5279647"/>
              <a:ext cx="9475336" cy="10300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GB" sz="1200" b="1" u="sng" dirty="0">
                  <a:solidFill>
                    <a:srgbClr val="0000FF"/>
                  </a:solidFill>
                </a:rPr>
                <a:t>Effects of</a:t>
              </a:r>
              <a:r>
                <a:rPr lang="en-GB" sz="1200" u="sng" dirty="0">
                  <a:solidFill>
                    <a:srgbClr val="0000FF"/>
                  </a:solidFill>
                </a:rPr>
                <a:t> </a:t>
              </a:r>
              <a:r>
                <a:rPr lang="en-GB" sz="1200" b="1" u="sng" dirty="0" err="1">
                  <a:solidFill>
                    <a:srgbClr val="0000FF"/>
                  </a:solidFill>
                </a:rPr>
                <a:t>Ionospheric</a:t>
              </a:r>
              <a:r>
                <a:rPr lang="en-GB" sz="1200" b="1" u="sng" dirty="0">
                  <a:solidFill>
                    <a:srgbClr val="0000FF"/>
                  </a:solidFill>
                </a:rPr>
                <a:t> Density</a:t>
              </a:r>
              <a:r>
                <a:rPr lang="en-GB" sz="1200" b="1" dirty="0">
                  <a:solidFill>
                    <a:srgbClr val="0000FF"/>
                  </a:solidFill>
                </a:rPr>
                <a:t> </a:t>
              </a:r>
              <a:r>
                <a:rPr lang="en-GB" sz="1200" b="1" dirty="0"/>
                <a:t>on Radio Waves</a:t>
              </a:r>
              <a:r>
                <a:rPr lang="en-GB" sz="1200" dirty="0"/>
                <a:t> </a:t>
              </a:r>
            </a:p>
            <a:p>
              <a:r>
                <a:rPr lang="en-GB" sz="1200" b="1" i="1" dirty="0">
                  <a:solidFill>
                    <a:srgbClr val="0000FF"/>
                  </a:solidFill>
                </a:rPr>
                <a:t>Higher ionization density refracts more!</a:t>
              </a:r>
              <a:endParaRPr lang="en-US" sz="1200" b="1" i="1" dirty="0">
                <a:solidFill>
                  <a:srgbClr val="0000FF"/>
                </a:solidFill>
              </a:endParaRPr>
            </a:p>
          </p:txBody>
        </p:sp>
        <p:grpSp>
          <p:nvGrpSpPr>
            <p:cNvPr id="57" name="Group 7"/>
            <p:cNvGrpSpPr>
              <a:grpSpLocks/>
            </p:cNvGrpSpPr>
            <p:nvPr/>
          </p:nvGrpSpPr>
          <p:grpSpPr bwMode="auto">
            <a:xfrm>
              <a:off x="1155700" y="4876800"/>
              <a:ext cx="5473700" cy="457200"/>
              <a:chOff x="1008" y="2584"/>
              <a:chExt cx="3448" cy="288"/>
            </a:xfrm>
          </p:grpSpPr>
          <p:sp>
            <p:nvSpPr>
              <p:cNvPr id="113" name="Freeform 8"/>
              <p:cNvSpPr>
                <a:spLocks/>
              </p:cNvSpPr>
              <p:nvPr/>
            </p:nvSpPr>
            <p:spPr bwMode="auto">
              <a:xfrm>
                <a:off x="1008" y="2584"/>
                <a:ext cx="1720" cy="288"/>
              </a:xfrm>
              <a:custGeom>
                <a:avLst/>
                <a:gdLst>
                  <a:gd name="T0" fmla="*/ 0 w 1720"/>
                  <a:gd name="T1" fmla="*/ 288 h 288"/>
                  <a:gd name="T2" fmla="*/ 544 w 1720"/>
                  <a:gd name="T3" fmla="*/ 144 h 288"/>
                  <a:gd name="T4" fmla="*/ 1208 w 1720"/>
                  <a:gd name="T5" fmla="*/ 40 h 288"/>
                  <a:gd name="T6" fmla="*/ 1456 w 1720"/>
                  <a:gd name="T7" fmla="*/ 8 h 288"/>
                  <a:gd name="T8" fmla="*/ 1720 w 1720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20" h="288">
                    <a:moveTo>
                      <a:pt x="0" y="288"/>
                    </a:moveTo>
                    <a:cubicBezTo>
                      <a:pt x="171" y="236"/>
                      <a:pt x="343" y="185"/>
                      <a:pt x="544" y="144"/>
                    </a:cubicBezTo>
                    <a:cubicBezTo>
                      <a:pt x="745" y="103"/>
                      <a:pt x="1056" y="63"/>
                      <a:pt x="1208" y="40"/>
                    </a:cubicBezTo>
                    <a:cubicBezTo>
                      <a:pt x="1360" y="17"/>
                      <a:pt x="1371" y="15"/>
                      <a:pt x="1456" y="8"/>
                    </a:cubicBezTo>
                    <a:cubicBezTo>
                      <a:pt x="1541" y="1"/>
                      <a:pt x="1630" y="0"/>
                      <a:pt x="172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 sz="1000"/>
              </a:p>
            </p:txBody>
          </p:sp>
          <p:sp>
            <p:nvSpPr>
              <p:cNvPr id="114" name="Freeform 9"/>
              <p:cNvSpPr>
                <a:spLocks/>
              </p:cNvSpPr>
              <p:nvPr/>
            </p:nvSpPr>
            <p:spPr bwMode="auto">
              <a:xfrm flipH="1">
                <a:off x="2736" y="2584"/>
                <a:ext cx="1720" cy="288"/>
              </a:xfrm>
              <a:custGeom>
                <a:avLst/>
                <a:gdLst>
                  <a:gd name="T0" fmla="*/ 0 w 1720"/>
                  <a:gd name="T1" fmla="*/ 288 h 288"/>
                  <a:gd name="T2" fmla="*/ 544 w 1720"/>
                  <a:gd name="T3" fmla="*/ 144 h 288"/>
                  <a:gd name="T4" fmla="*/ 1208 w 1720"/>
                  <a:gd name="T5" fmla="*/ 40 h 288"/>
                  <a:gd name="T6" fmla="*/ 1456 w 1720"/>
                  <a:gd name="T7" fmla="*/ 8 h 288"/>
                  <a:gd name="T8" fmla="*/ 1720 w 1720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20" h="288">
                    <a:moveTo>
                      <a:pt x="0" y="288"/>
                    </a:moveTo>
                    <a:cubicBezTo>
                      <a:pt x="171" y="236"/>
                      <a:pt x="343" y="185"/>
                      <a:pt x="544" y="144"/>
                    </a:cubicBezTo>
                    <a:cubicBezTo>
                      <a:pt x="745" y="103"/>
                      <a:pt x="1056" y="63"/>
                      <a:pt x="1208" y="40"/>
                    </a:cubicBezTo>
                    <a:cubicBezTo>
                      <a:pt x="1360" y="17"/>
                      <a:pt x="1371" y="15"/>
                      <a:pt x="1456" y="8"/>
                    </a:cubicBezTo>
                    <a:cubicBezTo>
                      <a:pt x="1541" y="1"/>
                      <a:pt x="1630" y="0"/>
                      <a:pt x="172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 sz="1000"/>
              </a:p>
            </p:txBody>
          </p:sp>
        </p:grpSp>
        <p:sp>
          <p:nvSpPr>
            <p:cNvPr id="58" name="Freeform 12"/>
            <p:cNvSpPr>
              <a:spLocks/>
            </p:cNvSpPr>
            <p:nvPr/>
          </p:nvSpPr>
          <p:spPr bwMode="auto">
            <a:xfrm>
              <a:off x="1511300" y="2266950"/>
              <a:ext cx="4914900" cy="2228850"/>
            </a:xfrm>
            <a:custGeom>
              <a:avLst/>
              <a:gdLst>
                <a:gd name="T0" fmla="*/ 0 w 2704"/>
                <a:gd name="T1" fmla="*/ 2193750 h 1524"/>
                <a:gd name="T2" fmla="*/ 959714 w 2704"/>
                <a:gd name="T3" fmla="*/ 1082250 h 1524"/>
                <a:gd name="T4" fmla="*/ 1788558 w 2704"/>
                <a:gd name="T5" fmla="*/ 438750 h 1524"/>
                <a:gd name="T6" fmla="*/ 2646485 w 2704"/>
                <a:gd name="T7" fmla="*/ 64350 h 1524"/>
                <a:gd name="T8" fmla="*/ 2908225 w 2704"/>
                <a:gd name="T9" fmla="*/ 52650 h 1524"/>
                <a:gd name="T10" fmla="*/ 3111801 w 2704"/>
                <a:gd name="T11" fmla="*/ 76050 h 1524"/>
                <a:gd name="T12" fmla="*/ 3649822 w 2704"/>
                <a:gd name="T13" fmla="*/ 391950 h 1524"/>
                <a:gd name="T14" fmla="*/ 4914900 w 2704"/>
                <a:gd name="T15" fmla="*/ 2228850 h 15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04" h="1524">
                  <a:moveTo>
                    <a:pt x="0" y="1500"/>
                  </a:moveTo>
                  <a:cubicBezTo>
                    <a:pt x="182" y="1220"/>
                    <a:pt x="364" y="940"/>
                    <a:pt x="528" y="740"/>
                  </a:cubicBezTo>
                  <a:cubicBezTo>
                    <a:pt x="692" y="540"/>
                    <a:pt x="829" y="416"/>
                    <a:pt x="984" y="300"/>
                  </a:cubicBezTo>
                  <a:cubicBezTo>
                    <a:pt x="1139" y="184"/>
                    <a:pt x="1353" y="88"/>
                    <a:pt x="1456" y="44"/>
                  </a:cubicBezTo>
                  <a:cubicBezTo>
                    <a:pt x="1559" y="0"/>
                    <a:pt x="1557" y="35"/>
                    <a:pt x="1600" y="36"/>
                  </a:cubicBezTo>
                  <a:cubicBezTo>
                    <a:pt x="1643" y="37"/>
                    <a:pt x="1644" y="13"/>
                    <a:pt x="1712" y="52"/>
                  </a:cubicBezTo>
                  <a:cubicBezTo>
                    <a:pt x="1780" y="91"/>
                    <a:pt x="1843" y="23"/>
                    <a:pt x="2008" y="268"/>
                  </a:cubicBezTo>
                  <a:cubicBezTo>
                    <a:pt x="2173" y="513"/>
                    <a:pt x="2589" y="1311"/>
                    <a:pt x="2704" y="1524"/>
                  </a:cubicBezTo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 sz="1000"/>
            </a:p>
          </p:txBody>
        </p:sp>
        <p:sp>
          <p:nvSpPr>
            <p:cNvPr id="59" name="Freeform 13"/>
            <p:cNvSpPr>
              <a:spLocks/>
            </p:cNvSpPr>
            <p:nvPr/>
          </p:nvSpPr>
          <p:spPr bwMode="auto">
            <a:xfrm>
              <a:off x="1536700" y="1885950"/>
              <a:ext cx="4927600" cy="2584450"/>
            </a:xfrm>
            <a:custGeom>
              <a:avLst/>
              <a:gdLst>
                <a:gd name="T0" fmla="*/ 0 w 2704"/>
                <a:gd name="T1" fmla="*/ 2543750 h 1524"/>
                <a:gd name="T2" fmla="*/ 962194 w 2704"/>
                <a:gd name="T3" fmla="*/ 1254917 h 1524"/>
                <a:gd name="T4" fmla="*/ 1793180 w 2704"/>
                <a:gd name="T5" fmla="*/ 508750 h 1524"/>
                <a:gd name="T6" fmla="*/ 2653323 w 2704"/>
                <a:gd name="T7" fmla="*/ 74617 h 1524"/>
                <a:gd name="T8" fmla="*/ 2915740 w 2704"/>
                <a:gd name="T9" fmla="*/ 61050 h 1524"/>
                <a:gd name="T10" fmla="*/ 3119841 w 2704"/>
                <a:gd name="T11" fmla="*/ 88183 h 1524"/>
                <a:gd name="T12" fmla="*/ 3659253 w 2704"/>
                <a:gd name="T13" fmla="*/ 454483 h 1524"/>
                <a:gd name="T14" fmla="*/ 4927600 w 2704"/>
                <a:gd name="T15" fmla="*/ 2584450 h 15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04" h="1524">
                  <a:moveTo>
                    <a:pt x="0" y="1500"/>
                  </a:moveTo>
                  <a:cubicBezTo>
                    <a:pt x="182" y="1220"/>
                    <a:pt x="364" y="940"/>
                    <a:pt x="528" y="740"/>
                  </a:cubicBezTo>
                  <a:cubicBezTo>
                    <a:pt x="692" y="540"/>
                    <a:pt x="829" y="416"/>
                    <a:pt x="984" y="300"/>
                  </a:cubicBezTo>
                  <a:cubicBezTo>
                    <a:pt x="1139" y="184"/>
                    <a:pt x="1353" y="88"/>
                    <a:pt x="1456" y="44"/>
                  </a:cubicBezTo>
                  <a:cubicBezTo>
                    <a:pt x="1559" y="0"/>
                    <a:pt x="1557" y="35"/>
                    <a:pt x="1600" y="36"/>
                  </a:cubicBezTo>
                  <a:cubicBezTo>
                    <a:pt x="1643" y="37"/>
                    <a:pt x="1644" y="13"/>
                    <a:pt x="1712" y="52"/>
                  </a:cubicBezTo>
                  <a:cubicBezTo>
                    <a:pt x="1780" y="91"/>
                    <a:pt x="1843" y="23"/>
                    <a:pt x="2008" y="268"/>
                  </a:cubicBezTo>
                  <a:cubicBezTo>
                    <a:pt x="2173" y="513"/>
                    <a:pt x="2589" y="1311"/>
                    <a:pt x="2704" y="1524"/>
                  </a:cubicBezTo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 sz="1000"/>
            </a:p>
          </p:txBody>
        </p:sp>
        <p:sp>
          <p:nvSpPr>
            <p:cNvPr id="60" name="Text Box 15"/>
            <p:cNvSpPr txBox="1">
              <a:spLocks noChangeArrowheads="1"/>
            </p:cNvSpPr>
            <p:nvPr/>
          </p:nvSpPr>
          <p:spPr bwMode="auto">
            <a:xfrm>
              <a:off x="-190110" y="1813597"/>
              <a:ext cx="1662296" cy="471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GB" sz="1000" dirty="0"/>
                <a:t>ionosphere</a:t>
              </a:r>
              <a:endParaRPr lang="en-US" sz="1000" dirty="0"/>
            </a:p>
          </p:txBody>
        </p:sp>
        <p:grpSp>
          <p:nvGrpSpPr>
            <p:cNvPr id="61" name="Group 26"/>
            <p:cNvGrpSpPr>
              <a:grpSpLocks/>
            </p:cNvGrpSpPr>
            <p:nvPr/>
          </p:nvGrpSpPr>
          <p:grpSpPr bwMode="auto">
            <a:xfrm rot="1312758">
              <a:off x="6142038" y="4446588"/>
              <a:ext cx="434975" cy="796925"/>
              <a:chOff x="924" y="3776"/>
              <a:chExt cx="304" cy="1057"/>
            </a:xfrm>
          </p:grpSpPr>
          <p:grpSp>
            <p:nvGrpSpPr>
              <p:cNvPr id="90" name="Group 27"/>
              <p:cNvGrpSpPr>
                <a:grpSpLocks/>
              </p:cNvGrpSpPr>
              <p:nvPr/>
            </p:nvGrpSpPr>
            <p:grpSpPr bwMode="auto">
              <a:xfrm>
                <a:off x="927" y="4294"/>
                <a:ext cx="301" cy="539"/>
                <a:chOff x="927" y="4294"/>
                <a:chExt cx="301" cy="539"/>
              </a:xfrm>
            </p:grpSpPr>
            <p:grpSp>
              <p:nvGrpSpPr>
                <p:cNvPr id="98" name="Group 28"/>
                <p:cNvGrpSpPr>
                  <a:grpSpLocks/>
                </p:cNvGrpSpPr>
                <p:nvPr/>
              </p:nvGrpSpPr>
              <p:grpSpPr bwMode="auto">
                <a:xfrm>
                  <a:off x="927" y="4309"/>
                  <a:ext cx="193" cy="521"/>
                  <a:chOff x="927" y="4309"/>
                  <a:chExt cx="193" cy="521"/>
                </a:xfrm>
              </p:grpSpPr>
              <p:sp>
                <p:nvSpPr>
                  <p:cNvPr id="106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1005" y="4310"/>
                    <a:ext cx="70" cy="1"/>
                  </a:xfrm>
                  <a:prstGeom prst="line">
                    <a:avLst/>
                  </a:prstGeom>
                  <a:noFill/>
                  <a:ln w="14288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SG" sz="1000"/>
                  </a:p>
                </p:txBody>
              </p:sp>
              <p:sp>
                <p:nvSpPr>
                  <p:cNvPr id="107" name="Line 3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83" y="4315"/>
                    <a:ext cx="89" cy="108"/>
                  </a:xfrm>
                  <a:prstGeom prst="line">
                    <a:avLst/>
                  </a:prstGeom>
                  <a:noFill/>
                  <a:ln w="14288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SG" sz="1000"/>
                  </a:p>
                </p:txBody>
              </p:sp>
              <p:sp>
                <p:nvSpPr>
                  <p:cNvPr id="108" name="Line 31"/>
                  <p:cNvSpPr>
                    <a:spLocks noChangeShapeType="1"/>
                  </p:cNvSpPr>
                  <p:nvPr/>
                </p:nvSpPr>
                <p:spPr bwMode="auto">
                  <a:xfrm>
                    <a:off x="982" y="4425"/>
                    <a:ext cx="121" cy="232"/>
                  </a:xfrm>
                  <a:prstGeom prst="line">
                    <a:avLst/>
                  </a:prstGeom>
                  <a:noFill/>
                  <a:ln w="14288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SG" sz="1000"/>
                  </a:p>
                </p:txBody>
              </p:sp>
              <p:sp>
                <p:nvSpPr>
                  <p:cNvPr id="109" name="Line 3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27" y="4652"/>
                    <a:ext cx="173" cy="174"/>
                  </a:xfrm>
                  <a:prstGeom prst="line">
                    <a:avLst/>
                  </a:prstGeom>
                  <a:noFill/>
                  <a:ln w="14288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SG" sz="1000"/>
                  </a:p>
                </p:txBody>
              </p:sp>
              <p:sp>
                <p:nvSpPr>
                  <p:cNvPr id="110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952" y="4654"/>
                    <a:ext cx="168" cy="176"/>
                  </a:xfrm>
                  <a:prstGeom prst="line">
                    <a:avLst/>
                  </a:prstGeom>
                  <a:noFill/>
                  <a:ln w="14288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SG" sz="1000"/>
                  </a:p>
                </p:txBody>
              </p:sp>
              <p:sp>
                <p:nvSpPr>
                  <p:cNvPr id="111" name="Line 3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49" y="4425"/>
                    <a:ext cx="133" cy="224"/>
                  </a:xfrm>
                  <a:prstGeom prst="line">
                    <a:avLst/>
                  </a:prstGeom>
                  <a:noFill/>
                  <a:ln w="14288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SG" sz="1000"/>
                  </a:p>
                </p:txBody>
              </p:sp>
              <p:sp>
                <p:nvSpPr>
                  <p:cNvPr id="112" name="Line 35"/>
                  <p:cNvSpPr>
                    <a:spLocks noChangeShapeType="1"/>
                  </p:cNvSpPr>
                  <p:nvPr/>
                </p:nvSpPr>
                <p:spPr bwMode="auto">
                  <a:xfrm>
                    <a:off x="1005" y="4309"/>
                    <a:ext cx="81" cy="123"/>
                  </a:xfrm>
                  <a:prstGeom prst="line">
                    <a:avLst/>
                  </a:prstGeom>
                  <a:noFill/>
                  <a:ln w="14288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SG" sz="1000"/>
                  </a:p>
                </p:txBody>
              </p:sp>
            </p:grpSp>
            <p:sp>
              <p:nvSpPr>
                <p:cNvPr id="99" name="Line 36"/>
                <p:cNvSpPr>
                  <a:spLocks noChangeShapeType="1"/>
                </p:cNvSpPr>
                <p:nvPr/>
              </p:nvSpPr>
              <p:spPr bwMode="auto">
                <a:xfrm flipV="1">
                  <a:off x="1118" y="4618"/>
                  <a:ext cx="72" cy="215"/>
                </a:xfrm>
                <a:prstGeom prst="line">
                  <a:avLst/>
                </a:prstGeom>
                <a:noFill/>
                <a:ln w="14288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  <p:sp>
              <p:nvSpPr>
                <p:cNvPr id="100" name="Line 37"/>
                <p:cNvSpPr>
                  <a:spLocks noChangeShapeType="1"/>
                </p:cNvSpPr>
                <p:nvPr/>
              </p:nvSpPr>
              <p:spPr bwMode="auto">
                <a:xfrm>
                  <a:off x="1089" y="4429"/>
                  <a:ext cx="102" cy="192"/>
                </a:xfrm>
                <a:prstGeom prst="line">
                  <a:avLst/>
                </a:prstGeom>
                <a:noFill/>
                <a:ln w="14288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  <p:sp>
              <p:nvSpPr>
                <p:cNvPr id="101" name="Line 38"/>
                <p:cNvSpPr>
                  <a:spLocks noChangeShapeType="1"/>
                </p:cNvSpPr>
                <p:nvPr/>
              </p:nvSpPr>
              <p:spPr bwMode="auto">
                <a:xfrm flipV="1">
                  <a:off x="1090" y="4296"/>
                  <a:ext cx="24" cy="134"/>
                </a:xfrm>
                <a:prstGeom prst="line">
                  <a:avLst/>
                </a:prstGeom>
                <a:noFill/>
                <a:ln w="14288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  <p:sp>
              <p:nvSpPr>
                <p:cNvPr id="102" name="Line 39"/>
                <p:cNvSpPr>
                  <a:spLocks noChangeShapeType="1"/>
                </p:cNvSpPr>
                <p:nvPr/>
              </p:nvSpPr>
              <p:spPr bwMode="auto">
                <a:xfrm flipV="1">
                  <a:off x="1077" y="4294"/>
                  <a:ext cx="42" cy="19"/>
                </a:xfrm>
                <a:prstGeom prst="line">
                  <a:avLst/>
                </a:prstGeom>
                <a:noFill/>
                <a:ln w="14288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  <p:sp>
              <p:nvSpPr>
                <p:cNvPr id="103" name="Line 40"/>
                <p:cNvSpPr>
                  <a:spLocks noChangeShapeType="1"/>
                </p:cNvSpPr>
                <p:nvPr/>
              </p:nvSpPr>
              <p:spPr bwMode="auto">
                <a:xfrm>
                  <a:off x="1078" y="4313"/>
                  <a:ext cx="62" cy="95"/>
                </a:xfrm>
                <a:prstGeom prst="line">
                  <a:avLst/>
                </a:prstGeom>
                <a:noFill/>
                <a:ln w="14288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  <p:sp>
              <p:nvSpPr>
                <p:cNvPr id="104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1107" y="4408"/>
                  <a:ext cx="28" cy="246"/>
                </a:xfrm>
                <a:prstGeom prst="line">
                  <a:avLst/>
                </a:prstGeom>
                <a:noFill/>
                <a:ln w="14288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  <p:sp>
              <p:nvSpPr>
                <p:cNvPr id="105" name="Line 42"/>
                <p:cNvSpPr>
                  <a:spLocks noChangeShapeType="1"/>
                </p:cNvSpPr>
                <p:nvPr/>
              </p:nvSpPr>
              <p:spPr bwMode="auto">
                <a:xfrm>
                  <a:off x="1108" y="4653"/>
                  <a:ext cx="120" cy="115"/>
                </a:xfrm>
                <a:prstGeom prst="line">
                  <a:avLst/>
                </a:prstGeom>
                <a:noFill/>
                <a:ln w="14288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</p:grpSp>
          <p:grpSp>
            <p:nvGrpSpPr>
              <p:cNvPr id="91" name="Group 43"/>
              <p:cNvGrpSpPr>
                <a:grpSpLocks/>
              </p:cNvGrpSpPr>
              <p:nvPr/>
            </p:nvGrpSpPr>
            <p:grpSpPr bwMode="auto">
              <a:xfrm>
                <a:off x="924" y="4040"/>
                <a:ext cx="296" cy="788"/>
                <a:chOff x="924" y="4040"/>
                <a:chExt cx="296" cy="788"/>
              </a:xfrm>
            </p:grpSpPr>
            <p:sp>
              <p:nvSpPr>
                <p:cNvPr id="93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924" y="4040"/>
                  <a:ext cx="117" cy="781"/>
                </a:xfrm>
                <a:prstGeom prst="line">
                  <a:avLst/>
                </a:prstGeom>
                <a:noFill/>
                <a:ln w="412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  <p:sp>
              <p:nvSpPr>
                <p:cNvPr id="94" name="Line 45"/>
                <p:cNvSpPr>
                  <a:spLocks noChangeShapeType="1"/>
                </p:cNvSpPr>
                <p:nvPr/>
              </p:nvSpPr>
              <p:spPr bwMode="auto">
                <a:xfrm>
                  <a:off x="1045" y="4062"/>
                  <a:ext cx="75" cy="766"/>
                </a:xfrm>
                <a:prstGeom prst="line">
                  <a:avLst/>
                </a:prstGeom>
                <a:noFill/>
                <a:ln w="412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  <p:sp>
              <p:nvSpPr>
                <p:cNvPr id="95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1119" y="4762"/>
                  <a:ext cx="99" cy="62"/>
                </a:xfrm>
                <a:prstGeom prst="line">
                  <a:avLst/>
                </a:prstGeom>
                <a:noFill/>
                <a:ln w="412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  <p:sp>
              <p:nvSpPr>
                <p:cNvPr id="96" name="Line 47"/>
                <p:cNvSpPr>
                  <a:spLocks noChangeShapeType="1"/>
                </p:cNvSpPr>
                <p:nvPr/>
              </p:nvSpPr>
              <p:spPr bwMode="auto">
                <a:xfrm>
                  <a:off x="1058" y="4056"/>
                  <a:ext cx="162" cy="711"/>
                </a:xfrm>
                <a:prstGeom prst="line">
                  <a:avLst/>
                </a:prstGeom>
                <a:noFill/>
                <a:ln w="412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  <p:sp>
              <p:nvSpPr>
                <p:cNvPr id="97" name="Line 48"/>
                <p:cNvSpPr>
                  <a:spLocks noChangeShapeType="1"/>
                </p:cNvSpPr>
                <p:nvPr/>
              </p:nvSpPr>
              <p:spPr bwMode="auto">
                <a:xfrm>
                  <a:off x="926" y="4822"/>
                  <a:ext cx="196" cy="4"/>
                </a:xfrm>
                <a:prstGeom prst="line">
                  <a:avLst/>
                </a:prstGeom>
                <a:noFill/>
                <a:ln w="412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</p:grpSp>
          <p:sp>
            <p:nvSpPr>
              <p:cNvPr id="92" name="Line 49"/>
              <p:cNvSpPr>
                <a:spLocks noChangeShapeType="1"/>
              </p:cNvSpPr>
              <p:nvPr/>
            </p:nvSpPr>
            <p:spPr bwMode="auto">
              <a:xfrm flipV="1">
                <a:off x="1040" y="3776"/>
                <a:ext cx="0" cy="248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 sz="1000"/>
              </a:p>
            </p:txBody>
          </p:sp>
        </p:grpSp>
        <p:grpSp>
          <p:nvGrpSpPr>
            <p:cNvPr id="62" name="Group 50"/>
            <p:cNvGrpSpPr>
              <a:grpSpLocks/>
            </p:cNvGrpSpPr>
            <p:nvPr/>
          </p:nvGrpSpPr>
          <p:grpSpPr bwMode="auto">
            <a:xfrm rot="-969829">
              <a:off x="1366838" y="4459288"/>
              <a:ext cx="434975" cy="796925"/>
              <a:chOff x="924" y="3776"/>
              <a:chExt cx="304" cy="1057"/>
            </a:xfrm>
          </p:grpSpPr>
          <p:grpSp>
            <p:nvGrpSpPr>
              <p:cNvPr id="67" name="Group 51"/>
              <p:cNvGrpSpPr>
                <a:grpSpLocks/>
              </p:cNvGrpSpPr>
              <p:nvPr/>
            </p:nvGrpSpPr>
            <p:grpSpPr bwMode="auto">
              <a:xfrm>
                <a:off x="927" y="4294"/>
                <a:ext cx="301" cy="539"/>
                <a:chOff x="927" y="4294"/>
                <a:chExt cx="301" cy="539"/>
              </a:xfrm>
            </p:grpSpPr>
            <p:grpSp>
              <p:nvGrpSpPr>
                <p:cNvPr id="75" name="Group 52"/>
                <p:cNvGrpSpPr>
                  <a:grpSpLocks/>
                </p:cNvGrpSpPr>
                <p:nvPr/>
              </p:nvGrpSpPr>
              <p:grpSpPr bwMode="auto">
                <a:xfrm>
                  <a:off x="927" y="4309"/>
                  <a:ext cx="193" cy="521"/>
                  <a:chOff x="927" y="4309"/>
                  <a:chExt cx="193" cy="521"/>
                </a:xfrm>
              </p:grpSpPr>
              <p:sp>
                <p:nvSpPr>
                  <p:cNvPr id="83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1005" y="4310"/>
                    <a:ext cx="70" cy="1"/>
                  </a:xfrm>
                  <a:prstGeom prst="line">
                    <a:avLst/>
                  </a:prstGeom>
                  <a:noFill/>
                  <a:ln w="14288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SG" sz="1000"/>
                  </a:p>
                </p:txBody>
              </p:sp>
              <p:sp>
                <p:nvSpPr>
                  <p:cNvPr id="84" name="Line 5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83" y="4315"/>
                    <a:ext cx="89" cy="108"/>
                  </a:xfrm>
                  <a:prstGeom prst="line">
                    <a:avLst/>
                  </a:prstGeom>
                  <a:noFill/>
                  <a:ln w="14288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SG" sz="1000"/>
                  </a:p>
                </p:txBody>
              </p:sp>
              <p:sp>
                <p:nvSpPr>
                  <p:cNvPr id="85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982" y="4425"/>
                    <a:ext cx="121" cy="232"/>
                  </a:xfrm>
                  <a:prstGeom prst="line">
                    <a:avLst/>
                  </a:prstGeom>
                  <a:noFill/>
                  <a:ln w="14288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SG" sz="1000"/>
                  </a:p>
                </p:txBody>
              </p:sp>
              <p:sp>
                <p:nvSpPr>
                  <p:cNvPr id="86" name="Line 5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27" y="4652"/>
                    <a:ext cx="173" cy="174"/>
                  </a:xfrm>
                  <a:prstGeom prst="line">
                    <a:avLst/>
                  </a:prstGeom>
                  <a:noFill/>
                  <a:ln w="14288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SG" sz="1000"/>
                  </a:p>
                </p:txBody>
              </p:sp>
              <p:sp>
                <p:nvSpPr>
                  <p:cNvPr id="87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952" y="4654"/>
                    <a:ext cx="168" cy="176"/>
                  </a:xfrm>
                  <a:prstGeom prst="line">
                    <a:avLst/>
                  </a:prstGeom>
                  <a:noFill/>
                  <a:ln w="14288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SG" sz="1000"/>
                  </a:p>
                </p:txBody>
              </p:sp>
              <p:sp>
                <p:nvSpPr>
                  <p:cNvPr id="88" name="Line 5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49" y="4425"/>
                    <a:ext cx="133" cy="224"/>
                  </a:xfrm>
                  <a:prstGeom prst="line">
                    <a:avLst/>
                  </a:prstGeom>
                  <a:noFill/>
                  <a:ln w="14288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SG" sz="1000"/>
                  </a:p>
                </p:txBody>
              </p:sp>
              <p:sp>
                <p:nvSpPr>
                  <p:cNvPr id="89" name="Line 59"/>
                  <p:cNvSpPr>
                    <a:spLocks noChangeShapeType="1"/>
                  </p:cNvSpPr>
                  <p:nvPr/>
                </p:nvSpPr>
                <p:spPr bwMode="auto">
                  <a:xfrm>
                    <a:off x="1005" y="4309"/>
                    <a:ext cx="81" cy="123"/>
                  </a:xfrm>
                  <a:prstGeom prst="line">
                    <a:avLst/>
                  </a:prstGeom>
                  <a:noFill/>
                  <a:ln w="14288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SG" sz="1000"/>
                  </a:p>
                </p:txBody>
              </p:sp>
            </p:grpSp>
            <p:sp>
              <p:nvSpPr>
                <p:cNvPr id="76" name="Line 60"/>
                <p:cNvSpPr>
                  <a:spLocks noChangeShapeType="1"/>
                </p:cNvSpPr>
                <p:nvPr/>
              </p:nvSpPr>
              <p:spPr bwMode="auto">
                <a:xfrm flipV="1">
                  <a:off x="1118" y="4618"/>
                  <a:ext cx="72" cy="215"/>
                </a:xfrm>
                <a:prstGeom prst="line">
                  <a:avLst/>
                </a:prstGeom>
                <a:noFill/>
                <a:ln w="14288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  <p:sp>
              <p:nvSpPr>
                <p:cNvPr id="77" name="Line 61"/>
                <p:cNvSpPr>
                  <a:spLocks noChangeShapeType="1"/>
                </p:cNvSpPr>
                <p:nvPr/>
              </p:nvSpPr>
              <p:spPr bwMode="auto">
                <a:xfrm>
                  <a:off x="1089" y="4429"/>
                  <a:ext cx="102" cy="192"/>
                </a:xfrm>
                <a:prstGeom prst="line">
                  <a:avLst/>
                </a:prstGeom>
                <a:noFill/>
                <a:ln w="14288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  <p:sp>
              <p:nvSpPr>
                <p:cNvPr id="78" name="Line 62"/>
                <p:cNvSpPr>
                  <a:spLocks noChangeShapeType="1"/>
                </p:cNvSpPr>
                <p:nvPr/>
              </p:nvSpPr>
              <p:spPr bwMode="auto">
                <a:xfrm flipV="1">
                  <a:off x="1090" y="4296"/>
                  <a:ext cx="24" cy="134"/>
                </a:xfrm>
                <a:prstGeom prst="line">
                  <a:avLst/>
                </a:prstGeom>
                <a:noFill/>
                <a:ln w="14288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  <p:sp>
              <p:nvSpPr>
                <p:cNvPr id="79" name="Line 63"/>
                <p:cNvSpPr>
                  <a:spLocks noChangeShapeType="1"/>
                </p:cNvSpPr>
                <p:nvPr/>
              </p:nvSpPr>
              <p:spPr bwMode="auto">
                <a:xfrm flipV="1">
                  <a:off x="1077" y="4294"/>
                  <a:ext cx="42" cy="19"/>
                </a:xfrm>
                <a:prstGeom prst="line">
                  <a:avLst/>
                </a:prstGeom>
                <a:noFill/>
                <a:ln w="14288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  <p:sp>
              <p:nvSpPr>
                <p:cNvPr id="80" name="Line 64"/>
                <p:cNvSpPr>
                  <a:spLocks noChangeShapeType="1"/>
                </p:cNvSpPr>
                <p:nvPr/>
              </p:nvSpPr>
              <p:spPr bwMode="auto">
                <a:xfrm>
                  <a:off x="1078" y="4313"/>
                  <a:ext cx="62" cy="95"/>
                </a:xfrm>
                <a:prstGeom prst="line">
                  <a:avLst/>
                </a:prstGeom>
                <a:noFill/>
                <a:ln w="14288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  <p:sp>
              <p:nvSpPr>
                <p:cNvPr id="81" name="Line 65"/>
                <p:cNvSpPr>
                  <a:spLocks noChangeShapeType="1"/>
                </p:cNvSpPr>
                <p:nvPr/>
              </p:nvSpPr>
              <p:spPr bwMode="auto">
                <a:xfrm flipV="1">
                  <a:off x="1107" y="4408"/>
                  <a:ext cx="28" cy="246"/>
                </a:xfrm>
                <a:prstGeom prst="line">
                  <a:avLst/>
                </a:prstGeom>
                <a:noFill/>
                <a:ln w="14288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  <p:sp>
              <p:nvSpPr>
                <p:cNvPr id="82" name="Line 66"/>
                <p:cNvSpPr>
                  <a:spLocks noChangeShapeType="1"/>
                </p:cNvSpPr>
                <p:nvPr/>
              </p:nvSpPr>
              <p:spPr bwMode="auto">
                <a:xfrm>
                  <a:off x="1108" y="4653"/>
                  <a:ext cx="120" cy="115"/>
                </a:xfrm>
                <a:prstGeom prst="line">
                  <a:avLst/>
                </a:prstGeom>
                <a:noFill/>
                <a:ln w="14288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</p:grpSp>
          <p:grpSp>
            <p:nvGrpSpPr>
              <p:cNvPr id="68" name="Group 67"/>
              <p:cNvGrpSpPr>
                <a:grpSpLocks/>
              </p:cNvGrpSpPr>
              <p:nvPr/>
            </p:nvGrpSpPr>
            <p:grpSpPr bwMode="auto">
              <a:xfrm>
                <a:off x="924" y="4040"/>
                <a:ext cx="296" cy="788"/>
                <a:chOff x="924" y="4040"/>
                <a:chExt cx="296" cy="788"/>
              </a:xfrm>
            </p:grpSpPr>
            <p:sp>
              <p:nvSpPr>
                <p:cNvPr id="70" name="Line 68"/>
                <p:cNvSpPr>
                  <a:spLocks noChangeShapeType="1"/>
                </p:cNvSpPr>
                <p:nvPr/>
              </p:nvSpPr>
              <p:spPr bwMode="auto">
                <a:xfrm flipV="1">
                  <a:off x="924" y="4040"/>
                  <a:ext cx="117" cy="781"/>
                </a:xfrm>
                <a:prstGeom prst="line">
                  <a:avLst/>
                </a:prstGeom>
                <a:noFill/>
                <a:ln w="412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  <p:sp>
              <p:nvSpPr>
                <p:cNvPr id="71" name="Line 69"/>
                <p:cNvSpPr>
                  <a:spLocks noChangeShapeType="1"/>
                </p:cNvSpPr>
                <p:nvPr/>
              </p:nvSpPr>
              <p:spPr bwMode="auto">
                <a:xfrm>
                  <a:off x="1045" y="4062"/>
                  <a:ext cx="75" cy="766"/>
                </a:xfrm>
                <a:prstGeom prst="line">
                  <a:avLst/>
                </a:prstGeom>
                <a:noFill/>
                <a:ln w="412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  <p:sp>
              <p:nvSpPr>
                <p:cNvPr id="72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1119" y="4762"/>
                  <a:ext cx="99" cy="62"/>
                </a:xfrm>
                <a:prstGeom prst="line">
                  <a:avLst/>
                </a:prstGeom>
                <a:noFill/>
                <a:ln w="412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  <p:sp>
              <p:nvSpPr>
                <p:cNvPr id="73" name="Line 71"/>
                <p:cNvSpPr>
                  <a:spLocks noChangeShapeType="1"/>
                </p:cNvSpPr>
                <p:nvPr/>
              </p:nvSpPr>
              <p:spPr bwMode="auto">
                <a:xfrm>
                  <a:off x="1058" y="4056"/>
                  <a:ext cx="162" cy="711"/>
                </a:xfrm>
                <a:prstGeom prst="line">
                  <a:avLst/>
                </a:prstGeom>
                <a:noFill/>
                <a:ln w="412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  <p:sp>
              <p:nvSpPr>
                <p:cNvPr id="74" name="Line 72"/>
                <p:cNvSpPr>
                  <a:spLocks noChangeShapeType="1"/>
                </p:cNvSpPr>
                <p:nvPr/>
              </p:nvSpPr>
              <p:spPr bwMode="auto">
                <a:xfrm>
                  <a:off x="926" y="4822"/>
                  <a:ext cx="196" cy="4"/>
                </a:xfrm>
                <a:prstGeom prst="line">
                  <a:avLst/>
                </a:prstGeom>
                <a:noFill/>
                <a:ln w="412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SG" sz="1000"/>
                </a:p>
              </p:txBody>
            </p:sp>
          </p:grpSp>
          <p:sp>
            <p:nvSpPr>
              <p:cNvPr id="69" name="Line 73"/>
              <p:cNvSpPr>
                <a:spLocks noChangeShapeType="1"/>
              </p:cNvSpPr>
              <p:nvPr/>
            </p:nvSpPr>
            <p:spPr bwMode="auto">
              <a:xfrm flipV="1">
                <a:off x="1040" y="3776"/>
                <a:ext cx="0" cy="248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 sz="1000"/>
              </a:p>
            </p:txBody>
          </p:sp>
        </p:grpSp>
        <p:sp>
          <p:nvSpPr>
            <p:cNvPr id="63" name="Text Box 74"/>
            <p:cNvSpPr txBox="1">
              <a:spLocks noChangeArrowheads="1"/>
            </p:cNvSpPr>
            <p:nvPr/>
          </p:nvSpPr>
          <p:spPr bwMode="auto">
            <a:xfrm>
              <a:off x="6765925" y="1838324"/>
              <a:ext cx="2126769" cy="471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GB" sz="1000"/>
                <a:t>Max. Ionization</a:t>
              </a:r>
              <a:endParaRPr lang="en-US" sz="1000"/>
            </a:p>
          </p:txBody>
        </p:sp>
        <p:sp>
          <p:nvSpPr>
            <p:cNvPr id="64" name="Text Box 75"/>
            <p:cNvSpPr txBox="1">
              <a:spLocks noChangeArrowheads="1"/>
            </p:cNvSpPr>
            <p:nvPr/>
          </p:nvSpPr>
          <p:spPr bwMode="auto">
            <a:xfrm>
              <a:off x="6765925" y="2155824"/>
              <a:ext cx="2761333" cy="471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GB" sz="1000"/>
                <a:t>Increasing Ionization</a:t>
              </a:r>
              <a:endParaRPr lang="en-US" sz="1000"/>
            </a:p>
          </p:txBody>
        </p:sp>
        <p:sp>
          <p:nvSpPr>
            <p:cNvPr id="65" name="Text Box 76"/>
            <p:cNvSpPr txBox="1">
              <a:spLocks noChangeArrowheads="1"/>
            </p:cNvSpPr>
            <p:nvPr/>
          </p:nvSpPr>
          <p:spPr bwMode="auto">
            <a:xfrm>
              <a:off x="6753225" y="1520826"/>
              <a:ext cx="2879087" cy="471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GB" sz="1000" dirty="0"/>
                <a:t>Decreasing Ionization</a:t>
              </a:r>
              <a:endParaRPr lang="en-US" sz="1000" dirty="0"/>
            </a:p>
          </p:txBody>
        </p:sp>
        <p:sp>
          <p:nvSpPr>
            <p:cNvPr id="66" name="Freeform 77"/>
            <p:cNvSpPr>
              <a:spLocks/>
            </p:cNvSpPr>
            <p:nvPr/>
          </p:nvSpPr>
          <p:spPr bwMode="auto">
            <a:xfrm>
              <a:off x="1430338" y="1257300"/>
              <a:ext cx="2938462" cy="3244850"/>
            </a:xfrm>
            <a:custGeom>
              <a:avLst/>
              <a:gdLst>
                <a:gd name="T0" fmla="*/ 80962 w 1851"/>
                <a:gd name="T1" fmla="*/ 3187700 h 2044"/>
                <a:gd name="T2" fmla="*/ 80962 w 1851"/>
                <a:gd name="T3" fmla="*/ 3098800 h 2044"/>
                <a:gd name="T4" fmla="*/ 563562 w 1851"/>
                <a:gd name="T5" fmla="*/ 2311400 h 2044"/>
                <a:gd name="T6" fmla="*/ 1236662 w 1851"/>
                <a:gd name="T7" fmla="*/ 1371600 h 2044"/>
                <a:gd name="T8" fmla="*/ 1871662 w 1851"/>
                <a:gd name="T9" fmla="*/ 850900 h 2044"/>
                <a:gd name="T10" fmla="*/ 2290762 w 1851"/>
                <a:gd name="T11" fmla="*/ 673100 h 2044"/>
                <a:gd name="T12" fmla="*/ 2506662 w 1851"/>
                <a:gd name="T13" fmla="*/ 558800 h 2044"/>
                <a:gd name="T14" fmla="*/ 2735262 w 1851"/>
                <a:gd name="T15" fmla="*/ 355600 h 2044"/>
                <a:gd name="T16" fmla="*/ 2938462 w 1851"/>
                <a:gd name="T17" fmla="*/ 0 h 20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51" h="2044">
                  <a:moveTo>
                    <a:pt x="51" y="2008"/>
                  </a:moveTo>
                  <a:cubicBezTo>
                    <a:pt x="25" y="2026"/>
                    <a:pt x="0" y="2044"/>
                    <a:pt x="51" y="1952"/>
                  </a:cubicBezTo>
                  <a:cubicBezTo>
                    <a:pt x="102" y="1860"/>
                    <a:pt x="234" y="1637"/>
                    <a:pt x="355" y="1456"/>
                  </a:cubicBezTo>
                  <a:cubicBezTo>
                    <a:pt x="476" y="1275"/>
                    <a:pt x="642" y="1017"/>
                    <a:pt x="779" y="864"/>
                  </a:cubicBezTo>
                  <a:cubicBezTo>
                    <a:pt x="916" y="711"/>
                    <a:pt x="1068" y="609"/>
                    <a:pt x="1179" y="536"/>
                  </a:cubicBezTo>
                  <a:cubicBezTo>
                    <a:pt x="1290" y="463"/>
                    <a:pt x="1376" y="455"/>
                    <a:pt x="1443" y="424"/>
                  </a:cubicBezTo>
                  <a:cubicBezTo>
                    <a:pt x="1510" y="393"/>
                    <a:pt x="1532" y="385"/>
                    <a:pt x="1579" y="352"/>
                  </a:cubicBezTo>
                  <a:cubicBezTo>
                    <a:pt x="1626" y="319"/>
                    <a:pt x="1678" y="283"/>
                    <a:pt x="1723" y="224"/>
                  </a:cubicBezTo>
                  <a:cubicBezTo>
                    <a:pt x="1768" y="165"/>
                    <a:pt x="1809" y="82"/>
                    <a:pt x="1851" y="0"/>
                  </a:cubicBezTo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 sz="1000"/>
            </a:p>
          </p:txBody>
        </p:sp>
      </p:grpSp>
      <p:grpSp>
        <p:nvGrpSpPr>
          <p:cNvPr id="115" name="Group 114"/>
          <p:cNvGrpSpPr/>
          <p:nvPr/>
        </p:nvGrpSpPr>
        <p:grpSpPr>
          <a:xfrm>
            <a:off x="4551550" y="472496"/>
            <a:ext cx="5685526" cy="2689222"/>
            <a:chOff x="6338151" y="1023582"/>
            <a:chExt cx="5685526" cy="2689222"/>
          </a:xfrm>
        </p:grpSpPr>
        <p:sp>
          <p:nvSpPr>
            <p:cNvPr id="116" name="Text Box 1029"/>
            <p:cNvSpPr txBox="1">
              <a:spLocks noChangeArrowheads="1"/>
            </p:cNvSpPr>
            <p:nvPr/>
          </p:nvSpPr>
          <p:spPr bwMode="auto">
            <a:xfrm>
              <a:off x="6338151" y="2675597"/>
              <a:ext cx="5685526" cy="1037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GB" sz="1000" b="1" dirty="0"/>
                <a:t>	</a:t>
              </a:r>
              <a:r>
                <a:rPr lang="en-GB" sz="1200" b="1" u="sng" dirty="0">
                  <a:solidFill>
                    <a:srgbClr val="0000FF"/>
                  </a:solidFill>
                </a:rPr>
                <a:t>Effects of</a:t>
              </a:r>
              <a:r>
                <a:rPr lang="en-GB" sz="1200" u="sng" dirty="0">
                  <a:solidFill>
                    <a:srgbClr val="0000FF"/>
                  </a:solidFill>
                </a:rPr>
                <a:t> </a:t>
              </a:r>
              <a:r>
                <a:rPr lang="en-GB" sz="1200" b="1" dirty="0">
                  <a:solidFill>
                    <a:srgbClr val="0000FF"/>
                  </a:solidFill>
                </a:rPr>
                <a:t>Frequency versus Refraction and Distance</a:t>
              </a:r>
            </a:p>
            <a:p>
              <a:pPr lvl="1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75000"/>
                <a:buFont typeface="Symbol" pitchFamily="18" charset="2"/>
                <a:buNone/>
              </a:pPr>
              <a:r>
                <a:rPr kumimoji="1" lang="en-US" sz="1200" b="1" i="1" dirty="0">
                  <a:solidFill>
                    <a:srgbClr val="0000FF"/>
                  </a:solidFill>
                </a:rPr>
                <a:t>	Higher frequency signal is not bent as much</a:t>
              </a:r>
              <a:r>
                <a:rPr kumimoji="1" lang="en-US" sz="1200" i="1" dirty="0">
                  <a:solidFill>
                    <a:srgbClr val="0000FF"/>
                  </a:solidFill>
                </a:rPr>
                <a:t> </a:t>
              </a:r>
            </a:p>
            <a:p>
              <a:pPr lvl="1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75000"/>
                <a:buFont typeface="Symbol" pitchFamily="18" charset="2"/>
                <a:buNone/>
              </a:pPr>
              <a:r>
                <a:rPr kumimoji="1" lang="en-US" sz="1200" i="1" dirty="0"/>
                <a:t>	as the lower frequency signal because of its shorter wavelength </a:t>
              </a:r>
            </a:p>
            <a:p>
              <a:pPr lvl="1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75000"/>
                <a:buFont typeface="Symbol" pitchFamily="18" charset="2"/>
                <a:buNone/>
              </a:pPr>
              <a:r>
                <a:rPr kumimoji="1" lang="en-US" sz="1200" i="1" dirty="0"/>
                <a:t>	and hence may not return to earth</a:t>
              </a:r>
              <a:endParaRPr kumimoji="1" lang="en-GB" sz="1200" i="1" dirty="0"/>
            </a:p>
            <a:p>
              <a:endParaRPr lang="en-US" sz="1000" i="1" dirty="0"/>
            </a:p>
          </p:txBody>
        </p:sp>
        <p:grpSp>
          <p:nvGrpSpPr>
            <p:cNvPr id="117" name="Group 116"/>
            <p:cNvGrpSpPr/>
            <p:nvPr/>
          </p:nvGrpSpPr>
          <p:grpSpPr>
            <a:xfrm>
              <a:off x="7718848" y="1023582"/>
              <a:ext cx="2871816" cy="1648081"/>
              <a:chOff x="6831740" y="1900813"/>
              <a:chExt cx="2777344" cy="2340344"/>
            </a:xfrm>
          </p:grpSpPr>
          <p:grpSp>
            <p:nvGrpSpPr>
              <p:cNvPr id="118" name="Group 1033"/>
              <p:cNvGrpSpPr>
                <a:grpSpLocks/>
              </p:cNvGrpSpPr>
              <p:nvPr/>
            </p:nvGrpSpPr>
            <p:grpSpPr bwMode="auto">
              <a:xfrm>
                <a:off x="6831740" y="3938363"/>
                <a:ext cx="2428578" cy="302794"/>
                <a:chOff x="1008" y="2584"/>
                <a:chExt cx="3448" cy="288"/>
              </a:xfrm>
            </p:grpSpPr>
            <p:sp>
              <p:nvSpPr>
                <p:cNvPr id="128" name="Freeform 1031"/>
                <p:cNvSpPr>
                  <a:spLocks/>
                </p:cNvSpPr>
                <p:nvPr/>
              </p:nvSpPr>
              <p:spPr bwMode="auto">
                <a:xfrm>
                  <a:off x="1008" y="2584"/>
                  <a:ext cx="1720" cy="288"/>
                </a:xfrm>
                <a:custGeom>
                  <a:avLst/>
                  <a:gdLst>
                    <a:gd name="T0" fmla="*/ 0 w 1720"/>
                    <a:gd name="T1" fmla="*/ 288 h 288"/>
                    <a:gd name="T2" fmla="*/ 544 w 1720"/>
                    <a:gd name="T3" fmla="*/ 144 h 288"/>
                    <a:gd name="T4" fmla="*/ 1208 w 1720"/>
                    <a:gd name="T5" fmla="*/ 40 h 288"/>
                    <a:gd name="T6" fmla="*/ 1456 w 1720"/>
                    <a:gd name="T7" fmla="*/ 8 h 288"/>
                    <a:gd name="T8" fmla="*/ 1720 w 1720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20" h="288">
                      <a:moveTo>
                        <a:pt x="0" y="288"/>
                      </a:moveTo>
                      <a:cubicBezTo>
                        <a:pt x="171" y="236"/>
                        <a:pt x="343" y="185"/>
                        <a:pt x="544" y="144"/>
                      </a:cubicBezTo>
                      <a:cubicBezTo>
                        <a:pt x="745" y="103"/>
                        <a:pt x="1056" y="63"/>
                        <a:pt x="1208" y="40"/>
                      </a:cubicBezTo>
                      <a:cubicBezTo>
                        <a:pt x="1360" y="17"/>
                        <a:pt x="1371" y="15"/>
                        <a:pt x="1456" y="8"/>
                      </a:cubicBezTo>
                      <a:cubicBezTo>
                        <a:pt x="1541" y="1"/>
                        <a:pt x="1630" y="0"/>
                        <a:pt x="172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SG" sz="1000"/>
                </a:p>
              </p:txBody>
            </p:sp>
            <p:sp>
              <p:nvSpPr>
                <p:cNvPr id="129" name="Freeform 1032"/>
                <p:cNvSpPr>
                  <a:spLocks/>
                </p:cNvSpPr>
                <p:nvPr/>
              </p:nvSpPr>
              <p:spPr bwMode="auto">
                <a:xfrm flipH="1">
                  <a:off x="2736" y="2584"/>
                  <a:ext cx="1720" cy="288"/>
                </a:xfrm>
                <a:custGeom>
                  <a:avLst/>
                  <a:gdLst>
                    <a:gd name="T0" fmla="*/ 0 w 1720"/>
                    <a:gd name="T1" fmla="*/ 288 h 288"/>
                    <a:gd name="T2" fmla="*/ 544 w 1720"/>
                    <a:gd name="T3" fmla="*/ 144 h 288"/>
                    <a:gd name="T4" fmla="*/ 1208 w 1720"/>
                    <a:gd name="T5" fmla="*/ 40 h 288"/>
                    <a:gd name="T6" fmla="*/ 1456 w 1720"/>
                    <a:gd name="T7" fmla="*/ 8 h 288"/>
                    <a:gd name="T8" fmla="*/ 1720 w 1720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20" h="288">
                      <a:moveTo>
                        <a:pt x="0" y="288"/>
                      </a:moveTo>
                      <a:cubicBezTo>
                        <a:pt x="171" y="236"/>
                        <a:pt x="343" y="185"/>
                        <a:pt x="544" y="144"/>
                      </a:cubicBezTo>
                      <a:cubicBezTo>
                        <a:pt x="745" y="103"/>
                        <a:pt x="1056" y="63"/>
                        <a:pt x="1208" y="40"/>
                      </a:cubicBezTo>
                      <a:cubicBezTo>
                        <a:pt x="1360" y="17"/>
                        <a:pt x="1371" y="15"/>
                        <a:pt x="1456" y="8"/>
                      </a:cubicBezTo>
                      <a:cubicBezTo>
                        <a:pt x="1541" y="1"/>
                        <a:pt x="1630" y="0"/>
                        <a:pt x="172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SG" sz="1000"/>
                </a:p>
              </p:txBody>
            </p:sp>
          </p:grpSp>
          <p:sp>
            <p:nvSpPr>
              <p:cNvPr id="119" name="Freeform 1035" descr="Small confetti"/>
              <p:cNvSpPr>
                <a:spLocks/>
              </p:cNvSpPr>
              <p:nvPr/>
            </p:nvSpPr>
            <p:spPr bwMode="auto">
              <a:xfrm>
                <a:off x="6851858" y="2483270"/>
                <a:ext cx="1211472" cy="302794"/>
              </a:xfrm>
              <a:custGeom>
                <a:avLst/>
                <a:gdLst>
                  <a:gd name="T0" fmla="*/ 0 w 1720"/>
                  <a:gd name="T1" fmla="*/ 457200 h 288"/>
                  <a:gd name="T2" fmla="*/ 863600 w 1720"/>
                  <a:gd name="T3" fmla="*/ 228600 h 288"/>
                  <a:gd name="T4" fmla="*/ 1917700 w 1720"/>
                  <a:gd name="T5" fmla="*/ 63500 h 288"/>
                  <a:gd name="T6" fmla="*/ 2311400 w 1720"/>
                  <a:gd name="T7" fmla="*/ 12700 h 288"/>
                  <a:gd name="T8" fmla="*/ 2730500 w 1720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20" h="288">
                    <a:moveTo>
                      <a:pt x="0" y="288"/>
                    </a:moveTo>
                    <a:cubicBezTo>
                      <a:pt x="171" y="236"/>
                      <a:pt x="343" y="185"/>
                      <a:pt x="544" y="144"/>
                    </a:cubicBezTo>
                    <a:cubicBezTo>
                      <a:pt x="745" y="103"/>
                      <a:pt x="1056" y="63"/>
                      <a:pt x="1208" y="40"/>
                    </a:cubicBezTo>
                    <a:cubicBezTo>
                      <a:pt x="1360" y="17"/>
                      <a:pt x="1371" y="15"/>
                      <a:pt x="1456" y="8"/>
                    </a:cubicBezTo>
                    <a:cubicBezTo>
                      <a:pt x="1541" y="1"/>
                      <a:pt x="1630" y="0"/>
                      <a:pt x="1720" y="0"/>
                    </a:cubicBezTo>
                  </a:path>
                </a:pathLst>
              </a:custGeom>
              <a:solidFill>
                <a:srgbClr val="FFC000"/>
              </a:solidFill>
              <a:ln w="454025" cap="flat" cmpd="sng">
                <a:solidFill>
                  <a:srgbClr val="FFC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SG" sz="1000"/>
              </a:p>
            </p:txBody>
          </p:sp>
          <p:sp>
            <p:nvSpPr>
              <p:cNvPr id="120" name="Freeform 1036" descr="Small confetti"/>
              <p:cNvSpPr>
                <a:spLocks/>
              </p:cNvSpPr>
              <p:nvPr/>
            </p:nvSpPr>
            <p:spPr bwMode="auto">
              <a:xfrm flipH="1">
                <a:off x="8015038" y="2483270"/>
                <a:ext cx="1211472" cy="302794"/>
              </a:xfrm>
              <a:custGeom>
                <a:avLst/>
                <a:gdLst>
                  <a:gd name="T0" fmla="*/ 0 w 1720"/>
                  <a:gd name="T1" fmla="*/ 457200 h 288"/>
                  <a:gd name="T2" fmla="*/ 863600 w 1720"/>
                  <a:gd name="T3" fmla="*/ 228600 h 288"/>
                  <a:gd name="T4" fmla="*/ 1917700 w 1720"/>
                  <a:gd name="T5" fmla="*/ 63500 h 288"/>
                  <a:gd name="T6" fmla="*/ 2311400 w 1720"/>
                  <a:gd name="T7" fmla="*/ 12700 h 288"/>
                  <a:gd name="T8" fmla="*/ 2730500 w 1720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20" h="288">
                    <a:moveTo>
                      <a:pt x="0" y="288"/>
                    </a:moveTo>
                    <a:cubicBezTo>
                      <a:pt x="171" y="236"/>
                      <a:pt x="343" y="185"/>
                      <a:pt x="544" y="144"/>
                    </a:cubicBezTo>
                    <a:cubicBezTo>
                      <a:pt x="745" y="103"/>
                      <a:pt x="1056" y="63"/>
                      <a:pt x="1208" y="40"/>
                    </a:cubicBezTo>
                    <a:cubicBezTo>
                      <a:pt x="1360" y="17"/>
                      <a:pt x="1371" y="15"/>
                      <a:pt x="1456" y="8"/>
                    </a:cubicBezTo>
                    <a:cubicBezTo>
                      <a:pt x="1541" y="1"/>
                      <a:pt x="1630" y="0"/>
                      <a:pt x="1720" y="0"/>
                    </a:cubicBezTo>
                  </a:path>
                </a:pathLst>
              </a:custGeom>
              <a:pattFill prst="smConfetti">
                <a:fgClr>
                  <a:schemeClr val="accent1"/>
                </a:fgClr>
                <a:bgClr>
                  <a:schemeClr val="bg1"/>
                </a:bgClr>
              </a:pattFill>
              <a:ln w="454025" cap="flat" cmpd="sng">
                <a:solidFill>
                  <a:srgbClr val="FFC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 sz="1000"/>
              </a:p>
            </p:txBody>
          </p:sp>
          <p:sp>
            <p:nvSpPr>
              <p:cNvPr id="121" name="Freeform 1037"/>
              <p:cNvSpPr>
                <a:spLocks/>
              </p:cNvSpPr>
              <p:nvPr/>
            </p:nvSpPr>
            <p:spPr bwMode="auto">
              <a:xfrm>
                <a:off x="7124747" y="2537942"/>
                <a:ext cx="1904546" cy="1602284"/>
              </a:xfrm>
              <a:custGeom>
                <a:avLst/>
                <a:gdLst>
                  <a:gd name="T0" fmla="*/ 0 w 2704"/>
                  <a:gd name="T1" fmla="*/ 2381250 h 1524"/>
                  <a:gd name="T2" fmla="*/ 838200 w 2704"/>
                  <a:gd name="T3" fmla="*/ 1174750 h 1524"/>
                  <a:gd name="T4" fmla="*/ 1562100 w 2704"/>
                  <a:gd name="T5" fmla="*/ 476250 h 1524"/>
                  <a:gd name="T6" fmla="*/ 2311400 w 2704"/>
                  <a:gd name="T7" fmla="*/ 69850 h 1524"/>
                  <a:gd name="T8" fmla="*/ 2540000 w 2704"/>
                  <a:gd name="T9" fmla="*/ 57150 h 1524"/>
                  <a:gd name="T10" fmla="*/ 2717800 w 2704"/>
                  <a:gd name="T11" fmla="*/ 82550 h 1524"/>
                  <a:gd name="T12" fmla="*/ 3187700 w 2704"/>
                  <a:gd name="T13" fmla="*/ 425450 h 1524"/>
                  <a:gd name="T14" fmla="*/ 4292600 w 2704"/>
                  <a:gd name="T15" fmla="*/ 2419350 h 15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704" h="1524">
                    <a:moveTo>
                      <a:pt x="0" y="1500"/>
                    </a:moveTo>
                    <a:cubicBezTo>
                      <a:pt x="182" y="1220"/>
                      <a:pt x="364" y="940"/>
                      <a:pt x="528" y="740"/>
                    </a:cubicBezTo>
                    <a:cubicBezTo>
                      <a:pt x="692" y="540"/>
                      <a:pt x="829" y="416"/>
                      <a:pt x="984" y="300"/>
                    </a:cubicBezTo>
                    <a:cubicBezTo>
                      <a:pt x="1139" y="184"/>
                      <a:pt x="1353" y="88"/>
                      <a:pt x="1456" y="44"/>
                    </a:cubicBezTo>
                    <a:cubicBezTo>
                      <a:pt x="1559" y="0"/>
                      <a:pt x="1557" y="35"/>
                      <a:pt x="1600" y="36"/>
                    </a:cubicBezTo>
                    <a:cubicBezTo>
                      <a:pt x="1643" y="37"/>
                      <a:pt x="1644" y="13"/>
                      <a:pt x="1712" y="52"/>
                    </a:cubicBezTo>
                    <a:cubicBezTo>
                      <a:pt x="1780" y="91"/>
                      <a:pt x="1843" y="23"/>
                      <a:pt x="2008" y="268"/>
                    </a:cubicBezTo>
                    <a:cubicBezTo>
                      <a:pt x="2173" y="513"/>
                      <a:pt x="2589" y="1311"/>
                      <a:pt x="2704" y="1524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 sz="1000"/>
              </a:p>
            </p:txBody>
          </p:sp>
          <p:sp>
            <p:nvSpPr>
              <p:cNvPr id="122" name="Freeform 1038"/>
              <p:cNvSpPr>
                <a:spLocks/>
              </p:cNvSpPr>
              <p:nvPr/>
            </p:nvSpPr>
            <p:spPr bwMode="auto">
              <a:xfrm>
                <a:off x="7136017" y="2411777"/>
                <a:ext cx="2186284" cy="1711626"/>
              </a:xfrm>
              <a:custGeom>
                <a:avLst/>
                <a:gdLst>
                  <a:gd name="T0" fmla="*/ 0 w 2704"/>
                  <a:gd name="T1" fmla="*/ 2543750 h 1524"/>
                  <a:gd name="T2" fmla="*/ 962194 w 2704"/>
                  <a:gd name="T3" fmla="*/ 1254917 h 1524"/>
                  <a:gd name="T4" fmla="*/ 1793180 w 2704"/>
                  <a:gd name="T5" fmla="*/ 508750 h 1524"/>
                  <a:gd name="T6" fmla="*/ 2653323 w 2704"/>
                  <a:gd name="T7" fmla="*/ 74617 h 1524"/>
                  <a:gd name="T8" fmla="*/ 2915740 w 2704"/>
                  <a:gd name="T9" fmla="*/ 61050 h 1524"/>
                  <a:gd name="T10" fmla="*/ 3119841 w 2704"/>
                  <a:gd name="T11" fmla="*/ 88183 h 1524"/>
                  <a:gd name="T12" fmla="*/ 3659253 w 2704"/>
                  <a:gd name="T13" fmla="*/ 454483 h 1524"/>
                  <a:gd name="T14" fmla="*/ 4927600 w 2704"/>
                  <a:gd name="T15" fmla="*/ 2584450 h 15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704" h="1524">
                    <a:moveTo>
                      <a:pt x="0" y="1500"/>
                    </a:moveTo>
                    <a:cubicBezTo>
                      <a:pt x="182" y="1220"/>
                      <a:pt x="364" y="940"/>
                      <a:pt x="528" y="740"/>
                    </a:cubicBezTo>
                    <a:cubicBezTo>
                      <a:pt x="692" y="540"/>
                      <a:pt x="829" y="416"/>
                      <a:pt x="984" y="300"/>
                    </a:cubicBezTo>
                    <a:cubicBezTo>
                      <a:pt x="1139" y="184"/>
                      <a:pt x="1353" y="88"/>
                      <a:pt x="1456" y="44"/>
                    </a:cubicBezTo>
                    <a:cubicBezTo>
                      <a:pt x="1559" y="0"/>
                      <a:pt x="1557" y="35"/>
                      <a:pt x="1600" y="36"/>
                    </a:cubicBezTo>
                    <a:cubicBezTo>
                      <a:pt x="1643" y="37"/>
                      <a:pt x="1644" y="13"/>
                      <a:pt x="1712" y="52"/>
                    </a:cubicBezTo>
                    <a:cubicBezTo>
                      <a:pt x="1780" y="91"/>
                      <a:pt x="1843" y="23"/>
                      <a:pt x="2008" y="268"/>
                    </a:cubicBezTo>
                    <a:cubicBezTo>
                      <a:pt x="2173" y="513"/>
                      <a:pt x="2589" y="1311"/>
                      <a:pt x="2704" y="1524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 sz="1000"/>
              </a:p>
            </p:txBody>
          </p:sp>
          <p:sp>
            <p:nvSpPr>
              <p:cNvPr id="123" name="Text Box 1040"/>
              <p:cNvSpPr txBox="1">
                <a:spLocks noChangeArrowheads="1"/>
              </p:cNvSpPr>
              <p:nvPr/>
            </p:nvSpPr>
            <p:spPr bwMode="auto">
              <a:xfrm>
                <a:off x="9247640" y="2708263"/>
                <a:ext cx="361444" cy="1630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GB" sz="1000"/>
                  <a:t>ionosphere</a:t>
                </a:r>
                <a:endParaRPr lang="en-US" sz="1000"/>
              </a:p>
            </p:txBody>
          </p:sp>
          <p:sp>
            <p:nvSpPr>
              <p:cNvPr id="124" name="Text Box 1041"/>
              <p:cNvSpPr txBox="1">
                <a:spLocks noChangeArrowheads="1"/>
              </p:cNvSpPr>
              <p:nvPr/>
            </p:nvSpPr>
            <p:spPr bwMode="auto">
              <a:xfrm>
                <a:off x="8571470" y="3700754"/>
                <a:ext cx="246225" cy="1630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GB" sz="1000"/>
                  <a:t>5 MHz</a:t>
                </a:r>
                <a:endParaRPr lang="en-US" sz="1000"/>
              </a:p>
            </p:txBody>
          </p:sp>
          <p:sp>
            <p:nvSpPr>
              <p:cNvPr id="125" name="Text Box 1042"/>
              <p:cNvSpPr txBox="1">
                <a:spLocks noChangeArrowheads="1"/>
              </p:cNvSpPr>
              <p:nvPr/>
            </p:nvSpPr>
            <p:spPr bwMode="auto">
              <a:xfrm>
                <a:off x="9258910" y="3700754"/>
                <a:ext cx="277519" cy="1630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GB" sz="1000"/>
                  <a:t>20 MHz</a:t>
                </a:r>
                <a:endParaRPr lang="en-US" sz="1000"/>
              </a:p>
            </p:txBody>
          </p:sp>
          <p:sp>
            <p:nvSpPr>
              <p:cNvPr id="126" name="Text Box 1043"/>
              <p:cNvSpPr txBox="1">
                <a:spLocks noChangeArrowheads="1"/>
              </p:cNvSpPr>
              <p:nvPr/>
            </p:nvSpPr>
            <p:spPr bwMode="auto">
              <a:xfrm>
                <a:off x="8475679" y="1900813"/>
                <a:ext cx="308813" cy="1630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GB" sz="1000"/>
                  <a:t>100 MHz</a:t>
                </a:r>
                <a:endParaRPr lang="en-US" sz="1000"/>
              </a:p>
            </p:txBody>
          </p:sp>
          <p:sp>
            <p:nvSpPr>
              <p:cNvPr id="127" name="Freeform 1044"/>
              <p:cNvSpPr>
                <a:spLocks/>
              </p:cNvSpPr>
              <p:nvPr/>
            </p:nvSpPr>
            <p:spPr bwMode="auto">
              <a:xfrm rot="367745">
                <a:off x="7227582" y="1996488"/>
                <a:ext cx="1245280" cy="2168970"/>
              </a:xfrm>
              <a:custGeom>
                <a:avLst/>
                <a:gdLst>
                  <a:gd name="T0" fmla="*/ 0 w 1768"/>
                  <a:gd name="T1" fmla="*/ 3275012 h 1936"/>
                  <a:gd name="T2" fmla="*/ 660400 w 1768"/>
                  <a:gd name="T3" fmla="*/ 2043499 h 1936"/>
                  <a:gd name="T4" fmla="*/ 1346200 w 1768"/>
                  <a:gd name="T5" fmla="*/ 1231513 h 1936"/>
                  <a:gd name="T6" fmla="*/ 1955800 w 1768"/>
                  <a:gd name="T7" fmla="*/ 811986 h 1936"/>
                  <a:gd name="T8" fmla="*/ 2286000 w 1768"/>
                  <a:gd name="T9" fmla="*/ 622523 h 1936"/>
                  <a:gd name="T10" fmla="*/ 2590800 w 1768"/>
                  <a:gd name="T11" fmla="*/ 365394 h 1936"/>
                  <a:gd name="T12" fmla="*/ 2806700 w 1768"/>
                  <a:gd name="T13" fmla="*/ 0 h 19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68" h="1936">
                    <a:moveTo>
                      <a:pt x="0" y="1936"/>
                    </a:moveTo>
                    <a:cubicBezTo>
                      <a:pt x="137" y="1672"/>
                      <a:pt x="275" y="1409"/>
                      <a:pt x="416" y="1208"/>
                    </a:cubicBezTo>
                    <a:cubicBezTo>
                      <a:pt x="557" y="1007"/>
                      <a:pt x="712" y="849"/>
                      <a:pt x="848" y="728"/>
                    </a:cubicBezTo>
                    <a:cubicBezTo>
                      <a:pt x="984" y="607"/>
                      <a:pt x="1133" y="540"/>
                      <a:pt x="1232" y="480"/>
                    </a:cubicBezTo>
                    <a:cubicBezTo>
                      <a:pt x="1331" y="420"/>
                      <a:pt x="1373" y="412"/>
                      <a:pt x="1440" y="368"/>
                    </a:cubicBezTo>
                    <a:cubicBezTo>
                      <a:pt x="1507" y="324"/>
                      <a:pt x="1577" y="277"/>
                      <a:pt x="1632" y="216"/>
                    </a:cubicBezTo>
                    <a:cubicBezTo>
                      <a:pt x="1687" y="155"/>
                      <a:pt x="1727" y="77"/>
                      <a:pt x="1768" y="0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 sz="1000"/>
              </a:p>
            </p:txBody>
          </p:sp>
        </p:grpSp>
      </p:grpSp>
      <p:grpSp>
        <p:nvGrpSpPr>
          <p:cNvPr id="130" name="Group 129"/>
          <p:cNvGrpSpPr/>
          <p:nvPr/>
        </p:nvGrpSpPr>
        <p:grpSpPr>
          <a:xfrm>
            <a:off x="366814" y="3513159"/>
            <a:ext cx="5741735" cy="2654585"/>
            <a:chOff x="2473574" y="3856609"/>
            <a:chExt cx="5741735" cy="2654585"/>
          </a:xfrm>
        </p:grpSpPr>
        <p:sp>
          <p:nvSpPr>
            <p:cNvPr id="131" name="Text Box 5"/>
            <p:cNvSpPr txBox="1">
              <a:spLocks noChangeArrowheads="1"/>
            </p:cNvSpPr>
            <p:nvPr/>
          </p:nvSpPr>
          <p:spPr bwMode="auto">
            <a:xfrm>
              <a:off x="2473574" y="5437041"/>
              <a:ext cx="453310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GB" sz="1400" b="1" u="sng" dirty="0">
                  <a:solidFill>
                    <a:srgbClr val="0000FF"/>
                  </a:solidFill>
                </a:rPr>
                <a:t>Effects of Different Incident Angles of Radio Waves</a:t>
              </a:r>
              <a:endParaRPr lang="en-US" sz="1400" b="1" u="sng" dirty="0">
                <a:solidFill>
                  <a:srgbClr val="0000FF"/>
                </a:solidFill>
              </a:endParaRPr>
            </a:p>
          </p:txBody>
        </p:sp>
        <p:grpSp>
          <p:nvGrpSpPr>
            <p:cNvPr id="132" name="Group 11"/>
            <p:cNvGrpSpPr>
              <a:grpSpLocks/>
            </p:cNvGrpSpPr>
            <p:nvPr/>
          </p:nvGrpSpPr>
          <p:grpSpPr bwMode="auto">
            <a:xfrm>
              <a:off x="3368577" y="5231311"/>
              <a:ext cx="2157423" cy="256528"/>
              <a:chOff x="1152" y="2704"/>
              <a:chExt cx="2632" cy="248"/>
            </a:xfrm>
          </p:grpSpPr>
          <p:sp>
            <p:nvSpPr>
              <p:cNvPr id="146" name="Freeform 12"/>
              <p:cNvSpPr>
                <a:spLocks/>
              </p:cNvSpPr>
              <p:nvPr/>
            </p:nvSpPr>
            <p:spPr bwMode="auto">
              <a:xfrm>
                <a:off x="1152" y="2704"/>
                <a:ext cx="1320" cy="240"/>
              </a:xfrm>
              <a:custGeom>
                <a:avLst/>
                <a:gdLst>
                  <a:gd name="T0" fmla="*/ 0 w 1320"/>
                  <a:gd name="T1" fmla="*/ 240 h 240"/>
                  <a:gd name="T2" fmla="*/ 336 w 1320"/>
                  <a:gd name="T3" fmla="*/ 120 h 240"/>
                  <a:gd name="T4" fmla="*/ 808 w 1320"/>
                  <a:gd name="T5" fmla="*/ 40 h 240"/>
                  <a:gd name="T6" fmla="*/ 1320 w 1320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20" h="240">
                    <a:moveTo>
                      <a:pt x="0" y="240"/>
                    </a:moveTo>
                    <a:cubicBezTo>
                      <a:pt x="100" y="196"/>
                      <a:pt x="201" y="153"/>
                      <a:pt x="336" y="120"/>
                    </a:cubicBezTo>
                    <a:cubicBezTo>
                      <a:pt x="471" y="87"/>
                      <a:pt x="644" y="60"/>
                      <a:pt x="808" y="40"/>
                    </a:cubicBezTo>
                    <a:cubicBezTo>
                      <a:pt x="972" y="20"/>
                      <a:pt x="1146" y="10"/>
                      <a:pt x="132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 sz="1000"/>
              </a:p>
            </p:txBody>
          </p:sp>
          <p:sp>
            <p:nvSpPr>
              <p:cNvPr id="147" name="Freeform 13"/>
              <p:cNvSpPr>
                <a:spLocks/>
              </p:cNvSpPr>
              <p:nvPr/>
            </p:nvSpPr>
            <p:spPr bwMode="auto">
              <a:xfrm flipH="1">
                <a:off x="2464" y="2712"/>
                <a:ext cx="1320" cy="240"/>
              </a:xfrm>
              <a:custGeom>
                <a:avLst/>
                <a:gdLst>
                  <a:gd name="T0" fmla="*/ 0 w 1320"/>
                  <a:gd name="T1" fmla="*/ 240 h 240"/>
                  <a:gd name="T2" fmla="*/ 336 w 1320"/>
                  <a:gd name="T3" fmla="*/ 120 h 240"/>
                  <a:gd name="T4" fmla="*/ 808 w 1320"/>
                  <a:gd name="T5" fmla="*/ 40 h 240"/>
                  <a:gd name="T6" fmla="*/ 1320 w 1320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20" h="240">
                    <a:moveTo>
                      <a:pt x="0" y="240"/>
                    </a:moveTo>
                    <a:cubicBezTo>
                      <a:pt x="100" y="196"/>
                      <a:pt x="201" y="153"/>
                      <a:pt x="336" y="120"/>
                    </a:cubicBezTo>
                    <a:cubicBezTo>
                      <a:pt x="471" y="87"/>
                      <a:pt x="644" y="60"/>
                      <a:pt x="808" y="40"/>
                    </a:cubicBezTo>
                    <a:cubicBezTo>
                      <a:pt x="972" y="20"/>
                      <a:pt x="1146" y="10"/>
                      <a:pt x="132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 sz="1000"/>
              </a:p>
            </p:txBody>
          </p:sp>
        </p:grpSp>
        <p:grpSp>
          <p:nvGrpSpPr>
            <p:cNvPr id="133" name="Group 14"/>
            <p:cNvGrpSpPr>
              <a:grpSpLocks/>
            </p:cNvGrpSpPr>
            <p:nvPr/>
          </p:nvGrpSpPr>
          <p:grpSpPr bwMode="auto">
            <a:xfrm>
              <a:off x="3329569" y="4119344"/>
              <a:ext cx="2157423" cy="256528"/>
              <a:chOff x="1152" y="2704"/>
              <a:chExt cx="2632" cy="248"/>
            </a:xfrm>
          </p:grpSpPr>
          <p:sp>
            <p:nvSpPr>
              <p:cNvPr id="144" name="Freeform 15"/>
              <p:cNvSpPr>
                <a:spLocks/>
              </p:cNvSpPr>
              <p:nvPr/>
            </p:nvSpPr>
            <p:spPr bwMode="auto">
              <a:xfrm>
                <a:off x="1152" y="2704"/>
                <a:ext cx="1320" cy="240"/>
              </a:xfrm>
              <a:custGeom>
                <a:avLst/>
                <a:gdLst>
                  <a:gd name="T0" fmla="*/ 0 w 1320"/>
                  <a:gd name="T1" fmla="*/ 240 h 240"/>
                  <a:gd name="T2" fmla="*/ 336 w 1320"/>
                  <a:gd name="T3" fmla="*/ 120 h 240"/>
                  <a:gd name="T4" fmla="*/ 808 w 1320"/>
                  <a:gd name="T5" fmla="*/ 40 h 240"/>
                  <a:gd name="T6" fmla="*/ 1320 w 1320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20" h="240">
                    <a:moveTo>
                      <a:pt x="0" y="240"/>
                    </a:moveTo>
                    <a:cubicBezTo>
                      <a:pt x="100" y="196"/>
                      <a:pt x="201" y="153"/>
                      <a:pt x="336" y="120"/>
                    </a:cubicBezTo>
                    <a:cubicBezTo>
                      <a:pt x="471" y="87"/>
                      <a:pt x="644" y="60"/>
                      <a:pt x="808" y="40"/>
                    </a:cubicBezTo>
                    <a:cubicBezTo>
                      <a:pt x="972" y="20"/>
                      <a:pt x="1146" y="10"/>
                      <a:pt x="1320" y="0"/>
                    </a:cubicBezTo>
                  </a:path>
                </a:pathLst>
              </a:custGeom>
              <a:noFill/>
              <a:ln w="254000" cap="flat" cmpd="sng">
                <a:solidFill>
                  <a:srgbClr val="FFC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 sz="1000"/>
              </a:p>
            </p:txBody>
          </p:sp>
          <p:sp>
            <p:nvSpPr>
              <p:cNvPr id="145" name="Freeform 16"/>
              <p:cNvSpPr>
                <a:spLocks/>
              </p:cNvSpPr>
              <p:nvPr/>
            </p:nvSpPr>
            <p:spPr bwMode="auto">
              <a:xfrm flipH="1">
                <a:off x="2464" y="2712"/>
                <a:ext cx="1320" cy="240"/>
              </a:xfrm>
              <a:custGeom>
                <a:avLst/>
                <a:gdLst>
                  <a:gd name="T0" fmla="*/ 0 w 1320"/>
                  <a:gd name="T1" fmla="*/ 240 h 240"/>
                  <a:gd name="T2" fmla="*/ 336 w 1320"/>
                  <a:gd name="T3" fmla="*/ 120 h 240"/>
                  <a:gd name="T4" fmla="*/ 808 w 1320"/>
                  <a:gd name="T5" fmla="*/ 40 h 240"/>
                  <a:gd name="T6" fmla="*/ 1320 w 1320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20" h="240">
                    <a:moveTo>
                      <a:pt x="0" y="240"/>
                    </a:moveTo>
                    <a:cubicBezTo>
                      <a:pt x="100" y="196"/>
                      <a:pt x="201" y="153"/>
                      <a:pt x="336" y="120"/>
                    </a:cubicBezTo>
                    <a:cubicBezTo>
                      <a:pt x="471" y="87"/>
                      <a:pt x="644" y="60"/>
                      <a:pt x="808" y="40"/>
                    </a:cubicBezTo>
                    <a:cubicBezTo>
                      <a:pt x="972" y="20"/>
                      <a:pt x="1146" y="10"/>
                      <a:pt x="1320" y="0"/>
                    </a:cubicBezTo>
                  </a:path>
                </a:pathLst>
              </a:custGeom>
              <a:noFill/>
              <a:ln w="254000" cap="flat" cmpd="sng">
                <a:solidFill>
                  <a:srgbClr val="FFC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 sz="1000"/>
              </a:p>
            </p:txBody>
          </p:sp>
        </p:grpSp>
        <p:sp>
          <p:nvSpPr>
            <p:cNvPr id="134" name="Line 20"/>
            <p:cNvSpPr>
              <a:spLocks noChangeShapeType="1"/>
            </p:cNvSpPr>
            <p:nvPr/>
          </p:nvSpPr>
          <p:spPr bwMode="auto">
            <a:xfrm flipH="1" flipV="1">
              <a:off x="3637435" y="3890743"/>
              <a:ext cx="203283" cy="1406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 sz="1000"/>
            </a:p>
          </p:txBody>
        </p:sp>
        <p:sp>
          <p:nvSpPr>
            <p:cNvPr id="135" name="Freeform 22"/>
            <p:cNvSpPr>
              <a:spLocks/>
            </p:cNvSpPr>
            <p:nvPr/>
          </p:nvSpPr>
          <p:spPr bwMode="auto">
            <a:xfrm>
              <a:off x="3816947" y="4119344"/>
              <a:ext cx="1486097" cy="1269194"/>
            </a:xfrm>
            <a:custGeom>
              <a:avLst/>
              <a:gdLst>
                <a:gd name="T0" fmla="*/ 58737 w 1813"/>
                <a:gd name="T1" fmla="*/ 1808162 h 1227"/>
                <a:gd name="T2" fmla="*/ 84137 w 1813"/>
                <a:gd name="T3" fmla="*/ 1731962 h 1227"/>
                <a:gd name="T4" fmla="*/ 566737 w 1813"/>
                <a:gd name="T5" fmla="*/ 512762 h 1227"/>
                <a:gd name="T6" fmla="*/ 960437 w 1813"/>
                <a:gd name="T7" fmla="*/ 68262 h 1227"/>
                <a:gd name="T8" fmla="*/ 1227137 w 1813"/>
                <a:gd name="T9" fmla="*/ 106362 h 1227"/>
                <a:gd name="T10" fmla="*/ 1557337 w 1813"/>
                <a:gd name="T11" fmla="*/ 347662 h 1227"/>
                <a:gd name="T12" fmla="*/ 2878137 w 1813"/>
                <a:gd name="T13" fmla="*/ 1858962 h 12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13" h="1227">
                  <a:moveTo>
                    <a:pt x="37" y="1139"/>
                  </a:moveTo>
                  <a:cubicBezTo>
                    <a:pt x="18" y="1183"/>
                    <a:pt x="0" y="1227"/>
                    <a:pt x="53" y="1091"/>
                  </a:cubicBezTo>
                  <a:cubicBezTo>
                    <a:pt x="106" y="955"/>
                    <a:pt x="265" y="498"/>
                    <a:pt x="357" y="323"/>
                  </a:cubicBezTo>
                  <a:cubicBezTo>
                    <a:pt x="449" y="148"/>
                    <a:pt x="536" y="86"/>
                    <a:pt x="605" y="43"/>
                  </a:cubicBezTo>
                  <a:cubicBezTo>
                    <a:pt x="674" y="0"/>
                    <a:pt x="710" y="38"/>
                    <a:pt x="773" y="67"/>
                  </a:cubicBezTo>
                  <a:cubicBezTo>
                    <a:pt x="836" y="96"/>
                    <a:pt x="808" y="35"/>
                    <a:pt x="981" y="219"/>
                  </a:cubicBezTo>
                  <a:cubicBezTo>
                    <a:pt x="1154" y="403"/>
                    <a:pt x="1483" y="787"/>
                    <a:pt x="1813" y="1171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 sz="1000"/>
            </a:p>
          </p:txBody>
        </p:sp>
        <p:sp>
          <p:nvSpPr>
            <p:cNvPr id="136" name="Freeform 23"/>
            <p:cNvSpPr>
              <a:spLocks/>
            </p:cNvSpPr>
            <p:nvPr/>
          </p:nvSpPr>
          <p:spPr bwMode="auto">
            <a:xfrm>
              <a:off x="3847276" y="4217610"/>
              <a:ext cx="2032830" cy="1088177"/>
            </a:xfrm>
            <a:custGeom>
              <a:avLst/>
              <a:gdLst>
                <a:gd name="T0" fmla="*/ 0 w 2480"/>
                <a:gd name="T1" fmla="*/ 1670050 h 1052"/>
                <a:gd name="T2" fmla="*/ 1384300 w 2480"/>
                <a:gd name="T3" fmla="*/ 298450 h 1052"/>
                <a:gd name="T4" fmla="*/ 1993900 w 2480"/>
                <a:gd name="T5" fmla="*/ 31750 h 1052"/>
                <a:gd name="T6" fmla="*/ 2374900 w 2480"/>
                <a:gd name="T7" fmla="*/ 107950 h 1052"/>
                <a:gd name="T8" fmla="*/ 2603500 w 2480"/>
                <a:gd name="T9" fmla="*/ 209550 h 1052"/>
                <a:gd name="T10" fmla="*/ 2971800 w 2480"/>
                <a:gd name="T11" fmla="*/ 488950 h 1052"/>
                <a:gd name="T12" fmla="*/ 3937000 w 2480"/>
                <a:gd name="T13" fmla="*/ 1670050 h 10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80" h="1052">
                  <a:moveTo>
                    <a:pt x="0" y="1052"/>
                  </a:moveTo>
                  <a:cubicBezTo>
                    <a:pt x="331" y="706"/>
                    <a:pt x="663" y="360"/>
                    <a:pt x="872" y="188"/>
                  </a:cubicBezTo>
                  <a:cubicBezTo>
                    <a:pt x="1081" y="16"/>
                    <a:pt x="1152" y="40"/>
                    <a:pt x="1256" y="20"/>
                  </a:cubicBezTo>
                  <a:cubicBezTo>
                    <a:pt x="1360" y="0"/>
                    <a:pt x="1432" y="49"/>
                    <a:pt x="1496" y="68"/>
                  </a:cubicBezTo>
                  <a:cubicBezTo>
                    <a:pt x="1560" y="87"/>
                    <a:pt x="1577" y="92"/>
                    <a:pt x="1640" y="132"/>
                  </a:cubicBezTo>
                  <a:cubicBezTo>
                    <a:pt x="1703" y="172"/>
                    <a:pt x="1732" y="155"/>
                    <a:pt x="1872" y="308"/>
                  </a:cubicBezTo>
                  <a:cubicBezTo>
                    <a:pt x="2012" y="461"/>
                    <a:pt x="2246" y="756"/>
                    <a:pt x="2480" y="1052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 sz="1000"/>
            </a:p>
          </p:txBody>
        </p:sp>
        <p:sp>
          <p:nvSpPr>
            <p:cNvPr id="137" name="Freeform 24"/>
            <p:cNvSpPr>
              <a:spLocks/>
            </p:cNvSpPr>
            <p:nvPr/>
          </p:nvSpPr>
          <p:spPr bwMode="auto">
            <a:xfrm>
              <a:off x="3775143" y="4822728"/>
              <a:ext cx="183610" cy="61029"/>
            </a:xfrm>
            <a:custGeom>
              <a:avLst/>
              <a:gdLst>
                <a:gd name="T0" fmla="*/ 0 w 224"/>
                <a:gd name="T1" fmla="*/ 68262 h 59"/>
                <a:gd name="T2" fmla="*/ 190500 w 224"/>
                <a:gd name="T3" fmla="*/ 4762 h 59"/>
                <a:gd name="T4" fmla="*/ 355600 w 224"/>
                <a:gd name="T5" fmla="*/ 93662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4" h="59">
                  <a:moveTo>
                    <a:pt x="0" y="43"/>
                  </a:moveTo>
                  <a:cubicBezTo>
                    <a:pt x="41" y="21"/>
                    <a:pt x="83" y="0"/>
                    <a:pt x="120" y="3"/>
                  </a:cubicBezTo>
                  <a:cubicBezTo>
                    <a:pt x="157" y="6"/>
                    <a:pt x="190" y="32"/>
                    <a:pt x="224" y="59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 sz="1000"/>
            </a:p>
          </p:txBody>
        </p:sp>
        <p:sp>
          <p:nvSpPr>
            <p:cNvPr id="138" name="Text Box 25"/>
            <p:cNvSpPr txBox="1">
              <a:spLocks noChangeArrowheads="1"/>
            </p:cNvSpPr>
            <p:nvPr/>
          </p:nvSpPr>
          <p:spPr bwMode="auto">
            <a:xfrm>
              <a:off x="2848894" y="4799971"/>
              <a:ext cx="476918" cy="1604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GB" sz="1000"/>
                <a:t>Critical angle</a:t>
              </a:r>
              <a:endParaRPr lang="en-US" sz="1000"/>
            </a:p>
          </p:txBody>
        </p:sp>
        <p:sp>
          <p:nvSpPr>
            <p:cNvPr id="139" name="Line 26"/>
            <p:cNvSpPr>
              <a:spLocks noChangeShapeType="1"/>
            </p:cNvSpPr>
            <p:nvPr/>
          </p:nvSpPr>
          <p:spPr bwMode="auto">
            <a:xfrm flipV="1">
              <a:off x="3650550" y="4949957"/>
              <a:ext cx="229513" cy="579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 sz="1000"/>
            </a:p>
          </p:txBody>
        </p:sp>
        <p:sp>
          <p:nvSpPr>
            <p:cNvPr id="140" name="Text Box 27"/>
            <p:cNvSpPr txBox="1">
              <a:spLocks noChangeArrowheads="1"/>
            </p:cNvSpPr>
            <p:nvPr/>
          </p:nvSpPr>
          <p:spPr bwMode="auto">
            <a:xfrm>
              <a:off x="3353822" y="3856609"/>
              <a:ext cx="139219" cy="1604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GB" sz="1000"/>
                <a:t>A</a:t>
              </a:r>
              <a:endParaRPr lang="en-US" sz="1000"/>
            </a:p>
          </p:txBody>
        </p:sp>
        <p:sp>
          <p:nvSpPr>
            <p:cNvPr id="141" name="Text Box 28"/>
            <p:cNvSpPr txBox="1">
              <a:spLocks noChangeArrowheads="1"/>
            </p:cNvSpPr>
            <p:nvPr/>
          </p:nvSpPr>
          <p:spPr bwMode="auto">
            <a:xfrm>
              <a:off x="5019432" y="4725495"/>
              <a:ext cx="139219" cy="1604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GB" sz="1000"/>
                <a:t>B</a:t>
              </a:r>
              <a:endParaRPr lang="en-US" sz="1000"/>
            </a:p>
          </p:txBody>
        </p:sp>
        <p:sp>
          <p:nvSpPr>
            <p:cNvPr id="142" name="Text Box 29"/>
            <p:cNvSpPr txBox="1">
              <a:spLocks noChangeArrowheads="1"/>
            </p:cNvSpPr>
            <p:nvPr/>
          </p:nvSpPr>
          <p:spPr bwMode="auto">
            <a:xfrm>
              <a:off x="5570263" y="4634469"/>
              <a:ext cx="180332" cy="1604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GB" sz="1000"/>
                <a:t>C</a:t>
              </a:r>
              <a:endParaRPr lang="en-US" sz="1000"/>
            </a:p>
          </p:txBody>
        </p:sp>
        <p:sp>
          <p:nvSpPr>
            <p:cNvPr id="143" name="Text Box 30"/>
            <p:cNvSpPr txBox="1">
              <a:spLocks noChangeArrowheads="1"/>
            </p:cNvSpPr>
            <p:nvPr/>
          </p:nvSpPr>
          <p:spPr bwMode="auto">
            <a:xfrm>
              <a:off x="2482906" y="5680197"/>
              <a:ext cx="5732403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GB" sz="1200" b="1" i="1" dirty="0"/>
                <a:t>Frequency of A = frequency of B = frequency of C</a:t>
              </a:r>
            </a:p>
            <a:p>
              <a:r>
                <a:rPr lang="en-GB" sz="1200" i="1" dirty="0"/>
                <a:t>Beam A is beamed vertically up and never get refracted back</a:t>
              </a:r>
            </a:p>
            <a:p>
              <a:r>
                <a:rPr lang="en-GB" sz="1200" i="1" dirty="0"/>
                <a:t>Beam B is beamed at the critical angle, and the beam is refracted back</a:t>
              </a:r>
            </a:p>
            <a:p>
              <a:r>
                <a:rPr lang="en-GB" sz="1200" i="1" dirty="0"/>
                <a:t>Beam C is </a:t>
              </a:r>
              <a:r>
                <a:rPr lang="en-GB" sz="1200" b="1" i="1" dirty="0">
                  <a:solidFill>
                    <a:srgbClr val="0000FF"/>
                  </a:solidFill>
                </a:rPr>
                <a:t>beamed at a larger than critical angle and hence it travel farther</a:t>
              </a:r>
              <a:endParaRPr lang="en-US" sz="1200" b="1" i="1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148" name="Group 147"/>
          <p:cNvGrpSpPr/>
          <p:nvPr/>
        </p:nvGrpSpPr>
        <p:grpSpPr>
          <a:xfrm>
            <a:off x="6326226" y="3402658"/>
            <a:ext cx="5688980" cy="2739670"/>
            <a:chOff x="-191726" y="1192213"/>
            <a:chExt cx="12067021" cy="4789514"/>
          </a:xfrm>
        </p:grpSpPr>
        <p:sp>
          <p:nvSpPr>
            <p:cNvPr id="149" name="Text Box 5"/>
            <p:cNvSpPr txBox="1">
              <a:spLocks noChangeArrowheads="1"/>
            </p:cNvSpPr>
            <p:nvPr/>
          </p:nvSpPr>
          <p:spPr bwMode="auto">
            <a:xfrm>
              <a:off x="723349" y="4259943"/>
              <a:ext cx="11151946" cy="1721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GB" sz="1200" b="1" u="sng" dirty="0">
                  <a:solidFill>
                    <a:srgbClr val="0000FF"/>
                  </a:solidFill>
                </a:rPr>
                <a:t>Effects of Frequency on the Critical Angle</a:t>
              </a:r>
            </a:p>
            <a:p>
              <a:r>
                <a:rPr kumimoji="1" lang="en-US" sz="1200" i="1" dirty="0"/>
                <a:t>With all conditions being the same, the effects of ionization on </a:t>
              </a:r>
              <a:r>
                <a:rPr kumimoji="1" lang="en-US" sz="1200" b="1" i="1" dirty="0">
                  <a:solidFill>
                    <a:srgbClr val="0000FF"/>
                  </a:solidFill>
                </a:rPr>
                <a:t>a lower frequency signal is that the critical angle is smaller </a:t>
              </a:r>
              <a:r>
                <a:rPr kumimoji="1" lang="en-US" sz="1200" b="1" i="1" dirty="0"/>
                <a:t>and the </a:t>
              </a:r>
              <a:r>
                <a:rPr kumimoji="1" lang="en-US" sz="1200" b="1" i="1" dirty="0">
                  <a:solidFill>
                    <a:srgbClr val="0000FF"/>
                  </a:solidFill>
                </a:rPr>
                <a:t>skip distance is much shorter</a:t>
              </a:r>
              <a:r>
                <a:rPr kumimoji="1" lang="en-US" sz="1200" i="1" dirty="0">
                  <a:solidFill>
                    <a:srgbClr val="0000FF"/>
                  </a:solidFill>
                </a:rPr>
                <a:t> </a:t>
              </a:r>
              <a:r>
                <a:rPr kumimoji="1" lang="en-US" sz="1200" i="1" dirty="0"/>
                <a:t>than for the case of a higher frequency signal</a:t>
              </a:r>
            </a:p>
            <a:p>
              <a:endParaRPr lang="en-US" sz="1000" i="1" dirty="0"/>
            </a:p>
          </p:txBody>
        </p:sp>
        <p:grpSp>
          <p:nvGrpSpPr>
            <p:cNvPr id="150" name="Group 8"/>
            <p:cNvGrpSpPr>
              <a:grpSpLocks/>
            </p:cNvGrpSpPr>
            <p:nvPr/>
          </p:nvGrpSpPr>
          <p:grpSpPr bwMode="auto">
            <a:xfrm>
              <a:off x="2730500" y="3733800"/>
              <a:ext cx="4178300" cy="393700"/>
              <a:chOff x="1152" y="2704"/>
              <a:chExt cx="2632" cy="248"/>
            </a:xfrm>
          </p:grpSpPr>
          <p:sp>
            <p:nvSpPr>
              <p:cNvPr id="168" name="Freeform 9"/>
              <p:cNvSpPr>
                <a:spLocks/>
              </p:cNvSpPr>
              <p:nvPr/>
            </p:nvSpPr>
            <p:spPr bwMode="auto">
              <a:xfrm>
                <a:off x="1152" y="2704"/>
                <a:ext cx="1320" cy="240"/>
              </a:xfrm>
              <a:custGeom>
                <a:avLst/>
                <a:gdLst>
                  <a:gd name="T0" fmla="*/ 0 w 1320"/>
                  <a:gd name="T1" fmla="*/ 240 h 240"/>
                  <a:gd name="T2" fmla="*/ 336 w 1320"/>
                  <a:gd name="T3" fmla="*/ 120 h 240"/>
                  <a:gd name="T4" fmla="*/ 808 w 1320"/>
                  <a:gd name="T5" fmla="*/ 40 h 240"/>
                  <a:gd name="T6" fmla="*/ 1320 w 1320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20" h="240">
                    <a:moveTo>
                      <a:pt x="0" y="240"/>
                    </a:moveTo>
                    <a:cubicBezTo>
                      <a:pt x="100" y="196"/>
                      <a:pt x="201" y="153"/>
                      <a:pt x="336" y="120"/>
                    </a:cubicBezTo>
                    <a:cubicBezTo>
                      <a:pt x="471" y="87"/>
                      <a:pt x="644" y="60"/>
                      <a:pt x="808" y="40"/>
                    </a:cubicBezTo>
                    <a:cubicBezTo>
                      <a:pt x="972" y="20"/>
                      <a:pt x="1146" y="10"/>
                      <a:pt x="132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 sz="1000"/>
              </a:p>
            </p:txBody>
          </p:sp>
          <p:sp>
            <p:nvSpPr>
              <p:cNvPr id="169" name="Freeform 10"/>
              <p:cNvSpPr>
                <a:spLocks/>
              </p:cNvSpPr>
              <p:nvPr/>
            </p:nvSpPr>
            <p:spPr bwMode="auto">
              <a:xfrm flipH="1">
                <a:off x="2464" y="2712"/>
                <a:ext cx="1320" cy="240"/>
              </a:xfrm>
              <a:custGeom>
                <a:avLst/>
                <a:gdLst>
                  <a:gd name="T0" fmla="*/ 0 w 1320"/>
                  <a:gd name="T1" fmla="*/ 240 h 240"/>
                  <a:gd name="T2" fmla="*/ 336 w 1320"/>
                  <a:gd name="T3" fmla="*/ 120 h 240"/>
                  <a:gd name="T4" fmla="*/ 808 w 1320"/>
                  <a:gd name="T5" fmla="*/ 40 h 240"/>
                  <a:gd name="T6" fmla="*/ 1320 w 1320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20" h="240">
                    <a:moveTo>
                      <a:pt x="0" y="240"/>
                    </a:moveTo>
                    <a:cubicBezTo>
                      <a:pt x="100" y="196"/>
                      <a:pt x="201" y="153"/>
                      <a:pt x="336" y="120"/>
                    </a:cubicBezTo>
                    <a:cubicBezTo>
                      <a:pt x="471" y="87"/>
                      <a:pt x="644" y="60"/>
                      <a:pt x="808" y="40"/>
                    </a:cubicBezTo>
                    <a:cubicBezTo>
                      <a:pt x="972" y="20"/>
                      <a:pt x="1146" y="10"/>
                      <a:pt x="132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 sz="1000"/>
              </a:p>
            </p:txBody>
          </p:sp>
        </p:grpSp>
        <p:grpSp>
          <p:nvGrpSpPr>
            <p:cNvPr id="151" name="Group 11"/>
            <p:cNvGrpSpPr>
              <a:grpSpLocks/>
            </p:cNvGrpSpPr>
            <p:nvPr/>
          </p:nvGrpSpPr>
          <p:grpSpPr bwMode="auto">
            <a:xfrm>
              <a:off x="2578100" y="2057400"/>
              <a:ext cx="4178300" cy="393700"/>
              <a:chOff x="1152" y="2704"/>
              <a:chExt cx="2632" cy="248"/>
            </a:xfrm>
          </p:grpSpPr>
          <p:sp>
            <p:nvSpPr>
              <p:cNvPr id="166" name="Freeform 12"/>
              <p:cNvSpPr>
                <a:spLocks/>
              </p:cNvSpPr>
              <p:nvPr/>
            </p:nvSpPr>
            <p:spPr bwMode="auto">
              <a:xfrm>
                <a:off x="1152" y="2704"/>
                <a:ext cx="1320" cy="240"/>
              </a:xfrm>
              <a:custGeom>
                <a:avLst/>
                <a:gdLst>
                  <a:gd name="T0" fmla="*/ 0 w 1320"/>
                  <a:gd name="T1" fmla="*/ 240 h 240"/>
                  <a:gd name="T2" fmla="*/ 336 w 1320"/>
                  <a:gd name="T3" fmla="*/ 120 h 240"/>
                  <a:gd name="T4" fmla="*/ 808 w 1320"/>
                  <a:gd name="T5" fmla="*/ 40 h 240"/>
                  <a:gd name="T6" fmla="*/ 1320 w 1320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20" h="240">
                    <a:moveTo>
                      <a:pt x="0" y="240"/>
                    </a:moveTo>
                    <a:cubicBezTo>
                      <a:pt x="100" y="196"/>
                      <a:pt x="201" y="153"/>
                      <a:pt x="336" y="120"/>
                    </a:cubicBezTo>
                    <a:cubicBezTo>
                      <a:pt x="471" y="87"/>
                      <a:pt x="644" y="60"/>
                      <a:pt x="808" y="40"/>
                    </a:cubicBezTo>
                    <a:cubicBezTo>
                      <a:pt x="972" y="20"/>
                      <a:pt x="1146" y="10"/>
                      <a:pt x="1320" y="0"/>
                    </a:cubicBezTo>
                  </a:path>
                </a:pathLst>
              </a:custGeom>
              <a:noFill/>
              <a:ln w="254000" cap="flat" cmpd="sng">
                <a:solidFill>
                  <a:srgbClr val="FFC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 sz="1000"/>
              </a:p>
            </p:txBody>
          </p:sp>
          <p:sp>
            <p:nvSpPr>
              <p:cNvPr id="167" name="Freeform 13"/>
              <p:cNvSpPr>
                <a:spLocks/>
              </p:cNvSpPr>
              <p:nvPr/>
            </p:nvSpPr>
            <p:spPr bwMode="auto">
              <a:xfrm flipH="1">
                <a:off x="2464" y="2712"/>
                <a:ext cx="1320" cy="240"/>
              </a:xfrm>
              <a:custGeom>
                <a:avLst/>
                <a:gdLst>
                  <a:gd name="T0" fmla="*/ 0 w 1320"/>
                  <a:gd name="T1" fmla="*/ 240 h 240"/>
                  <a:gd name="T2" fmla="*/ 336 w 1320"/>
                  <a:gd name="T3" fmla="*/ 120 h 240"/>
                  <a:gd name="T4" fmla="*/ 808 w 1320"/>
                  <a:gd name="T5" fmla="*/ 40 h 240"/>
                  <a:gd name="T6" fmla="*/ 1320 w 1320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20" h="240">
                    <a:moveTo>
                      <a:pt x="0" y="240"/>
                    </a:moveTo>
                    <a:cubicBezTo>
                      <a:pt x="100" y="196"/>
                      <a:pt x="201" y="153"/>
                      <a:pt x="336" y="120"/>
                    </a:cubicBezTo>
                    <a:cubicBezTo>
                      <a:pt x="471" y="87"/>
                      <a:pt x="644" y="60"/>
                      <a:pt x="808" y="40"/>
                    </a:cubicBezTo>
                    <a:cubicBezTo>
                      <a:pt x="972" y="20"/>
                      <a:pt x="1146" y="10"/>
                      <a:pt x="1320" y="0"/>
                    </a:cubicBezTo>
                  </a:path>
                </a:pathLst>
              </a:custGeom>
              <a:noFill/>
              <a:ln w="254000" cap="flat" cmpd="sng">
                <a:solidFill>
                  <a:srgbClr val="FFC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 sz="1000"/>
              </a:p>
            </p:txBody>
          </p:sp>
        </p:grpSp>
        <p:sp>
          <p:nvSpPr>
            <p:cNvPr id="152" name="Line 14"/>
            <p:cNvSpPr>
              <a:spLocks noChangeShapeType="1"/>
            </p:cNvSpPr>
            <p:nvPr/>
          </p:nvSpPr>
          <p:spPr bwMode="auto">
            <a:xfrm flipH="1" flipV="1">
              <a:off x="3416300" y="2527300"/>
              <a:ext cx="228600" cy="1308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 sz="1000"/>
            </a:p>
          </p:txBody>
        </p:sp>
        <p:sp>
          <p:nvSpPr>
            <p:cNvPr id="153" name="Freeform 15"/>
            <p:cNvSpPr>
              <a:spLocks/>
            </p:cNvSpPr>
            <p:nvPr/>
          </p:nvSpPr>
          <p:spPr bwMode="auto">
            <a:xfrm>
              <a:off x="3598863" y="2027238"/>
              <a:ext cx="2878137" cy="1947862"/>
            </a:xfrm>
            <a:custGeom>
              <a:avLst/>
              <a:gdLst>
                <a:gd name="T0" fmla="*/ 58737 w 1813"/>
                <a:gd name="T1" fmla="*/ 1808162 h 1227"/>
                <a:gd name="T2" fmla="*/ 84137 w 1813"/>
                <a:gd name="T3" fmla="*/ 1731962 h 1227"/>
                <a:gd name="T4" fmla="*/ 566737 w 1813"/>
                <a:gd name="T5" fmla="*/ 512762 h 1227"/>
                <a:gd name="T6" fmla="*/ 960437 w 1813"/>
                <a:gd name="T7" fmla="*/ 68262 h 1227"/>
                <a:gd name="T8" fmla="*/ 1227137 w 1813"/>
                <a:gd name="T9" fmla="*/ 106362 h 1227"/>
                <a:gd name="T10" fmla="*/ 1557337 w 1813"/>
                <a:gd name="T11" fmla="*/ 347662 h 1227"/>
                <a:gd name="T12" fmla="*/ 2878137 w 1813"/>
                <a:gd name="T13" fmla="*/ 1858962 h 12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13" h="1227">
                  <a:moveTo>
                    <a:pt x="37" y="1139"/>
                  </a:moveTo>
                  <a:cubicBezTo>
                    <a:pt x="18" y="1183"/>
                    <a:pt x="0" y="1227"/>
                    <a:pt x="53" y="1091"/>
                  </a:cubicBezTo>
                  <a:cubicBezTo>
                    <a:pt x="106" y="955"/>
                    <a:pt x="265" y="498"/>
                    <a:pt x="357" y="323"/>
                  </a:cubicBezTo>
                  <a:cubicBezTo>
                    <a:pt x="449" y="148"/>
                    <a:pt x="536" y="86"/>
                    <a:pt x="605" y="43"/>
                  </a:cubicBezTo>
                  <a:cubicBezTo>
                    <a:pt x="674" y="0"/>
                    <a:pt x="710" y="38"/>
                    <a:pt x="773" y="67"/>
                  </a:cubicBezTo>
                  <a:cubicBezTo>
                    <a:pt x="836" y="96"/>
                    <a:pt x="808" y="35"/>
                    <a:pt x="981" y="219"/>
                  </a:cubicBezTo>
                  <a:cubicBezTo>
                    <a:pt x="1154" y="403"/>
                    <a:pt x="1483" y="787"/>
                    <a:pt x="1813" y="1171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 sz="1000"/>
            </a:p>
          </p:txBody>
        </p:sp>
        <p:sp>
          <p:nvSpPr>
            <p:cNvPr id="154" name="Freeform 16"/>
            <p:cNvSpPr>
              <a:spLocks/>
            </p:cNvSpPr>
            <p:nvPr/>
          </p:nvSpPr>
          <p:spPr bwMode="auto">
            <a:xfrm>
              <a:off x="3657600" y="2178050"/>
              <a:ext cx="3937000" cy="1670050"/>
            </a:xfrm>
            <a:custGeom>
              <a:avLst/>
              <a:gdLst>
                <a:gd name="T0" fmla="*/ 0 w 2480"/>
                <a:gd name="T1" fmla="*/ 1670050 h 1052"/>
                <a:gd name="T2" fmla="*/ 1384300 w 2480"/>
                <a:gd name="T3" fmla="*/ 298450 h 1052"/>
                <a:gd name="T4" fmla="*/ 1993900 w 2480"/>
                <a:gd name="T5" fmla="*/ 31750 h 1052"/>
                <a:gd name="T6" fmla="*/ 2374900 w 2480"/>
                <a:gd name="T7" fmla="*/ 107950 h 1052"/>
                <a:gd name="T8" fmla="*/ 2603500 w 2480"/>
                <a:gd name="T9" fmla="*/ 209550 h 1052"/>
                <a:gd name="T10" fmla="*/ 2971800 w 2480"/>
                <a:gd name="T11" fmla="*/ 488950 h 1052"/>
                <a:gd name="T12" fmla="*/ 3937000 w 2480"/>
                <a:gd name="T13" fmla="*/ 1670050 h 10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80" h="1052">
                  <a:moveTo>
                    <a:pt x="0" y="1052"/>
                  </a:moveTo>
                  <a:cubicBezTo>
                    <a:pt x="331" y="706"/>
                    <a:pt x="663" y="360"/>
                    <a:pt x="872" y="188"/>
                  </a:cubicBezTo>
                  <a:cubicBezTo>
                    <a:pt x="1081" y="16"/>
                    <a:pt x="1152" y="40"/>
                    <a:pt x="1256" y="20"/>
                  </a:cubicBezTo>
                  <a:cubicBezTo>
                    <a:pt x="1360" y="0"/>
                    <a:pt x="1432" y="49"/>
                    <a:pt x="1496" y="68"/>
                  </a:cubicBezTo>
                  <a:cubicBezTo>
                    <a:pt x="1560" y="87"/>
                    <a:pt x="1577" y="92"/>
                    <a:pt x="1640" y="132"/>
                  </a:cubicBezTo>
                  <a:cubicBezTo>
                    <a:pt x="1703" y="172"/>
                    <a:pt x="1732" y="155"/>
                    <a:pt x="1872" y="308"/>
                  </a:cubicBezTo>
                  <a:cubicBezTo>
                    <a:pt x="2012" y="461"/>
                    <a:pt x="2246" y="756"/>
                    <a:pt x="2480" y="1052"/>
                  </a:cubicBez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 sz="1000"/>
            </a:p>
          </p:txBody>
        </p:sp>
        <p:sp>
          <p:nvSpPr>
            <p:cNvPr id="155" name="Freeform 17"/>
            <p:cNvSpPr>
              <a:spLocks/>
            </p:cNvSpPr>
            <p:nvPr/>
          </p:nvSpPr>
          <p:spPr bwMode="auto">
            <a:xfrm>
              <a:off x="3517900" y="3106738"/>
              <a:ext cx="355600" cy="93662"/>
            </a:xfrm>
            <a:custGeom>
              <a:avLst/>
              <a:gdLst>
                <a:gd name="T0" fmla="*/ 0 w 224"/>
                <a:gd name="T1" fmla="*/ 68262 h 59"/>
                <a:gd name="T2" fmla="*/ 190500 w 224"/>
                <a:gd name="T3" fmla="*/ 4762 h 59"/>
                <a:gd name="T4" fmla="*/ 355600 w 224"/>
                <a:gd name="T5" fmla="*/ 93662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4" h="59">
                  <a:moveTo>
                    <a:pt x="0" y="43"/>
                  </a:moveTo>
                  <a:cubicBezTo>
                    <a:pt x="41" y="21"/>
                    <a:pt x="83" y="0"/>
                    <a:pt x="120" y="3"/>
                  </a:cubicBezTo>
                  <a:cubicBezTo>
                    <a:pt x="157" y="6"/>
                    <a:pt x="190" y="32"/>
                    <a:pt x="224" y="59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 sz="1000"/>
            </a:p>
          </p:txBody>
        </p:sp>
        <p:sp>
          <p:nvSpPr>
            <p:cNvPr id="156" name="Text Box 18"/>
            <p:cNvSpPr txBox="1">
              <a:spLocks noChangeArrowheads="1"/>
            </p:cNvSpPr>
            <p:nvPr/>
          </p:nvSpPr>
          <p:spPr bwMode="auto">
            <a:xfrm>
              <a:off x="1294420" y="3034828"/>
              <a:ext cx="1048685" cy="400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GB" sz="1000" dirty="0"/>
                <a:t>Critical angle</a:t>
              </a:r>
            </a:p>
            <a:p>
              <a:r>
                <a:rPr lang="en-GB" sz="1000" dirty="0"/>
                <a:t>for frequency B</a:t>
              </a:r>
              <a:endParaRPr lang="en-US" sz="1000" dirty="0"/>
            </a:p>
          </p:txBody>
        </p:sp>
        <p:sp>
          <p:nvSpPr>
            <p:cNvPr id="157" name="Line 19"/>
            <p:cNvSpPr>
              <a:spLocks noChangeShapeType="1"/>
            </p:cNvSpPr>
            <p:nvPr/>
          </p:nvSpPr>
          <p:spPr bwMode="auto">
            <a:xfrm flipV="1">
              <a:off x="3187700" y="3213100"/>
              <a:ext cx="444500" cy="88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 sz="1000"/>
            </a:p>
          </p:txBody>
        </p:sp>
        <p:sp>
          <p:nvSpPr>
            <p:cNvPr id="158" name="Text Box 20"/>
            <p:cNvSpPr txBox="1">
              <a:spLocks noChangeArrowheads="1"/>
            </p:cNvSpPr>
            <p:nvPr/>
          </p:nvSpPr>
          <p:spPr bwMode="auto">
            <a:xfrm>
              <a:off x="4454525" y="1192213"/>
              <a:ext cx="269626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GB" sz="1000"/>
                <a:t>A</a:t>
              </a:r>
              <a:endParaRPr lang="en-US" sz="1000"/>
            </a:p>
          </p:txBody>
        </p:sp>
        <p:sp>
          <p:nvSpPr>
            <p:cNvPr id="159" name="Text Box 21"/>
            <p:cNvSpPr txBox="1">
              <a:spLocks noChangeArrowheads="1"/>
            </p:cNvSpPr>
            <p:nvPr/>
          </p:nvSpPr>
          <p:spPr bwMode="auto">
            <a:xfrm>
              <a:off x="6092825" y="2944813"/>
              <a:ext cx="269626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GB" sz="1000"/>
                <a:t>B</a:t>
              </a:r>
            </a:p>
          </p:txBody>
        </p:sp>
        <p:sp>
          <p:nvSpPr>
            <p:cNvPr id="160" name="Text Box 22"/>
            <p:cNvSpPr txBox="1">
              <a:spLocks noChangeArrowheads="1"/>
            </p:cNvSpPr>
            <p:nvPr/>
          </p:nvSpPr>
          <p:spPr bwMode="auto">
            <a:xfrm>
              <a:off x="6994525" y="2817813"/>
              <a:ext cx="349249" cy="430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GB" sz="1000" dirty="0">
                  <a:solidFill>
                    <a:srgbClr val="FF0000"/>
                  </a:solidFill>
                </a:rPr>
                <a:t>C</a:t>
              </a:r>
              <a:endParaRPr 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161" name="Freeform 23"/>
            <p:cNvSpPr>
              <a:spLocks/>
            </p:cNvSpPr>
            <p:nvPr/>
          </p:nvSpPr>
          <p:spPr bwMode="auto">
            <a:xfrm>
              <a:off x="3549650" y="1358900"/>
              <a:ext cx="895350" cy="2744788"/>
            </a:xfrm>
            <a:custGeom>
              <a:avLst/>
              <a:gdLst>
                <a:gd name="T0" fmla="*/ 82550 w 564"/>
                <a:gd name="T1" fmla="*/ 2489200 h 1729"/>
                <a:gd name="T2" fmla="*/ 82550 w 564"/>
                <a:gd name="T3" fmla="*/ 2413000 h 1729"/>
                <a:gd name="T4" fmla="*/ 577850 w 564"/>
                <a:gd name="T5" fmla="*/ 495300 h 1729"/>
                <a:gd name="T6" fmla="*/ 895350 w 564"/>
                <a:gd name="T7" fmla="*/ 0 h 17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4" h="1729">
                  <a:moveTo>
                    <a:pt x="52" y="1568"/>
                  </a:moveTo>
                  <a:cubicBezTo>
                    <a:pt x="26" y="1648"/>
                    <a:pt x="0" y="1729"/>
                    <a:pt x="52" y="1520"/>
                  </a:cubicBezTo>
                  <a:cubicBezTo>
                    <a:pt x="104" y="1311"/>
                    <a:pt x="279" y="565"/>
                    <a:pt x="364" y="312"/>
                  </a:cubicBezTo>
                  <a:cubicBezTo>
                    <a:pt x="449" y="59"/>
                    <a:pt x="506" y="29"/>
                    <a:pt x="564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 sz="1000"/>
            </a:p>
          </p:txBody>
        </p:sp>
        <p:sp>
          <p:nvSpPr>
            <p:cNvPr id="162" name="Text Box 24"/>
            <p:cNvSpPr txBox="1">
              <a:spLocks noChangeArrowheads="1"/>
            </p:cNvSpPr>
            <p:nvPr/>
          </p:nvSpPr>
          <p:spPr bwMode="auto">
            <a:xfrm>
              <a:off x="-191726" y="1268412"/>
              <a:ext cx="2010487" cy="400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GB" sz="1000" dirty="0"/>
                <a:t>Frequency of A = frequency B</a:t>
              </a:r>
            </a:p>
            <a:p>
              <a:r>
                <a:rPr lang="en-GB" sz="1000" dirty="0"/>
                <a:t>Frequency C &gt; frequency A or B</a:t>
              </a:r>
              <a:endParaRPr lang="en-US" sz="1000" dirty="0"/>
            </a:p>
          </p:txBody>
        </p:sp>
        <p:sp>
          <p:nvSpPr>
            <p:cNvPr id="163" name="Freeform 25"/>
            <p:cNvSpPr>
              <a:spLocks/>
            </p:cNvSpPr>
            <p:nvPr/>
          </p:nvSpPr>
          <p:spPr bwMode="auto">
            <a:xfrm>
              <a:off x="3568700" y="3370263"/>
              <a:ext cx="406400" cy="109537"/>
            </a:xfrm>
            <a:custGeom>
              <a:avLst/>
              <a:gdLst>
                <a:gd name="T0" fmla="*/ 0 w 256"/>
                <a:gd name="T1" fmla="*/ 58737 h 69"/>
                <a:gd name="T2" fmla="*/ 190500 w 256"/>
                <a:gd name="T3" fmla="*/ 7937 h 69"/>
                <a:gd name="T4" fmla="*/ 406400 w 256"/>
                <a:gd name="T5" fmla="*/ 109537 h 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6" h="69">
                  <a:moveTo>
                    <a:pt x="0" y="37"/>
                  </a:moveTo>
                  <a:cubicBezTo>
                    <a:pt x="38" y="18"/>
                    <a:pt x="77" y="0"/>
                    <a:pt x="120" y="5"/>
                  </a:cubicBezTo>
                  <a:cubicBezTo>
                    <a:pt x="163" y="10"/>
                    <a:pt x="209" y="39"/>
                    <a:pt x="256" y="69"/>
                  </a:cubicBez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 sz="1000"/>
            </a:p>
          </p:txBody>
        </p:sp>
        <p:sp>
          <p:nvSpPr>
            <p:cNvPr id="164" name="Text Box 26"/>
            <p:cNvSpPr txBox="1">
              <a:spLocks noChangeArrowheads="1"/>
            </p:cNvSpPr>
            <p:nvPr/>
          </p:nvSpPr>
          <p:spPr bwMode="auto">
            <a:xfrm>
              <a:off x="4162424" y="3171825"/>
              <a:ext cx="2241390" cy="699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GB" sz="1000" dirty="0">
                  <a:solidFill>
                    <a:srgbClr val="FF0000"/>
                  </a:solidFill>
                </a:rPr>
                <a:t>Critical angle</a:t>
              </a:r>
            </a:p>
            <a:p>
              <a:r>
                <a:rPr lang="en-GB" sz="1000" dirty="0">
                  <a:solidFill>
                    <a:srgbClr val="FF0000"/>
                  </a:solidFill>
                </a:rPr>
                <a:t>for frequency C</a:t>
              </a:r>
              <a:endParaRPr 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165" name="Line 27"/>
            <p:cNvSpPr>
              <a:spLocks noChangeShapeType="1"/>
            </p:cNvSpPr>
            <p:nvPr/>
          </p:nvSpPr>
          <p:spPr bwMode="auto">
            <a:xfrm flipH="1" flipV="1">
              <a:off x="3886200" y="3556000"/>
              <a:ext cx="21590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 sz="1000"/>
            </a:p>
          </p:txBody>
        </p:sp>
      </p:grpSp>
      <p:sp>
        <p:nvSpPr>
          <p:cNvPr id="174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600" b="1" dirty="0">
                <a:solidFill>
                  <a:srgbClr val="C00000"/>
                </a:solidFill>
                <a:latin typeface="+mn-lt"/>
              </a:rPr>
              <a:t>Electromagnetic Wave Propagation</a:t>
            </a:r>
          </a:p>
          <a:p>
            <a:pPr fontAlgn="auto">
              <a:spcAft>
                <a:spcPts val="0"/>
              </a:spcAft>
            </a:pPr>
            <a:r>
              <a:rPr lang="en-SG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>Radio Propagation Modes (2)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78E7BD72-8ADF-4068-98A1-0F3A27C31E42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2" name="Pg12">
            <a:hlinkClick r:id="" action="ppaction://media"/>
            <a:extLst>
              <a:ext uri="{FF2B5EF4-FFF2-40B4-BE49-F238E27FC236}">
                <a16:creationId xmlns:a16="http://schemas.microsoft.com/office/drawing/2014/main" id="{4E65243F-A6DB-483D-BEB9-01E1F851BA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932276" y="586294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152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05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44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2322300"/>
              </p:ext>
            </p:extLst>
          </p:nvPr>
        </p:nvGraphicFramePr>
        <p:xfrm>
          <a:off x="2048341" y="1363113"/>
          <a:ext cx="7707313" cy="4414838"/>
        </p:xfrm>
        <a:graphic>
          <a:graphicData uri="http://schemas.openxmlformats.org/drawingml/2006/table">
            <a:tbl>
              <a:tblPr/>
              <a:tblGrid>
                <a:gridCol w="2176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</a:rPr>
                        <a:t>Classification Band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</a:rPr>
                        <a:t>Initials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</a:rPr>
                        <a:t>Frequency Range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</a:rPr>
                        <a:t>Characteristics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Extremely 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ELF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&lt; 300 Hz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Ground wave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Infra 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ILF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300 Hz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Math1" pitchFamily="2" charset="2"/>
                        </a:rPr>
                        <a:t>- 3 kHz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Very 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VLF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 kHz -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Math1" pitchFamily="2" charset="2"/>
                        </a:rPr>
                        <a:t> 30 kHz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30 kHz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Math1" pitchFamily="2" charset="2"/>
                        </a:rPr>
                        <a:t>- 300 kHz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Medium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300 kHz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Math1" pitchFamily="2" charset="2"/>
                        </a:rPr>
                        <a:t>- 3 MHz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Ground/Sky wave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High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 MHz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Math1" pitchFamily="2" charset="2"/>
                        </a:rPr>
                        <a:t>- 30 MHz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Math1" pitchFamily="2" charset="2"/>
                        </a:rPr>
                        <a:t>Sky wave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Very high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VHF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30 MHz -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Math1" pitchFamily="2" charset="2"/>
                        </a:rPr>
                        <a:t> 300 MHz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sym typeface="Math1" pitchFamily="2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sym typeface="Math1" pitchFamily="2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Math1" pitchFamily="2" charset="2"/>
                        </a:rPr>
                        <a:t>Space wave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sym typeface="Math1" pitchFamily="2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sym typeface="Math1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Ultra high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UHF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300 MHz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Math1" pitchFamily="2" charset="2"/>
                        </a:rPr>
                        <a:t>- 3 GHz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Super high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 GHz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Math1" pitchFamily="2" charset="2"/>
                        </a:rPr>
                        <a:t>- 30 GHz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Extremely high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EHF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30 GHz -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Math1" pitchFamily="2" charset="2"/>
                        </a:rPr>
                        <a:t> 300 GHz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Tremendously high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300 GHz -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Math1" pitchFamily="2" charset="2"/>
                        </a:rPr>
                        <a:t> 3000 GHz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2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600" b="1" dirty="0">
                <a:solidFill>
                  <a:srgbClr val="C00000"/>
                </a:solidFill>
                <a:latin typeface="+mn-lt"/>
              </a:rPr>
              <a:t>Electromagnetic Wave Propagation</a:t>
            </a:r>
          </a:p>
          <a:p>
            <a:pPr fontAlgn="auto">
              <a:spcAft>
                <a:spcPts val="0"/>
              </a:spcAft>
            </a:pPr>
            <a:r>
              <a:rPr lang="en-SG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>Radio Propagation Modes (3)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CBE53F-4B9F-4CD8-A28A-DF73D5FE04D7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3088829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27"/>
          <p:cNvSpPr>
            <a:spLocks noGrp="1" noChangeArrowheads="1"/>
          </p:cNvSpPr>
          <p:nvPr>
            <p:ph idx="1"/>
          </p:nvPr>
        </p:nvSpPr>
        <p:spPr>
          <a:xfrm>
            <a:off x="-18511" y="1982153"/>
            <a:ext cx="7238177" cy="4876800"/>
          </a:xfrm>
        </p:spPr>
        <p:txBody>
          <a:bodyPr>
            <a:normAutofit/>
          </a:bodyPr>
          <a:lstStyle/>
          <a:p>
            <a:pPr marL="742950" lvl="1" indent="-285750">
              <a:lnSpc>
                <a:spcPct val="80000"/>
              </a:lnSpc>
              <a:buFontTx/>
              <a:buChar char="-"/>
              <a:defRPr/>
            </a:pPr>
            <a:endParaRPr lang="en-US" sz="1800" dirty="0"/>
          </a:p>
          <a:p>
            <a:pPr lvl="1">
              <a:lnSpc>
                <a:spcPct val="80000"/>
              </a:lnSpc>
              <a:defRPr/>
            </a:pPr>
            <a:endParaRPr lang="en-US" sz="1800" dirty="0"/>
          </a:p>
          <a:p>
            <a:pPr>
              <a:lnSpc>
                <a:spcPct val="80000"/>
              </a:lnSpc>
              <a:defRPr/>
            </a:pPr>
            <a:endParaRPr lang="en-US" sz="1800" dirty="0"/>
          </a:p>
        </p:txBody>
      </p:sp>
      <p:grpSp>
        <p:nvGrpSpPr>
          <p:cNvPr id="7" name="Group 1033"/>
          <p:cNvGrpSpPr>
            <a:grpSpLocks/>
          </p:cNvGrpSpPr>
          <p:nvPr/>
        </p:nvGrpSpPr>
        <p:grpSpPr bwMode="auto">
          <a:xfrm>
            <a:off x="6457899" y="1130038"/>
            <a:ext cx="5765585" cy="4737826"/>
            <a:chOff x="3430" y="385"/>
            <a:chExt cx="2781" cy="2042"/>
          </a:xfrm>
        </p:grpSpPr>
        <p:graphicFrame>
          <p:nvGraphicFramePr>
            <p:cNvPr id="8" name="Object 10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0946234"/>
                </p:ext>
              </p:extLst>
            </p:nvPr>
          </p:nvGraphicFramePr>
          <p:xfrm>
            <a:off x="3430" y="385"/>
            <a:ext cx="2781" cy="20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icture" r:id="rId4" imgW="2657520" imgH="1952640" progId="Word.Picture.8">
                    <p:embed/>
                  </p:oleObj>
                </mc:Choice>
                <mc:Fallback>
                  <p:oleObj name="Picture" r:id="rId4" imgW="2657520" imgH="1952640" progId="Word.Picture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0" y="385"/>
                          <a:ext cx="2781" cy="20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 Box 1029"/>
            <p:cNvSpPr txBox="1">
              <a:spLocks noChangeArrowheads="1"/>
            </p:cNvSpPr>
            <p:nvPr/>
          </p:nvSpPr>
          <p:spPr bwMode="auto">
            <a:xfrm>
              <a:off x="4165" y="626"/>
              <a:ext cx="1173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dirty="0"/>
                <a:t>NLOS paths</a:t>
              </a:r>
            </a:p>
          </p:txBody>
        </p:sp>
        <p:sp>
          <p:nvSpPr>
            <p:cNvPr id="10" name="Line 1030"/>
            <p:cNvSpPr>
              <a:spLocks noChangeShapeType="1"/>
            </p:cNvSpPr>
            <p:nvPr/>
          </p:nvSpPr>
          <p:spPr bwMode="auto">
            <a:xfrm flipH="1">
              <a:off x="3696" y="863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1" name="Line 1031"/>
            <p:cNvSpPr>
              <a:spLocks noChangeShapeType="1"/>
            </p:cNvSpPr>
            <p:nvPr/>
          </p:nvSpPr>
          <p:spPr bwMode="auto">
            <a:xfrm>
              <a:off x="4080" y="863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2" name="Text Box 1032"/>
            <p:cNvSpPr txBox="1">
              <a:spLocks noChangeArrowheads="1"/>
            </p:cNvSpPr>
            <p:nvPr/>
          </p:nvSpPr>
          <p:spPr bwMode="auto">
            <a:xfrm rot="1336236">
              <a:off x="4624" y="1664"/>
              <a:ext cx="536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dirty="0"/>
                <a:t>LOS</a:t>
              </a:r>
            </a:p>
          </p:txBody>
        </p:sp>
      </p:grpSp>
      <p:sp>
        <p:nvSpPr>
          <p:cNvPr id="13" name="Rectangle 12"/>
          <p:cNvSpPr/>
          <p:nvPr/>
        </p:nvSpPr>
        <p:spPr>
          <a:xfrm>
            <a:off x="-328487" y="1165563"/>
            <a:ext cx="6768533" cy="4827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0">
              <a:lnSpc>
                <a:spcPct val="80000"/>
              </a:lnSpc>
              <a:buNone/>
              <a:defRPr/>
            </a:pPr>
            <a:r>
              <a:rPr lang="en-US" sz="2400" dirty="0"/>
              <a:t>Radiated energy from the antenna propagate through the media, in this case air, to reach the receiving antenna over mainly two possible propagation paths</a:t>
            </a:r>
          </a:p>
          <a:p>
            <a:pPr lvl="1" indent="0">
              <a:lnSpc>
                <a:spcPct val="80000"/>
              </a:lnSpc>
              <a:buNone/>
              <a:defRPr/>
            </a:pPr>
            <a:endParaRPr lang="en-US" sz="2400" b="1" dirty="0"/>
          </a:p>
          <a:p>
            <a:pPr lvl="1" indent="0">
              <a:lnSpc>
                <a:spcPct val="80000"/>
              </a:lnSpc>
              <a:buNone/>
              <a:defRPr/>
            </a:pPr>
            <a:r>
              <a:rPr lang="en-US" sz="2400" b="1" dirty="0">
                <a:solidFill>
                  <a:srgbClr val="0000FF"/>
                </a:solidFill>
              </a:rPr>
              <a:t>1) Line of Sight (LOS) path </a:t>
            </a:r>
          </a:p>
          <a:p>
            <a:pPr marL="742950" lvl="1" indent="-285750">
              <a:lnSpc>
                <a:spcPct val="80000"/>
              </a:lnSpc>
              <a:buFontTx/>
              <a:buChar char="-"/>
              <a:defRPr/>
            </a:pPr>
            <a:r>
              <a:rPr lang="en-US" sz="2400" dirty="0"/>
              <a:t>Tx and Rx can “see” each other</a:t>
            </a:r>
          </a:p>
          <a:p>
            <a:pPr marL="742950" lvl="1" indent="-285750">
              <a:lnSpc>
                <a:spcPct val="80000"/>
              </a:lnSpc>
              <a:buFontTx/>
              <a:buChar char="-"/>
              <a:defRPr/>
            </a:pPr>
            <a:r>
              <a:rPr lang="en-US" sz="2400" dirty="0"/>
              <a:t>A LOS link requires that </a:t>
            </a:r>
            <a:r>
              <a:rPr lang="en-US" sz="2400" b="1" dirty="0">
                <a:solidFill>
                  <a:srgbClr val="0000FF"/>
                </a:solidFill>
              </a:rPr>
              <a:t>most of the first Fresnel zone is free of any obstructions.  </a:t>
            </a:r>
            <a:r>
              <a:rPr lang="en-US" sz="2400" dirty="0"/>
              <a:t>Otherwise there will be significant signal reduction.</a:t>
            </a:r>
            <a:endParaRPr lang="en-US" sz="2400" b="1" dirty="0">
              <a:solidFill>
                <a:srgbClr val="0000FF"/>
              </a:solidFill>
            </a:endParaRPr>
          </a:p>
          <a:p>
            <a:pPr lvl="1" indent="0">
              <a:lnSpc>
                <a:spcPct val="80000"/>
              </a:lnSpc>
              <a:buNone/>
              <a:defRPr/>
            </a:pPr>
            <a:r>
              <a:rPr lang="en-US" sz="2400" b="1" dirty="0">
                <a:solidFill>
                  <a:srgbClr val="0000FF"/>
                </a:solidFill>
              </a:rPr>
              <a:t>2) Non Line of Sight (NLOS) paths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</a:p>
          <a:p>
            <a:pPr marL="742950" lvl="1" indent="-285750">
              <a:lnSpc>
                <a:spcPct val="80000"/>
              </a:lnSpc>
              <a:buFontTx/>
              <a:buChar char="-"/>
              <a:defRPr/>
            </a:pPr>
            <a:r>
              <a:rPr lang="en-US" sz="2400" dirty="0"/>
              <a:t>the direct path between Tx and Rx are blocked by obstacles and hence “cannot see” each other. The radio signal is reflected off from some structures to reach the receiver</a:t>
            </a: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600" b="1" dirty="0">
                <a:solidFill>
                  <a:srgbClr val="C00000"/>
                </a:solidFill>
                <a:latin typeface="+mn-lt"/>
              </a:rPr>
              <a:t>Electromagnetic Wave Propagation</a:t>
            </a:r>
          </a:p>
          <a:p>
            <a:pPr fontAlgn="auto">
              <a:spcAft>
                <a:spcPts val="0"/>
              </a:spcAft>
            </a:pPr>
            <a:r>
              <a:rPr lang="en-SG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>Radio Propagation Model (4)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D18A40-B091-4367-9E29-ABF95025DBB1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2" name="Pg14">
            <a:hlinkClick r:id="" action="ppaction://media"/>
            <a:extLst>
              <a:ext uri="{FF2B5EF4-FFF2-40B4-BE49-F238E27FC236}">
                <a16:creationId xmlns:a16="http://schemas.microsoft.com/office/drawing/2014/main" id="{4C2F8DED-E506-4BFC-B444-A545B15478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993699" y="584366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229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49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39333" y="1167697"/>
            <a:ext cx="11173751" cy="1924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0000FF"/>
                </a:solidFill>
                <a:cs typeface="Arial" charset="0"/>
              </a:rPr>
              <a:t>Optical Line of sight</a:t>
            </a:r>
            <a:r>
              <a:rPr lang="en-US" sz="2400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sz="2400" dirty="0">
                <a:cs typeface="Arial" charset="0"/>
              </a:rPr>
              <a:t>is the </a:t>
            </a:r>
            <a:r>
              <a:rPr lang="en-US" sz="2400" b="1" dirty="0">
                <a:cs typeface="Arial" charset="0"/>
              </a:rPr>
              <a:t>direct free-space path</a:t>
            </a:r>
            <a:r>
              <a:rPr lang="en-US" sz="2400" dirty="0">
                <a:cs typeface="Arial" charset="0"/>
              </a:rPr>
              <a:t> that exists between two end-points.  To have a clear line of sight there must be no obstructions between Tx and Rx. “</a:t>
            </a:r>
            <a:r>
              <a:rPr lang="en-US" altLang="en-US" sz="2400" dirty="0"/>
              <a:t>Transmitter and receiver must be able to see each other”.</a:t>
            </a:r>
          </a:p>
          <a:p>
            <a:r>
              <a:rPr lang="en-US" sz="2400" dirty="0"/>
              <a:t>Obstructions that might block optical line of sight include curvature of the Earth, mountains; topographic features, buildings; other man-made objects.</a:t>
            </a:r>
            <a:endParaRPr lang="en-US" sz="1600" dirty="0">
              <a:cs typeface="Arial" charset="0"/>
            </a:endParaRPr>
          </a:p>
          <a:p>
            <a:endParaRPr lang="en-US" sz="1600" dirty="0">
              <a:cs typeface="Times New Roman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693761" y="5714489"/>
            <a:ext cx="451968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1600" dirty="0"/>
              <a:t>Space wave propagation and physical limitations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7100347" y="5728296"/>
            <a:ext cx="379056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1600" dirty="0"/>
              <a:t>Propagation restricted by Earth’s curvature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840" y="3262885"/>
            <a:ext cx="4843166" cy="228046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407" y="3579142"/>
            <a:ext cx="6489341" cy="2111161"/>
          </a:xfrm>
          <a:prstGeom prst="rect">
            <a:avLst/>
          </a:prstGeom>
        </p:spPr>
      </p:pic>
      <p:sp>
        <p:nvSpPr>
          <p:cNvPr id="15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600" b="1" dirty="0">
                <a:solidFill>
                  <a:srgbClr val="C00000"/>
                </a:solidFill>
                <a:latin typeface="+mn-lt"/>
              </a:rPr>
              <a:t>Electromagnetic Wave Propagation</a:t>
            </a:r>
          </a:p>
          <a:p>
            <a:pPr fontAlgn="auto">
              <a:spcAft>
                <a:spcPts val="0"/>
              </a:spcAft>
            </a:pPr>
            <a:r>
              <a:rPr lang="en-SG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>Radio Propagation Model – Line of Sight (1)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B777F6-545E-4A27-81C8-DCA142A93F77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2" name="Pg15">
            <a:hlinkClick r:id="" action="ppaction://media"/>
            <a:extLst>
              <a:ext uri="{FF2B5EF4-FFF2-40B4-BE49-F238E27FC236}">
                <a16:creationId xmlns:a16="http://schemas.microsoft.com/office/drawing/2014/main" id="{EE11E37D-879C-45EF-964C-126CF279FBC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862992" y="588376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68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74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315575" y="1100175"/>
            <a:ext cx="11836513" cy="28432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cs typeface="Arial" charset="0"/>
              </a:rPr>
              <a:t>However due to the density of the atmosphere changing, less dense as the height increases, </a:t>
            </a:r>
            <a:r>
              <a:rPr lang="en-GB" sz="2400" b="1" dirty="0">
                <a:solidFill>
                  <a:srgbClr val="0000FF"/>
                </a:solidFill>
              </a:rPr>
              <a:t>radio signals are refracted (bent) </a:t>
            </a:r>
            <a:r>
              <a:rPr lang="en-GB" sz="2400" b="1" dirty="0"/>
              <a:t>into slightly curved paths</a:t>
            </a:r>
            <a:r>
              <a:rPr lang="en-GB" sz="2400" dirty="0"/>
              <a:t>, and hence communicating antennas </a:t>
            </a:r>
            <a:r>
              <a:rPr lang="en-GB" sz="2400" b="1" dirty="0"/>
              <a:t>can “see” each other even when beyond the visible horizon</a:t>
            </a:r>
            <a:r>
              <a:rPr lang="en-GB" sz="2400" b="1" dirty="0">
                <a:solidFill>
                  <a:schemeClr val="bg2"/>
                </a:solidFill>
              </a:rPr>
              <a:t>  </a:t>
            </a:r>
          </a:p>
          <a:p>
            <a:pPr>
              <a:buClr>
                <a:srgbClr val="0000FF"/>
              </a:buClr>
            </a:pPr>
            <a:r>
              <a:rPr lang="en-US" altLang="en-US" sz="2400" dirty="0"/>
              <a:t>Line of sight (LOS) propagation is one mode of unguided radio wave transmission</a:t>
            </a:r>
          </a:p>
          <a:p>
            <a:pPr>
              <a:buClr>
                <a:srgbClr val="0000FF"/>
              </a:buClr>
            </a:pPr>
            <a:r>
              <a:rPr lang="en-US" altLang="en-US" sz="2400" dirty="0"/>
              <a:t>Used mainly for VHF and Microwaves bands because the energy of radio waves at these bands propagate through the atmosphere in more or less a straight line</a:t>
            </a:r>
          </a:p>
          <a:p>
            <a:endParaRPr lang="en-US" sz="1800" b="1" dirty="0">
              <a:cs typeface="Times New Roman" pitchFamily="18" charset="0"/>
            </a:endParaRPr>
          </a:p>
          <a:p>
            <a:endParaRPr lang="en-US" sz="1800" b="1" dirty="0"/>
          </a:p>
        </p:txBody>
      </p:sp>
      <p:grpSp>
        <p:nvGrpSpPr>
          <p:cNvPr id="13" name="Group 12"/>
          <p:cNvGrpSpPr/>
          <p:nvPr/>
        </p:nvGrpSpPr>
        <p:grpSpPr>
          <a:xfrm>
            <a:off x="620114" y="3586653"/>
            <a:ext cx="11026212" cy="2731957"/>
            <a:chOff x="154359" y="3654025"/>
            <a:chExt cx="8810129" cy="1968500"/>
          </a:xfrm>
        </p:grpSpPr>
        <p:sp>
          <p:nvSpPr>
            <p:cNvPr id="14" name="Freeform 4"/>
            <p:cNvSpPr>
              <a:spLocks/>
            </p:cNvSpPr>
            <p:nvPr/>
          </p:nvSpPr>
          <p:spPr bwMode="auto">
            <a:xfrm>
              <a:off x="784100" y="4593825"/>
              <a:ext cx="7848600" cy="1028700"/>
            </a:xfrm>
            <a:custGeom>
              <a:avLst/>
              <a:gdLst>
                <a:gd name="T0" fmla="*/ 0 w 4944"/>
                <a:gd name="T1" fmla="*/ 1512093577 h 648"/>
                <a:gd name="T2" fmla="*/ 2147483647 w 4944"/>
                <a:gd name="T3" fmla="*/ 544353743 h 648"/>
                <a:gd name="T4" fmla="*/ 2147483647 w 4944"/>
                <a:gd name="T5" fmla="*/ 60483752 h 648"/>
                <a:gd name="T6" fmla="*/ 2147483647 w 4944"/>
                <a:gd name="T7" fmla="*/ 181451231 h 648"/>
                <a:gd name="T8" fmla="*/ 2147483647 w 4944"/>
                <a:gd name="T9" fmla="*/ 786288652 h 648"/>
                <a:gd name="T10" fmla="*/ 2147483647 w 4944"/>
                <a:gd name="T11" fmla="*/ 1391126123 h 648"/>
                <a:gd name="T12" fmla="*/ 2147483647 w 4944"/>
                <a:gd name="T13" fmla="*/ 1633061032 h 6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944"/>
                <a:gd name="T22" fmla="*/ 0 h 648"/>
                <a:gd name="T23" fmla="*/ 4944 w 4944"/>
                <a:gd name="T24" fmla="*/ 648 h 6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944" h="648">
                  <a:moveTo>
                    <a:pt x="0" y="600"/>
                  </a:moveTo>
                  <a:cubicBezTo>
                    <a:pt x="356" y="456"/>
                    <a:pt x="712" y="312"/>
                    <a:pt x="1056" y="216"/>
                  </a:cubicBezTo>
                  <a:cubicBezTo>
                    <a:pt x="1400" y="120"/>
                    <a:pt x="1760" y="48"/>
                    <a:pt x="2064" y="24"/>
                  </a:cubicBezTo>
                  <a:cubicBezTo>
                    <a:pt x="2368" y="0"/>
                    <a:pt x="2560" y="24"/>
                    <a:pt x="2880" y="72"/>
                  </a:cubicBezTo>
                  <a:cubicBezTo>
                    <a:pt x="3200" y="120"/>
                    <a:pt x="3680" y="232"/>
                    <a:pt x="3984" y="312"/>
                  </a:cubicBezTo>
                  <a:cubicBezTo>
                    <a:pt x="4288" y="392"/>
                    <a:pt x="4544" y="496"/>
                    <a:pt x="4704" y="552"/>
                  </a:cubicBezTo>
                  <a:cubicBezTo>
                    <a:pt x="4864" y="608"/>
                    <a:pt x="4904" y="628"/>
                    <a:pt x="4944" y="648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5" name="Line 5"/>
            <p:cNvSpPr>
              <a:spLocks noChangeShapeType="1"/>
            </p:cNvSpPr>
            <p:nvPr/>
          </p:nvSpPr>
          <p:spPr bwMode="auto">
            <a:xfrm flipH="1" flipV="1">
              <a:off x="1088900" y="5051025"/>
              <a:ext cx="152400" cy="304800"/>
            </a:xfrm>
            <a:prstGeom prst="line">
              <a:avLst/>
            </a:prstGeom>
            <a:noFill/>
            <a:ln w="28575">
              <a:solidFill>
                <a:srgbClr val="411B2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 sz="1600"/>
            </a:p>
          </p:txBody>
        </p:sp>
        <p:sp>
          <p:nvSpPr>
            <p:cNvPr id="16" name="Line 6"/>
            <p:cNvSpPr>
              <a:spLocks noChangeShapeType="1"/>
            </p:cNvSpPr>
            <p:nvPr/>
          </p:nvSpPr>
          <p:spPr bwMode="auto">
            <a:xfrm flipV="1">
              <a:off x="1165100" y="4974825"/>
              <a:ext cx="76200" cy="228600"/>
            </a:xfrm>
            <a:prstGeom prst="line">
              <a:avLst/>
            </a:prstGeom>
            <a:noFill/>
            <a:ln w="28575">
              <a:solidFill>
                <a:srgbClr val="411B2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 sz="1600"/>
            </a:p>
          </p:txBody>
        </p:sp>
        <p:sp>
          <p:nvSpPr>
            <p:cNvPr id="17" name="Line 7"/>
            <p:cNvSpPr>
              <a:spLocks noChangeShapeType="1"/>
            </p:cNvSpPr>
            <p:nvPr/>
          </p:nvSpPr>
          <p:spPr bwMode="auto">
            <a:xfrm flipH="1" flipV="1">
              <a:off x="936500" y="5127225"/>
              <a:ext cx="228600" cy="76200"/>
            </a:xfrm>
            <a:prstGeom prst="line">
              <a:avLst/>
            </a:prstGeom>
            <a:noFill/>
            <a:ln w="28575">
              <a:solidFill>
                <a:srgbClr val="411B2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 sz="1600"/>
            </a:p>
          </p:txBody>
        </p:sp>
        <p:sp>
          <p:nvSpPr>
            <p:cNvPr id="18" name="Line 8"/>
            <p:cNvSpPr>
              <a:spLocks noChangeShapeType="1"/>
            </p:cNvSpPr>
            <p:nvPr/>
          </p:nvSpPr>
          <p:spPr bwMode="auto">
            <a:xfrm flipV="1">
              <a:off x="1241300" y="4360302"/>
              <a:ext cx="4743450" cy="6145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 sz="1600"/>
            </a:p>
          </p:txBody>
        </p:sp>
        <p:sp>
          <p:nvSpPr>
            <p:cNvPr id="19" name="Text Box 9"/>
            <p:cNvSpPr txBox="1">
              <a:spLocks noChangeArrowheads="1"/>
            </p:cNvSpPr>
            <p:nvPr/>
          </p:nvSpPr>
          <p:spPr bwMode="auto">
            <a:xfrm>
              <a:off x="2536700" y="5127225"/>
              <a:ext cx="24384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/>
                <a:t>Optical Horizon</a:t>
              </a:r>
            </a:p>
          </p:txBody>
        </p:sp>
        <p:sp>
          <p:nvSpPr>
            <p:cNvPr id="20" name="Line 10"/>
            <p:cNvSpPr>
              <a:spLocks noChangeShapeType="1"/>
            </p:cNvSpPr>
            <p:nvPr/>
          </p:nvSpPr>
          <p:spPr bwMode="auto">
            <a:xfrm flipV="1">
              <a:off x="3679700" y="4670025"/>
              <a:ext cx="457200" cy="53340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 sz="1600"/>
            </a:p>
          </p:txBody>
        </p:sp>
        <p:sp>
          <p:nvSpPr>
            <p:cNvPr id="21" name="Text Box 11"/>
            <p:cNvSpPr txBox="1">
              <a:spLocks noChangeArrowheads="1"/>
            </p:cNvSpPr>
            <p:nvPr/>
          </p:nvSpPr>
          <p:spPr bwMode="auto">
            <a:xfrm>
              <a:off x="154359" y="4910210"/>
              <a:ext cx="16002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/>
                <a:t>Antenna</a:t>
              </a:r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auto">
            <a:xfrm>
              <a:off x="1241300" y="3654025"/>
              <a:ext cx="5810250" cy="1474788"/>
            </a:xfrm>
            <a:custGeom>
              <a:avLst/>
              <a:gdLst>
                <a:gd name="T0" fmla="*/ 0 w 4656"/>
                <a:gd name="T1" fmla="*/ 1223813096 h 1216"/>
                <a:gd name="T2" fmla="*/ 2018220564 w 4656"/>
                <a:gd name="T3" fmla="*/ 305952971 h 1216"/>
                <a:gd name="T4" fmla="*/ 2147483647 w 4656"/>
                <a:gd name="T5" fmla="*/ 23534754 h 1216"/>
                <a:gd name="T6" fmla="*/ 2147483647 w 4656"/>
                <a:gd name="T7" fmla="*/ 164744502 h 1216"/>
                <a:gd name="T8" fmla="*/ 2147483647 w 4656"/>
                <a:gd name="T9" fmla="*/ 588372409 h 1216"/>
                <a:gd name="T10" fmla="*/ 2147483647 w 4656"/>
                <a:gd name="T11" fmla="*/ 1153208861 h 1216"/>
                <a:gd name="T12" fmla="*/ 2147483647 w 4656"/>
                <a:gd name="T13" fmla="*/ 1788650912 h 12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656"/>
                <a:gd name="T22" fmla="*/ 0 h 1216"/>
                <a:gd name="T23" fmla="*/ 4656 w 4656"/>
                <a:gd name="T24" fmla="*/ 1216 h 12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656" h="1216">
                  <a:moveTo>
                    <a:pt x="0" y="832"/>
                  </a:moveTo>
                  <a:cubicBezTo>
                    <a:pt x="464" y="588"/>
                    <a:pt x="928" y="344"/>
                    <a:pt x="1296" y="208"/>
                  </a:cubicBezTo>
                  <a:cubicBezTo>
                    <a:pt x="1664" y="72"/>
                    <a:pt x="1944" y="32"/>
                    <a:pt x="2208" y="16"/>
                  </a:cubicBezTo>
                  <a:cubicBezTo>
                    <a:pt x="2472" y="0"/>
                    <a:pt x="2656" y="48"/>
                    <a:pt x="2880" y="112"/>
                  </a:cubicBezTo>
                  <a:cubicBezTo>
                    <a:pt x="3104" y="176"/>
                    <a:pt x="3336" y="288"/>
                    <a:pt x="3552" y="400"/>
                  </a:cubicBezTo>
                  <a:cubicBezTo>
                    <a:pt x="3768" y="512"/>
                    <a:pt x="3992" y="648"/>
                    <a:pt x="4176" y="784"/>
                  </a:cubicBezTo>
                  <a:cubicBezTo>
                    <a:pt x="4360" y="920"/>
                    <a:pt x="4508" y="1068"/>
                    <a:pt x="4656" y="121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3" name="Text Box 13"/>
            <p:cNvSpPr txBox="1">
              <a:spLocks noChangeArrowheads="1"/>
            </p:cNvSpPr>
            <p:nvPr/>
          </p:nvSpPr>
          <p:spPr bwMode="auto">
            <a:xfrm>
              <a:off x="6907088" y="3688950"/>
              <a:ext cx="20574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b="1"/>
                <a:t>Radio Horizon</a:t>
              </a:r>
            </a:p>
          </p:txBody>
        </p:sp>
        <p:sp>
          <p:nvSpPr>
            <p:cNvPr id="24" name="Line 14"/>
            <p:cNvSpPr>
              <a:spLocks noChangeShapeType="1"/>
            </p:cNvSpPr>
            <p:nvPr/>
          </p:nvSpPr>
          <p:spPr bwMode="auto">
            <a:xfrm flipH="1">
              <a:off x="7051550" y="4047725"/>
              <a:ext cx="503238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 sz="1600"/>
            </a:p>
          </p:txBody>
        </p:sp>
        <p:sp>
          <p:nvSpPr>
            <p:cNvPr id="25" name="Text Box 15"/>
            <p:cNvSpPr txBox="1">
              <a:spLocks noChangeArrowheads="1"/>
            </p:cNvSpPr>
            <p:nvPr/>
          </p:nvSpPr>
          <p:spPr bwMode="auto">
            <a:xfrm>
              <a:off x="3017713" y="3976288"/>
              <a:ext cx="2433637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b="1" dirty="0"/>
                <a:t>Radio line of sight path</a:t>
              </a:r>
            </a:p>
          </p:txBody>
        </p:sp>
        <p:sp>
          <p:nvSpPr>
            <p:cNvPr id="26" name="Text Box 16"/>
            <p:cNvSpPr txBox="1">
              <a:spLocks noChangeArrowheads="1"/>
            </p:cNvSpPr>
            <p:nvPr/>
          </p:nvSpPr>
          <p:spPr bwMode="auto">
            <a:xfrm>
              <a:off x="174500" y="3976288"/>
              <a:ext cx="1471613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/>
                <a:t>Optical line of </a:t>
              </a:r>
            </a:p>
            <a:p>
              <a:r>
                <a:rPr lang="en-US"/>
                <a:t>sight path</a:t>
              </a:r>
            </a:p>
          </p:txBody>
        </p:sp>
        <p:sp>
          <p:nvSpPr>
            <p:cNvPr id="27" name="Line 17"/>
            <p:cNvSpPr>
              <a:spLocks noChangeShapeType="1"/>
            </p:cNvSpPr>
            <p:nvPr/>
          </p:nvSpPr>
          <p:spPr bwMode="auto">
            <a:xfrm>
              <a:off x="1546100" y="4339825"/>
              <a:ext cx="7620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 sz="1600"/>
            </a:p>
          </p:txBody>
        </p:sp>
        <p:sp>
          <p:nvSpPr>
            <p:cNvPr id="28" name="Text Box 18"/>
            <p:cNvSpPr txBox="1">
              <a:spLocks noChangeArrowheads="1"/>
            </p:cNvSpPr>
            <p:nvPr/>
          </p:nvSpPr>
          <p:spPr bwMode="auto">
            <a:xfrm>
              <a:off x="4670300" y="4873225"/>
              <a:ext cx="16827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b="1"/>
                <a:t>EARTH Surface</a:t>
              </a:r>
            </a:p>
          </p:txBody>
        </p:sp>
      </p:grpSp>
      <p:sp>
        <p:nvSpPr>
          <p:cNvPr id="32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600" b="1" dirty="0">
                <a:solidFill>
                  <a:srgbClr val="C00000"/>
                </a:solidFill>
                <a:latin typeface="+mn-lt"/>
              </a:rPr>
              <a:t>Electromagnetic Wave Propagation</a:t>
            </a:r>
          </a:p>
          <a:p>
            <a:pPr fontAlgn="auto">
              <a:spcAft>
                <a:spcPts val="0"/>
              </a:spcAft>
            </a:pPr>
            <a:r>
              <a:rPr lang="en-SG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>Radio Propagation Model – Line of Sight (2)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16904EB-C3BF-464E-BFCA-5F5A77BD16E6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2" name="Pg16">
            <a:hlinkClick r:id="" action="ppaction://media"/>
            <a:extLst>
              <a:ext uri="{FF2B5EF4-FFF2-40B4-BE49-F238E27FC236}">
                <a16:creationId xmlns:a16="http://schemas.microsoft.com/office/drawing/2014/main" id="{68E5B6F3-3CBA-4A00-9666-1E3A558F5F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15505" y="583507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00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49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27"/>
          <p:cNvSpPr txBox="1">
            <a:spLocks noChangeArrowheads="1"/>
          </p:cNvSpPr>
          <p:nvPr/>
        </p:nvSpPr>
        <p:spPr>
          <a:xfrm>
            <a:off x="377208" y="1242366"/>
            <a:ext cx="11198951" cy="487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0000FF"/>
                </a:solidFill>
              </a:rPr>
              <a:t>Optical line of sight distance </a:t>
            </a:r>
            <a:r>
              <a:rPr lang="en-US" sz="2400" b="1" dirty="0" err="1">
                <a:solidFill>
                  <a:srgbClr val="0000FF"/>
                </a:solidFill>
              </a:rPr>
              <a:t>d</a:t>
            </a:r>
            <a:r>
              <a:rPr lang="en-US" sz="2400" b="1" baseline="-25000" dirty="0" err="1">
                <a:solidFill>
                  <a:srgbClr val="0000FF"/>
                </a:solidFill>
              </a:rPr>
              <a:t>OLOS</a:t>
            </a:r>
            <a:r>
              <a:rPr lang="en-US" sz="2400" b="1" dirty="0">
                <a:solidFill>
                  <a:srgbClr val="0000FF"/>
                </a:solidFill>
              </a:rPr>
              <a:t> 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1200" b="1" dirty="0">
              <a:solidFill>
                <a:srgbClr val="0000FF"/>
              </a:solidFill>
            </a:endParaRPr>
          </a:p>
          <a:p>
            <a:r>
              <a:rPr lang="en-US" sz="2400" b="1" dirty="0">
                <a:solidFill>
                  <a:srgbClr val="0000FF"/>
                </a:solidFill>
              </a:rPr>
              <a:t>Radio line of sight distance </a:t>
            </a:r>
            <a:r>
              <a:rPr lang="en-US" sz="2400" b="1" dirty="0" err="1">
                <a:solidFill>
                  <a:srgbClr val="0000FF"/>
                </a:solidFill>
              </a:rPr>
              <a:t>d</a:t>
            </a:r>
            <a:r>
              <a:rPr lang="en-US" sz="2400" b="1" baseline="-25000" dirty="0" err="1">
                <a:solidFill>
                  <a:srgbClr val="0000FF"/>
                </a:solidFill>
              </a:rPr>
              <a:t>RLOS</a:t>
            </a:r>
            <a:r>
              <a:rPr lang="en-US" sz="2400" b="1" baseline="-25000" dirty="0">
                <a:solidFill>
                  <a:srgbClr val="3333CC"/>
                </a:solidFill>
              </a:rPr>
              <a:t> </a:t>
            </a:r>
            <a:r>
              <a:rPr lang="en-US" sz="2400" dirty="0"/>
              <a:t>is </a:t>
            </a:r>
            <a:r>
              <a:rPr lang="en-US" sz="2400" b="1" dirty="0"/>
              <a:t>usually 1.33 times further than the optical line of sight</a:t>
            </a:r>
            <a:r>
              <a:rPr lang="en-US" sz="2400" dirty="0"/>
              <a:t> </a:t>
            </a:r>
            <a:r>
              <a:rPr lang="en-US" sz="2400" b="1" dirty="0" err="1"/>
              <a:t>d</a:t>
            </a:r>
            <a:r>
              <a:rPr lang="en-US" sz="2400" b="1" baseline="-25000" dirty="0" err="1"/>
              <a:t>OLOS</a:t>
            </a:r>
            <a:r>
              <a:rPr lang="en-US" sz="2400" b="1" baseline="-25000" dirty="0"/>
              <a:t>.       </a:t>
            </a:r>
            <a:r>
              <a:rPr lang="en-US" sz="2400" b="1" dirty="0" err="1">
                <a:solidFill>
                  <a:srgbClr val="0000FF"/>
                </a:solidFill>
              </a:rPr>
              <a:t>d</a:t>
            </a:r>
            <a:r>
              <a:rPr lang="en-US" sz="2400" b="1" baseline="-25000" dirty="0" err="1">
                <a:solidFill>
                  <a:srgbClr val="0000FF"/>
                </a:solidFill>
              </a:rPr>
              <a:t>RLOS</a:t>
            </a:r>
            <a:r>
              <a:rPr lang="en-US" sz="2400" b="1" baseline="-25000" dirty="0">
                <a:solidFill>
                  <a:srgbClr val="0000FF"/>
                </a:solidFill>
              </a:rPr>
              <a:t> </a:t>
            </a:r>
            <a:r>
              <a:rPr lang="en-US" sz="2400" b="1" dirty="0">
                <a:solidFill>
                  <a:srgbClr val="0000FF"/>
                </a:solidFill>
              </a:rPr>
              <a:t>= </a:t>
            </a:r>
            <a:r>
              <a:rPr lang="en-US" sz="2400" b="1" dirty="0">
                <a:solidFill>
                  <a:srgbClr val="FF0000"/>
                </a:solidFill>
              </a:rPr>
              <a:t>1.33</a:t>
            </a:r>
            <a:r>
              <a:rPr lang="en-US" sz="2400" b="1" dirty="0">
                <a:solidFill>
                  <a:srgbClr val="0000FF"/>
                </a:solidFill>
              </a:rPr>
              <a:t> </a:t>
            </a:r>
            <a:r>
              <a:rPr lang="en-US" sz="2400" b="1" dirty="0" err="1"/>
              <a:t>d</a:t>
            </a:r>
            <a:r>
              <a:rPr lang="en-US" sz="2400" b="1" baseline="-25000" dirty="0" err="1"/>
              <a:t>OLOS</a:t>
            </a:r>
            <a:endParaRPr lang="en-US" sz="2400" b="1" baseline="-25000" dirty="0"/>
          </a:p>
          <a:p>
            <a:pPr marL="0" indent="0">
              <a:buNone/>
            </a:pPr>
            <a:endParaRPr lang="en-US" sz="1400" dirty="0"/>
          </a:p>
          <a:p>
            <a:r>
              <a:rPr lang="en-US" sz="2400" dirty="0">
                <a:cs typeface="Times New Roman" pitchFamily="18" charset="0"/>
              </a:rPr>
              <a:t>Determining the line-of-sight distance does not guarantee that range. The </a:t>
            </a:r>
            <a:r>
              <a:rPr lang="en-US" sz="2400" b="1" dirty="0">
                <a:solidFill>
                  <a:srgbClr val="0000FF"/>
                </a:solidFill>
                <a:cs typeface="Times New Roman" pitchFamily="18" charset="0"/>
              </a:rPr>
              <a:t>transmitter power, receiver sensitivity, transmission line loss, antenna loss or gain</a:t>
            </a:r>
            <a:r>
              <a:rPr lang="en-US" sz="2400" b="1" dirty="0">
                <a:cs typeface="Times New Roman" pitchFamily="18" charset="0"/>
              </a:rPr>
              <a:t>, and </a:t>
            </a:r>
            <a:r>
              <a:rPr lang="en-US" sz="2400" b="1" dirty="0">
                <a:solidFill>
                  <a:srgbClr val="0000FF"/>
                </a:solidFill>
                <a:cs typeface="Times New Roman" pitchFamily="18" charset="0"/>
              </a:rPr>
              <a:t>operating frequency </a:t>
            </a:r>
            <a:r>
              <a:rPr lang="en-US" sz="2400" dirty="0">
                <a:cs typeface="Times New Roman" pitchFamily="18" charset="0"/>
              </a:rPr>
              <a:t>must also be considered when calculating the actual range </a:t>
            </a:r>
            <a:endParaRPr lang="en-US" sz="2400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1894583"/>
              </p:ext>
            </p:extLst>
          </p:nvPr>
        </p:nvGraphicFramePr>
        <p:xfrm>
          <a:off x="5041093" y="882081"/>
          <a:ext cx="6899350" cy="2242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3982212" imgH="1295400" progId="Word.Picture.8">
                  <p:embed/>
                </p:oleObj>
              </mc:Choice>
              <mc:Fallback>
                <p:oleObj name="Picture" r:id="rId4" imgW="3982212" imgH="12954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1093" y="882081"/>
                        <a:ext cx="6899350" cy="22429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8"/>
              <p:cNvSpPr txBox="1"/>
              <p:nvPr/>
            </p:nvSpPr>
            <p:spPr bwMode="auto">
              <a:xfrm>
                <a:off x="741492" y="1666682"/>
                <a:ext cx="4215020" cy="12923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OLOS</m:t>
                          </m:r>
                        </m:sub>
                      </m:sSub>
                      <m: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4.12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rad>
                      <m: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where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OLOS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range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in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km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transmit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antenna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height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receive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antenna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height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1492" y="1666682"/>
                <a:ext cx="4215020" cy="1292325"/>
              </a:xfrm>
              <a:prstGeom prst="rect">
                <a:avLst/>
              </a:prstGeom>
              <a:blipFill>
                <a:blip r:embed="rId7"/>
                <a:stretch>
                  <a:fillRect b="-188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600" b="1" dirty="0">
                <a:solidFill>
                  <a:srgbClr val="C00000"/>
                </a:solidFill>
                <a:latin typeface="+mn-lt"/>
              </a:rPr>
              <a:t>Electromagnetic Wave Propagation</a:t>
            </a:r>
          </a:p>
          <a:p>
            <a:pPr fontAlgn="auto">
              <a:spcAft>
                <a:spcPts val="0"/>
              </a:spcAft>
            </a:pPr>
            <a:r>
              <a:rPr lang="en-SG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>Radio Propagation Model – Line of Sight (3)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AA7781-4772-4967-AFB3-5E597071BFD8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4" name="Pg17">
            <a:hlinkClick r:id="" action="ppaction://media"/>
            <a:extLst>
              <a:ext uri="{FF2B5EF4-FFF2-40B4-BE49-F238E27FC236}">
                <a16:creationId xmlns:a16="http://schemas.microsoft.com/office/drawing/2014/main" id="{6A78102C-757C-453E-B6C6-8A11D76AA5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943475" y="562815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449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67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906711"/>
              </p:ext>
            </p:extLst>
          </p:nvPr>
        </p:nvGraphicFramePr>
        <p:xfrm>
          <a:off x="3043347" y="2299654"/>
          <a:ext cx="5159375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81080" imgH="545760" progId="Equation.3">
                  <p:embed/>
                </p:oleObj>
              </mc:Choice>
              <mc:Fallback>
                <p:oleObj name="Equation" r:id="rId4" imgW="1981080" imgH="5457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3347" y="2299654"/>
                        <a:ext cx="5159375" cy="1485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54103" y="1252173"/>
            <a:ext cx="1138595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-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-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-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-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-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-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-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-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-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-457200" algn="l"/>
              </a:tabLst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ourier"/>
                <a:cs typeface="Arial" panose="020B0604020202020204" pitchFamily="34" charset="0"/>
              </a:rPr>
              <a:t>1) The two communication towners are communicating with each other via VHF. The height of the towner is 50m</a:t>
            </a:r>
            <a:r>
              <a:rPr kumimoji="0" lang="en-GB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ourier"/>
                <a:cs typeface="Arial" panose="020B0604020202020204" pitchFamily="34" charset="0"/>
              </a:rPr>
              <a:t> and 70m. 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ourier"/>
                <a:cs typeface="Arial" panose="020B0604020202020204" pitchFamily="34" charset="0"/>
              </a:rPr>
              <a:t>Estimate the maximum communication distance of the two towners. </a:t>
            </a:r>
            <a:endParaRPr kumimoji="0" lang="en-GB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354103" y="801734"/>
            <a:ext cx="87129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1pPr>
            <a:lvl2pPr marL="742950" indent="-28575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2pPr>
            <a:lvl3pPr marL="1143000" indent="-22860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3pPr>
            <a:lvl4pPr marL="1600200" indent="-22860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4pPr>
            <a:lvl5pPr marL="2057400" indent="-22860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3200" dirty="0">
                <a:solidFill>
                  <a:srgbClr val="C00000"/>
                </a:solidFill>
                <a:latin typeface="+mn-lt"/>
                <a:ea typeface="宋体" pitchFamily="2" charset="-122"/>
              </a:rPr>
              <a:t>Example</a:t>
            </a:r>
            <a:endParaRPr lang="en-GB" sz="32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403024" y="3778830"/>
            <a:ext cx="1138595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-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-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-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-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-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-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-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-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-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-457200" algn="l"/>
              </a:tabLst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ourier"/>
                <a:cs typeface="Arial" panose="020B0604020202020204" pitchFamily="34" charset="0"/>
              </a:rPr>
              <a:t>2) In order to increase the maximum distance,</a:t>
            </a:r>
            <a:r>
              <a:rPr kumimoji="0" lang="en-GB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ourier"/>
                <a:cs typeface="Arial" panose="020B0604020202020204" pitchFamily="34" charset="0"/>
              </a:rPr>
              <a:t> the height of the two towners are increase to 90m. Calculate the new maximum distance.</a:t>
            </a:r>
            <a:endParaRPr kumimoji="0" lang="en-GB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9049819"/>
              </p:ext>
            </p:extLst>
          </p:nvPr>
        </p:nvGraphicFramePr>
        <p:xfrm>
          <a:off x="3142648" y="4609827"/>
          <a:ext cx="5159375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81080" imgH="545760" progId="Equation.3">
                  <p:embed/>
                </p:oleObj>
              </mc:Choice>
              <mc:Fallback>
                <p:oleObj name="Equation" r:id="rId6" imgW="1981080" imgH="54576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2648" y="4609827"/>
                        <a:ext cx="5159375" cy="1485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600" b="1" dirty="0">
                <a:solidFill>
                  <a:srgbClr val="C00000"/>
                </a:solidFill>
                <a:latin typeface="+mn-lt"/>
              </a:rPr>
              <a:t>Electromagnetic Wave Propagation</a:t>
            </a:r>
          </a:p>
          <a:p>
            <a:pPr fontAlgn="auto">
              <a:spcAft>
                <a:spcPts val="0"/>
              </a:spcAft>
            </a:pPr>
            <a:r>
              <a:rPr lang="en-SG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>Radio Propagation Model – Line of Sight (4)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E34B3F-BC58-4B0F-B9B2-C9A4AEE12C97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2" name="Pg18">
            <a:hlinkClick r:id="" action="ppaction://media"/>
            <a:extLst>
              <a:ext uri="{FF2B5EF4-FFF2-40B4-BE49-F238E27FC236}">
                <a16:creationId xmlns:a16="http://schemas.microsoft.com/office/drawing/2014/main" id="{D13A6B2C-1A0A-4342-9560-BD285D292C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0003436" y="570901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71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28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017" y="3871667"/>
            <a:ext cx="8998267" cy="2607943"/>
          </a:xfrm>
          <a:prstGeom prst="rect">
            <a:avLst/>
          </a:prstGeom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50083" y="1116034"/>
            <a:ext cx="11764136" cy="3948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  <a:spcBef>
                <a:spcPts val="0"/>
              </a:spcBef>
              <a:buClr>
                <a:srgbClr val="0000FF"/>
              </a:buClr>
            </a:pPr>
            <a:r>
              <a:rPr lang="en-US" altLang="en-US" sz="2400" dirty="0"/>
              <a:t>Free space path is the Line-of-Sight path directly between the transmit and receive antennas (also called the Direct Wave)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Clr>
                <a:srgbClr val="0000FF"/>
              </a:buClr>
              <a:buNone/>
            </a:pPr>
            <a:endParaRPr lang="en-US" alt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buClr>
                <a:srgbClr val="0000FF"/>
              </a:buClr>
            </a:pPr>
            <a:r>
              <a:rPr lang="en-US" altLang="en-US" sz="2400" dirty="0"/>
              <a:t>Free Space Loss is defined as the loss incurred by an EM wave as it propagates in a straight line through a vacuum with no absorption or reflection of energy from nearby objects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Clr>
                <a:srgbClr val="0000FF"/>
              </a:buClr>
              <a:buNone/>
            </a:pPr>
            <a:endParaRPr lang="en-US" alt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buClr>
                <a:srgbClr val="0000FF"/>
              </a:buClr>
            </a:pPr>
            <a:r>
              <a:rPr lang="en-US" sz="2400" dirty="0"/>
              <a:t>A free space channel characterizes </a:t>
            </a:r>
            <a:r>
              <a:rPr lang="en-US" sz="2400" b="1" dirty="0"/>
              <a:t>an ideal RF propagation path</a:t>
            </a:r>
            <a:r>
              <a:rPr lang="en-US" sz="2400" dirty="0"/>
              <a:t>  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Clr>
                <a:srgbClr val="0000FF"/>
              </a:buClr>
              <a:buNone/>
            </a:pPr>
            <a:endParaRPr lang="en-US" sz="11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600" b="1" dirty="0">
                <a:solidFill>
                  <a:srgbClr val="C00000"/>
                </a:solidFill>
                <a:latin typeface="+mn-lt"/>
              </a:rPr>
              <a:t>Propagation Path Loss Models</a:t>
            </a:r>
          </a:p>
          <a:p>
            <a:pPr fontAlgn="auto">
              <a:spcAft>
                <a:spcPts val="0"/>
              </a:spcAft>
            </a:pPr>
            <a:r>
              <a:rPr lang="en-SG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>Free Space Concept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DEA8F3-A6C0-4CE6-AD79-63F736E1F185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2" name="Pg19">
            <a:hlinkClick r:id="" action="ppaction://media"/>
            <a:extLst>
              <a:ext uri="{FF2B5EF4-FFF2-40B4-BE49-F238E27FC236}">
                <a16:creationId xmlns:a16="http://schemas.microsoft.com/office/drawing/2014/main" id="{F2F33FC0-9838-44A2-996D-DCF2CDE0E9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976648" y="574632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698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28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075"/>
          <p:cNvSpPr txBox="1">
            <a:spLocks noChangeArrowheads="1"/>
          </p:cNvSpPr>
          <p:nvPr/>
        </p:nvSpPr>
        <p:spPr>
          <a:xfrm>
            <a:off x="633248" y="987925"/>
            <a:ext cx="10969139" cy="43624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The free space propagation model is used to predict signal strength when the </a:t>
            </a:r>
            <a:r>
              <a:rPr lang="en-US" sz="2400" b="1" dirty="0"/>
              <a:t>transmitter and receiver have a clear, unobstructed line of sight path between them</a:t>
            </a:r>
            <a:r>
              <a:rPr lang="en-US" sz="2400" dirty="0"/>
              <a:t>.  This is an Ideal Model</a:t>
            </a:r>
          </a:p>
          <a:p>
            <a:r>
              <a:rPr lang="en-US" sz="2400" b="1" dirty="0" err="1">
                <a:solidFill>
                  <a:srgbClr val="0000FF"/>
                </a:solidFill>
              </a:rPr>
              <a:t>Friis</a:t>
            </a:r>
            <a:r>
              <a:rPr lang="en-US" sz="2400" b="1" dirty="0">
                <a:solidFill>
                  <a:srgbClr val="0000FF"/>
                </a:solidFill>
              </a:rPr>
              <a:t> Free Space Equation</a:t>
            </a:r>
          </a:p>
          <a:p>
            <a:pPr lvl="1">
              <a:buFont typeface="Symbol" pitchFamily="18" charset="2"/>
              <a:buNone/>
            </a:pPr>
            <a:endParaRPr lang="en-US" dirty="0"/>
          </a:p>
          <a:p>
            <a:pPr lvl="1">
              <a:buFont typeface="Symbol" pitchFamily="18" charset="2"/>
              <a:buNone/>
            </a:pPr>
            <a:endParaRPr lang="en-US" sz="1800" dirty="0"/>
          </a:p>
          <a:p>
            <a:pPr lvl="1">
              <a:buFont typeface="Symbol" pitchFamily="18" charset="2"/>
              <a:buNone/>
            </a:pPr>
            <a:endParaRPr lang="en-US" sz="1000" dirty="0"/>
          </a:p>
          <a:p>
            <a:pPr lvl="1">
              <a:buFont typeface="Symbol" pitchFamily="18" charset="2"/>
              <a:buNone/>
            </a:pPr>
            <a:r>
              <a:rPr lang="en-US" sz="1800" dirty="0"/>
              <a:t>where:</a:t>
            </a:r>
            <a:br>
              <a:rPr lang="en-US" sz="1800" dirty="0"/>
            </a:br>
            <a:r>
              <a:rPr lang="en-US" sz="1800" dirty="0"/>
              <a:t>P</a:t>
            </a:r>
            <a:r>
              <a:rPr lang="en-US" sz="1800" baseline="-25000" dirty="0"/>
              <a:t>R</a:t>
            </a:r>
            <a:r>
              <a:rPr lang="en-US" sz="1800" dirty="0"/>
              <a:t> = Received Power in Watts</a:t>
            </a:r>
          </a:p>
          <a:p>
            <a:pPr lvl="1">
              <a:buFont typeface="Symbol" pitchFamily="18" charset="2"/>
              <a:buNone/>
            </a:pPr>
            <a:r>
              <a:rPr lang="en-US" sz="1800" dirty="0"/>
              <a:t>	P</a:t>
            </a:r>
            <a:r>
              <a:rPr lang="en-US" sz="1800" baseline="-25000" dirty="0"/>
              <a:t>T </a:t>
            </a:r>
            <a:r>
              <a:rPr lang="en-US" sz="1800" dirty="0"/>
              <a:t> = Transmitted Power in Watts </a:t>
            </a:r>
          </a:p>
          <a:p>
            <a:pPr lvl="1">
              <a:buFont typeface="Monotype Sorts" pitchFamily="2" charset="2"/>
              <a:buNone/>
            </a:pPr>
            <a:r>
              <a:rPr lang="en-US" sz="1800" dirty="0"/>
              <a:t>     G</a:t>
            </a:r>
            <a:r>
              <a:rPr lang="en-US" sz="1800" baseline="-30000" dirty="0"/>
              <a:t>T</a:t>
            </a:r>
            <a:r>
              <a:rPr lang="en-US" sz="1800" dirty="0"/>
              <a:t> = Transmit Antenna Gain </a:t>
            </a:r>
          </a:p>
          <a:p>
            <a:pPr lvl="1">
              <a:buFont typeface="Monotype Sorts" pitchFamily="2" charset="2"/>
              <a:buNone/>
            </a:pPr>
            <a:r>
              <a:rPr lang="en-US" sz="1800" dirty="0"/>
              <a:t>	G</a:t>
            </a:r>
            <a:r>
              <a:rPr lang="en-US" sz="1800" baseline="-30000" dirty="0"/>
              <a:t>R </a:t>
            </a:r>
            <a:r>
              <a:rPr lang="en-US" sz="1800" dirty="0"/>
              <a:t>= Receive Antenna Gain  </a:t>
            </a:r>
          </a:p>
          <a:p>
            <a:pPr lvl="1">
              <a:buFont typeface="Monotype Sorts" pitchFamily="2" charset="2"/>
              <a:buNone/>
            </a:pPr>
            <a:r>
              <a:rPr lang="en-US" sz="1800" dirty="0">
                <a:sym typeface="Symbol" pitchFamily="18" charset="2"/>
              </a:rPr>
              <a:t>        =</a:t>
            </a:r>
            <a:r>
              <a:rPr lang="en-US" sz="1800" dirty="0"/>
              <a:t> Wavelength in meters</a:t>
            </a:r>
          </a:p>
          <a:p>
            <a:pPr lvl="1">
              <a:buFont typeface="Monotype Sorts" pitchFamily="2" charset="2"/>
              <a:buNone/>
            </a:pPr>
            <a:r>
              <a:rPr lang="en-US" sz="1800" dirty="0"/>
              <a:t>     d  =  </a:t>
            </a:r>
            <a:r>
              <a:rPr lang="en-US" sz="1800" dirty="0" err="1"/>
              <a:t>Tx</a:t>
            </a:r>
            <a:r>
              <a:rPr lang="en-US" sz="1800" dirty="0"/>
              <a:t>/Rx Separation in same units as wavelength in meters</a:t>
            </a:r>
          </a:p>
          <a:p>
            <a:pPr lvl="1">
              <a:buFont typeface="Monotype Sorts" pitchFamily="2" charset="2"/>
              <a:buNone/>
            </a:pPr>
            <a:r>
              <a:rPr lang="en-US" sz="1800" dirty="0"/>
              <a:t>	L  = system loss that is not related to propagation (L </a:t>
            </a:r>
            <a:r>
              <a:rPr lang="en-US" sz="1800" dirty="0">
                <a:sym typeface="Symbol" pitchFamily="18" charset="2"/>
              </a:rPr>
              <a:t> 1)</a:t>
            </a:r>
            <a:br>
              <a:rPr lang="en-US" sz="1800" dirty="0"/>
            </a:br>
            <a:r>
              <a:rPr lang="en-US" sz="1800" dirty="0"/>
              <a:t>L =  1 (if there is no system hardware losses)</a:t>
            </a:r>
          </a:p>
        </p:txBody>
      </p:sp>
      <p:graphicFrame>
        <p:nvGraphicFramePr>
          <p:cNvPr id="10" name="Object 30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7665608"/>
              </p:ext>
            </p:extLst>
          </p:nvPr>
        </p:nvGraphicFramePr>
        <p:xfrm>
          <a:off x="4364096" y="2477263"/>
          <a:ext cx="3035228" cy="880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58640" imgH="393480" progId="Equation.3">
                  <p:embed/>
                </p:oleObj>
              </mc:Choice>
              <mc:Fallback>
                <p:oleObj name="Equation" r:id="rId5" imgW="13586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4096" y="2477263"/>
                        <a:ext cx="3035228" cy="8807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600" b="1" dirty="0">
                <a:solidFill>
                  <a:srgbClr val="C00000"/>
                </a:solidFill>
                <a:latin typeface="+mn-lt"/>
              </a:rPr>
              <a:t>Propagation Path Loss Models</a:t>
            </a:r>
          </a:p>
          <a:p>
            <a:pPr fontAlgn="auto">
              <a:spcAft>
                <a:spcPts val="0"/>
              </a:spcAft>
            </a:pPr>
            <a:r>
              <a:rPr lang="en-SG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>Free Space Propagation Model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2E1275-A880-40AF-B60A-FF8BD1950FF2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2" name="Pg20">
            <a:hlinkClick r:id="" action="ppaction://media"/>
            <a:extLst>
              <a:ext uri="{FF2B5EF4-FFF2-40B4-BE49-F238E27FC236}">
                <a16:creationId xmlns:a16="http://schemas.microsoft.com/office/drawing/2014/main" id="{D9619876-5695-4341-ADFE-6E7CF692D8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907962" y="556527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581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20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569981" y="1479548"/>
            <a:ext cx="10756131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The </a:t>
            </a:r>
            <a:r>
              <a:rPr lang="en-US" sz="2400" b="1" dirty="0">
                <a:solidFill>
                  <a:srgbClr val="0000FF"/>
                </a:solidFill>
              </a:rPr>
              <a:t>path loss</a:t>
            </a:r>
            <a:r>
              <a:rPr lang="en-US" sz="2400" b="1" dirty="0"/>
              <a:t>, which represents the signal attenuation after the signal leaves the transmit antenna and before reaching the receive antenna</a:t>
            </a:r>
            <a:r>
              <a:rPr lang="en-US" sz="2400" dirty="0"/>
              <a:t> is defined as the difference (in dB) between the transmitted power and the received power with </a:t>
            </a:r>
            <a:r>
              <a:rPr lang="en-US" sz="2400" b="1" dirty="0"/>
              <a:t>unity antenna gain</a:t>
            </a:r>
          </a:p>
          <a:p>
            <a:endParaRPr lang="en-US" sz="2400" b="1" dirty="0"/>
          </a:p>
          <a:p>
            <a:r>
              <a:rPr lang="en-US" sz="2400" dirty="0"/>
              <a:t>The </a:t>
            </a:r>
            <a:r>
              <a:rPr lang="en-US" sz="2400" b="1" dirty="0" err="1">
                <a:solidFill>
                  <a:srgbClr val="0000FF"/>
                </a:solidFill>
              </a:rPr>
              <a:t>Friis</a:t>
            </a:r>
            <a:r>
              <a:rPr lang="en-US" sz="2400" b="1" dirty="0">
                <a:solidFill>
                  <a:srgbClr val="0000FF"/>
                </a:solidFill>
              </a:rPr>
              <a:t> formula </a:t>
            </a:r>
            <a:r>
              <a:rPr lang="en-US" sz="2400" dirty="0"/>
              <a:t>shows that the </a:t>
            </a:r>
            <a:r>
              <a:rPr lang="en-US" sz="2400" b="1" dirty="0"/>
              <a:t>received signal power falls off as the square of the transmitter to receiver separation distance (d) </a:t>
            </a:r>
            <a:r>
              <a:rPr lang="en-US" sz="2400" b="1" dirty="0">
                <a:sym typeface="Wingdings" pitchFamily="2" charset="2"/>
              </a:rPr>
              <a:t> P</a:t>
            </a:r>
            <a:r>
              <a:rPr lang="en-US" sz="2400" b="1" baseline="-25000" dirty="0">
                <a:sym typeface="Wingdings" pitchFamily="2" charset="2"/>
              </a:rPr>
              <a:t>R</a:t>
            </a:r>
            <a:r>
              <a:rPr lang="en-US" sz="2400" b="1" dirty="0">
                <a:sym typeface="Wingdings" pitchFamily="2" charset="2"/>
              </a:rPr>
              <a:t> </a:t>
            </a:r>
            <a:r>
              <a:rPr lang="en-US" sz="2400" b="1" dirty="0">
                <a:sym typeface="Symbol" pitchFamily="18" charset="2"/>
              </a:rPr>
              <a:t> d</a:t>
            </a:r>
            <a:r>
              <a:rPr lang="en-US" sz="2400" b="1" baseline="30000" dirty="0">
                <a:sym typeface="Symbol" pitchFamily="18" charset="2"/>
              </a:rPr>
              <a:t>-2</a:t>
            </a:r>
            <a:endParaRPr lang="en-US" sz="2400" b="1" dirty="0"/>
          </a:p>
          <a:p>
            <a:endParaRPr lang="en-US" sz="2400" b="1" dirty="0"/>
          </a:p>
          <a:p>
            <a:pPr lvl="1"/>
            <a:endParaRPr lang="en-US" sz="1800" b="1" dirty="0"/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42800"/>
              </p:ext>
            </p:extLst>
          </p:nvPr>
        </p:nvGraphicFramePr>
        <p:xfrm>
          <a:off x="2153538" y="4609442"/>
          <a:ext cx="7305772" cy="1131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46440" imgH="952200" progId="Equation.3">
                  <p:embed/>
                </p:oleObj>
              </mc:Choice>
              <mc:Fallback>
                <p:oleObj name="Equation" r:id="rId4" imgW="454644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3538" y="4609442"/>
                        <a:ext cx="7305772" cy="11317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600" b="1" dirty="0">
                <a:solidFill>
                  <a:srgbClr val="C00000"/>
                </a:solidFill>
                <a:latin typeface="+mn-lt"/>
              </a:rPr>
              <a:t>Propagation Path Loss Models</a:t>
            </a:r>
          </a:p>
          <a:p>
            <a:pPr fontAlgn="auto">
              <a:spcAft>
                <a:spcPts val="0"/>
              </a:spcAft>
            </a:pPr>
            <a:r>
              <a:rPr lang="en-SG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>Free Space Propagation Model (1)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CE3110-0BE3-4B3B-AD36-3002894706ED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2" name="Pg21">
            <a:hlinkClick r:id="" action="ppaction://media"/>
            <a:extLst>
              <a:ext uri="{FF2B5EF4-FFF2-40B4-BE49-F238E27FC236}">
                <a16:creationId xmlns:a16="http://schemas.microsoft.com/office/drawing/2014/main" id="{BC4AA46E-FE62-4BC9-9E1A-7813818842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982835" y="570901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006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02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211540" y="2886182"/>
            <a:ext cx="11866729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sz="1900" dirty="0"/>
          </a:p>
          <a:p>
            <a:pPr marL="0" indent="0">
              <a:lnSpc>
                <a:spcPct val="100000"/>
              </a:lnSpc>
              <a:buNone/>
            </a:pPr>
            <a:endParaRPr lang="en-US" sz="1900" dirty="0">
              <a:sym typeface="Symbol" pitchFamily="18" charset="2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900" dirty="0">
              <a:sym typeface="Symbol" pitchFamily="18" charset="2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900" dirty="0">
              <a:sym typeface="Symbol" pitchFamily="18" charset="2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900" dirty="0">
              <a:sym typeface="Symbol" pitchFamily="18" charset="2"/>
            </a:endParaRP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267534"/>
              </p:ext>
            </p:extLst>
          </p:nvPr>
        </p:nvGraphicFramePr>
        <p:xfrm>
          <a:off x="228146" y="1707638"/>
          <a:ext cx="4690695" cy="2950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01640" imgH="1574640" progId="Equation.3">
                  <p:embed/>
                </p:oleObj>
              </mc:Choice>
              <mc:Fallback>
                <p:oleObj name="Equation" r:id="rId4" imgW="2501640" imgH="1574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46" y="1707638"/>
                        <a:ext cx="4690695" cy="29507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4935538" y="2451100"/>
            <a:ext cx="6722557" cy="473301"/>
            <a:chOff x="523311" y="4692863"/>
            <a:chExt cx="6722557" cy="473301"/>
          </a:xfrm>
        </p:grpSpPr>
        <p:graphicFrame>
          <p:nvGraphicFramePr>
            <p:cNvPr id="1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0258908"/>
                </p:ext>
              </p:extLst>
            </p:nvPr>
          </p:nvGraphicFramePr>
          <p:xfrm>
            <a:off x="523311" y="4692863"/>
            <a:ext cx="6451600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530520" imgH="228600" progId="Equation.3">
                    <p:embed/>
                  </p:oleObj>
                </mc:Choice>
                <mc:Fallback>
                  <p:oleObj name="Equation" r:id="rId6" imgW="353052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311" y="4692863"/>
                          <a:ext cx="6451600" cy="473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Rectangle 6"/>
            <p:cNvSpPr>
              <a:spLocks noChangeArrowheads="1"/>
            </p:cNvSpPr>
            <p:nvPr/>
          </p:nvSpPr>
          <p:spPr bwMode="auto">
            <a:xfrm>
              <a:off x="692668" y="4708964"/>
              <a:ext cx="65532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" name="Rectangle 5"/>
          <p:cNvSpPr/>
          <p:nvPr/>
        </p:nvSpPr>
        <p:spPr>
          <a:xfrm>
            <a:off x="5155323" y="3159918"/>
            <a:ext cx="670034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ym typeface="Symbol" pitchFamily="18" charset="2"/>
              </a:rPr>
              <a:t>Note that the </a:t>
            </a:r>
            <a:r>
              <a:rPr lang="en-US" sz="2400" b="1" dirty="0">
                <a:solidFill>
                  <a:srgbClr val="0000FF"/>
                </a:solidFill>
                <a:sym typeface="Symbol" pitchFamily="18" charset="2"/>
              </a:rPr>
              <a:t>path loss increases as the frequency and the distance increases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ym typeface="Symbol" pitchFamily="18" charset="2"/>
              </a:rPr>
              <a:t>In practice, besides frequency and distance between antennas, </a:t>
            </a:r>
            <a:r>
              <a:rPr lang="en-US" sz="2400" b="1" dirty="0">
                <a:solidFill>
                  <a:srgbClr val="0000FF"/>
                </a:solidFill>
                <a:sym typeface="Symbol" pitchFamily="18" charset="2"/>
              </a:rPr>
              <a:t>Path loss is also dependent on other factors</a:t>
            </a:r>
            <a:r>
              <a:rPr lang="en-US" sz="24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400" dirty="0">
                <a:sym typeface="Symbol" pitchFamily="18" charset="2"/>
              </a:rPr>
              <a:t>such as: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0000FF"/>
                </a:solidFill>
                <a:sym typeface="Symbol" pitchFamily="18" charset="2"/>
              </a:rPr>
              <a:t>Antenna heights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0000FF"/>
                </a:solidFill>
                <a:sym typeface="Symbol" pitchFamily="18" charset="2"/>
              </a:rPr>
              <a:t>Terrain environment</a:t>
            </a:r>
            <a:r>
              <a:rPr lang="en-US" sz="24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400" dirty="0">
                <a:sym typeface="Symbol" pitchFamily="18" charset="2"/>
              </a:rPr>
              <a:t>– urban, rural </a:t>
            </a:r>
            <a:r>
              <a:rPr lang="en-US" sz="2400" dirty="0" err="1">
                <a:sym typeface="Symbol" pitchFamily="18" charset="2"/>
              </a:rPr>
              <a:t>etc</a:t>
            </a:r>
            <a:endParaRPr lang="en-US" sz="2400" dirty="0">
              <a:sym typeface="Symbol" pitchFamily="18" charset="2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b="1" dirty="0">
                <a:solidFill>
                  <a:srgbClr val="0000FF"/>
                </a:solidFill>
                <a:sym typeface="Symbol" pitchFamily="18" charset="2"/>
              </a:rPr>
              <a:t>weather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91409" y="110173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Substituting in terms of frequency instead of wavelength </a:t>
            </a:r>
            <a:r>
              <a:rPr lang="en-US" sz="2400" dirty="0">
                <a:sym typeface="Symbol" pitchFamily="18" charset="2"/>
              </a:rPr>
              <a:t> and expressing the </a:t>
            </a:r>
            <a:r>
              <a:rPr lang="en-US" sz="2400" b="1" dirty="0">
                <a:solidFill>
                  <a:srgbClr val="0000FF"/>
                </a:solidFill>
                <a:sym typeface="Symbol" pitchFamily="18" charset="2"/>
              </a:rPr>
              <a:t>frequency in MHz</a:t>
            </a:r>
            <a:r>
              <a:rPr lang="en-US" sz="24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400" dirty="0">
                <a:sym typeface="Symbol" pitchFamily="18" charset="2"/>
              </a:rPr>
              <a:t>and </a:t>
            </a:r>
            <a:r>
              <a:rPr lang="en-US" sz="2400" b="1" dirty="0">
                <a:solidFill>
                  <a:srgbClr val="0000FF"/>
                </a:solidFill>
                <a:sym typeface="Symbol" pitchFamily="18" charset="2"/>
              </a:rPr>
              <a:t>distance d in km</a:t>
            </a:r>
            <a:r>
              <a:rPr lang="en-US" sz="2400" dirty="0">
                <a:sym typeface="Symbol" pitchFamily="18" charset="2"/>
              </a:rPr>
              <a:t> </a:t>
            </a: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600" b="1" dirty="0">
                <a:solidFill>
                  <a:srgbClr val="C00000"/>
                </a:solidFill>
                <a:latin typeface="+mn-lt"/>
              </a:rPr>
              <a:t>Propagation Path Loss Models</a:t>
            </a:r>
          </a:p>
          <a:p>
            <a:pPr fontAlgn="auto">
              <a:spcAft>
                <a:spcPts val="0"/>
              </a:spcAft>
            </a:pPr>
            <a:r>
              <a:rPr lang="en-SG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>Free Space Propagation Model (2)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628239-0B8A-4491-8CBF-FC6E261FB41E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2" name="Pg22">
            <a:hlinkClick r:id="" action="ppaction://media"/>
            <a:extLst>
              <a:ext uri="{FF2B5EF4-FFF2-40B4-BE49-F238E27FC236}">
                <a16:creationId xmlns:a16="http://schemas.microsoft.com/office/drawing/2014/main" id="{9C23997C-C363-451D-979E-DCF04700B43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942436" y="581326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48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34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3627" y="921264"/>
            <a:ext cx="11377449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A radio communication system has operating at 400 MHz and has a transmit power of 25W and has an effective range of 2000 m. The transmitting and receiving antenna gains are 25dB and 3 dB respectively.  </a:t>
            </a:r>
            <a:endParaRPr lang="en-SG" sz="2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SG" sz="1000" dirty="0"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742950" lvl="1" indent="-285750" algn="just">
              <a:spcAft>
                <a:spcPts val="0"/>
              </a:spcAft>
              <a:buFont typeface="+mj-lt"/>
              <a:buAutoNum type="alphaLcParenBoth"/>
            </a:pPr>
            <a:r>
              <a:rPr lang="en-US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 State the condition that must be valid to apply the free space path loss model.</a:t>
            </a:r>
            <a:endParaRPr lang="en-SG" sz="2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0"/>
              </a:spcAft>
              <a:buFont typeface="+mj-lt"/>
              <a:buAutoNum type="alphaLcParenBoth"/>
            </a:pPr>
            <a:r>
              <a:rPr lang="en-US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 Assuming no other losses, calculate the free space loss</a:t>
            </a:r>
            <a:r>
              <a:rPr lang="en-SG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12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en-SG" sz="12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66952" y="3164681"/>
            <a:ext cx="1008467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buSzPts val="1200"/>
            </a:pPr>
            <a:r>
              <a:rPr lang="en-GB" sz="2400" b="1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(a)	Transmitter and receiver must have a clear, unobstructed line of sight 	path between them.							          </a:t>
            </a:r>
            <a:endParaRPr lang="en-SG" sz="2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GB" sz="2400" dirty="0"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SG" sz="2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  <a:buSzPts val="1200"/>
            </a:pPr>
            <a:r>
              <a:rPr lang="en-US" sz="2400" b="1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(b)	Free space path loss L</a:t>
            </a:r>
            <a:r>
              <a:rPr lang="en-US" sz="2400" b="1" baseline="-25000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1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(dB) 	= 32.44 + 20 log d (km) + 20 log f (MHz)</a:t>
            </a:r>
            <a:endParaRPr lang="en-SG" sz="2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algn="just">
              <a:spcAft>
                <a:spcPts val="0"/>
              </a:spcAft>
            </a:pPr>
            <a:r>
              <a:rPr lang="en-US" sz="2400" b="1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				= 32.44 + 20 log 2 + 20 log 400</a:t>
            </a:r>
            <a:endParaRPr lang="en-SG" sz="2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algn="just">
              <a:spcAft>
                <a:spcPts val="0"/>
              </a:spcAft>
            </a:pPr>
            <a:r>
              <a:rPr lang="en-US" sz="2400" b="1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				= 90.5 dB                                                </a:t>
            </a:r>
            <a:endParaRPr lang="en-SG" sz="2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600" b="1" dirty="0">
                <a:solidFill>
                  <a:srgbClr val="C00000"/>
                </a:solidFill>
                <a:latin typeface="+mn-lt"/>
              </a:rPr>
              <a:t>Propagation Path Loss Models</a:t>
            </a:r>
          </a:p>
          <a:p>
            <a:pPr fontAlgn="auto">
              <a:spcAft>
                <a:spcPts val="0"/>
              </a:spcAft>
            </a:pPr>
            <a:r>
              <a:rPr lang="en-SG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>Example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E77BB8-D727-4C95-81F2-49BB1250315A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4" name="Pg23">
            <a:hlinkClick r:id="" action="ppaction://media"/>
            <a:extLst>
              <a:ext uri="{FF2B5EF4-FFF2-40B4-BE49-F238E27FC236}">
                <a16:creationId xmlns:a16="http://schemas.microsoft.com/office/drawing/2014/main" id="{C327F672-387B-4D97-BCFB-EC33634DB1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78387" y="568107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8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41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6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393133" y="959250"/>
            <a:ext cx="10993099" cy="5236597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VHF, UHF and microwave signals normally propagate by space wave. Space wave consists of the direct wave and </a:t>
            </a:r>
            <a:r>
              <a:rPr lang="en-US" sz="2600" b="1" dirty="0">
                <a:solidFill>
                  <a:srgbClr val="FF0000"/>
                </a:solidFill>
              </a:rPr>
              <a:t>ground reflected wave</a:t>
            </a:r>
            <a:r>
              <a:rPr lang="en-US" sz="2600" dirty="0"/>
              <a:t>. Reflection from the ground will cause energy loss such that its attenuation will be higher than the free space loss.</a:t>
            </a:r>
          </a:p>
          <a:p>
            <a:pPr algn="just"/>
            <a:endParaRPr lang="en-US" sz="1800" dirty="0"/>
          </a:p>
          <a:p>
            <a:pPr marL="0" indent="0" algn="just">
              <a:buNone/>
            </a:pPr>
            <a:endParaRPr lang="en-US" sz="1800" dirty="0"/>
          </a:p>
          <a:p>
            <a:pPr algn="just">
              <a:buFont typeface="Wingdings" pitchFamily="2" charset="2"/>
              <a:buNone/>
            </a:pPr>
            <a:r>
              <a:rPr lang="en-US" sz="1800" dirty="0"/>
              <a:t> </a:t>
            </a:r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r>
              <a:rPr lang="en-US" sz="2600" dirty="0"/>
              <a:t>Plane Earth Path loss model is given:</a:t>
            </a:r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r>
              <a:rPr lang="en-US" sz="2600" dirty="0">
                <a:cs typeface="Times New Roman" pitchFamily="18" charset="0"/>
              </a:rPr>
              <a:t>The plane earth propagation loss is </a:t>
            </a:r>
            <a:r>
              <a:rPr lang="en-US" sz="2600" b="1" dirty="0">
                <a:solidFill>
                  <a:srgbClr val="990000"/>
                </a:solidFill>
                <a:cs typeface="Times New Roman" pitchFamily="18" charset="0"/>
              </a:rPr>
              <a:t>independent of frequency.</a:t>
            </a:r>
            <a:endParaRPr lang="en-US" sz="2600" b="1" dirty="0">
              <a:solidFill>
                <a:srgbClr val="990000"/>
              </a:solidFill>
            </a:endParaRPr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8494089"/>
              </p:ext>
            </p:extLst>
          </p:nvPr>
        </p:nvGraphicFramePr>
        <p:xfrm>
          <a:off x="2822928" y="2005309"/>
          <a:ext cx="7722143" cy="2021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4191000" imgH="1429512" progId="Word.Picture.8">
                  <p:embed/>
                </p:oleObj>
              </mc:Choice>
              <mc:Fallback>
                <p:oleObj name="Picture" r:id="rId5" imgW="4191000" imgH="1429512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928" y="2005309"/>
                        <a:ext cx="7722143" cy="20216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58702" y="4987071"/>
            <a:ext cx="625154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2400" dirty="0">
                <a:cs typeface="Times New Roman" pitchFamily="18" charset="0"/>
              </a:rPr>
              <a:t>L (dB) = 120 + 40 log </a:t>
            </a:r>
            <a:r>
              <a:rPr lang="en-US" sz="2400" dirty="0" err="1">
                <a:cs typeface="Times New Roman" pitchFamily="18" charset="0"/>
              </a:rPr>
              <a:t>d</a:t>
            </a:r>
            <a:r>
              <a:rPr lang="en-US" sz="2400" baseline="-25000" dirty="0" err="1">
                <a:cs typeface="Times New Roman" pitchFamily="18" charset="0"/>
              </a:rPr>
              <a:t>km</a:t>
            </a:r>
            <a:r>
              <a:rPr lang="en-US" sz="2400" dirty="0">
                <a:cs typeface="Times New Roman" pitchFamily="18" charset="0"/>
              </a:rPr>
              <a:t> - 20 log[h</a:t>
            </a:r>
            <a:r>
              <a:rPr lang="en-US" sz="2400" baseline="-30000" dirty="0">
                <a:cs typeface="Times New Roman" pitchFamily="18" charset="0"/>
              </a:rPr>
              <a:t>r</a:t>
            </a:r>
            <a:r>
              <a:rPr lang="en-US" sz="2400" dirty="0">
                <a:cs typeface="Times New Roman" pitchFamily="18" charset="0"/>
              </a:rPr>
              <a:t>(m)</a:t>
            </a:r>
            <a:r>
              <a:rPr lang="en-US" sz="2400" baseline="-30000" dirty="0">
                <a:cs typeface="Times New Roman" pitchFamily="18" charset="0"/>
              </a:rPr>
              <a:t> </a:t>
            </a:r>
            <a:r>
              <a:rPr lang="en-US" sz="2400" dirty="0">
                <a:cs typeface="Times New Roman" pitchFamily="18" charset="0"/>
              </a:rPr>
              <a:t>h</a:t>
            </a:r>
            <a:r>
              <a:rPr lang="en-US" sz="2400" baseline="-30000" dirty="0">
                <a:cs typeface="Times New Roman" pitchFamily="18" charset="0"/>
              </a:rPr>
              <a:t>t</a:t>
            </a:r>
            <a:r>
              <a:rPr lang="en-US" sz="2400" dirty="0">
                <a:cs typeface="Times New Roman" pitchFamily="18" charset="0"/>
              </a:rPr>
              <a:t>(m)]</a:t>
            </a:r>
          </a:p>
        </p:txBody>
      </p:sp>
      <p:sp>
        <p:nvSpPr>
          <p:cNvPr id="13" name="TextBox 11"/>
          <p:cNvSpPr txBox="1">
            <a:spLocks noChangeArrowheads="1"/>
          </p:cNvSpPr>
          <p:nvPr/>
        </p:nvSpPr>
        <p:spPr bwMode="auto">
          <a:xfrm>
            <a:off x="7231490" y="4649731"/>
            <a:ext cx="270192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0" hangingPunct="0">
              <a:buFont typeface="Wingdings" pitchFamily="2" charset="2"/>
              <a:buNone/>
            </a:pPr>
            <a:r>
              <a:rPr lang="en-US" dirty="0">
                <a:cs typeface="Times New Roman" pitchFamily="18" charset="0"/>
              </a:rPr>
              <a:t>where </a:t>
            </a:r>
          </a:p>
          <a:p>
            <a:pPr algn="just" eaLnBrk="0" hangingPunct="0">
              <a:buFont typeface="Wingdings" pitchFamily="2" charset="2"/>
              <a:buNone/>
            </a:pPr>
            <a:r>
              <a:rPr lang="en-US" dirty="0">
                <a:cs typeface="Times New Roman" pitchFamily="18" charset="0"/>
              </a:rPr>
              <a:t>d = distance in km</a:t>
            </a:r>
          </a:p>
          <a:p>
            <a:pPr algn="just" eaLnBrk="0" hangingPunct="0">
              <a:buFont typeface="Wingdings" pitchFamily="2" charset="2"/>
              <a:buNone/>
            </a:pPr>
            <a:r>
              <a:rPr lang="en-US" dirty="0" err="1">
                <a:cs typeface="Times New Roman" pitchFamily="18" charset="0"/>
              </a:rPr>
              <a:t>h</a:t>
            </a:r>
            <a:r>
              <a:rPr lang="en-US" baseline="-30000" dirty="0" err="1">
                <a:cs typeface="Times New Roman" pitchFamily="18" charset="0"/>
              </a:rPr>
              <a:t>t</a:t>
            </a:r>
            <a:r>
              <a:rPr lang="en-US" dirty="0">
                <a:cs typeface="Times New Roman" pitchFamily="18" charset="0"/>
              </a:rPr>
              <a:t>, </a:t>
            </a:r>
            <a:r>
              <a:rPr lang="en-US" dirty="0" err="1">
                <a:cs typeface="Times New Roman" pitchFamily="18" charset="0"/>
              </a:rPr>
              <a:t>h</a:t>
            </a:r>
            <a:r>
              <a:rPr lang="en-US" baseline="-30000" dirty="0" err="1">
                <a:cs typeface="Times New Roman" pitchFamily="18" charset="0"/>
              </a:rPr>
              <a:t>r</a:t>
            </a:r>
            <a:r>
              <a:rPr lang="en-US" baseline="-30000" dirty="0">
                <a:cs typeface="Times New Roman" pitchFamily="18" charset="0"/>
              </a:rPr>
              <a:t>  </a:t>
            </a:r>
            <a:r>
              <a:rPr lang="en-US" dirty="0">
                <a:cs typeface="Times New Roman" pitchFamily="18" charset="0"/>
              </a:rPr>
              <a:t>= antenna </a:t>
            </a:r>
            <a:r>
              <a:rPr lang="en-US" dirty="0" err="1">
                <a:cs typeface="Times New Roman" pitchFamily="18" charset="0"/>
              </a:rPr>
              <a:t>hts</a:t>
            </a:r>
            <a:r>
              <a:rPr lang="en-US" dirty="0">
                <a:cs typeface="Times New Roman" pitchFamily="18" charset="0"/>
              </a:rPr>
              <a:t> in m.</a:t>
            </a:r>
            <a:endParaRPr lang="en-GB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600" b="1" dirty="0">
                <a:solidFill>
                  <a:srgbClr val="C00000"/>
                </a:solidFill>
                <a:latin typeface="+mn-lt"/>
              </a:rPr>
              <a:t>Propagation Path Loss Models</a:t>
            </a:r>
          </a:p>
          <a:p>
            <a:pPr fontAlgn="auto">
              <a:spcAft>
                <a:spcPts val="0"/>
              </a:spcAft>
            </a:pPr>
            <a:r>
              <a:rPr lang="en-SG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>Plane Earth Model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3AE723-1B88-49EB-B40B-C21FD8A23809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2" name="Pg24">
            <a:hlinkClick r:id="" action="ppaction://media"/>
            <a:extLst>
              <a:ext uri="{FF2B5EF4-FFF2-40B4-BE49-F238E27FC236}">
                <a16:creationId xmlns:a16="http://schemas.microsoft.com/office/drawing/2014/main" id="{7A9264F1-B0F7-419B-A4AB-86EECCBB18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935471" y="577275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786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58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75419" y="1690468"/>
            <a:ext cx="108466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ea typeface="Times New Roman" panose="02020603050405020304" pitchFamily="18" charset="0"/>
              </a:rPr>
              <a:t>An aircraft is now approaching landing at a height of 1000m and is 	transmitting 5W to a control tower 10km away. The height of the control tower is 90m. Assume that there is a </a:t>
            </a:r>
            <a:r>
              <a:rPr lang="en-GB" sz="2400" b="1" dirty="0">
                <a:solidFill>
                  <a:srgbClr val="FF0000"/>
                </a:solidFill>
                <a:ea typeface="Times New Roman" panose="02020603050405020304" pitchFamily="18" charset="0"/>
              </a:rPr>
              <a:t>ground reflected signal</a:t>
            </a:r>
            <a:r>
              <a:rPr lang="en-GB" sz="2400" dirty="0">
                <a:ea typeface="Times New Roman" panose="02020603050405020304" pitchFamily="18" charset="0"/>
              </a:rPr>
              <a:t> to the control tower. Determine the path loss. </a:t>
            </a:r>
            <a:endParaRPr lang="en-SG" sz="2400" dirty="0"/>
          </a:p>
        </p:txBody>
      </p:sp>
      <p:sp>
        <p:nvSpPr>
          <p:cNvPr id="4" name="Rectangle 3"/>
          <p:cNvSpPr/>
          <p:nvPr/>
        </p:nvSpPr>
        <p:spPr>
          <a:xfrm>
            <a:off x="1035702" y="3332049"/>
            <a:ext cx="10526110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2400" b="1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Since there is a ground reflected wave, we use the Plane earth model.</a:t>
            </a:r>
            <a:endParaRPr lang="en-SG" sz="2400" b="1" dirty="0">
              <a:solidFill>
                <a:srgbClr val="0000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GB" sz="1000" b="1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000" b="1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spcAft>
                <a:spcPts val="0"/>
              </a:spcAft>
            </a:pPr>
            <a:r>
              <a:rPr lang="en-US" sz="2400" b="1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L (dB) = 120 + 40 log </a:t>
            </a:r>
            <a:r>
              <a:rPr lang="en-US" sz="2400" b="1" dirty="0" err="1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25000" dirty="0" err="1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km</a:t>
            </a:r>
            <a:r>
              <a:rPr lang="en-US" sz="2400" b="1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- 20 log[</a:t>
            </a:r>
            <a:r>
              <a:rPr lang="en-US" sz="2400" b="1" dirty="0" err="1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400" b="1" baseline="-25000" dirty="0" err="1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b="1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(m)</a:t>
            </a:r>
            <a:r>
              <a:rPr lang="en-US" sz="2400" b="1" baseline="-25000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400" b="1" baseline="-25000" dirty="0" err="1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1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(m)]</a:t>
            </a:r>
            <a:endParaRPr lang="en-SG" sz="2400" b="1" dirty="0">
              <a:solidFill>
                <a:srgbClr val="0000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705" indent="-179705">
              <a:spcAft>
                <a:spcPts val="0"/>
              </a:spcAft>
              <a:tabLst>
                <a:tab pos="-457200" algn="l"/>
              </a:tabLst>
            </a:pPr>
            <a:r>
              <a:rPr lang="en-US" sz="2400" b="1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			= 120 + 40log10 – 20log(1000x90)</a:t>
            </a:r>
            <a:endParaRPr lang="en-SG" sz="2400" b="1" dirty="0">
              <a:solidFill>
                <a:srgbClr val="0000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705" indent="-179705">
              <a:spcAft>
                <a:spcPts val="0"/>
              </a:spcAft>
              <a:tabLst>
                <a:tab pos="-457200" algn="l"/>
              </a:tabLst>
            </a:pPr>
            <a:r>
              <a:rPr lang="en-US" sz="2400" b="1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			= 60.9dB</a:t>
            </a:r>
            <a:endParaRPr lang="en-SG" sz="2400" b="1" dirty="0">
              <a:solidFill>
                <a:srgbClr val="0000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705" indent="-179705">
              <a:spcAft>
                <a:spcPts val="0"/>
              </a:spcAft>
              <a:tabLst>
                <a:tab pos="-457200" algn="l"/>
              </a:tabLst>
            </a:pPr>
            <a:r>
              <a:rPr lang="en-GB" sz="1000" b="1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600" b="1" dirty="0">
                <a:solidFill>
                  <a:srgbClr val="C00000"/>
                </a:solidFill>
                <a:latin typeface="+mn-lt"/>
              </a:rPr>
              <a:t>Propagation Path Loss Models</a:t>
            </a:r>
          </a:p>
          <a:p>
            <a:pPr fontAlgn="auto">
              <a:spcAft>
                <a:spcPts val="0"/>
              </a:spcAft>
            </a:pPr>
            <a:r>
              <a:rPr lang="en-SG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>Plane Earth Model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875420" y="862876"/>
            <a:ext cx="87129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1pPr>
            <a:lvl2pPr marL="742950" indent="-28575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2pPr>
            <a:lvl3pPr marL="1143000" indent="-22860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3pPr>
            <a:lvl4pPr marL="1600200" indent="-22860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4pPr>
            <a:lvl5pPr marL="2057400" indent="-228600"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3399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3200" dirty="0">
                <a:solidFill>
                  <a:srgbClr val="C00000"/>
                </a:solidFill>
                <a:latin typeface="+mn-lt"/>
                <a:ea typeface="宋体" pitchFamily="2" charset="-122"/>
              </a:rPr>
              <a:t>Example:</a:t>
            </a:r>
            <a:endParaRPr lang="en-GB" sz="32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8E2755-A021-4693-8A73-0E774C582339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pic>
        <p:nvPicPr>
          <p:cNvPr id="2" name="Pg25">
            <a:hlinkClick r:id="" action="ppaction://media"/>
            <a:extLst>
              <a:ext uri="{FF2B5EF4-FFF2-40B4-BE49-F238E27FC236}">
                <a16:creationId xmlns:a16="http://schemas.microsoft.com/office/drawing/2014/main" id="{F68CFD64-2F5A-4CF3-BE62-BB921946BE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988446" y="575799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183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81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FC98708-38A9-95E6-463A-00F330A7FCE7}"/>
              </a:ext>
            </a:extLst>
          </p:cNvPr>
          <p:cNvSpPr/>
          <p:nvPr/>
        </p:nvSpPr>
        <p:spPr>
          <a:xfrm>
            <a:off x="0" y="0"/>
            <a:ext cx="92528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00B354-AC29-9415-C079-6303DAE28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54" y="5853409"/>
            <a:ext cx="1762125" cy="542925"/>
          </a:xfrm>
          <a:prstGeom prst="rect">
            <a:avLst/>
          </a:prstGeom>
        </p:spPr>
      </p:pic>
      <p:sp>
        <p:nvSpPr>
          <p:cNvPr id="10" name="TextBox 9">
            <a:hlinkClick r:id="rId3"/>
            <a:extLst>
              <a:ext uri="{FF2B5EF4-FFF2-40B4-BE49-F238E27FC236}">
                <a16:creationId xmlns:a16="http://schemas.microsoft.com/office/drawing/2014/main" id="{B25313B6-9315-861D-CF0C-337303B1DEF1}"/>
              </a:ext>
            </a:extLst>
          </p:cNvPr>
          <p:cNvSpPr txBox="1"/>
          <p:nvPr/>
        </p:nvSpPr>
        <p:spPr>
          <a:xfrm>
            <a:off x="2332238" y="5663207"/>
            <a:ext cx="75275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0" i="0" dirty="0">
                <a:solidFill>
                  <a:srgbClr val="0D0D0D"/>
                </a:solidFill>
                <a:effectLst/>
                <a:latin typeface="Roboto" panose="02000000000000000000" pitchFamily="2" charset="0"/>
              </a:rPr>
              <a:t>How to Calculate Link Budget Using Free Space Path Loss, Plane Earth &amp; Okumura’s </a:t>
            </a:r>
            <a:r>
              <a:rPr lang="en-SG" b="0" i="0" dirty="0" err="1">
                <a:solidFill>
                  <a:srgbClr val="0D0D0D"/>
                </a:solidFill>
                <a:effectLst/>
                <a:latin typeface="Roboto" panose="02000000000000000000" pitchFamily="2" charset="0"/>
              </a:rPr>
              <a:t>Hata</a:t>
            </a:r>
            <a:r>
              <a:rPr lang="en-SG" b="0" i="0" dirty="0">
                <a:solidFill>
                  <a:srgbClr val="0D0D0D"/>
                </a:solidFill>
                <a:effectLst/>
                <a:latin typeface="Roboto" panose="02000000000000000000" pitchFamily="2" charset="0"/>
              </a:rPr>
              <a:t> Models.</a:t>
            </a:r>
          </a:p>
          <a:p>
            <a:r>
              <a:rPr lang="en-SG" b="0" i="0" u="none" strike="noStrike" dirty="0">
                <a:effectLst/>
                <a:latin typeface="Roboto" panose="02000000000000000000" pitchFamily="2" charset="0"/>
                <a:hlinkClick r:id="rId4"/>
              </a:rPr>
              <a:t>https://youtu.be/VpBsqt4DuXs</a:t>
            </a:r>
            <a:endParaRPr lang="en-SG" b="0" i="0" dirty="0">
              <a:solidFill>
                <a:srgbClr val="0D0D0D"/>
              </a:solidFill>
              <a:effectLst/>
              <a:latin typeface="Roboto" panose="02000000000000000000" pitchFamily="2" charset="0"/>
            </a:endParaRPr>
          </a:p>
        </p:txBody>
      </p:sp>
      <p:pic>
        <p:nvPicPr>
          <p:cNvPr id="4100" name="Picture 4" descr="Miscellaneous Video's – Centurian Park Family">
            <a:hlinkClick r:id="rId4"/>
            <a:extLst>
              <a:ext uri="{FF2B5EF4-FFF2-40B4-BE49-F238E27FC236}">
                <a16:creationId xmlns:a16="http://schemas.microsoft.com/office/drawing/2014/main" id="{F2FC59B5-8F70-388F-0F76-A765F7749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6552" y="94229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hlinkClick r:id="rId4"/>
            <a:extLst>
              <a:ext uri="{FF2B5EF4-FFF2-40B4-BE49-F238E27FC236}">
                <a16:creationId xmlns:a16="http://schemas.microsoft.com/office/drawing/2014/main" id="{ABEF0202-9D09-6249-7FC1-94F81D53C14B}"/>
              </a:ext>
            </a:extLst>
          </p:cNvPr>
          <p:cNvSpPr txBox="1"/>
          <p:nvPr/>
        </p:nvSpPr>
        <p:spPr>
          <a:xfrm>
            <a:off x="9859762" y="3085420"/>
            <a:ext cx="20811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Pls see this </a:t>
            </a:r>
            <a:r>
              <a:rPr lang="en-SG" sz="3200" dirty="0" err="1"/>
              <a:t>Youtube</a:t>
            </a:r>
            <a:r>
              <a:rPr lang="en-SG" sz="3200" dirty="0"/>
              <a:t> video to understand more</a:t>
            </a:r>
            <a:r>
              <a:rPr lang="en-SG" dirty="0"/>
              <a:t>.</a:t>
            </a:r>
          </a:p>
        </p:txBody>
      </p:sp>
      <p:pic>
        <p:nvPicPr>
          <p:cNvPr id="4" name="Picture 3">
            <a:hlinkClick r:id="rId4"/>
            <a:extLst>
              <a:ext uri="{FF2B5EF4-FFF2-40B4-BE49-F238E27FC236}">
                <a16:creationId xmlns:a16="http://schemas.microsoft.com/office/drawing/2014/main" id="{811A064F-28BA-53B8-ABD8-B1A82A45C4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050" y="271463"/>
            <a:ext cx="9216350" cy="512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149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801FF-0821-7022-4D6D-86C296304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A6E5366-AFB0-49AA-8431-5A4C0A642E5C}"/>
              </a:ext>
            </a:extLst>
          </p:cNvPr>
          <p:cNvSpPr/>
          <p:nvPr/>
        </p:nvSpPr>
        <p:spPr>
          <a:xfrm>
            <a:off x="0" y="0"/>
            <a:ext cx="92528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6C7D83-04B4-72F3-5947-CE2A9113A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54" y="5853409"/>
            <a:ext cx="1762125" cy="542925"/>
          </a:xfrm>
          <a:prstGeom prst="rect">
            <a:avLst/>
          </a:prstGeom>
        </p:spPr>
      </p:pic>
      <p:sp>
        <p:nvSpPr>
          <p:cNvPr id="10" name="TextBox 9">
            <a:hlinkClick r:id="rId3"/>
            <a:extLst>
              <a:ext uri="{FF2B5EF4-FFF2-40B4-BE49-F238E27FC236}">
                <a16:creationId xmlns:a16="http://schemas.microsoft.com/office/drawing/2014/main" id="{88519C12-D342-E319-79AE-50DC095A362B}"/>
              </a:ext>
            </a:extLst>
          </p:cNvPr>
          <p:cNvSpPr txBox="1"/>
          <p:nvPr/>
        </p:nvSpPr>
        <p:spPr>
          <a:xfrm>
            <a:off x="2332238" y="5663207"/>
            <a:ext cx="75275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Roboto" panose="02000000000000000000" pitchFamily="2" charset="0"/>
              </a:rPr>
              <a:t>Link Budget Part 3. How to Apply Free Space Path Loss (FSPL) Equation: Applications &amp; Usage Explain.</a:t>
            </a:r>
          </a:p>
          <a:p>
            <a:r>
              <a:rPr lang="en-US" b="0" i="0" u="none" strike="noStrike" dirty="0">
                <a:solidFill>
                  <a:srgbClr val="065FD4"/>
                </a:solidFill>
                <a:effectLst/>
                <a:latin typeface="Roboto" panose="02000000000000000000" pitchFamily="2" charset="0"/>
                <a:hlinkClick r:id="rId3"/>
              </a:rPr>
              <a:t>https://youtu.be/3ba8ytGTcP8</a:t>
            </a:r>
            <a:endParaRPr lang="en-SG" b="0" i="0" dirty="0">
              <a:solidFill>
                <a:srgbClr val="0D0D0D"/>
              </a:solidFill>
              <a:effectLst/>
              <a:latin typeface="Roboto" panose="02000000000000000000" pitchFamily="2" charset="0"/>
            </a:endParaRPr>
          </a:p>
        </p:txBody>
      </p:sp>
      <p:pic>
        <p:nvPicPr>
          <p:cNvPr id="4100" name="Picture 4" descr="Miscellaneous Video's – Centurian Park Family">
            <a:hlinkClick r:id="rId3"/>
            <a:extLst>
              <a:ext uri="{FF2B5EF4-FFF2-40B4-BE49-F238E27FC236}">
                <a16:creationId xmlns:a16="http://schemas.microsoft.com/office/drawing/2014/main" id="{27918729-12AC-6767-BD0B-601ED40F7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6552" y="94229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hlinkClick r:id="rId3"/>
            <a:extLst>
              <a:ext uri="{FF2B5EF4-FFF2-40B4-BE49-F238E27FC236}">
                <a16:creationId xmlns:a16="http://schemas.microsoft.com/office/drawing/2014/main" id="{5D29A47E-8249-15F1-B277-488010A06724}"/>
              </a:ext>
            </a:extLst>
          </p:cNvPr>
          <p:cNvSpPr txBox="1"/>
          <p:nvPr/>
        </p:nvSpPr>
        <p:spPr>
          <a:xfrm>
            <a:off x="9859762" y="3085420"/>
            <a:ext cx="20811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Pls see this </a:t>
            </a:r>
            <a:r>
              <a:rPr lang="en-SG" sz="3200" dirty="0" err="1"/>
              <a:t>Youtube</a:t>
            </a:r>
            <a:r>
              <a:rPr lang="en-SG" sz="3200" dirty="0"/>
              <a:t> video to understand more</a:t>
            </a:r>
            <a:r>
              <a:rPr lang="en-SG" dirty="0"/>
              <a:t>.</a:t>
            </a:r>
          </a:p>
        </p:txBody>
      </p:sp>
      <p:pic>
        <p:nvPicPr>
          <p:cNvPr id="3" name="Picture 2">
            <a:hlinkClick r:id="rId3"/>
            <a:extLst>
              <a:ext uri="{FF2B5EF4-FFF2-40B4-BE49-F238E27FC236}">
                <a16:creationId xmlns:a16="http://schemas.microsoft.com/office/drawing/2014/main" id="{DD482BCD-E092-0A50-509F-F878BBB344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271462"/>
            <a:ext cx="9121306" cy="511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0925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8BBBD-0B98-13E8-5724-6D68C9273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78AA01-EE09-164E-E08A-DDCCF321E4B5}"/>
              </a:ext>
            </a:extLst>
          </p:cNvPr>
          <p:cNvSpPr/>
          <p:nvPr/>
        </p:nvSpPr>
        <p:spPr>
          <a:xfrm>
            <a:off x="0" y="0"/>
            <a:ext cx="92528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17E799-1DAF-0D0A-9EFD-981CE8EDC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54" y="5853409"/>
            <a:ext cx="1762125" cy="542925"/>
          </a:xfrm>
          <a:prstGeom prst="rect">
            <a:avLst/>
          </a:prstGeom>
        </p:spPr>
      </p:pic>
      <p:sp>
        <p:nvSpPr>
          <p:cNvPr id="10" name="TextBox 9">
            <a:hlinkClick r:id="rId3"/>
            <a:extLst>
              <a:ext uri="{FF2B5EF4-FFF2-40B4-BE49-F238E27FC236}">
                <a16:creationId xmlns:a16="http://schemas.microsoft.com/office/drawing/2014/main" id="{A3E2F978-A9D6-FEB0-DA42-6C8B55C2ED39}"/>
              </a:ext>
            </a:extLst>
          </p:cNvPr>
          <p:cNvSpPr txBox="1"/>
          <p:nvPr/>
        </p:nvSpPr>
        <p:spPr>
          <a:xfrm>
            <a:off x="2332238" y="5663207"/>
            <a:ext cx="75275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Roboto" panose="02000000000000000000" pitchFamily="2" charset="0"/>
              </a:rPr>
              <a:t>Link Budget Part 5. How to Calculate the Path Loss Using Plane Earth Model (Ground Reflected Wave).</a:t>
            </a:r>
          </a:p>
          <a:p>
            <a:r>
              <a:rPr lang="en-US" b="0" i="0" u="none" strike="noStrike" dirty="0">
                <a:solidFill>
                  <a:srgbClr val="065FD4"/>
                </a:solidFill>
                <a:effectLst/>
                <a:latin typeface="Roboto" panose="02000000000000000000" pitchFamily="2" charset="0"/>
                <a:hlinkClick r:id="rId3"/>
              </a:rPr>
              <a:t>https://youtu.be/ssYxLkdHRyU</a:t>
            </a:r>
            <a:endParaRPr lang="en-SG" b="0" i="0" dirty="0">
              <a:solidFill>
                <a:srgbClr val="0D0D0D"/>
              </a:solidFill>
              <a:effectLst/>
              <a:latin typeface="Roboto" panose="02000000000000000000" pitchFamily="2" charset="0"/>
            </a:endParaRPr>
          </a:p>
        </p:txBody>
      </p:sp>
      <p:pic>
        <p:nvPicPr>
          <p:cNvPr id="4100" name="Picture 4" descr="Miscellaneous Video's – Centurian Park Family">
            <a:hlinkClick r:id="rId3"/>
            <a:extLst>
              <a:ext uri="{FF2B5EF4-FFF2-40B4-BE49-F238E27FC236}">
                <a16:creationId xmlns:a16="http://schemas.microsoft.com/office/drawing/2014/main" id="{D34926AD-5389-0CB6-FF82-C9B52294D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6552" y="94229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hlinkClick r:id="rId3"/>
            <a:extLst>
              <a:ext uri="{FF2B5EF4-FFF2-40B4-BE49-F238E27FC236}">
                <a16:creationId xmlns:a16="http://schemas.microsoft.com/office/drawing/2014/main" id="{DE0842A8-E35A-21CB-C965-F6E20B06A5BA}"/>
              </a:ext>
            </a:extLst>
          </p:cNvPr>
          <p:cNvSpPr txBox="1"/>
          <p:nvPr/>
        </p:nvSpPr>
        <p:spPr>
          <a:xfrm>
            <a:off x="9859762" y="3085420"/>
            <a:ext cx="20811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Pls see this </a:t>
            </a:r>
            <a:r>
              <a:rPr lang="en-SG" sz="3200" dirty="0" err="1"/>
              <a:t>Youtube</a:t>
            </a:r>
            <a:r>
              <a:rPr lang="en-SG" sz="3200" dirty="0"/>
              <a:t> video to understand more</a:t>
            </a:r>
            <a:r>
              <a:rPr lang="en-SG" dirty="0"/>
              <a:t>.</a:t>
            </a:r>
          </a:p>
        </p:txBody>
      </p:sp>
      <p:pic>
        <p:nvPicPr>
          <p:cNvPr id="3" name="Picture 2">
            <a:hlinkClick r:id="rId3"/>
            <a:extLst>
              <a:ext uri="{FF2B5EF4-FFF2-40B4-BE49-F238E27FC236}">
                <a16:creationId xmlns:a16="http://schemas.microsoft.com/office/drawing/2014/main" id="{489B4FC6-4794-0EC6-ED5D-FF069358DE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050" y="157467"/>
            <a:ext cx="9575703" cy="537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5024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875420" y="-3346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600" b="1" dirty="0">
                <a:solidFill>
                  <a:srgbClr val="C00000"/>
                </a:solidFill>
                <a:latin typeface="+mn-lt"/>
              </a:rPr>
              <a:t>Homework</a:t>
            </a:r>
            <a:endParaRPr lang="en-SG" sz="2400" b="1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8E2755-A021-4693-8A73-0E774C582339}"/>
              </a:ext>
            </a:extLst>
          </p:cNvPr>
          <p:cNvSpPr/>
          <p:nvPr/>
        </p:nvSpPr>
        <p:spPr>
          <a:xfrm>
            <a:off x="-241011" y="6318610"/>
            <a:ext cx="3090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2.2 Radio Propagation and Link Budget </a:t>
            </a:r>
            <a:endParaRPr lang="en-US" sz="1200" dirty="0"/>
          </a:p>
          <a:p>
            <a:pPr lvl="1"/>
            <a:endParaRPr lang="en-SG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66DE39-AADE-4C08-B04A-28EC889AC64B}"/>
              </a:ext>
            </a:extLst>
          </p:cNvPr>
          <p:cNvSpPr/>
          <p:nvPr/>
        </p:nvSpPr>
        <p:spPr>
          <a:xfrm>
            <a:off x="681849" y="1173418"/>
            <a:ext cx="1090274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1)	</a:t>
            </a:r>
            <a:r>
              <a:rPr lang="en-GB" sz="2400" dirty="0"/>
              <a:t>A satellite that is 400km above the earth transmits a signal at 12 GHz to an 	earth station. The transmit power of the satellite is 100W. </a:t>
            </a:r>
            <a:endParaRPr lang="en-US" sz="2400" dirty="0"/>
          </a:p>
          <a:p>
            <a:r>
              <a:rPr lang="en-US" sz="2400" dirty="0" err="1"/>
              <a:t>i</a:t>
            </a:r>
            <a:r>
              <a:rPr lang="en-US" sz="2400" dirty="0"/>
              <a:t>)	State the condition that must be valid to apply the free space path loss model.</a:t>
            </a:r>
          </a:p>
          <a:p>
            <a:r>
              <a:rPr lang="en-US" sz="2400" dirty="0"/>
              <a:t>ii)	</a:t>
            </a:r>
            <a:r>
              <a:rPr lang="en-GB" sz="2400" dirty="0"/>
              <a:t>Estimate the path loss in dB between the satellite and the earth station. </a:t>
            </a:r>
            <a:endParaRPr lang="en-US" sz="2400" dirty="0"/>
          </a:p>
          <a:p>
            <a:r>
              <a:rPr lang="en-GB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914400" lvl="1" indent="-914400">
              <a:buAutoNum type="arabicParenR" startAt="2"/>
            </a:pPr>
            <a:r>
              <a:rPr lang="en-GB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A microwave transmitting system is transmitting 30W of power to a receiver 10km away. Given that the height of the transmitting antenna is 100m and the height of the receiver antenna is 10m and assume that there is a ground reflected signal to the receiver. Determine the path loss in </a:t>
            </a:r>
            <a:r>
              <a:rPr lang="en-GB" sz="24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dB.</a:t>
            </a:r>
            <a:endParaRPr lang="en-GB" sz="2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arenR" startAt="2"/>
            </a:pPr>
            <a:endParaRPr lang="en-GB" sz="2400" dirty="0">
              <a:cs typeface="Times New Roman" panose="02020603050405020304" pitchFamily="18" charset="0"/>
            </a:endParaRPr>
          </a:p>
          <a:p>
            <a:pPr marL="457200" indent="-457200">
              <a:buAutoNum type="arabicParenR" startAt="2"/>
            </a:pPr>
            <a:endParaRPr lang="en-GB" sz="2400" dirty="0">
              <a:cs typeface="Times New Roman" panose="02020603050405020304" pitchFamily="18" charset="0"/>
            </a:endParaRPr>
          </a:p>
        </p:txBody>
      </p:sp>
      <p:pic>
        <p:nvPicPr>
          <p:cNvPr id="6" name="Pg26">
            <a:hlinkClick r:id="" action="ppaction://media"/>
            <a:extLst>
              <a:ext uri="{FF2B5EF4-FFF2-40B4-BE49-F238E27FC236}">
                <a16:creationId xmlns:a16="http://schemas.microsoft.com/office/drawing/2014/main" id="{DF93316B-15B3-4A27-9D05-2ABB47F82D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18426" y="586596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988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8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883268" y="891425"/>
            <a:ext cx="965041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D88621-BFD5-4167-A859-84DBDA46622A}"/>
              </a:ext>
            </a:extLst>
          </p:cNvPr>
          <p:cNvSpPr/>
          <p:nvPr/>
        </p:nvSpPr>
        <p:spPr>
          <a:xfrm>
            <a:off x="4183201" y="1454940"/>
            <a:ext cx="3825598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SG" sz="6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cs typeface="Calibri" panose="020F0502020204030204" pitchFamily="34" charset="0"/>
              </a:rPr>
              <a:t>Thank you</a:t>
            </a:r>
          </a:p>
          <a:p>
            <a:pPr algn="ctr"/>
            <a:endParaRPr lang="en-SG" sz="6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cs typeface="Calibri" panose="020F0502020204030204" pitchFamily="34" charset="0"/>
            </a:endParaRPr>
          </a:p>
        </p:txBody>
      </p:sp>
      <p:pic>
        <p:nvPicPr>
          <p:cNvPr id="2" name="Pg37">
            <a:hlinkClick r:id="" action="ppaction://media"/>
            <a:extLst>
              <a:ext uri="{FF2B5EF4-FFF2-40B4-BE49-F238E27FC236}">
                <a16:creationId xmlns:a16="http://schemas.microsoft.com/office/drawing/2014/main" id="{E2AE13B3-2B90-425A-A467-E5115A8D3B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924083" y="5403060"/>
            <a:ext cx="609600" cy="609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C283207-8931-EBB4-46DA-7958BF0E6011}"/>
              </a:ext>
            </a:extLst>
          </p:cNvPr>
          <p:cNvSpPr/>
          <p:nvPr/>
        </p:nvSpPr>
        <p:spPr>
          <a:xfrm>
            <a:off x="0" y="0"/>
            <a:ext cx="882032" cy="2023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3054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3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6233</TotalTime>
  <Words>2910</Words>
  <Application>Microsoft Office PowerPoint</Application>
  <PresentationFormat>Widescreen</PresentationFormat>
  <Paragraphs>392</Paragraphs>
  <Slides>31</Slides>
  <Notes>4</Notes>
  <HiddenSlides>0</HiddenSlides>
  <MMClips>26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5" baseType="lpstr">
      <vt:lpstr>Monotype Sorts</vt:lpstr>
      <vt:lpstr>宋体</vt:lpstr>
      <vt:lpstr>Arial</vt:lpstr>
      <vt:lpstr>Arial Black</vt:lpstr>
      <vt:lpstr>Calibri</vt:lpstr>
      <vt:lpstr>Calibri Light</vt:lpstr>
      <vt:lpstr>Cambria Math</vt:lpstr>
      <vt:lpstr>Roboto</vt:lpstr>
      <vt:lpstr>Symbol</vt:lpstr>
      <vt:lpstr>Times New Roman</vt:lpstr>
      <vt:lpstr>Wingdings</vt:lpstr>
      <vt:lpstr>Office Theme</vt:lpstr>
      <vt:lpstr>Equation</vt:lpstr>
      <vt:lpstr>Picture</vt:lpstr>
      <vt:lpstr>Module EGE321 Wireless Communication &amp; Networking Chapter 2.2 Radio Propagation and Link Budget</vt:lpstr>
      <vt:lpstr>Contents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Nanyang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 Wireless System Implemetation &amp; Tests 1. Wireless Network Deployment</dc:title>
  <dc:creator>LIM TECK BENG</dc:creator>
  <cp:lastModifiedBy>Chang Fatt LEE (NYP)</cp:lastModifiedBy>
  <cp:revision>195</cp:revision>
  <dcterms:created xsi:type="dcterms:W3CDTF">2016-03-19T14:52:50Z</dcterms:created>
  <dcterms:modified xsi:type="dcterms:W3CDTF">2025-10-24T04:02:42Z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abe128f-e2ab-4b18-9c62-301caee5e80a_Enabled">
    <vt:lpwstr>true</vt:lpwstr>
  </property>
  <property fmtid="{D5CDD505-2E9C-101B-9397-08002B2CF9AE}" pid="3" name="MSIP_Label_babe128f-e2ab-4b18-9c62-301caee5e80a_SetDate">
    <vt:lpwstr>2023-11-04T13:34:53Z</vt:lpwstr>
  </property>
  <property fmtid="{D5CDD505-2E9C-101B-9397-08002B2CF9AE}" pid="4" name="MSIP_Label_babe128f-e2ab-4b18-9c62-301caee5e80a_Method">
    <vt:lpwstr>Privileged</vt:lpwstr>
  </property>
  <property fmtid="{D5CDD505-2E9C-101B-9397-08002B2CF9AE}" pid="5" name="MSIP_Label_babe128f-e2ab-4b18-9c62-301caee5e80a_Name">
    <vt:lpwstr>OFFICIAL [OPEN]</vt:lpwstr>
  </property>
  <property fmtid="{D5CDD505-2E9C-101B-9397-08002B2CF9AE}" pid="6" name="MSIP_Label_babe128f-e2ab-4b18-9c62-301caee5e80a_SiteId">
    <vt:lpwstr>243ebaed-00d0-4690-a7dc-75893b0d9f98</vt:lpwstr>
  </property>
  <property fmtid="{D5CDD505-2E9C-101B-9397-08002B2CF9AE}" pid="7" name="MSIP_Label_babe128f-e2ab-4b18-9c62-301caee5e80a_ActionId">
    <vt:lpwstr>ffa2e230-eb25-4068-9ae0-94db644a8f9b</vt:lpwstr>
  </property>
  <property fmtid="{D5CDD505-2E9C-101B-9397-08002B2CF9AE}" pid="8" name="MSIP_Label_babe128f-e2ab-4b18-9c62-301caee5e80a_ContentBits">
    <vt:lpwstr>1</vt:lpwstr>
  </property>
  <property fmtid="{D5CDD505-2E9C-101B-9397-08002B2CF9AE}" pid="9" name="ClassificationContentMarkingHeaderLocations">
    <vt:lpwstr>Office Theme:5</vt:lpwstr>
  </property>
  <property fmtid="{D5CDD505-2E9C-101B-9397-08002B2CF9AE}" pid="10" name="ClassificationContentMarkingHeaderText">
    <vt:lpwstr>Official (Open)</vt:lpwstr>
  </property>
</Properties>
</file>