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584" r:id="rId2"/>
    <p:sldId id="606" r:id="rId3"/>
    <p:sldId id="593" r:id="rId4"/>
    <p:sldId id="580" r:id="rId5"/>
    <p:sldId id="595" r:id="rId6"/>
    <p:sldId id="598" r:id="rId7"/>
    <p:sldId id="568" r:id="rId8"/>
    <p:sldId id="599" r:id="rId9"/>
    <p:sldId id="596" r:id="rId10"/>
    <p:sldId id="570" r:id="rId11"/>
    <p:sldId id="594" r:id="rId12"/>
    <p:sldId id="600" r:id="rId13"/>
    <p:sldId id="586" r:id="rId14"/>
    <p:sldId id="604" r:id="rId15"/>
    <p:sldId id="605" r:id="rId16"/>
    <p:sldId id="435" r:id="rId17"/>
    <p:sldId id="572" r:id="rId18"/>
    <p:sldId id="564" r:id="rId19"/>
    <p:sldId id="565" r:id="rId20"/>
    <p:sldId id="601" r:id="rId21"/>
    <p:sldId id="567" r:id="rId22"/>
    <p:sldId id="607" r:id="rId23"/>
    <p:sldId id="608" r:id="rId24"/>
    <p:sldId id="60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94384" autoAdjust="0"/>
  </p:normalViewPr>
  <p:slideViewPr>
    <p:cSldViewPr snapToGrid="0">
      <p:cViewPr varScale="1">
        <p:scale>
          <a:sx n="120" d="100"/>
          <a:sy n="120" d="100"/>
        </p:scale>
        <p:origin x="144" y="1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20" d="100"/>
        <a:sy n="120" d="100"/>
      </p:scale>
      <p:origin x="0" y="-112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03C14-3C46-449B-91D3-779C3EAC3963}" type="datetimeFigureOut">
              <a:rPr lang="en-US" smtClean="0"/>
              <a:t>10/18/2025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3627CE-1CF8-444E-9F93-C191CD3011DB}" type="slidenum">
              <a:rPr lang="en-US" smtClean="0"/>
              <a:t>‹#›</a:t>
            </a:fld>
            <a:endParaRPr lang="en-US"/>
          </a:p>
        </p:txBody>
      </p:sp>
    </p:spTree>
    <p:extLst>
      <p:ext uri="{BB962C8B-B14F-4D97-AF65-F5344CB8AC3E}">
        <p14:creationId xmlns:p14="http://schemas.microsoft.com/office/powerpoint/2010/main" val="3927139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p:cNvSpPr>
            <a:spLocks noGrp="1"/>
          </p:cNvSpPr>
          <p:nvPr>
            <p:ph type="ftr" sz="quarter" idx="11"/>
          </p:nvPr>
        </p:nvSpPr>
        <p:spPr>
          <a:xfrm>
            <a:off x="9024730" y="6356348"/>
            <a:ext cx="2329070" cy="365125"/>
          </a:xfrm>
          <a:prstGeom prst="rect">
            <a:avLst/>
          </a:prstGeom>
        </p:spPr>
        <p:txBody>
          <a:bodyPr/>
          <a:lstStyle/>
          <a:p>
            <a:r>
              <a:rPr lang="en-SG"/>
              <a:t>Effective Date: 20 April 2016</a:t>
            </a:r>
            <a:endParaRPr lang="en-US"/>
          </a:p>
        </p:txBody>
      </p:sp>
      <p:sp>
        <p:nvSpPr>
          <p:cNvPr id="6" name="Slide Number Placeholder 5"/>
          <p:cNvSpPr>
            <a:spLocks noGrp="1"/>
          </p:cNvSpPr>
          <p:nvPr>
            <p:ph type="sldNum" sz="quarter" idx="12"/>
          </p:nvPr>
        </p:nvSpPr>
        <p:spPr>
          <a:xfrm>
            <a:off x="4724400" y="6356349"/>
            <a:ext cx="2743200" cy="365125"/>
          </a:xfrm>
          <a:prstGeom prst="rect">
            <a:avLst/>
          </a:prstGeom>
        </p:spPr>
        <p:txBody>
          <a:bodyPr/>
          <a:lstStyle>
            <a:lvl1pPr>
              <a:defRPr/>
            </a:lvl1pPr>
          </a:lstStyle>
          <a:p>
            <a:r>
              <a:rPr lang="en-US" dirty="0"/>
              <a:t>Page </a:t>
            </a:r>
            <a:fld id="{3AE61142-E722-463F-A30E-82CE7BA425BB}" type="slidenum">
              <a:rPr lang="en-US" smtClean="0"/>
              <a:pPr/>
              <a:t>‹#›</a:t>
            </a:fld>
            <a:endParaRPr lang="en-US" dirty="0"/>
          </a:p>
        </p:txBody>
      </p:sp>
    </p:spTree>
    <p:extLst>
      <p:ext uri="{BB962C8B-B14F-4D97-AF65-F5344CB8AC3E}">
        <p14:creationId xmlns:p14="http://schemas.microsoft.com/office/powerpoint/2010/main" val="3755958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53090"/>
            <a:ext cx="10515600" cy="1325563"/>
          </a:xfrm>
        </p:spPr>
        <p:txBody>
          <a:bodyPr/>
          <a:lstStyle/>
          <a:p>
            <a:r>
              <a:rPr lang="en-US"/>
              <a:t>Click to edit Master title style</a:t>
            </a:r>
          </a:p>
        </p:txBody>
      </p:sp>
      <p:sp>
        <p:nvSpPr>
          <p:cNvPr id="3" name="Content Placeholder 2"/>
          <p:cNvSpPr>
            <a:spLocks noGrp="1"/>
          </p:cNvSpPr>
          <p:nvPr>
            <p:ph idx="1"/>
          </p:nvPr>
        </p:nvSpPr>
        <p:spPr>
          <a:xfrm>
            <a:off x="838200" y="161117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9024730" y="6356348"/>
            <a:ext cx="2329070" cy="365125"/>
          </a:xfrm>
          <a:prstGeom prst="rect">
            <a:avLst/>
          </a:prstGeom>
        </p:spPr>
        <p:txBody>
          <a:bodyPr/>
          <a:lstStyle/>
          <a:p>
            <a:r>
              <a:rPr lang="en-SG"/>
              <a:t>Effective Date: 20 April 2016</a:t>
            </a:r>
            <a:endParaRPr lang="en-US"/>
          </a:p>
        </p:txBody>
      </p:sp>
      <p:sp>
        <p:nvSpPr>
          <p:cNvPr id="6" name="Slide Number Placeholder 5"/>
          <p:cNvSpPr>
            <a:spLocks noGrp="1"/>
          </p:cNvSpPr>
          <p:nvPr>
            <p:ph type="sldNum" sz="quarter" idx="12"/>
          </p:nvPr>
        </p:nvSpPr>
        <p:spPr>
          <a:xfrm>
            <a:off x="4724400" y="6356349"/>
            <a:ext cx="2743200" cy="365125"/>
          </a:xfrm>
          <a:prstGeom prst="rect">
            <a:avLst/>
          </a:prstGeom>
        </p:spPr>
        <p:txBody>
          <a:bodyPr/>
          <a:lstStyle/>
          <a:p>
            <a:r>
              <a:rPr lang="en-US" dirty="0"/>
              <a:t>Page </a:t>
            </a:r>
            <a:fld id="{A862897D-0F50-4425-B5E1-82FAA232DFBF}" type="slidenum">
              <a:rPr lang="en-US" smtClean="0"/>
              <a:pPr/>
              <a:t>‹#›</a:t>
            </a:fld>
            <a:endParaRPr lang="en-US" dirty="0"/>
          </a:p>
        </p:txBody>
      </p:sp>
    </p:spTree>
    <p:extLst>
      <p:ext uri="{BB962C8B-B14F-4D97-AF65-F5344CB8AC3E}">
        <p14:creationId xmlns:p14="http://schemas.microsoft.com/office/powerpoint/2010/main" val="147357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9838"/>
            <a:ext cx="10515600" cy="1325563"/>
          </a:xfrm>
        </p:spPr>
        <p:txBody>
          <a:bodyPr/>
          <a:lstStyle/>
          <a:p>
            <a:r>
              <a:rPr lang="en-US"/>
              <a:t>Click to edit Master title style</a:t>
            </a:r>
          </a:p>
        </p:txBody>
      </p:sp>
      <p:sp>
        <p:nvSpPr>
          <p:cNvPr id="3" name="Content Placeholder 2"/>
          <p:cNvSpPr>
            <a:spLocks noGrp="1"/>
          </p:cNvSpPr>
          <p:nvPr>
            <p:ph sz="half" idx="1"/>
          </p:nvPr>
        </p:nvSpPr>
        <p:spPr>
          <a:xfrm>
            <a:off x="838200" y="164478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4478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p:cNvSpPr>
            <a:spLocks noGrp="1"/>
          </p:cNvSpPr>
          <p:nvPr>
            <p:ph type="ftr" sz="quarter" idx="11"/>
          </p:nvPr>
        </p:nvSpPr>
        <p:spPr>
          <a:xfrm>
            <a:off x="9024730" y="6356348"/>
            <a:ext cx="2329070" cy="365125"/>
          </a:xfrm>
          <a:prstGeom prst="rect">
            <a:avLst/>
          </a:prstGeom>
        </p:spPr>
        <p:txBody>
          <a:bodyPr/>
          <a:lstStyle/>
          <a:p>
            <a:r>
              <a:rPr lang="en-SG"/>
              <a:t>Effective Date: 20 April 2016</a:t>
            </a:r>
            <a:endParaRPr lang="en-US"/>
          </a:p>
        </p:txBody>
      </p:sp>
      <p:sp>
        <p:nvSpPr>
          <p:cNvPr id="7" name="Slide Number Placeholder 6"/>
          <p:cNvSpPr>
            <a:spLocks noGrp="1"/>
          </p:cNvSpPr>
          <p:nvPr>
            <p:ph type="sldNum" sz="quarter" idx="12"/>
          </p:nvPr>
        </p:nvSpPr>
        <p:spPr>
          <a:xfrm>
            <a:off x="4724400" y="6356349"/>
            <a:ext cx="2743200" cy="365125"/>
          </a:xfrm>
          <a:prstGeom prst="rect">
            <a:avLst/>
          </a:prstGeom>
        </p:spPr>
        <p:txBody>
          <a:bodyPr/>
          <a:lstStyle/>
          <a:p>
            <a:r>
              <a:rPr lang="en-US" dirty="0"/>
              <a:t>Page </a:t>
            </a:r>
            <a:fld id="{A862897D-0F50-4425-B5E1-82FAA232DFBF}" type="slidenum">
              <a:rPr lang="en-US" smtClean="0"/>
              <a:pPr/>
              <a:t>‹#›</a:t>
            </a:fld>
            <a:endParaRPr lang="en-US" dirty="0"/>
          </a:p>
        </p:txBody>
      </p:sp>
    </p:spTree>
    <p:extLst>
      <p:ext uri="{BB962C8B-B14F-4D97-AF65-F5344CB8AC3E}">
        <p14:creationId xmlns:p14="http://schemas.microsoft.com/office/powerpoint/2010/main" val="472257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8200" y="134662"/>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a:xfrm>
            <a:off x="9024730" y="6356348"/>
            <a:ext cx="2329070" cy="365125"/>
          </a:xfrm>
          <a:prstGeom prst="rect">
            <a:avLst/>
          </a:prstGeom>
        </p:spPr>
        <p:txBody>
          <a:bodyPr/>
          <a:lstStyle/>
          <a:p>
            <a:r>
              <a:rPr lang="en-SG"/>
              <a:t>Effective Date: 20 April 2016</a:t>
            </a:r>
            <a:endParaRPr lang="en-US"/>
          </a:p>
        </p:txBody>
      </p:sp>
      <p:sp>
        <p:nvSpPr>
          <p:cNvPr id="9" name="Slide Number Placeholder 8"/>
          <p:cNvSpPr>
            <a:spLocks noGrp="1"/>
          </p:cNvSpPr>
          <p:nvPr>
            <p:ph type="sldNum" sz="quarter" idx="12"/>
          </p:nvPr>
        </p:nvSpPr>
        <p:spPr>
          <a:xfrm>
            <a:off x="4724400" y="6356349"/>
            <a:ext cx="2743200" cy="365125"/>
          </a:xfrm>
          <a:prstGeom prst="rect">
            <a:avLst/>
          </a:prstGeom>
        </p:spPr>
        <p:txBody>
          <a:bodyPr/>
          <a:lstStyle/>
          <a:p>
            <a:r>
              <a:rPr lang="en-US" dirty="0"/>
              <a:t>Page </a:t>
            </a:r>
            <a:fld id="{A862897D-0F50-4425-B5E1-82FAA232DFBF}" type="slidenum">
              <a:rPr lang="en-US" smtClean="0"/>
              <a:pPr/>
              <a:t>‹#›</a:t>
            </a:fld>
            <a:endParaRPr lang="en-US" dirty="0"/>
          </a:p>
        </p:txBody>
      </p:sp>
    </p:spTree>
    <p:extLst>
      <p:ext uri="{BB962C8B-B14F-4D97-AF65-F5344CB8AC3E}">
        <p14:creationId xmlns:p14="http://schemas.microsoft.com/office/powerpoint/2010/main" val="275150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179595"/>
            <a:ext cx="10515600" cy="1325563"/>
          </a:xfr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a:xfrm>
            <a:off x="9024730" y="6356348"/>
            <a:ext cx="2329070" cy="365125"/>
          </a:xfrm>
          <a:prstGeom prst="rect">
            <a:avLst/>
          </a:prstGeom>
        </p:spPr>
        <p:txBody>
          <a:bodyPr/>
          <a:lstStyle/>
          <a:p>
            <a:r>
              <a:rPr lang="en-SG"/>
              <a:t>Effective Date: 20 April 2016</a:t>
            </a:r>
            <a:endParaRPr lang="en-US"/>
          </a:p>
        </p:txBody>
      </p:sp>
      <p:sp>
        <p:nvSpPr>
          <p:cNvPr id="5" name="Slide Number Placeholder 4"/>
          <p:cNvSpPr>
            <a:spLocks noGrp="1"/>
          </p:cNvSpPr>
          <p:nvPr>
            <p:ph type="sldNum" sz="quarter" idx="12"/>
          </p:nvPr>
        </p:nvSpPr>
        <p:spPr>
          <a:xfrm>
            <a:off x="4724400" y="6356349"/>
            <a:ext cx="2743200" cy="365125"/>
          </a:xfrm>
          <a:prstGeom prst="rect">
            <a:avLst/>
          </a:prstGeom>
        </p:spPr>
        <p:txBody>
          <a:bodyPr/>
          <a:lstStyle/>
          <a:p>
            <a:r>
              <a:rPr lang="en-US" dirty="0"/>
              <a:t>Page </a:t>
            </a:r>
            <a:fld id="{A862897D-0F50-4425-B5E1-82FAA232DFBF}" type="slidenum">
              <a:rPr lang="en-US" smtClean="0"/>
              <a:pPr/>
              <a:t>‹#›</a:t>
            </a:fld>
            <a:endParaRPr lang="en-US" dirty="0"/>
          </a:p>
        </p:txBody>
      </p:sp>
    </p:spTree>
    <p:extLst>
      <p:ext uri="{BB962C8B-B14F-4D97-AF65-F5344CB8AC3E}">
        <p14:creationId xmlns:p14="http://schemas.microsoft.com/office/powerpoint/2010/main" val="412516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a:xfrm>
            <a:off x="9024730" y="6356348"/>
            <a:ext cx="2329070" cy="365125"/>
          </a:xfrm>
          <a:prstGeom prst="rect">
            <a:avLst/>
          </a:prstGeom>
        </p:spPr>
        <p:txBody>
          <a:bodyPr/>
          <a:lstStyle/>
          <a:p>
            <a:r>
              <a:rPr lang="en-SG"/>
              <a:t>Effective Date: 20 April 2016</a:t>
            </a:r>
            <a:endParaRPr lang="en-US"/>
          </a:p>
        </p:txBody>
      </p:sp>
      <p:sp>
        <p:nvSpPr>
          <p:cNvPr id="4" name="Slide Number Placeholder 3"/>
          <p:cNvSpPr>
            <a:spLocks noGrp="1"/>
          </p:cNvSpPr>
          <p:nvPr>
            <p:ph type="sldNum" sz="quarter" idx="12"/>
          </p:nvPr>
        </p:nvSpPr>
        <p:spPr>
          <a:xfrm>
            <a:off x="4724400" y="6356349"/>
            <a:ext cx="2743200" cy="365125"/>
          </a:xfrm>
          <a:prstGeom prst="rect">
            <a:avLst/>
          </a:prstGeom>
        </p:spPr>
        <p:txBody>
          <a:bodyPr/>
          <a:lstStyle/>
          <a:p>
            <a:fld id="{A862897D-0F50-4425-B5E1-82FAA232DFBF}" type="slidenum">
              <a:rPr lang="en-US" smtClean="0"/>
              <a:t>‹#›</a:t>
            </a:fld>
            <a:endParaRPr lang="en-US"/>
          </a:p>
        </p:txBody>
      </p:sp>
    </p:spTree>
    <p:extLst>
      <p:ext uri="{BB962C8B-B14F-4D97-AF65-F5344CB8AC3E}">
        <p14:creationId xmlns:p14="http://schemas.microsoft.com/office/powerpoint/2010/main" val="2325135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69068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8" descr="Corporate NYP Logo_Horizontal_RGB"/>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76383" y="161019"/>
            <a:ext cx="2101771" cy="550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914AA43-78F4-4538-8E9E-6E8148AA65C9}"/>
              </a:ext>
            </a:extLst>
          </p:cNvPr>
          <p:cNvSpPr txBox="1"/>
          <p:nvPr userDrawn="1">
            <p:extLst>
              <p:ext uri="{1162E1C5-73C7-4A58-AE30-91384D911F3F}">
                <p184:classification xmlns:p184="http://schemas.microsoft.com/office/powerpoint/2018/4/main" val="hdr"/>
              </p:ext>
            </p:extLst>
          </p:nvPr>
        </p:nvSpPr>
        <p:spPr>
          <a:xfrm>
            <a:off x="0" y="0"/>
            <a:ext cx="774700" cy="152400"/>
          </a:xfrm>
          <a:prstGeom prst="rect">
            <a:avLst/>
          </a:prstGeom>
        </p:spPr>
        <p:txBody>
          <a:bodyPr horzOverflow="overflow" lIns="0" tIns="0" rIns="0" bIns="0">
            <a:spAutoFit/>
          </a:bodyPr>
          <a:lstStyle/>
          <a:p>
            <a:pPr algn="l"/>
            <a:r>
              <a:rPr lang="en-SG" sz="1000">
                <a:solidFill>
                  <a:srgbClr val="000000"/>
                </a:solidFill>
                <a:latin typeface="Calibri" panose="020F0502020204030204" pitchFamily="34" charset="0"/>
                <a:cs typeface="Calibri" panose="020F0502020204030204" pitchFamily="34" charset="0"/>
              </a:rPr>
              <a:t>Official (Open)</a:t>
            </a:r>
          </a:p>
        </p:txBody>
      </p:sp>
    </p:spTree>
    <p:extLst>
      <p:ext uri="{BB962C8B-B14F-4D97-AF65-F5344CB8AC3E}">
        <p14:creationId xmlns:p14="http://schemas.microsoft.com/office/powerpoint/2010/main" val="3503397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youtu.be/-Nux72R5W24" TargetMode="Externa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audio" Target="../media/media6.mp3"/><Relationship Id="rId3" Type="http://schemas.microsoft.com/office/2007/relationships/media" Target="../media/media4.mp3"/><Relationship Id="rId7" Type="http://schemas.microsoft.com/office/2007/relationships/media" Target="../media/media6.mp3"/><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audio" Target="../media/media5.mp3"/><Relationship Id="rId11" Type="http://schemas.openxmlformats.org/officeDocument/2006/relationships/image" Target="../media/image2.png"/><Relationship Id="rId5" Type="http://schemas.microsoft.com/office/2007/relationships/media" Target="../media/media5.mp3"/><Relationship Id="rId10" Type="http://schemas.openxmlformats.org/officeDocument/2006/relationships/image" Target="../media/image7.png"/><Relationship Id="rId4" Type="http://schemas.openxmlformats.org/officeDocument/2006/relationships/audio" Target="../media/media4.mp3"/><Relationship Id="rId9"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2.pn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2.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hyperlink" Target="https://youtu.be/8sxlqLX_dBY" TargetMode="Externa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hyperlink" Target="https://youtu.be/Vz7H6J6RmFU" TargetMode="Externa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2.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2.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8.mp3"/><Relationship Id="rId1" Type="http://schemas.microsoft.com/office/2007/relationships/media" Target="../media/media18.mp3"/><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9.mp3"/><Relationship Id="rId1" Type="http://schemas.microsoft.com/office/2007/relationships/media" Target="../media/media19.mp3"/><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0.mp3"/><Relationship Id="rId1" Type="http://schemas.microsoft.com/office/2007/relationships/media" Target="../media/media20.mp3"/><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p3"/><Relationship Id="rId1" Type="http://schemas.microsoft.com/office/2007/relationships/media" Target="../media/media21.mp3"/><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hyperlink" Target="https://youtu.be/xV3fZThMYlI" TargetMode="Externa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4.jpeg"/></Relationships>
</file>

<file path=ppt/slides/_rels/slide23.xml.rels><?xml version="1.0" encoding="UTF-8" standalone="yes"?>
<Relationships xmlns="http://schemas.openxmlformats.org/package/2006/relationships"><Relationship Id="rId3" Type="http://schemas.openxmlformats.org/officeDocument/2006/relationships/hyperlink" Target="https://youtu.be/Zahw-f-_KVs" TargetMode="Externa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4.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2.mp3"/><Relationship Id="rId1" Type="http://schemas.microsoft.com/office/2007/relationships/media" Target="../media/media22.mp3"/><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4CEC4E8F-216B-4DBD-8F16-8B6976D421CA}"/>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a:t>
            </a:r>
          </a:p>
        </p:txBody>
      </p:sp>
      <p:sp>
        <p:nvSpPr>
          <p:cNvPr id="6" name="Rectangle 5">
            <a:extLst>
              <a:ext uri="{FF2B5EF4-FFF2-40B4-BE49-F238E27FC236}">
                <a16:creationId xmlns:a16="http://schemas.microsoft.com/office/drawing/2014/main" id="{84DD8D90-BB47-4451-9437-4FDFC828B4C0}"/>
              </a:ext>
            </a:extLst>
          </p:cNvPr>
          <p:cNvSpPr/>
          <p:nvPr/>
        </p:nvSpPr>
        <p:spPr>
          <a:xfrm>
            <a:off x="1071207" y="1641025"/>
            <a:ext cx="9663659" cy="3108543"/>
          </a:xfrm>
          <a:prstGeom prst="rect">
            <a:avLst/>
          </a:prstGeom>
        </p:spPr>
        <p:txBody>
          <a:bodyPr wrap="square">
            <a:spAutoFit/>
          </a:bodyPr>
          <a:lstStyle/>
          <a:p>
            <a:pPr>
              <a:buNone/>
            </a:pPr>
            <a:r>
              <a:rPr lang="en-SG" sz="2800" dirty="0">
                <a:solidFill>
                  <a:srgbClr val="0070C0"/>
                </a:solidFill>
                <a:latin typeface="Calibri" panose="020F0502020204030204" pitchFamily="34" charset="0"/>
                <a:cs typeface="Calibri" panose="020F0502020204030204" pitchFamily="34" charset="0"/>
              </a:rPr>
              <a:t>There are five common multiple access techniques as following:</a:t>
            </a:r>
          </a:p>
          <a:p>
            <a:pPr>
              <a:buNone/>
            </a:pPr>
            <a:r>
              <a:rPr lang="en-SG" sz="2800" b="1" dirty="0">
                <a:solidFill>
                  <a:srgbClr val="00B050"/>
                </a:solidFill>
                <a:latin typeface="Calibri" panose="020F0502020204030204" pitchFamily="34" charset="0"/>
                <a:cs typeface="Calibri" panose="020F0502020204030204" pitchFamily="34" charset="0"/>
              </a:rPr>
              <a:t> </a:t>
            </a:r>
          </a:p>
          <a:p>
            <a:pPr>
              <a:buNone/>
            </a:pPr>
            <a:r>
              <a:rPr lang="en-SG" sz="2800" b="1" dirty="0">
                <a:solidFill>
                  <a:srgbClr val="00B050"/>
                </a:solidFill>
                <a:latin typeface="Calibri" panose="020F0502020204030204" pitchFamily="34" charset="0"/>
                <a:cs typeface="Calibri" panose="020F0502020204030204" pitchFamily="34" charset="0"/>
              </a:rPr>
              <a:t>1) F</a:t>
            </a:r>
            <a:r>
              <a:rPr lang="en-SG" sz="2800" dirty="0">
                <a:latin typeface="Calibri" panose="020F0502020204030204" pitchFamily="34" charset="0"/>
                <a:cs typeface="Calibri" panose="020F0502020204030204" pitchFamily="34" charset="0"/>
              </a:rPr>
              <a:t>requency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FDMA</a:t>
            </a:r>
            <a:r>
              <a:rPr lang="en-SG" sz="2800" dirty="0">
                <a:latin typeface="Calibri" panose="020F0502020204030204" pitchFamily="34" charset="0"/>
                <a:cs typeface="Calibri" panose="020F0502020204030204" pitchFamily="34" charset="0"/>
              </a:rPr>
              <a:t>), </a:t>
            </a:r>
          </a:p>
          <a:p>
            <a:pPr>
              <a:buNone/>
            </a:pPr>
            <a:r>
              <a:rPr lang="en-SG" sz="2800" b="1" dirty="0">
                <a:solidFill>
                  <a:srgbClr val="00B050"/>
                </a:solidFill>
                <a:latin typeface="Calibri" panose="020F0502020204030204" pitchFamily="34" charset="0"/>
                <a:cs typeface="Calibri" panose="020F0502020204030204" pitchFamily="34" charset="0"/>
              </a:rPr>
              <a:t>2) T</a:t>
            </a:r>
            <a:r>
              <a:rPr lang="en-SG" sz="2800" dirty="0">
                <a:latin typeface="Calibri" panose="020F0502020204030204" pitchFamily="34" charset="0"/>
                <a:cs typeface="Calibri" panose="020F0502020204030204" pitchFamily="34" charset="0"/>
              </a:rPr>
              <a:t>ime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TDMA</a:t>
            </a:r>
            <a:r>
              <a:rPr lang="en-SG" sz="2800" dirty="0">
                <a:latin typeface="Calibri" panose="020F0502020204030204" pitchFamily="34" charset="0"/>
                <a:cs typeface="Calibri" panose="020F0502020204030204" pitchFamily="34" charset="0"/>
              </a:rPr>
              <a:t>), </a:t>
            </a:r>
          </a:p>
          <a:p>
            <a:pPr>
              <a:buNone/>
            </a:pPr>
            <a:r>
              <a:rPr lang="en-SG" sz="2800" b="1" dirty="0">
                <a:solidFill>
                  <a:srgbClr val="00B050"/>
                </a:solidFill>
                <a:latin typeface="Calibri" panose="020F0502020204030204" pitchFamily="34" charset="0"/>
                <a:cs typeface="Calibri" panose="020F0502020204030204" pitchFamily="34" charset="0"/>
              </a:rPr>
              <a:t>3) C</a:t>
            </a:r>
            <a:r>
              <a:rPr lang="en-SG" sz="2800" dirty="0">
                <a:latin typeface="Calibri" panose="020F0502020204030204" pitchFamily="34" charset="0"/>
                <a:cs typeface="Calibri" panose="020F0502020204030204" pitchFamily="34" charset="0"/>
              </a:rPr>
              <a:t>ode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CDMA</a:t>
            </a:r>
            <a:r>
              <a:rPr lang="en-SG" sz="2800" dirty="0">
                <a:latin typeface="Calibri" panose="020F0502020204030204" pitchFamily="34" charset="0"/>
                <a:cs typeface="Calibri" panose="020F0502020204030204" pitchFamily="34" charset="0"/>
              </a:rPr>
              <a:t>), </a:t>
            </a:r>
          </a:p>
          <a:p>
            <a:pPr>
              <a:buNone/>
            </a:pPr>
            <a:r>
              <a:rPr lang="en-SG" sz="2800" b="1" dirty="0">
                <a:solidFill>
                  <a:srgbClr val="00B050"/>
                </a:solidFill>
                <a:latin typeface="Calibri" panose="020F0502020204030204" pitchFamily="34" charset="0"/>
                <a:cs typeface="Calibri" panose="020F0502020204030204" pitchFamily="34" charset="0"/>
              </a:rPr>
              <a:t>4) O</a:t>
            </a:r>
            <a:r>
              <a:rPr lang="en-SG" sz="2800" dirty="0">
                <a:latin typeface="Calibri" panose="020F0502020204030204" pitchFamily="34" charset="0"/>
                <a:cs typeface="Calibri" panose="020F0502020204030204" pitchFamily="34" charset="0"/>
              </a:rPr>
              <a:t>rthogonal </a:t>
            </a:r>
            <a:r>
              <a:rPr lang="en-SG" sz="2800" b="1" dirty="0">
                <a:solidFill>
                  <a:srgbClr val="00B050"/>
                </a:solidFill>
                <a:latin typeface="Calibri" panose="020F0502020204030204" pitchFamily="34" charset="0"/>
                <a:cs typeface="Calibri" panose="020F0502020204030204" pitchFamily="34" charset="0"/>
              </a:rPr>
              <a:t>F</a:t>
            </a:r>
            <a:r>
              <a:rPr lang="en-SG" sz="2800" dirty="0">
                <a:latin typeface="Calibri" panose="020F0502020204030204" pitchFamily="34" charset="0"/>
                <a:cs typeface="Calibri" panose="020F0502020204030204" pitchFamily="34" charset="0"/>
              </a:rPr>
              <a:t>requency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OFDMA</a:t>
            </a:r>
            <a:r>
              <a:rPr lang="en-SG" sz="2800" dirty="0">
                <a:latin typeface="Calibri" panose="020F0502020204030204" pitchFamily="34" charset="0"/>
                <a:cs typeface="Calibri" panose="020F0502020204030204" pitchFamily="34" charset="0"/>
              </a:rPr>
              <a:t>), and </a:t>
            </a:r>
          </a:p>
          <a:p>
            <a:pPr>
              <a:buNone/>
            </a:pPr>
            <a:r>
              <a:rPr lang="en-SG" sz="2800" b="1" dirty="0">
                <a:solidFill>
                  <a:srgbClr val="00B050"/>
                </a:solidFill>
                <a:latin typeface="Calibri" panose="020F0502020204030204" pitchFamily="34" charset="0"/>
                <a:cs typeface="Calibri" panose="020F0502020204030204" pitchFamily="34" charset="0"/>
              </a:rPr>
              <a:t>5) S</a:t>
            </a:r>
            <a:r>
              <a:rPr lang="en-SG" sz="2800" dirty="0">
                <a:latin typeface="Calibri" panose="020F0502020204030204" pitchFamily="34" charset="0"/>
                <a:cs typeface="Calibri" panose="020F0502020204030204" pitchFamily="34" charset="0"/>
              </a:rPr>
              <a:t>patial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SDMA</a:t>
            </a:r>
            <a:r>
              <a:rPr lang="en-SG" sz="2800" dirty="0">
                <a:latin typeface="Calibri" panose="020F0502020204030204" pitchFamily="34" charset="0"/>
                <a:cs typeface="Calibri" panose="020F0502020204030204" pitchFamily="34" charset="0"/>
              </a:rPr>
              <a:t>).</a:t>
            </a:r>
            <a:endParaRPr lang="en-US" sz="2800" dirty="0">
              <a:latin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0C0CED85-EBC3-4870-84C2-876B38C0A9A5}"/>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7" name="Pg19">
            <a:hlinkClick r:id="" action="ppaction://media"/>
            <a:extLst>
              <a:ext uri="{FF2B5EF4-FFF2-40B4-BE49-F238E27FC236}">
                <a16:creationId xmlns:a16="http://schemas.microsoft.com/office/drawing/2014/main" id="{5FFFCE88-875F-437D-A47A-88227A2B579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22952" y="5491918"/>
            <a:ext cx="609600" cy="609600"/>
          </a:xfrm>
          <a:prstGeom prst="rect">
            <a:avLst/>
          </a:prstGeom>
        </p:spPr>
      </p:pic>
      <p:sp>
        <p:nvSpPr>
          <p:cNvPr id="2" name="Rectangle 1">
            <a:extLst>
              <a:ext uri="{FF2B5EF4-FFF2-40B4-BE49-F238E27FC236}">
                <a16:creationId xmlns:a16="http://schemas.microsoft.com/office/drawing/2014/main" id="{098496D1-41EF-7F3B-37B4-E290451F6AA6}"/>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99605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635"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2"/>
          <a:stretch>
            <a:fillRect/>
          </a:stretch>
        </p:blipFill>
        <p:spPr>
          <a:xfrm>
            <a:off x="251050" y="6038076"/>
            <a:ext cx="1762125" cy="542925"/>
          </a:xfrm>
          <a:prstGeom prst="rect">
            <a:avLst/>
          </a:prstGeom>
        </p:spPr>
      </p:pic>
      <p:sp>
        <p:nvSpPr>
          <p:cNvPr id="10" name="TextBox 9">
            <a:hlinkClick r:id="rId3"/>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solidFill>
                  <a:srgbClr val="0D0D0D"/>
                </a:solidFill>
                <a:effectLst/>
                <a:latin typeface="Roboto" panose="02000000000000000000" pitchFamily="2" charset="0"/>
              </a:rPr>
              <a:t>5 Most Commonly Used Multiple Access, FDMA, TDMA, CDMA, OFDMA &amp; SDMA to Support Multiple Users.</a:t>
            </a:r>
          </a:p>
          <a:p>
            <a:r>
              <a:rPr lang="en-SG" b="0" i="0" u="none" strike="noStrike" dirty="0">
                <a:effectLst/>
                <a:latin typeface="Roboto" panose="02000000000000000000" pitchFamily="2" charset="0"/>
                <a:hlinkClick r:id="rId3"/>
              </a:rPr>
              <a:t>https://youtu.be/-Nux72R5W24</a:t>
            </a:r>
            <a:endParaRPr lang="en-SG" dirty="0"/>
          </a:p>
        </p:txBody>
      </p:sp>
      <p:pic>
        <p:nvPicPr>
          <p:cNvPr id="4100" name="Picture 4" descr="Miscellaneous Video's – Centurian Park Family">
            <a:hlinkClick r:id="rId3"/>
            <a:extLst>
              <a:ext uri="{FF2B5EF4-FFF2-40B4-BE49-F238E27FC236}">
                <a16:creationId xmlns:a16="http://schemas.microsoft.com/office/drawing/2014/main" id="{F2FC59B5-8F70-388F-0F76-A765F77495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3" name="Picture 2">
            <a:hlinkClick r:id="rId3"/>
            <a:extLst>
              <a:ext uri="{FF2B5EF4-FFF2-40B4-BE49-F238E27FC236}">
                <a16:creationId xmlns:a16="http://schemas.microsoft.com/office/drawing/2014/main" id="{36AD5FB9-EF1A-7FA4-09C4-E6D5C2D83F66}"/>
              </a:ext>
            </a:extLst>
          </p:cNvPr>
          <p:cNvPicPr>
            <a:picLocks noChangeAspect="1"/>
          </p:cNvPicPr>
          <p:nvPr/>
        </p:nvPicPr>
        <p:blipFill>
          <a:blip r:embed="rId5"/>
          <a:stretch>
            <a:fillRect/>
          </a:stretch>
        </p:blipFill>
        <p:spPr>
          <a:xfrm>
            <a:off x="331774" y="300241"/>
            <a:ext cx="9095096" cy="5024564"/>
          </a:xfrm>
          <a:prstGeom prst="rect">
            <a:avLst/>
          </a:prstGeom>
        </p:spPr>
      </p:pic>
    </p:spTree>
    <p:extLst>
      <p:ext uri="{BB962C8B-B14F-4D97-AF65-F5344CB8AC3E}">
        <p14:creationId xmlns:p14="http://schemas.microsoft.com/office/powerpoint/2010/main" val="299420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1BDD57E-8B72-40AF-BD4B-65914006D200}"/>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 (FDMA)</a:t>
            </a:r>
          </a:p>
        </p:txBody>
      </p:sp>
      <p:pic>
        <p:nvPicPr>
          <p:cNvPr id="4" name="Picture 3">
            <a:extLst>
              <a:ext uri="{FF2B5EF4-FFF2-40B4-BE49-F238E27FC236}">
                <a16:creationId xmlns:a16="http://schemas.microsoft.com/office/drawing/2014/main" id="{C58AC046-E862-45CE-833E-263E2D45A136}"/>
              </a:ext>
            </a:extLst>
          </p:cNvPr>
          <p:cNvPicPr>
            <a:picLocks noChangeAspect="1"/>
          </p:cNvPicPr>
          <p:nvPr/>
        </p:nvPicPr>
        <p:blipFill>
          <a:blip r:embed="rId4"/>
          <a:stretch>
            <a:fillRect/>
          </a:stretch>
        </p:blipFill>
        <p:spPr>
          <a:xfrm>
            <a:off x="6096000" y="1391483"/>
            <a:ext cx="5319692" cy="4022676"/>
          </a:xfrm>
          <a:prstGeom prst="rect">
            <a:avLst/>
          </a:prstGeom>
        </p:spPr>
      </p:pic>
      <p:sp>
        <p:nvSpPr>
          <p:cNvPr id="17" name="Rectangle 16">
            <a:extLst>
              <a:ext uri="{FF2B5EF4-FFF2-40B4-BE49-F238E27FC236}">
                <a16:creationId xmlns:a16="http://schemas.microsoft.com/office/drawing/2014/main" id="{22CE754A-3C32-4BBB-A1EB-920900D60C14}"/>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sp>
        <p:nvSpPr>
          <p:cNvPr id="5" name="Rectangle 4">
            <a:extLst>
              <a:ext uri="{FF2B5EF4-FFF2-40B4-BE49-F238E27FC236}">
                <a16:creationId xmlns:a16="http://schemas.microsoft.com/office/drawing/2014/main" id="{2C09F47B-5D58-4AE5-97FA-6ED6FD9EC260}"/>
              </a:ext>
            </a:extLst>
          </p:cNvPr>
          <p:cNvSpPr/>
          <p:nvPr/>
        </p:nvSpPr>
        <p:spPr>
          <a:xfrm>
            <a:off x="450711" y="2041612"/>
            <a:ext cx="5802763" cy="3724096"/>
          </a:xfrm>
          <a:prstGeom prst="rect">
            <a:avLst/>
          </a:prstGeom>
        </p:spPr>
        <p:txBody>
          <a:bodyPr wrap="square">
            <a:spAutoFit/>
          </a:bodyPr>
          <a:lstStyle/>
          <a:p>
            <a:pPr marL="342900" indent="-342900">
              <a:spcBef>
                <a:spcPct val="0"/>
              </a:spcBef>
              <a:buSzTx/>
              <a:buFont typeface="Arial" panose="020B0604020202020204" pitchFamily="34" charset="0"/>
              <a:buChar char="•"/>
            </a:pPr>
            <a:r>
              <a:rPr lang="en-US" altLang="en-US" sz="2800" dirty="0">
                <a:cs typeface="Times New Roman" panose="02020603050405020304" pitchFamily="18" charset="0"/>
              </a:rPr>
              <a:t>Each user is assigned </a:t>
            </a:r>
            <a:r>
              <a:rPr lang="en-US" altLang="en-US" sz="2800" b="1" dirty="0">
                <a:solidFill>
                  <a:srgbClr val="FF0000"/>
                </a:solidFill>
                <a:cs typeface="Times New Roman" panose="02020603050405020304" pitchFamily="18" charset="0"/>
              </a:rPr>
              <a:t>one unique frequency </a:t>
            </a:r>
            <a:r>
              <a:rPr lang="en-US" altLang="en-US" sz="2800" dirty="0">
                <a:solidFill>
                  <a:srgbClr val="0070C0"/>
                </a:solidFill>
                <a:cs typeface="Times New Roman" panose="02020603050405020304" pitchFamily="18" charset="0"/>
              </a:rPr>
              <a:t>for communication </a:t>
            </a:r>
            <a:r>
              <a:rPr lang="en-US" altLang="en-US" sz="2800" dirty="0">
                <a:cs typeface="Times New Roman" panose="02020603050405020304" pitchFamily="18" charset="0"/>
              </a:rPr>
              <a:t>between the transmitter and receiver.</a:t>
            </a:r>
          </a:p>
          <a:p>
            <a:pPr>
              <a:spcBef>
                <a:spcPct val="0"/>
              </a:spcBef>
              <a:buSzTx/>
            </a:pPr>
            <a:endParaRPr lang="en-US" altLang="en-US" sz="1200" dirty="0">
              <a:cs typeface="Times New Roman" panose="02020603050405020304" pitchFamily="18" charset="0"/>
            </a:endParaRPr>
          </a:p>
          <a:p>
            <a:pPr marL="342900" indent="-342900">
              <a:spcBef>
                <a:spcPct val="0"/>
              </a:spcBef>
              <a:buSzTx/>
              <a:buFont typeface="Arial" panose="020B0604020202020204" pitchFamily="34" charset="0"/>
              <a:buChar char="•"/>
            </a:pPr>
            <a:r>
              <a:rPr lang="en-SG" altLang="en-US" sz="2800" dirty="0">
                <a:cs typeface="Times New Roman" panose="02020603050405020304" pitchFamily="18" charset="0"/>
              </a:rPr>
              <a:t>If there are multiple transmitters and one receiver, different transmitter will transmit by different frequency to the receiver.</a:t>
            </a:r>
            <a:endParaRPr lang="en-US" altLang="en-US" sz="2800" dirty="0">
              <a:cs typeface="Times New Roman" panose="02020603050405020304" pitchFamily="18" charset="0"/>
            </a:endParaRPr>
          </a:p>
        </p:txBody>
      </p:sp>
      <p:pic>
        <p:nvPicPr>
          <p:cNvPr id="6" name="Pg20">
            <a:hlinkClick r:id="" action="ppaction://media"/>
            <a:extLst>
              <a:ext uri="{FF2B5EF4-FFF2-40B4-BE49-F238E27FC236}">
                <a16:creationId xmlns:a16="http://schemas.microsoft.com/office/drawing/2014/main" id="{EA8CC149-8751-4ABE-B8CC-F02A041654D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943475" y="5517786"/>
            <a:ext cx="609600" cy="609600"/>
          </a:xfrm>
          <a:prstGeom prst="rect">
            <a:avLst/>
          </a:prstGeom>
        </p:spPr>
      </p:pic>
      <p:sp>
        <p:nvSpPr>
          <p:cNvPr id="2" name="Rectangle 1">
            <a:extLst>
              <a:ext uri="{FF2B5EF4-FFF2-40B4-BE49-F238E27FC236}">
                <a16:creationId xmlns:a16="http://schemas.microsoft.com/office/drawing/2014/main" id="{D9D79AE0-FA54-4BC5-8BBD-4BC459FD75BE}"/>
              </a:ext>
            </a:extLst>
          </p:cNvPr>
          <p:cNvSpPr/>
          <p:nvPr/>
        </p:nvSpPr>
        <p:spPr>
          <a:xfrm>
            <a:off x="715472" y="1302085"/>
            <a:ext cx="6547049" cy="523220"/>
          </a:xfrm>
          <a:prstGeom prst="rect">
            <a:avLst/>
          </a:prstGeom>
        </p:spPr>
        <p:txBody>
          <a:bodyPr wrap="none">
            <a:spAutoFit/>
          </a:bodyPr>
          <a:lstStyle/>
          <a:p>
            <a:r>
              <a:rPr lang="en-SG" sz="2800" b="1" dirty="0">
                <a:solidFill>
                  <a:srgbClr val="00B050"/>
                </a:solidFill>
                <a:latin typeface="Calibri" panose="020F0502020204030204" pitchFamily="34" charset="0"/>
                <a:cs typeface="Calibri" panose="020F0502020204030204" pitchFamily="34" charset="0"/>
              </a:rPr>
              <a:t>F</a:t>
            </a:r>
            <a:r>
              <a:rPr lang="en-SG" sz="2800" dirty="0">
                <a:latin typeface="Calibri" panose="020F0502020204030204" pitchFamily="34" charset="0"/>
                <a:cs typeface="Calibri" panose="020F0502020204030204" pitchFamily="34" charset="0"/>
              </a:rPr>
              <a:t>requency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FDMA</a:t>
            </a:r>
            <a:r>
              <a:rPr lang="en-SG" sz="2800" dirty="0">
                <a:latin typeface="Calibri" panose="020F0502020204030204" pitchFamily="34" charset="0"/>
                <a:cs typeface="Calibri" panose="020F0502020204030204" pitchFamily="34" charset="0"/>
              </a:rPr>
              <a:t>)</a:t>
            </a:r>
            <a:endParaRPr lang="en-US" sz="2800" dirty="0"/>
          </a:p>
        </p:txBody>
      </p:sp>
      <p:sp>
        <p:nvSpPr>
          <p:cNvPr id="3" name="Rectangle 2">
            <a:extLst>
              <a:ext uri="{FF2B5EF4-FFF2-40B4-BE49-F238E27FC236}">
                <a16:creationId xmlns:a16="http://schemas.microsoft.com/office/drawing/2014/main" id="{3C53F000-0B23-E49D-0204-72A6D26031B2}"/>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53687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03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6" name="Rectangle 52"/>
          <p:cNvSpPr>
            <a:spLocks noChangeArrowheads="1"/>
          </p:cNvSpPr>
          <p:nvPr/>
        </p:nvSpPr>
        <p:spPr bwMode="auto">
          <a:xfrm>
            <a:off x="4627255" y="3600874"/>
            <a:ext cx="54451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2" name="Group 1"/>
          <p:cNvGrpSpPr/>
          <p:nvPr/>
        </p:nvGrpSpPr>
        <p:grpSpPr>
          <a:xfrm>
            <a:off x="1526634" y="1754484"/>
            <a:ext cx="3460583" cy="2835416"/>
            <a:chOff x="1758951" y="2157907"/>
            <a:chExt cx="3460583" cy="2835416"/>
          </a:xfrm>
        </p:grpSpPr>
        <p:sp>
          <p:nvSpPr>
            <p:cNvPr id="17413" name="Rectangle 45"/>
            <p:cNvSpPr>
              <a:spLocks noChangeArrowheads="1"/>
            </p:cNvSpPr>
            <p:nvPr/>
          </p:nvSpPr>
          <p:spPr bwMode="auto">
            <a:xfrm>
              <a:off x="2004297" y="2392341"/>
              <a:ext cx="3206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 </a:t>
              </a:r>
              <a:endParaRPr lang="en-US" altLang="en-US" sz="1400">
                <a:latin typeface="Arial" panose="020B0604020202020204" pitchFamily="34" charset="0"/>
              </a:endParaRPr>
            </a:p>
          </p:txBody>
        </p:sp>
        <p:grpSp>
          <p:nvGrpSpPr>
            <p:cNvPr id="17414" name="Group 48"/>
            <p:cNvGrpSpPr>
              <a:grpSpLocks/>
            </p:cNvGrpSpPr>
            <p:nvPr/>
          </p:nvGrpSpPr>
          <p:grpSpPr bwMode="auto">
            <a:xfrm>
              <a:off x="2498010" y="2400279"/>
              <a:ext cx="98425" cy="1704975"/>
              <a:chOff x="649" y="1635"/>
              <a:chExt cx="62" cy="1074"/>
            </a:xfrm>
          </p:grpSpPr>
          <p:sp>
            <p:nvSpPr>
              <p:cNvPr id="17701" name="Line 46"/>
              <p:cNvSpPr>
                <a:spLocks noChangeShapeType="1"/>
              </p:cNvSpPr>
              <p:nvPr/>
            </p:nvSpPr>
            <p:spPr bwMode="auto">
              <a:xfrm flipV="1">
                <a:off x="680" y="1695"/>
                <a:ext cx="1" cy="10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702" name="Freeform 47"/>
              <p:cNvSpPr>
                <a:spLocks/>
              </p:cNvSpPr>
              <p:nvPr/>
            </p:nvSpPr>
            <p:spPr bwMode="auto">
              <a:xfrm>
                <a:off x="649" y="1635"/>
                <a:ext cx="62" cy="63"/>
              </a:xfrm>
              <a:custGeom>
                <a:avLst/>
                <a:gdLst>
                  <a:gd name="T0" fmla="*/ 7 w 125"/>
                  <a:gd name="T1" fmla="*/ 8 h 126"/>
                  <a:gd name="T2" fmla="*/ 3 w 125"/>
                  <a:gd name="T3" fmla="*/ 0 h 126"/>
                  <a:gd name="T4" fmla="*/ 0 w 125"/>
                  <a:gd name="T5" fmla="*/ 8 h 126"/>
                  <a:gd name="T6" fmla="*/ 7 w 125"/>
                  <a:gd name="T7" fmla="*/ 8 h 126"/>
                  <a:gd name="T8" fmla="*/ 0 60000 65536"/>
                  <a:gd name="T9" fmla="*/ 0 60000 65536"/>
                  <a:gd name="T10" fmla="*/ 0 60000 65536"/>
                  <a:gd name="T11" fmla="*/ 0 60000 65536"/>
                  <a:gd name="T12" fmla="*/ 0 w 125"/>
                  <a:gd name="T13" fmla="*/ 0 h 126"/>
                  <a:gd name="T14" fmla="*/ 125 w 125"/>
                  <a:gd name="T15" fmla="*/ 126 h 126"/>
                </a:gdLst>
                <a:ahLst/>
                <a:cxnLst>
                  <a:cxn ang="T8">
                    <a:pos x="T0" y="T1"/>
                  </a:cxn>
                  <a:cxn ang="T9">
                    <a:pos x="T2" y="T3"/>
                  </a:cxn>
                  <a:cxn ang="T10">
                    <a:pos x="T4" y="T5"/>
                  </a:cxn>
                  <a:cxn ang="T11">
                    <a:pos x="T6" y="T7"/>
                  </a:cxn>
                </a:cxnLst>
                <a:rect l="T12" t="T13" r="T14" b="T15"/>
                <a:pathLst>
                  <a:path w="125" h="126">
                    <a:moveTo>
                      <a:pt x="125" y="126"/>
                    </a:moveTo>
                    <a:lnTo>
                      <a:pt x="61" y="0"/>
                    </a:lnTo>
                    <a:lnTo>
                      <a:pt x="0" y="126"/>
                    </a:lnTo>
                    <a:lnTo>
                      <a:pt x="125"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7415" name="Group 51"/>
            <p:cNvGrpSpPr>
              <a:grpSpLocks/>
            </p:cNvGrpSpPr>
            <p:nvPr/>
          </p:nvGrpSpPr>
          <p:grpSpPr bwMode="auto">
            <a:xfrm>
              <a:off x="2547223" y="4065566"/>
              <a:ext cx="2505075" cy="100012"/>
              <a:chOff x="680" y="2684"/>
              <a:chExt cx="1578" cy="63"/>
            </a:xfrm>
          </p:grpSpPr>
          <p:sp>
            <p:nvSpPr>
              <p:cNvPr id="17699" name="Line 49"/>
              <p:cNvSpPr>
                <a:spLocks noChangeShapeType="1"/>
              </p:cNvSpPr>
              <p:nvPr/>
            </p:nvSpPr>
            <p:spPr bwMode="auto">
              <a:xfrm>
                <a:off x="680" y="2715"/>
                <a:ext cx="151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700" name="Freeform 50"/>
              <p:cNvSpPr>
                <a:spLocks/>
              </p:cNvSpPr>
              <p:nvPr/>
            </p:nvSpPr>
            <p:spPr bwMode="auto">
              <a:xfrm>
                <a:off x="2195" y="2684"/>
                <a:ext cx="63" cy="63"/>
              </a:xfrm>
              <a:custGeom>
                <a:avLst/>
                <a:gdLst>
                  <a:gd name="T0" fmla="*/ 0 w 125"/>
                  <a:gd name="T1" fmla="*/ 8 h 125"/>
                  <a:gd name="T2" fmla="*/ 8 w 125"/>
                  <a:gd name="T3" fmla="*/ 4 h 125"/>
                  <a:gd name="T4" fmla="*/ 0 w 125"/>
                  <a:gd name="T5" fmla="*/ 0 h 125"/>
                  <a:gd name="T6" fmla="*/ 0 w 125"/>
                  <a:gd name="T7" fmla="*/ 8 h 125"/>
                  <a:gd name="T8" fmla="*/ 0 60000 65536"/>
                  <a:gd name="T9" fmla="*/ 0 60000 65536"/>
                  <a:gd name="T10" fmla="*/ 0 60000 65536"/>
                  <a:gd name="T11" fmla="*/ 0 60000 65536"/>
                  <a:gd name="T12" fmla="*/ 0 w 125"/>
                  <a:gd name="T13" fmla="*/ 0 h 125"/>
                  <a:gd name="T14" fmla="*/ 125 w 125"/>
                  <a:gd name="T15" fmla="*/ 125 h 125"/>
                </a:gdLst>
                <a:ahLst/>
                <a:cxnLst>
                  <a:cxn ang="T8">
                    <a:pos x="T0" y="T1"/>
                  </a:cxn>
                  <a:cxn ang="T9">
                    <a:pos x="T2" y="T3"/>
                  </a:cxn>
                  <a:cxn ang="T10">
                    <a:pos x="T4" y="T5"/>
                  </a:cxn>
                  <a:cxn ang="T11">
                    <a:pos x="T6" y="T7"/>
                  </a:cxn>
                </a:cxnLst>
                <a:rect l="T12" t="T13" r="T14" b="T15"/>
                <a:pathLst>
                  <a:path w="125" h="125">
                    <a:moveTo>
                      <a:pt x="0" y="125"/>
                    </a:moveTo>
                    <a:lnTo>
                      <a:pt x="125" y="64"/>
                    </a:lnTo>
                    <a:lnTo>
                      <a:pt x="0" y="0"/>
                    </a:lnTo>
                    <a:lnTo>
                      <a:pt x="0" y="1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17" name="Rectangle 53"/>
            <p:cNvSpPr>
              <a:spLocks noChangeArrowheads="1"/>
            </p:cNvSpPr>
            <p:nvPr/>
          </p:nvSpPr>
          <p:spPr bwMode="auto">
            <a:xfrm>
              <a:off x="4847509" y="4232253"/>
              <a:ext cx="3720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Time</a:t>
              </a:r>
              <a:endParaRPr lang="en-US" altLang="en-US" sz="1400" dirty="0">
                <a:latin typeface="Arial" panose="020B0604020202020204" pitchFamily="34" charset="0"/>
              </a:endParaRPr>
            </a:p>
          </p:txBody>
        </p:sp>
        <p:sp>
          <p:nvSpPr>
            <p:cNvPr id="17418" name="Rectangle 54"/>
            <p:cNvSpPr>
              <a:spLocks noChangeArrowheads="1"/>
            </p:cNvSpPr>
            <p:nvPr/>
          </p:nvSpPr>
          <p:spPr bwMode="auto">
            <a:xfrm>
              <a:off x="5114209" y="4232253"/>
              <a:ext cx="3206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 </a:t>
              </a:r>
              <a:endParaRPr lang="en-US" altLang="en-US" sz="1400">
                <a:latin typeface="Arial" panose="020B0604020202020204" pitchFamily="34" charset="0"/>
              </a:endParaRPr>
            </a:p>
          </p:txBody>
        </p:sp>
        <p:sp>
          <p:nvSpPr>
            <p:cNvPr id="17419" name="Rectangle 57"/>
            <p:cNvSpPr>
              <a:spLocks noChangeArrowheads="1"/>
            </p:cNvSpPr>
            <p:nvPr/>
          </p:nvSpPr>
          <p:spPr bwMode="auto">
            <a:xfrm>
              <a:off x="3552109" y="3825853"/>
              <a:ext cx="3206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 </a:t>
              </a:r>
              <a:endParaRPr lang="en-US" altLang="en-US" sz="1400">
                <a:latin typeface="Arial" panose="020B0604020202020204" pitchFamily="34" charset="0"/>
              </a:endParaRPr>
            </a:p>
          </p:txBody>
        </p:sp>
        <p:sp>
          <p:nvSpPr>
            <p:cNvPr id="17420" name="Rectangle 60"/>
            <p:cNvSpPr>
              <a:spLocks noChangeArrowheads="1"/>
            </p:cNvSpPr>
            <p:nvPr/>
          </p:nvSpPr>
          <p:spPr bwMode="auto">
            <a:xfrm>
              <a:off x="3715622" y="3443266"/>
              <a:ext cx="3206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 </a:t>
              </a:r>
              <a:endParaRPr lang="en-US" altLang="en-US" sz="1400">
                <a:latin typeface="Arial" panose="020B0604020202020204" pitchFamily="34" charset="0"/>
              </a:endParaRPr>
            </a:p>
          </p:txBody>
        </p:sp>
        <p:sp>
          <p:nvSpPr>
            <p:cNvPr id="17421" name="Rectangle 63"/>
            <p:cNvSpPr>
              <a:spLocks noChangeArrowheads="1"/>
            </p:cNvSpPr>
            <p:nvPr/>
          </p:nvSpPr>
          <p:spPr bwMode="auto">
            <a:xfrm>
              <a:off x="4226797" y="3100366"/>
              <a:ext cx="3206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 </a:t>
              </a:r>
              <a:endParaRPr lang="en-US" altLang="en-US" sz="1400">
                <a:latin typeface="Arial" panose="020B0604020202020204" pitchFamily="34" charset="0"/>
              </a:endParaRPr>
            </a:p>
          </p:txBody>
        </p:sp>
        <p:sp>
          <p:nvSpPr>
            <p:cNvPr id="17423" name="Rectangle 65"/>
            <p:cNvSpPr>
              <a:spLocks noChangeArrowheads="1"/>
            </p:cNvSpPr>
            <p:nvPr/>
          </p:nvSpPr>
          <p:spPr bwMode="auto">
            <a:xfrm>
              <a:off x="2364926" y="3598701"/>
              <a:ext cx="27774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latin typeface="Arial" panose="020B0604020202020204" pitchFamily="34" charset="0"/>
                </a:rPr>
                <a:t>f</a:t>
              </a:r>
              <a:r>
                <a:rPr lang="en-US" altLang="en-US" sz="1400" baseline="-25000" dirty="0">
                  <a:solidFill>
                    <a:srgbClr val="000000"/>
                  </a:solidFill>
                  <a:latin typeface="Arial" panose="020B0604020202020204" pitchFamily="34" charset="0"/>
                </a:rPr>
                <a:t>1</a:t>
              </a:r>
              <a:endParaRPr lang="en-US" altLang="en-US" sz="1400" baseline="-25000" dirty="0">
                <a:latin typeface="Arial" panose="020B0604020202020204" pitchFamily="34" charset="0"/>
              </a:endParaRPr>
            </a:p>
          </p:txBody>
        </p:sp>
        <p:sp>
          <p:nvSpPr>
            <p:cNvPr id="17426" name="Rectangle 68"/>
            <p:cNvSpPr>
              <a:spLocks noChangeArrowheads="1"/>
            </p:cNvSpPr>
            <p:nvPr/>
          </p:nvSpPr>
          <p:spPr bwMode="auto">
            <a:xfrm>
              <a:off x="1758951" y="4644073"/>
              <a:ext cx="3508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29" name="Rectangle 71"/>
            <p:cNvSpPr>
              <a:spLocks noChangeArrowheads="1"/>
            </p:cNvSpPr>
            <p:nvPr/>
          </p:nvSpPr>
          <p:spPr bwMode="auto">
            <a:xfrm>
              <a:off x="2434509" y="3490891"/>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17433" name="Rectangle 75"/>
            <p:cNvSpPr>
              <a:spLocks noChangeArrowheads="1"/>
            </p:cNvSpPr>
            <p:nvPr/>
          </p:nvSpPr>
          <p:spPr bwMode="auto">
            <a:xfrm>
              <a:off x="2434509" y="3157516"/>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17434" name="Rectangle 76"/>
            <p:cNvSpPr>
              <a:spLocks noChangeArrowheads="1"/>
            </p:cNvSpPr>
            <p:nvPr/>
          </p:nvSpPr>
          <p:spPr bwMode="auto">
            <a:xfrm>
              <a:off x="2004298" y="2590778"/>
              <a:ext cx="638175"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35" name="Rectangle 77"/>
            <p:cNvSpPr>
              <a:spLocks noChangeArrowheads="1"/>
            </p:cNvSpPr>
            <p:nvPr/>
          </p:nvSpPr>
          <p:spPr bwMode="auto">
            <a:xfrm>
              <a:off x="2176093" y="2157907"/>
              <a:ext cx="3735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Freq.</a:t>
              </a:r>
              <a:endParaRPr lang="en-US" altLang="en-US" sz="1400" dirty="0">
                <a:latin typeface="Arial" panose="020B0604020202020204" pitchFamily="34" charset="0"/>
              </a:endParaRPr>
            </a:p>
          </p:txBody>
        </p:sp>
        <p:sp>
          <p:nvSpPr>
            <p:cNvPr id="17436" name="Rectangle 78"/>
            <p:cNvSpPr>
              <a:spLocks noChangeArrowheads="1"/>
            </p:cNvSpPr>
            <p:nvPr/>
          </p:nvSpPr>
          <p:spPr bwMode="auto">
            <a:xfrm>
              <a:off x="2455147" y="2639991"/>
              <a:ext cx="3206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 </a:t>
              </a:r>
              <a:endParaRPr lang="en-US" altLang="en-US" sz="1400">
                <a:latin typeface="Arial" panose="020B0604020202020204" pitchFamily="34" charset="0"/>
              </a:endParaRPr>
            </a:p>
          </p:txBody>
        </p:sp>
      </p:grpSp>
      <p:sp>
        <p:nvSpPr>
          <p:cNvPr id="17437" name="Rectangle 82"/>
          <p:cNvSpPr>
            <a:spLocks noChangeArrowheads="1"/>
          </p:cNvSpPr>
          <p:nvPr/>
        </p:nvSpPr>
        <p:spPr bwMode="auto">
          <a:xfrm>
            <a:off x="4619317" y="3821537"/>
            <a:ext cx="3526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100" dirty="0">
                <a:solidFill>
                  <a:srgbClr val="000000"/>
                </a:solidFill>
              </a:rPr>
              <a:t> </a:t>
            </a:r>
            <a:endParaRPr lang="en-US" altLang="en-US" sz="1400" dirty="0">
              <a:latin typeface="Arial" panose="020B0604020202020204" pitchFamily="34" charset="0"/>
            </a:endParaRPr>
          </a:p>
        </p:txBody>
      </p:sp>
      <p:grpSp>
        <p:nvGrpSpPr>
          <p:cNvPr id="8" name="Group 7">
            <a:extLst>
              <a:ext uri="{FF2B5EF4-FFF2-40B4-BE49-F238E27FC236}">
                <a16:creationId xmlns:a16="http://schemas.microsoft.com/office/drawing/2014/main" id="{F86FBA7C-F2B5-48B7-94E0-C7724635584D}"/>
              </a:ext>
            </a:extLst>
          </p:cNvPr>
          <p:cNvGrpSpPr/>
          <p:nvPr/>
        </p:nvGrpSpPr>
        <p:grpSpPr>
          <a:xfrm>
            <a:off x="5551180" y="3835823"/>
            <a:ext cx="488949" cy="155576"/>
            <a:chOff x="5551180" y="3498941"/>
            <a:chExt cx="488949" cy="155576"/>
          </a:xfrm>
        </p:grpSpPr>
        <p:sp>
          <p:nvSpPr>
            <p:cNvPr id="17438" name="Freeform 83"/>
            <p:cNvSpPr>
              <a:spLocks/>
            </p:cNvSpPr>
            <p:nvPr/>
          </p:nvSpPr>
          <p:spPr bwMode="auto">
            <a:xfrm>
              <a:off x="5889317" y="3564030"/>
              <a:ext cx="150812" cy="90487"/>
            </a:xfrm>
            <a:custGeom>
              <a:avLst/>
              <a:gdLst>
                <a:gd name="T0" fmla="*/ 0 w 95"/>
                <a:gd name="T1" fmla="*/ 2147483647 h 57"/>
                <a:gd name="T2" fmla="*/ 2147483647 w 95"/>
                <a:gd name="T3" fmla="*/ 2147483647 h 57"/>
                <a:gd name="T4" fmla="*/ 2147483647 w 95"/>
                <a:gd name="T5" fmla="*/ 2147483647 h 57"/>
                <a:gd name="T6" fmla="*/ 2147483647 w 95"/>
                <a:gd name="T7" fmla="*/ 2147483647 h 57"/>
                <a:gd name="T8" fmla="*/ 2147483647 w 95"/>
                <a:gd name="T9" fmla="*/ 2147483647 h 57"/>
                <a:gd name="T10" fmla="*/ 2147483647 w 95"/>
                <a:gd name="T11" fmla="*/ 0 h 57"/>
                <a:gd name="T12" fmla="*/ 0 60000 65536"/>
                <a:gd name="T13" fmla="*/ 0 60000 65536"/>
                <a:gd name="T14" fmla="*/ 0 60000 65536"/>
                <a:gd name="T15" fmla="*/ 0 60000 65536"/>
                <a:gd name="T16" fmla="*/ 0 60000 65536"/>
                <a:gd name="T17" fmla="*/ 0 60000 65536"/>
                <a:gd name="T18" fmla="*/ 0 w 95"/>
                <a:gd name="T19" fmla="*/ 0 h 57"/>
                <a:gd name="T20" fmla="*/ 95 w 95"/>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95" h="57">
                  <a:moveTo>
                    <a:pt x="0" y="57"/>
                  </a:moveTo>
                  <a:lnTo>
                    <a:pt x="25" y="37"/>
                  </a:lnTo>
                  <a:lnTo>
                    <a:pt x="26" y="46"/>
                  </a:lnTo>
                  <a:lnTo>
                    <a:pt x="66" y="15"/>
                  </a:lnTo>
                  <a:lnTo>
                    <a:pt x="68" y="20"/>
                  </a:lnTo>
                  <a:lnTo>
                    <a:pt x="95"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39" name="Freeform 84"/>
            <p:cNvSpPr>
              <a:spLocks/>
            </p:cNvSpPr>
            <p:nvPr/>
          </p:nvSpPr>
          <p:spPr bwMode="auto">
            <a:xfrm>
              <a:off x="5821055" y="3498941"/>
              <a:ext cx="104775" cy="134938"/>
            </a:xfrm>
            <a:custGeom>
              <a:avLst/>
              <a:gdLst>
                <a:gd name="T0" fmla="*/ 0 w 66"/>
                <a:gd name="T1" fmla="*/ 2147483647 h 85"/>
                <a:gd name="T2" fmla="*/ 2147483647 w 66"/>
                <a:gd name="T3" fmla="*/ 2147483647 h 85"/>
                <a:gd name="T4" fmla="*/ 2147483647 w 66"/>
                <a:gd name="T5" fmla="*/ 2147483647 h 85"/>
                <a:gd name="T6" fmla="*/ 2147483647 w 66"/>
                <a:gd name="T7" fmla="*/ 2147483647 h 85"/>
                <a:gd name="T8" fmla="*/ 2147483647 w 66"/>
                <a:gd name="T9" fmla="*/ 2147483647 h 85"/>
                <a:gd name="T10" fmla="*/ 2147483647 w 66"/>
                <a:gd name="T11" fmla="*/ 0 h 85"/>
                <a:gd name="T12" fmla="*/ 0 60000 65536"/>
                <a:gd name="T13" fmla="*/ 0 60000 65536"/>
                <a:gd name="T14" fmla="*/ 0 60000 65536"/>
                <a:gd name="T15" fmla="*/ 0 60000 65536"/>
                <a:gd name="T16" fmla="*/ 0 60000 65536"/>
                <a:gd name="T17" fmla="*/ 0 60000 65536"/>
                <a:gd name="T18" fmla="*/ 0 w 66"/>
                <a:gd name="T19" fmla="*/ 0 h 85"/>
                <a:gd name="T20" fmla="*/ 66 w 66"/>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66" h="85">
                  <a:moveTo>
                    <a:pt x="0" y="85"/>
                  </a:moveTo>
                  <a:lnTo>
                    <a:pt x="9" y="61"/>
                  </a:lnTo>
                  <a:lnTo>
                    <a:pt x="21" y="68"/>
                  </a:lnTo>
                  <a:lnTo>
                    <a:pt x="42" y="24"/>
                  </a:lnTo>
                  <a:lnTo>
                    <a:pt x="51" y="29"/>
                  </a:lnTo>
                  <a:lnTo>
                    <a:pt x="66"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40" name="Freeform 85"/>
            <p:cNvSpPr>
              <a:spLocks/>
            </p:cNvSpPr>
            <p:nvPr/>
          </p:nvSpPr>
          <p:spPr bwMode="auto">
            <a:xfrm>
              <a:off x="5663892" y="3498941"/>
              <a:ext cx="106362" cy="134938"/>
            </a:xfrm>
            <a:custGeom>
              <a:avLst/>
              <a:gdLst>
                <a:gd name="T0" fmla="*/ 2147483647 w 67"/>
                <a:gd name="T1" fmla="*/ 2147483647 h 85"/>
                <a:gd name="T2" fmla="*/ 2147483647 w 67"/>
                <a:gd name="T3" fmla="*/ 2147483647 h 85"/>
                <a:gd name="T4" fmla="*/ 2147483647 w 67"/>
                <a:gd name="T5" fmla="*/ 2147483647 h 85"/>
                <a:gd name="T6" fmla="*/ 2147483647 w 67"/>
                <a:gd name="T7" fmla="*/ 2147483647 h 85"/>
                <a:gd name="T8" fmla="*/ 2147483647 w 67"/>
                <a:gd name="T9" fmla="*/ 2147483647 h 85"/>
                <a:gd name="T10" fmla="*/ 0 w 67"/>
                <a:gd name="T11" fmla="*/ 0 h 85"/>
                <a:gd name="T12" fmla="*/ 0 60000 65536"/>
                <a:gd name="T13" fmla="*/ 0 60000 65536"/>
                <a:gd name="T14" fmla="*/ 0 60000 65536"/>
                <a:gd name="T15" fmla="*/ 0 60000 65536"/>
                <a:gd name="T16" fmla="*/ 0 60000 65536"/>
                <a:gd name="T17" fmla="*/ 0 60000 65536"/>
                <a:gd name="T18" fmla="*/ 0 w 67"/>
                <a:gd name="T19" fmla="*/ 0 h 85"/>
                <a:gd name="T20" fmla="*/ 67 w 67"/>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67" h="85">
                  <a:moveTo>
                    <a:pt x="67" y="85"/>
                  </a:moveTo>
                  <a:lnTo>
                    <a:pt x="57" y="62"/>
                  </a:lnTo>
                  <a:lnTo>
                    <a:pt x="44" y="69"/>
                  </a:lnTo>
                  <a:lnTo>
                    <a:pt x="23" y="24"/>
                  </a:lnTo>
                  <a:lnTo>
                    <a:pt x="15" y="30"/>
                  </a:lnTo>
                  <a:lnTo>
                    <a:pt x="0"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41" name="Freeform 86"/>
            <p:cNvSpPr>
              <a:spLocks/>
            </p:cNvSpPr>
            <p:nvPr/>
          </p:nvSpPr>
          <p:spPr bwMode="auto">
            <a:xfrm>
              <a:off x="5551180" y="3564030"/>
              <a:ext cx="149225" cy="90487"/>
            </a:xfrm>
            <a:custGeom>
              <a:avLst/>
              <a:gdLst>
                <a:gd name="T0" fmla="*/ 2147483647 w 94"/>
                <a:gd name="T1" fmla="*/ 2147483647 h 57"/>
                <a:gd name="T2" fmla="*/ 2147483647 w 94"/>
                <a:gd name="T3" fmla="*/ 2147483647 h 57"/>
                <a:gd name="T4" fmla="*/ 2147483647 w 94"/>
                <a:gd name="T5" fmla="*/ 2147483647 h 57"/>
                <a:gd name="T6" fmla="*/ 2147483647 w 94"/>
                <a:gd name="T7" fmla="*/ 2147483647 h 57"/>
                <a:gd name="T8" fmla="*/ 2147483647 w 94"/>
                <a:gd name="T9" fmla="*/ 2147483647 h 57"/>
                <a:gd name="T10" fmla="*/ 0 w 94"/>
                <a:gd name="T11" fmla="*/ 0 h 57"/>
                <a:gd name="T12" fmla="*/ 0 60000 65536"/>
                <a:gd name="T13" fmla="*/ 0 60000 65536"/>
                <a:gd name="T14" fmla="*/ 0 60000 65536"/>
                <a:gd name="T15" fmla="*/ 0 60000 65536"/>
                <a:gd name="T16" fmla="*/ 0 60000 65536"/>
                <a:gd name="T17" fmla="*/ 0 60000 65536"/>
                <a:gd name="T18" fmla="*/ 0 w 94"/>
                <a:gd name="T19" fmla="*/ 0 h 57"/>
                <a:gd name="T20" fmla="*/ 94 w 94"/>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94" h="57">
                  <a:moveTo>
                    <a:pt x="94" y="57"/>
                  </a:moveTo>
                  <a:lnTo>
                    <a:pt x="69" y="36"/>
                  </a:lnTo>
                  <a:lnTo>
                    <a:pt x="69" y="45"/>
                  </a:lnTo>
                  <a:lnTo>
                    <a:pt x="30" y="13"/>
                  </a:lnTo>
                  <a:lnTo>
                    <a:pt x="27" y="21"/>
                  </a:lnTo>
                  <a:lnTo>
                    <a:pt x="0"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442" name="Line 87"/>
          <p:cNvSpPr>
            <a:spLocks noChangeShapeType="1"/>
          </p:cNvSpPr>
          <p:nvPr/>
        </p:nvSpPr>
        <p:spPr bwMode="auto">
          <a:xfrm>
            <a:off x="5784542" y="4272387"/>
            <a:ext cx="30162" cy="158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7443" name="Group 102"/>
          <p:cNvGrpSpPr>
            <a:grpSpLocks/>
          </p:cNvGrpSpPr>
          <p:nvPr/>
        </p:nvGrpSpPr>
        <p:grpSpPr bwMode="auto">
          <a:xfrm>
            <a:off x="5749528" y="4007286"/>
            <a:ext cx="96835" cy="739777"/>
            <a:chOff x="2778" y="3013"/>
            <a:chExt cx="61" cy="466"/>
          </a:xfrm>
        </p:grpSpPr>
        <p:sp>
          <p:nvSpPr>
            <p:cNvPr id="17685" name="Line 88"/>
            <p:cNvSpPr>
              <a:spLocks noChangeShapeType="1"/>
            </p:cNvSpPr>
            <p:nvPr/>
          </p:nvSpPr>
          <p:spPr bwMode="auto">
            <a:xfrm flipV="1">
              <a:off x="2809" y="3020"/>
              <a:ext cx="1" cy="93"/>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86" name="Line 89"/>
            <p:cNvSpPr>
              <a:spLocks noChangeShapeType="1"/>
            </p:cNvSpPr>
            <p:nvPr/>
          </p:nvSpPr>
          <p:spPr bwMode="auto">
            <a:xfrm flipV="1">
              <a:off x="2778" y="3111"/>
              <a:ext cx="24" cy="368"/>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87" name="Line 90"/>
            <p:cNvSpPr>
              <a:spLocks noChangeShapeType="1"/>
            </p:cNvSpPr>
            <p:nvPr/>
          </p:nvSpPr>
          <p:spPr bwMode="auto">
            <a:xfrm>
              <a:off x="2815" y="3112"/>
              <a:ext cx="24" cy="36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88" name="Line 91"/>
            <p:cNvSpPr>
              <a:spLocks noChangeShapeType="1"/>
            </p:cNvSpPr>
            <p:nvPr/>
          </p:nvSpPr>
          <p:spPr bwMode="auto">
            <a:xfrm>
              <a:off x="2780" y="3469"/>
              <a:ext cx="5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89" name="Line 92"/>
            <p:cNvSpPr>
              <a:spLocks noChangeShapeType="1"/>
            </p:cNvSpPr>
            <p:nvPr/>
          </p:nvSpPr>
          <p:spPr bwMode="auto">
            <a:xfrm>
              <a:off x="2786" y="3369"/>
              <a:ext cx="47"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90" name="Line 93"/>
            <p:cNvSpPr>
              <a:spLocks noChangeShapeType="1"/>
            </p:cNvSpPr>
            <p:nvPr/>
          </p:nvSpPr>
          <p:spPr bwMode="auto">
            <a:xfrm>
              <a:off x="2786" y="3370"/>
              <a:ext cx="51" cy="10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91" name="Line 94"/>
            <p:cNvSpPr>
              <a:spLocks noChangeShapeType="1"/>
            </p:cNvSpPr>
            <p:nvPr/>
          </p:nvSpPr>
          <p:spPr bwMode="auto">
            <a:xfrm flipH="1">
              <a:off x="2781" y="3369"/>
              <a:ext cx="50" cy="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92" name="Line 95"/>
            <p:cNvSpPr>
              <a:spLocks noChangeShapeType="1"/>
            </p:cNvSpPr>
            <p:nvPr/>
          </p:nvSpPr>
          <p:spPr bwMode="auto">
            <a:xfrm>
              <a:off x="2794" y="3270"/>
              <a:ext cx="3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93" name="Line 96"/>
            <p:cNvSpPr>
              <a:spLocks noChangeShapeType="1"/>
            </p:cNvSpPr>
            <p:nvPr/>
          </p:nvSpPr>
          <p:spPr bwMode="auto">
            <a:xfrm>
              <a:off x="2793" y="3270"/>
              <a:ext cx="38" cy="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94" name="Line 97"/>
            <p:cNvSpPr>
              <a:spLocks noChangeShapeType="1"/>
            </p:cNvSpPr>
            <p:nvPr/>
          </p:nvSpPr>
          <p:spPr bwMode="auto">
            <a:xfrm flipV="1">
              <a:off x="2785" y="3270"/>
              <a:ext cx="40" cy="9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95" name="Line 98"/>
            <p:cNvSpPr>
              <a:spLocks noChangeShapeType="1"/>
            </p:cNvSpPr>
            <p:nvPr/>
          </p:nvSpPr>
          <p:spPr bwMode="auto">
            <a:xfrm>
              <a:off x="2797" y="3180"/>
              <a:ext cx="29" cy="9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96" name="Line 99"/>
            <p:cNvSpPr>
              <a:spLocks noChangeShapeType="1"/>
            </p:cNvSpPr>
            <p:nvPr/>
          </p:nvSpPr>
          <p:spPr bwMode="auto">
            <a:xfrm flipV="1">
              <a:off x="2792" y="3179"/>
              <a:ext cx="26" cy="9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97" name="Line 100"/>
            <p:cNvSpPr>
              <a:spLocks noChangeShapeType="1"/>
            </p:cNvSpPr>
            <p:nvPr/>
          </p:nvSpPr>
          <p:spPr bwMode="auto">
            <a:xfrm flipV="1">
              <a:off x="2796" y="3112"/>
              <a:ext cx="19" cy="7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98" name="Oval 101"/>
            <p:cNvSpPr>
              <a:spLocks noChangeArrowheads="1"/>
            </p:cNvSpPr>
            <p:nvPr/>
          </p:nvSpPr>
          <p:spPr bwMode="auto">
            <a:xfrm>
              <a:off x="2801" y="3013"/>
              <a:ext cx="17" cy="12"/>
            </a:xfrm>
            <a:prstGeom prst="ellipse">
              <a:avLst/>
            </a:prstGeom>
            <a:solidFill>
              <a:srgbClr val="000000"/>
            </a:solidFill>
            <a:ln w="9525">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sp>
        <p:nvSpPr>
          <p:cNvPr id="17446" name="Rectangle 313"/>
          <p:cNvSpPr>
            <a:spLocks noChangeArrowheads="1"/>
          </p:cNvSpPr>
          <p:nvPr/>
        </p:nvSpPr>
        <p:spPr bwMode="auto">
          <a:xfrm>
            <a:off x="5198754" y="4350173"/>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17447" name="Rectangle 314"/>
          <p:cNvSpPr>
            <a:spLocks noChangeArrowheads="1"/>
          </p:cNvSpPr>
          <p:nvPr/>
        </p:nvSpPr>
        <p:spPr bwMode="auto">
          <a:xfrm>
            <a:off x="5649604" y="4815311"/>
            <a:ext cx="3175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49" name="Rectangle 317"/>
          <p:cNvSpPr>
            <a:spLocks noChangeArrowheads="1"/>
          </p:cNvSpPr>
          <p:nvPr/>
        </p:nvSpPr>
        <p:spPr bwMode="auto">
          <a:xfrm>
            <a:off x="5841692" y="4937548"/>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17452" name="Rectangle 321"/>
          <p:cNvSpPr>
            <a:spLocks noChangeArrowheads="1"/>
          </p:cNvSpPr>
          <p:nvPr/>
        </p:nvSpPr>
        <p:spPr bwMode="auto">
          <a:xfrm>
            <a:off x="6632702" y="4168689"/>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17453" name="AutoShape 36"/>
          <p:cNvSpPr>
            <a:spLocks noChangeArrowheads="1"/>
          </p:cNvSpPr>
          <p:nvPr/>
        </p:nvSpPr>
        <p:spPr bwMode="auto">
          <a:xfrm>
            <a:off x="5390843" y="2437236"/>
            <a:ext cx="4351337" cy="1016000"/>
          </a:xfrm>
          <a:prstGeom prst="parallelogram">
            <a:avLst>
              <a:gd name="adj" fmla="val 107070"/>
            </a:avLst>
          </a:prstGeom>
          <a:solidFill>
            <a:srgbClr val="FFCCCC"/>
          </a:solidFill>
          <a:ln w="9525">
            <a:solidFill>
              <a:srgbClr val="000000"/>
            </a:solidFill>
            <a:miter lim="800000"/>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5" name="Group 324"/>
          <p:cNvGrpSpPr>
            <a:grpSpLocks/>
          </p:cNvGrpSpPr>
          <p:nvPr/>
        </p:nvGrpSpPr>
        <p:grpSpPr bwMode="auto">
          <a:xfrm>
            <a:off x="3252480" y="2423797"/>
            <a:ext cx="5205413" cy="2432050"/>
            <a:chOff x="1112" y="2043"/>
            <a:chExt cx="3279" cy="1532"/>
          </a:xfrm>
        </p:grpSpPr>
        <p:grpSp>
          <p:nvGrpSpPr>
            <p:cNvPr id="17611" name="Group 81"/>
            <p:cNvGrpSpPr>
              <a:grpSpLocks/>
            </p:cNvGrpSpPr>
            <p:nvPr/>
          </p:nvGrpSpPr>
          <p:grpSpPr bwMode="auto">
            <a:xfrm>
              <a:off x="1112" y="2043"/>
              <a:ext cx="1044" cy="152"/>
              <a:chOff x="1112" y="2043"/>
              <a:chExt cx="1044" cy="152"/>
            </a:xfrm>
          </p:grpSpPr>
          <p:sp>
            <p:nvSpPr>
              <p:cNvPr id="17683" name="Rectangle 61" descr="Wide upward diagonal"/>
              <p:cNvSpPr>
                <a:spLocks noChangeArrowheads="1"/>
              </p:cNvSpPr>
              <p:nvPr/>
            </p:nvSpPr>
            <p:spPr bwMode="auto">
              <a:xfrm>
                <a:off x="1112" y="2043"/>
                <a:ext cx="1044" cy="152"/>
              </a:xfrm>
              <a:prstGeom prst="rect">
                <a:avLst/>
              </a:prstGeom>
              <a:pattFill prst="wdUpDiag">
                <a:fgClr>
                  <a:srgbClr val="FFCC99"/>
                </a:fgClr>
                <a:bgClr>
                  <a:srgbClr val="FFFFFF"/>
                </a:bgClr>
              </a:pattFill>
              <a:ln w="9525">
                <a:solidFill>
                  <a:srgbClr val="000000"/>
                </a:solidFill>
                <a:miter lim="800000"/>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84" name="Rectangle 62"/>
              <p:cNvSpPr>
                <a:spLocks noChangeArrowheads="1"/>
              </p:cNvSpPr>
              <p:nvPr/>
            </p:nvSpPr>
            <p:spPr bwMode="auto">
              <a:xfrm>
                <a:off x="1506" y="2048"/>
                <a:ext cx="29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User 3</a:t>
                </a:r>
                <a:endParaRPr lang="en-US" altLang="en-US" sz="1400" dirty="0">
                  <a:latin typeface="Arial" panose="020B0604020202020204" pitchFamily="34" charset="0"/>
                </a:endParaRPr>
              </a:p>
            </p:txBody>
          </p:sp>
        </p:grpSp>
        <p:grpSp>
          <p:nvGrpSpPr>
            <p:cNvPr id="17612" name="Group 300"/>
            <p:cNvGrpSpPr>
              <a:grpSpLocks/>
            </p:cNvGrpSpPr>
            <p:nvPr/>
          </p:nvGrpSpPr>
          <p:grpSpPr bwMode="auto">
            <a:xfrm>
              <a:off x="3390" y="3298"/>
              <a:ext cx="193" cy="277"/>
              <a:chOff x="3390" y="3298"/>
              <a:chExt cx="193" cy="277"/>
            </a:xfrm>
          </p:grpSpPr>
          <p:sp>
            <p:nvSpPr>
              <p:cNvPr id="17618" name="Rectangle 235"/>
              <p:cNvSpPr>
                <a:spLocks noChangeArrowheads="1"/>
              </p:cNvSpPr>
              <p:nvPr/>
            </p:nvSpPr>
            <p:spPr bwMode="auto">
              <a:xfrm>
                <a:off x="3390" y="3298"/>
                <a:ext cx="193" cy="277"/>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7619" name="Group 299"/>
              <p:cNvGrpSpPr>
                <a:grpSpLocks/>
              </p:cNvGrpSpPr>
              <p:nvPr/>
            </p:nvGrpSpPr>
            <p:grpSpPr bwMode="auto">
              <a:xfrm>
                <a:off x="3392" y="3299"/>
                <a:ext cx="191" cy="274"/>
                <a:chOff x="3392" y="3299"/>
                <a:chExt cx="191" cy="274"/>
              </a:xfrm>
            </p:grpSpPr>
            <p:grpSp>
              <p:nvGrpSpPr>
                <p:cNvPr id="17620" name="Group 246"/>
                <p:cNvGrpSpPr>
                  <a:grpSpLocks/>
                </p:cNvGrpSpPr>
                <p:nvPr/>
              </p:nvGrpSpPr>
              <p:grpSpPr bwMode="auto">
                <a:xfrm>
                  <a:off x="3392" y="3356"/>
                  <a:ext cx="165" cy="197"/>
                  <a:chOff x="3392" y="3356"/>
                  <a:chExt cx="165" cy="197"/>
                </a:xfrm>
              </p:grpSpPr>
              <p:sp>
                <p:nvSpPr>
                  <p:cNvPr id="17673" name="Freeform 236"/>
                  <p:cNvSpPr>
                    <a:spLocks/>
                  </p:cNvSpPr>
                  <p:nvPr/>
                </p:nvSpPr>
                <p:spPr bwMode="auto">
                  <a:xfrm>
                    <a:off x="3392" y="3356"/>
                    <a:ext cx="165"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200" y="1522"/>
                        </a:lnTo>
                        <a:lnTo>
                          <a:pt x="162" y="1459"/>
                        </a:lnTo>
                        <a:lnTo>
                          <a:pt x="153" y="1439"/>
                        </a:lnTo>
                        <a:lnTo>
                          <a:pt x="126" y="1376"/>
                        </a:lnTo>
                        <a:lnTo>
                          <a:pt x="116" y="1333"/>
                        </a:lnTo>
                        <a:lnTo>
                          <a:pt x="106" y="1292"/>
                        </a:lnTo>
                        <a:lnTo>
                          <a:pt x="88" y="1229"/>
                        </a:lnTo>
                        <a:lnTo>
                          <a:pt x="70" y="1188"/>
                        </a:lnTo>
                        <a:lnTo>
                          <a:pt x="42" y="1124"/>
                        </a:lnTo>
                        <a:lnTo>
                          <a:pt x="23" y="1061"/>
                        </a:lnTo>
                        <a:lnTo>
                          <a:pt x="16" y="1022"/>
                        </a:lnTo>
                        <a:lnTo>
                          <a:pt x="4" y="935"/>
                        </a:lnTo>
                        <a:lnTo>
                          <a:pt x="1" y="872"/>
                        </a:lnTo>
                        <a:lnTo>
                          <a:pt x="0" y="792"/>
                        </a:lnTo>
                        <a:lnTo>
                          <a:pt x="14" y="724"/>
                        </a:lnTo>
                        <a:lnTo>
                          <a:pt x="32" y="693"/>
                        </a:lnTo>
                        <a:lnTo>
                          <a:pt x="50" y="677"/>
                        </a:lnTo>
                        <a:lnTo>
                          <a:pt x="68" y="669"/>
                        </a:lnTo>
                        <a:lnTo>
                          <a:pt x="88" y="661"/>
                        </a:lnTo>
                        <a:lnTo>
                          <a:pt x="106" y="661"/>
                        </a:lnTo>
                        <a:lnTo>
                          <a:pt x="106" y="613"/>
                        </a:lnTo>
                        <a:lnTo>
                          <a:pt x="101" y="591"/>
                        </a:lnTo>
                        <a:lnTo>
                          <a:pt x="98" y="555"/>
                        </a:lnTo>
                        <a:lnTo>
                          <a:pt x="105" y="534"/>
                        </a:lnTo>
                        <a:lnTo>
                          <a:pt x="106" y="515"/>
                        </a:lnTo>
                        <a:lnTo>
                          <a:pt x="120" y="477"/>
                        </a:lnTo>
                        <a:lnTo>
                          <a:pt x="134" y="451"/>
                        </a:lnTo>
                        <a:lnTo>
                          <a:pt x="156" y="419"/>
                        </a:lnTo>
                        <a:lnTo>
                          <a:pt x="184" y="388"/>
                        </a:lnTo>
                        <a:lnTo>
                          <a:pt x="217" y="361"/>
                        </a:lnTo>
                        <a:lnTo>
                          <a:pt x="245" y="336"/>
                        </a:lnTo>
                        <a:lnTo>
                          <a:pt x="279" y="326"/>
                        </a:lnTo>
                        <a:lnTo>
                          <a:pt x="312" y="320"/>
                        </a:lnTo>
                        <a:lnTo>
                          <a:pt x="344" y="326"/>
                        </a:lnTo>
                        <a:lnTo>
                          <a:pt x="374" y="336"/>
                        </a:lnTo>
                        <a:lnTo>
                          <a:pt x="411" y="346"/>
                        </a:lnTo>
                        <a:lnTo>
                          <a:pt x="420" y="326"/>
                        </a:lnTo>
                        <a:lnTo>
                          <a:pt x="427" y="268"/>
                        </a:lnTo>
                        <a:lnTo>
                          <a:pt x="439" y="220"/>
                        </a:lnTo>
                        <a:lnTo>
                          <a:pt x="461" y="184"/>
                        </a:lnTo>
                        <a:lnTo>
                          <a:pt x="487" y="160"/>
                        </a:lnTo>
                        <a:lnTo>
                          <a:pt x="522" y="148"/>
                        </a:lnTo>
                        <a:lnTo>
                          <a:pt x="560" y="136"/>
                        </a:lnTo>
                        <a:lnTo>
                          <a:pt x="616" y="125"/>
                        </a:lnTo>
                        <a:lnTo>
                          <a:pt x="651" y="125"/>
                        </a:lnTo>
                        <a:lnTo>
                          <a:pt x="661" y="104"/>
                        </a:lnTo>
                        <a:lnTo>
                          <a:pt x="679" y="62"/>
                        </a:lnTo>
                        <a:lnTo>
                          <a:pt x="707" y="31"/>
                        </a:lnTo>
                        <a:lnTo>
                          <a:pt x="744" y="10"/>
                        </a:lnTo>
                        <a:lnTo>
                          <a:pt x="800" y="0"/>
                        </a:lnTo>
                        <a:lnTo>
                          <a:pt x="855" y="0"/>
                        </a:lnTo>
                        <a:lnTo>
                          <a:pt x="928" y="4"/>
                        </a:lnTo>
                        <a:lnTo>
                          <a:pt x="967" y="6"/>
                        </a:lnTo>
                        <a:lnTo>
                          <a:pt x="994" y="10"/>
                        </a:lnTo>
                        <a:lnTo>
                          <a:pt x="1019" y="17"/>
                        </a:lnTo>
                        <a:lnTo>
                          <a:pt x="1039" y="35"/>
                        </a:lnTo>
                        <a:lnTo>
                          <a:pt x="1052" y="57"/>
                        </a:lnTo>
                        <a:lnTo>
                          <a:pt x="1062" y="86"/>
                        </a:lnTo>
                        <a:lnTo>
                          <a:pt x="1067" y="136"/>
                        </a:lnTo>
                        <a:lnTo>
                          <a:pt x="1063" y="180"/>
                        </a:lnTo>
                        <a:lnTo>
                          <a:pt x="1047" y="218"/>
                        </a:lnTo>
                        <a:lnTo>
                          <a:pt x="1027" y="239"/>
                        </a:lnTo>
                        <a:lnTo>
                          <a:pt x="1003" y="252"/>
                        </a:lnTo>
                        <a:lnTo>
                          <a:pt x="974" y="260"/>
                        </a:lnTo>
                        <a:lnTo>
                          <a:pt x="923" y="258"/>
                        </a:lnTo>
                        <a:lnTo>
                          <a:pt x="939" y="281"/>
                        </a:lnTo>
                        <a:lnTo>
                          <a:pt x="962" y="323"/>
                        </a:lnTo>
                        <a:lnTo>
                          <a:pt x="980" y="357"/>
                        </a:lnTo>
                        <a:lnTo>
                          <a:pt x="995" y="399"/>
                        </a:lnTo>
                        <a:lnTo>
                          <a:pt x="1005" y="434"/>
                        </a:lnTo>
                        <a:lnTo>
                          <a:pt x="1000" y="457"/>
                        </a:lnTo>
                        <a:lnTo>
                          <a:pt x="980" y="482"/>
                        </a:lnTo>
                        <a:lnTo>
                          <a:pt x="1003" y="526"/>
                        </a:lnTo>
                        <a:lnTo>
                          <a:pt x="1029" y="567"/>
                        </a:lnTo>
                        <a:lnTo>
                          <a:pt x="1060" y="619"/>
                        </a:lnTo>
                        <a:lnTo>
                          <a:pt x="1109" y="667"/>
                        </a:lnTo>
                        <a:lnTo>
                          <a:pt x="1183" y="739"/>
                        </a:lnTo>
                        <a:lnTo>
                          <a:pt x="1251" y="822"/>
                        </a:lnTo>
                        <a:lnTo>
                          <a:pt x="1317" y="930"/>
                        </a:lnTo>
                        <a:lnTo>
                          <a:pt x="1373" y="1029"/>
                        </a:lnTo>
                        <a:lnTo>
                          <a:pt x="1419" y="1113"/>
                        </a:lnTo>
                        <a:lnTo>
                          <a:pt x="1433" y="1144"/>
                        </a:lnTo>
                        <a:lnTo>
                          <a:pt x="1436" y="1198"/>
                        </a:lnTo>
                        <a:lnTo>
                          <a:pt x="1451" y="1240"/>
                        </a:lnTo>
                        <a:lnTo>
                          <a:pt x="1473" y="1203"/>
                        </a:lnTo>
                        <a:lnTo>
                          <a:pt x="1517" y="1147"/>
                        </a:lnTo>
                        <a:lnTo>
                          <a:pt x="1575" y="1061"/>
                        </a:lnTo>
                        <a:lnTo>
                          <a:pt x="1613" y="1009"/>
                        </a:lnTo>
                        <a:lnTo>
                          <a:pt x="1630" y="977"/>
                        </a:lnTo>
                        <a:lnTo>
                          <a:pt x="1649" y="924"/>
                        </a:lnTo>
                        <a:lnTo>
                          <a:pt x="1666" y="889"/>
                        </a:lnTo>
                        <a:lnTo>
                          <a:pt x="1681" y="862"/>
                        </a:lnTo>
                        <a:lnTo>
                          <a:pt x="1702" y="833"/>
                        </a:lnTo>
                        <a:lnTo>
                          <a:pt x="1723" y="808"/>
                        </a:lnTo>
                        <a:lnTo>
                          <a:pt x="1764" y="767"/>
                        </a:lnTo>
                        <a:lnTo>
                          <a:pt x="1808" y="734"/>
                        </a:lnTo>
                        <a:lnTo>
                          <a:pt x="1852" y="713"/>
                        </a:lnTo>
                        <a:lnTo>
                          <a:pt x="1889" y="713"/>
                        </a:lnTo>
                        <a:lnTo>
                          <a:pt x="1924" y="717"/>
                        </a:lnTo>
                        <a:lnTo>
                          <a:pt x="1954" y="735"/>
                        </a:lnTo>
                        <a:lnTo>
                          <a:pt x="1974" y="774"/>
                        </a:lnTo>
                        <a:lnTo>
                          <a:pt x="1973" y="819"/>
                        </a:lnTo>
                        <a:lnTo>
                          <a:pt x="1973" y="839"/>
                        </a:lnTo>
                        <a:lnTo>
                          <a:pt x="1963" y="883"/>
                        </a:lnTo>
                        <a:lnTo>
                          <a:pt x="1945" y="903"/>
                        </a:lnTo>
                        <a:lnTo>
                          <a:pt x="1935" y="946"/>
                        </a:lnTo>
                        <a:lnTo>
                          <a:pt x="1917" y="1009"/>
                        </a:lnTo>
                        <a:lnTo>
                          <a:pt x="1917" y="1071"/>
                        </a:lnTo>
                        <a:lnTo>
                          <a:pt x="1908" y="1134"/>
                        </a:lnTo>
                        <a:lnTo>
                          <a:pt x="1904" y="1167"/>
                        </a:lnTo>
                        <a:lnTo>
                          <a:pt x="1896" y="1200"/>
                        </a:lnTo>
                        <a:lnTo>
                          <a:pt x="1876" y="1238"/>
                        </a:lnTo>
                        <a:lnTo>
                          <a:pt x="1852" y="1271"/>
                        </a:lnTo>
                        <a:lnTo>
                          <a:pt x="1835" y="1333"/>
                        </a:lnTo>
                        <a:lnTo>
                          <a:pt x="1807" y="1396"/>
                        </a:lnTo>
                        <a:lnTo>
                          <a:pt x="1723" y="1544"/>
                        </a:lnTo>
                        <a:lnTo>
                          <a:pt x="1649" y="1649"/>
                        </a:lnTo>
                        <a:lnTo>
                          <a:pt x="1594" y="1722"/>
                        </a:lnTo>
                        <a:lnTo>
                          <a:pt x="1585" y="1764"/>
                        </a:lnTo>
                        <a:lnTo>
                          <a:pt x="1575" y="1807"/>
                        </a:lnTo>
                        <a:lnTo>
                          <a:pt x="1558" y="1853"/>
                        </a:lnTo>
                        <a:lnTo>
                          <a:pt x="1545" y="1912"/>
                        </a:lnTo>
                        <a:lnTo>
                          <a:pt x="1519" y="1975"/>
                        </a:lnTo>
                        <a:lnTo>
                          <a:pt x="1473" y="2059"/>
                        </a:lnTo>
                        <a:lnTo>
                          <a:pt x="1428" y="2122"/>
                        </a:lnTo>
                        <a:lnTo>
                          <a:pt x="1400" y="2163"/>
                        </a:lnTo>
                        <a:lnTo>
                          <a:pt x="1381" y="2227"/>
                        </a:lnTo>
                        <a:lnTo>
                          <a:pt x="1363" y="2269"/>
                        </a:lnTo>
                        <a:lnTo>
                          <a:pt x="1333"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17674" name="Group 241"/>
                  <p:cNvGrpSpPr>
                    <a:grpSpLocks/>
                  </p:cNvGrpSpPr>
                  <p:nvPr/>
                </p:nvGrpSpPr>
                <p:grpSpPr bwMode="auto">
                  <a:xfrm>
                    <a:off x="3404" y="3410"/>
                    <a:ext cx="138" cy="45"/>
                    <a:chOff x="3404" y="3410"/>
                    <a:chExt cx="138" cy="45"/>
                  </a:xfrm>
                </p:grpSpPr>
                <p:sp>
                  <p:nvSpPr>
                    <p:cNvPr id="17679" name="Freeform 237"/>
                    <p:cNvSpPr>
                      <a:spLocks/>
                    </p:cNvSpPr>
                    <p:nvPr/>
                  </p:nvSpPr>
                  <p:spPr bwMode="auto">
                    <a:xfrm>
                      <a:off x="3527" y="3447"/>
                      <a:ext cx="15" cy="8"/>
                    </a:xfrm>
                    <a:custGeom>
                      <a:avLst/>
                      <a:gdLst>
                        <a:gd name="T0" fmla="*/ 0 w 184"/>
                        <a:gd name="T1" fmla="*/ 0 h 96"/>
                        <a:gd name="T2" fmla="*/ 0 w 184"/>
                        <a:gd name="T3" fmla="*/ 0 h 96"/>
                        <a:gd name="T4" fmla="*/ 0 w 184"/>
                        <a:gd name="T5" fmla="*/ 0 h 96"/>
                        <a:gd name="T6" fmla="*/ 0 w 184"/>
                        <a:gd name="T7" fmla="*/ 0 h 96"/>
                        <a:gd name="T8" fmla="*/ 0 w 184"/>
                        <a:gd name="T9" fmla="*/ 0 h 96"/>
                        <a:gd name="T10" fmla="*/ 0 w 184"/>
                        <a:gd name="T11" fmla="*/ 0 h 96"/>
                        <a:gd name="T12" fmla="*/ 0 w 184"/>
                        <a:gd name="T13" fmla="*/ 0 h 96"/>
                        <a:gd name="T14" fmla="*/ 0 60000 65536"/>
                        <a:gd name="T15" fmla="*/ 0 60000 65536"/>
                        <a:gd name="T16" fmla="*/ 0 60000 65536"/>
                        <a:gd name="T17" fmla="*/ 0 60000 65536"/>
                        <a:gd name="T18" fmla="*/ 0 60000 65536"/>
                        <a:gd name="T19" fmla="*/ 0 60000 65536"/>
                        <a:gd name="T20" fmla="*/ 0 60000 65536"/>
                        <a:gd name="T21" fmla="*/ 0 w 184"/>
                        <a:gd name="T22" fmla="*/ 0 h 96"/>
                        <a:gd name="T23" fmla="*/ 184 w 184"/>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4" h="96">
                          <a:moveTo>
                            <a:pt x="0" y="0"/>
                          </a:moveTo>
                          <a:lnTo>
                            <a:pt x="37" y="21"/>
                          </a:lnTo>
                          <a:lnTo>
                            <a:pt x="65" y="52"/>
                          </a:lnTo>
                          <a:lnTo>
                            <a:pt x="100" y="85"/>
                          </a:lnTo>
                          <a:lnTo>
                            <a:pt x="128" y="96"/>
                          </a:lnTo>
                          <a:lnTo>
                            <a:pt x="138" y="96"/>
                          </a:lnTo>
                          <a:lnTo>
                            <a:pt x="184"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680" name="Freeform 238"/>
                    <p:cNvSpPr>
                      <a:spLocks/>
                    </p:cNvSpPr>
                    <p:nvPr/>
                  </p:nvSpPr>
                  <p:spPr bwMode="auto">
                    <a:xfrm>
                      <a:off x="3404" y="3437"/>
                      <a:ext cx="7"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681" name="Freeform 239"/>
                    <p:cNvSpPr>
                      <a:spLocks/>
                    </p:cNvSpPr>
                    <p:nvPr/>
                  </p:nvSpPr>
                  <p:spPr bwMode="auto">
                    <a:xfrm>
                      <a:off x="3427" y="3412"/>
                      <a:ext cx="2" cy="4"/>
                    </a:xfrm>
                    <a:custGeom>
                      <a:avLst/>
                      <a:gdLst>
                        <a:gd name="T0" fmla="*/ 0 w 19"/>
                        <a:gd name="T1" fmla="*/ 0 h 44"/>
                        <a:gd name="T2" fmla="*/ 0 w 19"/>
                        <a:gd name="T3" fmla="*/ 0 h 44"/>
                        <a:gd name="T4" fmla="*/ 0 w 19"/>
                        <a:gd name="T5" fmla="*/ 0 h 44"/>
                        <a:gd name="T6" fmla="*/ 0 w 19"/>
                        <a:gd name="T7" fmla="*/ 0 h 44"/>
                        <a:gd name="T8" fmla="*/ 0 60000 65536"/>
                        <a:gd name="T9" fmla="*/ 0 60000 65536"/>
                        <a:gd name="T10" fmla="*/ 0 60000 65536"/>
                        <a:gd name="T11" fmla="*/ 0 60000 65536"/>
                        <a:gd name="T12" fmla="*/ 0 w 19"/>
                        <a:gd name="T13" fmla="*/ 0 h 44"/>
                        <a:gd name="T14" fmla="*/ 19 w 19"/>
                        <a:gd name="T15" fmla="*/ 44 h 44"/>
                      </a:gdLst>
                      <a:ahLst/>
                      <a:cxnLst>
                        <a:cxn ang="T8">
                          <a:pos x="T0" y="T1"/>
                        </a:cxn>
                        <a:cxn ang="T9">
                          <a:pos x="T2" y="T3"/>
                        </a:cxn>
                        <a:cxn ang="T10">
                          <a:pos x="T4" y="T5"/>
                        </a:cxn>
                        <a:cxn ang="T11">
                          <a:pos x="T6" y="T7"/>
                        </a:cxn>
                      </a:cxnLst>
                      <a:rect l="T12" t="T13" r="T14" b="T15"/>
                      <a:pathLst>
                        <a:path w="19" h="44">
                          <a:moveTo>
                            <a:pt x="0" y="0"/>
                          </a:moveTo>
                          <a:lnTo>
                            <a:pt x="19" y="18"/>
                          </a:lnTo>
                          <a:lnTo>
                            <a:pt x="17" y="29"/>
                          </a:lnTo>
                          <a:lnTo>
                            <a:pt x="19"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682" name="Freeform 240"/>
                    <p:cNvSpPr>
                      <a:spLocks/>
                    </p:cNvSpPr>
                    <p:nvPr/>
                  </p:nvSpPr>
                  <p:spPr bwMode="auto">
                    <a:xfrm>
                      <a:off x="3421" y="3410"/>
                      <a:ext cx="15" cy="2"/>
                    </a:xfrm>
                    <a:custGeom>
                      <a:avLst/>
                      <a:gdLst>
                        <a:gd name="T0" fmla="*/ 0 w 179"/>
                        <a:gd name="T1" fmla="*/ 0 h 23"/>
                        <a:gd name="T2" fmla="*/ 0 w 179"/>
                        <a:gd name="T3" fmla="*/ 0 h 23"/>
                        <a:gd name="T4" fmla="*/ 0 w 179"/>
                        <a:gd name="T5" fmla="*/ 0 h 23"/>
                        <a:gd name="T6" fmla="*/ 0 w 179"/>
                        <a:gd name="T7" fmla="*/ 0 h 23"/>
                        <a:gd name="T8" fmla="*/ 0 w 179"/>
                        <a:gd name="T9" fmla="*/ 0 h 23"/>
                        <a:gd name="T10" fmla="*/ 0 60000 65536"/>
                        <a:gd name="T11" fmla="*/ 0 60000 65536"/>
                        <a:gd name="T12" fmla="*/ 0 60000 65536"/>
                        <a:gd name="T13" fmla="*/ 0 60000 65536"/>
                        <a:gd name="T14" fmla="*/ 0 60000 65536"/>
                        <a:gd name="T15" fmla="*/ 0 w 179"/>
                        <a:gd name="T16" fmla="*/ 0 h 23"/>
                        <a:gd name="T17" fmla="*/ 179 w 179"/>
                        <a:gd name="T18" fmla="*/ 23 h 23"/>
                      </a:gdLst>
                      <a:ahLst/>
                      <a:cxnLst>
                        <a:cxn ang="T10">
                          <a:pos x="T0" y="T1"/>
                        </a:cxn>
                        <a:cxn ang="T11">
                          <a:pos x="T2" y="T3"/>
                        </a:cxn>
                        <a:cxn ang="T12">
                          <a:pos x="T4" y="T5"/>
                        </a:cxn>
                        <a:cxn ang="T13">
                          <a:pos x="T6" y="T7"/>
                        </a:cxn>
                        <a:cxn ang="T14">
                          <a:pos x="T8" y="T9"/>
                        </a:cxn>
                      </a:cxnLst>
                      <a:rect l="T15" t="T16" r="T17" b="T18"/>
                      <a:pathLst>
                        <a:path w="179" h="23">
                          <a:moveTo>
                            <a:pt x="179" y="12"/>
                          </a:moveTo>
                          <a:lnTo>
                            <a:pt x="151" y="23"/>
                          </a:lnTo>
                          <a:lnTo>
                            <a:pt x="40" y="23"/>
                          </a:lnTo>
                          <a:lnTo>
                            <a:pt x="18" y="11"/>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675" name="Group 245"/>
                  <p:cNvGrpSpPr>
                    <a:grpSpLocks/>
                  </p:cNvGrpSpPr>
                  <p:nvPr/>
                </p:nvGrpSpPr>
                <p:grpSpPr bwMode="auto">
                  <a:xfrm>
                    <a:off x="3419" y="3401"/>
                    <a:ext cx="95" cy="91"/>
                    <a:chOff x="3419" y="3401"/>
                    <a:chExt cx="95" cy="91"/>
                  </a:xfrm>
                </p:grpSpPr>
                <p:sp>
                  <p:nvSpPr>
                    <p:cNvPr id="17676" name="Freeform 242"/>
                    <p:cNvSpPr>
                      <a:spLocks/>
                    </p:cNvSpPr>
                    <p:nvPr/>
                  </p:nvSpPr>
                  <p:spPr bwMode="auto">
                    <a:xfrm>
                      <a:off x="3425" y="3418"/>
                      <a:ext cx="89" cy="74"/>
                    </a:xfrm>
                    <a:custGeom>
                      <a:avLst/>
                      <a:gdLst>
                        <a:gd name="T0" fmla="*/ 0 w 1060"/>
                        <a:gd name="T1" fmla="*/ 0 h 894"/>
                        <a:gd name="T2" fmla="*/ 0 w 1060"/>
                        <a:gd name="T3" fmla="*/ 0 h 894"/>
                        <a:gd name="T4" fmla="*/ 0 w 1060"/>
                        <a:gd name="T5" fmla="*/ 0 h 894"/>
                        <a:gd name="T6" fmla="*/ 0 w 1060"/>
                        <a:gd name="T7" fmla="*/ 0 h 894"/>
                        <a:gd name="T8" fmla="*/ 0 w 1060"/>
                        <a:gd name="T9" fmla="*/ 0 h 894"/>
                        <a:gd name="T10" fmla="*/ 0 w 1060"/>
                        <a:gd name="T11" fmla="*/ 0 h 894"/>
                        <a:gd name="T12" fmla="*/ 0 w 1060"/>
                        <a:gd name="T13" fmla="*/ 0 h 894"/>
                        <a:gd name="T14" fmla="*/ 0 w 1060"/>
                        <a:gd name="T15" fmla="*/ 0 h 894"/>
                        <a:gd name="T16" fmla="*/ 0 w 1060"/>
                        <a:gd name="T17" fmla="*/ 0 h 894"/>
                        <a:gd name="T18" fmla="*/ 0 w 1060"/>
                        <a:gd name="T19" fmla="*/ 0 h 894"/>
                        <a:gd name="T20" fmla="*/ 0 w 1060"/>
                        <a:gd name="T21" fmla="*/ 0 h 894"/>
                        <a:gd name="T22" fmla="*/ 0 w 1060"/>
                        <a:gd name="T23" fmla="*/ 0 h 894"/>
                        <a:gd name="T24" fmla="*/ 0 w 1060"/>
                        <a:gd name="T25" fmla="*/ 0 h 894"/>
                        <a:gd name="T26" fmla="*/ 0 w 1060"/>
                        <a:gd name="T27" fmla="*/ 0 h 894"/>
                        <a:gd name="T28" fmla="*/ 0 w 1060"/>
                        <a:gd name="T29" fmla="*/ 0 h 894"/>
                        <a:gd name="T30" fmla="*/ 0 w 1060"/>
                        <a:gd name="T31" fmla="*/ 0 h 894"/>
                        <a:gd name="T32" fmla="*/ 0 w 1060"/>
                        <a:gd name="T33" fmla="*/ 0 h 894"/>
                        <a:gd name="T34" fmla="*/ 0 w 1060"/>
                        <a:gd name="T35" fmla="*/ 0 h 894"/>
                        <a:gd name="T36" fmla="*/ 0 w 1060"/>
                        <a:gd name="T37" fmla="*/ 0 h 894"/>
                        <a:gd name="T38" fmla="*/ 0 w 1060"/>
                        <a:gd name="T39" fmla="*/ 0 h 894"/>
                        <a:gd name="T40" fmla="*/ 0 w 1060"/>
                        <a:gd name="T41" fmla="*/ 0 h 894"/>
                        <a:gd name="T42" fmla="*/ 0 w 1060"/>
                        <a:gd name="T43" fmla="*/ 0 h 894"/>
                        <a:gd name="T44" fmla="*/ 0 w 1060"/>
                        <a:gd name="T45" fmla="*/ 0 h 894"/>
                        <a:gd name="T46" fmla="*/ 0 w 1060"/>
                        <a:gd name="T47" fmla="*/ 0 h 894"/>
                        <a:gd name="T48" fmla="*/ 0 w 1060"/>
                        <a:gd name="T49" fmla="*/ 0 h 894"/>
                        <a:gd name="T50" fmla="*/ 0 w 1060"/>
                        <a:gd name="T51" fmla="*/ 0 h 894"/>
                        <a:gd name="T52" fmla="*/ 0 w 1060"/>
                        <a:gd name="T53" fmla="*/ 0 h 894"/>
                        <a:gd name="T54" fmla="*/ 0 w 1060"/>
                        <a:gd name="T55" fmla="*/ 0 h 894"/>
                        <a:gd name="T56" fmla="*/ 0 w 1060"/>
                        <a:gd name="T57" fmla="*/ 0 h 894"/>
                        <a:gd name="T58" fmla="*/ 0 w 1060"/>
                        <a:gd name="T59" fmla="*/ 0 h 894"/>
                        <a:gd name="T60" fmla="*/ 0 w 1060"/>
                        <a:gd name="T61" fmla="*/ 0 h 894"/>
                        <a:gd name="T62" fmla="*/ 0 w 1060"/>
                        <a:gd name="T63" fmla="*/ 0 h 894"/>
                        <a:gd name="T64" fmla="*/ 0 w 1060"/>
                        <a:gd name="T65" fmla="*/ 0 h 894"/>
                        <a:gd name="T66" fmla="*/ 0 w 1060"/>
                        <a:gd name="T67" fmla="*/ 0 h 894"/>
                        <a:gd name="T68" fmla="*/ 0 w 1060"/>
                        <a:gd name="T69" fmla="*/ 0 h 894"/>
                        <a:gd name="T70" fmla="*/ 0 w 1060"/>
                        <a:gd name="T71" fmla="*/ 0 h 894"/>
                        <a:gd name="T72" fmla="*/ 0 w 1060"/>
                        <a:gd name="T73" fmla="*/ 0 h 894"/>
                        <a:gd name="T74" fmla="*/ 0 w 1060"/>
                        <a:gd name="T75" fmla="*/ 0 h 894"/>
                        <a:gd name="T76" fmla="*/ 0 w 1060"/>
                        <a:gd name="T77" fmla="*/ 0 h 894"/>
                        <a:gd name="T78" fmla="*/ 0 w 1060"/>
                        <a:gd name="T79" fmla="*/ 0 h 894"/>
                        <a:gd name="T80" fmla="*/ 0 w 1060"/>
                        <a:gd name="T81" fmla="*/ 0 h 894"/>
                        <a:gd name="T82" fmla="*/ 0 w 1060"/>
                        <a:gd name="T83" fmla="*/ 0 h 894"/>
                        <a:gd name="T84" fmla="*/ 0 w 1060"/>
                        <a:gd name="T85" fmla="*/ 0 h 894"/>
                        <a:gd name="T86" fmla="*/ 0 w 1060"/>
                        <a:gd name="T87" fmla="*/ 0 h 894"/>
                        <a:gd name="T88" fmla="*/ 0 w 1060"/>
                        <a:gd name="T89" fmla="*/ 0 h 894"/>
                        <a:gd name="T90" fmla="*/ 0 w 1060"/>
                        <a:gd name="T91" fmla="*/ 0 h 894"/>
                        <a:gd name="T92" fmla="*/ 0 w 1060"/>
                        <a:gd name="T93" fmla="*/ 0 h 894"/>
                        <a:gd name="T94" fmla="*/ 0 w 1060"/>
                        <a:gd name="T95" fmla="*/ 0 h 894"/>
                        <a:gd name="T96" fmla="*/ 0 w 1060"/>
                        <a:gd name="T97" fmla="*/ 0 h 894"/>
                        <a:gd name="T98" fmla="*/ 0 w 1060"/>
                        <a:gd name="T99" fmla="*/ 0 h 894"/>
                        <a:gd name="T100" fmla="*/ 0 w 1060"/>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0"/>
                        <a:gd name="T154" fmla="*/ 0 h 894"/>
                        <a:gd name="T155" fmla="*/ 1060 w 1060"/>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0" h="894">
                          <a:moveTo>
                            <a:pt x="1060" y="487"/>
                          </a:moveTo>
                          <a:lnTo>
                            <a:pt x="982" y="517"/>
                          </a:lnTo>
                          <a:lnTo>
                            <a:pt x="885" y="555"/>
                          </a:lnTo>
                          <a:lnTo>
                            <a:pt x="826" y="593"/>
                          </a:lnTo>
                          <a:lnTo>
                            <a:pt x="778" y="652"/>
                          </a:lnTo>
                          <a:lnTo>
                            <a:pt x="749" y="739"/>
                          </a:lnTo>
                          <a:lnTo>
                            <a:pt x="730" y="807"/>
                          </a:lnTo>
                          <a:lnTo>
                            <a:pt x="671" y="875"/>
                          </a:lnTo>
                          <a:lnTo>
                            <a:pt x="573" y="894"/>
                          </a:lnTo>
                          <a:lnTo>
                            <a:pt x="506" y="865"/>
                          </a:lnTo>
                          <a:lnTo>
                            <a:pt x="456" y="826"/>
                          </a:lnTo>
                          <a:lnTo>
                            <a:pt x="453" y="784"/>
                          </a:lnTo>
                          <a:lnTo>
                            <a:pt x="447" y="749"/>
                          </a:lnTo>
                          <a:lnTo>
                            <a:pt x="408" y="690"/>
                          </a:lnTo>
                          <a:lnTo>
                            <a:pt x="320" y="662"/>
                          </a:lnTo>
                          <a:lnTo>
                            <a:pt x="389" y="617"/>
                          </a:lnTo>
                          <a:lnTo>
                            <a:pt x="460" y="603"/>
                          </a:lnTo>
                          <a:lnTo>
                            <a:pt x="493" y="584"/>
                          </a:lnTo>
                          <a:lnTo>
                            <a:pt x="431" y="581"/>
                          </a:lnTo>
                          <a:lnTo>
                            <a:pt x="360" y="603"/>
                          </a:lnTo>
                          <a:lnTo>
                            <a:pt x="282" y="633"/>
                          </a:lnTo>
                          <a:lnTo>
                            <a:pt x="246" y="603"/>
                          </a:lnTo>
                          <a:lnTo>
                            <a:pt x="240" y="565"/>
                          </a:lnTo>
                          <a:lnTo>
                            <a:pt x="237" y="520"/>
                          </a:lnTo>
                          <a:lnTo>
                            <a:pt x="224" y="477"/>
                          </a:lnTo>
                          <a:lnTo>
                            <a:pt x="174" y="468"/>
                          </a:lnTo>
                          <a:lnTo>
                            <a:pt x="136" y="484"/>
                          </a:lnTo>
                          <a:lnTo>
                            <a:pt x="104" y="514"/>
                          </a:lnTo>
                          <a:lnTo>
                            <a:pt x="58" y="542"/>
                          </a:lnTo>
                          <a:lnTo>
                            <a:pt x="0" y="593"/>
                          </a:lnTo>
                          <a:lnTo>
                            <a:pt x="58" y="507"/>
                          </a:lnTo>
                          <a:lnTo>
                            <a:pt x="165" y="420"/>
                          </a:lnTo>
                          <a:lnTo>
                            <a:pt x="233" y="380"/>
                          </a:lnTo>
                          <a:lnTo>
                            <a:pt x="295" y="364"/>
                          </a:lnTo>
                          <a:lnTo>
                            <a:pt x="347" y="368"/>
                          </a:lnTo>
                          <a:lnTo>
                            <a:pt x="402" y="355"/>
                          </a:lnTo>
                          <a:lnTo>
                            <a:pt x="486" y="332"/>
                          </a:lnTo>
                          <a:lnTo>
                            <a:pt x="593" y="288"/>
                          </a:lnTo>
                          <a:lnTo>
                            <a:pt x="693" y="239"/>
                          </a:lnTo>
                          <a:lnTo>
                            <a:pt x="752" y="210"/>
                          </a:lnTo>
                          <a:lnTo>
                            <a:pt x="785" y="168"/>
                          </a:lnTo>
                          <a:lnTo>
                            <a:pt x="801" y="116"/>
                          </a:lnTo>
                          <a:lnTo>
                            <a:pt x="797" y="62"/>
                          </a:lnTo>
                          <a:lnTo>
                            <a:pt x="785" y="0"/>
                          </a:lnTo>
                          <a:lnTo>
                            <a:pt x="846" y="68"/>
                          </a:lnTo>
                          <a:lnTo>
                            <a:pt x="895" y="145"/>
                          </a:lnTo>
                          <a:lnTo>
                            <a:pt x="953" y="245"/>
                          </a:lnTo>
                          <a:lnTo>
                            <a:pt x="979" y="300"/>
                          </a:lnTo>
                          <a:lnTo>
                            <a:pt x="1005" y="348"/>
                          </a:lnTo>
                          <a:lnTo>
                            <a:pt x="1041" y="401"/>
                          </a:lnTo>
                          <a:lnTo>
                            <a:pt x="1060"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77" name="Freeform 243"/>
                    <p:cNvSpPr>
                      <a:spLocks/>
                    </p:cNvSpPr>
                    <p:nvPr/>
                  </p:nvSpPr>
                  <p:spPr bwMode="auto">
                    <a:xfrm>
                      <a:off x="3419" y="3441"/>
                      <a:ext cx="24" cy="15"/>
                    </a:xfrm>
                    <a:custGeom>
                      <a:avLst/>
                      <a:gdLst>
                        <a:gd name="T0" fmla="*/ 0 w 289"/>
                        <a:gd name="T1" fmla="*/ 0 h 181"/>
                        <a:gd name="T2" fmla="*/ 0 w 289"/>
                        <a:gd name="T3" fmla="*/ 0 h 181"/>
                        <a:gd name="T4" fmla="*/ 0 w 289"/>
                        <a:gd name="T5" fmla="*/ 0 h 181"/>
                        <a:gd name="T6" fmla="*/ 0 w 289"/>
                        <a:gd name="T7" fmla="*/ 0 h 181"/>
                        <a:gd name="T8" fmla="*/ 0 w 289"/>
                        <a:gd name="T9" fmla="*/ 0 h 181"/>
                        <a:gd name="T10" fmla="*/ 0 w 289"/>
                        <a:gd name="T11" fmla="*/ 0 h 181"/>
                        <a:gd name="T12" fmla="*/ 0 w 289"/>
                        <a:gd name="T13" fmla="*/ 0 h 181"/>
                        <a:gd name="T14" fmla="*/ 0 w 289"/>
                        <a:gd name="T15" fmla="*/ 0 h 181"/>
                        <a:gd name="T16" fmla="*/ 0 w 289"/>
                        <a:gd name="T17" fmla="*/ 0 h 181"/>
                        <a:gd name="T18" fmla="*/ 0 w 289"/>
                        <a:gd name="T19" fmla="*/ 0 h 181"/>
                        <a:gd name="T20" fmla="*/ 0 w 289"/>
                        <a:gd name="T21" fmla="*/ 0 h 181"/>
                        <a:gd name="T22" fmla="*/ 0 w 289"/>
                        <a:gd name="T23" fmla="*/ 0 h 181"/>
                        <a:gd name="T24" fmla="*/ 0 w 289"/>
                        <a:gd name="T25" fmla="*/ 0 h 181"/>
                        <a:gd name="T26" fmla="*/ 0 w 289"/>
                        <a:gd name="T27" fmla="*/ 0 h 181"/>
                        <a:gd name="T28" fmla="*/ 0 w 289"/>
                        <a:gd name="T29" fmla="*/ 0 h 181"/>
                        <a:gd name="T30" fmla="*/ 0 w 289"/>
                        <a:gd name="T31" fmla="*/ 0 h 181"/>
                        <a:gd name="T32" fmla="*/ 0 w 289"/>
                        <a:gd name="T33" fmla="*/ 0 h 181"/>
                        <a:gd name="T34" fmla="*/ 0 w 289"/>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9"/>
                        <a:gd name="T55" fmla="*/ 0 h 181"/>
                        <a:gd name="T56" fmla="*/ 289 w 289"/>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9" h="181">
                          <a:moveTo>
                            <a:pt x="176" y="10"/>
                          </a:moveTo>
                          <a:lnTo>
                            <a:pt x="210" y="20"/>
                          </a:lnTo>
                          <a:lnTo>
                            <a:pt x="246" y="33"/>
                          </a:lnTo>
                          <a:lnTo>
                            <a:pt x="289" y="53"/>
                          </a:lnTo>
                          <a:lnTo>
                            <a:pt x="259" y="67"/>
                          </a:lnTo>
                          <a:lnTo>
                            <a:pt x="203" y="91"/>
                          </a:lnTo>
                          <a:lnTo>
                            <a:pt x="143" y="124"/>
                          </a:lnTo>
                          <a:lnTo>
                            <a:pt x="103" y="161"/>
                          </a:lnTo>
                          <a:lnTo>
                            <a:pt x="80" y="181"/>
                          </a:lnTo>
                          <a:lnTo>
                            <a:pt x="107"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78" name="Freeform 244"/>
                    <p:cNvSpPr>
                      <a:spLocks/>
                    </p:cNvSpPr>
                    <p:nvPr/>
                  </p:nvSpPr>
                  <p:spPr bwMode="auto">
                    <a:xfrm>
                      <a:off x="3440" y="3401"/>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5" y="166"/>
                          </a:lnTo>
                          <a:lnTo>
                            <a:pt x="366" y="206"/>
                          </a:lnTo>
                          <a:lnTo>
                            <a:pt x="314" y="255"/>
                          </a:lnTo>
                          <a:lnTo>
                            <a:pt x="265" y="332"/>
                          </a:lnTo>
                          <a:lnTo>
                            <a:pt x="242" y="384"/>
                          </a:lnTo>
                          <a:lnTo>
                            <a:pt x="258" y="434"/>
                          </a:lnTo>
                          <a:lnTo>
                            <a:pt x="193" y="388"/>
                          </a:lnTo>
                          <a:lnTo>
                            <a:pt x="131" y="365"/>
                          </a:lnTo>
                          <a:lnTo>
                            <a:pt x="81" y="345"/>
                          </a:lnTo>
                          <a:lnTo>
                            <a:pt x="32" y="329"/>
                          </a:lnTo>
                          <a:lnTo>
                            <a:pt x="0" y="313"/>
                          </a:lnTo>
                          <a:lnTo>
                            <a:pt x="43" y="255"/>
                          </a:lnTo>
                          <a:lnTo>
                            <a:pt x="81" y="283"/>
                          </a:lnTo>
                          <a:lnTo>
                            <a:pt x="144" y="313"/>
                          </a:lnTo>
                          <a:lnTo>
                            <a:pt x="196" y="313"/>
                          </a:lnTo>
                          <a:lnTo>
                            <a:pt x="246" y="304"/>
                          </a:lnTo>
                          <a:lnTo>
                            <a:pt x="274" y="293"/>
                          </a:lnTo>
                          <a:lnTo>
                            <a:pt x="305" y="274"/>
                          </a:lnTo>
                          <a:lnTo>
                            <a:pt x="314" y="212"/>
                          </a:lnTo>
                          <a:lnTo>
                            <a:pt x="305" y="166"/>
                          </a:lnTo>
                          <a:lnTo>
                            <a:pt x="274" y="107"/>
                          </a:lnTo>
                          <a:lnTo>
                            <a:pt x="265" y="78"/>
                          </a:lnTo>
                          <a:lnTo>
                            <a:pt x="308" y="68"/>
                          </a:lnTo>
                          <a:lnTo>
                            <a:pt x="362" y="52"/>
                          </a:lnTo>
                          <a:lnTo>
                            <a:pt x="399" y="9"/>
                          </a:lnTo>
                          <a:lnTo>
                            <a:pt x="431" y="0"/>
                          </a:lnTo>
                          <a:lnTo>
                            <a:pt x="467" y="55"/>
                          </a:lnTo>
                          <a:lnTo>
                            <a:pt x="500"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7621" name="Group 287"/>
                <p:cNvGrpSpPr>
                  <a:grpSpLocks/>
                </p:cNvGrpSpPr>
                <p:nvPr/>
              </p:nvGrpSpPr>
              <p:grpSpPr bwMode="auto">
                <a:xfrm>
                  <a:off x="3443" y="3299"/>
                  <a:ext cx="140" cy="274"/>
                  <a:chOff x="3443" y="3299"/>
                  <a:chExt cx="140" cy="274"/>
                </a:xfrm>
              </p:grpSpPr>
              <p:sp>
                <p:nvSpPr>
                  <p:cNvPr id="17633" name="Freeform 247"/>
                  <p:cNvSpPr>
                    <a:spLocks/>
                  </p:cNvSpPr>
                  <p:nvPr/>
                </p:nvSpPr>
                <p:spPr bwMode="auto">
                  <a:xfrm>
                    <a:off x="3452" y="3495"/>
                    <a:ext cx="128"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8"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17634" name="Freeform 248"/>
                  <p:cNvSpPr>
                    <a:spLocks/>
                  </p:cNvSpPr>
                  <p:nvPr/>
                </p:nvSpPr>
                <p:spPr bwMode="auto">
                  <a:xfrm>
                    <a:off x="3497" y="3529"/>
                    <a:ext cx="86"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5" y="179"/>
                        </a:lnTo>
                        <a:lnTo>
                          <a:pt x="943" y="523"/>
                        </a:lnTo>
                        <a:lnTo>
                          <a:pt x="963" y="528"/>
                        </a:lnTo>
                        <a:lnTo>
                          <a:pt x="980" y="523"/>
                        </a:lnTo>
                        <a:lnTo>
                          <a:pt x="995" y="505"/>
                        </a:lnTo>
                        <a:lnTo>
                          <a:pt x="1013" y="461"/>
                        </a:lnTo>
                        <a:lnTo>
                          <a:pt x="1023" y="428"/>
                        </a:lnTo>
                        <a:lnTo>
                          <a:pt x="1027" y="398"/>
                        </a:lnTo>
                        <a:lnTo>
                          <a:pt x="1018" y="366"/>
                        </a:lnTo>
                        <a:lnTo>
                          <a:pt x="998"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17635" name="Freeform 249"/>
                  <p:cNvSpPr>
                    <a:spLocks/>
                  </p:cNvSpPr>
                  <p:nvPr/>
                </p:nvSpPr>
                <p:spPr bwMode="auto">
                  <a:xfrm>
                    <a:off x="3443" y="3299"/>
                    <a:ext cx="123" cy="245"/>
                  </a:xfrm>
                  <a:custGeom>
                    <a:avLst/>
                    <a:gdLst>
                      <a:gd name="T0" fmla="*/ 0 w 1478"/>
                      <a:gd name="T1" fmla="*/ 0 h 2948"/>
                      <a:gd name="T2" fmla="*/ 0 w 1478"/>
                      <a:gd name="T3" fmla="*/ 0 h 2948"/>
                      <a:gd name="T4" fmla="*/ 0 w 1478"/>
                      <a:gd name="T5" fmla="*/ 0 h 2948"/>
                      <a:gd name="T6" fmla="*/ 0 w 1478"/>
                      <a:gd name="T7" fmla="*/ 0 h 2948"/>
                      <a:gd name="T8" fmla="*/ 0 w 1478"/>
                      <a:gd name="T9" fmla="*/ 0 h 2948"/>
                      <a:gd name="T10" fmla="*/ 0 w 1478"/>
                      <a:gd name="T11" fmla="*/ 0 h 2948"/>
                      <a:gd name="T12" fmla="*/ 0 w 1478"/>
                      <a:gd name="T13" fmla="*/ 0 h 2948"/>
                      <a:gd name="T14" fmla="*/ 0 w 1478"/>
                      <a:gd name="T15" fmla="*/ 0 h 2948"/>
                      <a:gd name="T16" fmla="*/ 0 w 1478"/>
                      <a:gd name="T17" fmla="*/ 0 h 2948"/>
                      <a:gd name="T18" fmla="*/ 0 w 1478"/>
                      <a:gd name="T19" fmla="*/ 0 h 2948"/>
                      <a:gd name="T20" fmla="*/ 0 w 1478"/>
                      <a:gd name="T21" fmla="*/ 0 h 2948"/>
                      <a:gd name="T22" fmla="*/ 0 w 1478"/>
                      <a:gd name="T23" fmla="*/ 0 h 2948"/>
                      <a:gd name="T24" fmla="*/ 0 w 1478"/>
                      <a:gd name="T25" fmla="*/ 0 h 2948"/>
                      <a:gd name="T26" fmla="*/ 0 w 1478"/>
                      <a:gd name="T27" fmla="*/ 0 h 2948"/>
                      <a:gd name="T28" fmla="*/ 0 w 1478"/>
                      <a:gd name="T29" fmla="*/ 0 h 2948"/>
                      <a:gd name="T30" fmla="*/ 0 w 1478"/>
                      <a:gd name="T31" fmla="*/ 0 h 2948"/>
                      <a:gd name="T32" fmla="*/ 0 w 1478"/>
                      <a:gd name="T33" fmla="*/ 0 h 2948"/>
                      <a:gd name="T34" fmla="*/ 0 w 1478"/>
                      <a:gd name="T35" fmla="*/ 0 h 2948"/>
                      <a:gd name="T36" fmla="*/ 0 w 1478"/>
                      <a:gd name="T37" fmla="*/ 0 h 2948"/>
                      <a:gd name="T38" fmla="*/ 0 w 1478"/>
                      <a:gd name="T39" fmla="*/ 0 h 2948"/>
                      <a:gd name="T40" fmla="*/ 0 w 1478"/>
                      <a:gd name="T41" fmla="*/ 0 h 2948"/>
                      <a:gd name="T42" fmla="*/ 0 w 1478"/>
                      <a:gd name="T43" fmla="*/ 0 h 2948"/>
                      <a:gd name="T44" fmla="*/ 0 w 1478"/>
                      <a:gd name="T45" fmla="*/ 0 h 2948"/>
                      <a:gd name="T46" fmla="*/ 0 w 1478"/>
                      <a:gd name="T47" fmla="*/ 0 h 2948"/>
                      <a:gd name="T48" fmla="*/ 0 w 1478"/>
                      <a:gd name="T49" fmla="*/ 0 h 2948"/>
                      <a:gd name="T50" fmla="*/ 0 w 1478"/>
                      <a:gd name="T51" fmla="*/ 0 h 2948"/>
                      <a:gd name="T52" fmla="*/ 0 w 1478"/>
                      <a:gd name="T53" fmla="*/ 0 h 2948"/>
                      <a:gd name="T54" fmla="*/ 0 w 1478"/>
                      <a:gd name="T55" fmla="*/ 0 h 2948"/>
                      <a:gd name="T56" fmla="*/ 0 w 1478"/>
                      <a:gd name="T57" fmla="*/ 0 h 2948"/>
                      <a:gd name="T58" fmla="*/ 0 w 1478"/>
                      <a:gd name="T59" fmla="*/ 0 h 2948"/>
                      <a:gd name="T60" fmla="*/ 0 w 1478"/>
                      <a:gd name="T61" fmla="*/ 0 h 2948"/>
                      <a:gd name="T62" fmla="*/ 0 w 1478"/>
                      <a:gd name="T63" fmla="*/ 0 h 2948"/>
                      <a:gd name="T64" fmla="*/ 0 w 1478"/>
                      <a:gd name="T65" fmla="*/ 0 h 2948"/>
                      <a:gd name="T66" fmla="*/ 0 w 1478"/>
                      <a:gd name="T67" fmla="*/ 0 h 2948"/>
                      <a:gd name="T68" fmla="*/ 0 w 1478"/>
                      <a:gd name="T69" fmla="*/ 0 h 2948"/>
                      <a:gd name="T70" fmla="*/ 0 w 1478"/>
                      <a:gd name="T71" fmla="*/ 0 h 2948"/>
                      <a:gd name="T72" fmla="*/ 0 w 1478"/>
                      <a:gd name="T73" fmla="*/ 0 h 2948"/>
                      <a:gd name="T74" fmla="*/ 0 w 1478"/>
                      <a:gd name="T75" fmla="*/ 0 h 2948"/>
                      <a:gd name="T76" fmla="*/ 0 w 1478"/>
                      <a:gd name="T77" fmla="*/ 0 h 2948"/>
                      <a:gd name="T78" fmla="*/ 0 w 1478"/>
                      <a:gd name="T79" fmla="*/ 0 h 2948"/>
                      <a:gd name="T80" fmla="*/ 0 w 1478"/>
                      <a:gd name="T81" fmla="*/ 0 h 2948"/>
                      <a:gd name="T82" fmla="*/ 0 w 1478"/>
                      <a:gd name="T83" fmla="*/ 0 h 2948"/>
                      <a:gd name="T84" fmla="*/ 0 w 1478"/>
                      <a:gd name="T85" fmla="*/ 0 h 2948"/>
                      <a:gd name="T86" fmla="*/ 0 w 1478"/>
                      <a:gd name="T87" fmla="*/ 0 h 2948"/>
                      <a:gd name="T88" fmla="*/ 0 w 1478"/>
                      <a:gd name="T89" fmla="*/ 0 h 2948"/>
                      <a:gd name="T90" fmla="*/ 0 w 1478"/>
                      <a:gd name="T91" fmla="*/ 0 h 2948"/>
                      <a:gd name="T92" fmla="*/ 0 w 1478"/>
                      <a:gd name="T93" fmla="*/ 0 h 2948"/>
                      <a:gd name="T94" fmla="*/ 0 w 1478"/>
                      <a:gd name="T95" fmla="*/ 0 h 2948"/>
                      <a:gd name="T96" fmla="*/ 0 w 1478"/>
                      <a:gd name="T97" fmla="*/ 0 h 2948"/>
                      <a:gd name="T98" fmla="*/ 0 w 1478"/>
                      <a:gd name="T99" fmla="*/ 0 h 2948"/>
                      <a:gd name="T100" fmla="*/ 0 w 1478"/>
                      <a:gd name="T101" fmla="*/ 0 h 2948"/>
                      <a:gd name="T102" fmla="*/ 0 w 1478"/>
                      <a:gd name="T103" fmla="*/ 0 h 2948"/>
                      <a:gd name="T104" fmla="*/ 0 w 1478"/>
                      <a:gd name="T105" fmla="*/ 0 h 2948"/>
                      <a:gd name="T106" fmla="*/ 0 w 1478"/>
                      <a:gd name="T107" fmla="*/ 0 h 2948"/>
                      <a:gd name="T108" fmla="*/ 0 w 1478"/>
                      <a:gd name="T109" fmla="*/ 0 h 2948"/>
                      <a:gd name="T110" fmla="*/ 0 w 1478"/>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8"/>
                      <a:gd name="T169" fmla="*/ 0 h 2948"/>
                      <a:gd name="T170" fmla="*/ 1478 w 1478"/>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8" h="2948">
                        <a:moveTo>
                          <a:pt x="1478" y="384"/>
                        </a:moveTo>
                        <a:lnTo>
                          <a:pt x="1475" y="353"/>
                        </a:lnTo>
                        <a:lnTo>
                          <a:pt x="1460" y="332"/>
                        </a:lnTo>
                        <a:lnTo>
                          <a:pt x="1438" y="306"/>
                        </a:lnTo>
                        <a:lnTo>
                          <a:pt x="1359" y="255"/>
                        </a:lnTo>
                        <a:lnTo>
                          <a:pt x="1008" y="61"/>
                        </a:lnTo>
                        <a:lnTo>
                          <a:pt x="957" y="38"/>
                        </a:lnTo>
                        <a:lnTo>
                          <a:pt x="925" y="23"/>
                        </a:lnTo>
                        <a:lnTo>
                          <a:pt x="885" y="10"/>
                        </a:lnTo>
                        <a:lnTo>
                          <a:pt x="861" y="3"/>
                        </a:lnTo>
                        <a:lnTo>
                          <a:pt x="824" y="0"/>
                        </a:lnTo>
                        <a:lnTo>
                          <a:pt x="791" y="3"/>
                        </a:lnTo>
                        <a:lnTo>
                          <a:pt x="766" y="6"/>
                        </a:lnTo>
                        <a:lnTo>
                          <a:pt x="730" y="16"/>
                        </a:lnTo>
                        <a:lnTo>
                          <a:pt x="695" y="32"/>
                        </a:lnTo>
                        <a:lnTo>
                          <a:pt x="662" y="54"/>
                        </a:lnTo>
                        <a:lnTo>
                          <a:pt x="629" y="74"/>
                        </a:lnTo>
                        <a:lnTo>
                          <a:pt x="597" y="95"/>
                        </a:lnTo>
                        <a:lnTo>
                          <a:pt x="562" y="121"/>
                        </a:lnTo>
                        <a:lnTo>
                          <a:pt x="527" y="154"/>
                        </a:lnTo>
                        <a:lnTo>
                          <a:pt x="508" y="175"/>
                        </a:lnTo>
                        <a:lnTo>
                          <a:pt x="492" y="201"/>
                        </a:lnTo>
                        <a:lnTo>
                          <a:pt x="480" y="238"/>
                        </a:lnTo>
                        <a:lnTo>
                          <a:pt x="9" y="2307"/>
                        </a:lnTo>
                        <a:lnTo>
                          <a:pt x="0" y="2349"/>
                        </a:lnTo>
                        <a:lnTo>
                          <a:pt x="0" y="2370"/>
                        </a:lnTo>
                        <a:lnTo>
                          <a:pt x="0" y="2396"/>
                        </a:lnTo>
                        <a:lnTo>
                          <a:pt x="1" y="2422"/>
                        </a:lnTo>
                        <a:lnTo>
                          <a:pt x="10" y="2466"/>
                        </a:lnTo>
                        <a:lnTo>
                          <a:pt x="18" y="2485"/>
                        </a:lnTo>
                        <a:lnTo>
                          <a:pt x="37" y="2518"/>
                        </a:lnTo>
                        <a:lnTo>
                          <a:pt x="50" y="2540"/>
                        </a:lnTo>
                        <a:lnTo>
                          <a:pt x="78" y="2571"/>
                        </a:lnTo>
                        <a:lnTo>
                          <a:pt x="110" y="2598"/>
                        </a:lnTo>
                        <a:lnTo>
                          <a:pt x="154" y="2627"/>
                        </a:lnTo>
                        <a:lnTo>
                          <a:pt x="190" y="2650"/>
                        </a:lnTo>
                        <a:lnTo>
                          <a:pt x="716" y="2948"/>
                        </a:lnTo>
                        <a:lnTo>
                          <a:pt x="707" y="2916"/>
                        </a:lnTo>
                        <a:lnTo>
                          <a:pt x="706" y="2885"/>
                        </a:lnTo>
                        <a:lnTo>
                          <a:pt x="712" y="2861"/>
                        </a:lnTo>
                        <a:lnTo>
                          <a:pt x="720" y="2833"/>
                        </a:lnTo>
                        <a:lnTo>
                          <a:pt x="734" y="2805"/>
                        </a:lnTo>
                        <a:lnTo>
                          <a:pt x="752" y="2783"/>
                        </a:lnTo>
                        <a:lnTo>
                          <a:pt x="777" y="2769"/>
                        </a:lnTo>
                        <a:lnTo>
                          <a:pt x="194" y="2433"/>
                        </a:lnTo>
                        <a:lnTo>
                          <a:pt x="175" y="2417"/>
                        </a:lnTo>
                        <a:lnTo>
                          <a:pt x="167" y="2407"/>
                        </a:lnTo>
                        <a:lnTo>
                          <a:pt x="162" y="2391"/>
                        </a:lnTo>
                        <a:lnTo>
                          <a:pt x="156" y="2359"/>
                        </a:lnTo>
                        <a:lnTo>
                          <a:pt x="156" y="2339"/>
                        </a:lnTo>
                        <a:lnTo>
                          <a:pt x="444" y="1110"/>
                        </a:lnTo>
                        <a:lnTo>
                          <a:pt x="473" y="1055"/>
                        </a:lnTo>
                        <a:lnTo>
                          <a:pt x="500" y="1024"/>
                        </a:lnTo>
                        <a:lnTo>
                          <a:pt x="547" y="976"/>
                        </a:lnTo>
                        <a:lnTo>
                          <a:pt x="582" y="941"/>
                        </a:lnTo>
                        <a:lnTo>
                          <a:pt x="1478" y="384"/>
                        </a:lnTo>
                        <a:close/>
                      </a:path>
                    </a:pathLst>
                  </a:custGeom>
                  <a:solidFill>
                    <a:srgbClr val="808080"/>
                  </a:solidFill>
                  <a:ln w="1588">
                    <a:solidFill>
                      <a:srgbClr val="000000"/>
                    </a:solidFill>
                    <a:prstDash val="solid"/>
                    <a:round/>
                    <a:headEnd/>
                    <a:tailEnd/>
                  </a:ln>
                </p:spPr>
                <p:txBody>
                  <a:bodyPr/>
                  <a:lstStyle/>
                  <a:p>
                    <a:endParaRPr lang="en-US"/>
                  </a:p>
                </p:txBody>
              </p:sp>
              <p:sp>
                <p:nvSpPr>
                  <p:cNvPr id="17636" name="Freeform 250"/>
                  <p:cNvSpPr>
                    <a:spLocks/>
                  </p:cNvSpPr>
                  <p:nvPr/>
                </p:nvSpPr>
                <p:spPr bwMode="auto">
                  <a:xfrm>
                    <a:off x="3492" y="3303"/>
                    <a:ext cx="77" cy="109"/>
                  </a:xfrm>
                  <a:custGeom>
                    <a:avLst/>
                    <a:gdLst>
                      <a:gd name="T0" fmla="*/ 0 w 927"/>
                      <a:gd name="T1" fmla="*/ 0 h 1304"/>
                      <a:gd name="T2" fmla="*/ 0 w 927"/>
                      <a:gd name="T3" fmla="*/ 0 h 1304"/>
                      <a:gd name="T4" fmla="*/ 0 w 927"/>
                      <a:gd name="T5" fmla="*/ 0 h 1304"/>
                      <a:gd name="T6" fmla="*/ 0 w 927"/>
                      <a:gd name="T7" fmla="*/ 0 h 1304"/>
                      <a:gd name="T8" fmla="*/ 0 w 927"/>
                      <a:gd name="T9" fmla="*/ 0 h 1304"/>
                      <a:gd name="T10" fmla="*/ 0 w 927"/>
                      <a:gd name="T11" fmla="*/ 0 h 1304"/>
                      <a:gd name="T12" fmla="*/ 0 w 927"/>
                      <a:gd name="T13" fmla="*/ 0 h 1304"/>
                      <a:gd name="T14" fmla="*/ 0 w 927"/>
                      <a:gd name="T15" fmla="*/ 0 h 1304"/>
                      <a:gd name="T16" fmla="*/ 0 w 927"/>
                      <a:gd name="T17" fmla="*/ 0 h 1304"/>
                      <a:gd name="T18" fmla="*/ 0 w 927"/>
                      <a:gd name="T19" fmla="*/ 0 h 1304"/>
                      <a:gd name="T20" fmla="*/ 0 w 927"/>
                      <a:gd name="T21" fmla="*/ 0 h 1304"/>
                      <a:gd name="T22" fmla="*/ 0 w 927"/>
                      <a:gd name="T23" fmla="*/ 0 h 1304"/>
                      <a:gd name="T24" fmla="*/ 0 w 927"/>
                      <a:gd name="T25" fmla="*/ 0 h 1304"/>
                      <a:gd name="T26" fmla="*/ 0 w 927"/>
                      <a:gd name="T27" fmla="*/ 0 h 1304"/>
                      <a:gd name="T28" fmla="*/ 0 w 927"/>
                      <a:gd name="T29" fmla="*/ 0 h 1304"/>
                      <a:gd name="T30" fmla="*/ 0 w 927"/>
                      <a:gd name="T31" fmla="*/ 0 h 1304"/>
                      <a:gd name="T32" fmla="*/ 0 w 927"/>
                      <a:gd name="T33" fmla="*/ 0 h 1304"/>
                      <a:gd name="T34" fmla="*/ 0 w 927"/>
                      <a:gd name="T35" fmla="*/ 0 h 1304"/>
                      <a:gd name="T36" fmla="*/ 0 w 927"/>
                      <a:gd name="T37" fmla="*/ 0 h 1304"/>
                      <a:gd name="T38" fmla="*/ 0 w 927"/>
                      <a:gd name="T39" fmla="*/ 0 h 1304"/>
                      <a:gd name="T40" fmla="*/ 0 w 927"/>
                      <a:gd name="T41" fmla="*/ 0 h 1304"/>
                      <a:gd name="T42" fmla="*/ 0 w 927"/>
                      <a:gd name="T43" fmla="*/ 0 h 1304"/>
                      <a:gd name="T44" fmla="*/ 0 w 927"/>
                      <a:gd name="T45" fmla="*/ 0 h 1304"/>
                      <a:gd name="T46" fmla="*/ 0 w 927"/>
                      <a:gd name="T47" fmla="*/ 0 h 1304"/>
                      <a:gd name="T48" fmla="*/ 0 w 927"/>
                      <a:gd name="T49" fmla="*/ 0 h 1304"/>
                      <a:gd name="T50" fmla="*/ 0 w 927"/>
                      <a:gd name="T51" fmla="*/ 0 h 1304"/>
                      <a:gd name="T52" fmla="*/ 0 w 927"/>
                      <a:gd name="T53" fmla="*/ 0 h 1304"/>
                      <a:gd name="T54" fmla="*/ 0 w 927"/>
                      <a:gd name="T55" fmla="*/ 0 h 1304"/>
                      <a:gd name="T56" fmla="*/ 0 w 927"/>
                      <a:gd name="T57" fmla="*/ 0 h 1304"/>
                      <a:gd name="T58" fmla="*/ 0 w 927"/>
                      <a:gd name="T59" fmla="*/ 0 h 1304"/>
                      <a:gd name="T60" fmla="*/ 0 w 927"/>
                      <a:gd name="T61" fmla="*/ 0 h 1304"/>
                      <a:gd name="T62" fmla="*/ 0 w 927"/>
                      <a:gd name="T63" fmla="*/ 0 h 1304"/>
                      <a:gd name="T64" fmla="*/ 0 w 927"/>
                      <a:gd name="T65" fmla="*/ 0 h 1304"/>
                      <a:gd name="T66" fmla="*/ 0 w 927"/>
                      <a:gd name="T67" fmla="*/ 0 h 1304"/>
                      <a:gd name="T68" fmla="*/ 0 w 927"/>
                      <a:gd name="T69" fmla="*/ 0 h 1304"/>
                      <a:gd name="T70" fmla="*/ 0 w 927"/>
                      <a:gd name="T71" fmla="*/ 0 h 1304"/>
                      <a:gd name="T72" fmla="*/ 0 w 927"/>
                      <a:gd name="T73" fmla="*/ 0 h 1304"/>
                      <a:gd name="T74" fmla="*/ 0 w 927"/>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7"/>
                      <a:gd name="T115" fmla="*/ 0 h 1304"/>
                      <a:gd name="T116" fmla="*/ 927 w 927"/>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7" h="1304">
                        <a:moveTo>
                          <a:pt x="897" y="351"/>
                        </a:moveTo>
                        <a:lnTo>
                          <a:pt x="867" y="315"/>
                        </a:lnTo>
                        <a:lnTo>
                          <a:pt x="821" y="278"/>
                        </a:lnTo>
                        <a:lnTo>
                          <a:pt x="754" y="241"/>
                        </a:lnTo>
                        <a:lnTo>
                          <a:pt x="585" y="148"/>
                        </a:lnTo>
                        <a:lnTo>
                          <a:pt x="399" y="53"/>
                        </a:lnTo>
                        <a:lnTo>
                          <a:pt x="334" y="21"/>
                        </a:lnTo>
                        <a:lnTo>
                          <a:pt x="289" y="6"/>
                        </a:lnTo>
                        <a:lnTo>
                          <a:pt x="255" y="0"/>
                        </a:lnTo>
                        <a:lnTo>
                          <a:pt x="228" y="0"/>
                        </a:lnTo>
                        <a:lnTo>
                          <a:pt x="204" y="5"/>
                        </a:lnTo>
                        <a:lnTo>
                          <a:pt x="182" y="21"/>
                        </a:lnTo>
                        <a:lnTo>
                          <a:pt x="164" y="41"/>
                        </a:lnTo>
                        <a:lnTo>
                          <a:pt x="147" y="76"/>
                        </a:lnTo>
                        <a:lnTo>
                          <a:pt x="0" y="833"/>
                        </a:lnTo>
                        <a:lnTo>
                          <a:pt x="0" y="865"/>
                        </a:lnTo>
                        <a:lnTo>
                          <a:pt x="0" y="906"/>
                        </a:lnTo>
                        <a:lnTo>
                          <a:pt x="6" y="936"/>
                        </a:lnTo>
                        <a:lnTo>
                          <a:pt x="16" y="957"/>
                        </a:lnTo>
                        <a:lnTo>
                          <a:pt x="28" y="978"/>
                        </a:lnTo>
                        <a:lnTo>
                          <a:pt x="56" y="1004"/>
                        </a:lnTo>
                        <a:lnTo>
                          <a:pt x="84" y="1022"/>
                        </a:lnTo>
                        <a:lnTo>
                          <a:pt x="117" y="1041"/>
                        </a:lnTo>
                        <a:lnTo>
                          <a:pt x="557" y="1267"/>
                        </a:lnTo>
                        <a:lnTo>
                          <a:pt x="599" y="1284"/>
                        </a:lnTo>
                        <a:lnTo>
                          <a:pt x="635" y="1295"/>
                        </a:lnTo>
                        <a:lnTo>
                          <a:pt x="677" y="1304"/>
                        </a:lnTo>
                        <a:lnTo>
                          <a:pt x="705" y="1304"/>
                        </a:lnTo>
                        <a:lnTo>
                          <a:pt x="733" y="1295"/>
                        </a:lnTo>
                        <a:lnTo>
                          <a:pt x="754" y="1269"/>
                        </a:lnTo>
                        <a:lnTo>
                          <a:pt x="766" y="1222"/>
                        </a:lnTo>
                        <a:lnTo>
                          <a:pt x="783" y="1162"/>
                        </a:lnTo>
                        <a:lnTo>
                          <a:pt x="859" y="833"/>
                        </a:lnTo>
                        <a:lnTo>
                          <a:pt x="915" y="507"/>
                        </a:lnTo>
                        <a:lnTo>
                          <a:pt x="927" y="431"/>
                        </a:lnTo>
                        <a:lnTo>
                          <a:pt x="925" y="403"/>
                        </a:lnTo>
                        <a:lnTo>
                          <a:pt x="916" y="379"/>
                        </a:lnTo>
                        <a:lnTo>
                          <a:pt x="897" y="351"/>
                        </a:lnTo>
                        <a:close/>
                      </a:path>
                    </a:pathLst>
                  </a:custGeom>
                  <a:solidFill>
                    <a:srgbClr val="606060"/>
                  </a:solidFill>
                  <a:ln w="1588">
                    <a:solidFill>
                      <a:srgbClr val="000000"/>
                    </a:solidFill>
                    <a:prstDash val="solid"/>
                    <a:round/>
                    <a:headEnd/>
                    <a:tailEnd/>
                  </a:ln>
                </p:spPr>
                <p:txBody>
                  <a:bodyPr/>
                  <a:lstStyle/>
                  <a:p>
                    <a:endParaRPr lang="en-US"/>
                  </a:p>
                </p:txBody>
              </p:sp>
              <p:sp>
                <p:nvSpPr>
                  <p:cNvPr id="17637" name="Freeform 251"/>
                  <p:cNvSpPr>
                    <a:spLocks/>
                  </p:cNvSpPr>
                  <p:nvPr/>
                </p:nvSpPr>
                <p:spPr bwMode="auto">
                  <a:xfrm>
                    <a:off x="3451" y="3376"/>
                    <a:ext cx="102"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09" y="431"/>
                        </a:moveTo>
                        <a:lnTo>
                          <a:pt x="1215" y="426"/>
                        </a:lnTo>
                        <a:lnTo>
                          <a:pt x="1156" y="451"/>
                        </a:lnTo>
                        <a:lnTo>
                          <a:pt x="1118" y="467"/>
                        </a:lnTo>
                        <a:lnTo>
                          <a:pt x="1100" y="478"/>
                        </a:lnTo>
                        <a:lnTo>
                          <a:pt x="1072" y="511"/>
                        </a:lnTo>
                        <a:lnTo>
                          <a:pt x="1053" y="552"/>
                        </a:lnTo>
                        <a:lnTo>
                          <a:pt x="772" y="1702"/>
                        </a:lnTo>
                        <a:lnTo>
                          <a:pt x="0" y="1429"/>
                        </a:lnTo>
                        <a:lnTo>
                          <a:pt x="314" y="31"/>
                        </a:lnTo>
                        <a:lnTo>
                          <a:pt x="480" y="0"/>
                        </a:lnTo>
                        <a:lnTo>
                          <a:pt x="1209"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17638" name="Group 267"/>
                  <p:cNvGrpSpPr>
                    <a:grpSpLocks/>
                  </p:cNvGrpSpPr>
                  <p:nvPr/>
                </p:nvGrpSpPr>
                <p:grpSpPr bwMode="auto">
                  <a:xfrm>
                    <a:off x="3508" y="3326"/>
                    <a:ext cx="53" cy="60"/>
                    <a:chOff x="3508" y="3326"/>
                    <a:chExt cx="53" cy="60"/>
                  </a:xfrm>
                </p:grpSpPr>
                <p:sp>
                  <p:nvSpPr>
                    <p:cNvPr id="17658" name="Oval 252"/>
                    <p:cNvSpPr>
                      <a:spLocks noChangeArrowheads="1"/>
                    </p:cNvSpPr>
                    <p:nvPr/>
                  </p:nvSpPr>
                  <p:spPr bwMode="auto">
                    <a:xfrm>
                      <a:off x="3508" y="3326"/>
                      <a:ext cx="53"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7659" name="Group 266"/>
                    <p:cNvGrpSpPr>
                      <a:grpSpLocks/>
                    </p:cNvGrpSpPr>
                    <p:nvPr/>
                  </p:nvGrpSpPr>
                  <p:grpSpPr bwMode="auto">
                    <a:xfrm>
                      <a:off x="3521" y="3336"/>
                      <a:ext cx="29" cy="40"/>
                      <a:chOff x="3521" y="3336"/>
                      <a:chExt cx="29" cy="40"/>
                    </a:xfrm>
                  </p:grpSpPr>
                  <p:sp>
                    <p:nvSpPr>
                      <p:cNvPr id="17660" name="Oval 253"/>
                      <p:cNvSpPr>
                        <a:spLocks noChangeArrowheads="1"/>
                      </p:cNvSpPr>
                      <p:nvPr/>
                    </p:nvSpPr>
                    <p:spPr bwMode="auto">
                      <a:xfrm>
                        <a:off x="3534" y="3354"/>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61" name="Oval 254"/>
                      <p:cNvSpPr>
                        <a:spLocks noChangeArrowheads="1"/>
                      </p:cNvSpPr>
                      <p:nvPr/>
                    </p:nvSpPr>
                    <p:spPr bwMode="auto">
                      <a:xfrm>
                        <a:off x="3544" y="335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62" name="Oval 255"/>
                      <p:cNvSpPr>
                        <a:spLocks noChangeArrowheads="1"/>
                      </p:cNvSpPr>
                      <p:nvPr/>
                    </p:nvSpPr>
                    <p:spPr bwMode="auto">
                      <a:xfrm>
                        <a:off x="3521" y="3364"/>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63" name="Oval 256"/>
                      <p:cNvSpPr>
                        <a:spLocks noChangeArrowheads="1"/>
                      </p:cNvSpPr>
                      <p:nvPr/>
                    </p:nvSpPr>
                    <p:spPr bwMode="auto">
                      <a:xfrm>
                        <a:off x="3531" y="336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64" name="Oval 257"/>
                      <p:cNvSpPr>
                        <a:spLocks noChangeArrowheads="1"/>
                      </p:cNvSpPr>
                      <p:nvPr/>
                    </p:nvSpPr>
                    <p:spPr bwMode="auto">
                      <a:xfrm>
                        <a:off x="3541" y="337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65" name="Oval 258"/>
                      <p:cNvSpPr>
                        <a:spLocks noChangeArrowheads="1"/>
                      </p:cNvSpPr>
                      <p:nvPr/>
                    </p:nvSpPr>
                    <p:spPr bwMode="auto">
                      <a:xfrm>
                        <a:off x="3527" y="3358"/>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66" name="Oval 259"/>
                      <p:cNvSpPr>
                        <a:spLocks noChangeArrowheads="1"/>
                      </p:cNvSpPr>
                      <p:nvPr/>
                    </p:nvSpPr>
                    <p:spPr bwMode="auto">
                      <a:xfrm>
                        <a:off x="3537" y="336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67" name="Oval 260"/>
                      <p:cNvSpPr>
                        <a:spLocks noChangeArrowheads="1"/>
                      </p:cNvSpPr>
                      <p:nvPr/>
                    </p:nvSpPr>
                    <p:spPr bwMode="auto">
                      <a:xfrm>
                        <a:off x="3526" y="3336"/>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68" name="Oval 261"/>
                      <p:cNvSpPr>
                        <a:spLocks noChangeArrowheads="1"/>
                      </p:cNvSpPr>
                      <p:nvPr/>
                    </p:nvSpPr>
                    <p:spPr bwMode="auto">
                      <a:xfrm>
                        <a:off x="3536" y="3340"/>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69" name="Oval 262"/>
                      <p:cNvSpPr>
                        <a:spLocks noChangeArrowheads="1"/>
                      </p:cNvSpPr>
                      <p:nvPr/>
                    </p:nvSpPr>
                    <p:spPr bwMode="auto">
                      <a:xfrm>
                        <a:off x="3547" y="334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70" name="Oval 263"/>
                      <p:cNvSpPr>
                        <a:spLocks noChangeArrowheads="1"/>
                      </p:cNvSpPr>
                      <p:nvPr/>
                    </p:nvSpPr>
                    <p:spPr bwMode="auto">
                      <a:xfrm>
                        <a:off x="3523" y="3350"/>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71" name="Oval 264"/>
                      <p:cNvSpPr>
                        <a:spLocks noChangeArrowheads="1"/>
                      </p:cNvSpPr>
                      <p:nvPr/>
                    </p:nvSpPr>
                    <p:spPr bwMode="auto">
                      <a:xfrm>
                        <a:off x="3530" y="3345"/>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72" name="Oval 265"/>
                      <p:cNvSpPr>
                        <a:spLocks noChangeArrowheads="1"/>
                      </p:cNvSpPr>
                      <p:nvPr/>
                    </p:nvSpPr>
                    <p:spPr bwMode="auto">
                      <a:xfrm>
                        <a:off x="3540" y="3348"/>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7639" name="Group 286"/>
                  <p:cNvGrpSpPr>
                    <a:grpSpLocks/>
                  </p:cNvGrpSpPr>
                  <p:nvPr/>
                </p:nvGrpSpPr>
                <p:grpSpPr bwMode="auto">
                  <a:xfrm>
                    <a:off x="3468" y="3397"/>
                    <a:ext cx="68" cy="111"/>
                    <a:chOff x="3468" y="3397"/>
                    <a:chExt cx="68" cy="111"/>
                  </a:xfrm>
                </p:grpSpPr>
                <p:sp>
                  <p:nvSpPr>
                    <p:cNvPr id="17640" name="Oval 268"/>
                    <p:cNvSpPr>
                      <a:spLocks noChangeArrowheads="1"/>
                    </p:cNvSpPr>
                    <p:nvPr/>
                  </p:nvSpPr>
                  <p:spPr bwMode="auto">
                    <a:xfrm>
                      <a:off x="3502" y="349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41" name="Oval 269"/>
                    <p:cNvSpPr>
                      <a:spLocks noChangeArrowheads="1"/>
                    </p:cNvSpPr>
                    <p:nvPr/>
                  </p:nvSpPr>
                  <p:spPr bwMode="auto">
                    <a:xfrm>
                      <a:off x="3488" y="339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42" name="Oval 270"/>
                    <p:cNvSpPr>
                      <a:spLocks noChangeArrowheads="1"/>
                    </p:cNvSpPr>
                    <p:nvPr/>
                  </p:nvSpPr>
                  <p:spPr bwMode="auto">
                    <a:xfrm>
                      <a:off x="3505" y="340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43" name="Oval 271"/>
                    <p:cNvSpPr>
                      <a:spLocks noChangeArrowheads="1"/>
                    </p:cNvSpPr>
                    <p:nvPr/>
                  </p:nvSpPr>
                  <p:spPr bwMode="auto">
                    <a:xfrm>
                      <a:off x="3522" y="341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44" name="Oval 272"/>
                    <p:cNvSpPr>
                      <a:spLocks noChangeArrowheads="1"/>
                    </p:cNvSpPr>
                    <p:nvPr/>
                  </p:nvSpPr>
                  <p:spPr bwMode="auto">
                    <a:xfrm>
                      <a:off x="3484" y="3414"/>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45" name="Oval 273"/>
                    <p:cNvSpPr>
                      <a:spLocks noChangeArrowheads="1"/>
                    </p:cNvSpPr>
                    <p:nvPr/>
                  </p:nvSpPr>
                  <p:spPr bwMode="auto">
                    <a:xfrm>
                      <a:off x="3501" y="3421"/>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46" name="Oval 274"/>
                    <p:cNvSpPr>
                      <a:spLocks noChangeArrowheads="1"/>
                    </p:cNvSpPr>
                    <p:nvPr/>
                  </p:nvSpPr>
                  <p:spPr bwMode="auto">
                    <a:xfrm>
                      <a:off x="3518" y="342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47" name="Oval 275"/>
                    <p:cNvSpPr>
                      <a:spLocks noChangeArrowheads="1"/>
                    </p:cNvSpPr>
                    <p:nvPr/>
                  </p:nvSpPr>
                  <p:spPr bwMode="auto">
                    <a:xfrm>
                      <a:off x="3479" y="3430"/>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48" name="Oval 276"/>
                    <p:cNvSpPr>
                      <a:spLocks noChangeArrowheads="1"/>
                    </p:cNvSpPr>
                    <p:nvPr/>
                  </p:nvSpPr>
                  <p:spPr bwMode="auto">
                    <a:xfrm>
                      <a:off x="3497" y="3437"/>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49" name="Oval 277"/>
                    <p:cNvSpPr>
                      <a:spLocks noChangeArrowheads="1"/>
                    </p:cNvSpPr>
                    <p:nvPr/>
                  </p:nvSpPr>
                  <p:spPr bwMode="auto">
                    <a:xfrm>
                      <a:off x="3513" y="3444"/>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50" name="Oval 278"/>
                    <p:cNvSpPr>
                      <a:spLocks noChangeArrowheads="1"/>
                    </p:cNvSpPr>
                    <p:nvPr/>
                  </p:nvSpPr>
                  <p:spPr bwMode="auto">
                    <a:xfrm>
                      <a:off x="3475" y="344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51" name="Oval 279"/>
                    <p:cNvSpPr>
                      <a:spLocks noChangeArrowheads="1"/>
                    </p:cNvSpPr>
                    <p:nvPr/>
                  </p:nvSpPr>
                  <p:spPr bwMode="auto">
                    <a:xfrm>
                      <a:off x="3493" y="345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52" name="Oval 280"/>
                    <p:cNvSpPr>
                      <a:spLocks noChangeArrowheads="1"/>
                    </p:cNvSpPr>
                    <p:nvPr/>
                  </p:nvSpPr>
                  <p:spPr bwMode="auto">
                    <a:xfrm>
                      <a:off x="3509" y="346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53" name="Oval 281"/>
                    <p:cNvSpPr>
                      <a:spLocks noChangeArrowheads="1"/>
                    </p:cNvSpPr>
                    <p:nvPr/>
                  </p:nvSpPr>
                  <p:spPr bwMode="auto">
                    <a:xfrm>
                      <a:off x="3471" y="3462"/>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54" name="Oval 282"/>
                    <p:cNvSpPr>
                      <a:spLocks noChangeArrowheads="1"/>
                    </p:cNvSpPr>
                    <p:nvPr/>
                  </p:nvSpPr>
                  <p:spPr bwMode="auto">
                    <a:xfrm>
                      <a:off x="3489" y="3469"/>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55" name="Oval 283"/>
                    <p:cNvSpPr>
                      <a:spLocks noChangeArrowheads="1"/>
                    </p:cNvSpPr>
                    <p:nvPr/>
                  </p:nvSpPr>
                  <p:spPr bwMode="auto">
                    <a:xfrm>
                      <a:off x="3505" y="347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56" name="Oval 284"/>
                    <p:cNvSpPr>
                      <a:spLocks noChangeArrowheads="1"/>
                    </p:cNvSpPr>
                    <p:nvPr/>
                  </p:nvSpPr>
                  <p:spPr bwMode="auto">
                    <a:xfrm>
                      <a:off x="3468" y="347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57" name="Oval 285"/>
                    <p:cNvSpPr>
                      <a:spLocks noChangeArrowheads="1"/>
                    </p:cNvSpPr>
                    <p:nvPr/>
                  </p:nvSpPr>
                  <p:spPr bwMode="auto">
                    <a:xfrm>
                      <a:off x="3485" y="348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7622" name="Group 298"/>
                <p:cNvGrpSpPr>
                  <a:grpSpLocks/>
                </p:cNvGrpSpPr>
                <p:nvPr/>
              </p:nvGrpSpPr>
              <p:grpSpPr bwMode="auto">
                <a:xfrm>
                  <a:off x="3401" y="3356"/>
                  <a:ext cx="80" cy="92"/>
                  <a:chOff x="3401" y="3356"/>
                  <a:chExt cx="80" cy="92"/>
                </a:xfrm>
              </p:grpSpPr>
              <p:grpSp>
                <p:nvGrpSpPr>
                  <p:cNvPr id="17623" name="Group 290"/>
                  <p:cNvGrpSpPr>
                    <a:grpSpLocks/>
                  </p:cNvGrpSpPr>
                  <p:nvPr/>
                </p:nvGrpSpPr>
                <p:grpSpPr bwMode="auto">
                  <a:xfrm>
                    <a:off x="3426" y="3385"/>
                    <a:ext cx="40" cy="42"/>
                    <a:chOff x="3426" y="3385"/>
                    <a:chExt cx="40" cy="42"/>
                  </a:xfrm>
                </p:grpSpPr>
                <p:sp>
                  <p:nvSpPr>
                    <p:cNvPr id="17631" name="Freeform 288"/>
                    <p:cNvSpPr>
                      <a:spLocks/>
                    </p:cNvSpPr>
                    <p:nvPr/>
                  </p:nvSpPr>
                  <p:spPr bwMode="auto">
                    <a:xfrm>
                      <a:off x="3426" y="3385"/>
                      <a:ext cx="40"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4" y="52"/>
                          </a:lnTo>
                          <a:lnTo>
                            <a:pt x="244" y="74"/>
                          </a:lnTo>
                          <a:lnTo>
                            <a:pt x="335" y="134"/>
                          </a:lnTo>
                          <a:lnTo>
                            <a:pt x="362" y="166"/>
                          </a:lnTo>
                          <a:lnTo>
                            <a:pt x="390" y="218"/>
                          </a:lnTo>
                          <a:lnTo>
                            <a:pt x="425" y="278"/>
                          </a:lnTo>
                          <a:lnTo>
                            <a:pt x="456" y="341"/>
                          </a:lnTo>
                          <a:lnTo>
                            <a:pt x="471" y="378"/>
                          </a:lnTo>
                          <a:lnTo>
                            <a:pt x="475" y="404"/>
                          </a:lnTo>
                          <a:lnTo>
                            <a:pt x="475" y="427"/>
                          </a:lnTo>
                          <a:lnTo>
                            <a:pt x="467" y="445"/>
                          </a:lnTo>
                          <a:lnTo>
                            <a:pt x="447" y="467"/>
                          </a:lnTo>
                          <a:lnTo>
                            <a:pt x="428" y="483"/>
                          </a:lnTo>
                          <a:lnTo>
                            <a:pt x="387" y="493"/>
                          </a:lnTo>
                          <a:lnTo>
                            <a:pt x="357" y="497"/>
                          </a:lnTo>
                          <a:lnTo>
                            <a:pt x="318" y="497"/>
                          </a:lnTo>
                          <a:lnTo>
                            <a:pt x="290" y="488"/>
                          </a:lnTo>
                          <a:lnTo>
                            <a:pt x="261" y="471"/>
                          </a:lnTo>
                          <a:lnTo>
                            <a:pt x="242" y="460"/>
                          </a:lnTo>
                          <a:lnTo>
                            <a:pt x="220" y="441"/>
                          </a:lnTo>
                          <a:lnTo>
                            <a:pt x="205" y="419"/>
                          </a:lnTo>
                          <a:lnTo>
                            <a:pt x="186" y="387"/>
                          </a:lnTo>
                          <a:lnTo>
                            <a:pt x="168" y="356"/>
                          </a:lnTo>
                          <a:lnTo>
                            <a:pt x="161"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32" name="Freeform 289"/>
                    <p:cNvSpPr>
                      <a:spLocks/>
                    </p:cNvSpPr>
                    <p:nvPr/>
                  </p:nvSpPr>
                  <p:spPr bwMode="auto">
                    <a:xfrm>
                      <a:off x="3426" y="3385"/>
                      <a:ext cx="40"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4" y="52"/>
                          </a:lnTo>
                          <a:lnTo>
                            <a:pt x="244" y="74"/>
                          </a:lnTo>
                          <a:lnTo>
                            <a:pt x="335" y="134"/>
                          </a:lnTo>
                          <a:lnTo>
                            <a:pt x="362" y="166"/>
                          </a:lnTo>
                          <a:lnTo>
                            <a:pt x="390" y="218"/>
                          </a:lnTo>
                          <a:lnTo>
                            <a:pt x="425" y="278"/>
                          </a:lnTo>
                          <a:lnTo>
                            <a:pt x="456" y="341"/>
                          </a:lnTo>
                          <a:lnTo>
                            <a:pt x="471" y="378"/>
                          </a:lnTo>
                          <a:lnTo>
                            <a:pt x="475" y="404"/>
                          </a:lnTo>
                          <a:lnTo>
                            <a:pt x="475" y="427"/>
                          </a:lnTo>
                          <a:lnTo>
                            <a:pt x="467" y="445"/>
                          </a:lnTo>
                          <a:lnTo>
                            <a:pt x="447" y="467"/>
                          </a:lnTo>
                          <a:lnTo>
                            <a:pt x="428" y="483"/>
                          </a:lnTo>
                          <a:lnTo>
                            <a:pt x="387" y="493"/>
                          </a:lnTo>
                          <a:lnTo>
                            <a:pt x="357" y="497"/>
                          </a:lnTo>
                          <a:lnTo>
                            <a:pt x="318" y="497"/>
                          </a:lnTo>
                          <a:lnTo>
                            <a:pt x="290" y="488"/>
                          </a:lnTo>
                          <a:lnTo>
                            <a:pt x="261" y="471"/>
                          </a:lnTo>
                          <a:lnTo>
                            <a:pt x="242" y="460"/>
                          </a:lnTo>
                          <a:lnTo>
                            <a:pt x="220" y="441"/>
                          </a:lnTo>
                          <a:lnTo>
                            <a:pt x="205" y="419"/>
                          </a:lnTo>
                          <a:lnTo>
                            <a:pt x="186" y="387"/>
                          </a:lnTo>
                          <a:lnTo>
                            <a:pt x="168" y="356"/>
                          </a:lnTo>
                          <a:lnTo>
                            <a:pt x="161"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624" name="Group 293"/>
                  <p:cNvGrpSpPr>
                    <a:grpSpLocks/>
                  </p:cNvGrpSpPr>
                  <p:nvPr/>
                </p:nvGrpSpPr>
                <p:grpSpPr bwMode="auto">
                  <a:xfrm>
                    <a:off x="3447" y="3367"/>
                    <a:ext cx="29" cy="32"/>
                    <a:chOff x="3447" y="3367"/>
                    <a:chExt cx="29" cy="32"/>
                  </a:xfrm>
                </p:grpSpPr>
                <p:sp>
                  <p:nvSpPr>
                    <p:cNvPr id="17629" name="Freeform 291"/>
                    <p:cNvSpPr>
                      <a:spLocks/>
                    </p:cNvSpPr>
                    <p:nvPr/>
                  </p:nvSpPr>
                  <p:spPr bwMode="auto">
                    <a:xfrm>
                      <a:off x="3447" y="3367"/>
                      <a:ext cx="29" cy="32"/>
                    </a:xfrm>
                    <a:custGeom>
                      <a:avLst/>
                      <a:gdLst>
                        <a:gd name="T0" fmla="*/ 0 w 352"/>
                        <a:gd name="T1" fmla="*/ 0 h 390"/>
                        <a:gd name="T2" fmla="*/ 0 w 352"/>
                        <a:gd name="T3" fmla="*/ 0 h 390"/>
                        <a:gd name="T4" fmla="*/ 0 w 352"/>
                        <a:gd name="T5" fmla="*/ 0 h 390"/>
                        <a:gd name="T6" fmla="*/ 0 w 352"/>
                        <a:gd name="T7" fmla="*/ 0 h 390"/>
                        <a:gd name="T8" fmla="*/ 0 w 352"/>
                        <a:gd name="T9" fmla="*/ 0 h 390"/>
                        <a:gd name="T10" fmla="*/ 0 w 352"/>
                        <a:gd name="T11" fmla="*/ 0 h 390"/>
                        <a:gd name="T12" fmla="*/ 0 w 352"/>
                        <a:gd name="T13" fmla="*/ 0 h 390"/>
                        <a:gd name="T14" fmla="*/ 0 w 352"/>
                        <a:gd name="T15" fmla="*/ 0 h 390"/>
                        <a:gd name="T16" fmla="*/ 0 w 352"/>
                        <a:gd name="T17" fmla="*/ 0 h 390"/>
                        <a:gd name="T18" fmla="*/ 0 w 352"/>
                        <a:gd name="T19" fmla="*/ 0 h 390"/>
                        <a:gd name="T20" fmla="*/ 0 w 352"/>
                        <a:gd name="T21" fmla="*/ 0 h 390"/>
                        <a:gd name="T22" fmla="*/ 0 w 352"/>
                        <a:gd name="T23" fmla="*/ 0 h 390"/>
                        <a:gd name="T24" fmla="*/ 0 w 352"/>
                        <a:gd name="T25" fmla="*/ 0 h 390"/>
                        <a:gd name="T26" fmla="*/ 0 w 352"/>
                        <a:gd name="T27" fmla="*/ 0 h 390"/>
                        <a:gd name="T28" fmla="*/ 0 w 352"/>
                        <a:gd name="T29" fmla="*/ 0 h 390"/>
                        <a:gd name="T30" fmla="*/ 0 w 352"/>
                        <a:gd name="T31" fmla="*/ 0 h 390"/>
                        <a:gd name="T32" fmla="*/ 0 w 352"/>
                        <a:gd name="T33" fmla="*/ 0 h 390"/>
                        <a:gd name="T34" fmla="*/ 0 w 352"/>
                        <a:gd name="T35" fmla="*/ 0 h 390"/>
                        <a:gd name="T36" fmla="*/ 0 w 352"/>
                        <a:gd name="T37" fmla="*/ 0 h 390"/>
                        <a:gd name="T38" fmla="*/ 0 w 352"/>
                        <a:gd name="T39" fmla="*/ 0 h 390"/>
                        <a:gd name="T40" fmla="*/ 0 w 352"/>
                        <a:gd name="T41" fmla="*/ 0 h 390"/>
                        <a:gd name="T42" fmla="*/ 0 w 352"/>
                        <a:gd name="T43" fmla="*/ 0 h 390"/>
                        <a:gd name="T44" fmla="*/ 0 w 352"/>
                        <a:gd name="T45" fmla="*/ 0 h 390"/>
                        <a:gd name="T46" fmla="*/ 0 w 352"/>
                        <a:gd name="T47" fmla="*/ 0 h 390"/>
                        <a:gd name="T48" fmla="*/ 0 w 352"/>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2"/>
                        <a:gd name="T76" fmla="*/ 0 h 390"/>
                        <a:gd name="T77" fmla="*/ 352 w 352"/>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2" h="390">
                          <a:moveTo>
                            <a:pt x="0" y="0"/>
                          </a:moveTo>
                          <a:lnTo>
                            <a:pt x="83" y="9"/>
                          </a:lnTo>
                          <a:lnTo>
                            <a:pt x="134" y="25"/>
                          </a:lnTo>
                          <a:lnTo>
                            <a:pt x="177" y="52"/>
                          </a:lnTo>
                          <a:lnTo>
                            <a:pt x="218" y="77"/>
                          </a:lnTo>
                          <a:lnTo>
                            <a:pt x="240" y="104"/>
                          </a:lnTo>
                          <a:lnTo>
                            <a:pt x="268" y="130"/>
                          </a:lnTo>
                          <a:lnTo>
                            <a:pt x="297" y="178"/>
                          </a:lnTo>
                          <a:lnTo>
                            <a:pt x="321" y="223"/>
                          </a:lnTo>
                          <a:lnTo>
                            <a:pt x="337" y="257"/>
                          </a:lnTo>
                          <a:lnTo>
                            <a:pt x="352" y="287"/>
                          </a:lnTo>
                          <a:lnTo>
                            <a:pt x="352" y="323"/>
                          </a:lnTo>
                          <a:lnTo>
                            <a:pt x="332" y="355"/>
                          </a:lnTo>
                          <a:lnTo>
                            <a:pt x="293" y="373"/>
                          </a:lnTo>
                          <a:lnTo>
                            <a:pt x="246" y="386"/>
                          </a:lnTo>
                          <a:lnTo>
                            <a:pt x="208" y="390"/>
                          </a:lnTo>
                          <a:lnTo>
                            <a:pt x="165" y="376"/>
                          </a:lnTo>
                          <a:lnTo>
                            <a:pt x="126" y="360"/>
                          </a:lnTo>
                          <a:lnTo>
                            <a:pt x="87"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30" name="Freeform 292"/>
                    <p:cNvSpPr>
                      <a:spLocks/>
                    </p:cNvSpPr>
                    <p:nvPr/>
                  </p:nvSpPr>
                  <p:spPr bwMode="auto">
                    <a:xfrm>
                      <a:off x="3447" y="3367"/>
                      <a:ext cx="29" cy="32"/>
                    </a:xfrm>
                    <a:custGeom>
                      <a:avLst/>
                      <a:gdLst>
                        <a:gd name="T0" fmla="*/ 0 w 352"/>
                        <a:gd name="T1" fmla="*/ 0 h 390"/>
                        <a:gd name="T2" fmla="*/ 0 w 352"/>
                        <a:gd name="T3" fmla="*/ 0 h 390"/>
                        <a:gd name="T4" fmla="*/ 0 w 352"/>
                        <a:gd name="T5" fmla="*/ 0 h 390"/>
                        <a:gd name="T6" fmla="*/ 0 w 352"/>
                        <a:gd name="T7" fmla="*/ 0 h 390"/>
                        <a:gd name="T8" fmla="*/ 0 w 352"/>
                        <a:gd name="T9" fmla="*/ 0 h 390"/>
                        <a:gd name="T10" fmla="*/ 0 w 352"/>
                        <a:gd name="T11" fmla="*/ 0 h 390"/>
                        <a:gd name="T12" fmla="*/ 0 w 352"/>
                        <a:gd name="T13" fmla="*/ 0 h 390"/>
                        <a:gd name="T14" fmla="*/ 0 w 352"/>
                        <a:gd name="T15" fmla="*/ 0 h 390"/>
                        <a:gd name="T16" fmla="*/ 0 w 352"/>
                        <a:gd name="T17" fmla="*/ 0 h 390"/>
                        <a:gd name="T18" fmla="*/ 0 w 352"/>
                        <a:gd name="T19" fmla="*/ 0 h 390"/>
                        <a:gd name="T20" fmla="*/ 0 w 352"/>
                        <a:gd name="T21" fmla="*/ 0 h 390"/>
                        <a:gd name="T22" fmla="*/ 0 w 352"/>
                        <a:gd name="T23" fmla="*/ 0 h 390"/>
                        <a:gd name="T24" fmla="*/ 0 w 352"/>
                        <a:gd name="T25" fmla="*/ 0 h 390"/>
                        <a:gd name="T26" fmla="*/ 0 w 352"/>
                        <a:gd name="T27" fmla="*/ 0 h 390"/>
                        <a:gd name="T28" fmla="*/ 0 w 352"/>
                        <a:gd name="T29" fmla="*/ 0 h 390"/>
                        <a:gd name="T30" fmla="*/ 0 w 352"/>
                        <a:gd name="T31" fmla="*/ 0 h 390"/>
                        <a:gd name="T32" fmla="*/ 0 w 352"/>
                        <a:gd name="T33" fmla="*/ 0 h 390"/>
                        <a:gd name="T34" fmla="*/ 0 w 352"/>
                        <a:gd name="T35" fmla="*/ 0 h 390"/>
                        <a:gd name="T36" fmla="*/ 0 w 352"/>
                        <a:gd name="T37" fmla="*/ 0 h 390"/>
                        <a:gd name="T38" fmla="*/ 0 w 352"/>
                        <a:gd name="T39" fmla="*/ 0 h 390"/>
                        <a:gd name="T40" fmla="*/ 0 w 352"/>
                        <a:gd name="T41" fmla="*/ 0 h 390"/>
                        <a:gd name="T42" fmla="*/ 0 w 352"/>
                        <a:gd name="T43" fmla="*/ 0 h 390"/>
                        <a:gd name="T44" fmla="*/ 0 w 352"/>
                        <a:gd name="T45" fmla="*/ 0 h 390"/>
                        <a:gd name="T46" fmla="*/ 0 w 352"/>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2"/>
                        <a:gd name="T73" fmla="*/ 0 h 390"/>
                        <a:gd name="T74" fmla="*/ 352 w 352"/>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2" h="390">
                          <a:moveTo>
                            <a:pt x="0" y="0"/>
                          </a:moveTo>
                          <a:lnTo>
                            <a:pt x="83" y="9"/>
                          </a:lnTo>
                          <a:lnTo>
                            <a:pt x="134" y="25"/>
                          </a:lnTo>
                          <a:lnTo>
                            <a:pt x="177" y="52"/>
                          </a:lnTo>
                          <a:lnTo>
                            <a:pt x="218" y="77"/>
                          </a:lnTo>
                          <a:lnTo>
                            <a:pt x="240" y="104"/>
                          </a:lnTo>
                          <a:lnTo>
                            <a:pt x="268" y="130"/>
                          </a:lnTo>
                          <a:lnTo>
                            <a:pt x="297" y="178"/>
                          </a:lnTo>
                          <a:lnTo>
                            <a:pt x="321" y="223"/>
                          </a:lnTo>
                          <a:lnTo>
                            <a:pt x="337" y="257"/>
                          </a:lnTo>
                          <a:lnTo>
                            <a:pt x="352" y="287"/>
                          </a:lnTo>
                          <a:lnTo>
                            <a:pt x="352" y="323"/>
                          </a:lnTo>
                          <a:lnTo>
                            <a:pt x="332" y="355"/>
                          </a:lnTo>
                          <a:lnTo>
                            <a:pt x="293" y="373"/>
                          </a:lnTo>
                          <a:lnTo>
                            <a:pt x="246" y="386"/>
                          </a:lnTo>
                          <a:lnTo>
                            <a:pt x="208" y="390"/>
                          </a:lnTo>
                          <a:lnTo>
                            <a:pt x="165" y="376"/>
                          </a:lnTo>
                          <a:lnTo>
                            <a:pt x="126" y="360"/>
                          </a:lnTo>
                          <a:lnTo>
                            <a:pt x="87"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625" name="Group 296"/>
                  <p:cNvGrpSpPr>
                    <a:grpSpLocks/>
                  </p:cNvGrpSpPr>
                  <p:nvPr/>
                </p:nvGrpSpPr>
                <p:grpSpPr bwMode="auto">
                  <a:xfrm>
                    <a:off x="3401" y="3412"/>
                    <a:ext cx="62" cy="36"/>
                    <a:chOff x="3401" y="3412"/>
                    <a:chExt cx="62" cy="36"/>
                  </a:xfrm>
                </p:grpSpPr>
                <p:sp>
                  <p:nvSpPr>
                    <p:cNvPr id="17627" name="Freeform 294"/>
                    <p:cNvSpPr>
                      <a:spLocks/>
                    </p:cNvSpPr>
                    <p:nvPr/>
                  </p:nvSpPr>
                  <p:spPr bwMode="auto">
                    <a:xfrm>
                      <a:off x="3401" y="3412"/>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6" y="16"/>
                          </a:lnTo>
                          <a:lnTo>
                            <a:pt x="224" y="28"/>
                          </a:lnTo>
                          <a:lnTo>
                            <a:pt x="272" y="42"/>
                          </a:lnTo>
                          <a:lnTo>
                            <a:pt x="327" y="69"/>
                          </a:lnTo>
                          <a:lnTo>
                            <a:pt x="404" y="147"/>
                          </a:lnTo>
                          <a:lnTo>
                            <a:pt x="505" y="205"/>
                          </a:lnTo>
                          <a:lnTo>
                            <a:pt x="581" y="231"/>
                          </a:lnTo>
                          <a:lnTo>
                            <a:pt x="638" y="252"/>
                          </a:lnTo>
                          <a:lnTo>
                            <a:pt x="686" y="274"/>
                          </a:lnTo>
                          <a:lnTo>
                            <a:pt x="714" y="296"/>
                          </a:lnTo>
                          <a:lnTo>
                            <a:pt x="742" y="317"/>
                          </a:lnTo>
                          <a:lnTo>
                            <a:pt x="742" y="349"/>
                          </a:lnTo>
                          <a:lnTo>
                            <a:pt x="732" y="381"/>
                          </a:lnTo>
                          <a:lnTo>
                            <a:pt x="714" y="402"/>
                          </a:lnTo>
                          <a:lnTo>
                            <a:pt x="695" y="413"/>
                          </a:lnTo>
                          <a:lnTo>
                            <a:pt x="669" y="426"/>
                          </a:lnTo>
                          <a:lnTo>
                            <a:pt x="634" y="432"/>
                          </a:lnTo>
                          <a:lnTo>
                            <a:pt x="604" y="432"/>
                          </a:lnTo>
                          <a:lnTo>
                            <a:pt x="566" y="420"/>
                          </a:lnTo>
                          <a:lnTo>
                            <a:pt x="534" y="413"/>
                          </a:lnTo>
                          <a:lnTo>
                            <a:pt x="432" y="369"/>
                          </a:lnTo>
                          <a:lnTo>
                            <a:pt x="355" y="349"/>
                          </a:lnTo>
                          <a:lnTo>
                            <a:pt x="309" y="340"/>
                          </a:lnTo>
                          <a:lnTo>
                            <a:pt x="260" y="328"/>
                          </a:lnTo>
                          <a:lnTo>
                            <a:pt x="210" y="306"/>
                          </a:lnTo>
                          <a:lnTo>
                            <a:pt x="172" y="286"/>
                          </a:lnTo>
                          <a:lnTo>
                            <a:pt x="154"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28" name="Freeform 295"/>
                    <p:cNvSpPr>
                      <a:spLocks/>
                    </p:cNvSpPr>
                    <p:nvPr/>
                  </p:nvSpPr>
                  <p:spPr bwMode="auto">
                    <a:xfrm>
                      <a:off x="3401" y="3412"/>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6" y="16"/>
                          </a:lnTo>
                          <a:lnTo>
                            <a:pt x="224" y="28"/>
                          </a:lnTo>
                          <a:lnTo>
                            <a:pt x="272" y="42"/>
                          </a:lnTo>
                          <a:lnTo>
                            <a:pt x="327" y="69"/>
                          </a:lnTo>
                          <a:lnTo>
                            <a:pt x="404" y="147"/>
                          </a:lnTo>
                          <a:lnTo>
                            <a:pt x="505" y="205"/>
                          </a:lnTo>
                          <a:lnTo>
                            <a:pt x="581" y="231"/>
                          </a:lnTo>
                          <a:lnTo>
                            <a:pt x="638" y="252"/>
                          </a:lnTo>
                          <a:lnTo>
                            <a:pt x="686" y="274"/>
                          </a:lnTo>
                          <a:lnTo>
                            <a:pt x="714" y="296"/>
                          </a:lnTo>
                          <a:lnTo>
                            <a:pt x="742" y="317"/>
                          </a:lnTo>
                          <a:lnTo>
                            <a:pt x="742" y="349"/>
                          </a:lnTo>
                          <a:lnTo>
                            <a:pt x="732" y="381"/>
                          </a:lnTo>
                          <a:lnTo>
                            <a:pt x="714" y="402"/>
                          </a:lnTo>
                          <a:lnTo>
                            <a:pt x="695" y="413"/>
                          </a:lnTo>
                          <a:lnTo>
                            <a:pt x="669" y="426"/>
                          </a:lnTo>
                          <a:lnTo>
                            <a:pt x="634" y="432"/>
                          </a:lnTo>
                          <a:lnTo>
                            <a:pt x="604" y="432"/>
                          </a:lnTo>
                          <a:lnTo>
                            <a:pt x="566" y="420"/>
                          </a:lnTo>
                          <a:lnTo>
                            <a:pt x="534" y="413"/>
                          </a:lnTo>
                          <a:lnTo>
                            <a:pt x="432" y="369"/>
                          </a:lnTo>
                          <a:lnTo>
                            <a:pt x="355" y="349"/>
                          </a:lnTo>
                          <a:lnTo>
                            <a:pt x="309" y="340"/>
                          </a:lnTo>
                          <a:lnTo>
                            <a:pt x="260" y="328"/>
                          </a:lnTo>
                          <a:lnTo>
                            <a:pt x="210" y="306"/>
                          </a:lnTo>
                          <a:lnTo>
                            <a:pt x="172" y="286"/>
                          </a:lnTo>
                          <a:lnTo>
                            <a:pt x="154"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626" name="Freeform 297"/>
                  <p:cNvSpPr>
                    <a:spLocks/>
                  </p:cNvSpPr>
                  <p:nvPr/>
                </p:nvSpPr>
                <p:spPr bwMode="auto">
                  <a:xfrm>
                    <a:off x="3447" y="3356"/>
                    <a:ext cx="34"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50" y="4"/>
                        </a:lnTo>
                        <a:lnTo>
                          <a:pt x="293" y="6"/>
                        </a:lnTo>
                        <a:lnTo>
                          <a:pt x="340" y="10"/>
                        </a:lnTo>
                        <a:lnTo>
                          <a:pt x="372" y="20"/>
                        </a:lnTo>
                        <a:lnTo>
                          <a:pt x="386" y="35"/>
                        </a:lnTo>
                        <a:lnTo>
                          <a:pt x="399" y="57"/>
                        </a:lnTo>
                        <a:lnTo>
                          <a:pt x="407" y="83"/>
                        </a:lnTo>
                        <a:lnTo>
                          <a:pt x="412" y="116"/>
                        </a:lnTo>
                        <a:lnTo>
                          <a:pt x="414" y="154"/>
                        </a:lnTo>
                        <a:lnTo>
                          <a:pt x="407" y="191"/>
                        </a:lnTo>
                        <a:lnTo>
                          <a:pt x="395" y="221"/>
                        </a:lnTo>
                        <a:lnTo>
                          <a:pt x="375" y="240"/>
                        </a:lnTo>
                        <a:lnTo>
                          <a:pt x="356" y="252"/>
                        </a:lnTo>
                        <a:lnTo>
                          <a:pt x="327" y="259"/>
                        </a:lnTo>
                        <a:lnTo>
                          <a:pt x="299" y="262"/>
                        </a:lnTo>
                        <a:lnTo>
                          <a:pt x="272" y="259"/>
                        </a:lnTo>
                        <a:lnTo>
                          <a:pt x="243" y="233"/>
                        </a:lnTo>
                        <a:lnTo>
                          <a:pt x="224" y="210"/>
                        </a:lnTo>
                        <a:lnTo>
                          <a:pt x="195" y="189"/>
                        </a:lnTo>
                        <a:lnTo>
                          <a:pt x="167" y="172"/>
                        </a:lnTo>
                        <a:lnTo>
                          <a:pt x="135" y="153"/>
                        </a:lnTo>
                        <a:lnTo>
                          <a:pt x="105" y="141"/>
                        </a:lnTo>
                        <a:lnTo>
                          <a:pt x="80" y="134"/>
                        </a:lnTo>
                        <a:lnTo>
                          <a:pt x="57"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grpSp>
        <p:grpSp>
          <p:nvGrpSpPr>
            <p:cNvPr id="17613" name="Group 309"/>
            <p:cNvGrpSpPr>
              <a:grpSpLocks/>
            </p:cNvGrpSpPr>
            <p:nvPr/>
          </p:nvGrpSpPr>
          <p:grpSpPr bwMode="auto">
            <a:xfrm>
              <a:off x="2927" y="3146"/>
              <a:ext cx="377" cy="205"/>
              <a:chOff x="2927" y="3146"/>
              <a:chExt cx="377" cy="205"/>
            </a:xfrm>
          </p:grpSpPr>
          <p:sp>
            <p:nvSpPr>
              <p:cNvPr id="17616" name="Line 307"/>
              <p:cNvSpPr>
                <a:spLocks noChangeShapeType="1"/>
              </p:cNvSpPr>
              <p:nvPr/>
            </p:nvSpPr>
            <p:spPr bwMode="auto">
              <a:xfrm flipH="1" flipV="1">
                <a:off x="2927" y="3146"/>
                <a:ext cx="377" cy="2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17" name="Freeform 308"/>
              <p:cNvSpPr>
                <a:spLocks/>
              </p:cNvSpPr>
              <p:nvPr/>
            </p:nvSpPr>
            <p:spPr bwMode="auto">
              <a:xfrm>
                <a:off x="2928" y="3147"/>
                <a:ext cx="78" cy="63"/>
              </a:xfrm>
              <a:custGeom>
                <a:avLst/>
                <a:gdLst>
                  <a:gd name="T0" fmla="*/ 78 w 78"/>
                  <a:gd name="T1" fmla="*/ 2 h 63"/>
                  <a:gd name="T2" fmla="*/ 0 w 78"/>
                  <a:gd name="T3" fmla="*/ 0 h 63"/>
                  <a:gd name="T4" fmla="*/ 44 w 78"/>
                  <a:gd name="T5" fmla="*/ 63 h 63"/>
                  <a:gd name="T6" fmla="*/ 0 60000 65536"/>
                  <a:gd name="T7" fmla="*/ 0 60000 65536"/>
                  <a:gd name="T8" fmla="*/ 0 60000 65536"/>
                  <a:gd name="T9" fmla="*/ 0 w 78"/>
                  <a:gd name="T10" fmla="*/ 0 h 63"/>
                  <a:gd name="T11" fmla="*/ 78 w 78"/>
                  <a:gd name="T12" fmla="*/ 63 h 63"/>
                </a:gdLst>
                <a:ahLst/>
                <a:cxnLst>
                  <a:cxn ang="T6">
                    <a:pos x="T0" y="T1"/>
                  </a:cxn>
                  <a:cxn ang="T7">
                    <a:pos x="T2" y="T3"/>
                  </a:cxn>
                  <a:cxn ang="T8">
                    <a:pos x="T4" y="T5"/>
                  </a:cxn>
                </a:cxnLst>
                <a:rect l="T9" t="T10" r="T11" b="T12"/>
                <a:pathLst>
                  <a:path w="78" h="63">
                    <a:moveTo>
                      <a:pt x="78" y="2"/>
                    </a:moveTo>
                    <a:lnTo>
                      <a:pt x="0" y="0"/>
                    </a:lnTo>
                    <a:lnTo>
                      <a:pt x="44" y="63"/>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615" name="AutoShape 37" descr="Wide upward diagonal"/>
            <p:cNvSpPr>
              <a:spLocks noChangeArrowheads="1"/>
            </p:cNvSpPr>
            <p:nvPr/>
          </p:nvSpPr>
          <p:spPr bwMode="auto">
            <a:xfrm>
              <a:off x="3261" y="2055"/>
              <a:ext cx="1130" cy="206"/>
            </a:xfrm>
            <a:prstGeom prst="cube">
              <a:avLst>
                <a:gd name="adj" fmla="val 25000"/>
              </a:avLst>
            </a:prstGeom>
            <a:pattFill prst="wdUpDiag">
              <a:fgClr>
                <a:srgbClr val="FF66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nvGrpSpPr>
          <p:cNvPr id="21" name="Group 323"/>
          <p:cNvGrpSpPr>
            <a:grpSpLocks/>
          </p:cNvGrpSpPr>
          <p:nvPr/>
        </p:nvGrpSpPr>
        <p:grpSpPr bwMode="auto">
          <a:xfrm>
            <a:off x="2884179" y="2756327"/>
            <a:ext cx="4514850" cy="3024192"/>
            <a:chOff x="973" y="2225"/>
            <a:chExt cx="2844" cy="1905"/>
          </a:xfrm>
        </p:grpSpPr>
        <p:grpSp>
          <p:nvGrpSpPr>
            <p:cNvPr id="17537" name="Group 80"/>
            <p:cNvGrpSpPr>
              <a:grpSpLocks/>
            </p:cNvGrpSpPr>
            <p:nvPr/>
          </p:nvGrpSpPr>
          <p:grpSpPr bwMode="auto">
            <a:xfrm>
              <a:off x="973" y="2259"/>
              <a:ext cx="673" cy="152"/>
              <a:chOff x="973" y="2259"/>
              <a:chExt cx="673" cy="152"/>
            </a:xfrm>
          </p:grpSpPr>
          <p:sp>
            <p:nvSpPr>
              <p:cNvPr id="17609" name="Rectangle 58" descr="Large grid"/>
              <p:cNvSpPr>
                <a:spLocks noChangeArrowheads="1"/>
              </p:cNvSpPr>
              <p:nvPr/>
            </p:nvSpPr>
            <p:spPr bwMode="auto">
              <a:xfrm>
                <a:off x="973" y="2259"/>
                <a:ext cx="673" cy="152"/>
              </a:xfrm>
              <a:prstGeom prst="rect">
                <a:avLst/>
              </a:prstGeom>
              <a:pattFill prst="lgGrid">
                <a:fgClr>
                  <a:srgbClr val="FFCCCC"/>
                </a:fgClr>
                <a:bgClr>
                  <a:srgbClr val="FFFFFF"/>
                </a:bgClr>
              </a:pattFill>
              <a:ln w="9525">
                <a:solidFill>
                  <a:srgbClr val="000000"/>
                </a:solidFill>
                <a:miter lim="800000"/>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10" name="Rectangle 59"/>
              <p:cNvSpPr>
                <a:spLocks noChangeArrowheads="1"/>
              </p:cNvSpPr>
              <p:nvPr/>
            </p:nvSpPr>
            <p:spPr bwMode="auto">
              <a:xfrm>
                <a:off x="1198" y="2264"/>
                <a:ext cx="29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User 2</a:t>
                </a:r>
                <a:endParaRPr lang="en-US" altLang="en-US" sz="1400" dirty="0">
                  <a:latin typeface="Arial" panose="020B0604020202020204" pitchFamily="34" charset="0"/>
                </a:endParaRPr>
              </a:p>
            </p:txBody>
          </p:sp>
        </p:grpSp>
        <p:grpSp>
          <p:nvGrpSpPr>
            <p:cNvPr id="17538" name="Group 234"/>
            <p:cNvGrpSpPr>
              <a:grpSpLocks/>
            </p:cNvGrpSpPr>
            <p:nvPr/>
          </p:nvGrpSpPr>
          <p:grpSpPr bwMode="auto">
            <a:xfrm>
              <a:off x="2848" y="3853"/>
              <a:ext cx="192" cy="277"/>
              <a:chOff x="2848" y="3853"/>
              <a:chExt cx="192" cy="277"/>
            </a:xfrm>
          </p:grpSpPr>
          <p:sp>
            <p:nvSpPr>
              <p:cNvPr id="17544" name="Rectangle 169"/>
              <p:cNvSpPr>
                <a:spLocks noChangeArrowheads="1"/>
              </p:cNvSpPr>
              <p:nvPr/>
            </p:nvSpPr>
            <p:spPr bwMode="auto">
              <a:xfrm>
                <a:off x="2848" y="3853"/>
                <a:ext cx="192" cy="27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7545" name="Group 233"/>
              <p:cNvGrpSpPr>
                <a:grpSpLocks/>
              </p:cNvGrpSpPr>
              <p:nvPr/>
            </p:nvGrpSpPr>
            <p:grpSpPr bwMode="auto">
              <a:xfrm>
                <a:off x="2850" y="3854"/>
                <a:ext cx="189" cy="274"/>
                <a:chOff x="2850" y="3854"/>
                <a:chExt cx="189" cy="274"/>
              </a:xfrm>
            </p:grpSpPr>
            <p:grpSp>
              <p:nvGrpSpPr>
                <p:cNvPr id="17546" name="Group 180"/>
                <p:cNvGrpSpPr>
                  <a:grpSpLocks/>
                </p:cNvGrpSpPr>
                <p:nvPr/>
              </p:nvGrpSpPr>
              <p:grpSpPr bwMode="auto">
                <a:xfrm>
                  <a:off x="2850" y="3911"/>
                  <a:ext cx="163" cy="197"/>
                  <a:chOff x="2850" y="3911"/>
                  <a:chExt cx="163" cy="197"/>
                </a:xfrm>
              </p:grpSpPr>
              <p:sp>
                <p:nvSpPr>
                  <p:cNvPr id="17599" name="Freeform 170"/>
                  <p:cNvSpPr>
                    <a:spLocks/>
                  </p:cNvSpPr>
                  <p:nvPr/>
                </p:nvSpPr>
                <p:spPr bwMode="auto">
                  <a:xfrm>
                    <a:off x="2850" y="3911"/>
                    <a:ext cx="163" cy="197"/>
                  </a:xfrm>
                  <a:custGeom>
                    <a:avLst/>
                    <a:gdLst>
                      <a:gd name="T0" fmla="*/ 0 w 1963"/>
                      <a:gd name="T1" fmla="*/ 0 h 2364"/>
                      <a:gd name="T2" fmla="*/ 0 w 1963"/>
                      <a:gd name="T3" fmla="*/ 0 h 2364"/>
                      <a:gd name="T4" fmla="*/ 0 w 1963"/>
                      <a:gd name="T5" fmla="*/ 0 h 2364"/>
                      <a:gd name="T6" fmla="*/ 0 w 1963"/>
                      <a:gd name="T7" fmla="*/ 0 h 2364"/>
                      <a:gd name="T8" fmla="*/ 0 w 1963"/>
                      <a:gd name="T9" fmla="*/ 0 h 2364"/>
                      <a:gd name="T10" fmla="*/ 0 w 1963"/>
                      <a:gd name="T11" fmla="*/ 0 h 2364"/>
                      <a:gd name="T12" fmla="*/ 0 w 1963"/>
                      <a:gd name="T13" fmla="*/ 0 h 2364"/>
                      <a:gd name="T14" fmla="*/ 0 w 1963"/>
                      <a:gd name="T15" fmla="*/ 0 h 2364"/>
                      <a:gd name="T16" fmla="*/ 0 w 1963"/>
                      <a:gd name="T17" fmla="*/ 0 h 2364"/>
                      <a:gd name="T18" fmla="*/ 0 w 1963"/>
                      <a:gd name="T19" fmla="*/ 0 h 2364"/>
                      <a:gd name="T20" fmla="*/ 0 w 1963"/>
                      <a:gd name="T21" fmla="*/ 0 h 2364"/>
                      <a:gd name="T22" fmla="*/ 0 w 1963"/>
                      <a:gd name="T23" fmla="*/ 0 h 2364"/>
                      <a:gd name="T24" fmla="*/ 0 w 1963"/>
                      <a:gd name="T25" fmla="*/ 0 h 2364"/>
                      <a:gd name="T26" fmla="*/ 0 w 1963"/>
                      <a:gd name="T27" fmla="*/ 0 h 2364"/>
                      <a:gd name="T28" fmla="*/ 0 w 1963"/>
                      <a:gd name="T29" fmla="*/ 0 h 2364"/>
                      <a:gd name="T30" fmla="*/ 0 w 1963"/>
                      <a:gd name="T31" fmla="*/ 0 h 2364"/>
                      <a:gd name="T32" fmla="*/ 0 w 1963"/>
                      <a:gd name="T33" fmla="*/ 0 h 2364"/>
                      <a:gd name="T34" fmla="*/ 0 w 1963"/>
                      <a:gd name="T35" fmla="*/ 0 h 2364"/>
                      <a:gd name="T36" fmla="*/ 0 w 1963"/>
                      <a:gd name="T37" fmla="*/ 0 h 2364"/>
                      <a:gd name="T38" fmla="*/ 0 w 1963"/>
                      <a:gd name="T39" fmla="*/ 0 h 2364"/>
                      <a:gd name="T40" fmla="*/ 0 w 1963"/>
                      <a:gd name="T41" fmla="*/ 0 h 2364"/>
                      <a:gd name="T42" fmla="*/ 0 w 1963"/>
                      <a:gd name="T43" fmla="*/ 0 h 2364"/>
                      <a:gd name="T44" fmla="*/ 0 w 1963"/>
                      <a:gd name="T45" fmla="*/ 0 h 2364"/>
                      <a:gd name="T46" fmla="*/ 0 w 1963"/>
                      <a:gd name="T47" fmla="*/ 0 h 2364"/>
                      <a:gd name="T48" fmla="*/ 0 w 1963"/>
                      <a:gd name="T49" fmla="*/ 0 h 2364"/>
                      <a:gd name="T50" fmla="*/ 0 w 1963"/>
                      <a:gd name="T51" fmla="*/ 0 h 2364"/>
                      <a:gd name="T52" fmla="*/ 0 w 1963"/>
                      <a:gd name="T53" fmla="*/ 0 h 2364"/>
                      <a:gd name="T54" fmla="*/ 0 w 1963"/>
                      <a:gd name="T55" fmla="*/ 0 h 2364"/>
                      <a:gd name="T56" fmla="*/ 0 w 1963"/>
                      <a:gd name="T57" fmla="*/ 0 h 2364"/>
                      <a:gd name="T58" fmla="*/ 0 w 1963"/>
                      <a:gd name="T59" fmla="*/ 0 h 2364"/>
                      <a:gd name="T60" fmla="*/ 0 w 1963"/>
                      <a:gd name="T61" fmla="*/ 0 h 2364"/>
                      <a:gd name="T62" fmla="*/ 0 w 1963"/>
                      <a:gd name="T63" fmla="*/ 0 h 2364"/>
                      <a:gd name="T64" fmla="*/ 0 w 1963"/>
                      <a:gd name="T65" fmla="*/ 0 h 2364"/>
                      <a:gd name="T66" fmla="*/ 0 w 1963"/>
                      <a:gd name="T67" fmla="*/ 0 h 2364"/>
                      <a:gd name="T68" fmla="*/ 0 w 1963"/>
                      <a:gd name="T69" fmla="*/ 0 h 2364"/>
                      <a:gd name="T70" fmla="*/ 0 w 1963"/>
                      <a:gd name="T71" fmla="*/ 0 h 2364"/>
                      <a:gd name="T72" fmla="*/ 0 w 1963"/>
                      <a:gd name="T73" fmla="*/ 0 h 2364"/>
                      <a:gd name="T74" fmla="*/ 0 w 1963"/>
                      <a:gd name="T75" fmla="*/ 0 h 2364"/>
                      <a:gd name="T76" fmla="*/ 0 w 1963"/>
                      <a:gd name="T77" fmla="*/ 0 h 2364"/>
                      <a:gd name="T78" fmla="*/ 0 w 1963"/>
                      <a:gd name="T79" fmla="*/ 0 h 2364"/>
                      <a:gd name="T80" fmla="*/ 0 w 1963"/>
                      <a:gd name="T81" fmla="*/ 0 h 2364"/>
                      <a:gd name="T82" fmla="*/ 0 w 1963"/>
                      <a:gd name="T83" fmla="*/ 0 h 2364"/>
                      <a:gd name="T84" fmla="*/ 0 w 1963"/>
                      <a:gd name="T85" fmla="*/ 0 h 2364"/>
                      <a:gd name="T86" fmla="*/ 0 w 1963"/>
                      <a:gd name="T87" fmla="*/ 0 h 2364"/>
                      <a:gd name="T88" fmla="*/ 0 w 1963"/>
                      <a:gd name="T89" fmla="*/ 0 h 2364"/>
                      <a:gd name="T90" fmla="*/ 0 w 1963"/>
                      <a:gd name="T91" fmla="*/ 0 h 2364"/>
                      <a:gd name="T92" fmla="*/ 0 w 1963"/>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63"/>
                      <a:gd name="T142" fmla="*/ 0 h 2364"/>
                      <a:gd name="T143" fmla="*/ 1963 w 1963"/>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63" h="2364">
                        <a:moveTo>
                          <a:pt x="593" y="2364"/>
                        </a:moveTo>
                        <a:lnTo>
                          <a:pt x="593" y="2302"/>
                        </a:lnTo>
                        <a:lnTo>
                          <a:pt x="575" y="2175"/>
                        </a:lnTo>
                        <a:lnTo>
                          <a:pt x="537" y="2049"/>
                        </a:lnTo>
                        <a:lnTo>
                          <a:pt x="501" y="1945"/>
                        </a:lnTo>
                        <a:lnTo>
                          <a:pt x="491" y="1923"/>
                        </a:lnTo>
                        <a:lnTo>
                          <a:pt x="464" y="1882"/>
                        </a:lnTo>
                        <a:lnTo>
                          <a:pt x="418" y="1828"/>
                        </a:lnTo>
                        <a:lnTo>
                          <a:pt x="354" y="1755"/>
                        </a:lnTo>
                        <a:lnTo>
                          <a:pt x="308" y="1692"/>
                        </a:lnTo>
                        <a:lnTo>
                          <a:pt x="271" y="1640"/>
                        </a:lnTo>
                        <a:lnTo>
                          <a:pt x="225" y="1587"/>
                        </a:lnTo>
                        <a:lnTo>
                          <a:pt x="198" y="1523"/>
                        </a:lnTo>
                        <a:lnTo>
                          <a:pt x="161" y="1460"/>
                        </a:lnTo>
                        <a:lnTo>
                          <a:pt x="152" y="1440"/>
                        </a:lnTo>
                        <a:lnTo>
                          <a:pt x="125" y="1377"/>
                        </a:lnTo>
                        <a:lnTo>
                          <a:pt x="115" y="1334"/>
                        </a:lnTo>
                        <a:lnTo>
                          <a:pt x="105" y="1293"/>
                        </a:lnTo>
                        <a:lnTo>
                          <a:pt x="87" y="1230"/>
                        </a:lnTo>
                        <a:lnTo>
                          <a:pt x="69" y="1188"/>
                        </a:lnTo>
                        <a:lnTo>
                          <a:pt x="41" y="1124"/>
                        </a:lnTo>
                        <a:lnTo>
                          <a:pt x="22" y="1062"/>
                        </a:lnTo>
                        <a:lnTo>
                          <a:pt x="16" y="1023"/>
                        </a:lnTo>
                        <a:lnTo>
                          <a:pt x="4" y="936"/>
                        </a:lnTo>
                        <a:lnTo>
                          <a:pt x="1" y="873"/>
                        </a:lnTo>
                        <a:lnTo>
                          <a:pt x="0" y="793"/>
                        </a:lnTo>
                        <a:lnTo>
                          <a:pt x="14" y="725"/>
                        </a:lnTo>
                        <a:lnTo>
                          <a:pt x="32" y="694"/>
                        </a:lnTo>
                        <a:lnTo>
                          <a:pt x="50" y="678"/>
                        </a:lnTo>
                        <a:lnTo>
                          <a:pt x="67" y="669"/>
                        </a:lnTo>
                        <a:lnTo>
                          <a:pt x="87" y="662"/>
                        </a:lnTo>
                        <a:lnTo>
                          <a:pt x="105" y="662"/>
                        </a:lnTo>
                        <a:lnTo>
                          <a:pt x="105" y="614"/>
                        </a:lnTo>
                        <a:lnTo>
                          <a:pt x="100" y="592"/>
                        </a:lnTo>
                        <a:lnTo>
                          <a:pt x="97" y="555"/>
                        </a:lnTo>
                        <a:lnTo>
                          <a:pt x="104" y="535"/>
                        </a:lnTo>
                        <a:lnTo>
                          <a:pt x="105" y="516"/>
                        </a:lnTo>
                        <a:lnTo>
                          <a:pt x="119" y="478"/>
                        </a:lnTo>
                        <a:lnTo>
                          <a:pt x="133" y="452"/>
                        </a:lnTo>
                        <a:lnTo>
                          <a:pt x="154" y="420"/>
                        </a:lnTo>
                        <a:lnTo>
                          <a:pt x="183" y="389"/>
                        </a:lnTo>
                        <a:lnTo>
                          <a:pt x="215" y="362"/>
                        </a:lnTo>
                        <a:lnTo>
                          <a:pt x="243" y="337"/>
                        </a:lnTo>
                        <a:lnTo>
                          <a:pt x="277" y="326"/>
                        </a:lnTo>
                        <a:lnTo>
                          <a:pt x="310" y="321"/>
                        </a:lnTo>
                        <a:lnTo>
                          <a:pt x="342" y="326"/>
                        </a:lnTo>
                        <a:lnTo>
                          <a:pt x="372" y="337"/>
                        </a:lnTo>
                        <a:lnTo>
                          <a:pt x="408" y="347"/>
                        </a:lnTo>
                        <a:lnTo>
                          <a:pt x="418" y="326"/>
                        </a:lnTo>
                        <a:lnTo>
                          <a:pt x="424" y="269"/>
                        </a:lnTo>
                        <a:lnTo>
                          <a:pt x="436" y="221"/>
                        </a:lnTo>
                        <a:lnTo>
                          <a:pt x="458" y="185"/>
                        </a:lnTo>
                        <a:lnTo>
                          <a:pt x="484" y="161"/>
                        </a:lnTo>
                        <a:lnTo>
                          <a:pt x="519" y="148"/>
                        </a:lnTo>
                        <a:lnTo>
                          <a:pt x="557" y="137"/>
                        </a:lnTo>
                        <a:lnTo>
                          <a:pt x="612" y="126"/>
                        </a:lnTo>
                        <a:lnTo>
                          <a:pt x="647" y="126"/>
                        </a:lnTo>
                        <a:lnTo>
                          <a:pt x="657" y="105"/>
                        </a:lnTo>
                        <a:lnTo>
                          <a:pt x="675" y="63"/>
                        </a:lnTo>
                        <a:lnTo>
                          <a:pt x="703" y="31"/>
                        </a:lnTo>
                        <a:lnTo>
                          <a:pt x="740" y="11"/>
                        </a:lnTo>
                        <a:lnTo>
                          <a:pt x="795" y="0"/>
                        </a:lnTo>
                        <a:lnTo>
                          <a:pt x="850" y="0"/>
                        </a:lnTo>
                        <a:lnTo>
                          <a:pt x="922" y="5"/>
                        </a:lnTo>
                        <a:lnTo>
                          <a:pt x="962" y="7"/>
                        </a:lnTo>
                        <a:lnTo>
                          <a:pt x="989" y="11"/>
                        </a:lnTo>
                        <a:lnTo>
                          <a:pt x="1013" y="17"/>
                        </a:lnTo>
                        <a:lnTo>
                          <a:pt x="1033" y="36"/>
                        </a:lnTo>
                        <a:lnTo>
                          <a:pt x="1046" y="58"/>
                        </a:lnTo>
                        <a:lnTo>
                          <a:pt x="1056" y="87"/>
                        </a:lnTo>
                        <a:lnTo>
                          <a:pt x="1061" y="137"/>
                        </a:lnTo>
                        <a:lnTo>
                          <a:pt x="1057" y="180"/>
                        </a:lnTo>
                        <a:lnTo>
                          <a:pt x="1041" y="219"/>
                        </a:lnTo>
                        <a:lnTo>
                          <a:pt x="1022" y="240"/>
                        </a:lnTo>
                        <a:lnTo>
                          <a:pt x="997" y="253"/>
                        </a:lnTo>
                        <a:lnTo>
                          <a:pt x="968" y="260"/>
                        </a:lnTo>
                        <a:lnTo>
                          <a:pt x="918" y="259"/>
                        </a:lnTo>
                        <a:lnTo>
                          <a:pt x="934" y="282"/>
                        </a:lnTo>
                        <a:lnTo>
                          <a:pt x="957" y="324"/>
                        </a:lnTo>
                        <a:lnTo>
                          <a:pt x="975" y="357"/>
                        </a:lnTo>
                        <a:lnTo>
                          <a:pt x="990" y="400"/>
                        </a:lnTo>
                        <a:lnTo>
                          <a:pt x="999" y="435"/>
                        </a:lnTo>
                        <a:lnTo>
                          <a:pt x="995" y="457"/>
                        </a:lnTo>
                        <a:lnTo>
                          <a:pt x="975" y="483"/>
                        </a:lnTo>
                        <a:lnTo>
                          <a:pt x="997" y="527"/>
                        </a:lnTo>
                        <a:lnTo>
                          <a:pt x="1024" y="568"/>
                        </a:lnTo>
                        <a:lnTo>
                          <a:pt x="1055" y="619"/>
                        </a:lnTo>
                        <a:lnTo>
                          <a:pt x="1103" y="667"/>
                        </a:lnTo>
                        <a:lnTo>
                          <a:pt x="1176" y="740"/>
                        </a:lnTo>
                        <a:lnTo>
                          <a:pt x="1245" y="823"/>
                        </a:lnTo>
                        <a:lnTo>
                          <a:pt x="1310" y="930"/>
                        </a:lnTo>
                        <a:lnTo>
                          <a:pt x="1365" y="1030"/>
                        </a:lnTo>
                        <a:lnTo>
                          <a:pt x="1411" y="1114"/>
                        </a:lnTo>
                        <a:lnTo>
                          <a:pt x="1425" y="1145"/>
                        </a:lnTo>
                        <a:lnTo>
                          <a:pt x="1428" y="1199"/>
                        </a:lnTo>
                        <a:lnTo>
                          <a:pt x="1443" y="1241"/>
                        </a:lnTo>
                        <a:lnTo>
                          <a:pt x="1465" y="1204"/>
                        </a:lnTo>
                        <a:lnTo>
                          <a:pt x="1509" y="1148"/>
                        </a:lnTo>
                        <a:lnTo>
                          <a:pt x="1567" y="1062"/>
                        </a:lnTo>
                        <a:lnTo>
                          <a:pt x="1604" y="1009"/>
                        </a:lnTo>
                        <a:lnTo>
                          <a:pt x="1621" y="977"/>
                        </a:lnTo>
                        <a:lnTo>
                          <a:pt x="1640" y="925"/>
                        </a:lnTo>
                        <a:lnTo>
                          <a:pt x="1657" y="890"/>
                        </a:lnTo>
                        <a:lnTo>
                          <a:pt x="1672" y="862"/>
                        </a:lnTo>
                        <a:lnTo>
                          <a:pt x="1693" y="834"/>
                        </a:lnTo>
                        <a:lnTo>
                          <a:pt x="1714" y="809"/>
                        </a:lnTo>
                        <a:lnTo>
                          <a:pt x="1754" y="767"/>
                        </a:lnTo>
                        <a:lnTo>
                          <a:pt x="1798" y="734"/>
                        </a:lnTo>
                        <a:lnTo>
                          <a:pt x="1842" y="714"/>
                        </a:lnTo>
                        <a:lnTo>
                          <a:pt x="1879" y="714"/>
                        </a:lnTo>
                        <a:lnTo>
                          <a:pt x="1913" y="717"/>
                        </a:lnTo>
                        <a:lnTo>
                          <a:pt x="1943" y="736"/>
                        </a:lnTo>
                        <a:lnTo>
                          <a:pt x="1963" y="775"/>
                        </a:lnTo>
                        <a:lnTo>
                          <a:pt x="1962" y="820"/>
                        </a:lnTo>
                        <a:lnTo>
                          <a:pt x="1962" y="840"/>
                        </a:lnTo>
                        <a:lnTo>
                          <a:pt x="1953" y="884"/>
                        </a:lnTo>
                        <a:lnTo>
                          <a:pt x="1935" y="904"/>
                        </a:lnTo>
                        <a:lnTo>
                          <a:pt x="1925" y="946"/>
                        </a:lnTo>
                        <a:lnTo>
                          <a:pt x="1907" y="1009"/>
                        </a:lnTo>
                        <a:lnTo>
                          <a:pt x="1907" y="1072"/>
                        </a:lnTo>
                        <a:lnTo>
                          <a:pt x="1897" y="1135"/>
                        </a:lnTo>
                        <a:lnTo>
                          <a:pt x="1894" y="1168"/>
                        </a:lnTo>
                        <a:lnTo>
                          <a:pt x="1886" y="1201"/>
                        </a:lnTo>
                        <a:lnTo>
                          <a:pt x="1866" y="1238"/>
                        </a:lnTo>
                        <a:lnTo>
                          <a:pt x="1842" y="1271"/>
                        </a:lnTo>
                        <a:lnTo>
                          <a:pt x="1825" y="1334"/>
                        </a:lnTo>
                        <a:lnTo>
                          <a:pt x="1797" y="1397"/>
                        </a:lnTo>
                        <a:lnTo>
                          <a:pt x="1714" y="1545"/>
                        </a:lnTo>
                        <a:lnTo>
                          <a:pt x="1640" y="1650"/>
                        </a:lnTo>
                        <a:lnTo>
                          <a:pt x="1586" y="1723"/>
                        </a:lnTo>
                        <a:lnTo>
                          <a:pt x="1576" y="1765"/>
                        </a:lnTo>
                        <a:lnTo>
                          <a:pt x="1567" y="1807"/>
                        </a:lnTo>
                        <a:lnTo>
                          <a:pt x="1550" y="1854"/>
                        </a:lnTo>
                        <a:lnTo>
                          <a:pt x="1537" y="1913"/>
                        </a:lnTo>
                        <a:lnTo>
                          <a:pt x="1511" y="1976"/>
                        </a:lnTo>
                        <a:lnTo>
                          <a:pt x="1465" y="2060"/>
                        </a:lnTo>
                        <a:lnTo>
                          <a:pt x="1421" y="2123"/>
                        </a:lnTo>
                        <a:lnTo>
                          <a:pt x="1393" y="2164"/>
                        </a:lnTo>
                        <a:lnTo>
                          <a:pt x="1374" y="2228"/>
                        </a:lnTo>
                        <a:lnTo>
                          <a:pt x="1355" y="2270"/>
                        </a:lnTo>
                        <a:lnTo>
                          <a:pt x="1326" y="2364"/>
                        </a:lnTo>
                        <a:lnTo>
                          <a:pt x="593"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17600" name="Group 175"/>
                  <p:cNvGrpSpPr>
                    <a:grpSpLocks/>
                  </p:cNvGrpSpPr>
                  <p:nvPr/>
                </p:nvGrpSpPr>
                <p:grpSpPr bwMode="auto">
                  <a:xfrm>
                    <a:off x="2861" y="3965"/>
                    <a:ext cx="138" cy="45"/>
                    <a:chOff x="2861" y="3965"/>
                    <a:chExt cx="138" cy="45"/>
                  </a:xfrm>
                </p:grpSpPr>
                <p:sp>
                  <p:nvSpPr>
                    <p:cNvPr id="17605" name="Freeform 171"/>
                    <p:cNvSpPr>
                      <a:spLocks/>
                    </p:cNvSpPr>
                    <p:nvPr/>
                  </p:nvSpPr>
                  <p:spPr bwMode="auto">
                    <a:xfrm>
                      <a:off x="2983" y="4002"/>
                      <a:ext cx="16" cy="8"/>
                    </a:xfrm>
                    <a:custGeom>
                      <a:avLst/>
                      <a:gdLst>
                        <a:gd name="T0" fmla="*/ 0 w 183"/>
                        <a:gd name="T1" fmla="*/ 0 h 96"/>
                        <a:gd name="T2" fmla="*/ 0 w 183"/>
                        <a:gd name="T3" fmla="*/ 0 h 96"/>
                        <a:gd name="T4" fmla="*/ 0 w 183"/>
                        <a:gd name="T5" fmla="*/ 0 h 96"/>
                        <a:gd name="T6" fmla="*/ 0 w 183"/>
                        <a:gd name="T7" fmla="*/ 0 h 96"/>
                        <a:gd name="T8" fmla="*/ 0 w 183"/>
                        <a:gd name="T9" fmla="*/ 0 h 96"/>
                        <a:gd name="T10" fmla="*/ 0 w 183"/>
                        <a:gd name="T11" fmla="*/ 0 h 96"/>
                        <a:gd name="T12" fmla="*/ 0 w 183"/>
                        <a:gd name="T13" fmla="*/ 0 h 96"/>
                        <a:gd name="T14" fmla="*/ 0 60000 65536"/>
                        <a:gd name="T15" fmla="*/ 0 60000 65536"/>
                        <a:gd name="T16" fmla="*/ 0 60000 65536"/>
                        <a:gd name="T17" fmla="*/ 0 60000 65536"/>
                        <a:gd name="T18" fmla="*/ 0 60000 65536"/>
                        <a:gd name="T19" fmla="*/ 0 60000 65536"/>
                        <a:gd name="T20" fmla="*/ 0 60000 65536"/>
                        <a:gd name="T21" fmla="*/ 0 w 183"/>
                        <a:gd name="T22" fmla="*/ 0 h 96"/>
                        <a:gd name="T23" fmla="*/ 183 w 183"/>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3" h="96">
                          <a:moveTo>
                            <a:pt x="0" y="0"/>
                          </a:moveTo>
                          <a:lnTo>
                            <a:pt x="37" y="22"/>
                          </a:lnTo>
                          <a:lnTo>
                            <a:pt x="65" y="53"/>
                          </a:lnTo>
                          <a:lnTo>
                            <a:pt x="100" y="86"/>
                          </a:lnTo>
                          <a:lnTo>
                            <a:pt x="128" y="96"/>
                          </a:lnTo>
                          <a:lnTo>
                            <a:pt x="138" y="96"/>
                          </a:lnTo>
                          <a:lnTo>
                            <a:pt x="183" y="86"/>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606" name="Freeform 172"/>
                    <p:cNvSpPr>
                      <a:spLocks/>
                    </p:cNvSpPr>
                    <p:nvPr/>
                  </p:nvSpPr>
                  <p:spPr bwMode="auto">
                    <a:xfrm>
                      <a:off x="2861" y="3992"/>
                      <a:ext cx="7"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607" name="Freeform 173"/>
                    <p:cNvSpPr>
                      <a:spLocks/>
                    </p:cNvSpPr>
                    <p:nvPr/>
                  </p:nvSpPr>
                  <p:spPr bwMode="auto">
                    <a:xfrm>
                      <a:off x="2885" y="3967"/>
                      <a:ext cx="1" cy="4"/>
                    </a:xfrm>
                    <a:custGeom>
                      <a:avLst/>
                      <a:gdLst>
                        <a:gd name="T0" fmla="*/ 0 w 18"/>
                        <a:gd name="T1" fmla="*/ 0 h 43"/>
                        <a:gd name="T2" fmla="*/ 0 w 18"/>
                        <a:gd name="T3" fmla="*/ 0 h 43"/>
                        <a:gd name="T4" fmla="*/ 0 w 18"/>
                        <a:gd name="T5" fmla="*/ 0 h 43"/>
                        <a:gd name="T6" fmla="*/ 0 w 18"/>
                        <a:gd name="T7" fmla="*/ 0 h 43"/>
                        <a:gd name="T8" fmla="*/ 0 60000 65536"/>
                        <a:gd name="T9" fmla="*/ 0 60000 65536"/>
                        <a:gd name="T10" fmla="*/ 0 60000 65536"/>
                        <a:gd name="T11" fmla="*/ 0 60000 65536"/>
                        <a:gd name="T12" fmla="*/ 0 w 18"/>
                        <a:gd name="T13" fmla="*/ 0 h 43"/>
                        <a:gd name="T14" fmla="*/ 18 w 18"/>
                        <a:gd name="T15" fmla="*/ 43 h 43"/>
                      </a:gdLst>
                      <a:ahLst/>
                      <a:cxnLst>
                        <a:cxn ang="T8">
                          <a:pos x="T0" y="T1"/>
                        </a:cxn>
                        <a:cxn ang="T9">
                          <a:pos x="T2" y="T3"/>
                        </a:cxn>
                        <a:cxn ang="T10">
                          <a:pos x="T4" y="T5"/>
                        </a:cxn>
                        <a:cxn ang="T11">
                          <a:pos x="T6" y="T7"/>
                        </a:cxn>
                      </a:cxnLst>
                      <a:rect l="T12" t="T13" r="T14" b="T15"/>
                      <a:pathLst>
                        <a:path w="18" h="43">
                          <a:moveTo>
                            <a:pt x="0" y="0"/>
                          </a:moveTo>
                          <a:lnTo>
                            <a:pt x="18" y="18"/>
                          </a:lnTo>
                          <a:lnTo>
                            <a:pt x="16" y="28"/>
                          </a:lnTo>
                          <a:lnTo>
                            <a:pt x="18" y="4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608" name="Freeform 174"/>
                    <p:cNvSpPr>
                      <a:spLocks/>
                    </p:cNvSpPr>
                    <p:nvPr/>
                  </p:nvSpPr>
                  <p:spPr bwMode="auto">
                    <a:xfrm>
                      <a:off x="2878" y="3965"/>
                      <a:ext cx="15" cy="2"/>
                    </a:xfrm>
                    <a:custGeom>
                      <a:avLst/>
                      <a:gdLst>
                        <a:gd name="T0" fmla="*/ 0 w 178"/>
                        <a:gd name="T1" fmla="*/ 0 h 23"/>
                        <a:gd name="T2" fmla="*/ 0 w 178"/>
                        <a:gd name="T3" fmla="*/ 0 h 23"/>
                        <a:gd name="T4" fmla="*/ 0 w 178"/>
                        <a:gd name="T5" fmla="*/ 0 h 23"/>
                        <a:gd name="T6" fmla="*/ 0 w 178"/>
                        <a:gd name="T7" fmla="*/ 0 h 23"/>
                        <a:gd name="T8" fmla="*/ 0 w 178"/>
                        <a:gd name="T9" fmla="*/ 0 h 23"/>
                        <a:gd name="T10" fmla="*/ 0 60000 65536"/>
                        <a:gd name="T11" fmla="*/ 0 60000 65536"/>
                        <a:gd name="T12" fmla="*/ 0 60000 65536"/>
                        <a:gd name="T13" fmla="*/ 0 60000 65536"/>
                        <a:gd name="T14" fmla="*/ 0 60000 65536"/>
                        <a:gd name="T15" fmla="*/ 0 w 178"/>
                        <a:gd name="T16" fmla="*/ 0 h 23"/>
                        <a:gd name="T17" fmla="*/ 178 w 178"/>
                        <a:gd name="T18" fmla="*/ 23 h 23"/>
                      </a:gdLst>
                      <a:ahLst/>
                      <a:cxnLst>
                        <a:cxn ang="T10">
                          <a:pos x="T0" y="T1"/>
                        </a:cxn>
                        <a:cxn ang="T11">
                          <a:pos x="T2" y="T3"/>
                        </a:cxn>
                        <a:cxn ang="T12">
                          <a:pos x="T4" y="T5"/>
                        </a:cxn>
                        <a:cxn ang="T13">
                          <a:pos x="T6" y="T7"/>
                        </a:cxn>
                        <a:cxn ang="T14">
                          <a:pos x="T8" y="T9"/>
                        </a:cxn>
                      </a:cxnLst>
                      <a:rect l="T15" t="T16" r="T17" b="T18"/>
                      <a:pathLst>
                        <a:path w="178" h="23">
                          <a:moveTo>
                            <a:pt x="178" y="12"/>
                          </a:moveTo>
                          <a:lnTo>
                            <a:pt x="150" y="23"/>
                          </a:lnTo>
                          <a:lnTo>
                            <a:pt x="40" y="23"/>
                          </a:lnTo>
                          <a:lnTo>
                            <a:pt x="18" y="11"/>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601" name="Group 179"/>
                  <p:cNvGrpSpPr>
                    <a:grpSpLocks/>
                  </p:cNvGrpSpPr>
                  <p:nvPr/>
                </p:nvGrpSpPr>
                <p:grpSpPr bwMode="auto">
                  <a:xfrm>
                    <a:off x="2876" y="3956"/>
                    <a:ext cx="94" cy="91"/>
                    <a:chOff x="2876" y="3956"/>
                    <a:chExt cx="94" cy="91"/>
                  </a:xfrm>
                </p:grpSpPr>
                <p:sp>
                  <p:nvSpPr>
                    <p:cNvPr id="17602" name="Freeform 176"/>
                    <p:cNvSpPr>
                      <a:spLocks/>
                    </p:cNvSpPr>
                    <p:nvPr/>
                  </p:nvSpPr>
                  <p:spPr bwMode="auto">
                    <a:xfrm>
                      <a:off x="2882" y="3973"/>
                      <a:ext cx="88" cy="74"/>
                    </a:xfrm>
                    <a:custGeom>
                      <a:avLst/>
                      <a:gdLst>
                        <a:gd name="T0" fmla="*/ 0 w 1055"/>
                        <a:gd name="T1" fmla="*/ 0 h 894"/>
                        <a:gd name="T2" fmla="*/ 0 w 1055"/>
                        <a:gd name="T3" fmla="*/ 0 h 894"/>
                        <a:gd name="T4" fmla="*/ 0 w 1055"/>
                        <a:gd name="T5" fmla="*/ 0 h 894"/>
                        <a:gd name="T6" fmla="*/ 0 w 1055"/>
                        <a:gd name="T7" fmla="*/ 0 h 894"/>
                        <a:gd name="T8" fmla="*/ 0 w 1055"/>
                        <a:gd name="T9" fmla="*/ 0 h 894"/>
                        <a:gd name="T10" fmla="*/ 0 w 1055"/>
                        <a:gd name="T11" fmla="*/ 0 h 894"/>
                        <a:gd name="T12" fmla="*/ 0 w 1055"/>
                        <a:gd name="T13" fmla="*/ 0 h 894"/>
                        <a:gd name="T14" fmla="*/ 0 w 1055"/>
                        <a:gd name="T15" fmla="*/ 0 h 894"/>
                        <a:gd name="T16" fmla="*/ 0 w 1055"/>
                        <a:gd name="T17" fmla="*/ 0 h 894"/>
                        <a:gd name="T18" fmla="*/ 0 w 1055"/>
                        <a:gd name="T19" fmla="*/ 0 h 894"/>
                        <a:gd name="T20" fmla="*/ 0 w 1055"/>
                        <a:gd name="T21" fmla="*/ 0 h 894"/>
                        <a:gd name="T22" fmla="*/ 0 w 1055"/>
                        <a:gd name="T23" fmla="*/ 0 h 894"/>
                        <a:gd name="T24" fmla="*/ 0 w 1055"/>
                        <a:gd name="T25" fmla="*/ 0 h 894"/>
                        <a:gd name="T26" fmla="*/ 0 w 1055"/>
                        <a:gd name="T27" fmla="*/ 0 h 894"/>
                        <a:gd name="T28" fmla="*/ 0 w 1055"/>
                        <a:gd name="T29" fmla="*/ 0 h 894"/>
                        <a:gd name="T30" fmla="*/ 0 w 1055"/>
                        <a:gd name="T31" fmla="*/ 0 h 894"/>
                        <a:gd name="T32" fmla="*/ 0 w 1055"/>
                        <a:gd name="T33" fmla="*/ 0 h 894"/>
                        <a:gd name="T34" fmla="*/ 0 w 1055"/>
                        <a:gd name="T35" fmla="*/ 0 h 894"/>
                        <a:gd name="T36" fmla="*/ 0 w 1055"/>
                        <a:gd name="T37" fmla="*/ 0 h 894"/>
                        <a:gd name="T38" fmla="*/ 0 w 1055"/>
                        <a:gd name="T39" fmla="*/ 0 h 894"/>
                        <a:gd name="T40" fmla="*/ 0 w 1055"/>
                        <a:gd name="T41" fmla="*/ 0 h 894"/>
                        <a:gd name="T42" fmla="*/ 0 w 1055"/>
                        <a:gd name="T43" fmla="*/ 0 h 894"/>
                        <a:gd name="T44" fmla="*/ 0 w 1055"/>
                        <a:gd name="T45" fmla="*/ 0 h 894"/>
                        <a:gd name="T46" fmla="*/ 0 w 1055"/>
                        <a:gd name="T47" fmla="*/ 0 h 894"/>
                        <a:gd name="T48" fmla="*/ 0 w 1055"/>
                        <a:gd name="T49" fmla="*/ 0 h 894"/>
                        <a:gd name="T50" fmla="*/ 0 w 1055"/>
                        <a:gd name="T51" fmla="*/ 0 h 894"/>
                        <a:gd name="T52" fmla="*/ 0 w 1055"/>
                        <a:gd name="T53" fmla="*/ 0 h 894"/>
                        <a:gd name="T54" fmla="*/ 0 w 1055"/>
                        <a:gd name="T55" fmla="*/ 0 h 894"/>
                        <a:gd name="T56" fmla="*/ 0 w 1055"/>
                        <a:gd name="T57" fmla="*/ 0 h 894"/>
                        <a:gd name="T58" fmla="*/ 0 w 1055"/>
                        <a:gd name="T59" fmla="*/ 0 h 894"/>
                        <a:gd name="T60" fmla="*/ 0 w 1055"/>
                        <a:gd name="T61" fmla="*/ 0 h 894"/>
                        <a:gd name="T62" fmla="*/ 0 w 1055"/>
                        <a:gd name="T63" fmla="*/ 0 h 894"/>
                        <a:gd name="T64" fmla="*/ 0 w 1055"/>
                        <a:gd name="T65" fmla="*/ 0 h 894"/>
                        <a:gd name="T66" fmla="*/ 0 w 1055"/>
                        <a:gd name="T67" fmla="*/ 0 h 894"/>
                        <a:gd name="T68" fmla="*/ 0 w 1055"/>
                        <a:gd name="T69" fmla="*/ 0 h 894"/>
                        <a:gd name="T70" fmla="*/ 0 w 1055"/>
                        <a:gd name="T71" fmla="*/ 0 h 894"/>
                        <a:gd name="T72" fmla="*/ 0 w 1055"/>
                        <a:gd name="T73" fmla="*/ 0 h 894"/>
                        <a:gd name="T74" fmla="*/ 0 w 1055"/>
                        <a:gd name="T75" fmla="*/ 0 h 894"/>
                        <a:gd name="T76" fmla="*/ 0 w 1055"/>
                        <a:gd name="T77" fmla="*/ 0 h 894"/>
                        <a:gd name="T78" fmla="*/ 0 w 1055"/>
                        <a:gd name="T79" fmla="*/ 0 h 894"/>
                        <a:gd name="T80" fmla="*/ 0 w 1055"/>
                        <a:gd name="T81" fmla="*/ 0 h 894"/>
                        <a:gd name="T82" fmla="*/ 0 w 1055"/>
                        <a:gd name="T83" fmla="*/ 0 h 894"/>
                        <a:gd name="T84" fmla="*/ 0 w 1055"/>
                        <a:gd name="T85" fmla="*/ 0 h 894"/>
                        <a:gd name="T86" fmla="*/ 0 w 1055"/>
                        <a:gd name="T87" fmla="*/ 0 h 894"/>
                        <a:gd name="T88" fmla="*/ 0 w 1055"/>
                        <a:gd name="T89" fmla="*/ 0 h 894"/>
                        <a:gd name="T90" fmla="*/ 0 w 1055"/>
                        <a:gd name="T91" fmla="*/ 0 h 894"/>
                        <a:gd name="T92" fmla="*/ 0 w 1055"/>
                        <a:gd name="T93" fmla="*/ 0 h 894"/>
                        <a:gd name="T94" fmla="*/ 0 w 1055"/>
                        <a:gd name="T95" fmla="*/ 0 h 894"/>
                        <a:gd name="T96" fmla="*/ 0 w 1055"/>
                        <a:gd name="T97" fmla="*/ 0 h 894"/>
                        <a:gd name="T98" fmla="*/ 0 w 1055"/>
                        <a:gd name="T99" fmla="*/ 0 h 894"/>
                        <a:gd name="T100" fmla="*/ 0 w 1055"/>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4"/>
                        <a:gd name="T155" fmla="*/ 1055 w 1055"/>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4">
                          <a:moveTo>
                            <a:pt x="1055" y="487"/>
                          </a:moveTo>
                          <a:lnTo>
                            <a:pt x="977" y="517"/>
                          </a:lnTo>
                          <a:lnTo>
                            <a:pt x="881" y="555"/>
                          </a:lnTo>
                          <a:lnTo>
                            <a:pt x="823" y="593"/>
                          </a:lnTo>
                          <a:lnTo>
                            <a:pt x="775" y="652"/>
                          </a:lnTo>
                          <a:lnTo>
                            <a:pt x="746" y="739"/>
                          </a:lnTo>
                          <a:lnTo>
                            <a:pt x="727" y="806"/>
                          </a:lnTo>
                          <a:lnTo>
                            <a:pt x="668" y="875"/>
                          </a:lnTo>
                          <a:lnTo>
                            <a:pt x="571" y="894"/>
                          </a:lnTo>
                          <a:lnTo>
                            <a:pt x="504" y="865"/>
                          </a:lnTo>
                          <a:lnTo>
                            <a:pt x="455" y="826"/>
                          </a:lnTo>
                          <a:lnTo>
                            <a:pt x="451" y="784"/>
                          </a:lnTo>
                          <a:lnTo>
                            <a:pt x="445" y="749"/>
                          </a:lnTo>
                          <a:lnTo>
                            <a:pt x="407" y="690"/>
                          </a:lnTo>
                          <a:lnTo>
                            <a:pt x="319" y="661"/>
                          </a:lnTo>
                          <a:lnTo>
                            <a:pt x="387" y="617"/>
                          </a:lnTo>
                          <a:lnTo>
                            <a:pt x="458" y="603"/>
                          </a:lnTo>
                          <a:lnTo>
                            <a:pt x="491" y="584"/>
                          </a:lnTo>
                          <a:lnTo>
                            <a:pt x="429" y="580"/>
                          </a:lnTo>
                          <a:lnTo>
                            <a:pt x="359" y="603"/>
                          </a:lnTo>
                          <a:lnTo>
                            <a:pt x="281" y="633"/>
                          </a:lnTo>
                          <a:lnTo>
                            <a:pt x="246" y="603"/>
                          </a:lnTo>
                          <a:lnTo>
                            <a:pt x="239" y="564"/>
                          </a:lnTo>
                          <a:lnTo>
                            <a:pt x="236" y="520"/>
                          </a:lnTo>
                          <a:lnTo>
                            <a:pt x="223" y="477"/>
                          </a:lnTo>
                          <a:lnTo>
                            <a:pt x="174" y="468"/>
                          </a:lnTo>
                          <a:lnTo>
                            <a:pt x="136" y="484"/>
                          </a:lnTo>
                          <a:lnTo>
                            <a:pt x="104" y="513"/>
                          </a:lnTo>
                          <a:lnTo>
                            <a:pt x="58" y="542"/>
                          </a:lnTo>
                          <a:lnTo>
                            <a:pt x="0" y="593"/>
                          </a:lnTo>
                          <a:lnTo>
                            <a:pt x="58" y="507"/>
                          </a:lnTo>
                          <a:lnTo>
                            <a:pt x="165" y="420"/>
                          </a:lnTo>
                          <a:lnTo>
                            <a:pt x="233" y="380"/>
                          </a:lnTo>
                          <a:lnTo>
                            <a:pt x="294" y="364"/>
                          </a:lnTo>
                          <a:lnTo>
                            <a:pt x="346" y="367"/>
                          </a:lnTo>
                          <a:lnTo>
                            <a:pt x="400" y="355"/>
                          </a:lnTo>
                          <a:lnTo>
                            <a:pt x="485" y="332"/>
                          </a:lnTo>
                          <a:lnTo>
                            <a:pt x="590" y="287"/>
                          </a:lnTo>
                          <a:lnTo>
                            <a:pt x="690" y="238"/>
                          </a:lnTo>
                          <a:lnTo>
                            <a:pt x="749" y="210"/>
                          </a:lnTo>
                          <a:lnTo>
                            <a:pt x="781" y="168"/>
                          </a:lnTo>
                          <a:lnTo>
                            <a:pt x="797" y="116"/>
                          </a:lnTo>
                          <a:lnTo>
                            <a:pt x="794" y="62"/>
                          </a:lnTo>
                          <a:lnTo>
                            <a:pt x="781" y="0"/>
                          </a:lnTo>
                          <a:lnTo>
                            <a:pt x="842" y="68"/>
                          </a:lnTo>
                          <a:lnTo>
                            <a:pt x="891" y="145"/>
                          </a:lnTo>
                          <a:lnTo>
                            <a:pt x="949" y="245"/>
                          </a:lnTo>
                          <a:lnTo>
                            <a:pt x="974" y="300"/>
                          </a:lnTo>
                          <a:lnTo>
                            <a:pt x="1001" y="348"/>
                          </a:lnTo>
                          <a:lnTo>
                            <a:pt x="1036" y="400"/>
                          </a:lnTo>
                          <a:lnTo>
                            <a:pt x="1055"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03" name="Freeform 177"/>
                    <p:cNvSpPr>
                      <a:spLocks/>
                    </p:cNvSpPr>
                    <p:nvPr/>
                  </p:nvSpPr>
                  <p:spPr bwMode="auto">
                    <a:xfrm>
                      <a:off x="2876" y="3996"/>
                      <a:ext cx="24" cy="15"/>
                    </a:xfrm>
                    <a:custGeom>
                      <a:avLst/>
                      <a:gdLst>
                        <a:gd name="T0" fmla="*/ 0 w 287"/>
                        <a:gd name="T1" fmla="*/ 0 h 181"/>
                        <a:gd name="T2" fmla="*/ 0 w 287"/>
                        <a:gd name="T3" fmla="*/ 0 h 181"/>
                        <a:gd name="T4" fmla="*/ 0 w 287"/>
                        <a:gd name="T5" fmla="*/ 0 h 181"/>
                        <a:gd name="T6" fmla="*/ 0 w 287"/>
                        <a:gd name="T7" fmla="*/ 0 h 181"/>
                        <a:gd name="T8" fmla="*/ 0 w 287"/>
                        <a:gd name="T9" fmla="*/ 0 h 181"/>
                        <a:gd name="T10" fmla="*/ 0 w 287"/>
                        <a:gd name="T11" fmla="*/ 0 h 181"/>
                        <a:gd name="T12" fmla="*/ 0 w 287"/>
                        <a:gd name="T13" fmla="*/ 0 h 181"/>
                        <a:gd name="T14" fmla="*/ 0 w 287"/>
                        <a:gd name="T15" fmla="*/ 0 h 181"/>
                        <a:gd name="T16" fmla="*/ 0 w 287"/>
                        <a:gd name="T17" fmla="*/ 0 h 181"/>
                        <a:gd name="T18" fmla="*/ 0 w 287"/>
                        <a:gd name="T19" fmla="*/ 0 h 181"/>
                        <a:gd name="T20" fmla="*/ 0 w 287"/>
                        <a:gd name="T21" fmla="*/ 0 h 181"/>
                        <a:gd name="T22" fmla="*/ 0 w 287"/>
                        <a:gd name="T23" fmla="*/ 0 h 181"/>
                        <a:gd name="T24" fmla="*/ 0 w 287"/>
                        <a:gd name="T25" fmla="*/ 0 h 181"/>
                        <a:gd name="T26" fmla="*/ 0 w 287"/>
                        <a:gd name="T27" fmla="*/ 0 h 181"/>
                        <a:gd name="T28" fmla="*/ 0 w 287"/>
                        <a:gd name="T29" fmla="*/ 0 h 181"/>
                        <a:gd name="T30" fmla="*/ 0 w 287"/>
                        <a:gd name="T31" fmla="*/ 0 h 181"/>
                        <a:gd name="T32" fmla="*/ 0 w 287"/>
                        <a:gd name="T33" fmla="*/ 0 h 181"/>
                        <a:gd name="T34" fmla="*/ 0 w 287"/>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7"/>
                        <a:gd name="T55" fmla="*/ 0 h 181"/>
                        <a:gd name="T56" fmla="*/ 287 w 287"/>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7" h="181">
                          <a:moveTo>
                            <a:pt x="175" y="9"/>
                          </a:moveTo>
                          <a:lnTo>
                            <a:pt x="208" y="20"/>
                          </a:lnTo>
                          <a:lnTo>
                            <a:pt x="245" y="33"/>
                          </a:lnTo>
                          <a:lnTo>
                            <a:pt x="287" y="53"/>
                          </a:lnTo>
                          <a:lnTo>
                            <a:pt x="258" y="67"/>
                          </a:lnTo>
                          <a:lnTo>
                            <a:pt x="202" y="90"/>
                          </a:lnTo>
                          <a:lnTo>
                            <a:pt x="142" y="123"/>
                          </a:lnTo>
                          <a:lnTo>
                            <a:pt x="103" y="161"/>
                          </a:lnTo>
                          <a:lnTo>
                            <a:pt x="79" y="181"/>
                          </a:lnTo>
                          <a:lnTo>
                            <a:pt x="106" y="120"/>
                          </a:lnTo>
                          <a:lnTo>
                            <a:pt x="116" y="77"/>
                          </a:lnTo>
                          <a:lnTo>
                            <a:pt x="116" y="50"/>
                          </a:lnTo>
                          <a:lnTo>
                            <a:pt x="86" y="44"/>
                          </a:lnTo>
                          <a:lnTo>
                            <a:pt x="0" y="84"/>
                          </a:lnTo>
                          <a:lnTo>
                            <a:pt x="70" y="33"/>
                          </a:lnTo>
                          <a:lnTo>
                            <a:pt x="112" y="0"/>
                          </a:lnTo>
                          <a:lnTo>
                            <a:pt x="142" y="3"/>
                          </a:lnTo>
                          <a:lnTo>
                            <a:pt x="175" y="9"/>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04" name="Freeform 178"/>
                    <p:cNvSpPr>
                      <a:spLocks/>
                    </p:cNvSpPr>
                    <p:nvPr/>
                  </p:nvSpPr>
                  <p:spPr bwMode="auto">
                    <a:xfrm>
                      <a:off x="2898" y="3956"/>
                      <a:ext cx="44" cy="37"/>
                    </a:xfrm>
                    <a:custGeom>
                      <a:avLst/>
                      <a:gdLst>
                        <a:gd name="T0" fmla="*/ 0 w 533"/>
                        <a:gd name="T1" fmla="*/ 0 h 433"/>
                        <a:gd name="T2" fmla="*/ 0 w 533"/>
                        <a:gd name="T3" fmla="*/ 0 h 433"/>
                        <a:gd name="T4" fmla="*/ 0 w 533"/>
                        <a:gd name="T5" fmla="*/ 0 h 433"/>
                        <a:gd name="T6" fmla="*/ 0 w 533"/>
                        <a:gd name="T7" fmla="*/ 0 h 433"/>
                        <a:gd name="T8" fmla="*/ 0 w 533"/>
                        <a:gd name="T9" fmla="*/ 0 h 433"/>
                        <a:gd name="T10" fmla="*/ 0 w 533"/>
                        <a:gd name="T11" fmla="*/ 0 h 433"/>
                        <a:gd name="T12" fmla="*/ 0 w 533"/>
                        <a:gd name="T13" fmla="*/ 0 h 433"/>
                        <a:gd name="T14" fmla="*/ 0 w 533"/>
                        <a:gd name="T15" fmla="*/ 0 h 433"/>
                        <a:gd name="T16" fmla="*/ 0 w 533"/>
                        <a:gd name="T17" fmla="*/ 0 h 433"/>
                        <a:gd name="T18" fmla="*/ 0 w 533"/>
                        <a:gd name="T19" fmla="*/ 0 h 433"/>
                        <a:gd name="T20" fmla="*/ 0 w 533"/>
                        <a:gd name="T21" fmla="*/ 0 h 433"/>
                        <a:gd name="T22" fmla="*/ 0 w 533"/>
                        <a:gd name="T23" fmla="*/ 0 h 433"/>
                        <a:gd name="T24" fmla="*/ 0 w 533"/>
                        <a:gd name="T25" fmla="*/ 0 h 433"/>
                        <a:gd name="T26" fmla="*/ 0 w 533"/>
                        <a:gd name="T27" fmla="*/ 0 h 433"/>
                        <a:gd name="T28" fmla="*/ 0 w 533"/>
                        <a:gd name="T29" fmla="*/ 0 h 433"/>
                        <a:gd name="T30" fmla="*/ 0 w 533"/>
                        <a:gd name="T31" fmla="*/ 0 h 433"/>
                        <a:gd name="T32" fmla="*/ 0 w 533"/>
                        <a:gd name="T33" fmla="*/ 0 h 433"/>
                        <a:gd name="T34" fmla="*/ 0 w 533"/>
                        <a:gd name="T35" fmla="*/ 0 h 433"/>
                        <a:gd name="T36" fmla="*/ 0 w 533"/>
                        <a:gd name="T37" fmla="*/ 0 h 433"/>
                        <a:gd name="T38" fmla="*/ 0 w 533"/>
                        <a:gd name="T39" fmla="*/ 0 h 433"/>
                        <a:gd name="T40" fmla="*/ 0 w 533"/>
                        <a:gd name="T41" fmla="*/ 0 h 433"/>
                        <a:gd name="T42" fmla="*/ 0 w 533"/>
                        <a:gd name="T43" fmla="*/ 0 h 433"/>
                        <a:gd name="T44" fmla="*/ 0 w 533"/>
                        <a:gd name="T45" fmla="*/ 0 h 433"/>
                        <a:gd name="T46" fmla="*/ 0 w 533"/>
                        <a:gd name="T47" fmla="*/ 0 h 433"/>
                        <a:gd name="T48" fmla="*/ 0 w 533"/>
                        <a:gd name="T49" fmla="*/ 0 h 433"/>
                        <a:gd name="T50" fmla="*/ 0 w 533"/>
                        <a:gd name="T51" fmla="*/ 0 h 433"/>
                        <a:gd name="T52" fmla="*/ 0 w 533"/>
                        <a:gd name="T53" fmla="*/ 0 h 433"/>
                        <a:gd name="T54" fmla="*/ 0 w 533"/>
                        <a:gd name="T55" fmla="*/ 0 h 433"/>
                        <a:gd name="T56" fmla="*/ 0 w 533"/>
                        <a:gd name="T57" fmla="*/ 0 h 433"/>
                        <a:gd name="T58" fmla="*/ 0 w 533"/>
                        <a:gd name="T59" fmla="*/ 0 h 433"/>
                        <a:gd name="T60" fmla="*/ 0 w 533"/>
                        <a:gd name="T61" fmla="*/ 0 h 43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3"/>
                        <a:gd name="T94" fmla="*/ 0 h 433"/>
                        <a:gd name="T95" fmla="*/ 533 w 533"/>
                        <a:gd name="T96" fmla="*/ 433 h 43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3" h="433">
                          <a:moveTo>
                            <a:pt x="533" y="137"/>
                          </a:moveTo>
                          <a:lnTo>
                            <a:pt x="471" y="147"/>
                          </a:lnTo>
                          <a:lnTo>
                            <a:pt x="422" y="166"/>
                          </a:lnTo>
                          <a:lnTo>
                            <a:pt x="363" y="205"/>
                          </a:lnTo>
                          <a:lnTo>
                            <a:pt x="312" y="254"/>
                          </a:lnTo>
                          <a:lnTo>
                            <a:pt x="263" y="332"/>
                          </a:lnTo>
                          <a:lnTo>
                            <a:pt x="241" y="384"/>
                          </a:lnTo>
                          <a:lnTo>
                            <a:pt x="257" y="433"/>
                          </a:lnTo>
                          <a:lnTo>
                            <a:pt x="192" y="387"/>
                          </a:lnTo>
                          <a:lnTo>
                            <a:pt x="130" y="365"/>
                          </a:lnTo>
                          <a:lnTo>
                            <a:pt x="81" y="345"/>
                          </a:lnTo>
                          <a:lnTo>
                            <a:pt x="32" y="329"/>
                          </a:lnTo>
                          <a:lnTo>
                            <a:pt x="0" y="313"/>
                          </a:lnTo>
                          <a:lnTo>
                            <a:pt x="42" y="254"/>
                          </a:lnTo>
                          <a:lnTo>
                            <a:pt x="81" y="283"/>
                          </a:lnTo>
                          <a:lnTo>
                            <a:pt x="143" y="313"/>
                          </a:lnTo>
                          <a:lnTo>
                            <a:pt x="195" y="313"/>
                          </a:lnTo>
                          <a:lnTo>
                            <a:pt x="244" y="303"/>
                          </a:lnTo>
                          <a:lnTo>
                            <a:pt x="273" y="293"/>
                          </a:lnTo>
                          <a:lnTo>
                            <a:pt x="303" y="273"/>
                          </a:lnTo>
                          <a:lnTo>
                            <a:pt x="312" y="212"/>
                          </a:lnTo>
                          <a:lnTo>
                            <a:pt x="303" y="166"/>
                          </a:lnTo>
                          <a:lnTo>
                            <a:pt x="273" y="107"/>
                          </a:lnTo>
                          <a:lnTo>
                            <a:pt x="263" y="77"/>
                          </a:lnTo>
                          <a:lnTo>
                            <a:pt x="306" y="68"/>
                          </a:lnTo>
                          <a:lnTo>
                            <a:pt x="360" y="52"/>
                          </a:lnTo>
                          <a:lnTo>
                            <a:pt x="396" y="9"/>
                          </a:lnTo>
                          <a:lnTo>
                            <a:pt x="428" y="0"/>
                          </a:lnTo>
                          <a:lnTo>
                            <a:pt x="465" y="55"/>
                          </a:lnTo>
                          <a:lnTo>
                            <a:pt x="497" y="101"/>
                          </a:lnTo>
                          <a:lnTo>
                            <a:pt x="533"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7547" name="Group 221"/>
                <p:cNvGrpSpPr>
                  <a:grpSpLocks/>
                </p:cNvGrpSpPr>
                <p:nvPr/>
              </p:nvGrpSpPr>
              <p:grpSpPr bwMode="auto">
                <a:xfrm>
                  <a:off x="2900" y="3854"/>
                  <a:ext cx="139" cy="274"/>
                  <a:chOff x="2900" y="3854"/>
                  <a:chExt cx="139" cy="274"/>
                </a:xfrm>
              </p:grpSpPr>
              <p:sp>
                <p:nvSpPr>
                  <p:cNvPr id="17559" name="Freeform 181"/>
                  <p:cNvSpPr>
                    <a:spLocks/>
                  </p:cNvSpPr>
                  <p:nvPr/>
                </p:nvSpPr>
                <p:spPr bwMode="auto">
                  <a:xfrm>
                    <a:off x="2909" y="4050"/>
                    <a:ext cx="128" cy="63"/>
                  </a:xfrm>
                  <a:custGeom>
                    <a:avLst/>
                    <a:gdLst>
                      <a:gd name="T0" fmla="*/ 0 w 1532"/>
                      <a:gd name="T1" fmla="*/ 0 h 757"/>
                      <a:gd name="T2" fmla="*/ 0 w 1532"/>
                      <a:gd name="T3" fmla="*/ 0 h 757"/>
                      <a:gd name="T4" fmla="*/ 0 w 1532"/>
                      <a:gd name="T5" fmla="*/ 0 h 757"/>
                      <a:gd name="T6" fmla="*/ 0 w 1532"/>
                      <a:gd name="T7" fmla="*/ 0 h 757"/>
                      <a:gd name="T8" fmla="*/ 0 w 1532"/>
                      <a:gd name="T9" fmla="*/ 0 h 757"/>
                      <a:gd name="T10" fmla="*/ 0 w 1532"/>
                      <a:gd name="T11" fmla="*/ 0 h 757"/>
                      <a:gd name="T12" fmla="*/ 0 60000 65536"/>
                      <a:gd name="T13" fmla="*/ 0 60000 65536"/>
                      <a:gd name="T14" fmla="*/ 0 60000 65536"/>
                      <a:gd name="T15" fmla="*/ 0 60000 65536"/>
                      <a:gd name="T16" fmla="*/ 0 60000 65536"/>
                      <a:gd name="T17" fmla="*/ 0 60000 65536"/>
                      <a:gd name="T18" fmla="*/ 0 w 1532"/>
                      <a:gd name="T19" fmla="*/ 0 h 757"/>
                      <a:gd name="T20" fmla="*/ 1532 w 1532"/>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32" h="757">
                        <a:moveTo>
                          <a:pt x="1532" y="757"/>
                        </a:moveTo>
                        <a:lnTo>
                          <a:pt x="751" y="276"/>
                        </a:lnTo>
                        <a:lnTo>
                          <a:pt x="0" y="0"/>
                        </a:lnTo>
                        <a:lnTo>
                          <a:pt x="77" y="219"/>
                        </a:lnTo>
                        <a:lnTo>
                          <a:pt x="734" y="570"/>
                        </a:lnTo>
                        <a:lnTo>
                          <a:pt x="1532" y="757"/>
                        </a:lnTo>
                        <a:close/>
                      </a:path>
                    </a:pathLst>
                  </a:custGeom>
                  <a:solidFill>
                    <a:srgbClr val="808080"/>
                  </a:solidFill>
                  <a:ln w="1588">
                    <a:solidFill>
                      <a:srgbClr val="000000"/>
                    </a:solidFill>
                    <a:prstDash val="solid"/>
                    <a:round/>
                    <a:headEnd/>
                    <a:tailEnd/>
                  </a:ln>
                </p:spPr>
                <p:txBody>
                  <a:bodyPr/>
                  <a:lstStyle/>
                  <a:p>
                    <a:endParaRPr lang="en-US"/>
                  </a:p>
                </p:txBody>
              </p:sp>
              <p:sp>
                <p:nvSpPr>
                  <p:cNvPr id="17560" name="Freeform 182"/>
                  <p:cNvSpPr>
                    <a:spLocks/>
                  </p:cNvSpPr>
                  <p:nvPr/>
                </p:nvSpPr>
                <p:spPr bwMode="auto">
                  <a:xfrm>
                    <a:off x="2954" y="4084"/>
                    <a:ext cx="85" cy="44"/>
                  </a:xfrm>
                  <a:custGeom>
                    <a:avLst/>
                    <a:gdLst>
                      <a:gd name="T0" fmla="*/ 0 w 1022"/>
                      <a:gd name="T1" fmla="*/ 0 h 527"/>
                      <a:gd name="T2" fmla="*/ 0 w 1022"/>
                      <a:gd name="T3" fmla="*/ 0 h 527"/>
                      <a:gd name="T4" fmla="*/ 0 w 1022"/>
                      <a:gd name="T5" fmla="*/ 0 h 527"/>
                      <a:gd name="T6" fmla="*/ 0 w 1022"/>
                      <a:gd name="T7" fmla="*/ 0 h 527"/>
                      <a:gd name="T8" fmla="*/ 0 w 1022"/>
                      <a:gd name="T9" fmla="*/ 0 h 527"/>
                      <a:gd name="T10" fmla="*/ 0 w 1022"/>
                      <a:gd name="T11" fmla="*/ 0 h 527"/>
                      <a:gd name="T12" fmla="*/ 0 w 1022"/>
                      <a:gd name="T13" fmla="*/ 0 h 527"/>
                      <a:gd name="T14" fmla="*/ 0 w 1022"/>
                      <a:gd name="T15" fmla="*/ 0 h 527"/>
                      <a:gd name="T16" fmla="*/ 0 w 1022"/>
                      <a:gd name="T17" fmla="*/ 0 h 527"/>
                      <a:gd name="T18" fmla="*/ 0 w 1022"/>
                      <a:gd name="T19" fmla="*/ 0 h 527"/>
                      <a:gd name="T20" fmla="*/ 0 w 1022"/>
                      <a:gd name="T21" fmla="*/ 0 h 527"/>
                      <a:gd name="T22" fmla="*/ 0 w 1022"/>
                      <a:gd name="T23" fmla="*/ 0 h 527"/>
                      <a:gd name="T24" fmla="*/ 0 w 1022"/>
                      <a:gd name="T25" fmla="*/ 0 h 527"/>
                      <a:gd name="T26" fmla="*/ 0 w 1022"/>
                      <a:gd name="T27" fmla="*/ 0 h 5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2"/>
                      <a:gd name="T43" fmla="*/ 0 h 527"/>
                      <a:gd name="T44" fmla="*/ 1022 w 1022"/>
                      <a:gd name="T45" fmla="*/ 527 h 5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2" h="527">
                        <a:moveTo>
                          <a:pt x="119" y="0"/>
                        </a:moveTo>
                        <a:lnTo>
                          <a:pt x="0" y="11"/>
                        </a:lnTo>
                        <a:lnTo>
                          <a:pt x="0" y="83"/>
                        </a:lnTo>
                        <a:lnTo>
                          <a:pt x="65" y="179"/>
                        </a:lnTo>
                        <a:lnTo>
                          <a:pt x="939" y="523"/>
                        </a:lnTo>
                        <a:lnTo>
                          <a:pt x="958" y="527"/>
                        </a:lnTo>
                        <a:lnTo>
                          <a:pt x="975" y="523"/>
                        </a:lnTo>
                        <a:lnTo>
                          <a:pt x="990" y="505"/>
                        </a:lnTo>
                        <a:lnTo>
                          <a:pt x="1008" y="461"/>
                        </a:lnTo>
                        <a:lnTo>
                          <a:pt x="1017" y="428"/>
                        </a:lnTo>
                        <a:lnTo>
                          <a:pt x="1022" y="397"/>
                        </a:lnTo>
                        <a:lnTo>
                          <a:pt x="1013" y="365"/>
                        </a:lnTo>
                        <a:lnTo>
                          <a:pt x="993" y="345"/>
                        </a:lnTo>
                        <a:lnTo>
                          <a:pt x="119" y="0"/>
                        </a:lnTo>
                        <a:close/>
                      </a:path>
                    </a:pathLst>
                  </a:custGeom>
                  <a:solidFill>
                    <a:srgbClr val="606060"/>
                  </a:solidFill>
                  <a:ln w="1588">
                    <a:solidFill>
                      <a:srgbClr val="000000"/>
                    </a:solidFill>
                    <a:prstDash val="solid"/>
                    <a:round/>
                    <a:headEnd/>
                    <a:tailEnd/>
                  </a:ln>
                </p:spPr>
                <p:txBody>
                  <a:bodyPr/>
                  <a:lstStyle/>
                  <a:p>
                    <a:endParaRPr lang="en-US"/>
                  </a:p>
                </p:txBody>
              </p:sp>
              <p:sp>
                <p:nvSpPr>
                  <p:cNvPr id="17561" name="Freeform 183"/>
                  <p:cNvSpPr>
                    <a:spLocks/>
                  </p:cNvSpPr>
                  <p:nvPr/>
                </p:nvSpPr>
                <p:spPr bwMode="auto">
                  <a:xfrm>
                    <a:off x="2900" y="3854"/>
                    <a:ext cx="122" cy="245"/>
                  </a:xfrm>
                  <a:custGeom>
                    <a:avLst/>
                    <a:gdLst>
                      <a:gd name="T0" fmla="*/ 0 w 1471"/>
                      <a:gd name="T1" fmla="*/ 0 h 2948"/>
                      <a:gd name="T2" fmla="*/ 0 w 1471"/>
                      <a:gd name="T3" fmla="*/ 0 h 2948"/>
                      <a:gd name="T4" fmla="*/ 0 w 1471"/>
                      <a:gd name="T5" fmla="*/ 0 h 2948"/>
                      <a:gd name="T6" fmla="*/ 0 w 1471"/>
                      <a:gd name="T7" fmla="*/ 0 h 2948"/>
                      <a:gd name="T8" fmla="*/ 0 w 1471"/>
                      <a:gd name="T9" fmla="*/ 0 h 2948"/>
                      <a:gd name="T10" fmla="*/ 0 w 1471"/>
                      <a:gd name="T11" fmla="*/ 0 h 2948"/>
                      <a:gd name="T12" fmla="*/ 0 w 1471"/>
                      <a:gd name="T13" fmla="*/ 0 h 2948"/>
                      <a:gd name="T14" fmla="*/ 0 w 1471"/>
                      <a:gd name="T15" fmla="*/ 0 h 2948"/>
                      <a:gd name="T16" fmla="*/ 0 w 1471"/>
                      <a:gd name="T17" fmla="*/ 0 h 2948"/>
                      <a:gd name="T18" fmla="*/ 0 w 1471"/>
                      <a:gd name="T19" fmla="*/ 0 h 2948"/>
                      <a:gd name="T20" fmla="*/ 0 w 1471"/>
                      <a:gd name="T21" fmla="*/ 0 h 2948"/>
                      <a:gd name="T22" fmla="*/ 0 w 1471"/>
                      <a:gd name="T23" fmla="*/ 0 h 2948"/>
                      <a:gd name="T24" fmla="*/ 0 w 1471"/>
                      <a:gd name="T25" fmla="*/ 0 h 2948"/>
                      <a:gd name="T26" fmla="*/ 0 w 1471"/>
                      <a:gd name="T27" fmla="*/ 0 h 2948"/>
                      <a:gd name="T28" fmla="*/ 0 w 1471"/>
                      <a:gd name="T29" fmla="*/ 0 h 2948"/>
                      <a:gd name="T30" fmla="*/ 0 w 1471"/>
                      <a:gd name="T31" fmla="*/ 0 h 2948"/>
                      <a:gd name="T32" fmla="*/ 0 w 1471"/>
                      <a:gd name="T33" fmla="*/ 0 h 2948"/>
                      <a:gd name="T34" fmla="*/ 0 w 1471"/>
                      <a:gd name="T35" fmla="*/ 0 h 2948"/>
                      <a:gd name="T36" fmla="*/ 0 w 1471"/>
                      <a:gd name="T37" fmla="*/ 0 h 2948"/>
                      <a:gd name="T38" fmla="*/ 0 w 1471"/>
                      <a:gd name="T39" fmla="*/ 0 h 2948"/>
                      <a:gd name="T40" fmla="*/ 0 w 1471"/>
                      <a:gd name="T41" fmla="*/ 0 h 2948"/>
                      <a:gd name="T42" fmla="*/ 0 w 1471"/>
                      <a:gd name="T43" fmla="*/ 0 h 2948"/>
                      <a:gd name="T44" fmla="*/ 0 w 1471"/>
                      <a:gd name="T45" fmla="*/ 0 h 2948"/>
                      <a:gd name="T46" fmla="*/ 0 w 1471"/>
                      <a:gd name="T47" fmla="*/ 0 h 2948"/>
                      <a:gd name="T48" fmla="*/ 0 w 1471"/>
                      <a:gd name="T49" fmla="*/ 0 h 2948"/>
                      <a:gd name="T50" fmla="*/ 0 w 1471"/>
                      <a:gd name="T51" fmla="*/ 0 h 2948"/>
                      <a:gd name="T52" fmla="*/ 0 w 1471"/>
                      <a:gd name="T53" fmla="*/ 0 h 2948"/>
                      <a:gd name="T54" fmla="*/ 0 w 1471"/>
                      <a:gd name="T55" fmla="*/ 0 h 2948"/>
                      <a:gd name="T56" fmla="*/ 0 w 1471"/>
                      <a:gd name="T57" fmla="*/ 0 h 2948"/>
                      <a:gd name="T58" fmla="*/ 0 w 1471"/>
                      <a:gd name="T59" fmla="*/ 0 h 2948"/>
                      <a:gd name="T60" fmla="*/ 0 w 1471"/>
                      <a:gd name="T61" fmla="*/ 0 h 2948"/>
                      <a:gd name="T62" fmla="*/ 0 w 1471"/>
                      <a:gd name="T63" fmla="*/ 0 h 2948"/>
                      <a:gd name="T64" fmla="*/ 0 w 1471"/>
                      <a:gd name="T65" fmla="*/ 0 h 2948"/>
                      <a:gd name="T66" fmla="*/ 0 w 1471"/>
                      <a:gd name="T67" fmla="*/ 0 h 2948"/>
                      <a:gd name="T68" fmla="*/ 0 w 1471"/>
                      <a:gd name="T69" fmla="*/ 0 h 2948"/>
                      <a:gd name="T70" fmla="*/ 0 w 1471"/>
                      <a:gd name="T71" fmla="*/ 0 h 2948"/>
                      <a:gd name="T72" fmla="*/ 0 w 1471"/>
                      <a:gd name="T73" fmla="*/ 0 h 2948"/>
                      <a:gd name="T74" fmla="*/ 0 w 1471"/>
                      <a:gd name="T75" fmla="*/ 0 h 2948"/>
                      <a:gd name="T76" fmla="*/ 0 w 1471"/>
                      <a:gd name="T77" fmla="*/ 0 h 2948"/>
                      <a:gd name="T78" fmla="*/ 0 w 1471"/>
                      <a:gd name="T79" fmla="*/ 0 h 2948"/>
                      <a:gd name="T80" fmla="*/ 0 w 1471"/>
                      <a:gd name="T81" fmla="*/ 0 h 2948"/>
                      <a:gd name="T82" fmla="*/ 0 w 1471"/>
                      <a:gd name="T83" fmla="*/ 0 h 2948"/>
                      <a:gd name="T84" fmla="*/ 0 w 1471"/>
                      <a:gd name="T85" fmla="*/ 0 h 2948"/>
                      <a:gd name="T86" fmla="*/ 0 w 1471"/>
                      <a:gd name="T87" fmla="*/ 0 h 2948"/>
                      <a:gd name="T88" fmla="*/ 0 w 1471"/>
                      <a:gd name="T89" fmla="*/ 0 h 2948"/>
                      <a:gd name="T90" fmla="*/ 0 w 1471"/>
                      <a:gd name="T91" fmla="*/ 0 h 2948"/>
                      <a:gd name="T92" fmla="*/ 0 w 1471"/>
                      <a:gd name="T93" fmla="*/ 0 h 2948"/>
                      <a:gd name="T94" fmla="*/ 0 w 1471"/>
                      <a:gd name="T95" fmla="*/ 0 h 2948"/>
                      <a:gd name="T96" fmla="*/ 0 w 1471"/>
                      <a:gd name="T97" fmla="*/ 0 h 2948"/>
                      <a:gd name="T98" fmla="*/ 0 w 1471"/>
                      <a:gd name="T99" fmla="*/ 0 h 2948"/>
                      <a:gd name="T100" fmla="*/ 0 w 1471"/>
                      <a:gd name="T101" fmla="*/ 0 h 2948"/>
                      <a:gd name="T102" fmla="*/ 0 w 1471"/>
                      <a:gd name="T103" fmla="*/ 0 h 2948"/>
                      <a:gd name="T104" fmla="*/ 0 w 1471"/>
                      <a:gd name="T105" fmla="*/ 0 h 2948"/>
                      <a:gd name="T106" fmla="*/ 0 w 1471"/>
                      <a:gd name="T107" fmla="*/ 0 h 2948"/>
                      <a:gd name="T108" fmla="*/ 0 w 1471"/>
                      <a:gd name="T109" fmla="*/ 0 h 2948"/>
                      <a:gd name="T110" fmla="*/ 0 w 1471"/>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1"/>
                      <a:gd name="T169" fmla="*/ 0 h 2948"/>
                      <a:gd name="T170" fmla="*/ 1471 w 1471"/>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1" h="2948">
                        <a:moveTo>
                          <a:pt x="1471" y="384"/>
                        </a:moveTo>
                        <a:lnTo>
                          <a:pt x="1468" y="353"/>
                        </a:lnTo>
                        <a:lnTo>
                          <a:pt x="1453" y="331"/>
                        </a:lnTo>
                        <a:lnTo>
                          <a:pt x="1431" y="306"/>
                        </a:lnTo>
                        <a:lnTo>
                          <a:pt x="1353" y="255"/>
                        </a:lnTo>
                        <a:lnTo>
                          <a:pt x="1003" y="61"/>
                        </a:lnTo>
                        <a:lnTo>
                          <a:pt x="953" y="37"/>
                        </a:lnTo>
                        <a:lnTo>
                          <a:pt x="921" y="22"/>
                        </a:lnTo>
                        <a:lnTo>
                          <a:pt x="881" y="10"/>
                        </a:lnTo>
                        <a:lnTo>
                          <a:pt x="857" y="3"/>
                        </a:lnTo>
                        <a:lnTo>
                          <a:pt x="821" y="0"/>
                        </a:lnTo>
                        <a:lnTo>
                          <a:pt x="787" y="3"/>
                        </a:lnTo>
                        <a:lnTo>
                          <a:pt x="763" y="5"/>
                        </a:lnTo>
                        <a:lnTo>
                          <a:pt x="727" y="16"/>
                        </a:lnTo>
                        <a:lnTo>
                          <a:pt x="691" y="32"/>
                        </a:lnTo>
                        <a:lnTo>
                          <a:pt x="659" y="53"/>
                        </a:lnTo>
                        <a:lnTo>
                          <a:pt x="626" y="74"/>
                        </a:lnTo>
                        <a:lnTo>
                          <a:pt x="594" y="95"/>
                        </a:lnTo>
                        <a:lnTo>
                          <a:pt x="559" y="120"/>
                        </a:lnTo>
                        <a:lnTo>
                          <a:pt x="525" y="153"/>
                        </a:lnTo>
                        <a:lnTo>
                          <a:pt x="506" y="175"/>
                        </a:lnTo>
                        <a:lnTo>
                          <a:pt x="490" y="200"/>
                        </a:lnTo>
                        <a:lnTo>
                          <a:pt x="478" y="238"/>
                        </a:lnTo>
                        <a:lnTo>
                          <a:pt x="10" y="2307"/>
                        </a:lnTo>
                        <a:lnTo>
                          <a:pt x="0" y="2349"/>
                        </a:lnTo>
                        <a:lnTo>
                          <a:pt x="0" y="2369"/>
                        </a:lnTo>
                        <a:lnTo>
                          <a:pt x="0" y="2396"/>
                        </a:lnTo>
                        <a:lnTo>
                          <a:pt x="1" y="2422"/>
                        </a:lnTo>
                        <a:lnTo>
                          <a:pt x="11" y="2465"/>
                        </a:lnTo>
                        <a:lnTo>
                          <a:pt x="18" y="2485"/>
                        </a:lnTo>
                        <a:lnTo>
                          <a:pt x="38" y="2518"/>
                        </a:lnTo>
                        <a:lnTo>
                          <a:pt x="50" y="2540"/>
                        </a:lnTo>
                        <a:lnTo>
                          <a:pt x="78" y="2571"/>
                        </a:lnTo>
                        <a:lnTo>
                          <a:pt x="110" y="2597"/>
                        </a:lnTo>
                        <a:lnTo>
                          <a:pt x="154" y="2627"/>
                        </a:lnTo>
                        <a:lnTo>
                          <a:pt x="189" y="2650"/>
                        </a:lnTo>
                        <a:lnTo>
                          <a:pt x="713" y="2948"/>
                        </a:lnTo>
                        <a:lnTo>
                          <a:pt x="704" y="2916"/>
                        </a:lnTo>
                        <a:lnTo>
                          <a:pt x="703" y="2885"/>
                        </a:lnTo>
                        <a:lnTo>
                          <a:pt x="709" y="2861"/>
                        </a:lnTo>
                        <a:lnTo>
                          <a:pt x="717" y="2833"/>
                        </a:lnTo>
                        <a:lnTo>
                          <a:pt x="731" y="2805"/>
                        </a:lnTo>
                        <a:lnTo>
                          <a:pt x="749" y="2783"/>
                        </a:lnTo>
                        <a:lnTo>
                          <a:pt x="774" y="2769"/>
                        </a:lnTo>
                        <a:lnTo>
                          <a:pt x="193" y="2432"/>
                        </a:lnTo>
                        <a:lnTo>
                          <a:pt x="174" y="2416"/>
                        </a:lnTo>
                        <a:lnTo>
                          <a:pt x="167" y="2407"/>
                        </a:lnTo>
                        <a:lnTo>
                          <a:pt x="161" y="2391"/>
                        </a:lnTo>
                        <a:lnTo>
                          <a:pt x="156" y="2359"/>
                        </a:lnTo>
                        <a:lnTo>
                          <a:pt x="156" y="2339"/>
                        </a:lnTo>
                        <a:lnTo>
                          <a:pt x="442" y="1110"/>
                        </a:lnTo>
                        <a:lnTo>
                          <a:pt x="471" y="1055"/>
                        </a:lnTo>
                        <a:lnTo>
                          <a:pt x="498" y="1024"/>
                        </a:lnTo>
                        <a:lnTo>
                          <a:pt x="544" y="976"/>
                        </a:lnTo>
                        <a:lnTo>
                          <a:pt x="579" y="941"/>
                        </a:lnTo>
                        <a:lnTo>
                          <a:pt x="1471" y="384"/>
                        </a:lnTo>
                        <a:close/>
                      </a:path>
                    </a:pathLst>
                  </a:custGeom>
                  <a:solidFill>
                    <a:srgbClr val="808080"/>
                  </a:solidFill>
                  <a:ln w="1588">
                    <a:solidFill>
                      <a:srgbClr val="000000"/>
                    </a:solidFill>
                    <a:prstDash val="solid"/>
                    <a:round/>
                    <a:headEnd/>
                    <a:tailEnd/>
                  </a:ln>
                </p:spPr>
                <p:txBody>
                  <a:bodyPr/>
                  <a:lstStyle/>
                  <a:p>
                    <a:endParaRPr lang="en-US"/>
                  </a:p>
                </p:txBody>
              </p:sp>
              <p:sp>
                <p:nvSpPr>
                  <p:cNvPr id="17562" name="Freeform 184"/>
                  <p:cNvSpPr>
                    <a:spLocks/>
                  </p:cNvSpPr>
                  <p:nvPr/>
                </p:nvSpPr>
                <p:spPr bwMode="auto">
                  <a:xfrm>
                    <a:off x="2949" y="3858"/>
                    <a:ext cx="77" cy="109"/>
                  </a:xfrm>
                  <a:custGeom>
                    <a:avLst/>
                    <a:gdLst>
                      <a:gd name="T0" fmla="*/ 0 w 923"/>
                      <a:gd name="T1" fmla="*/ 0 h 1304"/>
                      <a:gd name="T2" fmla="*/ 0 w 923"/>
                      <a:gd name="T3" fmla="*/ 0 h 1304"/>
                      <a:gd name="T4" fmla="*/ 0 w 923"/>
                      <a:gd name="T5" fmla="*/ 0 h 1304"/>
                      <a:gd name="T6" fmla="*/ 0 w 923"/>
                      <a:gd name="T7" fmla="*/ 0 h 1304"/>
                      <a:gd name="T8" fmla="*/ 0 w 923"/>
                      <a:gd name="T9" fmla="*/ 0 h 1304"/>
                      <a:gd name="T10" fmla="*/ 0 w 923"/>
                      <a:gd name="T11" fmla="*/ 0 h 1304"/>
                      <a:gd name="T12" fmla="*/ 0 w 923"/>
                      <a:gd name="T13" fmla="*/ 0 h 1304"/>
                      <a:gd name="T14" fmla="*/ 0 w 923"/>
                      <a:gd name="T15" fmla="*/ 0 h 1304"/>
                      <a:gd name="T16" fmla="*/ 0 w 923"/>
                      <a:gd name="T17" fmla="*/ 0 h 1304"/>
                      <a:gd name="T18" fmla="*/ 0 w 923"/>
                      <a:gd name="T19" fmla="*/ 0 h 1304"/>
                      <a:gd name="T20" fmla="*/ 0 w 923"/>
                      <a:gd name="T21" fmla="*/ 0 h 1304"/>
                      <a:gd name="T22" fmla="*/ 0 w 923"/>
                      <a:gd name="T23" fmla="*/ 0 h 1304"/>
                      <a:gd name="T24" fmla="*/ 0 w 923"/>
                      <a:gd name="T25" fmla="*/ 0 h 1304"/>
                      <a:gd name="T26" fmla="*/ 0 w 923"/>
                      <a:gd name="T27" fmla="*/ 0 h 1304"/>
                      <a:gd name="T28" fmla="*/ 0 w 923"/>
                      <a:gd name="T29" fmla="*/ 0 h 1304"/>
                      <a:gd name="T30" fmla="*/ 0 w 923"/>
                      <a:gd name="T31" fmla="*/ 0 h 1304"/>
                      <a:gd name="T32" fmla="*/ 0 w 923"/>
                      <a:gd name="T33" fmla="*/ 0 h 1304"/>
                      <a:gd name="T34" fmla="*/ 0 w 923"/>
                      <a:gd name="T35" fmla="*/ 0 h 1304"/>
                      <a:gd name="T36" fmla="*/ 0 w 923"/>
                      <a:gd name="T37" fmla="*/ 0 h 1304"/>
                      <a:gd name="T38" fmla="*/ 0 w 923"/>
                      <a:gd name="T39" fmla="*/ 0 h 1304"/>
                      <a:gd name="T40" fmla="*/ 0 w 923"/>
                      <a:gd name="T41" fmla="*/ 0 h 1304"/>
                      <a:gd name="T42" fmla="*/ 0 w 923"/>
                      <a:gd name="T43" fmla="*/ 0 h 1304"/>
                      <a:gd name="T44" fmla="*/ 0 w 923"/>
                      <a:gd name="T45" fmla="*/ 0 h 1304"/>
                      <a:gd name="T46" fmla="*/ 0 w 923"/>
                      <a:gd name="T47" fmla="*/ 0 h 1304"/>
                      <a:gd name="T48" fmla="*/ 0 w 923"/>
                      <a:gd name="T49" fmla="*/ 0 h 1304"/>
                      <a:gd name="T50" fmla="*/ 0 w 923"/>
                      <a:gd name="T51" fmla="*/ 0 h 1304"/>
                      <a:gd name="T52" fmla="*/ 0 w 923"/>
                      <a:gd name="T53" fmla="*/ 0 h 1304"/>
                      <a:gd name="T54" fmla="*/ 0 w 923"/>
                      <a:gd name="T55" fmla="*/ 0 h 1304"/>
                      <a:gd name="T56" fmla="*/ 0 w 923"/>
                      <a:gd name="T57" fmla="*/ 0 h 1304"/>
                      <a:gd name="T58" fmla="*/ 0 w 923"/>
                      <a:gd name="T59" fmla="*/ 0 h 1304"/>
                      <a:gd name="T60" fmla="*/ 0 w 923"/>
                      <a:gd name="T61" fmla="*/ 0 h 1304"/>
                      <a:gd name="T62" fmla="*/ 0 w 923"/>
                      <a:gd name="T63" fmla="*/ 0 h 1304"/>
                      <a:gd name="T64" fmla="*/ 0 w 923"/>
                      <a:gd name="T65" fmla="*/ 0 h 1304"/>
                      <a:gd name="T66" fmla="*/ 0 w 923"/>
                      <a:gd name="T67" fmla="*/ 0 h 1304"/>
                      <a:gd name="T68" fmla="*/ 0 w 923"/>
                      <a:gd name="T69" fmla="*/ 0 h 1304"/>
                      <a:gd name="T70" fmla="*/ 0 w 923"/>
                      <a:gd name="T71" fmla="*/ 0 h 1304"/>
                      <a:gd name="T72" fmla="*/ 0 w 923"/>
                      <a:gd name="T73" fmla="*/ 0 h 1304"/>
                      <a:gd name="T74" fmla="*/ 0 w 923"/>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3"/>
                      <a:gd name="T115" fmla="*/ 0 h 1304"/>
                      <a:gd name="T116" fmla="*/ 923 w 923"/>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3" h="1304">
                        <a:moveTo>
                          <a:pt x="893" y="352"/>
                        </a:moveTo>
                        <a:lnTo>
                          <a:pt x="863" y="316"/>
                        </a:lnTo>
                        <a:lnTo>
                          <a:pt x="817" y="278"/>
                        </a:lnTo>
                        <a:lnTo>
                          <a:pt x="751" y="242"/>
                        </a:lnTo>
                        <a:lnTo>
                          <a:pt x="582" y="149"/>
                        </a:lnTo>
                        <a:lnTo>
                          <a:pt x="398" y="54"/>
                        </a:lnTo>
                        <a:lnTo>
                          <a:pt x="333" y="22"/>
                        </a:lnTo>
                        <a:lnTo>
                          <a:pt x="288" y="7"/>
                        </a:lnTo>
                        <a:lnTo>
                          <a:pt x="254" y="0"/>
                        </a:lnTo>
                        <a:lnTo>
                          <a:pt x="227" y="0"/>
                        </a:lnTo>
                        <a:lnTo>
                          <a:pt x="204" y="6"/>
                        </a:lnTo>
                        <a:lnTo>
                          <a:pt x="181" y="22"/>
                        </a:lnTo>
                        <a:lnTo>
                          <a:pt x="163" y="42"/>
                        </a:lnTo>
                        <a:lnTo>
                          <a:pt x="147" y="77"/>
                        </a:lnTo>
                        <a:lnTo>
                          <a:pt x="0" y="834"/>
                        </a:lnTo>
                        <a:lnTo>
                          <a:pt x="0" y="866"/>
                        </a:lnTo>
                        <a:lnTo>
                          <a:pt x="0" y="907"/>
                        </a:lnTo>
                        <a:lnTo>
                          <a:pt x="6" y="937"/>
                        </a:lnTo>
                        <a:lnTo>
                          <a:pt x="16" y="958"/>
                        </a:lnTo>
                        <a:lnTo>
                          <a:pt x="29" y="978"/>
                        </a:lnTo>
                        <a:lnTo>
                          <a:pt x="57" y="1005"/>
                        </a:lnTo>
                        <a:lnTo>
                          <a:pt x="84" y="1023"/>
                        </a:lnTo>
                        <a:lnTo>
                          <a:pt x="117" y="1041"/>
                        </a:lnTo>
                        <a:lnTo>
                          <a:pt x="555" y="1268"/>
                        </a:lnTo>
                        <a:lnTo>
                          <a:pt x="596" y="1285"/>
                        </a:lnTo>
                        <a:lnTo>
                          <a:pt x="633" y="1296"/>
                        </a:lnTo>
                        <a:lnTo>
                          <a:pt x="674" y="1304"/>
                        </a:lnTo>
                        <a:lnTo>
                          <a:pt x="702" y="1304"/>
                        </a:lnTo>
                        <a:lnTo>
                          <a:pt x="730" y="1296"/>
                        </a:lnTo>
                        <a:lnTo>
                          <a:pt x="751" y="1269"/>
                        </a:lnTo>
                        <a:lnTo>
                          <a:pt x="763" y="1222"/>
                        </a:lnTo>
                        <a:lnTo>
                          <a:pt x="780" y="1163"/>
                        </a:lnTo>
                        <a:lnTo>
                          <a:pt x="855" y="834"/>
                        </a:lnTo>
                        <a:lnTo>
                          <a:pt x="911" y="508"/>
                        </a:lnTo>
                        <a:lnTo>
                          <a:pt x="923" y="432"/>
                        </a:lnTo>
                        <a:lnTo>
                          <a:pt x="921" y="404"/>
                        </a:lnTo>
                        <a:lnTo>
                          <a:pt x="912" y="380"/>
                        </a:lnTo>
                        <a:lnTo>
                          <a:pt x="893" y="352"/>
                        </a:lnTo>
                        <a:close/>
                      </a:path>
                    </a:pathLst>
                  </a:custGeom>
                  <a:solidFill>
                    <a:srgbClr val="606060"/>
                  </a:solidFill>
                  <a:ln w="1588">
                    <a:solidFill>
                      <a:srgbClr val="000000"/>
                    </a:solidFill>
                    <a:prstDash val="solid"/>
                    <a:round/>
                    <a:headEnd/>
                    <a:tailEnd/>
                  </a:ln>
                </p:spPr>
                <p:txBody>
                  <a:bodyPr/>
                  <a:lstStyle/>
                  <a:p>
                    <a:endParaRPr lang="en-US"/>
                  </a:p>
                </p:txBody>
              </p:sp>
              <p:sp>
                <p:nvSpPr>
                  <p:cNvPr id="17563" name="Freeform 185"/>
                  <p:cNvSpPr>
                    <a:spLocks/>
                  </p:cNvSpPr>
                  <p:nvPr/>
                </p:nvSpPr>
                <p:spPr bwMode="auto">
                  <a:xfrm>
                    <a:off x="2908" y="3931"/>
                    <a:ext cx="101" cy="142"/>
                  </a:xfrm>
                  <a:custGeom>
                    <a:avLst/>
                    <a:gdLst>
                      <a:gd name="T0" fmla="*/ 0 w 1208"/>
                      <a:gd name="T1" fmla="*/ 0 h 1702"/>
                      <a:gd name="T2" fmla="*/ 0 w 1208"/>
                      <a:gd name="T3" fmla="*/ 0 h 1702"/>
                      <a:gd name="T4" fmla="*/ 0 w 1208"/>
                      <a:gd name="T5" fmla="*/ 0 h 1702"/>
                      <a:gd name="T6" fmla="*/ 0 w 1208"/>
                      <a:gd name="T7" fmla="*/ 0 h 1702"/>
                      <a:gd name="T8" fmla="*/ 0 w 1208"/>
                      <a:gd name="T9" fmla="*/ 0 h 1702"/>
                      <a:gd name="T10" fmla="*/ 0 w 1208"/>
                      <a:gd name="T11" fmla="*/ 0 h 1702"/>
                      <a:gd name="T12" fmla="*/ 0 w 1208"/>
                      <a:gd name="T13" fmla="*/ 0 h 1702"/>
                      <a:gd name="T14" fmla="*/ 0 w 1208"/>
                      <a:gd name="T15" fmla="*/ 0 h 1702"/>
                      <a:gd name="T16" fmla="*/ 0 w 1208"/>
                      <a:gd name="T17" fmla="*/ 0 h 1702"/>
                      <a:gd name="T18" fmla="*/ 0 w 1208"/>
                      <a:gd name="T19" fmla="*/ 0 h 1702"/>
                      <a:gd name="T20" fmla="*/ 0 w 1208"/>
                      <a:gd name="T21" fmla="*/ 0 h 1702"/>
                      <a:gd name="T22" fmla="*/ 0 w 1208"/>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08"/>
                      <a:gd name="T37" fmla="*/ 0 h 1702"/>
                      <a:gd name="T38" fmla="*/ 1208 w 1208"/>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08" h="1702">
                        <a:moveTo>
                          <a:pt x="1203" y="431"/>
                        </a:moveTo>
                        <a:lnTo>
                          <a:pt x="1208" y="425"/>
                        </a:lnTo>
                        <a:lnTo>
                          <a:pt x="1150" y="451"/>
                        </a:lnTo>
                        <a:lnTo>
                          <a:pt x="1112" y="467"/>
                        </a:lnTo>
                        <a:lnTo>
                          <a:pt x="1094" y="478"/>
                        </a:lnTo>
                        <a:lnTo>
                          <a:pt x="1067" y="511"/>
                        </a:lnTo>
                        <a:lnTo>
                          <a:pt x="1047" y="552"/>
                        </a:lnTo>
                        <a:lnTo>
                          <a:pt x="768" y="1702"/>
                        </a:lnTo>
                        <a:lnTo>
                          <a:pt x="0" y="1429"/>
                        </a:lnTo>
                        <a:lnTo>
                          <a:pt x="312" y="31"/>
                        </a:lnTo>
                        <a:lnTo>
                          <a:pt x="478" y="0"/>
                        </a:lnTo>
                        <a:lnTo>
                          <a:pt x="1203"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17564" name="Group 201"/>
                  <p:cNvGrpSpPr>
                    <a:grpSpLocks/>
                  </p:cNvGrpSpPr>
                  <p:nvPr/>
                </p:nvGrpSpPr>
                <p:grpSpPr bwMode="auto">
                  <a:xfrm>
                    <a:off x="2965" y="3881"/>
                    <a:ext cx="52" cy="60"/>
                    <a:chOff x="2965" y="3881"/>
                    <a:chExt cx="52" cy="60"/>
                  </a:xfrm>
                </p:grpSpPr>
                <p:sp>
                  <p:nvSpPr>
                    <p:cNvPr id="17584" name="Oval 186"/>
                    <p:cNvSpPr>
                      <a:spLocks noChangeArrowheads="1"/>
                    </p:cNvSpPr>
                    <p:nvPr/>
                  </p:nvSpPr>
                  <p:spPr bwMode="auto">
                    <a:xfrm>
                      <a:off x="2965" y="3881"/>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7585" name="Group 200"/>
                    <p:cNvGrpSpPr>
                      <a:grpSpLocks/>
                    </p:cNvGrpSpPr>
                    <p:nvPr/>
                  </p:nvGrpSpPr>
                  <p:grpSpPr bwMode="auto">
                    <a:xfrm>
                      <a:off x="2978" y="3891"/>
                      <a:ext cx="28" cy="40"/>
                      <a:chOff x="2978" y="3891"/>
                      <a:chExt cx="28" cy="40"/>
                    </a:xfrm>
                  </p:grpSpPr>
                  <p:sp>
                    <p:nvSpPr>
                      <p:cNvPr id="17586" name="Oval 187"/>
                      <p:cNvSpPr>
                        <a:spLocks noChangeArrowheads="1"/>
                      </p:cNvSpPr>
                      <p:nvPr/>
                    </p:nvSpPr>
                    <p:spPr bwMode="auto">
                      <a:xfrm>
                        <a:off x="2991" y="3909"/>
                        <a:ext cx="2"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87" name="Oval 188"/>
                      <p:cNvSpPr>
                        <a:spLocks noChangeArrowheads="1"/>
                      </p:cNvSpPr>
                      <p:nvPr/>
                    </p:nvSpPr>
                    <p:spPr bwMode="auto">
                      <a:xfrm>
                        <a:off x="3001" y="391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88" name="Oval 189"/>
                      <p:cNvSpPr>
                        <a:spLocks noChangeArrowheads="1"/>
                      </p:cNvSpPr>
                      <p:nvPr/>
                    </p:nvSpPr>
                    <p:spPr bwMode="auto">
                      <a:xfrm>
                        <a:off x="2978" y="3919"/>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89" name="Oval 190"/>
                      <p:cNvSpPr>
                        <a:spLocks noChangeArrowheads="1"/>
                      </p:cNvSpPr>
                      <p:nvPr/>
                    </p:nvSpPr>
                    <p:spPr bwMode="auto">
                      <a:xfrm>
                        <a:off x="2987" y="392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90" name="Oval 191"/>
                      <p:cNvSpPr>
                        <a:spLocks noChangeArrowheads="1"/>
                      </p:cNvSpPr>
                      <p:nvPr/>
                    </p:nvSpPr>
                    <p:spPr bwMode="auto">
                      <a:xfrm>
                        <a:off x="2998" y="3927"/>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91" name="Oval 192"/>
                      <p:cNvSpPr>
                        <a:spLocks noChangeArrowheads="1"/>
                      </p:cNvSpPr>
                      <p:nvPr/>
                    </p:nvSpPr>
                    <p:spPr bwMode="auto">
                      <a:xfrm>
                        <a:off x="2984" y="3913"/>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92" name="Oval 193"/>
                      <p:cNvSpPr>
                        <a:spLocks noChangeArrowheads="1"/>
                      </p:cNvSpPr>
                      <p:nvPr/>
                    </p:nvSpPr>
                    <p:spPr bwMode="auto">
                      <a:xfrm>
                        <a:off x="2993" y="391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93" name="Oval 194"/>
                      <p:cNvSpPr>
                        <a:spLocks noChangeArrowheads="1"/>
                      </p:cNvSpPr>
                      <p:nvPr/>
                    </p:nvSpPr>
                    <p:spPr bwMode="auto">
                      <a:xfrm>
                        <a:off x="2983" y="3891"/>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94" name="Oval 195"/>
                      <p:cNvSpPr>
                        <a:spLocks noChangeArrowheads="1"/>
                      </p:cNvSpPr>
                      <p:nvPr/>
                    </p:nvSpPr>
                    <p:spPr bwMode="auto">
                      <a:xfrm>
                        <a:off x="2993" y="3895"/>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95" name="Oval 196"/>
                      <p:cNvSpPr>
                        <a:spLocks noChangeArrowheads="1"/>
                      </p:cNvSpPr>
                      <p:nvPr/>
                    </p:nvSpPr>
                    <p:spPr bwMode="auto">
                      <a:xfrm>
                        <a:off x="3003" y="3899"/>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96" name="Oval 197"/>
                      <p:cNvSpPr>
                        <a:spLocks noChangeArrowheads="1"/>
                      </p:cNvSpPr>
                      <p:nvPr/>
                    </p:nvSpPr>
                    <p:spPr bwMode="auto">
                      <a:xfrm>
                        <a:off x="2980" y="3905"/>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97" name="Oval 198"/>
                      <p:cNvSpPr>
                        <a:spLocks noChangeArrowheads="1"/>
                      </p:cNvSpPr>
                      <p:nvPr/>
                    </p:nvSpPr>
                    <p:spPr bwMode="auto">
                      <a:xfrm>
                        <a:off x="2986" y="3900"/>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98" name="Oval 199"/>
                      <p:cNvSpPr>
                        <a:spLocks noChangeArrowheads="1"/>
                      </p:cNvSpPr>
                      <p:nvPr/>
                    </p:nvSpPr>
                    <p:spPr bwMode="auto">
                      <a:xfrm>
                        <a:off x="2997" y="3903"/>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7565" name="Group 220"/>
                  <p:cNvGrpSpPr>
                    <a:grpSpLocks/>
                  </p:cNvGrpSpPr>
                  <p:nvPr/>
                </p:nvGrpSpPr>
                <p:grpSpPr bwMode="auto">
                  <a:xfrm>
                    <a:off x="2925" y="3952"/>
                    <a:ext cx="67" cy="111"/>
                    <a:chOff x="2925" y="3952"/>
                    <a:chExt cx="67" cy="111"/>
                  </a:xfrm>
                </p:grpSpPr>
                <p:sp>
                  <p:nvSpPr>
                    <p:cNvPr id="17566" name="Oval 202"/>
                    <p:cNvSpPr>
                      <a:spLocks noChangeArrowheads="1"/>
                    </p:cNvSpPr>
                    <p:nvPr/>
                  </p:nvSpPr>
                  <p:spPr bwMode="auto">
                    <a:xfrm>
                      <a:off x="2959" y="404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67" name="Oval 203"/>
                    <p:cNvSpPr>
                      <a:spLocks noChangeArrowheads="1"/>
                    </p:cNvSpPr>
                    <p:nvPr/>
                  </p:nvSpPr>
                  <p:spPr bwMode="auto">
                    <a:xfrm>
                      <a:off x="2945" y="395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68" name="Oval 204"/>
                    <p:cNvSpPr>
                      <a:spLocks noChangeArrowheads="1"/>
                    </p:cNvSpPr>
                    <p:nvPr/>
                  </p:nvSpPr>
                  <p:spPr bwMode="auto">
                    <a:xfrm>
                      <a:off x="2962" y="3960"/>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69" name="Oval 205"/>
                    <p:cNvSpPr>
                      <a:spLocks noChangeArrowheads="1"/>
                    </p:cNvSpPr>
                    <p:nvPr/>
                  </p:nvSpPr>
                  <p:spPr bwMode="auto">
                    <a:xfrm>
                      <a:off x="2979" y="3967"/>
                      <a:ext cx="13"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0" name="Oval 206"/>
                    <p:cNvSpPr>
                      <a:spLocks noChangeArrowheads="1"/>
                    </p:cNvSpPr>
                    <p:nvPr/>
                  </p:nvSpPr>
                  <p:spPr bwMode="auto">
                    <a:xfrm>
                      <a:off x="2941" y="3969"/>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1" name="Oval 207"/>
                    <p:cNvSpPr>
                      <a:spLocks noChangeArrowheads="1"/>
                    </p:cNvSpPr>
                    <p:nvPr/>
                  </p:nvSpPr>
                  <p:spPr bwMode="auto">
                    <a:xfrm>
                      <a:off x="2958" y="3976"/>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2" name="Oval 208"/>
                    <p:cNvSpPr>
                      <a:spLocks noChangeArrowheads="1"/>
                    </p:cNvSpPr>
                    <p:nvPr/>
                  </p:nvSpPr>
                  <p:spPr bwMode="auto">
                    <a:xfrm>
                      <a:off x="2975" y="3983"/>
                      <a:ext cx="13"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3" name="Oval 209"/>
                    <p:cNvSpPr>
                      <a:spLocks noChangeArrowheads="1"/>
                    </p:cNvSpPr>
                    <p:nvPr/>
                  </p:nvSpPr>
                  <p:spPr bwMode="auto">
                    <a:xfrm>
                      <a:off x="2936" y="398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4" name="Oval 210"/>
                    <p:cNvSpPr>
                      <a:spLocks noChangeArrowheads="1"/>
                    </p:cNvSpPr>
                    <p:nvPr/>
                  </p:nvSpPr>
                  <p:spPr bwMode="auto">
                    <a:xfrm>
                      <a:off x="2954" y="399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5" name="Oval 211"/>
                    <p:cNvSpPr>
                      <a:spLocks noChangeArrowheads="1"/>
                    </p:cNvSpPr>
                    <p:nvPr/>
                  </p:nvSpPr>
                  <p:spPr bwMode="auto">
                    <a:xfrm>
                      <a:off x="2970" y="3999"/>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6" name="Oval 212"/>
                    <p:cNvSpPr>
                      <a:spLocks noChangeArrowheads="1"/>
                    </p:cNvSpPr>
                    <p:nvPr/>
                  </p:nvSpPr>
                  <p:spPr bwMode="auto">
                    <a:xfrm>
                      <a:off x="2932" y="400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7" name="Oval 213"/>
                    <p:cNvSpPr>
                      <a:spLocks noChangeArrowheads="1"/>
                    </p:cNvSpPr>
                    <p:nvPr/>
                  </p:nvSpPr>
                  <p:spPr bwMode="auto">
                    <a:xfrm>
                      <a:off x="2949" y="400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8" name="Oval 214"/>
                    <p:cNvSpPr>
                      <a:spLocks noChangeArrowheads="1"/>
                    </p:cNvSpPr>
                    <p:nvPr/>
                  </p:nvSpPr>
                  <p:spPr bwMode="auto">
                    <a:xfrm>
                      <a:off x="2966" y="401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79" name="Oval 215"/>
                    <p:cNvSpPr>
                      <a:spLocks noChangeArrowheads="1"/>
                    </p:cNvSpPr>
                    <p:nvPr/>
                  </p:nvSpPr>
                  <p:spPr bwMode="auto">
                    <a:xfrm>
                      <a:off x="2928" y="401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80" name="Oval 216"/>
                    <p:cNvSpPr>
                      <a:spLocks noChangeArrowheads="1"/>
                    </p:cNvSpPr>
                    <p:nvPr/>
                  </p:nvSpPr>
                  <p:spPr bwMode="auto">
                    <a:xfrm>
                      <a:off x="2945" y="4024"/>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81" name="Oval 217"/>
                    <p:cNvSpPr>
                      <a:spLocks noChangeArrowheads="1"/>
                    </p:cNvSpPr>
                    <p:nvPr/>
                  </p:nvSpPr>
                  <p:spPr bwMode="auto">
                    <a:xfrm>
                      <a:off x="2962" y="403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82" name="Oval 218"/>
                    <p:cNvSpPr>
                      <a:spLocks noChangeArrowheads="1"/>
                    </p:cNvSpPr>
                    <p:nvPr/>
                  </p:nvSpPr>
                  <p:spPr bwMode="auto">
                    <a:xfrm>
                      <a:off x="2925" y="403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83" name="Oval 219"/>
                    <p:cNvSpPr>
                      <a:spLocks noChangeArrowheads="1"/>
                    </p:cNvSpPr>
                    <p:nvPr/>
                  </p:nvSpPr>
                  <p:spPr bwMode="auto">
                    <a:xfrm>
                      <a:off x="2942" y="404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7548" name="Group 232"/>
                <p:cNvGrpSpPr>
                  <a:grpSpLocks/>
                </p:cNvGrpSpPr>
                <p:nvPr/>
              </p:nvGrpSpPr>
              <p:grpSpPr bwMode="auto">
                <a:xfrm>
                  <a:off x="2858" y="3911"/>
                  <a:ext cx="80" cy="92"/>
                  <a:chOff x="2858" y="3911"/>
                  <a:chExt cx="80" cy="92"/>
                </a:xfrm>
              </p:grpSpPr>
              <p:grpSp>
                <p:nvGrpSpPr>
                  <p:cNvPr id="17549" name="Group 224"/>
                  <p:cNvGrpSpPr>
                    <a:grpSpLocks/>
                  </p:cNvGrpSpPr>
                  <p:nvPr/>
                </p:nvGrpSpPr>
                <p:grpSpPr bwMode="auto">
                  <a:xfrm>
                    <a:off x="2884" y="3940"/>
                    <a:ext cx="39" cy="42"/>
                    <a:chOff x="2884" y="3940"/>
                    <a:chExt cx="39" cy="42"/>
                  </a:xfrm>
                </p:grpSpPr>
                <p:sp>
                  <p:nvSpPr>
                    <p:cNvPr id="17557" name="Freeform 222"/>
                    <p:cNvSpPr>
                      <a:spLocks/>
                    </p:cNvSpPr>
                    <p:nvPr/>
                  </p:nvSpPr>
                  <p:spPr bwMode="auto">
                    <a:xfrm>
                      <a:off x="2884" y="3940"/>
                      <a:ext cx="39" cy="42"/>
                    </a:xfrm>
                    <a:custGeom>
                      <a:avLst/>
                      <a:gdLst>
                        <a:gd name="T0" fmla="*/ 0 w 473"/>
                        <a:gd name="T1" fmla="*/ 0 h 496"/>
                        <a:gd name="T2" fmla="*/ 0 w 473"/>
                        <a:gd name="T3" fmla="*/ 0 h 496"/>
                        <a:gd name="T4" fmla="*/ 0 w 473"/>
                        <a:gd name="T5" fmla="*/ 0 h 496"/>
                        <a:gd name="T6" fmla="*/ 0 w 473"/>
                        <a:gd name="T7" fmla="*/ 0 h 496"/>
                        <a:gd name="T8" fmla="*/ 0 w 473"/>
                        <a:gd name="T9" fmla="*/ 0 h 496"/>
                        <a:gd name="T10" fmla="*/ 0 w 473"/>
                        <a:gd name="T11" fmla="*/ 0 h 496"/>
                        <a:gd name="T12" fmla="*/ 0 w 473"/>
                        <a:gd name="T13" fmla="*/ 0 h 496"/>
                        <a:gd name="T14" fmla="*/ 0 w 473"/>
                        <a:gd name="T15" fmla="*/ 0 h 496"/>
                        <a:gd name="T16" fmla="*/ 0 w 473"/>
                        <a:gd name="T17" fmla="*/ 0 h 496"/>
                        <a:gd name="T18" fmla="*/ 0 w 473"/>
                        <a:gd name="T19" fmla="*/ 0 h 496"/>
                        <a:gd name="T20" fmla="*/ 0 w 473"/>
                        <a:gd name="T21" fmla="*/ 0 h 496"/>
                        <a:gd name="T22" fmla="*/ 0 w 473"/>
                        <a:gd name="T23" fmla="*/ 0 h 496"/>
                        <a:gd name="T24" fmla="*/ 0 w 473"/>
                        <a:gd name="T25" fmla="*/ 0 h 496"/>
                        <a:gd name="T26" fmla="*/ 0 w 473"/>
                        <a:gd name="T27" fmla="*/ 0 h 496"/>
                        <a:gd name="T28" fmla="*/ 0 w 473"/>
                        <a:gd name="T29" fmla="*/ 0 h 496"/>
                        <a:gd name="T30" fmla="*/ 0 w 473"/>
                        <a:gd name="T31" fmla="*/ 0 h 496"/>
                        <a:gd name="T32" fmla="*/ 0 w 473"/>
                        <a:gd name="T33" fmla="*/ 0 h 496"/>
                        <a:gd name="T34" fmla="*/ 0 w 473"/>
                        <a:gd name="T35" fmla="*/ 0 h 496"/>
                        <a:gd name="T36" fmla="*/ 0 w 473"/>
                        <a:gd name="T37" fmla="*/ 0 h 496"/>
                        <a:gd name="T38" fmla="*/ 0 w 473"/>
                        <a:gd name="T39" fmla="*/ 0 h 496"/>
                        <a:gd name="T40" fmla="*/ 0 w 473"/>
                        <a:gd name="T41" fmla="*/ 0 h 496"/>
                        <a:gd name="T42" fmla="*/ 0 w 473"/>
                        <a:gd name="T43" fmla="*/ 0 h 496"/>
                        <a:gd name="T44" fmla="*/ 0 w 473"/>
                        <a:gd name="T45" fmla="*/ 0 h 496"/>
                        <a:gd name="T46" fmla="*/ 0 w 473"/>
                        <a:gd name="T47" fmla="*/ 0 h 496"/>
                        <a:gd name="T48" fmla="*/ 0 w 473"/>
                        <a:gd name="T49" fmla="*/ 0 h 496"/>
                        <a:gd name="T50" fmla="*/ 0 w 473"/>
                        <a:gd name="T51" fmla="*/ 0 h 496"/>
                        <a:gd name="T52" fmla="*/ 0 w 473"/>
                        <a:gd name="T53" fmla="*/ 0 h 496"/>
                        <a:gd name="T54" fmla="*/ 0 w 473"/>
                        <a:gd name="T55" fmla="*/ 0 h 496"/>
                        <a:gd name="T56" fmla="*/ 0 w 473"/>
                        <a:gd name="T57" fmla="*/ 0 h 49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3"/>
                        <a:gd name="T88" fmla="*/ 0 h 496"/>
                        <a:gd name="T89" fmla="*/ 473 w 473"/>
                        <a:gd name="T90" fmla="*/ 496 h 49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3" h="496">
                          <a:moveTo>
                            <a:pt x="0" y="0"/>
                          </a:moveTo>
                          <a:lnTo>
                            <a:pt x="91" y="25"/>
                          </a:lnTo>
                          <a:lnTo>
                            <a:pt x="174" y="52"/>
                          </a:lnTo>
                          <a:lnTo>
                            <a:pt x="243" y="73"/>
                          </a:lnTo>
                          <a:lnTo>
                            <a:pt x="334" y="134"/>
                          </a:lnTo>
                          <a:lnTo>
                            <a:pt x="361" y="166"/>
                          </a:lnTo>
                          <a:lnTo>
                            <a:pt x="388" y="218"/>
                          </a:lnTo>
                          <a:lnTo>
                            <a:pt x="424" y="278"/>
                          </a:lnTo>
                          <a:lnTo>
                            <a:pt x="455" y="341"/>
                          </a:lnTo>
                          <a:lnTo>
                            <a:pt x="469" y="378"/>
                          </a:lnTo>
                          <a:lnTo>
                            <a:pt x="473" y="404"/>
                          </a:lnTo>
                          <a:lnTo>
                            <a:pt x="473" y="427"/>
                          </a:lnTo>
                          <a:lnTo>
                            <a:pt x="465" y="445"/>
                          </a:lnTo>
                          <a:lnTo>
                            <a:pt x="445" y="466"/>
                          </a:lnTo>
                          <a:lnTo>
                            <a:pt x="427" y="482"/>
                          </a:lnTo>
                          <a:lnTo>
                            <a:pt x="385" y="493"/>
                          </a:lnTo>
                          <a:lnTo>
                            <a:pt x="355" y="496"/>
                          </a:lnTo>
                          <a:lnTo>
                            <a:pt x="317" y="496"/>
                          </a:lnTo>
                          <a:lnTo>
                            <a:pt x="289" y="488"/>
                          </a:lnTo>
                          <a:lnTo>
                            <a:pt x="260" y="471"/>
                          </a:lnTo>
                          <a:lnTo>
                            <a:pt x="241" y="460"/>
                          </a:lnTo>
                          <a:lnTo>
                            <a:pt x="220" y="441"/>
                          </a:lnTo>
                          <a:lnTo>
                            <a:pt x="205" y="419"/>
                          </a:lnTo>
                          <a:lnTo>
                            <a:pt x="186" y="387"/>
                          </a:lnTo>
                          <a:lnTo>
                            <a:pt x="168" y="356"/>
                          </a:lnTo>
                          <a:lnTo>
                            <a:pt x="161" y="341"/>
                          </a:lnTo>
                          <a:lnTo>
                            <a:pt x="147" y="321"/>
                          </a:lnTo>
                          <a:lnTo>
                            <a:pt x="133"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58" name="Freeform 223"/>
                    <p:cNvSpPr>
                      <a:spLocks/>
                    </p:cNvSpPr>
                    <p:nvPr/>
                  </p:nvSpPr>
                  <p:spPr bwMode="auto">
                    <a:xfrm>
                      <a:off x="2884" y="3940"/>
                      <a:ext cx="39" cy="42"/>
                    </a:xfrm>
                    <a:custGeom>
                      <a:avLst/>
                      <a:gdLst>
                        <a:gd name="T0" fmla="*/ 0 w 473"/>
                        <a:gd name="T1" fmla="*/ 0 h 496"/>
                        <a:gd name="T2" fmla="*/ 0 w 473"/>
                        <a:gd name="T3" fmla="*/ 0 h 496"/>
                        <a:gd name="T4" fmla="*/ 0 w 473"/>
                        <a:gd name="T5" fmla="*/ 0 h 496"/>
                        <a:gd name="T6" fmla="*/ 0 w 473"/>
                        <a:gd name="T7" fmla="*/ 0 h 496"/>
                        <a:gd name="T8" fmla="*/ 0 w 473"/>
                        <a:gd name="T9" fmla="*/ 0 h 496"/>
                        <a:gd name="T10" fmla="*/ 0 w 473"/>
                        <a:gd name="T11" fmla="*/ 0 h 496"/>
                        <a:gd name="T12" fmla="*/ 0 w 473"/>
                        <a:gd name="T13" fmla="*/ 0 h 496"/>
                        <a:gd name="T14" fmla="*/ 0 w 473"/>
                        <a:gd name="T15" fmla="*/ 0 h 496"/>
                        <a:gd name="T16" fmla="*/ 0 w 473"/>
                        <a:gd name="T17" fmla="*/ 0 h 496"/>
                        <a:gd name="T18" fmla="*/ 0 w 473"/>
                        <a:gd name="T19" fmla="*/ 0 h 496"/>
                        <a:gd name="T20" fmla="*/ 0 w 473"/>
                        <a:gd name="T21" fmla="*/ 0 h 496"/>
                        <a:gd name="T22" fmla="*/ 0 w 473"/>
                        <a:gd name="T23" fmla="*/ 0 h 496"/>
                        <a:gd name="T24" fmla="*/ 0 w 473"/>
                        <a:gd name="T25" fmla="*/ 0 h 496"/>
                        <a:gd name="T26" fmla="*/ 0 w 473"/>
                        <a:gd name="T27" fmla="*/ 0 h 496"/>
                        <a:gd name="T28" fmla="*/ 0 w 473"/>
                        <a:gd name="T29" fmla="*/ 0 h 496"/>
                        <a:gd name="T30" fmla="*/ 0 w 473"/>
                        <a:gd name="T31" fmla="*/ 0 h 496"/>
                        <a:gd name="T32" fmla="*/ 0 w 473"/>
                        <a:gd name="T33" fmla="*/ 0 h 496"/>
                        <a:gd name="T34" fmla="*/ 0 w 473"/>
                        <a:gd name="T35" fmla="*/ 0 h 496"/>
                        <a:gd name="T36" fmla="*/ 0 w 473"/>
                        <a:gd name="T37" fmla="*/ 0 h 496"/>
                        <a:gd name="T38" fmla="*/ 0 w 473"/>
                        <a:gd name="T39" fmla="*/ 0 h 496"/>
                        <a:gd name="T40" fmla="*/ 0 w 473"/>
                        <a:gd name="T41" fmla="*/ 0 h 496"/>
                        <a:gd name="T42" fmla="*/ 0 w 473"/>
                        <a:gd name="T43" fmla="*/ 0 h 496"/>
                        <a:gd name="T44" fmla="*/ 0 w 473"/>
                        <a:gd name="T45" fmla="*/ 0 h 496"/>
                        <a:gd name="T46" fmla="*/ 0 w 473"/>
                        <a:gd name="T47" fmla="*/ 0 h 496"/>
                        <a:gd name="T48" fmla="*/ 0 w 473"/>
                        <a:gd name="T49" fmla="*/ 0 h 496"/>
                        <a:gd name="T50" fmla="*/ 0 w 473"/>
                        <a:gd name="T51" fmla="*/ 0 h 496"/>
                        <a:gd name="T52" fmla="*/ 0 w 473"/>
                        <a:gd name="T53" fmla="*/ 0 h 496"/>
                        <a:gd name="T54" fmla="*/ 0 w 473"/>
                        <a:gd name="T55" fmla="*/ 0 h 49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3"/>
                        <a:gd name="T85" fmla="*/ 0 h 496"/>
                        <a:gd name="T86" fmla="*/ 473 w 473"/>
                        <a:gd name="T87" fmla="*/ 496 h 49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3" h="496">
                          <a:moveTo>
                            <a:pt x="0" y="0"/>
                          </a:moveTo>
                          <a:lnTo>
                            <a:pt x="91" y="25"/>
                          </a:lnTo>
                          <a:lnTo>
                            <a:pt x="174" y="52"/>
                          </a:lnTo>
                          <a:lnTo>
                            <a:pt x="243" y="73"/>
                          </a:lnTo>
                          <a:lnTo>
                            <a:pt x="334" y="134"/>
                          </a:lnTo>
                          <a:lnTo>
                            <a:pt x="361" y="166"/>
                          </a:lnTo>
                          <a:lnTo>
                            <a:pt x="388" y="218"/>
                          </a:lnTo>
                          <a:lnTo>
                            <a:pt x="424" y="278"/>
                          </a:lnTo>
                          <a:lnTo>
                            <a:pt x="455" y="341"/>
                          </a:lnTo>
                          <a:lnTo>
                            <a:pt x="469" y="378"/>
                          </a:lnTo>
                          <a:lnTo>
                            <a:pt x="473" y="404"/>
                          </a:lnTo>
                          <a:lnTo>
                            <a:pt x="473" y="427"/>
                          </a:lnTo>
                          <a:lnTo>
                            <a:pt x="465" y="445"/>
                          </a:lnTo>
                          <a:lnTo>
                            <a:pt x="445" y="466"/>
                          </a:lnTo>
                          <a:lnTo>
                            <a:pt x="427" y="482"/>
                          </a:lnTo>
                          <a:lnTo>
                            <a:pt x="385" y="493"/>
                          </a:lnTo>
                          <a:lnTo>
                            <a:pt x="355" y="496"/>
                          </a:lnTo>
                          <a:lnTo>
                            <a:pt x="317" y="496"/>
                          </a:lnTo>
                          <a:lnTo>
                            <a:pt x="289" y="488"/>
                          </a:lnTo>
                          <a:lnTo>
                            <a:pt x="260" y="471"/>
                          </a:lnTo>
                          <a:lnTo>
                            <a:pt x="241" y="460"/>
                          </a:lnTo>
                          <a:lnTo>
                            <a:pt x="220" y="441"/>
                          </a:lnTo>
                          <a:lnTo>
                            <a:pt x="205" y="419"/>
                          </a:lnTo>
                          <a:lnTo>
                            <a:pt x="186" y="387"/>
                          </a:lnTo>
                          <a:lnTo>
                            <a:pt x="168" y="356"/>
                          </a:lnTo>
                          <a:lnTo>
                            <a:pt x="161" y="341"/>
                          </a:lnTo>
                          <a:lnTo>
                            <a:pt x="147" y="321"/>
                          </a:lnTo>
                          <a:lnTo>
                            <a:pt x="133"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550" name="Group 227"/>
                  <p:cNvGrpSpPr>
                    <a:grpSpLocks/>
                  </p:cNvGrpSpPr>
                  <p:nvPr/>
                </p:nvGrpSpPr>
                <p:grpSpPr bwMode="auto">
                  <a:xfrm>
                    <a:off x="2904" y="3922"/>
                    <a:ext cx="29" cy="32"/>
                    <a:chOff x="2904" y="3922"/>
                    <a:chExt cx="29" cy="32"/>
                  </a:xfrm>
                </p:grpSpPr>
                <p:sp>
                  <p:nvSpPr>
                    <p:cNvPr id="17555" name="Freeform 225"/>
                    <p:cNvSpPr>
                      <a:spLocks/>
                    </p:cNvSpPr>
                    <p:nvPr/>
                  </p:nvSpPr>
                  <p:spPr bwMode="auto">
                    <a:xfrm>
                      <a:off x="2904" y="3922"/>
                      <a:ext cx="29" cy="32"/>
                    </a:xfrm>
                    <a:custGeom>
                      <a:avLst/>
                      <a:gdLst>
                        <a:gd name="T0" fmla="*/ 0 w 350"/>
                        <a:gd name="T1" fmla="*/ 0 h 390"/>
                        <a:gd name="T2" fmla="*/ 0 w 350"/>
                        <a:gd name="T3" fmla="*/ 0 h 390"/>
                        <a:gd name="T4" fmla="*/ 0 w 350"/>
                        <a:gd name="T5" fmla="*/ 0 h 390"/>
                        <a:gd name="T6" fmla="*/ 0 w 350"/>
                        <a:gd name="T7" fmla="*/ 0 h 390"/>
                        <a:gd name="T8" fmla="*/ 0 w 350"/>
                        <a:gd name="T9" fmla="*/ 0 h 390"/>
                        <a:gd name="T10" fmla="*/ 0 w 350"/>
                        <a:gd name="T11" fmla="*/ 0 h 390"/>
                        <a:gd name="T12" fmla="*/ 0 w 350"/>
                        <a:gd name="T13" fmla="*/ 0 h 390"/>
                        <a:gd name="T14" fmla="*/ 0 w 350"/>
                        <a:gd name="T15" fmla="*/ 0 h 390"/>
                        <a:gd name="T16" fmla="*/ 0 w 350"/>
                        <a:gd name="T17" fmla="*/ 0 h 390"/>
                        <a:gd name="T18" fmla="*/ 0 w 350"/>
                        <a:gd name="T19" fmla="*/ 0 h 390"/>
                        <a:gd name="T20" fmla="*/ 0 w 350"/>
                        <a:gd name="T21" fmla="*/ 0 h 390"/>
                        <a:gd name="T22" fmla="*/ 0 w 350"/>
                        <a:gd name="T23" fmla="*/ 0 h 390"/>
                        <a:gd name="T24" fmla="*/ 0 w 350"/>
                        <a:gd name="T25" fmla="*/ 0 h 390"/>
                        <a:gd name="T26" fmla="*/ 0 w 350"/>
                        <a:gd name="T27" fmla="*/ 0 h 390"/>
                        <a:gd name="T28" fmla="*/ 0 w 350"/>
                        <a:gd name="T29" fmla="*/ 0 h 390"/>
                        <a:gd name="T30" fmla="*/ 0 w 350"/>
                        <a:gd name="T31" fmla="*/ 0 h 390"/>
                        <a:gd name="T32" fmla="*/ 0 w 350"/>
                        <a:gd name="T33" fmla="*/ 0 h 390"/>
                        <a:gd name="T34" fmla="*/ 0 w 350"/>
                        <a:gd name="T35" fmla="*/ 0 h 390"/>
                        <a:gd name="T36" fmla="*/ 0 w 350"/>
                        <a:gd name="T37" fmla="*/ 0 h 390"/>
                        <a:gd name="T38" fmla="*/ 0 w 350"/>
                        <a:gd name="T39" fmla="*/ 0 h 390"/>
                        <a:gd name="T40" fmla="*/ 0 w 350"/>
                        <a:gd name="T41" fmla="*/ 0 h 390"/>
                        <a:gd name="T42" fmla="*/ 0 w 350"/>
                        <a:gd name="T43" fmla="*/ 0 h 390"/>
                        <a:gd name="T44" fmla="*/ 0 w 350"/>
                        <a:gd name="T45" fmla="*/ 0 h 390"/>
                        <a:gd name="T46" fmla="*/ 0 w 350"/>
                        <a:gd name="T47" fmla="*/ 0 h 390"/>
                        <a:gd name="T48" fmla="*/ 0 w 350"/>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0"/>
                        <a:gd name="T76" fmla="*/ 0 h 390"/>
                        <a:gd name="T77" fmla="*/ 350 w 350"/>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0" h="390">
                          <a:moveTo>
                            <a:pt x="0" y="0"/>
                          </a:moveTo>
                          <a:lnTo>
                            <a:pt x="82" y="9"/>
                          </a:lnTo>
                          <a:lnTo>
                            <a:pt x="134" y="25"/>
                          </a:lnTo>
                          <a:lnTo>
                            <a:pt x="176" y="51"/>
                          </a:lnTo>
                          <a:lnTo>
                            <a:pt x="217" y="77"/>
                          </a:lnTo>
                          <a:lnTo>
                            <a:pt x="239" y="104"/>
                          </a:lnTo>
                          <a:lnTo>
                            <a:pt x="267" y="130"/>
                          </a:lnTo>
                          <a:lnTo>
                            <a:pt x="296" y="178"/>
                          </a:lnTo>
                          <a:lnTo>
                            <a:pt x="319" y="223"/>
                          </a:lnTo>
                          <a:lnTo>
                            <a:pt x="335" y="257"/>
                          </a:lnTo>
                          <a:lnTo>
                            <a:pt x="350" y="287"/>
                          </a:lnTo>
                          <a:lnTo>
                            <a:pt x="350" y="323"/>
                          </a:lnTo>
                          <a:lnTo>
                            <a:pt x="331" y="355"/>
                          </a:lnTo>
                          <a:lnTo>
                            <a:pt x="292" y="373"/>
                          </a:lnTo>
                          <a:lnTo>
                            <a:pt x="245" y="386"/>
                          </a:lnTo>
                          <a:lnTo>
                            <a:pt x="207" y="390"/>
                          </a:lnTo>
                          <a:lnTo>
                            <a:pt x="165" y="376"/>
                          </a:lnTo>
                          <a:lnTo>
                            <a:pt x="125" y="360"/>
                          </a:lnTo>
                          <a:lnTo>
                            <a:pt x="87" y="327"/>
                          </a:lnTo>
                          <a:lnTo>
                            <a:pt x="59" y="311"/>
                          </a:lnTo>
                          <a:lnTo>
                            <a:pt x="29" y="291"/>
                          </a:lnTo>
                          <a:lnTo>
                            <a:pt x="13" y="265"/>
                          </a:lnTo>
                          <a:lnTo>
                            <a:pt x="1" y="235"/>
                          </a:lnTo>
                          <a:lnTo>
                            <a:pt x="0" y="199"/>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56" name="Freeform 226"/>
                    <p:cNvSpPr>
                      <a:spLocks/>
                    </p:cNvSpPr>
                    <p:nvPr/>
                  </p:nvSpPr>
                  <p:spPr bwMode="auto">
                    <a:xfrm>
                      <a:off x="2904" y="3922"/>
                      <a:ext cx="29" cy="32"/>
                    </a:xfrm>
                    <a:custGeom>
                      <a:avLst/>
                      <a:gdLst>
                        <a:gd name="T0" fmla="*/ 0 w 350"/>
                        <a:gd name="T1" fmla="*/ 0 h 390"/>
                        <a:gd name="T2" fmla="*/ 0 w 350"/>
                        <a:gd name="T3" fmla="*/ 0 h 390"/>
                        <a:gd name="T4" fmla="*/ 0 w 350"/>
                        <a:gd name="T5" fmla="*/ 0 h 390"/>
                        <a:gd name="T6" fmla="*/ 0 w 350"/>
                        <a:gd name="T7" fmla="*/ 0 h 390"/>
                        <a:gd name="T8" fmla="*/ 0 w 350"/>
                        <a:gd name="T9" fmla="*/ 0 h 390"/>
                        <a:gd name="T10" fmla="*/ 0 w 350"/>
                        <a:gd name="T11" fmla="*/ 0 h 390"/>
                        <a:gd name="T12" fmla="*/ 0 w 350"/>
                        <a:gd name="T13" fmla="*/ 0 h 390"/>
                        <a:gd name="T14" fmla="*/ 0 w 350"/>
                        <a:gd name="T15" fmla="*/ 0 h 390"/>
                        <a:gd name="T16" fmla="*/ 0 w 350"/>
                        <a:gd name="T17" fmla="*/ 0 h 390"/>
                        <a:gd name="T18" fmla="*/ 0 w 350"/>
                        <a:gd name="T19" fmla="*/ 0 h 390"/>
                        <a:gd name="T20" fmla="*/ 0 w 350"/>
                        <a:gd name="T21" fmla="*/ 0 h 390"/>
                        <a:gd name="T22" fmla="*/ 0 w 350"/>
                        <a:gd name="T23" fmla="*/ 0 h 390"/>
                        <a:gd name="T24" fmla="*/ 0 w 350"/>
                        <a:gd name="T25" fmla="*/ 0 h 390"/>
                        <a:gd name="T26" fmla="*/ 0 w 350"/>
                        <a:gd name="T27" fmla="*/ 0 h 390"/>
                        <a:gd name="T28" fmla="*/ 0 w 350"/>
                        <a:gd name="T29" fmla="*/ 0 h 390"/>
                        <a:gd name="T30" fmla="*/ 0 w 350"/>
                        <a:gd name="T31" fmla="*/ 0 h 390"/>
                        <a:gd name="T32" fmla="*/ 0 w 350"/>
                        <a:gd name="T33" fmla="*/ 0 h 390"/>
                        <a:gd name="T34" fmla="*/ 0 w 350"/>
                        <a:gd name="T35" fmla="*/ 0 h 390"/>
                        <a:gd name="T36" fmla="*/ 0 w 350"/>
                        <a:gd name="T37" fmla="*/ 0 h 390"/>
                        <a:gd name="T38" fmla="*/ 0 w 350"/>
                        <a:gd name="T39" fmla="*/ 0 h 390"/>
                        <a:gd name="T40" fmla="*/ 0 w 350"/>
                        <a:gd name="T41" fmla="*/ 0 h 390"/>
                        <a:gd name="T42" fmla="*/ 0 w 350"/>
                        <a:gd name="T43" fmla="*/ 0 h 390"/>
                        <a:gd name="T44" fmla="*/ 0 w 350"/>
                        <a:gd name="T45" fmla="*/ 0 h 390"/>
                        <a:gd name="T46" fmla="*/ 0 w 350"/>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0"/>
                        <a:gd name="T73" fmla="*/ 0 h 390"/>
                        <a:gd name="T74" fmla="*/ 350 w 350"/>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0" h="390">
                          <a:moveTo>
                            <a:pt x="0" y="0"/>
                          </a:moveTo>
                          <a:lnTo>
                            <a:pt x="82" y="9"/>
                          </a:lnTo>
                          <a:lnTo>
                            <a:pt x="134" y="25"/>
                          </a:lnTo>
                          <a:lnTo>
                            <a:pt x="176" y="51"/>
                          </a:lnTo>
                          <a:lnTo>
                            <a:pt x="217" y="77"/>
                          </a:lnTo>
                          <a:lnTo>
                            <a:pt x="239" y="104"/>
                          </a:lnTo>
                          <a:lnTo>
                            <a:pt x="267" y="130"/>
                          </a:lnTo>
                          <a:lnTo>
                            <a:pt x="296" y="178"/>
                          </a:lnTo>
                          <a:lnTo>
                            <a:pt x="319" y="223"/>
                          </a:lnTo>
                          <a:lnTo>
                            <a:pt x="335" y="257"/>
                          </a:lnTo>
                          <a:lnTo>
                            <a:pt x="350" y="287"/>
                          </a:lnTo>
                          <a:lnTo>
                            <a:pt x="350" y="323"/>
                          </a:lnTo>
                          <a:lnTo>
                            <a:pt x="331" y="355"/>
                          </a:lnTo>
                          <a:lnTo>
                            <a:pt x="292" y="373"/>
                          </a:lnTo>
                          <a:lnTo>
                            <a:pt x="245" y="386"/>
                          </a:lnTo>
                          <a:lnTo>
                            <a:pt x="207" y="390"/>
                          </a:lnTo>
                          <a:lnTo>
                            <a:pt x="165" y="376"/>
                          </a:lnTo>
                          <a:lnTo>
                            <a:pt x="125" y="360"/>
                          </a:lnTo>
                          <a:lnTo>
                            <a:pt x="87" y="327"/>
                          </a:lnTo>
                          <a:lnTo>
                            <a:pt x="59" y="311"/>
                          </a:lnTo>
                          <a:lnTo>
                            <a:pt x="29" y="291"/>
                          </a:lnTo>
                          <a:lnTo>
                            <a:pt x="13" y="265"/>
                          </a:lnTo>
                          <a:lnTo>
                            <a:pt x="1" y="235"/>
                          </a:lnTo>
                          <a:lnTo>
                            <a:pt x="0" y="19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551" name="Group 230"/>
                  <p:cNvGrpSpPr>
                    <a:grpSpLocks/>
                  </p:cNvGrpSpPr>
                  <p:nvPr/>
                </p:nvGrpSpPr>
                <p:grpSpPr bwMode="auto">
                  <a:xfrm>
                    <a:off x="2858" y="3967"/>
                    <a:ext cx="62" cy="36"/>
                    <a:chOff x="2858" y="3967"/>
                    <a:chExt cx="62" cy="36"/>
                  </a:xfrm>
                </p:grpSpPr>
                <p:sp>
                  <p:nvSpPr>
                    <p:cNvPr id="17553" name="Freeform 228"/>
                    <p:cNvSpPr>
                      <a:spLocks/>
                    </p:cNvSpPr>
                    <p:nvPr/>
                  </p:nvSpPr>
                  <p:spPr bwMode="auto">
                    <a:xfrm>
                      <a:off x="2858" y="3967"/>
                      <a:ext cx="62" cy="36"/>
                    </a:xfrm>
                    <a:custGeom>
                      <a:avLst/>
                      <a:gdLst>
                        <a:gd name="T0" fmla="*/ 0 w 738"/>
                        <a:gd name="T1" fmla="*/ 0 h 432"/>
                        <a:gd name="T2" fmla="*/ 0 w 738"/>
                        <a:gd name="T3" fmla="*/ 0 h 432"/>
                        <a:gd name="T4" fmla="*/ 0 w 738"/>
                        <a:gd name="T5" fmla="*/ 0 h 432"/>
                        <a:gd name="T6" fmla="*/ 0 w 738"/>
                        <a:gd name="T7" fmla="*/ 0 h 432"/>
                        <a:gd name="T8" fmla="*/ 0 w 738"/>
                        <a:gd name="T9" fmla="*/ 0 h 432"/>
                        <a:gd name="T10" fmla="*/ 0 w 738"/>
                        <a:gd name="T11" fmla="*/ 0 h 432"/>
                        <a:gd name="T12" fmla="*/ 0 w 738"/>
                        <a:gd name="T13" fmla="*/ 0 h 432"/>
                        <a:gd name="T14" fmla="*/ 0 w 738"/>
                        <a:gd name="T15" fmla="*/ 0 h 432"/>
                        <a:gd name="T16" fmla="*/ 0 w 738"/>
                        <a:gd name="T17" fmla="*/ 0 h 432"/>
                        <a:gd name="T18" fmla="*/ 0 w 738"/>
                        <a:gd name="T19" fmla="*/ 0 h 432"/>
                        <a:gd name="T20" fmla="*/ 0 w 738"/>
                        <a:gd name="T21" fmla="*/ 0 h 432"/>
                        <a:gd name="T22" fmla="*/ 0 w 738"/>
                        <a:gd name="T23" fmla="*/ 0 h 432"/>
                        <a:gd name="T24" fmla="*/ 0 w 738"/>
                        <a:gd name="T25" fmla="*/ 0 h 432"/>
                        <a:gd name="T26" fmla="*/ 0 w 738"/>
                        <a:gd name="T27" fmla="*/ 0 h 432"/>
                        <a:gd name="T28" fmla="*/ 0 w 738"/>
                        <a:gd name="T29" fmla="*/ 0 h 432"/>
                        <a:gd name="T30" fmla="*/ 0 w 738"/>
                        <a:gd name="T31" fmla="*/ 0 h 432"/>
                        <a:gd name="T32" fmla="*/ 0 w 738"/>
                        <a:gd name="T33" fmla="*/ 0 h 432"/>
                        <a:gd name="T34" fmla="*/ 0 w 738"/>
                        <a:gd name="T35" fmla="*/ 0 h 432"/>
                        <a:gd name="T36" fmla="*/ 0 w 738"/>
                        <a:gd name="T37" fmla="*/ 0 h 432"/>
                        <a:gd name="T38" fmla="*/ 0 w 738"/>
                        <a:gd name="T39" fmla="*/ 0 h 432"/>
                        <a:gd name="T40" fmla="*/ 0 w 738"/>
                        <a:gd name="T41" fmla="*/ 0 h 432"/>
                        <a:gd name="T42" fmla="*/ 0 w 738"/>
                        <a:gd name="T43" fmla="*/ 0 h 432"/>
                        <a:gd name="T44" fmla="*/ 0 w 738"/>
                        <a:gd name="T45" fmla="*/ 0 h 432"/>
                        <a:gd name="T46" fmla="*/ 0 w 738"/>
                        <a:gd name="T47" fmla="*/ 0 h 432"/>
                        <a:gd name="T48" fmla="*/ 0 w 738"/>
                        <a:gd name="T49" fmla="*/ 0 h 432"/>
                        <a:gd name="T50" fmla="*/ 0 w 738"/>
                        <a:gd name="T51" fmla="*/ 0 h 432"/>
                        <a:gd name="T52" fmla="*/ 0 w 738"/>
                        <a:gd name="T53" fmla="*/ 0 h 432"/>
                        <a:gd name="T54" fmla="*/ 0 w 738"/>
                        <a:gd name="T55" fmla="*/ 0 h 432"/>
                        <a:gd name="T56" fmla="*/ 0 w 738"/>
                        <a:gd name="T57" fmla="*/ 0 h 432"/>
                        <a:gd name="T58" fmla="*/ 0 w 738"/>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38"/>
                        <a:gd name="T91" fmla="*/ 0 h 432"/>
                        <a:gd name="T92" fmla="*/ 738 w 738"/>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38" h="432">
                          <a:moveTo>
                            <a:pt x="0" y="0"/>
                          </a:moveTo>
                          <a:lnTo>
                            <a:pt x="135" y="16"/>
                          </a:lnTo>
                          <a:lnTo>
                            <a:pt x="223" y="28"/>
                          </a:lnTo>
                          <a:lnTo>
                            <a:pt x="271" y="42"/>
                          </a:lnTo>
                          <a:lnTo>
                            <a:pt x="325" y="68"/>
                          </a:lnTo>
                          <a:lnTo>
                            <a:pt x="402" y="147"/>
                          </a:lnTo>
                          <a:lnTo>
                            <a:pt x="502" y="205"/>
                          </a:lnTo>
                          <a:lnTo>
                            <a:pt x="578" y="230"/>
                          </a:lnTo>
                          <a:lnTo>
                            <a:pt x="635" y="252"/>
                          </a:lnTo>
                          <a:lnTo>
                            <a:pt x="683" y="274"/>
                          </a:lnTo>
                          <a:lnTo>
                            <a:pt x="710" y="295"/>
                          </a:lnTo>
                          <a:lnTo>
                            <a:pt x="738" y="317"/>
                          </a:lnTo>
                          <a:lnTo>
                            <a:pt x="738" y="349"/>
                          </a:lnTo>
                          <a:lnTo>
                            <a:pt x="729" y="381"/>
                          </a:lnTo>
                          <a:lnTo>
                            <a:pt x="710" y="402"/>
                          </a:lnTo>
                          <a:lnTo>
                            <a:pt x="691" y="413"/>
                          </a:lnTo>
                          <a:lnTo>
                            <a:pt x="666" y="425"/>
                          </a:lnTo>
                          <a:lnTo>
                            <a:pt x="630" y="432"/>
                          </a:lnTo>
                          <a:lnTo>
                            <a:pt x="601" y="432"/>
                          </a:lnTo>
                          <a:lnTo>
                            <a:pt x="563" y="420"/>
                          </a:lnTo>
                          <a:lnTo>
                            <a:pt x="531" y="413"/>
                          </a:lnTo>
                          <a:lnTo>
                            <a:pt x="430" y="369"/>
                          </a:lnTo>
                          <a:lnTo>
                            <a:pt x="353" y="349"/>
                          </a:lnTo>
                          <a:lnTo>
                            <a:pt x="307" y="340"/>
                          </a:lnTo>
                          <a:lnTo>
                            <a:pt x="259" y="327"/>
                          </a:lnTo>
                          <a:lnTo>
                            <a:pt x="209" y="306"/>
                          </a:lnTo>
                          <a:lnTo>
                            <a:pt x="172" y="286"/>
                          </a:lnTo>
                          <a:lnTo>
                            <a:pt x="154" y="269"/>
                          </a:lnTo>
                          <a:lnTo>
                            <a:pt x="131"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54" name="Freeform 229"/>
                    <p:cNvSpPr>
                      <a:spLocks/>
                    </p:cNvSpPr>
                    <p:nvPr/>
                  </p:nvSpPr>
                  <p:spPr bwMode="auto">
                    <a:xfrm>
                      <a:off x="2858" y="3967"/>
                      <a:ext cx="62" cy="36"/>
                    </a:xfrm>
                    <a:custGeom>
                      <a:avLst/>
                      <a:gdLst>
                        <a:gd name="T0" fmla="*/ 0 w 738"/>
                        <a:gd name="T1" fmla="*/ 0 h 432"/>
                        <a:gd name="T2" fmla="*/ 0 w 738"/>
                        <a:gd name="T3" fmla="*/ 0 h 432"/>
                        <a:gd name="T4" fmla="*/ 0 w 738"/>
                        <a:gd name="T5" fmla="*/ 0 h 432"/>
                        <a:gd name="T6" fmla="*/ 0 w 738"/>
                        <a:gd name="T7" fmla="*/ 0 h 432"/>
                        <a:gd name="T8" fmla="*/ 0 w 738"/>
                        <a:gd name="T9" fmla="*/ 0 h 432"/>
                        <a:gd name="T10" fmla="*/ 0 w 738"/>
                        <a:gd name="T11" fmla="*/ 0 h 432"/>
                        <a:gd name="T12" fmla="*/ 0 w 738"/>
                        <a:gd name="T13" fmla="*/ 0 h 432"/>
                        <a:gd name="T14" fmla="*/ 0 w 738"/>
                        <a:gd name="T15" fmla="*/ 0 h 432"/>
                        <a:gd name="T16" fmla="*/ 0 w 738"/>
                        <a:gd name="T17" fmla="*/ 0 h 432"/>
                        <a:gd name="T18" fmla="*/ 0 w 738"/>
                        <a:gd name="T19" fmla="*/ 0 h 432"/>
                        <a:gd name="T20" fmla="*/ 0 w 738"/>
                        <a:gd name="T21" fmla="*/ 0 h 432"/>
                        <a:gd name="T22" fmla="*/ 0 w 738"/>
                        <a:gd name="T23" fmla="*/ 0 h 432"/>
                        <a:gd name="T24" fmla="*/ 0 w 738"/>
                        <a:gd name="T25" fmla="*/ 0 h 432"/>
                        <a:gd name="T26" fmla="*/ 0 w 738"/>
                        <a:gd name="T27" fmla="*/ 0 h 432"/>
                        <a:gd name="T28" fmla="*/ 0 w 738"/>
                        <a:gd name="T29" fmla="*/ 0 h 432"/>
                        <a:gd name="T30" fmla="*/ 0 w 738"/>
                        <a:gd name="T31" fmla="*/ 0 h 432"/>
                        <a:gd name="T32" fmla="*/ 0 w 738"/>
                        <a:gd name="T33" fmla="*/ 0 h 432"/>
                        <a:gd name="T34" fmla="*/ 0 w 738"/>
                        <a:gd name="T35" fmla="*/ 0 h 432"/>
                        <a:gd name="T36" fmla="*/ 0 w 738"/>
                        <a:gd name="T37" fmla="*/ 0 h 432"/>
                        <a:gd name="T38" fmla="*/ 0 w 738"/>
                        <a:gd name="T39" fmla="*/ 0 h 432"/>
                        <a:gd name="T40" fmla="*/ 0 w 738"/>
                        <a:gd name="T41" fmla="*/ 0 h 432"/>
                        <a:gd name="T42" fmla="*/ 0 w 738"/>
                        <a:gd name="T43" fmla="*/ 0 h 432"/>
                        <a:gd name="T44" fmla="*/ 0 w 738"/>
                        <a:gd name="T45" fmla="*/ 0 h 432"/>
                        <a:gd name="T46" fmla="*/ 0 w 738"/>
                        <a:gd name="T47" fmla="*/ 0 h 432"/>
                        <a:gd name="T48" fmla="*/ 0 w 738"/>
                        <a:gd name="T49" fmla="*/ 0 h 432"/>
                        <a:gd name="T50" fmla="*/ 0 w 738"/>
                        <a:gd name="T51" fmla="*/ 0 h 432"/>
                        <a:gd name="T52" fmla="*/ 0 w 738"/>
                        <a:gd name="T53" fmla="*/ 0 h 432"/>
                        <a:gd name="T54" fmla="*/ 0 w 738"/>
                        <a:gd name="T55" fmla="*/ 0 h 432"/>
                        <a:gd name="T56" fmla="*/ 0 w 738"/>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38"/>
                        <a:gd name="T88" fmla="*/ 0 h 432"/>
                        <a:gd name="T89" fmla="*/ 738 w 738"/>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38" h="432">
                          <a:moveTo>
                            <a:pt x="0" y="0"/>
                          </a:moveTo>
                          <a:lnTo>
                            <a:pt x="135" y="16"/>
                          </a:lnTo>
                          <a:lnTo>
                            <a:pt x="223" y="28"/>
                          </a:lnTo>
                          <a:lnTo>
                            <a:pt x="271" y="42"/>
                          </a:lnTo>
                          <a:lnTo>
                            <a:pt x="325" y="68"/>
                          </a:lnTo>
                          <a:lnTo>
                            <a:pt x="402" y="147"/>
                          </a:lnTo>
                          <a:lnTo>
                            <a:pt x="502" y="205"/>
                          </a:lnTo>
                          <a:lnTo>
                            <a:pt x="578" y="230"/>
                          </a:lnTo>
                          <a:lnTo>
                            <a:pt x="635" y="252"/>
                          </a:lnTo>
                          <a:lnTo>
                            <a:pt x="683" y="274"/>
                          </a:lnTo>
                          <a:lnTo>
                            <a:pt x="710" y="295"/>
                          </a:lnTo>
                          <a:lnTo>
                            <a:pt x="738" y="317"/>
                          </a:lnTo>
                          <a:lnTo>
                            <a:pt x="738" y="349"/>
                          </a:lnTo>
                          <a:lnTo>
                            <a:pt x="729" y="381"/>
                          </a:lnTo>
                          <a:lnTo>
                            <a:pt x="710" y="402"/>
                          </a:lnTo>
                          <a:lnTo>
                            <a:pt x="691" y="413"/>
                          </a:lnTo>
                          <a:lnTo>
                            <a:pt x="666" y="425"/>
                          </a:lnTo>
                          <a:lnTo>
                            <a:pt x="630" y="432"/>
                          </a:lnTo>
                          <a:lnTo>
                            <a:pt x="601" y="432"/>
                          </a:lnTo>
                          <a:lnTo>
                            <a:pt x="563" y="420"/>
                          </a:lnTo>
                          <a:lnTo>
                            <a:pt x="531" y="413"/>
                          </a:lnTo>
                          <a:lnTo>
                            <a:pt x="430" y="369"/>
                          </a:lnTo>
                          <a:lnTo>
                            <a:pt x="353" y="349"/>
                          </a:lnTo>
                          <a:lnTo>
                            <a:pt x="307" y="340"/>
                          </a:lnTo>
                          <a:lnTo>
                            <a:pt x="259" y="327"/>
                          </a:lnTo>
                          <a:lnTo>
                            <a:pt x="209" y="306"/>
                          </a:lnTo>
                          <a:lnTo>
                            <a:pt x="172" y="286"/>
                          </a:lnTo>
                          <a:lnTo>
                            <a:pt x="154" y="269"/>
                          </a:lnTo>
                          <a:lnTo>
                            <a:pt x="131"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552" name="Freeform 231"/>
                  <p:cNvSpPr>
                    <a:spLocks/>
                  </p:cNvSpPr>
                  <p:nvPr/>
                </p:nvSpPr>
                <p:spPr bwMode="auto">
                  <a:xfrm>
                    <a:off x="2904" y="3911"/>
                    <a:ext cx="34" cy="22"/>
                  </a:xfrm>
                  <a:custGeom>
                    <a:avLst/>
                    <a:gdLst>
                      <a:gd name="T0" fmla="*/ 0 w 412"/>
                      <a:gd name="T1" fmla="*/ 0 h 262"/>
                      <a:gd name="T2" fmla="*/ 0 w 412"/>
                      <a:gd name="T3" fmla="*/ 0 h 262"/>
                      <a:gd name="T4" fmla="*/ 0 w 412"/>
                      <a:gd name="T5" fmla="*/ 0 h 262"/>
                      <a:gd name="T6" fmla="*/ 0 w 412"/>
                      <a:gd name="T7" fmla="*/ 0 h 262"/>
                      <a:gd name="T8" fmla="*/ 0 w 412"/>
                      <a:gd name="T9" fmla="*/ 0 h 262"/>
                      <a:gd name="T10" fmla="*/ 0 w 412"/>
                      <a:gd name="T11" fmla="*/ 0 h 262"/>
                      <a:gd name="T12" fmla="*/ 0 w 412"/>
                      <a:gd name="T13" fmla="*/ 0 h 262"/>
                      <a:gd name="T14" fmla="*/ 0 w 412"/>
                      <a:gd name="T15" fmla="*/ 0 h 262"/>
                      <a:gd name="T16" fmla="*/ 0 w 412"/>
                      <a:gd name="T17" fmla="*/ 0 h 262"/>
                      <a:gd name="T18" fmla="*/ 0 w 412"/>
                      <a:gd name="T19" fmla="*/ 0 h 262"/>
                      <a:gd name="T20" fmla="*/ 0 w 412"/>
                      <a:gd name="T21" fmla="*/ 0 h 262"/>
                      <a:gd name="T22" fmla="*/ 0 w 412"/>
                      <a:gd name="T23" fmla="*/ 0 h 262"/>
                      <a:gd name="T24" fmla="*/ 0 w 412"/>
                      <a:gd name="T25" fmla="*/ 0 h 262"/>
                      <a:gd name="T26" fmla="*/ 0 w 412"/>
                      <a:gd name="T27" fmla="*/ 0 h 262"/>
                      <a:gd name="T28" fmla="*/ 0 w 412"/>
                      <a:gd name="T29" fmla="*/ 0 h 262"/>
                      <a:gd name="T30" fmla="*/ 0 w 412"/>
                      <a:gd name="T31" fmla="*/ 0 h 262"/>
                      <a:gd name="T32" fmla="*/ 0 w 412"/>
                      <a:gd name="T33" fmla="*/ 0 h 262"/>
                      <a:gd name="T34" fmla="*/ 0 w 412"/>
                      <a:gd name="T35" fmla="*/ 0 h 262"/>
                      <a:gd name="T36" fmla="*/ 0 w 412"/>
                      <a:gd name="T37" fmla="*/ 0 h 262"/>
                      <a:gd name="T38" fmla="*/ 0 w 412"/>
                      <a:gd name="T39" fmla="*/ 0 h 262"/>
                      <a:gd name="T40" fmla="*/ 0 w 412"/>
                      <a:gd name="T41" fmla="*/ 0 h 262"/>
                      <a:gd name="T42" fmla="*/ 0 w 412"/>
                      <a:gd name="T43" fmla="*/ 0 h 262"/>
                      <a:gd name="T44" fmla="*/ 0 w 412"/>
                      <a:gd name="T45" fmla="*/ 0 h 262"/>
                      <a:gd name="T46" fmla="*/ 0 w 412"/>
                      <a:gd name="T47" fmla="*/ 0 h 262"/>
                      <a:gd name="T48" fmla="*/ 0 w 412"/>
                      <a:gd name="T49" fmla="*/ 0 h 262"/>
                      <a:gd name="T50" fmla="*/ 0 w 412"/>
                      <a:gd name="T51" fmla="*/ 0 h 262"/>
                      <a:gd name="T52" fmla="*/ 0 w 412"/>
                      <a:gd name="T53" fmla="*/ 0 h 262"/>
                      <a:gd name="T54" fmla="*/ 0 w 412"/>
                      <a:gd name="T55" fmla="*/ 0 h 262"/>
                      <a:gd name="T56" fmla="*/ 0 w 412"/>
                      <a:gd name="T57" fmla="*/ 0 h 262"/>
                      <a:gd name="T58" fmla="*/ 0 w 412"/>
                      <a:gd name="T59" fmla="*/ 0 h 262"/>
                      <a:gd name="T60" fmla="*/ 0 w 412"/>
                      <a:gd name="T61" fmla="*/ 0 h 262"/>
                      <a:gd name="T62" fmla="*/ 0 w 412"/>
                      <a:gd name="T63" fmla="*/ 0 h 262"/>
                      <a:gd name="T64" fmla="*/ 0 w 412"/>
                      <a:gd name="T65" fmla="*/ 0 h 262"/>
                      <a:gd name="T66" fmla="*/ 0 w 412"/>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2"/>
                      <a:gd name="T103" fmla="*/ 0 h 262"/>
                      <a:gd name="T104" fmla="*/ 412 w 412"/>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2" h="262">
                        <a:moveTo>
                          <a:pt x="0" y="123"/>
                        </a:moveTo>
                        <a:lnTo>
                          <a:pt x="13" y="96"/>
                        </a:lnTo>
                        <a:lnTo>
                          <a:pt x="29" y="62"/>
                        </a:lnTo>
                        <a:lnTo>
                          <a:pt x="48" y="39"/>
                        </a:lnTo>
                        <a:lnTo>
                          <a:pt x="73" y="21"/>
                        </a:lnTo>
                        <a:lnTo>
                          <a:pt x="103" y="8"/>
                        </a:lnTo>
                        <a:lnTo>
                          <a:pt x="135" y="4"/>
                        </a:lnTo>
                        <a:lnTo>
                          <a:pt x="167" y="0"/>
                        </a:lnTo>
                        <a:lnTo>
                          <a:pt x="207" y="1"/>
                        </a:lnTo>
                        <a:lnTo>
                          <a:pt x="249" y="5"/>
                        </a:lnTo>
                        <a:lnTo>
                          <a:pt x="292" y="7"/>
                        </a:lnTo>
                        <a:lnTo>
                          <a:pt x="338" y="11"/>
                        </a:lnTo>
                        <a:lnTo>
                          <a:pt x="370" y="21"/>
                        </a:lnTo>
                        <a:lnTo>
                          <a:pt x="384" y="35"/>
                        </a:lnTo>
                        <a:lnTo>
                          <a:pt x="397" y="58"/>
                        </a:lnTo>
                        <a:lnTo>
                          <a:pt x="406" y="83"/>
                        </a:lnTo>
                        <a:lnTo>
                          <a:pt x="410" y="116"/>
                        </a:lnTo>
                        <a:lnTo>
                          <a:pt x="412" y="155"/>
                        </a:lnTo>
                        <a:lnTo>
                          <a:pt x="406" y="192"/>
                        </a:lnTo>
                        <a:lnTo>
                          <a:pt x="393" y="222"/>
                        </a:lnTo>
                        <a:lnTo>
                          <a:pt x="374" y="241"/>
                        </a:lnTo>
                        <a:lnTo>
                          <a:pt x="354" y="253"/>
                        </a:lnTo>
                        <a:lnTo>
                          <a:pt x="326" y="260"/>
                        </a:lnTo>
                        <a:lnTo>
                          <a:pt x="298" y="262"/>
                        </a:lnTo>
                        <a:lnTo>
                          <a:pt x="271" y="260"/>
                        </a:lnTo>
                        <a:lnTo>
                          <a:pt x="242" y="234"/>
                        </a:lnTo>
                        <a:lnTo>
                          <a:pt x="223" y="211"/>
                        </a:lnTo>
                        <a:lnTo>
                          <a:pt x="194" y="190"/>
                        </a:lnTo>
                        <a:lnTo>
                          <a:pt x="167" y="173"/>
                        </a:lnTo>
                        <a:lnTo>
                          <a:pt x="135" y="154"/>
                        </a:lnTo>
                        <a:lnTo>
                          <a:pt x="105" y="142"/>
                        </a:lnTo>
                        <a:lnTo>
                          <a:pt x="80" y="135"/>
                        </a:lnTo>
                        <a:lnTo>
                          <a:pt x="57" y="132"/>
                        </a:lnTo>
                        <a:lnTo>
                          <a:pt x="0" y="123"/>
                        </a:lnTo>
                        <a:close/>
                      </a:path>
                    </a:pathLst>
                  </a:custGeom>
                  <a:solidFill>
                    <a:srgbClr val="FFC0C0"/>
                  </a:solidFill>
                  <a:ln w="1588">
                    <a:solidFill>
                      <a:srgbClr val="000000"/>
                    </a:solidFill>
                    <a:prstDash val="solid"/>
                    <a:round/>
                    <a:headEnd/>
                    <a:tailEnd/>
                  </a:ln>
                </p:spPr>
                <p:txBody>
                  <a:bodyPr/>
                  <a:lstStyle/>
                  <a:p>
                    <a:endParaRPr lang="en-US"/>
                  </a:p>
                </p:txBody>
              </p:sp>
            </p:grpSp>
          </p:grpSp>
        </p:grpSp>
        <p:grpSp>
          <p:nvGrpSpPr>
            <p:cNvPr id="17539" name="Group 306"/>
            <p:cNvGrpSpPr>
              <a:grpSpLocks/>
            </p:cNvGrpSpPr>
            <p:nvPr/>
          </p:nvGrpSpPr>
          <p:grpSpPr bwMode="auto">
            <a:xfrm>
              <a:off x="2863" y="3304"/>
              <a:ext cx="97" cy="496"/>
              <a:chOff x="2863" y="3304"/>
              <a:chExt cx="97" cy="496"/>
            </a:xfrm>
          </p:grpSpPr>
          <p:sp>
            <p:nvSpPr>
              <p:cNvPr id="17542" name="Line 304"/>
              <p:cNvSpPr>
                <a:spLocks noChangeShapeType="1"/>
              </p:cNvSpPr>
              <p:nvPr/>
            </p:nvSpPr>
            <p:spPr bwMode="auto">
              <a:xfrm flipH="1" flipV="1">
                <a:off x="2887" y="3304"/>
                <a:ext cx="73" cy="4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43" name="Freeform 305"/>
              <p:cNvSpPr>
                <a:spLocks/>
              </p:cNvSpPr>
              <p:nvPr/>
            </p:nvSpPr>
            <p:spPr bwMode="auto">
              <a:xfrm>
                <a:off x="2863" y="3305"/>
                <a:ext cx="69" cy="73"/>
              </a:xfrm>
              <a:custGeom>
                <a:avLst/>
                <a:gdLst>
                  <a:gd name="T0" fmla="*/ 69 w 69"/>
                  <a:gd name="T1" fmla="*/ 64 h 73"/>
                  <a:gd name="T2" fmla="*/ 25 w 69"/>
                  <a:gd name="T3" fmla="*/ 0 h 73"/>
                  <a:gd name="T4" fmla="*/ 0 w 69"/>
                  <a:gd name="T5" fmla="*/ 73 h 73"/>
                  <a:gd name="T6" fmla="*/ 0 60000 65536"/>
                  <a:gd name="T7" fmla="*/ 0 60000 65536"/>
                  <a:gd name="T8" fmla="*/ 0 60000 65536"/>
                  <a:gd name="T9" fmla="*/ 0 w 69"/>
                  <a:gd name="T10" fmla="*/ 0 h 73"/>
                  <a:gd name="T11" fmla="*/ 69 w 69"/>
                  <a:gd name="T12" fmla="*/ 73 h 73"/>
                </a:gdLst>
                <a:ahLst/>
                <a:cxnLst>
                  <a:cxn ang="T6">
                    <a:pos x="T0" y="T1"/>
                  </a:cxn>
                  <a:cxn ang="T7">
                    <a:pos x="T2" y="T3"/>
                  </a:cxn>
                  <a:cxn ang="T8">
                    <a:pos x="T4" y="T5"/>
                  </a:cxn>
                </a:cxnLst>
                <a:rect l="T9" t="T10" r="T11" b="T12"/>
                <a:pathLst>
                  <a:path w="69" h="73">
                    <a:moveTo>
                      <a:pt x="69" y="64"/>
                    </a:moveTo>
                    <a:lnTo>
                      <a:pt x="25" y="0"/>
                    </a:lnTo>
                    <a:lnTo>
                      <a:pt x="0" y="73"/>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541" name="AutoShape 38" descr="Large grid"/>
            <p:cNvSpPr>
              <a:spLocks noChangeArrowheads="1"/>
            </p:cNvSpPr>
            <p:nvPr/>
          </p:nvSpPr>
          <p:spPr bwMode="auto">
            <a:xfrm>
              <a:off x="3001" y="2225"/>
              <a:ext cx="816" cy="207"/>
            </a:xfrm>
            <a:prstGeom prst="cube">
              <a:avLst>
                <a:gd name="adj" fmla="val 25000"/>
              </a:avLst>
            </a:prstGeom>
            <a:pattFill prst="lgGrid">
              <a:fgClr>
                <a:srgbClr val="FF00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sp>
        <p:nvSpPr>
          <p:cNvPr id="17456" name="Text Box 40"/>
          <p:cNvSpPr txBox="1">
            <a:spLocks noChangeArrowheads="1"/>
          </p:cNvSpPr>
          <p:nvPr/>
        </p:nvSpPr>
        <p:spPr bwMode="auto">
          <a:xfrm>
            <a:off x="6949767" y="3502448"/>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a:latin typeface="Arial" panose="020B0604020202020204" pitchFamily="34" charset="0"/>
              </a:rPr>
              <a:t>Time</a:t>
            </a:r>
            <a:endParaRPr lang="en-US" altLang="en-US" sz="1400">
              <a:latin typeface="Arial" panose="020B0604020202020204" pitchFamily="34" charset="0"/>
            </a:endParaRPr>
          </a:p>
        </p:txBody>
      </p:sp>
      <p:sp>
        <p:nvSpPr>
          <p:cNvPr id="17457" name="Text Box 41"/>
          <p:cNvSpPr txBox="1">
            <a:spLocks noChangeArrowheads="1"/>
          </p:cNvSpPr>
          <p:nvPr/>
        </p:nvSpPr>
        <p:spPr bwMode="auto">
          <a:xfrm rot="18641054">
            <a:off x="8842067" y="2905548"/>
            <a:ext cx="1047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a:latin typeface="Arial" panose="020B0604020202020204" pitchFamily="34" charset="0"/>
              </a:rPr>
              <a:t>Frequency</a:t>
            </a:r>
            <a:endParaRPr lang="en-US" altLang="en-US" sz="1400">
              <a:latin typeface="Arial" panose="020B0604020202020204" pitchFamily="34" charset="0"/>
            </a:endParaRPr>
          </a:p>
        </p:txBody>
      </p:sp>
      <p:grpSp>
        <p:nvGrpSpPr>
          <p:cNvPr id="293" name="Group 322"/>
          <p:cNvGrpSpPr>
            <a:grpSpLocks/>
          </p:cNvGrpSpPr>
          <p:nvPr/>
        </p:nvGrpSpPr>
        <p:grpSpPr bwMode="auto">
          <a:xfrm>
            <a:off x="2433330" y="2888090"/>
            <a:ext cx="5356227" cy="2436815"/>
            <a:chOff x="680" y="2298"/>
            <a:chExt cx="3374" cy="1535"/>
          </a:xfrm>
        </p:grpSpPr>
        <p:grpSp>
          <p:nvGrpSpPr>
            <p:cNvPr id="17462" name="Group 79"/>
            <p:cNvGrpSpPr>
              <a:grpSpLocks/>
            </p:cNvGrpSpPr>
            <p:nvPr/>
          </p:nvGrpSpPr>
          <p:grpSpPr bwMode="auto">
            <a:xfrm>
              <a:off x="680" y="2499"/>
              <a:ext cx="1056" cy="156"/>
              <a:chOff x="680" y="2499"/>
              <a:chExt cx="1056" cy="156"/>
            </a:xfrm>
          </p:grpSpPr>
          <p:sp>
            <p:nvSpPr>
              <p:cNvPr id="17535" name="Rectangle 55"/>
              <p:cNvSpPr>
                <a:spLocks noChangeArrowheads="1"/>
              </p:cNvSpPr>
              <p:nvPr/>
            </p:nvSpPr>
            <p:spPr bwMode="auto">
              <a:xfrm>
                <a:off x="680" y="2499"/>
                <a:ext cx="1056" cy="152"/>
              </a:xfrm>
              <a:prstGeom prst="rect">
                <a:avLst/>
              </a:prstGeom>
              <a:solidFill>
                <a:srgbClr val="FFFFCC"/>
              </a:solidFill>
              <a:ln w="9525">
                <a:solidFill>
                  <a:srgbClr val="000000"/>
                </a:solidFill>
                <a:miter lim="800000"/>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36" name="Rectangle 56"/>
              <p:cNvSpPr>
                <a:spLocks noChangeArrowheads="1"/>
              </p:cNvSpPr>
              <p:nvPr/>
            </p:nvSpPr>
            <p:spPr bwMode="auto">
              <a:xfrm>
                <a:off x="1088" y="2519"/>
                <a:ext cx="29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User 1</a:t>
                </a:r>
                <a:endParaRPr lang="en-US" altLang="en-US" sz="1400" dirty="0">
                  <a:latin typeface="Arial" panose="020B0604020202020204" pitchFamily="34" charset="0"/>
                </a:endParaRPr>
              </a:p>
            </p:txBody>
          </p:sp>
        </p:grpSp>
        <p:grpSp>
          <p:nvGrpSpPr>
            <p:cNvPr id="17463" name="Group 168"/>
            <p:cNvGrpSpPr>
              <a:grpSpLocks/>
            </p:cNvGrpSpPr>
            <p:nvPr/>
          </p:nvGrpSpPr>
          <p:grpSpPr bwMode="auto">
            <a:xfrm>
              <a:off x="2066" y="3556"/>
              <a:ext cx="193" cy="277"/>
              <a:chOff x="2066" y="3556"/>
              <a:chExt cx="193" cy="277"/>
            </a:xfrm>
          </p:grpSpPr>
          <p:sp>
            <p:nvSpPr>
              <p:cNvPr id="17470" name="Rectangle 103"/>
              <p:cNvSpPr>
                <a:spLocks noChangeArrowheads="1"/>
              </p:cNvSpPr>
              <p:nvPr/>
            </p:nvSpPr>
            <p:spPr bwMode="auto">
              <a:xfrm>
                <a:off x="2066" y="3556"/>
                <a:ext cx="193" cy="277"/>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7471" name="Group 167"/>
              <p:cNvGrpSpPr>
                <a:grpSpLocks/>
              </p:cNvGrpSpPr>
              <p:nvPr/>
            </p:nvGrpSpPr>
            <p:grpSpPr bwMode="auto">
              <a:xfrm>
                <a:off x="2067" y="3557"/>
                <a:ext cx="190" cy="274"/>
                <a:chOff x="2067" y="3557"/>
                <a:chExt cx="190" cy="274"/>
              </a:xfrm>
            </p:grpSpPr>
            <p:grpSp>
              <p:nvGrpSpPr>
                <p:cNvPr id="17472" name="Group 114"/>
                <p:cNvGrpSpPr>
                  <a:grpSpLocks/>
                </p:cNvGrpSpPr>
                <p:nvPr/>
              </p:nvGrpSpPr>
              <p:grpSpPr bwMode="auto">
                <a:xfrm>
                  <a:off x="2067" y="3614"/>
                  <a:ext cx="164" cy="197"/>
                  <a:chOff x="2067" y="3614"/>
                  <a:chExt cx="164" cy="197"/>
                </a:xfrm>
              </p:grpSpPr>
              <p:sp>
                <p:nvSpPr>
                  <p:cNvPr id="17525" name="Freeform 104"/>
                  <p:cNvSpPr>
                    <a:spLocks/>
                  </p:cNvSpPr>
                  <p:nvPr/>
                </p:nvSpPr>
                <p:spPr bwMode="auto">
                  <a:xfrm>
                    <a:off x="2067" y="3614"/>
                    <a:ext cx="164"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199" y="1522"/>
                        </a:lnTo>
                        <a:lnTo>
                          <a:pt x="162" y="1459"/>
                        </a:lnTo>
                        <a:lnTo>
                          <a:pt x="153" y="1439"/>
                        </a:lnTo>
                        <a:lnTo>
                          <a:pt x="125" y="1376"/>
                        </a:lnTo>
                        <a:lnTo>
                          <a:pt x="115" y="1333"/>
                        </a:lnTo>
                        <a:lnTo>
                          <a:pt x="106" y="1292"/>
                        </a:lnTo>
                        <a:lnTo>
                          <a:pt x="88" y="1229"/>
                        </a:lnTo>
                        <a:lnTo>
                          <a:pt x="69" y="1188"/>
                        </a:lnTo>
                        <a:lnTo>
                          <a:pt x="41" y="1124"/>
                        </a:lnTo>
                        <a:lnTo>
                          <a:pt x="22" y="1061"/>
                        </a:lnTo>
                        <a:lnTo>
                          <a:pt x="16" y="1022"/>
                        </a:lnTo>
                        <a:lnTo>
                          <a:pt x="4" y="935"/>
                        </a:lnTo>
                        <a:lnTo>
                          <a:pt x="1" y="872"/>
                        </a:lnTo>
                        <a:lnTo>
                          <a:pt x="0" y="792"/>
                        </a:lnTo>
                        <a:lnTo>
                          <a:pt x="14" y="724"/>
                        </a:lnTo>
                        <a:lnTo>
                          <a:pt x="32" y="693"/>
                        </a:lnTo>
                        <a:lnTo>
                          <a:pt x="50" y="677"/>
                        </a:lnTo>
                        <a:lnTo>
                          <a:pt x="67" y="669"/>
                        </a:lnTo>
                        <a:lnTo>
                          <a:pt x="88" y="661"/>
                        </a:lnTo>
                        <a:lnTo>
                          <a:pt x="106" y="661"/>
                        </a:lnTo>
                        <a:lnTo>
                          <a:pt x="106" y="613"/>
                        </a:lnTo>
                        <a:lnTo>
                          <a:pt x="100" y="591"/>
                        </a:lnTo>
                        <a:lnTo>
                          <a:pt x="97" y="555"/>
                        </a:lnTo>
                        <a:lnTo>
                          <a:pt x="105" y="534"/>
                        </a:lnTo>
                        <a:lnTo>
                          <a:pt x="106" y="515"/>
                        </a:lnTo>
                        <a:lnTo>
                          <a:pt x="120" y="477"/>
                        </a:lnTo>
                        <a:lnTo>
                          <a:pt x="134" y="451"/>
                        </a:lnTo>
                        <a:lnTo>
                          <a:pt x="155" y="419"/>
                        </a:lnTo>
                        <a:lnTo>
                          <a:pt x="184" y="388"/>
                        </a:lnTo>
                        <a:lnTo>
                          <a:pt x="216" y="361"/>
                        </a:lnTo>
                        <a:lnTo>
                          <a:pt x="244" y="336"/>
                        </a:lnTo>
                        <a:lnTo>
                          <a:pt x="278" y="326"/>
                        </a:lnTo>
                        <a:lnTo>
                          <a:pt x="312" y="320"/>
                        </a:lnTo>
                        <a:lnTo>
                          <a:pt x="344" y="326"/>
                        </a:lnTo>
                        <a:lnTo>
                          <a:pt x="374" y="336"/>
                        </a:lnTo>
                        <a:lnTo>
                          <a:pt x="410" y="346"/>
                        </a:lnTo>
                        <a:lnTo>
                          <a:pt x="420" y="326"/>
                        </a:lnTo>
                        <a:lnTo>
                          <a:pt x="426" y="268"/>
                        </a:lnTo>
                        <a:lnTo>
                          <a:pt x="438" y="220"/>
                        </a:lnTo>
                        <a:lnTo>
                          <a:pt x="461" y="184"/>
                        </a:lnTo>
                        <a:lnTo>
                          <a:pt x="486" y="160"/>
                        </a:lnTo>
                        <a:lnTo>
                          <a:pt x="522" y="148"/>
                        </a:lnTo>
                        <a:lnTo>
                          <a:pt x="559" y="136"/>
                        </a:lnTo>
                        <a:lnTo>
                          <a:pt x="615" y="125"/>
                        </a:lnTo>
                        <a:lnTo>
                          <a:pt x="650" y="125"/>
                        </a:lnTo>
                        <a:lnTo>
                          <a:pt x="660" y="104"/>
                        </a:lnTo>
                        <a:lnTo>
                          <a:pt x="678" y="62"/>
                        </a:lnTo>
                        <a:lnTo>
                          <a:pt x="706" y="31"/>
                        </a:lnTo>
                        <a:lnTo>
                          <a:pt x="744" y="10"/>
                        </a:lnTo>
                        <a:lnTo>
                          <a:pt x="800" y="0"/>
                        </a:lnTo>
                        <a:lnTo>
                          <a:pt x="854" y="0"/>
                        </a:lnTo>
                        <a:lnTo>
                          <a:pt x="927" y="4"/>
                        </a:lnTo>
                        <a:lnTo>
                          <a:pt x="967" y="6"/>
                        </a:lnTo>
                        <a:lnTo>
                          <a:pt x="994" y="10"/>
                        </a:lnTo>
                        <a:lnTo>
                          <a:pt x="1018" y="17"/>
                        </a:lnTo>
                        <a:lnTo>
                          <a:pt x="1039" y="35"/>
                        </a:lnTo>
                        <a:lnTo>
                          <a:pt x="1052" y="57"/>
                        </a:lnTo>
                        <a:lnTo>
                          <a:pt x="1061" y="86"/>
                        </a:lnTo>
                        <a:lnTo>
                          <a:pt x="1067" y="136"/>
                        </a:lnTo>
                        <a:lnTo>
                          <a:pt x="1062" y="180"/>
                        </a:lnTo>
                        <a:lnTo>
                          <a:pt x="1046" y="218"/>
                        </a:lnTo>
                        <a:lnTo>
                          <a:pt x="1027" y="239"/>
                        </a:lnTo>
                        <a:lnTo>
                          <a:pt x="1002" y="252"/>
                        </a:lnTo>
                        <a:lnTo>
                          <a:pt x="973" y="260"/>
                        </a:lnTo>
                        <a:lnTo>
                          <a:pt x="923" y="259"/>
                        </a:lnTo>
                        <a:lnTo>
                          <a:pt x="939" y="281"/>
                        </a:lnTo>
                        <a:lnTo>
                          <a:pt x="961" y="323"/>
                        </a:lnTo>
                        <a:lnTo>
                          <a:pt x="980" y="357"/>
                        </a:lnTo>
                        <a:lnTo>
                          <a:pt x="995" y="399"/>
                        </a:lnTo>
                        <a:lnTo>
                          <a:pt x="1004" y="434"/>
                        </a:lnTo>
                        <a:lnTo>
                          <a:pt x="1000" y="457"/>
                        </a:lnTo>
                        <a:lnTo>
                          <a:pt x="980" y="482"/>
                        </a:lnTo>
                        <a:lnTo>
                          <a:pt x="1002" y="526"/>
                        </a:lnTo>
                        <a:lnTo>
                          <a:pt x="1029" y="567"/>
                        </a:lnTo>
                        <a:lnTo>
                          <a:pt x="1060" y="619"/>
                        </a:lnTo>
                        <a:lnTo>
                          <a:pt x="1108" y="667"/>
                        </a:lnTo>
                        <a:lnTo>
                          <a:pt x="1182" y="739"/>
                        </a:lnTo>
                        <a:lnTo>
                          <a:pt x="1251" y="822"/>
                        </a:lnTo>
                        <a:lnTo>
                          <a:pt x="1316" y="930"/>
                        </a:lnTo>
                        <a:lnTo>
                          <a:pt x="1372" y="1029"/>
                        </a:lnTo>
                        <a:lnTo>
                          <a:pt x="1418" y="1113"/>
                        </a:lnTo>
                        <a:lnTo>
                          <a:pt x="1432" y="1144"/>
                        </a:lnTo>
                        <a:lnTo>
                          <a:pt x="1435" y="1198"/>
                        </a:lnTo>
                        <a:lnTo>
                          <a:pt x="1450" y="1240"/>
                        </a:lnTo>
                        <a:lnTo>
                          <a:pt x="1473" y="1204"/>
                        </a:lnTo>
                        <a:lnTo>
                          <a:pt x="1517" y="1147"/>
                        </a:lnTo>
                        <a:lnTo>
                          <a:pt x="1575" y="1061"/>
                        </a:lnTo>
                        <a:lnTo>
                          <a:pt x="1612" y="1009"/>
                        </a:lnTo>
                        <a:lnTo>
                          <a:pt x="1629" y="977"/>
                        </a:lnTo>
                        <a:lnTo>
                          <a:pt x="1649" y="924"/>
                        </a:lnTo>
                        <a:lnTo>
                          <a:pt x="1666" y="889"/>
                        </a:lnTo>
                        <a:lnTo>
                          <a:pt x="1681" y="862"/>
                        </a:lnTo>
                        <a:lnTo>
                          <a:pt x="1701" y="833"/>
                        </a:lnTo>
                        <a:lnTo>
                          <a:pt x="1723" y="808"/>
                        </a:lnTo>
                        <a:lnTo>
                          <a:pt x="1763" y="767"/>
                        </a:lnTo>
                        <a:lnTo>
                          <a:pt x="1807" y="734"/>
                        </a:lnTo>
                        <a:lnTo>
                          <a:pt x="1851" y="713"/>
                        </a:lnTo>
                        <a:lnTo>
                          <a:pt x="1889" y="713"/>
                        </a:lnTo>
                        <a:lnTo>
                          <a:pt x="1923" y="717"/>
                        </a:lnTo>
                        <a:lnTo>
                          <a:pt x="1953" y="735"/>
                        </a:lnTo>
                        <a:lnTo>
                          <a:pt x="1974" y="774"/>
                        </a:lnTo>
                        <a:lnTo>
                          <a:pt x="1973" y="819"/>
                        </a:lnTo>
                        <a:lnTo>
                          <a:pt x="1973" y="839"/>
                        </a:lnTo>
                        <a:lnTo>
                          <a:pt x="1963" y="883"/>
                        </a:lnTo>
                        <a:lnTo>
                          <a:pt x="1945" y="903"/>
                        </a:lnTo>
                        <a:lnTo>
                          <a:pt x="1935" y="946"/>
                        </a:lnTo>
                        <a:lnTo>
                          <a:pt x="1917" y="1009"/>
                        </a:lnTo>
                        <a:lnTo>
                          <a:pt x="1917" y="1071"/>
                        </a:lnTo>
                        <a:lnTo>
                          <a:pt x="1907" y="1134"/>
                        </a:lnTo>
                        <a:lnTo>
                          <a:pt x="1904" y="1167"/>
                        </a:lnTo>
                        <a:lnTo>
                          <a:pt x="1895" y="1200"/>
                        </a:lnTo>
                        <a:lnTo>
                          <a:pt x="1876" y="1238"/>
                        </a:lnTo>
                        <a:lnTo>
                          <a:pt x="1851" y="1271"/>
                        </a:lnTo>
                        <a:lnTo>
                          <a:pt x="1834" y="1333"/>
                        </a:lnTo>
                        <a:lnTo>
                          <a:pt x="1806" y="1396"/>
                        </a:lnTo>
                        <a:lnTo>
                          <a:pt x="1723" y="1544"/>
                        </a:lnTo>
                        <a:lnTo>
                          <a:pt x="1649" y="1649"/>
                        </a:lnTo>
                        <a:lnTo>
                          <a:pt x="1594" y="1722"/>
                        </a:lnTo>
                        <a:lnTo>
                          <a:pt x="1584" y="1764"/>
                        </a:lnTo>
                        <a:lnTo>
                          <a:pt x="1575" y="1807"/>
                        </a:lnTo>
                        <a:lnTo>
                          <a:pt x="1558" y="1853"/>
                        </a:lnTo>
                        <a:lnTo>
                          <a:pt x="1545" y="1912"/>
                        </a:lnTo>
                        <a:lnTo>
                          <a:pt x="1519" y="1975"/>
                        </a:lnTo>
                        <a:lnTo>
                          <a:pt x="1473" y="2059"/>
                        </a:lnTo>
                        <a:lnTo>
                          <a:pt x="1428" y="2122"/>
                        </a:lnTo>
                        <a:lnTo>
                          <a:pt x="1400" y="2163"/>
                        </a:lnTo>
                        <a:lnTo>
                          <a:pt x="1381" y="2227"/>
                        </a:lnTo>
                        <a:lnTo>
                          <a:pt x="1362" y="2269"/>
                        </a:lnTo>
                        <a:lnTo>
                          <a:pt x="1332"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17526" name="Group 109"/>
                  <p:cNvGrpSpPr>
                    <a:grpSpLocks/>
                  </p:cNvGrpSpPr>
                  <p:nvPr/>
                </p:nvGrpSpPr>
                <p:grpSpPr bwMode="auto">
                  <a:xfrm>
                    <a:off x="2078" y="3668"/>
                    <a:ext cx="139" cy="45"/>
                    <a:chOff x="2078" y="3668"/>
                    <a:chExt cx="139" cy="45"/>
                  </a:xfrm>
                </p:grpSpPr>
                <p:sp>
                  <p:nvSpPr>
                    <p:cNvPr id="17531" name="Freeform 105"/>
                    <p:cNvSpPr>
                      <a:spLocks/>
                    </p:cNvSpPr>
                    <p:nvPr/>
                  </p:nvSpPr>
                  <p:spPr bwMode="auto">
                    <a:xfrm>
                      <a:off x="2201" y="3705"/>
                      <a:ext cx="16" cy="8"/>
                    </a:xfrm>
                    <a:custGeom>
                      <a:avLst/>
                      <a:gdLst>
                        <a:gd name="T0" fmla="*/ 0 w 185"/>
                        <a:gd name="T1" fmla="*/ 0 h 96"/>
                        <a:gd name="T2" fmla="*/ 0 w 185"/>
                        <a:gd name="T3" fmla="*/ 0 h 96"/>
                        <a:gd name="T4" fmla="*/ 0 w 185"/>
                        <a:gd name="T5" fmla="*/ 0 h 96"/>
                        <a:gd name="T6" fmla="*/ 0 w 185"/>
                        <a:gd name="T7" fmla="*/ 0 h 96"/>
                        <a:gd name="T8" fmla="*/ 0 w 185"/>
                        <a:gd name="T9" fmla="*/ 0 h 96"/>
                        <a:gd name="T10" fmla="*/ 0 w 185"/>
                        <a:gd name="T11" fmla="*/ 0 h 96"/>
                        <a:gd name="T12" fmla="*/ 0 w 185"/>
                        <a:gd name="T13" fmla="*/ 0 h 96"/>
                        <a:gd name="T14" fmla="*/ 0 60000 65536"/>
                        <a:gd name="T15" fmla="*/ 0 60000 65536"/>
                        <a:gd name="T16" fmla="*/ 0 60000 65536"/>
                        <a:gd name="T17" fmla="*/ 0 60000 65536"/>
                        <a:gd name="T18" fmla="*/ 0 60000 65536"/>
                        <a:gd name="T19" fmla="*/ 0 60000 65536"/>
                        <a:gd name="T20" fmla="*/ 0 60000 65536"/>
                        <a:gd name="T21" fmla="*/ 0 w 185"/>
                        <a:gd name="T22" fmla="*/ 0 h 96"/>
                        <a:gd name="T23" fmla="*/ 185 w 185"/>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96">
                          <a:moveTo>
                            <a:pt x="0" y="0"/>
                          </a:moveTo>
                          <a:lnTo>
                            <a:pt x="38" y="21"/>
                          </a:lnTo>
                          <a:lnTo>
                            <a:pt x="66" y="52"/>
                          </a:lnTo>
                          <a:lnTo>
                            <a:pt x="101" y="85"/>
                          </a:lnTo>
                          <a:lnTo>
                            <a:pt x="129" y="96"/>
                          </a:lnTo>
                          <a:lnTo>
                            <a:pt x="139" y="96"/>
                          </a:lnTo>
                          <a:lnTo>
                            <a:pt x="185"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532" name="Freeform 106"/>
                    <p:cNvSpPr>
                      <a:spLocks/>
                    </p:cNvSpPr>
                    <p:nvPr/>
                  </p:nvSpPr>
                  <p:spPr bwMode="auto">
                    <a:xfrm>
                      <a:off x="2078" y="3695"/>
                      <a:ext cx="8"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533" name="Freeform 107"/>
                    <p:cNvSpPr>
                      <a:spLocks/>
                    </p:cNvSpPr>
                    <p:nvPr/>
                  </p:nvSpPr>
                  <p:spPr bwMode="auto">
                    <a:xfrm>
                      <a:off x="2102" y="3670"/>
                      <a:ext cx="1" cy="4"/>
                    </a:xfrm>
                    <a:custGeom>
                      <a:avLst/>
                      <a:gdLst>
                        <a:gd name="T0" fmla="*/ 0 w 18"/>
                        <a:gd name="T1" fmla="*/ 0 h 44"/>
                        <a:gd name="T2" fmla="*/ 0 w 18"/>
                        <a:gd name="T3" fmla="*/ 0 h 44"/>
                        <a:gd name="T4" fmla="*/ 0 w 18"/>
                        <a:gd name="T5" fmla="*/ 0 h 44"/>
                        <a:gd name="T6" fmla="*/ 0 w 18"/>
                        <a:gd name="T7" fmla="*/ 0 h 44"/>
                        <a:gd name="T8" fmla="*/ 0 60000 65536"/>
                        <a:gd name="T9" fmla="*/ 0 60000 65536"/>
                        <a:gd name="T10" fmla="*/ 0 60000 65536"/>
                        <a:gd name="T11" fmla="*/ 0 60000 65536"/>
                        <a:gd name="T12" fmla="*/ 0 w 18"/>
                        <a:gd name="T13" fmla="*/ 0 h 44"/>
                        <a:gd name="T14" fmla="*/ 18 w 18"/>
                        <a:gd name="T15" fmla="*/ 44 h 44"/>
                      </a:gdLst>
                      <a:ahLst/>
                      <a:cxnLst>
                        <a:cxn ang="T8">
                          <a:pos x="T0" y="T1"/>
                        </a:cxn>
                        <a:cxn ang="T9">
                          <a:pos x="T2" y="T3"/>
                        </a:cxn>
                        <a:cxn ang="T10">
                          <a:pos x="T4" y="T5"/>
                        </a:cxn>
                        <a:cxn ang="T11">
                          <a:pos x="T6" y="T7"/>
                        </a:cxn>
                      </a:cxnLst>
                      <a:rect l="T12" t="T13" r="T14" b="T15"/>
                      <a:pathLst>
                        <a:path w="18" h="44">
                          <a:moveTo>
                            <a:pt x="0" y="0"/>
                          </a:moveTo>
                          <a:lnTo>
                            <a:pt x="18" y="18"/>
                          </a:lnTo>
                          <a:lnTo>
                            <a:pt x="16" y="29"/>
                          </a:lnTo>
                          <a:lnTo>
                            <a:pt x="18"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534" name="Freeform 108"/>
                    <p:cNvSpPr>
                      <a:spLocks/>
                    </p:cNvSpPr>
                    <p:nvPr/>
                  </p:nvSpPr>
                  <p:spPr bwMode="auto">
                    <a:xfrm>
                      <a:off x="2095" y="3668"/>
                      <a:ext cx="15" cy="2"/>
                    </a:xfrm>
                    <a:custGeom>
                      <a:avLst/>
                      <a:gdLst>
                        <a:gd name="T0" fmla="*/ 0 w 179"/>
                        <a:gd name="T1" fmla="*/ 0 h 22"/>
                        <a:gd name="T2" fmla="*/ 0 w 179"/>
                        <a:gd name="T3" fmla="*/ 0 h 22"/>
                        <a:gd name="T4" fmla="*/ 0 w 179"/>
                        <a:gd name="T5" fmla="*/ 0 h 22"/>
                        <a:gd name="T6" fmla="*/ 0 w 179"/>
                        <a:gd name="T7" fmla="*/ 0 h 22"/>
                        <a:gd name="T8" fmla="*/ 0 w 179"/>
                        <a:gd name="T9" fmla="*/ 0 h 22"/>
                        <a:gd name="T10" fmla="*/ 0 60000 65536"/>
                        <a:gd name="T11" fmla="*/ 0 60000 65536"/>
                        <a:gd name="T12" fmla="*/ 0 60000 65536"/>
                        <a:gd name="T13" fmla="*/ 0 60000 65536"/>
                        <a:gd name="T14" fmla="*/ 0 60000 65536"/>
                        <a:gd name="T15" fmla="*/ 0 w 179"/>
                        <a:gd name="T16" fmla="*/ 0 h 22"/>
                        <a:gd name="T17" fmla="*/ 179 w 179"/>
                        <a:gd name="T18" fmla="*/ 22 h 22"/>
                      </a:gdLst>
                      <a:ahLst/>
                      <a:cxnLst>
                        <a:cxn ang="T10">
                          <a:pos x="T0" y="T1"/>
                        </a:cxn>
                        <a:cxn ang="T11">
                          <a:pos x="T2" y="T3"/>
                        </a:cxn>
                        <a:cxn ang="T12">
                          <a:pos x="T4" y="T5"/>
                        </a:cxn>
                        <a:cxn ang="T13">
                          <a:pos x="T6" y="T7"/>
                        </a:cxn>
                        <a:cxn ang="T14">
                          <a:pos x="T8" y="T9"/>
                        </a:cxn>
                      </a:cxnLst>
                      <a:rect l="T15" t="T16" r="T17" b="T18"/>
                      <a:pathLst>
                        <a:path w="179" h="22">
                          <a:moveTo>
                            <a:pt x="179" y="11"/>
                          </a:moveTo>
                          <a:lnTo>
                            <a:pt x="151" y="22"/>
                          </a:lnTo>
                          <a:lnTo>
                            <a:pt x="39" y="22"/>
                          </a:lnTo>
                          <a:lnTo>
                            <a:pt x="18" y="10"/>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527" name="Group 113"/>
                  <p:cNvGrpSpPr>
                    <a:grpSpLocks/>
                  </p:cNvGrpSpPr>
                  <p:nvPr/>
                </p:nvGrpSpPr>
                <p:grpSpPr bwMode="auto">
                  <a:xfrm>
                    <a:off x="2093" y="3659"/>
                    <a:ext cx="95" cy="91"/>
                    <a:chOff x="2093" y="3659"/>
                    <a:chExt cx="95" cy="91"/>
                  </a:xfrm>
                </p:grpSpPr>
                <p:sp>
                  <p:nvSpPr>
                    <p:cNvPr id="17528" name="Freeform 110"/>
                    <p:cNvSpPr>
                      <a:spLocks/>
                    </p:cNvSpPr>
                    <p:nvPr/>
                  </p:nvSpPr>
                  <p:spPr bwMode="auto">
                    <a:xfrm>
                      <a:off x="2100" y="3676"/>
                      <a:ext cx="88" cy="74"/>
                    </a:xfrm>
                    <a:custGeom>
                      <a:avLst/>
                      <a:gdLst>
                        <a:gd name="T0" fmla="*/ 0 w 1061"/>
                        <a:gd name="T1" fmla="*/ 0 h 894"/>
                        <a:gd name="T2" fmla="*/ 0 w 1061"/>
                        <a:gd name="T3" fmla="*/ 0 h 894"/>
                        <a:gd name="T4" fmla="*/ 0 w 1061"/>
                        <a:gd name="T5" fmla="*/ 0 h 894"/>
                        <a:gd name="T6" fmla="*/ 0 w 1061"/>
                        <a:gd name="T7" fmla="*/ 0 h 894"/>
                        <a:gd name="T8" fmla="*/ 0 w 1061"/>
                        <a:gd name="T9" fmla="*/ 0 h 894"/>
                        <a:gd name="T10" fmla="*/ 0 w 1061"/>
                        <a:gd name="T11" fmla="*/ 0 h 894"/>
                        <a:gd name="T12" fmla="*/ 0 w 1061"/>
                        <a:gd name="T13" fmla="*/ 0 h 894"/>
                        <a:gd name="T14" fmla="*/ 0 w 1061"/>
                        <a:gd name="T15" fmla="*/ 0 h 894"/>
                        <a:gd name="T16" fmla="*/ 0 w 1061"/>
                        <a:gd name="T17" fmla="*/ 0 h 894"/>
                        <a:gd name="T18" fmla="*/ 0 w 1061"/>
                        <a:gd name="T19" fmla="*/ 0 h 894"/>
                        <a:gd name="T20" fmla="*/ 0 w 1061"/>
                        <a:gd name="T21" fmla="*/ 0 h 894"/>
                        <a:gd name="T22" fmla="*/ 0 w 1061"/>
                        <a:gd name="T23" fmla="*/ 0 h 894"/>
                        <a:gd name="T24" fmla="*/ 0 w 1061"/>
                        <a:gd name="T25" fmla="*/ 0 h 894"/>
                        <a:gd name="T26" fmla="*/ 0 w 1061"/>
                        <a:gd name="T27" fmla="*/ 0 h 894"/>
                        <a:gd name="T28" fmla="*/ 0 w 1061"/>
                        <a:gd name="T29" fmla="*/ 0 h 894"/>
                        <a:gd name="T30" fmla="*/ 0 w 1061"/>
                        <a:gd name="T31" fmla="*/ 0 h 894"/>
                        <a:gd name="T32" fmla="*/ 0 w 1061"/>
                        <a:gd name="T33" fmla="*/ 0 h 894"/>
                        <a:gd name="T34" fmla="*/ 0 w 1061"/>
                        <a:gd name="T35" fmla="*/ 0 h 894"/>
                        <a:gd name="T36" fmla="*/ 0 w 1061"/>
                        <a:gd name="T37" fmla="*/ 0 h 894"/>
                        <a:gd name="T38" fmla="*/ 0 w 1061"/>
                        <a:gd name="T39" fmla="*/ 0 h 894"/>
                        <a:gd name="T40" fmla="*/ 0 w 1061"/>
                        <a:gd name="T41" fmla="*/ 0 h 894"/>
                        <a:gd name="T42" fmla="*/ 0 w 1061"/>
                        <a:gd name="T43" fmla="*/ 0 h 894"/>
                        <a:gd name="T44" fmla="*/ 0 w 1061"/>
                        <a:gd name="T45" fmla="*/ 0 h 894"/>
                        <a:gd name="T46" fmla="*/ 0 w 1061"/>
                        <a:gd name="T47" fmla="*/ 0 h 894"/>
                        <a:gd name="T48" fmla="*/ 0 w 1061"/>
                        <a:gd name="T49" fmla="*/ 0 h 894"/>
                        <a:gd name="T50" fmla="*/ 0 w 1061"/>
                        <a:gd name="T51" fmla="*/ 0 h 894"/>
                        <a:gd name="T52" fmla="*/ 0 w 1061"/>
                        <a:gd name="T53" fmla="*/ 0 h 894"/>
                        <a:gd name="T54" fmla="*/ 0 w 1061"/>
                        <a:gd name="T55" fmla="*/ 0 h 894"/>
                        <a:gd name="T56" fmla="*/ 0 w 1061"/>
                        <a:gd name="T57" fmla="*/ 0 h 894"/>
                        <a:gd name="T58" fmla="*/ 0 w 1061"/>
                        <a:gd name="T59" fmla="*/ 0 h 894"/>
                        <a:gd name="T60" fmla="*/ 0 w 1061"/>
                        <a:gd name="T61" fmla="*/ 0 h 894"/>
                        <a:gd name="T62" fmla="*/ 0 w 1061"/>
                        <a:gd name="T63" fmla="*/ 0 h 894"/>
                        <a:gd name="T64" fmla="*/ 0 w 1061"/>
                        <a:gd name="T65" fmla="*/ 0 h 894"/>
                        <a:gd name="T66" fmla="*/ 0 w 1061"/>
                        <a:gd name="T67" fmla="*/ 0 h 894"/>
                        <a:gd name="T68" fmla="*/ 0 w 1061"/>
                        <a:gd name="T69" fmla="*/ 0 h 894"/>
                        <a:gd name="T70" fmla="*/ 0 w 1061"/>
                        <a:gd name="T71" fmla="*/ 0 h 894"/>
                        <a:gd name="T72" fmla="*/ 0 w 1061"/>
                        <a:gd name="T73" fmla="*/ 0 h 894"/>
                        <a:gd name="T74" fmla="*/ 0 w 1061"/>
                        <a:gd name="T75" fmla="*/ 0 h 894"/>
                        <a:gd name="T76" fmla="*/ 0 w 1061"/>
                        <a:gd name="T77" fmla="*/ 0 h 894"/>
                        <a:gd name="T78" fmla="*/ 0 w 1061"/>
                        <a:gd name="T79" fmla="*/ 0 h 894"/>
                        <a:gd name="T80" fmla="*/ 0 w 1061"/>
                        <a:gd name="T81" fmla="*/ 0 h 894"/>
                        <a:gd name="T82" fmla="*/ 0 w 1061"/>
                        <a:gd name="T83" fmla="*/ 0 h 894"/>
                        <a:gd name="T84" fmla="*/ 0 w 1061"/>
                        <a:gd name="T85" fmla="*/ 0 h 894"/>
                        <a:gd name="T86" fmla="*/ 0 w 1061"/>
                        <a:gd name="T87" fmla="*/ 0 h 894"/>
                        <a:gd name="T88" fmla="*/ 0 w 1061"/>
                        <a:gd name="T89" fmla="*/ 0 h 894"/>
                        <a:gd name="T90" fmla="*/ 0 w 1061"/>
                        <a:gd name="T91" fmla="*/ 0 h 894"/>
                        <a:gd name="T92" fmla="*/ 0 w 1061"/>
                        <a:gd name="T93" fmla="*/ 0 h 894"/>
                        <a:gd name="T94" fmla="*/ 0 w 1061"/>
                        <a:gd name="T95" fmla="*/ 0 h 894"/>
                        <a:gd name="T96" fmla="*/ 0 w 1061"/>
                        <a:gd name="T97" fmla="*/ 0 h 894"/>
                        <a:gd name="T98" fmla="*/ 0 w 1061"/>
                        <a:gd name="T99" fmla="*/ 0 h 894"/>
                        <a:gd name="T100" fmla="*/ 0 w 1061"/>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1"/>
                        <a:gd name="T154" fmla="*/ 0 h 894"/>
                        <a:gd name="T155" fmla="*/ 1061 w 1061"/>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1" h="894">
                          <a:moveTo>
                            <a:pt x="1061" y="487"/>
                          </a:moveTo>
                          <a:lnTo>
                            <a:pt x="982" y="517"/>
                          </a:lnTo>
                          <a:lnTo>
                            <a:pt x="886" y="555"/>
                          </a:lnTo>
                          <a:lnTo>
                            <a:pt x="827" y="593"/>
                          </a:lnTo>
                          <a:lnTo>
                            <a:pt x="779" y="652"/>
                          </a:lnTo>
                          <a:lnTo>
                            <a:pt x="750" y="739"/>
                          </a:lnTo>
                          <a:lnTo>
                            <a:pt x="730" y="807"/>
                          </a:lnTo>
                          <a:lnTo>
                            <a:pt x="671" y="875"/>
                          </a:lnTo>
                          <a:lnTo>
                            <a:pt x="574" y="894"/>
                          </a:lnTo>
                          <a:lnTo>
                            <a:pt x="506" y="865"/>
                          </a:lnTo>
                          <a:lnTo>
                            <a:pt x="457" y="826"/>
                          </a:lnTo>
                          <a:lnTo>
                            <a:pt x="454" y="784"/>
                          </a:lnTo>
                          <a:lnTo>
                            <a:pt x="447" y="749"/>
                          </a:lnTo>
                          <a:lnTo>
                            <a:pt x="409" y="690"/>
                          </a:lnTo>
                          <a:lnTo>
                            <a:pt x="321" y="662"/>
                          </a:lnTo>
                          <a:lnTo>
                            <a:pt x="389" y="617"/>
                          </a:lnTo>
                          <a:lnTo>
                            <a:pt x="460" y="603"/>
                          </a:lnTo>
                          <a:lnTo>
                            <a:pt x="493" y="584"/>
                          </a:lnTo>
                          <a:lnTo>
                            <a:pt x="431" y="581"/>
                          </a:lnTo>
                          <a:lnTo>
                            <a:pt x="360" y="603"/>
                          </a:lnTo>
                          <a:lnTo>
                            <a:pt x="282" y="633"/>
                          </a:lnTo>
                          <a:lnTo>
                            <a:pt x="247" y="603"/>
                          </a:lnTo>
                          <a:lnTo>
                            <a:pt x="240" y="565"/>
                          </a:lnTo>
                          <a:lnTo>
                            <a:pt x="237" y="520"/>
                          </a:lnTo>
                          <a:lnTo>
                            <a:pt x="224" y="477"/>
                          </a:lnTo>
                          <a:lnTo>
                            <a:pt x="175" y="468"/>
                          </a:lnTo>
                          <a:lnTo>
                            <a:pt x="136" y="484"/>
                          </a:lnTo>
                          <a:lnTo>
                            <a:pt x="104" y="514"/>
                          </a:lnTo>
                          <a:lnTo>
                            <a:pt x="58" y="542"/>
                          </a:lnTo>
                          <a:lnTo>
                            <a:pt x="0" y="593"/>
                          </a:lnTo>
                          <a:lnTo>
                            <a:pt x="58" y="507"/>
                          </a:lnTo>
                          <a:lnTo>
                            <a:pt x="165" y="420"/>
                          </a:lnTo>
                          <a:lnTo>
                            <a:pt x="234" y="380"/>
                          </a:lnTo>
                          <a:lnTo>
                            <a:pt x="295" y="364"/>
                          </a:lnTo>
                          <a:lnTo>
                            <a:pt x="348" y="368"/>
                          </a:lnTo>
                          <a:lnTo>
                            <a:pt x="402" y="355"/>
                          </a:lnTo>
                          <a:lnTo>
                            <a:pt x="487" y="332"/>
                          </a:lnTo>
                          <a:lnTo>
                            <a:pt x="593" y="288"/>
                          </a:lnTo>
                          <a:lnTo>
                            <a:pt x="694" y="239"/>
                          </a:lnTo>
                          <a:lnTo>
                            <a:pt x="753" y="210"/>
                          </a:lnTo>
                          <a:lnTo>
                            <a:pt x="785" y="168"/>
                          </a:lnTo>
                          <a:lnTo>
                            <a:pt x="801" y="116"/>
                          </a:lnTo>
                          <a:lnTo>
                            <a:pt x="798" y="62"/>
                          </a:lnTo>
                          <a:lnTo>
                            <a:pt x="785" y="0"/>
                          </a:lnTo>
                          <a:lnTo>
                            <a:pt x="846" y="68"/>
                          </a:lnTo>
                          <a:lnTo>
                            <a:pt x="896" y="145"/>
                          </a:lnTo>
                          <a:lnTo>
                            <a:pt x="953" y="245"/>
                          </a:lnTo>
                          <a:lnTo>
                            <a:pt x="979" y="300"/>
                          </a:lnTo>
                          <a:lnTo>
                            <a:pt x="1006" y="348"/>
                          </a:lnTo>
                          <a:lnTo>
                            <a:pt x="1041" y="401"/>
                          </a:lnTo>
                          <a:lnTo>
                            <a:pt x="1061"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29" name="Freeform 111"/>
                    <p:cNvSpPr>
                      <a:spLocks/>
                    </p:cNvSpPr>
                    <p:nvPr/>
                  </p:nvSpPr>
                  <p:spPr bwMode="auto">
                    <a:xfrm>
                      <a:off x="2093" y="3699"/>
                      <a:ext cx="24" cy="15"/>
                    </a:xfrm>
                    <a:custGeom>
                      <a:avLst/>
                      <a:gdLst>
                        <a:gd name="T0" fmla="*/ 0 w 288"/>
                        <a:gd name="T1" fmla="*/ 0 h 181"/>
                        <a:gd name="T2" fmla="*/ 0 w 288"/>
                        <a:gd name="T3" fmla="*/ 0 h 181"/>
                        <a:gd name="T4" fmla="*/ 0 w 288"/>
                        <a:gd name="T5" fmla="*/ 0 h 181"/>
                        <a:gd name="T6" fmla="*/ 0 w 288"/>
                        <a:gd name="T7" fmla="*/ 0 h 181"/>
                        <a:gd name="T8" fmla="*/ 0 w 288"/>
                        <a:gd name="T9" fmla="*/ 0 h 181"/>
                        <a:gd name="T10" fmla="*/ 0 w 288"/>
                        <a:gd name="T11" fmla="*/ 0 h 181"/>
                        <a:gd name="T12" fmla="*/ 0 w 288"/>
                        <a:gd name="T13" fmla="*/ 0 h 181"/>
                        <a:gd name="T14" fmla="*/ 0 w 288"/>
                        <a:gd name="T15" fmla="*/ 0 h 181"/>
                        <a:gd name="T16" fmla="*/ 0 w 288"/>
                        <a:gd name="T17" fmla="*/ 0 h 181"/>
                        <a:gd name="T18" fmla="*/ 0 w 288"/>
                        <a:gd name="T19" fmla="*/ 0 h 181"/>
                        <a:gd name="T20" fmla="*/ 0 w 288"/>
                        <a:gd name="T21" fmla="*/ 0 h 181"/>
                        <a:gd name="T22" fmla="*/ 0 w 288"/>
                        <a:gd name="T23" fmla="*/ 0 h 181"/>
                        <a:gd name="T24" fmla="*/ 0 w 288"/>
                        <a:gd name="T25" fmla="*/ 0 h 181"/>
                        <a:gd name="T26" fmla="*/ 0 w 288"/>
                        <a:gd name="T27" fmla="*/ 0 h 181"/>
                        <a:gd name="T28" fmla="*/ 0 w 288"/>
                        <a:gd name="T29" fmla="*/ 0 h 181"/>
                        <a:gd name="T30" fmla="*/ 0 w 288"/>
                        <a:gd name="T31" fmla="*/ 0 h 181"/>
                        <a:gd name="T32" fmla="*/ 0 w 288"/>
                        <a:gd name="T33" fmla="*/ 0 h 181"/>
                        <a:gd name="T34" fmla="*/ 0 w 288"/>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8"/>
                        <a:gd name="T55" fmla="*/ 0 h 181"/>
                        <a:gd name="T56" fmla="*/ 288 w 288"/>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8" h="181">
                          <a:moveTo>
                            <a:pt x="176" y="10"/>
                          </a:moveTo>
                          <a:lnTo>
                            <a:pt x="209" y="20"/>
                          </a:lnTo>
                          <a:lnTo>
                            <a:pt x="246" y="33"/>
                          </a:lnTo>
                          <a:lnTo>
                            <a:pt x="288" y="53"/>
                          </a:lnTo>
                          <a:lnTo>
                            <a:pt x="258" y="67"/>
                          </a:lnTo>
                          <a:lnTo>
                            <a:pt x="203" y="91"/>
                          </a:lnTo>
                          <a:lnTo>
                            <a:pt x="143" y="124"/>
                          </a:lnTo>
                          <a:lnTo>
                            <a:pt x="103" y="161"/>
                          </a:lnTo>
                          <a:lnTo>
                            <a:pt x="79" y="181"/>
                          </a:lnTo>
                          <a:lnTo>
                            <a:pt x="106"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30" name="Freeform 112"/>
                    <p:cNvSpPr>
                      <a:spLocks/>
                    </p:cNvSpPr>
                    <p:nvPr/>
                  </p:nvSpPr>
                  <p:spPr bwMode="auto">
                    <a:xfrm>
                      <a:off x="2115" y="3659"/>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4" y="166"/>
                          </a:lnTo>
                          <a:lnTo>
                            <a:pt x="365" y="206"/>
                          </a:lnTo>
                          <a:lnTo>
                            <a:pt x="314" y="255"/>
                          </a:lnTo>
                          <a:lnTo>
                            <a:pt x="264" y="332"/>
                          </a:lnTo>
                          <a:lnTo>
                            <a:pt x="242" y="385"/>
                          </a:lnTo>
                          <a:lnTo>
                            <a:pt x="258" y="434"/>
                          </a:lnTo>
                          <a:lnTo>
                            <a:pt x="193" y="388"/>
                          </a:lnTo>
                          <a:lnTo>
                            <a:pt x="130" y="365"/>
                          </a:lnTo>
                          <a:lnTo>
                            <a:pt x="81" y="345"/>
                          </a:lnTo>
                          <a:lnTo>
                            <a:pt x="32" y="329"/>
                          </a:lnTo>
                          <a:lnTo>
                            <a:pt x="0" y="313"/>
                          </a:lnTo>
                          <a:lnTo>
                            <a:pt x="42" y="255"/>
                          </a:lnTo>
                          <a:lnTo>
                            <a:pt x="81" y="283"/>
                          </a:lnTo>
                          <a:lnTo>
                            <a:pt x="143" y="313"/>
                          </a:lnTo>
                          <a:lnTo>
                            <a:pt x="196" y="313"/>
                          </a:lnTo>
                          <a:lnTo>
                            <a:pt x="245" y="304"/>
                          </a:lnTo>
                          <a:lnTo>
                            <a:pt x="274" y="293"/>
                          </a:lnTo>
                          <a:lnTo>
                            <a:pt x="304" y="274"/>
                          </a:lnTo>
                          <a:lnTo>
                            <a:pt x="314" y="212"/>
                          </a:lnTo>
                          <a:lnTo>
                            <a:pt x="304" y="166"/>
                          </a:lnTo>
                          <a:lnTo>
                            <a:pt x="274" y="108"/>
                          </a:lnTo>
                          <a:lnTo>
                            <a:pt x="264" y="78"/>
                          </a:lnTo>
                          <a:lnTo>
                            <a:pt x="307" y="68"/>
                          </a:lnTo>
                          <a:lnTo>
                            <a:pt x="362" y="52"/>
                          </a:lnTo>
                          <a:lnTo>
                            <a:pt x="398" y="9"/>
                          </a:lnTo>
                          <a:lnTo>
                            <a:pt x="431" y="0"/>
                          </a:lnTo>
                          <a:lnTo>
                            <a:pt x="467" y="55"/>
                          </a:lnTo>
                          <a:lnTo>
                            <a:pt x="499"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7473" name="Group 155"/>
                <p:cNvGrpSpPr>
                  <a:grpSpLocks/>
                </p:cNvGrpSpPr>
                <p:nvPr/>
              </p:nvGrpSpPr>
              <p:grpSpPr bwMode="auto">
                <a:xfrm>
                  <a:off x="2117" y="3557"/>
                  <a:ext cx="140" cy="274"/>
                  <a:chOff x="2117" y="3557"/>
                  <a:chExt cx="140" cy="274"/>
                </a:xfrm>
              </p:grpSpPr>
              <p:sp>
                <p:nvSpPr>
                  <p:cNvPr id="17485" name="Freeform 115"/>
                  <p:cNvSpPr>
                    <a:spLocks/>
                  </p:cNvSpPr>
                  <p:nvPr/>
                </p:nvSpPr>
                <p:spPr bwMode="auto">
                  <a:xfrm>
                    <a:off x="2126" y="3753"/>
                    <a:ext cx="129"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7"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17486" name="Freeform 116"/>
                  <p:cNvSpPr>
                    <a:spLocks/>
                  </p:cNvSpPr>
                  <p:nvPr/>
                </p:nvSpPr>
                <p:spPr bwMode="auto">
                  <a:xfrm>
                    <a:off x="2172" y="3787"/>
                    <a:ext cx="85"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6" y="179"/>
                        </a:lnTo>
                        <a:lnTo>
                          <a:pt x="944" y="523"/>
                        </a:lnTo>
                        <a:lnTo>
                          <a:pt x="963" y="528"/>
                        </a:lnTo>
                        <a:lnTo>
                          <a:pt x="980" y="523"/>
                        </a:lnTo>
                        <a:lnTo>
                          <a:pt x="995" y="505"/>
                        </a:lnTo>
                        <a:lnTo>
                          <a:pt x="1014" y="461"/>
                        </a:lnTo>
                        <a:lnTo>
                          <a:pt x="1023" y="428"/>
                        </a:lnTo>
                        <a:lnTo>
                          <a:pt x="1027" y="398"/>
                        </a:lnTo>
                        <a:lnTo>
                          <a:pt x="1019" y="366"/>
                        </a:lnTo>
                        <a:lnTo>
                          <a:pt x="999"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17487" name="Freeform 117"/>
                  <p:cNvSpPr>
                    <a:spLocks/>
                  </p:cNvSpPr>
                  <p:nvPr/>
                </p:nvSpPr>
                <p:spPr bwMode="auto">
                  <a:xfrm>
                    <a:off x="2117" y="3557"/>
                    <a:ext cx="123" cy="245"/>
                  </a:xfrm>
                  <a:custGeom>
                    <a:avLst/>
                    <a:gdLst>
                      <a:gd name="T0" fmla="*/ 0 w 1479"/>
                      <a:gd name="T1" fmla="*/ 0 h 2948"/>
                      <a:gd name="T2" fmla="*/ 0 w 1479"/>
                      <a:gd name="T3" fmla="*/ 0 h 2948"/>
                      <a:gd name="T4" fmla="*/ 0 w 1479"/>
                      <a:gd name="T5" fmla="*/ 0 h 2948"/>
                      <a:gd name="T6" fmla="*/ 0 w 1479"/>
                      <a:gd name="T7" fmla="*/ 0 h 2948"/>
                      <a:gd name="T8" fmla="*/ 0 w 1479"/>
                      <a:gd name="T9" fmla="*/ 0 h 2948"/>
                      <a:gd name="T10" fmla="*/ 0 w 1479"/>
                      <a:gd name="T11" fmla="*/ 0 h 2948"/>
                      <a:gd name="T12" fmla="*/ 0 w 1479"/>
                      <a:gd name="T13" fmla="*/ 0 h 2948"/>
                      <a:gd name="T14" fmla="*/ 0 w 1479"/>
                      <a:gd name="T15" fmla="*/ 0 h 2948"/>
                      <a:gd name="T16" fmla="*/ 0 w 1479"/>
                      <a:gd name="T17" fmla="*/ 0 h 2948"/>
                      <a:gd name="T18" fmla="*/ 0 w 1479"/>
                      <a:gd name="T19" fmla="*/ 0 h 2948"/>
                      <a:gd name="T20" fmla="*/ 0 w 1479"/>
                      <a:gd name="T21" fmla="*/ 0 h 2948"/>
                      <a:gd name="T22" fmla="*/ 0 w 1479"/>
                      <a:gd name="T23" fmla="*/ 0 h 2948"/>
                      <a:gd name="T24" fmla="*/ 0 w 1479"/>
                      <a:gd name="T25" fmla="*/ 0 h 2948"/>
                      <a:gd name="T26" fmla="*/ 0 w 1479"/>
                      <a:gd name="T27" fmla="*/ 0 h 2948"/>
                      <a:gd name="T28" fmla="*/ 0 w 1479"/>
                      <a:gd name="T29" fmla="*/ 0 h 2948"/>
                      <a:gd name="T30" fmla="*/ 0 w 1479"/>
                      <a:gd name="T31" fmla="*/ 0 h 2948"/>
                      <a:gd name="T32" fmla="*/ 0 w 1479"/>
                      <a:gd name="T33" fmla="*/ 0 h 2948"/>
                      <a:gd name="T34" fmla="*/ 0 w 1479"/>
                      <a:gd name="T35" fmla="*/ 0 h 2948"/>
                      <a:gd name="T36" fmla="*/ 0 w 1479"/>
                      <a:gd name="T37" fmla="*/ 0 h 2948"/>
                      <a:gd name="T38" fmla="*/ 0 w 1479"/>
                      <a:gd name="T39" fmla="*/ 0 h 2948"/>
                      <a:gd name="T40" fmla="*/ 0 w 1479"/>
                      <a:gd name="T41" fmla="*/ 0 h 2948"/>
                      <a:gd name="T42" fmla="*/ 0 w 1479"/>
                      <a:gd name="T43" fmla="*/ 0 h 2948"/>
                      <a:gd name="T44" fmla="*/ 0 w 1479"/>
                      <a:gd name="T45" fmla="*/ 0 h 2948"/>
                      <a:gd name="T46" fmla="*/ 0 w 1479"/>
                      <a:gd name="T47" fmla="*/ 0 h 2948"/>
                      <a:gd name="T48" fmla="*/ 0 w 1479"/>
                      <a:gd name="T49" fmla="*/ 0 h 2948"/>
                      <a:gd name="T50" fmla="*/ 0 w 1479"/>
                      <a:gd name="T51" fmla="*/ 0 h 2948"/>
                      <a:gd name="T52" fmla="*/ 0 w 1479"/>
                      <a:gd name="T53" fmla="*/ 0 h 2948"/>
                      <a:gd name="T54" fmla="*/ 0 w 1479"/>
                      <a:gd name="T55" fmla="*/ 0 h 2948"/>
                      <a:gd name="T56" fmla="*/ 0 w 1479"/>
                      <a:gd name="T57" fmla="*/ 0 h 2948"/>
                      <a:gd name="T58" fmla="*/ 0 w 1479"/>
                      <a:gd name="T59" fmla="*/ 0 h 2948"/>
                      <a:gd name="T60" fmla="*/ 0 w 1479"/>
                      <a:gd name="T61" fmla="*/ 0 h 2948"/>
                      <a:gd name="T62" fmla="*/ 0 w 1479"/>
                      <a:gd name="T63" fmla="*/ 0 h 2948"/>
                      <a:gd name="T64" fmla="*/ 0 w 1479"/>
                      <a:gd name="T65" fmla="*/ 0 h 2948"/>
                      <a:gd name="T66" fmla="*/ 0 w 1479"/>
                      <a:gd name="T67" fmla="*/ 0 h 2948"/>
                      <a:gd name="T68" fmla="*/ 0 w 1479"/>
                      <a:gd name="T69" fmla="*/ 0 h 2948"/>
                      <a:gd name="T70" fmla="*/ 0 w 1479"/>
                      <a:gd name="T71" fmla="*/ 0 h 2948"/>
                      <a:gd name="T72" fmla="*/ 0 w 1479"/>
                      <a:gd name="T73" fmla="*/ 0 h 2948"/>
                      <a:gd name="T74" fmla="*/ 0 w 1479"/>
                      <a:gd name="T75" fmla="*/ 0 h 2948"/>
                      <a:gd name="T76" fmla="*/ 0 w 1479"/>
                      <a:gd name="T77" fmla="*/ 0 h 2948"/>
                      <a:gd name="T78" fmla="*/ 0 w 1479"/>
                      <a:gd name="T79" fmla="*/ 0 h 2948"/>
                      <a:gd name="T80" fmla="*/ 0 w 1479"/>
                      <a:gd name="T81" fmla="*/ 0 h 2948"/>
                      <a:gd name="T82" fmla="*/ 0 w 1479"/>
                      <a:gd name="T83" fmla="*/ 0 h 2948"/>
                      <a:gd name="T84" fmla="*/ 0 w 1479"/>
                      <a:gd name="T85" fmla="*/ 0 h 2948"/>
                      <a:gd name="T86" fmla="*/ 0 w 1479"/>
                      <a:gd name="T87" fmla="*/ 0 h 2948"/>
                      <a:gd name="T88" fmla="*/ 0 w 1479"/>
                      <a:gd name="T89" fmla="*/ 0 h 2948"/>
                      <a:gd name="T90" fmla="*/ 0 w 1479"/>
                      <a:gd name="T91" fmla="*/ 0 h 2948"/>
                      <a:gd name="T92" fmla="*/ 0 w 1479"/>
                      <a:gd name="T93" fmla="*/ 0 h 2948"/>
                      <a:gd name="T94" fmla="*/ 0 w 1479"/>
                      <a:gd name="T95" fmla="*/ 0 h 2948"/>
                      <a:gd name="T96" fmla="*/ 0 w 1479"/>
                      <a:gd name="T97" fmla="*/ 0 h 2948"/>
                      <a:gd name="T98" fmla="*/ 0 w 1479"/>
                      <a:gd name="T99" fmla="*/ 0 h 2948"/>
                      <a:gd name="T100" fmla="*/ 0 w 1479"/>
                      <a:gd name="T101" fmla="*/ 0 h 2948"/>
                      <a:gd name="T102" fmla="*/ 0 w 1479"/>
                      <a:gd name="T103" fmla="*/ 0 h 2948"/>
                      <a:gd name="T104" fmla="*/ 0 w 1479"/>
                      <a:gd name="T105" fmla="*/ 0 h 2948"/>
                      <a:gd name="T106" fmla="*/ 0 w 1479"/>
                      <a:gd name="T107" fmla="*/ 0 h 2948"/>
                      <a:gd name="T108" fmla="*/ 0 w 1479"/>
                      <a:gd name="T109" fmla="*/ 0 h 2948"/>
                      <a:gd name="T110" fmla="*/ 0 w 1479"/>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9"/>
                      <a:gd name="T169" fmla="*/ 0 h 2948"/>
                      <a:gd name="T170" fmla="*/ 1479 w 1479"/>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9" h="2948">
                        <a:moveTo>
                          <a:pt x="1479" y="384"/>
                        </a:moveTo>
                        <a:lnTo>
                          <a:pt x="1476" y="353"/>
                        </a:lnTo>
                        <a:lnTo>
                          <a:pt x="1461" y="332"/>
                        </a:lnTo>
                        <a:lnTo>
                          <a:pt x="1438" y="306"/>
                        </a:lnTo>
                        <a:lnTo>
                          <a:pt x="1360" y="255"/>
                        </a:lnTo>
                        <a:lnTo>
                          <a:pt x="1008" y="61"/>
                        </a:lnTo>
                        <a:lnTo>
                          <a:pt x="958" y="38"/>
                        </a:lnTo>
                        <a:lnTo>
                          <a:pt x="926" y="23"/>
                        </a:lnTo>
                        <a:lnTo>
                          <a:pt x="886" y="10"/>
                        </a:lnTo>
                        <a:lnTo>
                          <a:pt x="861" y="3"/>
                        </a:lnTo>
                        <a:lnTo>
                          <a:pt x="825" y="0"/>
                        </a:lnTo>
                        <a:lnTo>
                          <a:pt x="792" y="3"/>
                        </a:lnTo>
                        <a:lnTo>
                          <a:pt x="767" y="6"/>
                        </a:lnTo>
                        <a:lnTo>
                          <a:pt x="730" y="16"/>
                        </a:lnTo>
                        <a:lnTo>
                          <a:pt x="695" y="32"/>
                        </a:lnTo>
                        <a:lnTo>
                          <a:pt x="663" y="54"/>
                        </a:lnTo>
                        <a:lnTo>
                          <a:pt x="630" y="74"/>
                        </a:lnTo>
                        <a:lnTo>
                          <a:pt x="598" y="95"/>
                        </a:lnTo>
                        <a:lnTo>
                          <a:pt x="562" y="121"/>
                        </a:lnTo>
                        <a:lnTo>
                          <a:pt x="528" y="154"/>
                        </a:lnTo>
                        <a:lnTo>
                          <a:pt x="509" y="175"/>
                        </a:lnTo>
                        <a:lnTo>
                          <a:pt x="492" y="201"/>
                        </a:lnTo>
                        <a:lnTo>
                          <a:pt x="481" y="238"/>
                        </a:lnTo>
                        <a:lnTo>
                          <a:pt x="10" y="2307"/>
                        </a:lnTo>
                        <a:lnTo>
                          <a:pt x="0" y="2349"/>
                        </a:lnTo>
                        <a:lnTo>
                          <a:pt x="0" y="2370"/>
                        </a:lnTo>
                        <a:lnTo>
                          <a:pt x="0" y="2396"/>
                        </a:lnTo>
                        <a:lnTo>
                          <a:pt x="1" y="2422"/>
                        </a:lnTo>
                        <a:lnTo>
                          <a:pt x="11" y="2466"/>
                        </a:lnTo>
                        <a:lnTo>
                          <a:pt x="19" y="2485"/>
                        </a:lnTo>
                        <a:lnTo>
                          <a:pt x="38" y="2518"/>
                        </a:lnTo>
                        <a:lnTo>
                          <a:pt x="51" y="2540"/>
                        </a:lnTo>
                        <a:lnTo>
                          <a:pt x="79" y="2571"/>
                        </a:lnTo>
                        <a:lnTo>
                          <a:pt x="111" y="2598"/>
                        </a:lnTo>
                        <a:lnTo>
                          <a:pt x="155" y="2627"/>
                        </a:lnTo>
                        <a:lnTo>
                          <a:pt x="190" y="2650"/>
                        </a:lnTo>
                        <a:lnTo>
                          <a:pt x="717" y="2948"/>
                        </a:lnTo>
                        <a:lnTo>
                          <a:pt x="708" y="2916"/>
                        </a:lnTo>
                        <a:lnTo>
                          <a:pt x="707" y="2885"/>
                        </a:lnTo>
                        <a:lnTo>
                          <a:pt x="712" y="2861"/>
                        </a:lnTo>
                        <a:lnTo>
                          <a:pt x="721" y="2833"/>
                        </a:lnTo>
                        <a:lnTo>
                          <a:pt x="735" y="2805"/>
                        </a:lnTo>
                        <a:lnTo>
                          <a:pt x="753" y="2783"/>
                        </a:lnTo>
                        <a:lnTo>
                          <a:pt x="778" y="2769"/>
                        </a:lnTo>
                        <a:lnTo>
                          <a:pt x="194" y="2433"/>
                        </a:lnTo>
                        <a:lnTo>
                          <a:pt x="175" y="2417"/>
                        </a:lnTo>
                        <a:lnTo>
                          <a:pt x="168" y="2407"/>
                        </a:lnTo>
                        <a:lnTo>
                          <a:pt x="162" y="2391"/>
                        </a:lnTo>
                        <a:lnTo>
                          <a:pt x="157" y="2359"/>
                        </a:lnTo>
                        <a:lnTo>
                          <a:pt x="157" y="2339"/>
                        </a:lnTo>
                        <a:lnTo>
                          <a:pt x="444" y="1110"/>
                        </a:lnTo>
                        <a:lnTo>
                          <a:pt x="473" y="1055"/>
                        </a:lnTo>
                        <a:lnTo>
                          <a:pt x="501" y="1024"/>
                        </a:lnTo>
                        <a:lnTo>
                          <a:pt x="547" y="976"/>
                        </a:lnTo>
                        <a:lnTo>
                          <a:pt x="583" y="941"/>
                        </a:lnTo>
                        <a:lnTo>
                          <a:pt x="1479" y="384"/>
                        </a:lnTo>
                        <a:close/>
                      </a:path>
                    </a:pathLst>
                  </a:custGeom>
                  <a:solidFill>
                    <a:srgbClr val="808080"/>
                  </a:solidFill>
                  <a:ln w="1588">
                    <a:solidFill>
                      <a:srgbClr val="000000"/>
                    </a:solidFill>
                    <a:prstDash val="solid"/>
                    <a:round/>
                    <a:headEnd/>
                    <a:tailEnd/>
                  </a:ln>
                </p:spPr>
                <p:txBody>
                  <a:bodyPr/>
                  <a:lstStyle/>
                  <a:p>
                    <a:endParaRPr lang="en-US"/>
                  </a:p>
                </p:txBody>
              </p:sp>
              <p:sp>
                <p:nvSpPr>
                  <p:cNvPr id="17488" name="Freeform 118"/>
                  <p:cNvSpPr>
                    <a:spLocks/>
                  </p:cNvSpPr>
                  <p:nvPr/>
                </p:nvSpPr>
                <p:spPr bwMode="auto">
                  <a:xfrm>
                    <a:off x="2166" y="3561"/>
                    <a:ext cx="78" cy="109"/>
                  </a:xfrm>
                  <a:custGeom>
                    <a:avLst/>
                    <a:gdLst>
                      <a:gd name="T0" fmla="*/ 0 w 928"/>
                      <a:gd name="T1" fmla="*/ 0 h 1304"/>
                      <a:gd name="T2" fmla="*/ 0 w 928"/>
                      <a:gd name="T3" fmla="*/ 0 h 1304"/>
                      <a:gd name="T4" fmla="*/ 0 w 928"/>
                      <a:gd name="T5" fmla="*/ 0 h 1304"/>
                      <a:gd name="T6" fmla="*/ 0 w 928"/>
                      <a:gd name="T7" fmla="*/ 0 h 1304"/>
                      <a:gd name="T8" fmla="*/ 0 w 928"/>
                      <a:gd name="T9" fmla="*/ 0 h 1304"/>
                      <a:gd name="T10" fmla="*/ 0 w 928"/>
                      <a:gd name="T11" fmla="*/ 0 h 1304"/>
                      <a:gd name="T12" fmla="*/ 0 w 928"/>
                      <a:gd name="T13" fmla="*/ 0 h 1304"/>
                      <a:gd name="T14" fmla="*/ 0 w 928"/>
                      <a:gd name="T15" fmla="*/ 0 h 1304"/>
                      <a:gd name="T16" fmla="*/ 0 w 928"/>
                      <a:gd name="T17" fmla="*/ 0 h 1304"/>
                      <a:gd name="T18" fmla="*/ 0 w 928"/>
                      <a:gd name="T19" fmla="*/ 0 h 1304"/>
                      <a:gd name="T20" fmla="*/ 0 w 928"/>
                      <a:gd name="T21" fmla="*/ 0 h 1304"/>
                      <a:gd name="T22" fmla="*/ 0 w 928"/>
                      <a:gd name="T23" fmla="*/ 0 h 1304"/>
                      <a:gd name="T24" fmla="*/ 0 w 928"/>
                      <a:gd name="T25" fmla="*/ 0 h 1304"/>
                      <a:gd name="T26" fmla="*/ 0 w 928"/>
                      <a:gd name="T27" fmla="*/ 0 h 1304"/>
                      <a:gd name="T28" fmla="*/ 0 w 928"/>
                      <a:gd name="T29" fmla="*/ 0 h 1304"/>
                      <a:gd name="T30" fmla="*/ 0 w 928"/>
                      <a:gd name="T31" fmla="*/ 0 h 1304"/>
                      <a:gd name="T32" fmla="*/ 0 w 928"/>
                      <a:gd name="T33" fmla="*/ 0 h 1304"/>
                      <a:gd name="T34" fmla="*/ 0 w 928"/>
                      <a:gd name="T35" fmla="*/ 0 h 1304"/>
                      <a:gd name="T36" fmla="*/ 0 w 928"/>
                      <a:gd name="T37" fmla="*/ 0 h 1304"/>
                      <a:gd name="T38" fmla="*/ 0 w 928"/>
                      <a:gd name="T39" fmla="*/ 0 h 1304"/>
                      <a:gd name="T40" fmla="*/ 0 w 928"/>
                      <a:gd name="T41" fmla="*/ 0 h 1304"/>
                      <a:gd name="T42" fmla="*/ 0 w 928"/>
                      <a:gd name="T43" fmla="*/ 0 h 1304"/>
                      <a:gd name="T44" fmla="*/ 0 w 928"/>
                      <a:gd name="T45" fmla="*/ 0 h 1304"/>
                      <a:gd name="T46" fmla="*/ 0 w 928"/>
                      <a:gd name="T47" fmla="*/ 0 h 1304"/>
                      <a:gd name="T48" fmla="*/ 0 w 928"/>
                      <a:gd name="T49" fmla="*/ 0 h 1304"/>
                      <a:gd name="T50" fmla="*/ 0 w 928"/>
                      <a:gd name="T51" fmla="*/ 0 h 1304"/>
                      <a:gd name="T52" fmla="*/ 0 w 928"/>
                      <a:gd name="T53" fmla="*/ 0 h 1304"/>
                      <a:gd name="T54" fmla="*/ 0 w 928"/>
                      <a:gd name="T55" fmla="*/ 0 h 1304"/>
                      <a:gd name="T56" fmla="*/ 0 w 928"/>
                      <a:gd name="T57" fmla="*/ 0 h 1304"/>
                      <a:gd name="T58" fmla="*/ 0 w 928"/>
                      <a:gd name="T59" fmla="*/ 0 h 1304"/>
                      <a:gd name="T60" fmla="*/ 0 w 928"/>
                      <a:gd name="T61" fmla="*/ 0 h 1304"/>
                      <a:gd name="T62" fmla="*/ 0 w 928"/>
                      <a:gd name="T63" fmla="*/ 0 h 1304"/>
                      <a:gd name="T64" fmla="*/ 0 w 928"/>
                      <a:gd name="T65" fmla="*/ 0 h 1304"/>
                      <a:gd name="T66" fmla="*/ 0 w 928"/>
                      <a:gd name="T67" fmla="*/ 0 h 1304"/>
                      <a:gd name="T68" fmla="*/ 0 w 928"/>
                      <a:gd name="T69" fmla="*/ 0 h 1304"/>
                      <a:gd name="T70" fmla="*/ 0 w 928"/>
                      <a:gd name="T71" fmla="*/ 0 h 1304"/>
                      <a:gd name="T72" fmla="*/ 0 w 928"/>
                      <a:gd name="T73" fmla="*/ 0 h 1304"/>
                      <a:gd name="T74" fmla="*/ 0 w 928"/>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8"/>
                      <a:gd name="T115" fmla="*/ 0 h 1304"/>
                      <a:gd name="T116" fmla="*/ 928 w 928"/>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8" h="1304">
                        <a:moveTo>
                          <a:pt x="898" y="351"/>
                        </a:moveTo>
                        <a:lnTo>
                          <a:pt x="868" y="315"/>
                        </a:lnTo>
                        <a:lnTo>
                          <a:pt x="821" y="278"/>
                        </a:lnTo>
                        <a:lnTo>
                          <a:pt x="755" y="241"/>
                        </a:lnTo>
                        <a:lnTo>
                          <a:pt x="586" y="148"/>
                        </a:lnTo>
                        <a:lnTo>
                          <a:pt x="400" y="53"/>
                        </a:lnTo>
                        <a:lnTo>
                          <a:pt x="335" y="21"/>
                        </a:lnTo>
                        <a:lnTo>
                          <a:pt x="290" y="6"/>
                        </a:lnTo>
                        <a:lnTo>
                          <a:pt x="255" y="0"/>
                        </a:lnTo>
                        <a:lnTo>
                          <a:pt x="228" y="0"/>
                        </a:lnTo>
                        <a:lnTo>
                          <a:pt x="205" y="5"/>
                        </a:lnTo>
                        <a:lnTo>
                          <a:pt x="182" y="21"/>
                        </a:lnTo>
                        <a:lnTo>
                          <a:pt x="164" y="41"/>
                        </a:lnTo>
                        <a:lnTo>
                          <a:pt x="148" y="76"/>
                        </a:lnTo>
                        <a:lnTo>
                          <a:pt x="0" y="833"/>
                        </a:lnTo>
                        <a:lnTo>
                          <a:pt x="0" y="865"/>
                        </a:lnTo>
                        <a:lnTo>
                          <a:pt x="0" y="906"/>
                        </a:lnTo>
                        <a:lnTo>
                          <a:pt x="7" y="936"/>
                        </a:lnTo>
                        <a:lnTo>
                          <a:pt x="16" y="957"/>
                        </a:lnTo>
                        <a:lnTo>
                          <a:pt x="29" y="978"/>
                        </a:lnTo>
                        <a:lnTo>
                          <a:pt x="57" y="1004"/>
                        </a:lnTo>
                        <a:lnTo>
                          <a:pt x="85" y="1022"/>
                        </a:lnTo>
                        <a:lnTo>
                          <a:pt x="118" y="1041"/>
                        </a:lnTo>
                        <a:lnTo>
                          <a:pt x="558" y="1267"/>
                        </a:lnTo>
                        <a:lnTo>
                          <a:pt x="599" y="1285"/>
                        </a:lnTo>
                        <a:lnTo>
                          <a:pt x="636" y="1295"/>
                        </a:lnTo>
                        <a:lnTo>
                          <a:pt x="678" y="1304"/>
                        </a:lnTo>
                        <a:lnTo>
                          <a:pt x="706" y="1304"/>
                        </a:lnTo>
                        <a:lnTo>
                          <a:pt x="734" y="1295"/>
                        </a:lnTo>
                        <a:lnTo>
                          <a:pt x="755" y="1269"/>
                        </a:lnTo>
                        <a:lnTo>
                          <a:pt x="767" y="1222"/>
                        </a:lnTo>
                        <a:lnTo>
                          <a:pt x="784" y="1162"/>
                        </a:lnTo>
                        <a:lnTo>
                          <a:pt x="860" y="833"/>
                        </a:lnTo>
                        <a:lnTo>
                          <a:pt x="916" y="507"/>
                        </a:lnTo>
                        <a:lnTo>
                          <a:pt x="928" y="431"/>
                        </a:lnTo>
                        <a:lnTo>
                          <a:pt x="925" y="403"/>
                        </a:lnTo>
                        <a:lnTo>
                          <a:pt x="917" y="379"/>
                        </a:lnTo>
                        <a:lnTo>
                          <a:pt x="898" y="351"/>
                        </a:lnTo>
                        <a:close/>
                      </a:path>
                    </a:pathLst>
                  </a:custGeom>
                  <a:solidFill>
                    <a:srgbClr val="606060"/>
                  </a:solidFill>
                  <a:ln w="1588">
                    <a:solidFill>
                      <a:srgbClr val="000000"/>
                    </a:solidFill>
                    <a:prstDash val="solid"/>
                    <a:round/>
                    <a:headEnd/>
                    <a:tailEnd/>
                  </a:ln>
                </p:spPr>
                <p:txBody>
                  <a:bodyPr/>
                  <a:lstStyle/>
                  <a:p>
                    <a:endParaRPr lang="en-US"/>
                  </a:p>
                </p:txBody>
              </p:sp>
              <p:sp>
                <p:nvSpPr>
                  <p:cNvPr id="17489" name="Freeform 119"/>
                  <p:cNvSpPr>
                    <a:spLocks/>
                  </p:cNvSpPr>
                  <p:nvPr/>
                </p:nvSpPr>
                <p:spPr bwMode="auto">
                  <a:xfrm>
                    <a:off x="2126" y="3634"/>
                    <a:ext cx="101"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10" y="431"/>
                        </a:moveTo>
                        <a:lnTo>
                          <a:pt x="1215" y="426"/>
                        </a:lnTo>
                        <a:lnTo>
                          <a:pt x="1156" y="451"/>
                        </a:lnTo>
                        <a:lnTo>
                          <a:pt x="1119" y="467"/>
                        </a:lnTo>
                        <a:lnTo>
                          <a:pt x="1101" y="478"/>
                        </a:lnTo>
                        <a:lnTo>
                          <a:pt x="1073" y="511"/>
                        </a:lnTo>
                        <a:lnTo>
                          <a:pt x="1053" y="552"/>
                        </a:lnTo>
                        <a:lnTo>
                          <a:pt x="772" y="1702"/>
                        </a:lnTo>
                        <a:lnTo>
                          <a:pt x="0" y="1429"/>
                        </a:lnTo>
                        <a:lnTo>
                          <a:pt x="315" y="31"/>
                        </a:lnTo>
                        <a:lnTo>
                          <a:pt x="481" y="0"/>
                        </a:lnTo>
                        <a:lnTo>
                          <a:pt x="1210"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17490" name="Group 135"/>
                  <p:cNvGrpSpPr>
                    <a:grpSpLocks/>
                  </p:cNvGrpSpPr>
                  <p:nvPr/>
                </p:nvGrpSpPr>
                <p:grpSpPr bwMode="auto">
                  <a:xfrm>
                    <a:off x="2183" y="3584"/>
                    <a:ext cx="52" cy="60"/>
                    <a:chOff x="2183" y="3584"/>
                    <a:chExt cx="52" cy="60"/>
                  </a:xfrm>
                </p:grpSpPr>
                <p:sp>
                  <p:nvSpPr>
                    <p:cNvPr id="17510" name="Oval 120"/>
                    <p:cNvSpPr>
                      <a:spLocks noChangeArrowheads="1"/>
                    </p:cNvSpPr>
                    <p:nvPr/>
                  </p:nvSpPr>
                  <p:spPr bwMode="auto">
                    <a:xfrm>
                      <a:off x="2183" y="3584"/>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7511" name="Group 134"/>
                    <p:cNvGrpSpPr>
                      <a:grpSpLocks/>
                    </p:cNvGrpSpPr>
                    <p:nvPr/>
                  </p:nvGrpSpPr>
                  <p:grpSpPr bwMode="auto">
                    <a:xfrm>
                      <a:off x="2196" y="3594"/>
                      <a:ext cx="28" cy="40"/>
                      <a:chOff x="2196" y="3594"/>
                      <a:chExt cx="28" cy="40"/>
                    </a:xfrm>
                  </p:grpSpPr>
                  <p:sp>
                    <p:nvSpPr>
                      <p:cNvPr id="17512" name="Oval 121"/>
                      <p:cNvSpPr>
                        <a:spLocks noChangeArrowheads="1"/>
                      </p:cNvSpPr>
                      <p:nvPr/>
                    </p:nvSpPr>
                    <p:spPr bwMode="auto">
                      <a:xfrm>
                        <a:off x="2208" y="361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13" name="Oval 122"/>
                      <p:cNvSpPr>
                        <a:spLocks noChangeArrowheads="1"/>
                      </p:cNvSpPr>
                      <p:nvPr/>
                    </p:nvSpPr>
                    <p:spPr bwMode="auto">
                      <a:xfrm>
                        <a:off x="2219" y="361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14" name="Oval 123"/>
                      <p:cNvSpPr>
                        <a:spLocks noChangeArrowheads="1"/>
                      </p:cNvSpPr>
                      <p:nvPr/>
                    </p:nvSpPr>
                    <p:spPr bwMode="auto">
                      <a:xfrm>
                        <a:off x="2196" y="362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15" name="Oval 124"/>
                      <p:cNvSpPr>
                        <a:spLocks noChangeArrowheads="1"/>
                      </p:cNvSpPr>
                      <p:nvPr/>
                    </p:nvSpPr>
                    <p:spPr bwMode="auto">
                      <a:xfrm>
                        <a:off x="2205" y="362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16" name="Oval 125"/>
                      <p:cNvSpPr>
                        <a:spLocks noChangeArrowheads="1"/>
                      </p:cNvSpPr>
                      <p:nvPr/>
                    </p:nvSpPr>
                    <p:spPr bwMode="auto">
                      <a:xfrm>
                        <a:off x="2215" y="3630"/>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17" name="Oval 126"/>
                      <p:cNvSpPr>
                        <a:spLocks noChangeArrowheads="1"/>
                      </p:cNvSpPr>
                      <p:nvPr/>
                    </p:nvSpPr>
                    <p:spPr bwMode="auto">
                      <a:xfrm>
                        <a:off x="2202" y="361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18" name="Oval 127"/>
                      <p:cNvSpPr>
                        <a:spLocks noChangeArrowheads="1"/>
                      </p:cNvSpPr>
                      <p:nvPr/>
                    </p:nvSpPr>
                    <p:spPr bwMode="auto">
                      <a:xfrm>
                        <a:off x="2211" y="3621"/>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19" name="Oval 128"/>
                      <p:cNvSpPr>
                        <a:spLocks noChangeArrowheads="1"/>
                      </p:cNvSpPr>
                      <p:nvPr/>
                    </p:nvSpPr>
                    <p:spPr bwMode="auto">
                      <a:xfrm>
                        <a:off x="2201" y="359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20" name="Oval 129"/>
                      <p:cNvSpPr>
                        <a:spLocks noChangeArrowheads="1"/>
                      </p:cNvSpPr>
                      <p:nvPr/>
                    </p:nvSpPr>
                    <p:spPr bwMode="auto">
                      <a:xfrm>
                        <a:off x="2211" y="359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21" name="Oval 130"/>
                      <p:cNvSpPr>
                        <a:spLocks noChangeArrowheads="1"/>
                      </p:cNvSpPr>
                      <p:nvPr/>
                    </p:nvSpPr>
                    <p:spPr bwMode="auto">
                      <a:xfrm>
                        <a:off x="2221" y="360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22" name="Oval 131"/>
                      <p:cNvSpPr>
                        <a:spLocks noChangeArrowheads="1"/>
                      </p:cNvSpPr>
                      <p:nvPr/>
                    </p:nvSpPr>
                    <p:spPr bwMode="auto">
                      <a:xfrm>
                        <a:off x="2198" y="360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23" name="Oval 132"/>
                      <p:cNvSpPr>
                        <a:spLocks noChangeArrowheads="1"/>
                      </p:cNvSpPr>
                      <p:nvPr/>
                    </p:nvSpPr>
                    <p:spPr bwMode="auto">
                      <a:xfrm>
                        <a:off x="2204" y="360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24" name="Oval 133"/>
                      <p:cNvSpPr>
                        <a:spLocks noChangeArrowheads="1"/>
                      </p:cNvSpPr>
                      <p:nvPr/>
                    </p:nvSpPr>
                    <p:spPr bwMode="auto">
                      <a:xfrm>
                        <a:off x="2215" y="360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7491" name="Group 154"/>
                  <p:cNvGrpSpPr>
                    <a:grpSpLocks/>
                  </p:cNvGrpSpPr>
                  <p:nvPr/>
                </p:nvGrpSpPr>
                <p:grpSpPr bwMode="auto">
                  <a:xfrm>
                    <a:off x="2142" y="3655"/>
                    <a:ext cx="68" cy="111"/>
                    <a:chOff x="2142" y="3655"/>
                    <a:chExt cx="68" cy="111"/>
                  </a:xfrm>
                </p:grpSpPr>
                <p:sp>
                  <p:nvSpPr>
                    <p:cNvPr id="17492" name="Oval 136"/>
                    <p:cNvSpPr>
                      <a:spLocks noChangeArrowheads="1"/>
                    </p:cNvSpPr>
                    <p:nvPr/>
                  </p:nvSpPr>
                  <p:spPr bwMode="auto">
                    <a:xfrm>
                      <a:off x="2176" y="375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93" name="Oval 137"/>
                    <p:cNvSpPr>
                      <a:spLocks noChangeArrowheads="1"/>
                    </p:cNvSpPr>
                    <p:nvPr/>
                  </p:nvSpPr>
                  <p:spPr bwMode="auto">
                    <a:xfrm>
                      <a:off x="2163" y="365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94" name="Oval 138"/>
                    <p:cNvSpPr>
                      <a:spLocks noChangeArrowheads="1"/>
                    </p:cNvSpPr>
                    <p:nvPr/>
                  </p:nvSpPr>
                  <p:spPr bwMode="auto">
                    <a:xfrm>
                      <a:off x="2180" y="3663"/>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95" name="Oval 139"/>
                    <p:cNvSpPr>
                      <a:spLocks noChangeArrowheads="1"/>
                    </p:cNvSpPr>
                    <p:nvPr/>
                  </p:nvSpPr>
                  <p:spPr bwMode="auto">
                    <a:xfrm>
                      <a:off x="2196" y="367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96" name="Oval 140"/>
                    <p:cNvSpPr>
                      <a:spLocks noChangeArrowheads="1"/>
                    </p:cNvSpPr>
                    <p:nvPr/>
                  </p:nvSpPr>
                  <p:spPr bwMode="auto">
                    <a:xfrm>
                      <a:off x="2158" y="3672"/>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97" name="Oval 141"/>
                    <p:cNvSpPr>
                      <a:spLocks noChangeArrowheads="1"/>
                    </p:cNvSpPr>
                    <p:nvPr/>
                  </p:nvSpPr>
                  <p:spPr bwMode="auto">
                    <a:xfrm>
                      <a:off x="2176" y="3679"/>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98" name="Oval 142"/>
                    <p:cNvSpPr>
                      <a:spLocks noChangeArrowheads="1"/>
                    </p:cNvSpPr>
                    <p:nvPr/>
                  </p:nvSpPr>
                  <p:spPr bwMode="auto">
                    <a:xfrm>
                      <a:off x="2192" y="368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99" name="Oval 143"/>
                    <p:cNvSpPr>
                      <a:spLocks noChangeArrowheads="1"/>
                    </p:cNvSpPr>
                    <p:nvPr/>
                  </p:nvSpPr>
                  <p:spPr bwMode="auto">
                    <a:xfrm>
                      <a:off x="2154" y="3688"/>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0" name="Oval 144"/>
                    <p:cNvSpPr>
                      <a:spLocks noChangeArrowheads="1"/>
                    </p:cNvSpPr>
                    <p:nvPr/>
                  </p:nvSpPr>
                  <p:spPr bwMode="auto">
                    <a:xfrm>
                      <a:off x="2171" y="369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1" name="Oval 145"/>
                    <p:cNvSpPr>
                      <a:spLocks noChangeArrowheads="1"/>
                    </p:cNvSpPr>
                    <p:nvPr/>
                  </p:nvSpPr>
                  <p:spPr bwMode="auto">
                    <a:xfrm>
                      <a:off x="2188" y="370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2" name="Oval 146"/>
                    <p:cNvSpPr>
                      <a:spLocks noChangeArrowheads="1"/>
                    </p:cNvSpPr>
                    <p:nvPr/>
                  </p:nvSpPr>
                  <p:spPr bwMode="auto">
                    <a:xfrm>
                      <a:off x="2150" y="370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3" name="Oval 147"/>
                    <p:cNvSpPr>
                      <a:spLocks noChangeArrowheads="1"/>
                    </p:cNvSpPr>
                    <p:nvPr/>
                  </p:nvSpPr>
                  <p:spPr bwMode="auto">
                    <a:xfrm>
                      <a:off x="2167" y="371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4" name="Oval 148"/>
                    <p:cNvSpPr>
                      <a:spLocks noChangeArrowheads="1"/>
                    </p:cNvSpPr>
                    <p:nvPr/>
                  </p:nvSpPr>
                  <p:spPr bwMode="auto">
                    <a:xfrm>
                      <a:off x="2184" y="371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5" name="Oval 149"/>
                    <p:cNvSpPr>
                      <a:spLocks noChangeArrowheads="1"/>
                    </p:cNvSpPr>
                    <p:nvPr/>
                  </p:nvSpPr>
                  <p:spPr bwMode="auto">
                    <a:xfrm>
                      <a:off x="2146" y="372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6" name="Oval 150"/>
                    <p:cNvSpPr>
                      <a:spLocks noChangeArrowheads="1"/>
                    </p:cNvSpPr>
                    <p:nvPr/>
                  </p:nvSpPr>
                  <p:spPr bwMode="auto">
                    <a:xfrm>
                      <a:off x="2163" y="372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7" name="Oval 151"/>
                    <p:cNvSpPr>
                      <a:spLocks noChangeArrowheads="1"/>
                    </p:cNvSpPr>
                    <p:nvPr/>
                  </p:nvSpPr>
                  <p:spPr bwMode="auto">
                    <a:xfrm>
                      <a:off x="2180" y="373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8" name="Oval 152"/>
                    <p:cNvSpPr>
                      <a:spLocks noChangeArrowheads="1"/>
                    </p:cNvSpPr>
                    <p:nvPr/>
                  </p:nvSpPr>
                  <p:spPr bwMode="auto">
                    <a:xfrm>
                      <a:off x="2142" y="3736"/>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09" name="Oval 153"/>
                    <p:cNvSpPr>
                      <a:spLocks noChangeArrowheads="1"/>
                    </p:cNvSpPr>
                    <p:nvPr/>
                  </p:nvSpPr>
                  <p:spPr bwMode="auto">
                    <a:xfrm>
                      <a:off x="2160" y="374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7474" name="Group 166"/>
                <p:cNvGrpSpPr>
                  <a:grpSpLocks/>
                </p:cNvGrpSpPr>
                <p:nvPr/>
              </p:nvGrpSpPr>
              <p:grpSpPr bwMode="auto">
                <a:xfrm>
                  <a:off x="2075" y="3614"/>
                  <a:ext cx="81" cy="92"/>
                  <a:chOff x="2075" y="3614"/>
                  <a:chExt cx="81" cy="92"/>
                </a:xfrm>
              </p:grpSpPr>
              <p:grpSp>
                <p:nvGrpSpPr>
                  <p:cNvPr id="17475" name="Group 158"/>
                  <p:cNvGrpSpPr>
                    <a:grpSpLocks/>
                  </p:cNvGrpSpPr>
                  <p:nvPr/>
                </p:nvGrpSpPr>
                <p:grpSpPr bwMode="auto">
                  <a:xfrm>
                    <a:off x="2101" y="3643"/>
                    <a:ext cx="39" cy="42"/>
                    <a:chOff x="2101" y="3643"/>
                    <a:chExt cx="39" cy="42"/>
                  </a:xfrm>
                </p:grpSpPr>
                <p:sp>
                  <p:nvSpPr>
                    <p:cNvPr id="17483" name="Freeform 156"/>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4" name="Freeform 157"/>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476" name="Group 161"/>
                  <p:cNvGrpSpPr>
                    <a:grpSpLocks/>
                  </p:cNvGrpSpPr>
                  <p:nvPr/>
                </p:nvGrpSpPr>
                <p:grpSpPr bwMode="auto">
                  <a:xfrm>
                    <a:off x="2121" y="3625"/>
                    <a:ext cx="30" cy="32"/>
                    <a:chOff x="2121" y="3625"/>
                    <a:chExt cx="30" cy="32"/>
                  </a:xfrm>
                </p:grpSpPr>
                <p:sp>
                  <p:nvSpPr>
                    <p:cNvPr id="17481" name="Freeform 159"/>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w 351"/>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1"/>
                        <a:gd name="T76" fmla="*/ 0 h 390"/>
                        <a:gd name="T77" fmla="*/ 351 w 351"/>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2" name="Freeform 160"/>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1"/>
                        <a:gd name="T73" fmla="*/ 0 h 390"/>
                        <a:gd name="T74" fmla="*/ 351 w 351"/>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477" name="Group 164"/>
                  <p:cNvGrpSpPr>
                    <a:grpSpLocks/>
                  </p:cNvGrpSpPr>
                  <p:nvPr/>
                </p:nvGrpSpPr>
                <p:grpSpPr bwMode="auto">
                  <a:xfrm>
                    <a:off x="2075" y="3670"/>
                    <a:ext cx="62" cy="36"/>
                    <a:chOff x="2075" y="3670"/>
                    <a:chExt cx="62" cy="36"/>
                  </a:xfrm>
                </p:grpSpPr>
                <p:sp>
                  <p:nvSpPr>
                    <p:cNvPr id="17479" name="Freeform 162"/>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0" name="Freeform 163"/>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478" name="Freeform 165"/>
                  <p:cNvSpPr>
                    <a:spLocks/>
                  </p:cNvSpPr>
                  <p:nvPr/>
                </p:nvSpPr>
                <p:spPr bwMode="auto">
                  <a:xfrm>
                    <a:off x="2121" y="3614"/>
                    <a:ext cx="35"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49" y="4"/>
                        </a:lnTo>
                        <a:lnTo>
                          <a:pt x="292" y="6"/>
                        </a:lnTo>
                        <a:lnTo>
                          <a:pt x="340" y="10"/>
                        </a:lnTo>
                        <a:lnTo>
                          <a:pt x="372" y="20"/>
                        </a:lnTo>
                        <a:lnTo>
                          <a:pt x="386" y="35"/>
                        </a:lnTo>
                        <a:lnTo>
                          <a:pt x="399" y="57"/>
                        </a:lnTo>
                        <a:lnTo>
                          <a:pt x="407" y="83"/>
                        </a:lnTo>
                        <a:lnTo>
                          <a:pt x="411" y="116"/>
                        </a:lnTo>
                        <a:lnTo>
                          <a:pt x="414" y="154"/>
                        </a:lnTo>
                        <a:lnTo>
                          <a:pt x="407" y="191"/>
                        </a:lnTo>
                        <a:lnTo>
                          <a:pt x="394" y="221"/>
                        </a:lnTo>
                        <a:lnTo>
                          <a:pt x="375" y="240"/>
                        </a:lnTo>
                        <a:lnTo>
                          <a:pt x="356" y="252"/>
                        </a:lnTo>
                        <a:lnTo>
                          <a:pt x="327" y="260"/>
                        </a:lnTo>
                        <a:lnTo>
                          <a:pt x="299" y="262"/>
                        </a:lnTo>
                        <a:lnTo>
                          <a:pt x="272" y="260"/>
                        </a:lnTo>
                        <a:lnTo>
                          <a:pt x="243" y="233"/>
                        </a:lnTo>
                        <a:lnTo>
                          <a:pt x="224" y="210"/>
                        </a:lnTo>
                        <a:lnTo>
                          <a:pt x="195" y="189"/>
                        </a:lnTo>
                        <a:lnTo>
                          <a:pt x="167" y="172"/>
                        </a:lnTo>
                        <a:lnTo>
                          <a:pt x="135" y="153"/>
                        </a:lnTo>
                        <a:lnTo>
                          <a:pt x="105" y="141"/>
                        </a:lnTo>
                        <a:lnTo>
                          <a:pt x="80" y="134"/>
                        </a:lnTo>
                        <a:lnTo>
                          <a:pt x="56"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grpSp>
        <p:grpSp>
          <p:nvGrpSpPr>
            <p:cNvPr id="17464" name="Group 303"/>
            <p:cNvGrpSpPr>
              <a:grpSpLocks/>
            </p:cNvGrpSpPr>
            <p:nvPr/>
          </p:nvGrpSpPr>
          <p:grpSpPr bwMode="auto">
            <a:xfrm>
              <a:off x="2331" y="3212"/>
              <a:ext cx="333" cy="277"/>
              <a:chOff x="2331" y="3212"/>
              <a:chExt cx="333" cy="277"/>
            </a:xfrm>
          </p:grpSpPr>
          <p:sp>
            <p:nvSpPr>
              <p:cNvPr id="17468" name="Line 301"/>
              <p:cNvSpPr>
                <a:spLocks noChangeShapeType="1"/>
              </p:cNvSpPr>
              <p:nvPr/>
            </p:nvSpPr>
            <p:spPr bwMode="auto">
              <a:xfrm flipV="1">
                <a:off x="2331" y="3212"/>
                <a:ext cx="331" cy="2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9" name="Freeform 302"/>
              <p:cNvSpPr>
                <a:spLocks/>
              </p:cNvSpPr>
              <p:nvPr/>
            </p:nvSpPr>
            <p:spPr bwMode="auto">
              <a:xfrm>
                <a:off x="2587" y="3212"/>
                <a:ext cx="77" cy="72"/>
              </a:xfrm>
              <a:custGeom>
                <a:avLst/>
                <a:gdLst>
                  <a:gd name="T0" fmla="*/ 45 w 77"/>
                  <a:gd name="T1" fmla="*/ 72 h 72"/>
                  <a:gd name="T2" fmla="*/ 77 w 77"/>
                  <a:gd name="T3" fmla="*/ 0 h 72"/>
                  <a:gd name="T4" fmla="*/ 0 w 77"/>
                  <a:gd name="T5" fmla="*/ 19 h 72"/>
                  <a:gd name="T6" fmla="*/ 0 60000 65536"/>
                  <a:gd name="T7" fmla="*/ 0 60000 65536"/>
                  <a:gd name="T8" fmla="*/ 0 60000 65536"/>
                  <a:gd name="T9" fmla="*/ 0 w 77"/>
                  <a:gd name="T10" fmla="*/ 0 h 72"/>
                  <a:gd name="T11" fmla="*/ 77 w 77"/>
                  <a:gd name="T12" fmla="*/ 72 h 72"/>
                </a:gdLst>
                <a:ahLst/>
                <a:cxnLst>
                  <a:cxn ang="T6">
                    <a:pos x="T0" y="T1"/>
                  </a:cxn>
                  <a:cxn ang="T7">
                    <a:pos x="T2" y="T3"/>
                  </a:cxn>
                  <a:cxn ang="T8">
                    <a:pos x="T4" y="T5"/>
                  </a:cxn>
                </a:cxnLst>
                <a:rect l="T9" t="T10" r="T11" b="T12"/>
                <a:pathLst>
                  <a:path w="77" h="72">
                    <a:moveTo>
                      <a:pt x="45" y="72"/>
                    </a:moveTo>
                    <a:lnTo>
                      <a:pt x="77" y="0"/>
                    </a:lnTo>
                    <a:lnTo>
                      <a:pt x="0" y="19"/>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465" name="Rectangle 311"/>
            <p:cNvSpPr>
              <a:spLocks noChangeArrowheads="1"/>
            </p:cNvSpPr>
            <p:nvPr/>
          </p:nvSpPr>
          <p:spPr bwMode="auto">
            <a:xfrm>
              <a:off x="2374" y="3188"/>
              <a:ext cx="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US" altLang="en-US" sz="1400" dirty="0">
                <a:latin typeface="Arial" panose="020B0604020202020204" pitchFamily="34" charset="0"/>
              </a:endParaRPr>
            </a:p>
          </p:txBody>
        </p:sp>
        <p:sp>
          <p:nvSpPr>
            <p:cNvPr id="17466" name="AutoShape 39"/>
            <p:cNvSpPr>
              <a:spLocks noChangeArrowheads="1"/>
            </p:cNvSpPr>
            <p:nvPr/>
          </p:nvSpPr>
          <p:spPr bwMode="auto">
            <a:xfrm>
              <a:off x="2688" y="2359"/>
              <a:ext cx="1366" cy="207"/>
            </a:xfrm>
            <a:prstGeom prst="cube">
              <a:avLst>
                <a:gd name="adj" fmla="val 25000"/>
              </a:avLst>
            </a:prstGeom>
            <a:solidFill>
              <a:srgbClr val="FFFFCC"/>
            </a:solidFill>
            <a:ln w="9525">
              <a:solidFill>
                <a:srgbClr val="000000"/>
              </a:solidFill>
              <a:miter lim="800000"/>
              <a:headEnd/>
              <a:tailEnd/>
            </a:ln>
          </p:spPr>
          <p:txBody>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67" name="Text Box 42"/>
            <p:cNvSpPr txBox="1">
              <a:spLocks noChangeArrowheads="1"/>
            </p:cNvSpPr>
            <p:nvPr/>
          </p:nvSpPr>
          <p:spPr bwMode="auto">
            <a:xfrm>
              <a:off x="2450" y="2298"/>
              <a:ext cx="19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dirty="0"/>
                <a:t>f</a:t>
              </a:r>
              <a:r>
                <a:rPr lang="en-GB" altLang="en-US" sz="1400" baseline="-25000" dirty="0"/>
                <a:t>1</a:t>
              </a:r>
              <a:endParaRPr lang="en-US" altLang="en-US" sz="1400" dirty="0"/>
            </a:p>
          </p:txBody>
        </p:sp>
      </p:grpSp>
      <p:sp>
        <p:nvSpPr>
          <p:cNvPr id="17459" name="Text Box 43"/>
          <p:cNvSpPr txBox="1">
            <a:spLocks noChangeArrowheads="1"/>
          </p:cNvSpPr>
          <p:nvPr/>
        </p:nvSpPr>
        <p:spPr bwMode="auto">
          <a:xfrm>
            <a:off x="5562292" y="2594398"/>
            <a:ext cx="3032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dirty="0"/>
              <a:t>f</a:t>
            </a:r>
            <a:r>
              <a:rPr lang="en-GB" altLang="en-US" sz="1400" baseline="-25000" dirty="0"/>
              <a:t>2</a:t>
            </a:r>
            <a:endParaRPr lang="en-US" altLang="en-US" sz="1400" dirty="0"/>
          </a:p>
        </p:txBody>
      </p:sp>
      <p:sp>
        <p:nvSpPr>
          <p:cNvPr id="17460" name="Text Box 44"/>
          <p:cNvSpPr txBox="1">
            <a:spLocks noChangeArrowheads="1"/>
          </p:cNvSpPr>
          <p:nvPr/>
        </p:nvSpPr>
        <p:spPr bwMode="auto">
          <a:xfrm>
            <a:off x="5924242" y="2308648"/>
            <a:ext cx="3032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dirty="0"/>
              <a:t>f</a:t>
            </a:r>
            <a:r>
              <a:rPr lang="en-GB" altLang="en-US" sz="1400" baseline="-25000" dirty="0"/>
              <a:t>3</a:t>
            </a:r>
            <a:endParaRPr lang="en-US" altLang="en-US" sz="1400" dirty="0"/>
          </a:p>
        </p:txBody>
      </p:sp>
      <p:sp>
        <p:nvSpPr>
          <p:cNvPr id="299" name="Title 1">
            <a:extLst>
              <a:ext uri="{FF2B5EF4-FFF2-40B4-BE49-F238E27FC236}">
                <a16:creationId xmlns:a16="http://schemas.microsoft.com/office/drawing/2014/main" id="{E91F8F94-946B-4651-B0BA-22C8F96DB856}"/>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 (FDMA)</a:t>
            </a:r>
          </a:p>
        </p:txBody>
      </p:sp>
      <p:sp>
        <p:nvSpPr>
          <p:cNvPr id="305" name="Rectangle 304">
            <a:extLst>
              <a:ext uri="{FF2B5EF4-FFF2-40B4-BE49-F238E27FC236}">
                <a16:creationId xmlns:a16="http://schemas.microsoft.com/office/drawing/2014/main" id="{09393DAC-7B36-41D7-9928-A1B1985D9363}"/>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3" name="Pg21a">
            <a:hlinkClick r:id="" action="ppaction://media"/>
            <a:extLst>
              <a:ext uri="{FF2B5EF4-FFF2-40B4-BE49-F238E27FC236}">
                <a16:creationId xmlns:a16="http://schemas.microsoft.com/office/drawing/2014/main" id="{E057AB3B-B6C4-4C5A-B55B-F750C85027F0}"/>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9823018" y="5447978"/>
            <a:ext cx="609600" cy="609600"/>
          </a:xfrm>
          <a:prstGeom prst="rect">
            <a:avLst/>
          </a:prstGeom>
        </p:spPr>
      </p:pic>
      <p:pic>
        <p:nvPicPr>
          <p:cNvPr id="4" name="Pg21b">
            <a:hlinkClick r:id="" action="ppaction://media"/>
            <a:extLst>
              <a:ext uri="{FF2B5EF4-FFF2-40B4-BE49-F238E27FC236}">
                <a16:creationId xmlns:a16="http://schemas.microsoft.com/office/drawing/2014/main" id="{EE7A82F8-5243-49B9-B11D-3B3984887815}"/>
              </a:ext>
            </a:extLst>
          </p:cNvPr>
          <p:cNvPicPr>
            <a:picLocks noChangeAspect="1"/>
          </p:cNvPicPr>
          <p:nvPr>
            <a:audioFile r:link="rId4"/>
            <p:extLst>
              <p:ext uri="{DAA4B4D4-6D71-4841-9C94-3DE7FCFB9230}">
                <p14:media xmlns:p14="http://schemas.microsoft.com/office/powerpoint/2010/main" r:embed="rId3"/>
              </p:ext>
            </p:extLst>
          </p:nvPr>
        </p:nvPicPr>
        <p:blipFill>
          <a:blip r:embed="rId11"/>
          <a:stretch>
            <a:fillRect/>
          </a:stretch>
        </p:blipFill>
        <p:spPr>
          <a:xfrm>
            <a:off x="9822085" y="5418502"/>
            <a:ext cx="609600" cy="609600"/>
          </a:xfrm>
          <a:prstGeom prst="rect">
            <a:avLst/>
          </a:prstGeom>
        </p:spPr>
      </p:pic>
      <p:pic>
        <p:nvPicPr>
          <p:cNvPr id="6" name="Pg21c">
            <a:hlinkClick r:id="" action="ppaction://media"/>
            <a:extLst>
              <a:ext uri="{FF2B5EF4-FFF2-40B4-BE49-F238E27FC236}">
                <a16:creationId xmlns:a16="http://schemas.microsoft.com/office/drawing/2014/main" id="{ECF66BEA-8F48-4F3F-9334-C90E04E93095}"/>
              </a:ext>
            </a:extLst>
          </p:cNvPr>
          <p:cNvPicPr>
            <a:picLocks noChangeAspect="1"/>
          </p:cNvPicPr>
          <p:nvPr>
            <a:audioFile r:link="rId6"/>
            <p:extLst>
              <p:ext uri="{DAA4B4D4-6D71-4841-9C94-3DE7FCFB9230}">
                <p14:media xmlns:p14="http://schemas.microsoft.com/office/powerpoint/2010/main" r:embed="rId5"/>
              </p:ext>
            </p:extLst>
          </p:nvPr>
        </p:nvPicPr>
        <p:blipFill>
          <a:blip r:embed="rId11"/>
          <a:stretch>
            <a:fillRect/>
          </a:stretch>
        </p:blipFill>
        <p:spPr>
          <a:xfrm>
            <a:off x="9820855" y="5440472"/>
            <a:ext cx="609600" cy="609600"/>
          </a:xfrm>
          <a:prstGeom prst="rect">
            <a:avLst/>
          </a:prstGeom>
        </p:spPr>
      </p:pic>
      <p:pic>
        <p:nvPicPr>
          <p:cNvPr id="7" name="Pg21">
            <a:hlinkClick r:id="" action="ppaction://media"/>
            <a:extLst>
              <a:ext uri="{FF2B5EF4-FFF2-40B4-BE49-F238E27FC236}">
                <a16:creationId xmlns:a16="http://schemas.microsoft.com/office/drawing/2014/main" id="{48CBD035-D818-433D-A63C-1C49AD19F694}"/>
              </a:ext>
            </a:extLst>
          </p:cNvPr>
          <p:cNvPicPr>
            <a:picLocks noChangeAspect="1"/>
          </p:cNvPicPr>
          <p:nvPr>
            <a:audioFile r:link="rId8"/>
            <p:extLst>
              <p:ext uri="{DAA4B4D4-6D71-4841-9C94-3DE7FCFB9230}">
                <p14:media xmlns:p14="http://schemas.microsoft.com/office/powerpoint/2010/main" r:embed="rId7"/>
              </p:ext>
            </p:extLst>
          </p:nvPr>
        </p:nvPicPr>
        <p:blipFill>
          <a:blip r:embed="rId11"/>
          <a:stretch>
            <a:fillRect/>
          </a:stretch>
        </p:blipFill>
        <p:spPr>
          <a:xfrm>
            <a:off x="9820855" y="5466055"/>
            <a:ext cx="609600" cy="609600"/>
          </a:xfrm>
          <a:prstGeom prst="rect">
            <a:avLst/>
          </a:prstGeom>
        </p:spPr>
      </p:pic>
      <p:sp>
        <p:nvSpPr>
          <p:cNvPr id="300" name="Rectangle 65">
            <a:extLst>
              <a:ext uri="{FF2B5EF4-FFF2-40B4-BE49-F238E27FC236}">
                <a16:creationId xmlns:a16="http://schemas.microsoft.com/office/drawing/2014/main" id="{857C5F0B-874D-49D6-BEAE-568479C19003}"/>
              </a:ext>
            </a:extLst>
          </p:cNvPr>
          <p:cNvSpPr>
            <a:spLocks noChangeArrowheads="1"/>
          </p:cNvSpPr>
          <p:nvPr/>
        </p:nvSpPr>
        <p:spPr bwMode="auto">
          <a:xfrm>
            <a:off x="5106662" y="4316326"/>
            <a:ext cx="27774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latin typeface="Arial" panose="020B0604020202020204" pitchFamily="34" charset="0"/>
              </a:rPr>
              <a:t>f</a:t>
            </a:r>
            <a:r>
              <a:rPr lang="en-US" altLang="en-US" sz="1400" baseline="-25000" dirty="0">
                <a:solidFill>
                  <a:srgbClr val="000000"/>
                </a:solidFill>
                <a:latin typeface="Arial" panose="020B0604020202020204" pitchFamily="34" charset="0"/>
              </a:rPr>
              <a:t>1</a:t>
            </a:r>
            <a:endParaRPr lang="en-US" altLang="en-US" sz="1400" baseline="-25000" dirty="0">
              <a:latin typeface="Arial" panose="020B0604020202020204" pitchFamily="34" charset="0"/>
            </a:endParaRPr>
          </a:p>
        </p:txBody>
      </p:sp>
      <p:sp>
        <p:nvSpPr>
          <p:cNvPr id="301" name="Rectangle 65">
            <a:extLst>
              <a:ext uri="{FF2B5EF4-FFF2-40B4-BE49-F238E27FC236}">
                <a16:creationId xmlns:a16="http://schemas.microsoft.com/office/drawing/2014/main" id="{DEA32797-221E-4E3F-8815-0224C7D58F33}"/>
              </a:ext>
            </a:extLst>
          </p:cNvPr>
          <p:cNvSpPr>
            <a:spLocks noChangeArrowheads="1"/>
          </p:cNvSpPr>
          <p:nvPr/>
        </p:nvSpPr>
        <p:spPr bwMode="auto">
          <a:xfrm>
            <a:off x="2130526" y="2780688"/>
            <a:ext cx="27774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latin typeface="Arial" panose="020B0604020202020204" pitchFamily="34" charset="0"/>
              </a:rPr>
              <a:t>f</a:t>
            </a:r>
            <a:r>
              <a:rPr lang="en-US" altLang="en-US" sz="1400" baseline="-25000" dirty="0">
                <a:solidFill>
                  <a:srgbClr val="000000"/>
                </a:solidFill>
                <a:latin typeface="Arial" panose="020B0604020202020204" pitchFamily="34" charset="0"/>
              </a:rPr>
              <a:t>2</a:t>
            </a:r>
            <a:endParaRPr lang="en-US" altLang="en-US" sz="1400" baseline="-25000" dirty="0">
              <a:latin typeface="Arial" panose="020B0604020202020204" pitchFamily="34" charset="0"/>
            </a:endParaRPr>
          </a:p>
        </p:txBody>
      </p:sp>
      <p:sp>
        <p:nvSpPr>
          <p:cNvPr id="302" name="Rectangle 65">
            <a:extLst>
              <a:ext uri="{FF2B5EF4-FFF2-40B4-BE49-F238E27FC236}">
                <a16:creationId xmlns:a16="http://schemas.microsoft.com/office/drawing/2014/main" id="{FB1F0586-B2BC-41C3-B046-A738A0E6BA33}"/>
              </a:ext>
            </a:extLst>
          </p:cNvPr>
          <p:cNvSpPr>
            <a:spLocks noChangeArrowheads="1"/>
          </p:cNvSpPr>
          <p:nvPr/>
        </p:nvSpPr>
        <p:spPr bwMode="auto">
          <a:xfrm>
            <a:off x="2121566" y="2413145"/>
            <a:ext cx="27774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latin typeface="Arial" panose="020B0604020202020204" pitchFamily="34" charset="0"/>
              </a:rPr>
              <a:t>f</a:t>
            </a:r>
            <a:r>
              <a:rPr lang="en-US" altLang="en-US" sz="1400" baseline="-25000" dirty="0">
                <a:solidFill>
                  <a:srgbClr val="000000"/>
                </a:solidFill>
                <a:latin typeface="Arial" panose="020B0604020202020204" pitchFamily="34" charset="0"/>
              </a:rPr>
              <a:t>3</a:t>
            </a:r>
            <a:endParaRPr lang="en-US" altLang="en-US" sz="1400" baseline="-25000" dirty="0">
              <a:latin typeface="Arial" panose="020B0604020202020204" pitchFamily="34" charset="0"/>
            </a:endParaRPr>
          </a:p>
        </p:txBody>
      </p:sp>
      <p:sp>
        <p:nvSpPr>
          <p:cNvPr id="306" name="Text Box 43">
            <a:extLst>
              <a:ext uri="{FF2B5EF4-FFF2-40B4-BE49-F238E27FC236}">
                <a16:creationId xmlns:a16="http://schemas.microsoft.com/office/drawing/2014/main" id="{5D69B404-1BA9-46F4-A7E0-FA57061B982C}"/>
              </a:ext>
            </a:extLst>
          </p:cNvPr>
          <p:cNvSpPr txBox="1">
            <a:spLocks noChangeArrowheads="1"/>
          </p:cNvSpPr>
          <p:nvPr/>
        </p:nvSpPr>
        <p:spPr bwMode="auto">
          <a:xfrm>
            <a:off x="5715322" y="4836054"/>
            <a:ext cx="3032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dirty="0"/>
              <a:t>f</a:t>
            </a:r>
            <a:r>
              <a:rPr lang="en-GB" altLang="en-US" sz="1400" baseline="-25000" dirty="0"/>
              <a:t>2</a:t>
            </a:r>
            <a:endParaRPr lang="en-US" altLang="en-US" sz="1400" dirty="0"/>
          </a:p>
        </p:txBody>
      </p:sp>
      <p:sp>
        <p:nvSpPr>
          <p:cNvPr id="307" name="Text Box 44">
            <a:extLst>
              <a:ext uri="{FF2B5EF4-FFF2-40B4-BE49-F238E27FC236}">
                <a16:creationId xmlns:a16="http://schemas.microsoft.com/office/drawing/2014/main" id="{A0D05F99-9E62-440C-A6D4-4063FC53772F}"/>
              </a:ext>
            </a:extLst>
          </p:cNvPr>
          <p:cNvSpPr txBox="1">
            <a:spLocks noChangeArrowheads="1"/>
          </p:cNvSpPr>
          <p:nvPr/>
        </p:nvSpPr>
        <p:spPr bwMode="auto">
          <a:xfrm>
            <a:off x="6378975" y="3990814"/>
            <a:ext cx="3032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SzPct val="85000"/>
              <a:buBlip>
                <a:blip r:embed="rId10"/>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dirty="0"/>
              <a:t>f</a:t>
            </a:r>
            <a:r>
              <a:rPr lang="en-GB" altLang="en-US" sz="1400" baseline="-25000" dirty="0"/>
              <a:t>3</a:t>
            </a:r>
            <a:endParaRPr lang="en-US" altLang="en-US" sz="1400" dirty="0"/>
          </a:p>
        </p:txBody>
      </p:sp>
      <p:sp>
        <p:nvSpPr>
          <p:cNvPr id="309" name="Rectangle 308">
            <a:extLst>
              <a:ext uri="{FF2B5EF4-FFF2-40B4-BE49-F238E27FC236}">
                <a16:creationId xmlns:a16="http://schemas.microsoft.com/office/drawing/2014/main" id="{0F90C586-6911-4E72-AB68-B561B96696BC}"/>
              </a:ext>
            </a:extLst>
          </p:cNvPr>
          <p:cNvSpPr/>
          <p:nvPr/>
        </p:nvSpPr>
        <p:spPr>
          <a:xfrm>
            <a:off x="715472" y="1109581"/>
            <a:ext cx="6547049" cy="523220"/>
          </a:xfrm>
          <a:prstGeom prst="rect">
            <a:avLst/>
          </a:prstGeom>
        </p:spPr>
        <p:txBody>
          <a:bodyPr wrap="none">
            <a:spAutoFit/>
          </a:bodyPr>
          <a:lstStyle/>
          <a:p>
            <a:r>
              <a:rPr lang="en-SG" sz="2800" b="1" dirty="0">
                <a:solidFill>
                  <a:srgbClr val="00B050"/>
                </a:solidFill>
                <a:latin typeface="Calibri" panose="020F0502020204030204" pitchFamily="34" charset="0"/>
                <a:cs typeface="Calibri" panose="020F0502020204030204" pitchFamily="34" charset="0"/>
              </a:rPr>
              <a:t>F</a:t>
            </a:r>
            <a:r>
              <a:rPr lang="en-SG" sz="2800" dirty="0">
                <a:latin typeface="Calibri" panose="020F0502020204030204" pitchFamily="34" charset="0"/>
                <a:cs typeface="Calibri" panose="020F0502020204030204" pitchFamily="34" charset="0"/>
              </a:rPr>
              <a:t>requency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FDMA</a:t>
            </a:r>
            <a:r>
              <a:rPr lang="en-SG" sz="2800" dirty="0">
                <a:latin typeface="Calibri" panose="020F0502020204030204" pitchFamily="34" charset="0"/>
                <a:cs typeface="Calibri" panose="020F0502020204030204" pitchFamily="34" charset="0"/>
              </a:rPr>
              <a:t>)</a:t>
            </a:r>
            <a:endParaRPr lang="en-US" sz="2800" dirty="0"/>
          </a:p>
        </p:txBody>
      </p:sp>
      <p:sp>
        <p:nvSpPr>
          <p:cNvPr id="9" name="Rectangle 8">
            <a:extLst>
              <a:ext uri="{FF2B5EF4-FFF2-40B4-BE49-F238E27FC236}">
                <a16:creationId xmlns:a16="http://schemas.microsoft.com/office/drawing/2014/main" id="{3D2F4F33-2E72-B2FF-899E-158C3B8027FA}"/>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5571814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withEffect">
                                  <p:stCondLst>
                                    <p:cond delay="0"/>
                                  </p:stCondLst>
                                  <p:childTnLst>
                                    <p:cmd type="call" cmd="playFrom(0.0)">
                                      <p:cBhvr>
                                        <p:cTn id="6" dur="4022"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293"/>
                                        </p:tgtEl>
                                        <p:attrNameLst>
                                          <p:attrName>style.visibility</p:attrName>
                                        </p:attrNameLst>
                                      </p:cBhvr>
                                      <p:to>
                                        <p:strVal val="visible"/>
                                      </p:to>
                                    </p:set>
                                    <p:animEffect transition="in" filter="dissolve">
                                      <p:cBhvr>
                                        <p:cTn id="11" dur="500"/>
                                        <p:tgtEl>
                                          <p:spTgt spid="293"/>
                                        </p:tgtEl>
                                      </p:cBhvr>
                                    </p:animEffect>
                                  </p:childTnLst>
                                </p:cTn>
                              </p:par>
                              <p:par>
                                <p:cTn id="12" presetID="1"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0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745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7457"/>
                                        </p:tgtEl>
                                        <p:attrNameLst>
                                          <p:attrName>style.visibility</p:attrName>
                                        </p:attrNameLst>
                                      </p:cBhvr>
                                      <p:to>
                                        <p:strVal val="visible"/>
                                      </p:to>
                                    </p:set>
                                  </p:childTnLst>
                                </p:cTn>
                              </p:par>
                              <p:par>
                                <p:cTn id="22" presetID="1" presetClass="mediacall" presetSubtype="0" fill="hold" nodeType="withEffect">
                                  <p:stCondLst>
                                    <p:cond delay="0"/>
                                  </p:stCondLst>
                                  <p:childTnLst>
                                    <p:cmd type="call" cmd="playFrom(0.0)">
                                      <p:cBhvr>
                                        <p:cTn id="23" dur="3631" fill="hold"/>
                                        <p:tgtEl>
                                          <p:spTgt spid="3"/>
                                        </p:tgtEl>
                                      </p:cBhvr>
                                    </p:cmd>
                                  </p:childTnLst>
                                </p:cTn>
                              </p:par>
                              <p:par>
                                <p:cTn id="24" presetID="1" presetClass="entr" presetSubtype="0" fill="hold" nodeType="withEffect">
                                  <p:stCondLst>
                                    <p:cond delay="0"/>
                                  </p:stCondLst>
                                  <p:childTnLst>
                                    <p:set>
                                      <p:cBhvr>
                                        <p:cTn id="25" dur="1" fill="hold">
                                          <p:stCondLst>
                                            <p:cond delay="0"/>
                                          </p:stCondLst>
                                        </p:cTn>
                                        <p:tgtEl>
                                          <p:spTgt spid="1744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745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par>
                                <p:cTn id="33" presetID="1" presetClass="mediacall" presetSubtype="0" fill="hold" nodeType="withEffect">
                                  <p:stCondLst>
                                    <p:cond delay="0"/>
                                  </p:stCondLst>
                                  <p:childTnLst>
                                    <p:cmd type="call" cmd="playFrom(0.0)">
                                      <p:cBhvr>
                                        <p:cTn id="34" dur="5851" fill="hold"/>
                                        <p:tgtEl>
                                          <p:spTgt spid="4"/>
                                        </p:tgtEl>
                                      </p:cBhvr>
                                    </p:cmd>
                                  </p:childTnLst>
                                </p:cTn>
                              </p:par>
                              <p:par>
                                <p:cTn id="35" presetID="1" presetClass="entr" presetSubtype="0" fill="hold" grpId="0" nodeType="withEffect">
                                  <p:stCondLst>
                                    <p:cond delay="0"/>
                                  </p:stCondLst>
                                  <p:childTnLst>
                                    <p:set>
                                      <p:cBhvr>
                                        <p:cTn id="36" dur="1" fill="hold">
                                          <p:stCondLst>
                                            <p:cond delay="0"/>
                                          </p:stCondLst>
                                        </p:cTn>
                                        <p:tgtEl>
                                          <p:spTgt spid="3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45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dissolve">
                                      <p:cBhvr>
                                        <p:cTn id="45" dur="500"/>
                                        <p:tgtEl>
                                          <p:spTgt spid="5"/>
                                        </p:tgtEl>
                                      </p:cBhvr>
                                    </p:animEffect>
                                  </p:childTnLst>
                                </p:cTn>
                              </p:par>
                              <p:par>
                                <p:cTn id="46" presetID="1" presetClass="mediacall" presetSubtype="0" fill="hold" nodeType="withEffect">
                                  <p:stCondLst>
                                    <p:cond delay="0"/>
                                  </p:stCondLst>
                                  <p:childTnLst>
                                    <p:cmd type="call" cmd="playFrom(0.0)">
                                      <p:cBhvr>
                                        <p:cTn id="47" dur="20506" fill="hold"/>
                                        <p:tgtEl>
                                          <p:spTgt spid="6"/>
                                        </p:tgtEl>
                                      </p:cBhvr>
                                    </p:cmd>
                                  </p:childTnLst>
                                </p:cTn>
                              </p:par>
                              <p:par>
                                <p:cTn id="48" presetID="1" presetClass="entr" presetSubtype="0" fill="hold" grpId="0" nodeType="withEffect">
                                  <p:stCondLst>
                                    <p:cond delay="0"/>
                                  </p:stCondLst>
                                  <p:childTnLst>
                                    <p:set>
                                      <p:cBhvr>
                                        <p:cTn id="49" dur="1" fill="hold">
                                          <p:stCondLst>
                                            <p:cond delay="0"/>
                                          </p:stCondLst>
                                        </p:cTn>
                                        <p:tgtEl>
                                          <p:spTgt spid="30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746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p:cTn id="54" fill="hold" display="0">
                  <p:stCondLst>
                    <p:cond delay="indefinite"/>
                  </p:stCondLst>
                  <p:endCondLst>
                    <p:cond evt="onStopAudio" delay="0">
                      <p:tgtEl>
                        <p:sldTgt/>
                      </p:tgtEl>
                    </p:cond>
                  </p:endCondLst>
                </p:cTn>
                <p:tgtEl>
                  <p:spTgt spid="3"/>
                </p:tgtEl>
              </p:cMediaNode>
            </p:audio>
            <p:audio>
              <p:cMediaNode vol="80000">
                <p:cTn id="55" fill="hold" display="0">
                  <p:stCondLst>
                    <p:cond delay="indefinite"/>
                  </p:stCondLst>
                  <p:endCondLst>
                    <p:cond evt="onStopAudio" delay="0">
                      <p:tgtEl>
                        <p:sldTgt/>
                      </p:tgtEl>
                    </p:cond>
                  </p:endCondLst>
                </p:cTn>
                <p:tgtEl>
                  <p:spTgt spid="4"/>
                </p:tgtEl>
              </p:cMediaNode>
            </p:audio>
            <p:audio>
              <p:cMediaNode vol="80000">
                <p:cTn id="56" fill="hold" display="0">
                  <p:stCondLst>
                    <p:cond delay="indefinite"/>
                  </p:stCondLst>
                  <p:endCondLst>
                    <p:cond evt="onStopAudio" delay="0">
                      <p:tgtEl>
                        <p:sldTgt/>
                      </p:tgtEl>
                    </p:cond>
                  </p:endCondLst>
                </p:cTn>
                <p:tgtEl>
                  <p:spTgt spid="6"/>
                </p:tgtEl>
              </p:cMediaNode>
            </p:audio>
            <p:audio>
              <p:cMediaNode vol="80000">
                <p:cTn id="57" fill="hold" display="0">
                  <p:stCondLst>
                    <p:cond delay="indefinite"/>
                  </p:stCondLst>
                  <p:endCondLst>
                    <p:cond evt="onStopAudio" delay="0">
                      <p:tgtEl>
                        <p:sldTgt/>
                      </p:tgtEl>
                    </p:cond>
                  </p:endCondLst>
                </p:cTn>
                <p:tgtEl>
                  <p:spTgt spid="7"/>
                </p:tgtEl>
              </p:cMediaNode>
            </p:audio>
          </p:childTnLst>
        </p:cTn>
      </p:par>
    </p:tnLst>
    <p:bldLst>
      <p:bldP spid="17453" grpId="0" animBg="1"/>
      <p:bldP spid="17456" grpId="0"/>
      <p:bldP spid="17457" grpId="0"/>
      <p:bldP spid="17459" grpId="0"/>
      <p:bldP spid="17460" grpId="0"/>
      <p:bldP spid="300" grpId="0"/>
      <p:bldP spid="301" grpId="0"/>
      <p:bldP spid="302" grpId="0"/>
      <p:bldP spid="306" grpId="0"/>
      <p:bldP spid="30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5A0F04A-AA5D-4A30-85ED-5F50A6D9D5AC}"/>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 (TDMA)</a:t>
            </a:r>
          </a:p>
        </p:txBody>
      </p:sp>
      <p:pic>
        <p:nvPicPr>
          <p:cNvPr id="4" name="Picture 3">
            <a:extLst>
              <a:ext uri="{FF2B5EF4-FFF2-40B4-BE49-F238E27FC236}">
                <a16:creationId xmlns:a16="http://schemas.microsoft.com/office/drawing/2014/main" id="{A59B0671-E3DC-4F32-B38C-D6549D2D1E30}"/>
              </a:ext>
            </a:extLst>
          </p:cNvPr>
          <p:cNvPicPr>
            <a:picLocks noChangeAspect="1"/>
          </p:cNvPicPr>
          <p:nvPr/>
        </p:nvPicPr>
        <p:blipFill>
          <a:blip r:embed="rId4"/>
          <a:stretch>
            <a:fillRect/>
          </a:stretch>
        </p:blipFill>
        <p:spPr>
          <a:xfrm>
            <a:off x="5714857" y="1668504"/>
            <a:ext cx="5653424" cy="3520992"/>
          </a:xfrm>
          <a:prstGeom prst="rect">
            <a:avLst/>
          </a:prstGeom>
        </p:spPr>
      </p:pic>
      <p:sp>
        <p:nvSpPr>
          <p:cNvPr id="14" name="Rectangle 13">
            <a:extLst>
              <a:ext uri="{FF2B5EF4-FFF2-40B4-BE49-F238E27FC236}">
                <a16:creationId xmlns:a16="http://schemas.microsoft.com/office/drawing/2014/main" id="{0824BC6B-B020-4982-AB10-AE28F2379BA6}"/>
              </a:ext>
            </a:extLst>
          </p:cNvPr>
          <p:cNvSpPr/>
          <p:nvPr/>
        </p:nvSpPr>
        <p:spPr>
          <a:xfrm>
            <a:off x="653580" y="1958728"/>
            <a:ext cx="5319692" cy="3724096"/>
          </a:xfrm>
          <a:prstGeom prst="rect">
            <a:avLst/>
          </a:prstGeom>
        </p:spPr>
        <p:txBody>
          <a:bodyPr wrap="square">
            <a:spAutoFit/>
          </a:bodyPr>
          <a:lstStyle/>
          <a:p>
            <a:pPr marL="342900" indent="-342900">
              <a:spcBef>
                <a:spcPct val="0"/>
              </a:spcBef>
              <a:buSzTx/>
              <a:buFont typeface="Arial" panose="020B0604020202020204" pitchFamily="34" charset="0"/>
              <a:buChar char="•"/>
            </a:pPr>
            <a:r>
              <a:rPr lang="en-US" altLang="en-US" sz="2800" dirty="0">
                <a:cs typeface="Times New Roman" panose="02020603050405020304" pitchFamily="18" charset="0"/>
              </a:rPr>
              <a:t>Each user is assigned </a:t>
            </a:r>
            <a:r>
              <a:rPr lang="en-US" altLang="en-US" sz="2800" b="1" dirty="0">
                <a:solidFill>
                  <a:srgbClr val="FF0000"/>
                </a:solidFill>
                <a:cs typeface="Times New Roman" panose="02020603050405020304" pitchFamily="18" charset="0"/>
              </a:rPr>
              <a:t>unique time but same frequency </a:t>
            </a:r>
            <a:r>
              <a:rPr lang="en-US" altLang="en-US" sz="2800" dirty="0">
                <a:solidFill>
                  <a:srgbClr val="0070C0"/>
                </a:solidFill>
                <a:cs typeface="Times New Roman" panose="02020603050405020304" pitchFamily="18" charset="0"/>
              </a:rPr>
              <a:t>for communication </a:t>
            </a:r>
            <a:r>
              <a:rPr lang="en-US" altLang="en-US" sz="2800" dirty="0">
                <a:cs typeface="Times New Roman" panose="02020603050405020304" pitchFamily="18" charset="0"/>
              </a:rPr>
              <a:t>between the transmitter and receiver.</a:t>
            </a:r>
          </a:p>
          <a:p>
            <a:pPr>
              <a:spcBef>
                <a:spcPct val="0"/>
              </a:spcBef>
              <a:buSzTx/>
            </a:pPr>
            <a:endParaRPr lang="en-US" altLang="en-US" sz="1200" dirty="0">
              <a:cs typeface="Times New Roman" panose="02020603050405020304" pitchFamily="18" charset="0"/>
            </a:endParaRPr>
          </a:p>
          <a:p>
            <a:pPr marL="342900" indent="-342900">
              <a:spcBef>
                <a:spcPct val="0"/>
              </a:spcBef>
              <a:buSzTx/>
              <a:buFont typeface="Arial" panose="020B0604020202020204" pitchFamily="34" charset="0"/>
              <a:buChar char="•"/>
            </a:pPr>
            <a:r>
              <a:rPr lang="en-SG" altLang="en-US" sz="2800" dirty="0">
                <a:cs typeface="Times New Roman" panose="02020603050405020304" pitchFamily="18" charset="0"/>
              </a:rPr>
              <a:t>If there are multiple transmitters and one receiver, different transmitter will transmit at different time to the receiver.</a:t>
            </a:r>
            <a:endParaRPr lang="en-US" altLang="en-US" sz="2800" dirty="0">
              <a:cs typeface="Times New Roman" panose="02020603050405020304" pitchFamily="18" charset="0"/>
            </a:endParaRPr>
          </a:p>
        </p:txBody>
      </p:sp>
      <p:sp>
        <p:nvSpPr>
          <p:cNvPr id="18" name="Rectangle 17">
            <a:extLst>
              <a:ext uri="{FF2B5EF4-FFF2-40B4-BE49-F238E27FC236}">
                <a16:creationId xmlns:a16="http://schemas.microsoft.com/office/drawing/2014/main" id="{E4FB2B8D-2133-4EDC-8B79-64466FBE6091}"/>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2" name="Pg22">
            <a:hlinkClick r:id="" action="ppaction://media"/>
            <a:extLst>
              <a:ext uri="{FF2B5EF4-FFF2-40B4-BE49-F238E27FC236}">
                <a16:creationId xmlns:a16="http://schemas.microsoft.com/office/drawing/2014/main" id="{C225B80A-09BE-4557-B2FB-BED51B9EC96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943475" y="5491918"/>
            <a:ext cx="609600" cy="609600"/>
          </a:xfrm>
          <a:prstGeom prst="rect">
            <a:avLst/>
          </a:prstGeom>
        </p:spPr>
      </p:pic>
      <p:sp>
        <p:nvSpPr>
          <p:cNvPr id="10" name="Rectangle 9">
            <a:extLst>
              <a:ext uri="{FF2B5EF4-FFF2-40B4-BE49-F238E27FC236}">
                <a16:creationId xmlns:a16="http://schemas.microsoft.com/office/drawing/2014/main" id="{A4111180-3A6D-48C2-A280-A2943A823499}"/>
              </a:ext>
            </a:extLst>
          </p:cNvPr>
          <p:cNvSpPr/>
          <p:nvPr/>
        </p:nvSpPr>
        <p:spPr>
          <a:xfrm>
            <a:off x="715472" y="1205833"/>
            <a:ext cx="5926622" cy="523220"/>
          </a:xfrm>
          <a:prstGeom prst="rect">
            <a:avLst/>
          </a:prstGeom>
        </p:spPr>
        <p:txBody>
          <a:bodyPr wrap="none">
            <a:spAutoFit/>
          </a:bodyPr>
          <a:lstStyle/>
          <a:p>
            <a:r>
              <a:rPr lang="en-SG" sz="2800" b="1" dirty="0">
                <a:solidFill>
                  <a:srgbClr val="00B050"/>
                </a:solidFill>
                <a:latin typeface="Calibri" panose="020F0502020204030204" pitchFamily="34" charset="0"/>
                <a:cs typeface="Calibri" panose="020F0502020204030204" pitchFamily="34" charset="0"/>
              </a:rPr>
              <a:t>T</a:t>
            </a:r>
            <a:r>
              <a:rPr lang="en-SG" sz="2800" dirty="0">
                <a:latin typeface="Calibri" panose="020F0502020204030204" pitchFamily="34" charset="0"/>
                <a:cs typeface="Calibri" panose="020F0502020204030204" pitchFamily="34" charset="0"/>
              </a:rPr>
              <a:t>ime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TDMA</a:t>
            </a:r>
            <a:r>
              <a:rPr lang="en-SG" sz="2800" dirty="0">
                <a:latin typeface="Calibri" panose="020F0502020204030204" pitchFamily="34" charset="0"/>
                <a:cs typeface="Calibri" panose="020F0502020204030204" pitchFamily="34" charset="0"/>
              </a:rPr>
              <a:t>)</a:t>
            </a:r>
            <a:endParaRPr lang="en-US" sz="2800" dirty="0"/>
          </a:p>
        </p:txBody>
      </p:sp>
      <p:sp>
        <p:nvSpPr>
          <p:cNvPr id="3" name="TextBox 2">
            <a:extLst>
              <a:ext uri="{FF2B5EF4-FFF2-40B4-BE49-F238E27FC236}">
                <a16:creationId xmlns:a16="http://schemas.microsoft.com/office/drawing/2014/main" id="{A1A3E9CE-E967-4AC8-9BEB-E639324D5F95}"/>
              </a:ext>
            </a:extLst>
          </p:cNvPr>
          <p:cNvSpPr txBox="1"/>
          <p:nvPr/>
        </p:nvSpPr>
        <p:spPr>
          <a:xfrm rot="1733489">
            <a:off x="6899087" y="4412951"/>
            <a:ext cx="1034439" cy="400110"/>
          </a:xfrm>
          <a:prstGeom prst="rect">
            <a:avLst/>
          </a:prstGeom>
          <a:noFill/>
        </p:spPr>
        <p:txBody>
          <a:bodyPr wrap="square" rtlCol="0">
            <a:spAutoFit/>
          </a:bodyPr>
          <a:lstStyle/>
          <a:p>
            <a:r>
              <a:rPr lang="en-US" sz="2000" b="1" dirty="0">
                <a:solidFill>
                  <a:srgbClr val="FF0000"/>
                </a:solidFill>
              </a:rPr>
              <a:t>Time</a:t>
            </a:r>
          </a:p>
        </p:txBody>
      </p:sp>
      <p:sp>
        <p:nvSpPr>
          <p:cNvPr id="5" name="Rectangle 4">
            <a:extLst>
              <a:ext uri="{FF2B5EF4-FFF2-40B4-BE49-F238E27FC236}">
                <a16:creationId xmlns:a16="http://schemas.microsoft.com/office/drawing/2014/main" id="{6A3212C1-B545-9AB7-B710-04ED2B80BE0F}"/>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77784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53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5A0F04A-AA5D-4A30-85ED-5F50A6D9D5AC}"/>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 (TDMA)</a:t>
            </a:r>
          </a:p>
        </p:txBody>
      </p:sp>
      <p:sp>
        <p:nvSpPr>
          <p:cNvPr id="18" name="Rectangle 17">
            <a:extLst>
              <a:ext uri="{FF2B5EF4-FFF2-40B4-BE49-F238E27FC236}">
                <a16:creationId xmlns:a16="http://schemas.microsoft.com/office/drawing/2014/main" id="{E4FB2B8D-2133-4EDC-8B79-64466FBE6091}"/>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sp>
        <p:nvSpPr>
          <p:cNvPr id="11" name="Rectangle 7">
            <a:extLst>
              <a:ext uri="{FF2B5EF4-FFF2-40B4-BE49-F238E27FC236}">
                <a16:creationId xmlns:a16="http://schemas.microsoft.com/office/drawing/2014/main" id="{0955B412-3C0B-4156-A353-D960E14A8DC0}"/>
              </a:ext>
            </a:extLst>
          </p:cNvPr>
          <p:cNvSpPr>
            <a:spLocks noChangeArrowheads="1"/>
          </p:cNvSpPr>
          <p:nvPr/>
        </p:nvSpPr>
        <p:spPr bwMode="auto">
          <a:xfrm>
            <a:off x="2995613" y="2671764"/>
            <a:ext cx="9144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 name="Text Box 11">
            <a:extLst>
              <a:ext uri="{FF2B5EF4-FFF2-40B4-BE49-F238E27FC236}">
                <a16:creationId xmlns:a16="http://schemas.microsoft.com/office/drawing/2014/main" id="{FEC2E5A8-6CBD-49B2-8264-685BCDB9C381}"/>
              </a:ext>
            </a:extLst>
          </p:cNvPr>
          <p:cNvSpPr txBox="1">
            <a:spLocks noChangeArrowheads="1"/>
          </p:cNvSpPr>
          <p:nvPr/>
        </p:nvSpPr>
        <p:spPr bwMode="auto">
          <a:xfrm>
            <a:off x="6950868" y="3569545"/>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dirty="0">
                <a:latin typeface="Arial" panose="020B0604020202020204" pitchFamily="34" charset="0"/>
              </a:rPr>
              <a:t>Time</a:t>
            </a:r>
            <a:endParaRPr lang="en-US" altLang="en-US" sz="1400" dirty="0">
              <a:latin typeface="Arial" panose="020B0604020202020204" pitchFamily="34" charset="0"/>
            </a:endParaRPr>
          </a:p>
        </p:txBody>
      </p:sp>
      <p:sp>
        <p:nvSpPr>
          <p:cNvPr id="13" name="Text Box 12">
            <a:extLst>
              <a:ext uri="{FF2B5EF4-FFF2-40B4-BE49-F238E27FC236}">
                <a16:creationId xmlns:a16="http://schemas.microsoft.com/office/drawing/2014/main" id="{CDA5AB4A-0BEB-48B7-AEF9-F8564729D775}"/>
              </a:ext>
            </a:extLst>
          </p:cNvPr>
          <p:cNvSpPr txBox="1">
            <a:spLocks noChangeArrowheads="1"/>
          </p:cNvSpPr>
          <p:nvPr/>
        </p:nvSpPr>
        <p:spPr bwMode="auto">
          <a:xfrm rot="18926571">
            <a:off x="8797131" y="3144095"/>
            <a:ext cx="1044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a:latin typeface="Arial" panose="020B0604020202020204" pitchFamily="34" charset="0"/>
              </a:rPr>
              <a:t>Frequency</a:t>
            </a:r>
            <a:endParaRPr lang="en-US" altLang="en-US" sz="1400">
              <a:latin typeface="Arial" panose="020B0604020202020204" pitchFamily="34" charset="0"/>
            </a:endParaRPr>
          </a:p>
        </p:txBody>
      </p:sp>
      <p:sp>
        <p:nvSpPr>
          <p:cNvPr id="15" name="Rectangle 13">
            <a:extLst>
              <a:ext uri="{FF2B5EF4-FFF2-40B4-BE49-F238E27FC236}">
                <a16:creationId xmlns:a16="http://schemas.microsoft.com/office/drawing/2014/main" id="{58951F0D-64DC-4160-86E3-A6FC90E39D52}"/>
              </a:ext>
            </a:extLst>
          </p:cNvPr>
          <p:cNvSpPr>
            <a:spLocks noChangeArrowheads="1"/>
          </p:cNvSpPr>
          <p:nvPr/>
        </p:nvSpPr>
        <p:spPr bwMode="auto">
          <a:xfrm>
            <a:off x="1934017" y="2456211"/>
            <a:ext cx="1847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 name="AutoShape 14">
            <a:extLst>
              <a:ext uri="{FF2B5EF4-FFF2-40B4-BE49-F238E27FC236}">
                <a16:creationId xmlns:a16="http://schemas.microsoft.com/office/drawing/2014/main" id="{FB3641EA-9022-4F6E-BDAF-AF9C4604C8C2}"/>
              </a:ext>
            </a:extLst>
          </p:cNvPr>
          <p:cNvSpPr>
            <a:spLocks noChangeAspect="1" noChangeArrowheads="1" noTextEdit="1"/>
          </p:cNvSpPr>
          <p:nvPr/>
        </p:nvSpPr>
        <p:spPr bwMode="auto">
          <a:xfrm>
            <a:off x="1659730" y="2007446"/>
            <a:ext cx="3295650"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nvGrpSpPr>
          <p:cNvPr id="20" name="Group 15">
            <a:extLst>
              <a:ext uri="{FF2B5EF4-FFF2-40B4-BE49-F238E27FC236}">
                <a16:creationId xmlns:a16="http://schemas.microsoft.com/office/drawing/2014/main" id="{3A80B3C3-C7A7-4EEE-8027-3794B2B9AE8C}"/>
              </a:ext>
            </a:extLst>
          </p:cNvPr>
          <p:cNvGrpSpPr>
            <a:grpSpLocks/>
          </p:cNvGrpSpPr>
          <p:nvPr/>
        </p:nvGrpSpPr>
        <p:grpSpPr bwMode="auto">
          <a:xfrm>
            <a:off x="2153444" y="2016971"/>
            <a:ext cx="98425" cy="1704975"/>
            <a:chOff x="732" y="1680"/>
            <a:chExt cx="62" cy="1074"/>
          </a:xfrm>
        </p:grpSpPr>
        <p:sp>
          <p:nvSpPr>
            <p:cNvPr id="21" name="Line 16">
              <a:extLst>
                <a:ext uri="{FF2B5EF4-FFF2-40B4-BE49-F238E27FC236}">
                  <a16:creationId xmlns:a16="http://schemas.microsoft.com/office/drawing/2014/main" id="{4DDC962C-7976-4B24-9575-FAA11E8F83BC}"/>
                </a:ext>
              </a:extLst>
            </p:cNvPr>
            <p:cNvSpPr>
              <a:spLocks noChangeShapeType="1"/>
            </p:cNvSpPr>
            <p:nvPr/>
          </p:nvSpPr>
          <p:spPr bwMode="auto">
            <a:xfrm flipV="1">
              <a:off x="763" y="1740"/>
              <a:ext cx="1" cy="10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Freeform 17">
              <a:extLst>
                <a:ext uri="{FF2B5EF4-FFF2-40B4-BE49-F238E27FC236}">
                  <a16:creationId xmlns:a16="http://schemas.microsoft.com/office/drawing/2014/main" id="{D4BDD633-DD5C-4D6C-AC03-E4DCC8533CA2}"/>
                </a:ext>
              </a:extLst>
            </p:cNvPr>
            <p:cNvSpPr>
              <a:spLocks/>
            </p:cNvSpPr>
            <p:nvPr/>
          </p:nvSpPr>
          <p:spPr bwMode="auto">
            <a:xfrm>
              <a:off x="732" y="1680"/>
              <a:ext cx="62" cy="62"/>
            </a:xfrm>
            <a:custGeom>
              <a:avLst/>
              <a:gdLst>
                <a:gd name="T0" fmla="*/ 7 w 125"/>
                <a:gd name="T1" fmla="*/ 8 h 124"/>
                <a:gd name="T2" fmla="*/ 3 w 125"/>
                <a:gd name="T3" fmla="*/ 0 h 124"/>
                <a:gd name="T4" fmla="*/ 0 w 125"/>
                <a:gd name="T5" fmla="*/ 8 h 124"/>
                <a:gd name="T6" fmla="*/ 7 w 125"/>
                <a:gd name="T7" fmla="*/ 8 h 124"/>
                <a:gd name="T8" fmla="*/ 0 60000 65536"/>
                <a:gd name="T9" fmla="*/ 0 60000 65536"/>
                <a:gd name="T10" fmla="*/ 0 60000 65536"/>
                <a:gd name="T11" fmla="*/ 0 60000 65536"/>
                <a:gd name="T12" fmla="*/ 0 w 125"/>
                <a:gd name="T13" fmla="*/ 0 h 124"/>
                <a:gd name="T14" fmla="*/ 125 w 125"/>
                <a:gd name="T15" fmla="*/ 124 h 124"/>
              </a:gdLst>
              <a:ahLst/>
              <a:cxnLst>
                <a:cxn ang="T8">
                  <a:pos x="T0" y="T1"/>
                </a:cxn>
                <a:cxn ang="T9">
                  <a:pos x="T2" y="T3"/>
                </a:cxn>
                <a:cxn ang="T10">
                  <a:pos x="T4" y="T5"/>
                </a:cxn>
                <a:cxn ang="T11">
                  <a:pos x="T6" y="T7"/>
                </a:cxn>
              </a:cxnLst>
              <a:rect l="T12" t="T13" r="T14" b="T15"/>
              <a:pathLst>
                <a:path w="125" h="124">
                  <a:moveTo>
                    <a:pt x="125" y="124"/>
                  </a:moveTo>
                  <a:lnTo>
                    <a:pt x="61" y="0"/>
                  </a:lnTo>
                  <a:lnTo>
                    <a:pt x="0" y="124"/>
                  </a:lnTo>
                  <a:lnTo>
                    <a:pt x="125" y="1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3" name="Group 18">
            <a:extLst>
              <a:ext uri="{FF2B5EF4-FFF2-40B4-BE49-F238E27FC236}">
                <a16:creationId xmlns:a16="http://schemas.microsoft.com/office/drawing/2014/main" id="{FB36BD56-BE3F-4320-87D4-833AD699367F}"/>
              </a:ext>
            </a:extLst>
          </p:cNvPr>
          <p:cNvGrpSpPr>
            <a:grpSpLocks/>
          </p:cNvGrpSpPr>
          <p:nvPr/>
        </p:nvGrpSpPr>
        <p:grpSpPr bwMode="auto">
          <a:xfrm>
            <a:off x="2202656" y="3682258"/>
            <a:ext cx="2505075" cy="100013"/>
            <a:chOff x="763" y="2729"/>
            <a:chExt cx="1578" cy="63"/>
          </a:xfrm>
        </p:grpSpPr>
        <p:sp>
          <p:nvSpPr>
            <p:cNvPr id="24" name="Line 19">
              <a:extLst>
                <a:ext uri="{FF2B5EF4-FFF2-40B4-BE49-F238E27FC236}">
                  <a16:creationId xmlns:a16="http://schemas.microsoft.com/office/drawing/2014/main" id="{978BD4E5-58D5-4F06-8E04-8E73918B15DB}"/>
                </a:ext>
              </a:extLst>
            </p:cNvPr>
            <p:cNvSpPr>
              <a:spLocks noChangeShapeType="1"/>
            </p:cNvSpPr>
            <p:nvPr/>
          </p:nvSpPr>
          <p:spPr bwMode="auto">
            <a:xfrm>
              <a:off x="763" y="2760"/>
              <a:ext cx="151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Freeform 20">
              <a:extLst>
                <a:ext uri="{FF2B5EF4-FFF2-40B4-BE49-F238E27FC236}">
                  <a16:creationId xmlns:a16="http://schemas.microsoft.com/office/drawing/2014/main" id="{98EC4FB2-056B-4427-B94B-88DEB203FB6B}"/>
                </a:ext>
              </a:extLst>
            </p:cNvPr>
            <p:cNvSpPr>
              <a:spLocks/>
            </p:cNvSpPr>
            <p:nvPr/>
          </p:nvSpPr>
          <p:spPr bwMode="auto">
            <a:xfrm>
              <a:off x="2278" y="2729"/>
              <a:ext cx="63" cy="63"/>
            </a:xfrm>
            <a:custGeom>
              <a:avLst/>
              <a:gdLst>
                <a:gd name="T0" fmla="*/ 0 w 125"/>
                <a:gd name="T1" fmla="*/ 8 h 125"/>
                <a:gd name="T2" fmla="*/ 8 w 125"/>
                <a:gd name="T3" fmla="*/ 4 h 125"/>
                <a:gd name="T4" fmla="*/ 0 w 125"/>
                <a:gd name="T5" fmla="*/ 0 h 125"/>
                <a:gd name="T6" fmla="*/ 0 w 125"/>
                <a:gd name="T7" fmla="*/ 8 h 125"/>
                <a:gd name="T8" fmla="*/ 0 60000 65536"/>
                <a:gd name="T9" fmla="*/ 0 60000 65536"/>
                <a:gd name="T10" fmla="*/ 0 60000 65536"/>
                <a:gd name="T11" fmla="*/ 0 60000 65536"/>
                <a:gd name="T12" fmla="*/ 0 w 125"/>
                <a:gd name="T13" fmla="*/ 0 h 125"/>
                <a:gd name="T14" fmla="*/ 125 w 125"/>
                <a:gd name="T15" fmla="*/ 125 h 125"/>
              </a:gdLst>
              <a:ahLst/>
              <a:cxnLst>
                <a:cxn ang="T8">
                  <a:pos x="T0" y="T1"/>
                </a:cxn>
                <a:cxn ang="T9">
                  <a:pos x="T2" y="T3"/>
                </a:cxn>
                <a:cxn ang="T10">
                  <a:pos x="T4" y="T5"/>
                </a:cxn>
                <a:cxn ang="T11">
                  <a:pos x="T6" y="T7"/>
                </a:cxn>
              </a:cxnLst>
              <a:rect l="T12" t="T13" r="T14" b="T15"/>
              <a:pathLst>
                <a:path w="125" h="125">
                  <a:moveTo>
                    <a:pt x="0" y="125"/>
                  </a:moveTo>
                  <a:lnTo>
                    <a:pt x="125" y="62"/>
                  </a:lnTo>
                  <a:lnTo>
                    <a:pt x="0" y="0"/>
                  </a:lnTo>
                  <a:lnTo>
                    <a:pt x="0" y="1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6" name="Rectangle 21">
            <a:extLst>
              <a:ext uri="{FF2B5EF4-FFF2-40B4-BE49-F238E27FC236}">
                <a16:creationId xmlns:a16="http://schemas.microsoft.com/office/drawing/2014/main" id="{825CEC51-A21D-4B79-B354-EDA0DA63C934}"/>
              </a:ext>
            </a:extLst>
          </p:cNvPr>
          <p:cNvSpPr>
            <a:spLocks noChangeArrowheads="1"/>
          </p:cNvSpPr>
          <p:nvPr/>
        </p:nvSpPr>
        <p:spPr bwMode="auto">
          <a:xfrm>
            <a:off x="4410868" y="3798145"/>
            <a:ext cx="5445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 name="Rectangle 22">
            <a:extLst>
              <a:ext uri="{FF2B5EF4-FFF2-40B4-BE49-F238E27FC236}">
                <a16:creationId xmlns:a16="http://schemas.microsoft.com/office/drawing/2014/main" id="{FF627554-0655-477B-9AF4-B40A7BE0419C}"/>
              </a:ext>
            </a:extLst>
          </p:cNvPr>
          <p:cNvSpPr>
            <a:spLocks noChangeArrowheads="1"/>
          </p:cNvSpPr>
          <p:nvPr/>
        </p:nvSpPr>
        <p:spPr bwMode="auto">
          <a:xfrm>
            <a:off x="4502943" y="3848945"/>
            <a:ext cx="3720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Time</a:t>
            </a:r>
            <a:endParaRPr lang="en-US" altLang="en-US" sz="1400" dirty="0">
              <a:latin typeface="Arial" panose="020B0604020202020204" pitchFamily="34" charset="0"/>
            </a:endParaRPr>
          </a:p>
        </p:txBody>
      </p:sp>
      <p:sp>
        <p:nvSpPr>
          <p:cNvPr id="28" name="Rectangle 23">
            <a:extLst>
              <a:ext uri="{FF2B5EF4-FFF2-40B4-BE49-F238E27FC236}">
                <a16:creationId xmlns:a16="http://schemas.microsoft.com/office/drawing/2014/main" id="{D69024F7-C611-4FC8-B4CD-0FD464D8AEF2}"/>
              </a:ext>
            </a:extLst>
          </p:cNvPr>
          <p:cNvSpPr>
            <a:spLocks noChangeArrowheads="1"/>
          </p:cNvSpPr>
          <p:nvPr/>
        </p:nvSpPr>
        <p:spPr bwMode="auto">
          <a:xfrm>
            <a:off x="1950243" y="3215532"/>
            <a:ext cx="34925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 name="Rectangle 24">
            <a:extLst>
              <a:ext uri="{FF2B5EF4-FFF2-40B4-BE49-F238E27FC236}">
                <a16:creationId xmlns:a16="http://schemas.microsoft.com/office/drawing/2014/main" id="{932BC774-5136-48FA-A61E-84628EF2671A}"/>
              </a:ext>
            </a:extLst>
          </p:cNvPr>
          <p:cNvSpPr>
            <a:spLocks noChangeArrowheads="1"/>
          </p:cNvSpPr>
          <p:nvPr/>
        </p:nvSpPr>
        <p:spPr bwMode="auto">
          <a:xfrm>
            <a:off x="2042318" y="3264745"/>
            <a:ext cx="11862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f</a:t>
            </a:r>
            <a:r>
              <a:rPr lang="en-US" altLang="en-US" sz="1400" baseline="-25000" dirty="0">
                <a:solidFill>
                  <a:srgbClr val="000000"/>
                </a:solidFill>
              </a:rPr>
              <a:t>1</a:t>
            </a:r>
            <a:endParaRPr lang="en-US" altLang="en-US" sz="1400" baseline="-25000" dirty="0">
              <a:latin typeface="Arial" panose="020B0604020202020204" pitchFamily="34" charset="0"/>
            </a:endParaRPr>
          </a:p>
        </p:txBody>
      </p:sp>
      <p:sp>
        <p:nvSpPr>
          <p:cNvPr id="30" name="Rectangle 26">
            <a:extLst>
              <a:ext uri="{FF2B5EF4-FFF2-40B4-BE49-F238E27FC236}">
                <a16:creationId xmlns:a16="http://schemas.microsoft.com/office/drawing/2014/main" id="{B93783E5-0158-4D17-A889-417D9BBAA5F4}"/>
              </a:ext>
            </a:extLst>
          </p:cNvPr>
          <p:cNvSpPr>
            <a:spLocks noChangeArrowheads="1"/>
          </p:cNvSpPr>
          <p:nvPr/>
        </p:nvSpPr>
        <p:spPr bwMode="auto">
          <a:xfrm>
            <a:off x="1659731" y="2207471"/>
            <a:ext cx="638175"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 name="Rectangle 27">
            <a:extLst>
              <a:ext uri="{FF2B5EF4-FFF2-40B4-BE49-F238E27FC236}">
                <a16:creationId xmlns:a16="http://schemas.microsoft.com/office/drawing/2014/main" id="{FFDD118E-6A2D-4845-AB59-0F0F560016F3}"/>
              </a:ext>
            </a:extLst>
          </p:cNvPr>
          <p:cNvSpPr>
            <a:spLocks noChangeArrowheads="1"/>
          </p:cNvSpPr>
          <p:nvPr/>
        </p:nvSpPr>
        <p:spPr bwMode="auto">
          <a:xfrm>
            <a:off x="1792068" y="1751686"/>
            <a:ext cx="3735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Freq.</a:t>
            </a:r>
            <a:endParaRPr lang="en-US" altLang="en-US" sz="1400" dirty="0">
              <a:latin typeface="Arial" panose="020B0604020202020204" pitchFamily="34" charset="0"/>
            </a:endParaRPr>
          </a:p>
        </p:txBody>
      </p:sp>
      <p:grpSp>
        <p:nvGrpSpPr>
          <p:cNvPr id="32" name="Group 34">
            <a:extLst>
              <a:ext uri="{FF2B5EF4-FFF2-40B4-BE49-F238E27FC236}">
                <a16:creationId xmlns:a16="http://schemas.microsoft.com/office/drawing/2014/main" id="{48EB5526-1B4E-444C-BE00-54E02374A802}"/>
              </a:ext>
            </a:extLst>
          </p:cNvPr>
          <p:cNvGrpSpPr>
            <a:grpSpLocks/>
          </p:cNvGrpSpPr>
          <p:nvPr/>
        </p:nvGrpSpPr>
        <p:grpSpPr bwMode="auto">
          <a:xfrm>
            <a:off x="2845594" y="3460008"/>
            <a:ext cx="7937" cy="365125"/>
            <a:chOff x="1168" y="2589"/>
            <a:chExt cx="5" cy="230"/>
          </a:xfrm>
        </p:grpSpPr>
        <p:sp>
          <p:nvSpPr>
            <p:cNvPr id="33" name="Freeform 35">
              <a:extLst>
                <a:ext uri="{FF2B5EF4-FFF2-40B4-BE49-F238E27FC236}">
                  <a16:creationId xmlns:a16="http://schemas.microsoft.com/office/drawing/2014/main" id="{24A9F33D-598E-47AF-B35E-397E9A90DE8F}"/>
                </a:ext>
              </a:extLst>
            </p:cNvPr>
            <p:cNvSpPr>
              <a:spLocks/>
            </p:cNvSpPr>
            <p:nvPr/>
          </p:nvSpPr>
          <p:spPr bwMode="auto">
            <a:xfrm>
              <a:off x="1168" y="2589"/>
              <a:ext cx="5" cy="29"/>
            </a:xfrm>
            <a:custGeom>
              <a:avLst/>
              <a:gdLst>
                <a:gd name="T0" fmla="*/ 0 w 12"/>
                <a:gd name="T1" fmla="*/ 1 h 58"/>
                <a:gd name="T2" fmla="*/ 0 w 12"/>
                <a:gd name="T3" fmla="*/ 1 h 58"/>
                <a:gd name="T4" fmla="*/ 0 w 12"/>
                <a:gd name="T5" fmla="*/ 1 h 58"/>
                <a:gd name="T6" fmla="*/ 0 w 12"/>
                <a:gd name="T7" fmla="*/ 1 h 58"/>
                <a:gd name="T8" fmla="*/ 0 w 12"/>
                <a:gd name="T9" fmla="*/ 0 h 58"/>
                <a:gd name="T10" fmla="*/ 0 w 12"/>
                <a:gd name="T11" fmla="*/ 0 h 58"/>
                <a:gd name="T12" fmla="*/ 0 w 12"/>
                <a:gd name="T13" fmla="*/ 1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8"/>
                  </a:moveTo>
                  <a:lnTo>
                    <a:pt x="12" y="6"/>
                  </a:lnTo>
                  <a:lnTo>
                    <a:pt x="10" y="4"/>
                  </a:lnTo>
                  <a:lnTo>
                    <a:pt x="8" y="2"/>
                  </a:lnTo>
                  <a:lnTo>
                    <a:pt x="6" y="0"/>
                  </a:lnTo>
                  <a:lnTo>
                    <a:pt x="4" y="2"/>
                  </a:lnTo>
                  <a:lnTo>
                    <a:pt x="2" y="4"/>
                  </a:lnTo>
                  <a:lnTo>
                    <a:pt x="0" y="6"/>
                  </a:lnTo>
                  <a:lnTo>
                    <a:pt x="0" y="50"/>
                  </a:lnTo>
                  <a:lnTo>
                    <a:pt x="0" y="52"/>
                  </a:lnTo>
                  <a:lnTo>
                    <a:pt x="2" y="54"/>
                  </a:lnTo>
                  <a:lnTo>
                    <a:pt x="4" y="56"/>
                  </a:lnTo>
                  <a:lnTo>
                    <a:pt x="6" y="58"/>
                  </a:lnTo>
                  <a:lnTo>
                    <a:pt x="8" y="58"/>
                  </a:lnTo>
                  <a:lnTo>
                    <a:pt x="10" y="56"/>
                  </a:lnTo>
                  <a:lnTo>
                    <a:pt x="12" y="54"/>
                  </a:lnTo>
                  <a:lnTo>
                    <a:pt x="12" y="52"/>
                  </a:lnTo>
                  <a:lnTo>
                    <a:pt x="1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36">
              <a:extLst>
                <a:ext uri="{FF2B5EF4-FFF2-40B4-BE49-F238E27FC236}">
                  <a16:creationId xmlns:a16="http://schemas.microsoft.com/office/drawing/2014/main" id="{CF905CC2-DA1B-48C9-B515-5173B8D86A30}"/>
                </a:ext>
              </a:extLst>
            </p:cNvPr>
            <p:cNvSpPr>
              <a:spLocks/>
            </p:cNvSpPr>
            <p:nvPr/>
          </p:nvSpPr>
          <p:spPr bwMode="auto">
            <a:xfrm>
              <a:off x="1168" y="2629"/>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5"/>
                  </a:lnTo>
                  <a:lnTo>
                    <a:pt x="6" y="57"/>
                  </a:lnTo>
                  <a:lnTo>
                    <a:pt x="8" y="57"/>
                  </a:lnTo>
                  <a:lnTo>
                    <a:pt x="10" y="55"/>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37">
              <a:extLst>
                <a:ext uri="{FF2B5EF4-FFF2-40B4-BE49-F238E27FC236}">
                  <a16:creationId xmlns:a16="http://schemas.microsoft.com/office/drawing/2014/main" id="{37559596-8260-4F55-9314-2B904A7B5DF9}"/>
                </a:ext>
              </a:extLst>
            </p:cNvPr>
            <p:cNvSpPr>
              <a:spLocks/>
            </p:cNvSpPr>
            <p:nvPr/>
          </p:nvSpPr>
          <p:spPr bwMode="auto">
            <a:xfrm>
              <a:off x="1168" y="2670"/>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38">
              <a:extLst>
                <a:ext uri="{FF2B5EF4-FFF2-40B4-BE49-F238E27FC236}">
                  <a16:creationId xmlns:a16="http://schemas.microsoft.com/office/drawing/2014/main" id="{C3B90010-50F7-4227-992F-B82086FF12E1}"/>
                </a:ext>
              </a:extLst>
            </p:cNvPr>
            <p:cNvSpPr>
              <a:spLocks/>
            </p:cNvSpPr>
            <p:nvPr/>
          </p:nvSpPr>
          <p:spPr bwMode="auto">
            <a:xfrm>
              <a:off x="1168" y="2710"/>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39">
              <a:extLst>
                <a:ext uri="{FF2B5EF4-FFF2-40B4-BE49-F238E27FC236}">
                  <a16:creationId xmlns:a16="http://schemas.microsoft.com/office/drawing/2014/main" id="{82F765FF-8B7F-4A3E-AF78-C791F8606B94}"/>
                </a:ext>
              </a:extLst>
            </p:cNvPr>
            <p:cNvSpPr>
              <a:spLocks/>
            </p:cNvSpPr>
            <p:nvPr/>
          </p:nvSpPr>
          <p:spPr bwMode="auto">
            <a:xfrm>
              <a:off x="1168" y="2750"/>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5"/>
                  </a:moveTo>
                  <a:lnTo>
                    <a:pt x="12" y="4"/>
                  </a:lnTo>
                  <a:lnTo>
                    <a:pt x="12" y="2"/>
                  </a:lnTo>
                  <a:lnTo>
                    <a:pt x="10" y="0"/>
                  </a:lnTo>
                  <a:lnTo>
                    <a:pt x="8" y="0"/>
                  </a:lnTo>
                  <a:lnTo>
                    <a:pt x="6" y="0"/>
                  </a:lnTo>
                  <a:lnTo>
                    <a:pt x="4" y="0"/>
                  </a:lnTo>
                  <a:lnTo>
                    <a:pt x="2" y="2"/>
                  </a:lnTo>
                  <a:lnTo>
                    <a:pt x="0" y="4"/>
                  </a:lnTo>
                  <a:lnTo>
                    <a:pt x="0" y="50"/>
                  </a:lnTo>
                  <a:lnTo>
                    <a:pt x="0" y="52"/>
                  </a:lnTo>
                  <a:lnTo>
                    <a:pt x="2" y="53"/>
                  </a:lnTo>
                  <a:lnTo>
                    <a:pt x="4" y="55"/>
                  </a:lnTo>
                  <a:lnTo>
                    <a:pt x="6" y="57"/>
                  </a:lnTo>
                  <a:lnTo>
                    <a:pt x="8" y="57"/>
                  </a:lnTo>
                  <a:lnTo>
                    <a:pt x="10" y="55"/>
                  </a:lnTo>
                  <a:lnTo>
                    <a:pt x="12" y="53"/>
                  </a:lnTo>
                  <a:lnTo>
                    <a:pt x="12" y="52"/>
                  </a:lnTo>
                  <a:lnTo>
                    <a:pt x="1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40">
              <a:extLst>
                <a:ext uri="{FF2B5EF4-FFF2-40B4-BE49-F238E27FC236}">
                  <a16:creationId xmlns:a16="http://schemas.microsoft.com/office/drawing/2014/main" id="{278A4E81-AC23-412D-B43C-F4734D6D7FA1}"/>
                </a:ext>
              </a:extLst>
            </p:cNvPr>
            <p:cNvSpPr>
              <a:spLocks/>
            </p:cNvSpPr>
            <p:nvPr/>
          </p:nvSpPr>
          <p:spPr bwMode="auto">
            <a:xfrm>
              <a:off x="1168" y="2791"/>
              <a:ext cx="5" cy="28"/>
            </a:xfrm>
            <a:custGeom>
              <a:avLst/>
              <a:gdLst>
                <a:gd name="T0" fmla="*/ 0 w 12"/>
                <a:gd name="T1" fmla="*/ 0 h 58"/>
                <a:gd name="T2" fmla="*/ 0 w 12"/>
                <a:gd name="T3" fmla="*/ 0 h 58"/>
                <a:gd name="T4" fmla="*/ 0 w 12"/>
                <a:gd name="T5" fmla="*/ 0 h 58"/>
                <a:gd name="T6" fmla="*/ 0 w 12"/>
                <a:gd name="T7" fmla="*/ 0 h 58"/>
                <a:gd name="T8" fmla="*/ 0 w 12"/>
                <a:gd name="T9" fmla="*/ 0 h 58"/>
                <a:gd name="T10" fmla="*/ 0 w 12"/>
                <a:gd name="T11" fmla="*/ 0 h 58"/>
                <a:gd name="T12" fmla="*/ 0 w 12"/>
                <a:gd name="T13" fmla="*/ 0 h 58"/>
                <a:gd name="T14" fmla="*/ 0 w 12"/>
                <a:gd name="T15" fmla="*/ 0 h 58"/>
                <a:gd name="T16" fmla="*/ 0 w 12"/>
                <a:gd name="T17" fmla="*/ 0 h 58"/>
                <a:gd name="T18" fmla="*/ 0 w 12"/>
                <a:gd name="T19" fmla="*/ 3 h 58"/>
                <a:gd name="T20" fmla="*/ 0 w 12"/>
                <a:gd name="T21" fmla="*/ 3 h 58"/>
                <a:gd name="T22" fmla="*/ 0 w 12"/>
                <a:gd name="T23" fmla="*/ 3 h 58"/>
                <a:gd name="T24" fmla="*/ 0 w 12"/>
                <a:gd name="T25" fmla="*/ 3 h 58"/>
                <a:gd name="T26" fmla="*/ 0 w 12"/>
                <a:gd name="T27" fmla="*/ 3 h 58"/>
                <a:gd name="T28" fmla="*/ 0 w 12"/>
                <a:gd name="T29" fmla="*/ 3 h 58"/>
                <a:gd name="T30" fmla="*/ 0 w 12"/>
                <a:gd name="T31" fmla="*/ 3 h 58"/>
                <a:gd name="T32" fmla="*/ 0 w 12"/>
                <a:gd name="T33" fmla="*/ 3 h 58"/>
                <a:gd name="T34" fmla="*/ 0 w 12"/>
                <a:gd name="T35" fmla="*/ 3 h 58"/>
                <a:gd name="T36" fmla="*/ 0 w 12"/>
                <a:gd name="T37" fmla="*/ 0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9" name="Group 41">
            <a:extLst>
              <a:ext uri="{FF2B5EF4-FFF2-40B4-BE49-F238E27FC236}">
                <a16:creationId xmlns:a16="http://schemas.microsoft.com/office/drawing/2014/main" id="{D86A49BA-9808-4B9C-9046-4D59C5AAEDF6}"/>
              </a:ext>
            </a:extLst>
          </p:cNvPr>
          <p:cNvGrpSpPr>
            <a:grpSpLocks/>
          </p:cNvGrpSpPr>
          <p:nvPr/>
        </p:nvGrpSpPr>
        <p:grpSpPr bwMode="auto">
          <a:xfrm>
            <a:off x="3493294" y="3480646"/>
            <a:ext cx="7937" cy="365125"/>
            <a:chOff x="1576" y="2602"/>
            <a:chExt cx="5" cy="230"/>
          </a:xfrm>
        </p:grpSpPr>
        <p:sp>
          <p:nvSpPr>
            <p:cNvPr id="40" name="Freeform 42">
              <a:extLst>
                <a:ext uri="{FF2B5EF4-FFF2-40B4-BE49-F238E27FC236}">
                  <a16:creationId xmlns:a16="http://schemas.microsoft.com/office/drawing/2014/main" id="{24785B79-6F52-4A58-ACF8-DDB65278BA59}"/>
                </a:ext>
              </a:extLst>
            </p:cNvPr>
            <p:cNvSpPr>
              <a:spLocks/>
            </p:cNvSpPr>
            <p:nvPr/>
          </p:nvSpPr>
          <p:spPr bwMode="auto">
            <a:xfrm>
              <a:off x="1576" y="2602"/>
              <a:ext cx="5" cy="28"/>
            </a:xfrm>
            <a:custGeom>
              <a:avLst/>
              <a:gdLst>
                <a:gd name="T0" fmla="*/ 0 w 12"/>
                <a:gd name="T1" fmla="*/ 0 h 58"/>
                <a:gd name="T2" fmla="*/ 0 w 12"/>
                <a:gd name="T3" fmla="*/ 0 h 58"/>
                <a:gd name="T4" fmla="*/ 0 w 12"/>
                <a:gd name="T5" fmla="*/ 0 h 58"/>
                <a:gd name="T6" fmla="*/ 0 w 12"/>
                <a:gd name="T7" fmla="*/ 0 h 58"/>
                <a:gd name="T8" fmla="*/ 0 w 12"/>
                <a:gd name="T9" fmla="*/ 0 h 58"/>
                <a:gd name="T10" fmla="*/ 0 w 12"/>
                <a:gd name="T11" fmla="*/ 0 h 58"/>
                <a:gd name="T12" fmla="*/ 0 w 12"/>
                <a:gd name="T13" fmla="*/ 0 h 58"/>
                <a:gd name="T14" fmla="*/ 0 w 12"/>
                <a:gd name="T15" fmla="*/ 0 h 58"/>
                <a:gd name="T16" fmla="*/ 0 w 12"/>
                <a:gd name="T17" fmla="*/ 0 h 58"/>
                <a:gd name="T18" fmla="*/ 0 w 12"/>
                <a:gd name="T19" fmla="*/ 3 h 58"/>
                <a:gd name="T20" fmla="*/ 0 w 12"/>
                <a:gd name="T21" fmla="*/ 3 h 58"/>
                <a:gd name="T22" fmla="*/ 0 w 12"/>
                <a:gd name="T23" fmla="*/ 3 h 58"/>
                <a:gd name="T24" fmla="*/ 0 w 12"/>
                <a:gd name="T25" fmla="*/ 3 h 58"/>
                <a:gd name="T26" fmla="*/ 0 w 12"/>
                <a:gd name="T27" fmla="*/ 3 h 58"/>
                <a:gd name="T28" fmla="*/ 0 w 12"/>
                <a:gd name="T29" fmla="*/ 3 h 58"/>
                <a:gd name="T30" fmla="*/ 0 w 12"/>
                <a:gd name="T31" fmla="*/ 3 h 58"/>
                <a:gd name="T32" fmla="*/ 0 w 12"/>
                <a:gd name="T33" fmla="*/ 3 h 58"/>
                <a:gd name="T34" fmla="*/ 0 w 12"/>
                <a:gd name="T35" fmla="*/ 3 h 58"/>
                <a:gd name="T36" fmla="*/ 0 w 12"/>
                <a:gd name="T37" fmla="*/ 0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8"/>
                  </a:moveTo>
                  <a:lnTo>
                    <a:pt x="12" y="6"/>
                  </a:lnTo>
                  <a:lnTo>
                    <a:pt x="10" y="4"/>
                  </a:lnTo>
                  <a:lnTo>
                    <a:pt x="8" y="2"/>
                  </a:lnTo>
                  <a:lnTo>
                    <a:pt x="6" y="0"/>
                  </a:lnTo>
                  <a:lnTo>
                    <a:pt x="4" y="2"/>
                  </a:lnTo>
                  <a:lnTo>
                    <a:pt x="2" y="4"/>
                  </a:lnTo>
                  <a:lnTo>
                    <a:pt x="0" y="6"/>
                  </a:lnTo>
                  <a:lnTo>
                    <a:pt x="0" y="50"/>
                  </a:lnTo>
                  <a:lnTo>
                    <a:pt x="0" y="52"/>
                  </a:lnTo>
                  <a:lnTo>
                    <a:pt x="2" y="54"/>
                  </a:lnTo>
                  <a:lnTo>
                    <a:pt x="4" y="56"/>
                  </a:lnTo>
                  <a:lnTo>
                    <a:pt x="6" y="58"/>
                  </a:lnTo>
                  <a:lnTo>
                    <a:pt x="8" y="58"/>
                  </a:lnTo>
                  <a:lnTo>
                    <a:pt x="10" y="56"/>
                  </a:lnTo>
                  <a:lnTo>
                    <a:pt x="12" y="54"/>
                  </a:lnTo>
                  <a:lnTo>
                    <a:pt x="12" y="52"/>
                  </a:lnTo>
                  <a:lnTo>
                    <a:pt x="1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43">
              <a:extLst>
                <a:ext uri="{FF2B5EF4-FFF2-40B4-BE49-F238E27FC236}">
                  <a16:creationId xmlns:a16="http://schemas.microsoft.com/office/drawing/2014/main" id="{BCEBB507-2BC9-4489-A44F-CAC703866581}"/>
                </a:ext>
              </a:extLst>
            </p:cNvPr>
            <p:cNvSpPr>
              <a:spLocks/>
            </p:cNvSpPr>
            <p:nvPr/>
          </p:nvSpPr>
          <p:spPr bwMode="auto">
            <a:xfrm>
              <a:off x="1576" y="2642"/>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5"/>
                  </a:moveTo>
                  <a:lnTo>
                    <a:pt x="12" y="4"/>
                  </a:lnTo>
                  <a:lnTo>
                    <a:pt x="12" y="2"/>
                  </a:lnTo>
                  <a:lnTo>
                    <a:pt x="10" y="0"/>
                  </a:lnTo>
                  <a:lnTo>
                    <a:pt x="8" y="0"/>
                  </a:lnTo>
                  <a:lnTo>
                    <a:pt x="6" y="0"/>
                  </a:lnTo>
                  <a:lnTo>
                    <a:pt x="4" y="0"/>
                  </a:lnTo>
                  <a:lnTo>
                    <a:pt x="2" y="2"/>
                  </a:lnTo>
                  <a:lnTo>
                    <a:pt x="0" y="4"/>
                  </a:lnTo>
                  <a:lnTo>
                    <a:pt x="0" y="50"/>
                  </a:lnTo>
                  <a:lnTo>
                    <a:pt x="0" y="52"/>
                  </a:lnTo>
                  <a:lnTo>
                    <a:pt x="2" y="53"/>
                  </a:lnTo>
                  <a:lnTo>
                    <a:pt x="4" y="55"/>
                  </a:lnTo>
                  <a:lnTo>
                    <a:pt x="6" y="57"/>
                  </a:lnTo>
                  <a:lnTo>
                    <a:pt x="8" y="57"/>
                  </a:lnTo>
                  <a:lnTo>
                    <a:pt x="10" y="55"/>
                  </a:lnTo>
                  <a:lnTo>
                    <a:pt x="12" y="53"/>
                  </a:lnTo>
                  <a:lnTo>
                    <a:pt x="12" y="52"/>
                  </a:lnTo>
                  <a:lnTo>
                    <a:pt x="1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44">
              <a:extLst>
                <a:ext uri="{FF2B5EF4-FFF2-40B4-BE49-F238E27FC236}">
                  <a16:creationId xmlns:a16="http://schemas.microsoft.com/office/drawing/2014/main" id="{1B2387E9-6448-48B7-B245-DC28DA23D432}"/>
                </a:ext>
              </a:extLst>
            </p:cNvPr>
            <p:cNvSpPr>
              <a:spLocks/>
            </p:cNvSpPr>
            <p:nvPr/>
          </p:nvSpPr>
          <p:spPr bwMode="auto">
            <a:xfrm>
              <a:off x="1576" y="2682"/>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45">
              <a:extLst>
                <a:ext uri="{FF2B5EF4-FFF2-40B4-BE49-F238E27FC236}">
                  <a16:creationId xmlns:a16="http://schemas.microsoft.com/office/drawing/2014/main" id="{1BADF6C7-4B3E-4BE9-8B9C-5933198059F1}"/>
                </a:ext>
              </a:extLst>
            </p:cNvPr>
            <p:cNvSpPr>
              <a:spLocks/>
            </p:cNvSpPr>
            <p:nvPr/>
          </p:nvSpPr>
          <p:spPr bwMode="auto">
            <a:xfrm>
              <a:off x="1576" y="2723"/>
              <a:ext cx="5" cy="28"/>
            </a:xfrm>
            <a:custGeom>
              <a:avLst/>
              <a:gdLst>
                <a:gd name="T0" fmla="*/ 0 w 12"/>
                <a:gd name="T1" fmla="*/ 0 h 58"/>
                <a:gd name="T2" fmla="*/ 0 w 12"/>
                <a:gd name="T3" fmla="*/ 0 h 58"/>
                <a:gd name="T4" fmla="*/ 0 w 12"/>
                <a:gd name="T5" fmla="*/ 0 h 58"/>
                <a:gd name="T6" fmla="*/ 0 w 12"/>
                <a:gd name="T7" fmla="*/ 0 h 58"/>
                <a:gd name="T8" fmla="*/ 0 w 12"/>
                <a:gd name="T9" fmla="*/ 0 h 58"/>
                <a:gd name="T10" fmla="*/ 0 w 12"/>
                <a:gd name="T11" fmla="*/ 0 h 58"/>
                <a:gd name="T12" fmla="*/ 0 w 12"/>
                <a:gd name="T13" fmla="*/ 0 h 58"/>
                <a:gd name="T14" fmla="*/ 0 w 12"/>
                <a:gd name="T15" fmla="*/ 0 h 58"/>
                <a:gd name="T16" fmla="*/ 0 w 12"/>
                <a:gd name="T17" fmla="*/ 0 h 58"/>
                <a:gd name="T18" fmla="*/ 0 w 12"/>
                <a:gd name="T19" fmla="*/ 3 h 58"/>
                <a:gd name="T20" fmla="*/ 0 w 12"/>
                <a:gd name="T21" fmla="*/ 3 h 58"/>
                <a:gd name="T22" fmla="*/ 0 w 12"/>
                <a:gd name="T23" fmla="*/ 3 h 58"/>
                <a:gd name="T24" fmla="*/ 0 w 12"/>
                <a:gd name="T25" fmla="*/ 3 h 58"/>
                <a:gd name="T26" fmla="*/ 0 w 12"/>
                <a:gd name="T27" fmla="*/ 3 h 58"/>
                <a:gd name="T28" fmla="*/ 0 w 12"/>
                <a:gd name="T29" fmla="*/ 3 h 58"/>
                <a:gd name="T30" fmla="*/ 0 w 12"/>
                <a:gd name="T31" fmla="*/ 3 h 58"/>
                <a:gd name="T32" fmla="*/ 0 w 12"/>
                <a:gd name="T33" fmla="*/ 3 h 58"/>
                <a:gd name="T34" fmla="*/ 0 w 12"/>
                <a:gd name="T35" fmla="*/ 3 h 58"/>
                <a:gd name="T36" fmla="*/ 0 w 12"/>
                <a:gd name="T37" fmla="*/ 0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46">
              <a:extLst>
                <a:ext uri="{FF2B5EF4-FFF2-40B4-BE49-F238E27FC236}">
                  <a16:creationId xmlns:a16="http://schemas.microsoft.com/office/drawing/2014/main" id="{32CFA509-3253-4B69-B7FA-B4D6E02F59E1}"/>
                </a:ext>
              </a:extLst>
            </p:cNvPr>
            <p:cNvSpPr>
              <a:spLocks/>
            </p:cNvSpPr>
            <p:nvPr/>
          </p:nvSpPr>
          <p:spPr bwMode="auto">
            <a:xfrm>
              <a:off x="1576" y="2763"/>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5"/>
                  </a:moveTo>
                  <a:lnTo>
                    <a:pt x="12" y="4"/>
                  </a:lnTo>
                  <a:lnTo>
                    <a:pt x="12" y="2"/>
                  </a:lnTo>
                  <a:lnTo>
                    <a:pt x="10" y="0"/>
                  </a:lnTo>
                  <a:lnTo>
                    <a:pt x="8" y="0"/>
                  </a:lnTo>
                  <a:lnTo>
                    <a:pt x="6" y="0"/>
                  </a:lnTo>
                  <a:lnTo>
                    <a:pt x="4" y="0"/>
                  </a:lnTo>
                  <a:lnTo>
                    <a:pt x="2" y="2"/>
                  </a:lnTo>
                  <a:lnTo>
                    <a:pt x="0" y="4"/>
                  </a:lnTo>
                  <a:lnTo>
                    <a:pt x="0" y="50"/>
                  </a:lnTo>
                  <a:lnTo>
                    <a:pt x="0" y="52"/>
                  </a:lnTo>
                  <a:lnTo>
                    <a:pt x="2" y="53"/>
                  </a:lnTo>
                  <a:lnTo>
                    <a:pt x="4" y="55"/>
                  </a:lnTo>
                  <a:lnTo>
                    <a:pt x="6" y="57"/>
                  </a:lnTo>
                  <a:lnTo>
                    <a:pt x="8" y="57"/>
                  </a:lnTo>
                  <a:lnTo>
                    <a:pt x="10" y="55"/>
                  </a:lnTo>
                  <a:lnTo>
                    <a:pt x="12" y="53"/>
                  </a:lnTo>
                  <a:lnTo>
                    <a:pt x="12" y="52"/>
                  </a:lnTo>
                  <a:lnTo>
                    <a:pt x="1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47">
              <a:extLst>
                <a:ext uri="{FF2B5EF4-FFF2-40B4-BE49-F238E27FC236}">
                  <a16:creationId xmlns:a16="http://schemas.microsoft.com/office/drawing/2014/main" id="{B20D70F6-1B32-4B32-A831-95ACC6F9FFB4}"/>
                </a:ext>
              </a:extLst>
            </p:cNvPr>
            <p:cNvSpPr>
              <a:spLocks/>
            </p:cNvSpPr>
            <p:nvPr/>
          </p:nvSpPr>
          <p:spPr bwMode="auto">
            <a:xfrm>
              <a:off x="1576" y="2803"/>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6" name="Group 48">
            <a:extLst>
              <a:ext uri="{FF2B5EF4-FFF2-40B4-BE49-F238E27FC236}">
                <a16:creationId xmlns:a16="http://schemas.microsoft.com/office/drawing/2014/main" id="{FCF0FA24-3A9E-40D2-B25B-E4C8F665CF91}"/>
              </a:ext>
            </a:extLst>
          </p:cNvPr>
          <p:cNvGrpSpPr>
            <a:grpSpLocks/>
          </p:cNvGrpSpPr>
          <p:nvPr/>
        </p:nvGrpSpPr>
        <p:grpSpPr bwMode="auto">
          <a:xfrm>
            <a:off x="4140994" y="3469533"/>
            <a:ext cx="7937" cy="365125"/>
            <a:chOff x="1984" y="2595"/>
            <a:chExt cx="5" cy="230"/>
          </a:xfrm>
        </p:grpSpPr>
        <p:sp>
          <p:nvSpPr>
            <p:cNvPr id="47" name="Freeform 49">
              <a:extLst>
                <a:ext uri="{FF2B5EF4-FFF2-40B4-BE49-F238E27FC236}">
                  <a16:creationId xmlns:a16="http://schemas.microsoft.com/office/drawing/2014/main" id="{8D037DAA-B79D-4CEB-B251-439C3E23CBB6}"/>
                </a:ext>
              </a:extLst>
            </p:cNvPr>
            <p:cNvSpPr>
              <a:spLocks/>
            </p:cNvSpPr>
            <p:nvPr/>
          </p:nvSpPr>
          <p:spPr bwMode="auto">
            <a:xfrm>
              <a:off x="1984" y="2595"/>
              <a:ext cx="5" cy="29"/>
            </a:xfrm>
            <a:custGeom>
              <a:avLst/>
              <a:gdLst>
                <a:gd name="T0" fmla="*/ 0 w 12"/>
                <a:gd name="T1" fmla="*/ 1 h 57"/>
                <a:gd name="T2" fmla="*/ 0 w 12"/>
                <a:gd name="T3" fmla="*/ 1 h 57"/>
                <a:gd name="T4" fmla="*/ 0 w 12"/>
                <a:gd name="T5" fmla="*/ 1 h 57"/>
                <a:gd name="T6" fmla="*/ 0 w 12"/>
                <a:gd name="T7" fmla="*/ 1 h 57"/>
                <a:gd name="T8" fmla="*/ 0 w 12"/>
                <a:gd name="T9" fmla="*/ 0 h 57"/>
                <a:gd name="T10" fmla="*/ 0 w 12"/>
                <a:gd name="T11" fmla="*/ 0 h 57"/>
                <a:gd name="T12" fmla="*/ 0 w 12"/>
                <a:gd name="T13" fmla="*/ 1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7"/>
                  </a:moveTo>
                  <a:lnTo>
                    <a:pt x="12" y="5"/>
                  </a:lnTo>
                  <a:lnTo>
                    <a:pt x="10" y="3"/>
                  </a:lnTo>
                  <a:lnTo>
                    <a:pt x="8" y="2"/>
                  </a:lnTo>
                  <a:lnTo>
                    <a:pt x="6" y="0"/>
                  </a:lnTo>
                  <a:lnTo>
                    <a:pt x="4" y="2"/>
                  </a:lnTo>
                  <a:lnTo>
                    <a:pt x="2" y="3"/>
                  </a:lnTo>
                  <a:lnTo>
                    <a:pt x="0" y="5"/>
                  </a:lnTo>
                  <a:lnTo>
                    <a:pt x="0" y="50"/>
                  </a:lnTo>
                  <a:lnTo>
                    <a:pt x="0" y="51"/>
                  </a:lnTo>
                  <a:lnTo>
                    <a:pt x="2" y="53"/>
                  </a:lnTo>
                  <a:lnTo>
                    <a:pt x="4" y="55"/>
                  </a:lnTo>
                  <a:lnTo>
                    <a:pt x="6" y="57"/>
                  </a:lnTo>
                  <a:lnTo>
                    <a:pt x="8" y="57"/>
                  </a:lnTo>
                  <a:lnTo>
                    <a:pt x="10" y="55"/>
                  </a:lnTo>
                  <a:lnTo>
                    <a:pt x="12" y="53"/>
                  </a:lnTo>
                  <a:lnTo>
                    <a:pt x="12" y="51"/>
                  </a:lnTo>
                  <a:lnTo>
                    <a:pt x="1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50">
              <a:extLst>
                <a:ext uri="{FF2B5EF4-FFF2-40B4-BE49-F238E27FC236}">
                  <a16:creationId xmlns:a16="http://schemas.microsoft.com/office/drawing/2014/main" id="{F53C1A1D-8045-4A13-A543-67C2C7B5C291}"/>
                </a:ext>
              </a:extLst>
            </p:cNvPr>
            <p:cNvSpPr>
              <a:spLocks/>
            </p:cNvSpPr>
            <p:nvPr/>
          </p:nvSpPr>
          <p:spPr bwMode="auto">
            <a:xfrm>
              <a:off x="1984" y="2635"/>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51">
              <a:extLst>
                <a:ext uri="{FF2B5EF4-FFF2-40B4-BE49-F238E27FC236}">
                  <a16:creationId xmlns:a16="http://schemas.microsoft.com/office/drawing/2014/main" id="{6F3CA1C3-2355-42B2-9BBE-22553C48B7CD}"/>
                </a:ext>
              </a:extLst>
            </p:cNvPr>
            <p:cNvSpPr>
              <a:spLocks/>
            </p:cNvSpPr>
            <p:nvPr/>
          </p:nvSpPr>
          <p:spPr bwMode="auto">
            <a:xfrm>
              <a:off x="1984" y="2675"/>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52">
              <a:extLst>
                <a:ext uri="{FF2B5EF4-FFF2-40B4-BE49-F238E27FC236}">
                  <a16:creationId xmlns:a16="http://schemas.microsoft.com/office/drawing/2014/main" id="{220F33C1-7874-474B-965C-49584F0B3C50}"/>
                </a:ext>
              </a:extLst>
            </p:cNvPr>
            <p:cNvSpPr>
              <a:spLocks/>
            </p:cNvSpPr>
            <p:nvPr/>
          </p:nvSpPr>
          <p:spPr bwMode="auto">
            <a:xfrm>
              <a:off x="1984" y="2716"/>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5"/>
                  </a:moveTo>
                  <a:lnTo>
                    <a:pt x="12" y="3"/>
                  </a:lnTo>
                  <a:lnTo>
                    <a:pt x="12" y="2"/>
                  </a:lnTo>
                  <a:lnTo>
                    <a:pt x="10" y="0"/>
                  </a:lnTo>
                  <a:lnTo>
                    <a:pt x="8" y="0"/>
                  </a:lnTo>
                  <a:lnTo>
                    <a:pt x="6" y="0"/>
                  </a:lnTo>
                  <a:lnTo>
                    <a:pt x="4" y="0"/>
                  </a:lnTo>
                  <a:lnTo>
                    <a:pt x="2" y="2"/>
                  </a:lnTo>
                  <a:lnTo>
                    <a:pt x="0" y="3"/>
                  </a:lnTo>
                  <a:lnTo>
                    <a:pt x="0" y="50"/>
                  </a:lnTo>
                  <a:lnTo>
                    <a:pt x="0" y="51"/>
                  </a:lnTo>
                  <a:lnTo>
                    <a:pt x="2" y="53"/>
                  </a:lnTo>
                  <a:lnTo>
                    <a:pt x="4" y="55"/>
                  </a:lnTo>
                  <a:lnTo>
                    <a:pt x="6" y="57"/>
                  </a:lnTo>
                  <a:lnTo>
                    <a:pt x="8" y="57"/>
                  </a:lnTo>
                  <a:lnTo>
                    <a:pt x="10" y="55"/>
                  </a:lnTo>
                  <a:lnTo>
                    <a:pt x="12" y="53"/>
                  </a:lnTo>
                  <a:lnTo>
                    <a:pt x="12" y="51"/>
                  </a:lnTo>
                  <a:lnTo>
                    <a:pt x="1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53">
              <a:extLst>
                <a:ext uri="{FF2B5EF4-FFF2-40B4-BE49-F238E27FC236}">
                  <a16:creationId xmlns:a16="http://schemas.microsoft.com/office/drawing/2014/main" id="{3941D5F2-D599-48F3-973B-F10F26F6155B}"/>
                </a:ext>
              </a:extLst>
            </p:cNvPr>
            <p:cNvSpPr>
              <a:spLocks/>
            </p:cNvSpPr>
            <p:nvPr/>
          </p:nvSpPr>
          <p:spPr bwMode="auto">
            <a:xfrm>
              <a:off x="1984" y="2756"/>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54">
              <a:extLst>
                <a:ext uri="{FF2B5EF4-FFF2-40B4-BE49-F238E27FC236}">
                  <a16:creationId xmlns:a16="http://schemas.microsoft.com/office/drawing/2014/main" id="{314E759A-5D39-4AF9-AE0D-5227C30A1103}"/>
                </a:ext>
              </a:extLst>
            </p:cNvPr>
            <p:cNvSpPr>
              <a:spLocks/>
            </p:cNvSpPr>
            <p:nvPr/>
          </p:nvSpPr>
          <p:spPr bwMode="auto">
            <a:xfrm>
              <a:off x="1984" y="2796"/>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3" name="Rectangle 55">
            <a:extLst>
              <a:ext uri="{FF2B5EF4-FFF2-40B4-BE49-F238E27FC236}">
                <a16:creationId xmlns:a16="http://schemas.microsoft.com/office/drawing/2014/main" id="{DC4D05B6-5F54-425D-9E54-DD5577843F53}"/>
              </a:ext>
            </a:extLst>
          </p:cNvPr>
          <p:cNvSpPr>
            <a:spLocks noChangeArrowheads="1"/>
          </p:cNvSpPr>
          <p:nvPr/>
        </p:nvSpPr>
        <p:spPr bwMode="auto">
          <a:xfrm>
            <a:off x="2143918" y="3731470"/>
            <a:ext cx="7747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4" name="Rectangle 56">
            <a:extLst>
              <a:ext uri="{FF2B5EF4-FFF2-40B4-BE49-F238E27FC236}">
                <a16:creationId xmlns:a16="http://schemas.microsoft.com/office/drawing/2014/main" id="{DD2C0EA3-BFAB-4397-A649-000809CC7395}"/>
              </a:ext>
            </a:extLst>
          </p:cNvPr>
          <p:cNvSpPr>
            <a:spLocks noChangeArrowheads="1"/>
          </p:cNvSpPr>
          <p:nvPr/>
        </p:nvSpPr>
        <p:spPr bwMode="auto">
          <a:xfrm>
            <a:off x="2235993" y="3782270"/>
            <a:ext cx="5461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Timeslot 1</a:t>
            </a:r>
            <a:endParaRPr lang="en-US" altLang="en-US" sz="1400">
              <a:latin typeface="Arial" panose="020B0604020202020204" pitchFamily="34" charset="0"/>
            </a:endParaRPr>
          </a:p>
        </p:txBody>
      </p:sp>
      <p:sp>
        <p:nvSpPr>
          <p:cNvPr id="55" name="Rectangle 57">
            <a:extLst>
              <a:ext uri="{FF2B5EF4-FFF2-40B4-BE49-F238E27FC236}">
                <a16:creationId xmlns:a16="http://schemas.microsoft.com/office/drawing/2014/main" id="{BCD4AD92-CECC-45D8-844B-1B3181E83EE6}"/>
              </a:ext>
            </a:extLst>
          </p:cNvPr>
          <p:cNvSpPr>
            <a:spLocks noChangeArrowheads="1"/>
          </p:cNvSpPr>
          <p:nvPr/>
        </p:nvSpPr>
        <p:spPr bwMode="auto">
          <a:xfrm>
            <a:off x="2791618" y="3731470"/>
            <a:ext cx="7747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 name="Rectangle 58">
            <a:extLst>
              <a:ext uri="{FF2B5EF4-FFF2-40B4-BE49-F238E27FC236}">
                <a16:creationId xmlns:a16="http://schemas.microsoft.com/office/drawing/2014/main" id="{75FC113C-B25C-48CE-B404-E335E450CEA3}"/>
              </a:ext>
            </a:extLst>
          </p:cNvPr>
          <p:cNvSpPr>
            <a:spLocks noChangeArrowheads="1"/>
          </p:cNvSpPr>
          <p:nvPr/>
        </p:nvSpPr>
        <p:spPr bwMode="auto">
          <a:xfrm>
            <a:off x="2883693" y="3782270"/>
            <a:ext cx="5461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Timeslot 2</a:t>
            </a:r>
            <a:endParaRPr lang="en-US" altLang="en-US" sz="1400">
              <a:latin typeface="Arial" panose="020B0604020202020204" pitchFamily="34" charset="0"/>
            </a:endParaRPr>
          </a:p>
        </p:txBody>
      </p:sp>
      <p:sp>
        <p:nvSpPr>
          <p:cNvPr id="57" name="Rectangle 59">
            <a:extLst>
              <a:ext uri="{FF2B5EF4-FFF2-40B4-BE49-F238E27FC236}">
                <a16:creationId xmlns:a16="http://schemas.microsoft.com/office/drawing/2014/main" id="{5F9F191B-1330-4DB5-84B9-714674198562}"/>
              </a:ext>
            </a:extLst>
          </p:cNvPr>
          <p:cNvSpPr>
            <a:spLocks noChangeArrowheads="1"/>
          </p:cNvSpPr>
          <p:nvPr/>
        </p:nvSpPr>
        <p:spPr bwMode="auto">
          <a:xfrm>
            <a:off x="3439318" y="3731470"/>
            <a:ext cx="7747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 name="Rectangle 60">
            <a:extLst>
              <a:ext uri="{FF2B5EF4-FFF2-40B4-BE49-F238E27FC236}">
                <a16:creationId xmlns:a16="http://schemas.microsoft.com/office/drawing/2014/main" id="{7FC3C986-73F0-4B10-8DAB-65A0832341F1}"/>
              </a:ext>
            </a:extLst>
          </p:cNvPr>
          <p:cNvSpPr>
            <a:spLocks noChangeArrowheads="1"/>
          </p:cNvSpPr>
          <p:nvPr/>
        </p:nvSpPr>
        <p:spPr bwMode="auto">
          <a:xfrm>
            <a:off x="3531393" y="3782270"/>
            <a:ext cx="5461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Timeslot 3</a:t>
            </a:r>
            <a:endParaRPr lang="en-US" altLang="en-US" sz="1400">
              <a:latin typeface="Arial" panose="020B0604020202020204" pitchFamily="34" charset="0"/>
            </a:endParaRPr>
          </a:p>
        </p:txBody>
      </p:sp>
      <p:sp>
        <p:nvSpPr>
          <p:cNvPr id="59" name="AutoShape 63">
            <a:extLst>
              <a:ext uri="{FF2B5EF4-FFF2-40B4-BE49-F238E27FC236}">
                <a16:creationId xmlns:a16="http://schemas.microsoft.com/office/drawing/2014/main" id="{4103F02C-6874-44CC-BB54-30E6BF31EE38}"/>
              </a:ext>
            </a:extLst>
          </p:cNvPr>
          <p:cNvSpPr>
            <a:spLocks noChangeAspect="1" noChangeArrowheads="1" noTextEdit="1"/>
          </p:cNvSpPr>
          <p:nvPr/>
        </p:nvSpPr>
        <p:spPr bwMode="auto">
          <a:xfrm>
            <a:off x="4271168" y="3945782"/>
            <a:ext cx="240665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0" name="Rectangle 64">
            <a:extLst>
              <a:ext uri="{FF2B5EF4-FFF2-40B4-BE49-F238E27FC236}">
                <a16:creationId xmlns:a16="http://schemas.microsoft.com/office/drawing/2014/main" id="{9D85FFB5-937F-460A-A9A1-81CAC4B5D664}"/>
              </a:ext>
            </a:extLst>
          </p:cNvPr>
          <p:cNvSpPr>
            <a:spLocks noChangeArrowheads="1"/>
          </p:cNvSpPr>
          <p:nvPr/>
        </p:nvSpPr>
        <p:spPr bwMode="auto">
          <a:xfrm>
            <a:off x="4271169" y="3947371"/>
            <a:ext cx="34925"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100">
                <a:solidFill>
                  <a:srgbClr val="000000"/>
                </a:solidFill>
              </a:rPr>
              <a:t> </a:t>
            </a:r>
            <a:endParaRPr lang="en-US" altLang="en-US" sz="1400">
              <a:latin typeface="Arial" panose="020B0604020202020204" pitchFamily="34" charset="0"/>
            </a:endParaRPr>
          </a:p>
        </p:txBody>
      </p:sp>
      <p:sp>
        <p:nvSpPr>
          <p:cNvPr id="61" name="Freeform 65">
            <a:extLst>
              <a:ext uri="{FF2B5EF4-FFF2-40B4-BE49-F238E27FC236}">
                <a16:creationId xmlns:a16="http://schemas.microsoft.com/office/drawing/2014/main" id="{28964674-C486-41FC-9ADF-62AE5C7BCD56}"/>
              </a:ext>
            </a:extLst>
          </p:cNvPr>
          <p:cNvSpPr>
            <a:spLocks/>
          </p:cNvSpPr>
          <p:nvPr/>
        </p:nvSpPr>
        <p:spPr bwMode="auto">
          <a:xfrm>
            <a:off x="5541168" y="4026746"/>
            <a:ext cx="150812" cy="90487"/>
          </a:xfrm>
          <a:custGeom>
            <a:avLst/>
            <a:gdLst>
              <a:gd name="T0" fmla="*/ 0 w 95"/>
              <a:gd name="T1" fmla="*/ 2147483647 h 57"/>
              <a:gd name="T2" fmla="*/ 2147483647 w 95"/>
              <a:gd name="T3" fmla="*/ 2147483647 h 57"/>
              <a:gd name="T4" fmla="*/ 2147483647 w 95"/>
              <a:gd name="T5" fmla="*/ 2147483647 h 57"/>
              <a:gd name="T6" fmla="*/ 2147483647 w 95"/>
              <a:gd name="T7" fmla="*/ 2147483647 h 57"/>
              <a:gd name="T8" fmla="*/ 2147483647 w 95"/>
              <a:gd name="T9" fmla="*/ 2147483647 h 57"/>
              <a:gd name="T10" fmla="*/ 2147483647 w 95"/>
              <a:gd name="T11" fmla="*/ 0 h 57"/>
              <a:gd name="T12" fmla="*/ 0 60000 65536"/>
              <a:gd name="T13" fmla="*/ 0 60000 65536"/>
              <a:gd name="T14" fmla="*/ 0 60000 65536"/>
              <a:gd name="T15" fmla="*/ 0 60000 65536"/>
              <a:gd name="T16" fmla="*/ 0 60000 65536"/>
              <a:gd name="T17" fmla="*/ 0 60000 65536"/>
              <a:gd name="T18" fmla="*/ 0 w 95"/>
              <a:gd name="T19" fmla="*/ 0 h 57"/>
              <a:gd name="T20" fmla="*/ 95 w 95"/>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95" h="57">
                <a:moveTo>
                  <a:pt x="0" y="57"/>
                </a:moveTo>
                <a:lnTo>
                  <a:pt x="25" y="37"/>
                </a:lnTo>
                <a:lnTo>
                  <a:pt x="26" y="46"/>
                </a:lnTo>
                <a:lnTo>
                  <a:pt x="66" y="15"/>
                </a:lnTo>
                <a:lnTo>
                  <a:pt x="68" y="20"/>
                </a:lnTo>
                <a:lnTo>
                  <a:pt x="95"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66">
            <a:extLst>
              <a:ext uri="{FF2B5EF4-FFF2-40B4-BE49-F238E27FC236}">
                <a16:creationId xmlns:a16="http://schemas.microsoft.com/office/drawing/2014/main" id="{BB92CBF8-0637-4021-B5E8-47D5AD020B40}"/>
              </a:ext>
            </a:extLst>
          </p:cNvPr>
          <p:cNvSpPr>
            <a:spLocks/>
          </p:cNvSpPr>
          <p:nvPr/>
        </p:nvSpPr>
        <p:spPr bwMode="auto">
          <a:xfrm>
            <a:off x="5472906" y="3961657"/>
            <a:ext cx="104775" cy="134938"/>
          </a:xfrm>
          <a:custGeom>
            <a:avLst/>
            <a:gdLst>
              <a:gd name="T0" fmla="*/ 0 w 66"/>
              <a:gd name="T1" fmla="*/ 2147483647 h 85"/>
              <a:gd name="T2" fmla="*/ 2147483647 w 66"/>
              <a:gd name="T3" fmla="*/ 2147483647 h 85"/>
              <a:gd name="T4" fmla="*/ 2147483647 w 66"/>
              <a:gd name="T5" fmla="*/ 2147483647 h 85"/>
              <a:gd name="T6" fmla="*/ 2147483647 w 66"/>
              <a:gd name="T7" fmla="*/ 2147483647 h 85"/>
              <a:gd name="T8" fmla="*/ 2147483647 w 66"/>
              <a:gd name="T9" fmla="*/ 2147483647 h 85"/>
              <a:gd name="T10" fmla="*/ 2147483647 w 66"/>
              <a:gd name="T11" fmla="*/ 0 h 85"/>
              <a:gd name="T12" fmla="*/ 0 60000 65536"/>
              <a:gd name="T13" fmla="*/ 0 60000 65536"/>
              <a:gd name="T14" fmla="*/ 0 60000 65536"/>
              <a:gd name="T15" fmla="*/ 0 60000 65536"/>
              <a:gd name="T16" fmla="*/ 0 60000 65536"/>
              <a:gd name="T17" fmla="*/ 0 60000 65536"/>
              <a:gd name="T18" fmla="*/ 0 w 66"/>
              <a:gd name="T19" fmla="*/ 0 h 85"/>
              <a:gd name="T20" fmla="*/ 66 w 66"/>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66" h="85">
                <a:moveTo>
                  <a:pt x="0" y="85"/>
                </a:moveTo>
                <a:lnTo>
                  <a:pt x="9" y="61"/>
                </a:lnTo>
                <a:lnTo>
                  <a:pt x="21" y="68"/>
                </a:lnTo>
                <a:lnTo>
                  <a:pt x="42" y="24"/>
                </a:lnTo>
                <a:lnTo>
                  <a:pt x="51" y="29"/>
                </a:lnTo>
                <a:lnTo>
                  <a:pt x="66"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67">
            <a:extLst>
              <a:ext uri="{FF2B5EF4-FFF2-40B4-BE49-F238E27FC236}">
                <a16:creationId xmlns:a16="http://schemas.microsoft.com/office/drawing/2014/main" id="{F6DE17DE-7B1B-4D29-943A-CB7EFBD80A9E}"/>
              </a:ext>
            </a:extLst>
          </p:cNvPr>
          <p:cNvSpPr>
            <a:spLocks/>
          </p:cNvSpPr>
          <p:nvPr/>
        </p:nvSpPr>
        <p:spPr bwMode="auto">
          <a:xfrm>
            <a:off x="5315743" y="3961657"/>
            <a:ext cx="106362" cy="134938"/>
          </a:xfrm>
          <a:custGeom>
            <a:avLst/>
            <a:gdLst>
              <a:gd name="T0" fmla="*/ 2147483647 w 67"/>
              <a:gd name="T1" fmla="*/ 2147483647 h 85"/>
              <a:gd name="T2" fmla="*/ 2147483647 w 67"/>
              <a:gd name="T3" fmla="*/ 2147483647 h 85"/>
              <a:gd name="T4" fmla="*/ 2147483647 w 67"/>
              <a:gd name="T5" fmla="*/ 2147483647 h 85"/>
              <a:gd name="T6" fmla="*/ 2147483647 w 67"/>
              <a:gd name="T7" fmla="*/ 2147483647 h 85"/>
              <a:gd name="T8" fmla="*/ 2147483647 w 67"/>
              <a:gd name="T9" fmla="*/ 2147483647 h 85"/>
              <a:gd name="T10" fmla="*/ 0 w 67"/>
              <a:gd name="T11" fmla="*/ 0 h 85"/>
              <a:gd name="T12" fmla="*/ 0 60000 65536"/>
              <a:gd name="T13" fmla="*/ 0 60000 65536"/>
              <a:gd name="T14" fmla="*/ 0 60000 65536"/>
              <a:gd name="T15" fmla="*/ 0 60000 65536"/>
              <a:gd name="T16" fmla="*/ 0 60000 65536"/>
              <a:gd name="T17" fmla="*/ 0 60000 65536"/>
              <a:gd name="T18" fmla="*/ 0 w 67"/>
              <a:gd name="T19" fmla="*/ 0 h 85"/>
              <a:gd name="T20" fmla="*/ 67 w 67"/>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67" h="85">
                <a:moveTo>
                  <a:pt x="67" y="85"/>
                </a:moveTo>
                <a:lnTo>
                  <a:pt x="57" y="62"/>
                </a:lnTo>
                <a:lnTo>
                  <a:pt x="44" y="69"/>
                </a:lnTo>
                <a:lnTo>
                  <a:pt x="23" y="24"/>
                </a:lnTo>
                <a:lnTo>
                  <a:pt x="15" y="30"/>
                </a:lnTo>
                <a:lnTo>
                  <a:pt x="0"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4" name="Freeform 68">
            <a:extLst>
              <a:ext uri="{FF2B5EF4-FFF2-40B4-BE49-F238E27FC236}">
                <a16:creationId xmlns:a16="http://schemas.microsoft.com/office/drawing/2014/main" id="{01B78EA0-2CA5-4309-8421-8063EB6881EA}"/>
              </a:ext>
            </a:extLst>
          </p:cNvPr>
          <p:cNvSpPr>
            <a:spLocks/>
          </p:cNvSpPr>
          <p:nvPr/>
        </p:nvSpPr>
        <p:spPr bwMode="auto">
          <a:xfrm>
            <a:off x="5203031" y="4026746"/>
            <a:ext cx="149225" cy="90487"/>
          </a:xfrm>
          <a:custGeom>
            <a:avLst/>
            <a:gdLst>
              <a:gd name="T0" fmla="*/ 2147483647 w 94"/>
              <a:gd name="T1" fmla="*/ 2147483647 h 57"/>
              <a:gd name="T2" fmla="*/ 2147483647 w 94"/>
              <a:gd name="T3" fmla="*/ 2147483647 h 57"/>
              <a:gd name="T4" fmla="*/ 2147483647 w 94"/>
              <a:gd name="T5" fmla="*/ 2147483647 h 57"/>
              <a:gd name="T6" fmla="*/ 2147483647 w 94"/>
              <a:gd name="T7" fmla="*/ 2147483647 h 57"/>
              <a:gd name="T8" fmla="*/ 2147483647 w 94"/>
              <a:gd name="T9" fmla="*/ 2147483647 h 57"/>
              <a:gd name="T10" fmla="*/ 0 w 94"/>
              <a:gd name="T11" fmla="*/ 0 h 57"/>
              <a:gd name="T12" fmla="*/ 0 60000 65536"/>
              <a:gd name="T13" fmla="*/ 0 60000 65536"/>
              <a:gd name="T14" fmla="*/ 0 60000 65536"/>
              <a:gd name="T15" fmla="*/ 0 60000 65536"/>
              <a:gd name="T16" fmla="*/ 0 60000 65536"/>
              <a:gd name="T17" fmla="*/ 0 60000 65536"/>
              <a:gd name="T18" fmla="*/ 0 w 94"/>
              <a:gd name="T19" fmla="*/ 0 h 57"/>
              <a:gd name="T20" fmla="*/ 94 w 94"/>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94" h="57">
                <a:moveTo>
                  <a:pt x="94" y="57"/>
                </a:moveTo>
                <a:lnTo>
                  <a:pt x="69" y="36"/>
                </a:lnTo>
                <a:lnTo>
                  <a:pt x="69" y="45"/>
                </a:lnTo>
                <a:lnTo>
                  <a:pt x="30" y="13"/>
                </a:lnTo>
                <a:lnTo>
                  <a:pt x="27" y="21"/>
                </a:lnTo>
                <a:lnTo>
                  <a:pt x="0"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 name="Line 69">
            <a:extLst>
              <a:ext uri="{FF2B5EF4-FFF2-40B4-BE49-F238E27FC236}">
                <a16:creationId xmlns:a16="http://schemas.microsoft.com/office/drawing/2014/main" id="{E7D4AF73-CEB0-430A-9141-B74F3E916D67}"/>
              </a:ext>
            </a:extLst>
          </p:cNvPr>
          <p:cNvSpPr>
            <a:spLocks noChangeShapeType="1"/>
          </p:cNvSpPr>
          <p:nvPr/>
        </p:nvSpPr>
        <p:spPr bwMode="auto">
          <a:xfrm>
            <a:off x="5436393" y="4398221"/>
            <a:ext cx="30162" cy="158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6" name="Group 70">
            <a:extLst>
              <a:ext uri="{FF2B5EF4-FFF2-40B4-BE49-F238E27FC236}">
                <a16:creationId xmlns:a16="http://schemas.microsoft.com/office/drawing/2014/main" id="{9239482F-1942-49BE-9C22-435A8C14C81B}"/>
              </a:ext>
            </a:extLst>
          </p:cNvPr>
          <p:cNvGrpSpPr>
            <a:grpSpLocks/>
          </p:cNvGrpSpPr>
          <p:nvPr/>
        </p:nvGrpSpPr>
        <p:grpSpPr bwMode="auto">
          <a:xfrm>
            <a:off x="5401469" y="4133108"/>
            <a:ext cx="96837" cy="739775"/>
            <a:chOff x="2778" y="3013"/>
            <a:chExt cx="61" cy="466"/>
          </a:xfrm>
        </p:grpSpPr>
        <p:sp>
          <p:nvSpPr>
            <p:cNvPr id="67" name="Line 71">
              <a:extLst>
                <a:ext uri="{FF2B5EF4-FFF2-40B4-BE49-F238E27FC236}">
                  <a16:creationId xmlns:a16="http://schemas.microsoft.com/office/drawing/2014/main" id="{66BC5D5A-10B2-46B5-B8F1-6E3E084F66E0}"/>
                </a:ext>
              </a:extLst>
            </p:cNvPr>
            <p:cNvSpPr>
              <a:spLocks noChangeShapeType="1"/>
            </p:cNvSpPr>
            <p:nvPr/>
          </p:nvSpPr>
          <p:spPr bwMode="auto">
            <a:xfrm flipV="1">
              <a:off x="2809" y="3020"/>
              <a:ext cx="1" cy="93"/>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72">
              <a:extLst>
                <a:ext uri="{FF2B5EF4-FFF2-40B4-BE49-F238E27FC236}">
                  <a16:creationId xmlns:a16="http://schemas.microsoft.com/office/drawing/2014/main" id="{7A3237FA-7921-47D8-92EC-5ACC5B6C4BB2}"/>
                </a:ext>
              </a:extLst>
            </p:cNvPr>
            <p:cNvSpPr>
              <a:spLocks noChangeShapeType="1"/>
            </p:cNvSpPr>
            <p:nvPr/>
          </p:nvSpPr>
          <p:spPr bwMode="auto">
            <a:xfrm flipV="1">
              <a:off x="2778" y="3111"/>
              <a:ext cx="24" cy="368"/>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73">
              <a:extLst>
                <a:ext uri="{FF2B5EF4-FFF2-40B4-BE49-F238E27FC236}">
                  <a16:creationId xmlns:a16="http://schemas.microsoft.com/office/drawing/2014/main" id="{81F5B3E0-3C40-43F7-91B3-0B080413BBB1}"/>
                </a:ext>
              </a:extLst>
            </p:cNvPr>
            <p:cNvSpPr>
              <a:spLocks noChangeShapeType="1"/>
            </p:cNvSpPr>
            <p:nvPr/>
          </p:nvSpPr>
          <p:spPr bwMode="auto">
            <a:xfrm>
              <a:off x="2815" y="3112"/>
              <a:ext cx="24" cy="36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 name="Line 74">
              <a:extLst>
                <a:ext uri="{FF2B5EF4-FFF2-40B4-BE49-F238E27FC236}">
                  <a16:creationId xmlns:a16="http://schemas.microsoft.com/office/drawing/2014/main" id="{7772FEB0-2B29-4757-87F1-652DB7133C99}"/>
                </a:ext>
              </a:extLst>
            </p:cNvPr>
            <p:cNvSpPr>
              <a:spLocks noChangeShapeType="1"/>
            </p:cNvSpPr>
            <p:nvPr/>
          </p:nvSpPr>
          <p:spPr bwMode="auto">
            <a:xfrm>
              <a:off x="2780" y="3469"/>
              <a:ext cx="5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Line 75">
              <a:extLst>
                <a:ext uri="{FF2B5EF4-FFF2-40B4-BE49-F238E27FC236}">
                  <a16:creationId xmlns:a16="http://schemas.microsoft.com/office/drawing/2014/main" id="{543FC59E-8D2B-46FC-B127-D754AD930F29}"/>
                </a:ext>
              </a:extLst>
            </p:cNvPr>
            <p:cNvSpPr>
              <a:spLocks noChangeShapeType="1"/>
            </p:cNvSpPr>
            <p:nvPr/>
          </p:nvSpPr>
          <p:spPr bwMode="auto">
            <a:xfrm>
              <a:off x="2786" y="3369"/>
              <a:ext cx="47"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 name="Line 76">
              <a:extLst>
                <a:ext uri="{FF2B5EF4-FFF2-40B4-BE49-F238E27FC236}">
                  <a16:creationId xmlns:a16="http://schemas.microsoft.com/office/drawing/2014/main" id="{4FEDD1BA-532F-4F23-9EEE-9838AD878141}"/>
                </a:ext>
              </a:extLst>
            </p:cNvPr>
            <p:cNvSpPr>
              <a:spLocks noChangeShapeType="1"/>
            </p:cNvSpPr>
            <p:nvPr/>
          </p:nvSpPr>
          <p:spPr bwMode="auto">
            <a:xfrm>
              <a:off x="2786" y="3370"/>
              <a:ext cx="51" cy="10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Line 77">
              <a:extLst>
                <a:ext uri="{FF2B5EF4-FFF2-40B4-BE49-F238E27FC236}">
                  <a16:creationId xmlns:a16="http://schemas.microsoft.com/office/drawing/2014/main" id="{199F1EA0-3BDC-4C97-8EFB-6F7FAB6751B1}"/>
                </a:ext>
              </a:extLst>
            </p:cNvPr>
            <p:cNvSpPr>
              <a:spLocks noChangeShapeType="1"/>
            </p:cNvSpPr>
            <p:nvPr/>
          </p:nvSpPr>
          <p:spPr bwMode="auto">
            <a:xfrm flipH="1">
              <a:off x="2781" y="3369"/>
              <a:ext cx="50" cy="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 name="Line 78">
              <a:extLst>
                <a:ext uri="{FF2B5EF4-FFF2-40B4-BE49-F238E27FC236}">
                  <a16:creationId xmlns:a16="http://schemas.microsoft.com/office/drawing/2014/main" id="{64CAB895-4E6B-4805-948A-8C58850AD66D}"/>
                </a:ext>
              </a:extLst>
            </p:cNvPr>
            <p:cNvSpPr>
              <a:spLocks noChangeShapeType="1"/>
            </p:cNvSpPr>
            <p:nvPr/>
          </p:nvSpPr>
          <p:spPr bwMode="auto">
            <a:xfrm>
              <a:off x="2794" y="3270"/>
              <a:ext cx="3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79">
              <a:extLst>
                <a:ext uri="{FF2B5EF4-FFF2-40B4-BE49-F238E27FC236}">
                  <a16:creationId xmlns:a16="http://schemas.microsoft.com/office/drawing/2014/main" id="{BFFEACCF-8429-4B97-B750-7F171DEB5722}"/>
                </a:ext>
              </a:extLst>
            </p:cNvPr>
            <p:cNvSpPr>
              <a:spLocks noChangeShapeType="1"/>
            </p:cNvSpPr>
            <p:nvPr/>
          </p:nvSpPr>
          <p:spPr bwMode="auto">
            <a:xfrm>
              <a:off x="2793" y="3270"/>
              <a:ext cx="38" cy="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Line 80">
              <a:extLst>
                <a:ext uri="{FF2B5EF4-FFF2-40B4-BE49-F238E27FC236}">
                  <a16:creationId xmlns:a16="http://schemas.microsoft.com/office/drawing/2014/main" id="{7CCF9D36-209F-432E-A22B-4AA4E912DD1A}"/>
                </a:ext>
              </a:extLst>
            </p:cNvPr>
            <p:cNvSpPr>
              <a:spLocks noChangeShapeType="1"/>
            </p:cNvSpPr>
            <p:nvPr/>
          </p:nvSpPr>
          <p:spPr bwMode="auto">
            <a:xfrm flipV="1">
              <a:off x="2785" y="3270"/>
              <a:ext cx="40" cy="9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 name="Line 81">
              <a:extLst>
                <a:ext uri="{FF2B5EF4-FFF2-40B4-BE49-F238E27FC236}">
                  <a16:creationId xmlns:a16="http://schemas.microsoft.com/office/drawing/2014/main" id="{48C07A4A-6B39-4D94-8BC8-80A3C6BB5DB1}"/>
                </a:ext>
              </a:extLst>
            </p:cNvPr>
            <p:cNvSpPr>
              <a:spLocks noChangeShapeType="1"/>
            </p:cNvSpPr>
            <p:nvPr/>
          </p:nvSpPr>
          <p:spPr bwMode="auto">
            <a:xfrm>
              <a:off x="2797" y="3180"/>
              <a:ext cx="29" cy="9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82">
              <a:extLst>
                <a:ext uri="{FF2B5EF4-FFF2-40B4-BE49-F238E27FC236}">
                  <a16:creationId xmlns:a16="http://schemas.microsoft.com/office/drawing/2014/main" id="{B08CFE9C-59B0-48C2-82A4-4522389CB1D5}"/>
                </a:ext>
              </a:extLst>
            </p:cNvPr>
            <p:cNvSpPr>
              <a:spLocks noChangeShapeType="1"/>
            </p:cNvSpPr>
            <p:nvPr/>
          </p:nvSpPr>
          <p:spPr bwMode="auto">
            <a:xfrm flipV="1">
              <a:off x="2792" y="3179"/>
              <a:ext cx="26" cy="9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83">
              <a:extLst>
                <a:ext uri="{FF2B5EF4-FFF2-40B4-BE49-F238E27FC236}">
                  <a16:creationId xmlns:a16="http://schemas.microsoft.com/office/drawing/2014/main" id="{CBC48A5F-3B41-42EB-A363-45E57D895CC9}"/>
                </a:ext>
              </a:extLst>
            </p:cNvPr>
            <p:cNvSpPr>
              <a:spLocks noChangeShapeType="1"/>
            </p:cNvSpPr>
            <p:nvPr/>
          </p:nvSpPr>
          <p:spPr bwMode="auto">
            <a:xfrm flipV="1">
              <a:off x="2796" y="3112"/>
              <a:ext cx="19" cy="7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Oval 84">
              <a:extLst>
                <a:ext uri="{FF2B5EF4-FFF2-40B4-BE49-F238E27FC236}">
                  <a16:creationId xmlns:a16="http://schemas.microsoft.com/office/drawing/2014/main" id="{559EC675-369B-49BE-BAB5-25E535FB2DA3}"/>
                </a:ext>
              </a:extLst>
            </p:cNvPr>
            <p:cNvSpPr>
              <a:spLocks noChangeArrowheads="1"/>
            </p:cNvSpPr>
            <p:nvPr/>
          </p:nvSpPr>
          <p:spPr bwMode="auto">
            <a:xfrm>
              <a:off x="2801" y="3013"/>
              <a:ext cx="17" cy="12"/>
            </a:xfrm>
            <a:prstGeom prst="ellipse">
              <a:avLst/>
            </a:prstGeom>
            <a:solidFill>
              <a:srgbClr val="000000"/>
            </a:solidFill>
            <a:ln w="9525">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sp>
        <p:nvSpPr>
          <p:cNvPr id="81" name="Rectangle 292">
            <a:extLst>
              <a:ext uri="{FF2B5EF4-FFF2-40B4-BE49-F238E27FC236}">
                <a16:creationId xmlns:a16="http://schemas.microsoft.com/office/drawing/2014/main" id="{F84BC4B0-9457-440A-9DBC-57E8152C9CAA}"/>
              </a:ext>
            </a:extLst>
          </p:cNvPr>
          <p:cNvSpPr>
            <a:spLocks noChangeArrowheads="1"/>
          </p:cNvSpPr>
          <p:nvPr/>
        </p:nvSpPr>
        <p:spPr bwMode="auto">
          <a:xfrm>
            <a:off x="4661693" y="4353770"/>
            <a:ext cx="315912"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82" name="Rectangle 293">
            <a:extLst>
              <a:ext uri="{FF2B5EF4-FFF2-40B4-BE49-F238E27FC236}">
                <a16:creationId xmlns:a16="http://schemas.microsoft.com/office/drawing/2014/main" id="{AF0C75DE-1A3C-499D-9515-ED1B76D9DDC0}"/>
              </a:ext>
            </a:extLst>
          </p:cNvPr>
          <p:cNvSpPr>
            <a:spLocks noChangeArrowheads="1"/>
          </p:cNvSpPr>
          <p:nvPr/>
        </p:nvSpPr>
        <p:spPr bwMode="auto">
          <a:xfrm>
            <a:off x="4850605" y="4476007"/>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83" name="Rectangle 296">
            <a:extLst>
              <a:ext uri="{FF2B5EF4-FFF2-40B4-BE49-F238E27FC236}">
                <a16:creationId xmlns:a16="http://schemas.microsoft.com/office/drawing/2014/main" id="{2D0B8D46-320B-48CD-8EB1-32561D58CD32}"/>
              </a:ext>
            </a:extLst>
          </p:cNvPr>
          <p:cNvSpPr>
            <a:spLocks noChangeArrowheads="1"/>
          </p:cNvSpPr>
          <p:nvPr/>
        </p:nvSpPr>
        <p:spPr bwMode="auto">
          <a:xfrm>
            <a:off x="5493543" y="5063382"/>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84" name="Rectangle 297">
            <a:extLst>
              <a:ext uri="{FF2B5EF4-FFF2-40B4-BE49-F238E27FC236}">
                <a16:creationId xmlns:a16="http://schemas.microsoft.com/office/drawing/2014/main" id="{F96052D9-06B4-40DE-B6DC-CB4A53B522F9}"/>
              </a:ext>
            </a:extLst>
          </p:cNvPr>
          <p:cNvSpPr>
            <a:spLocks noChangeArrowheads="1"/>
          </p:cNvSpPr>
          <p:nvPr/>
        </p:nvSpPr>
        <p:spPr bwMode="auto">
          <a:xfrm>
            <a:off x="5952330" y="4166446"/>
            <a:ext cx="319088"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85" name="AutoShape 304">
            <a:extLst>
              <a:ext uri="{FF2B5EF4-FFF2-40B4-BE49-F238E27FC236}">
                <a16:creationId xmlns:a16="http://schemas.microsoft.com/office/drawing/2014/main" id="{7AAF921E-9DC6-4C0C-8EE0-CD0874988D32}"/>
              </a:ext>
            </a:extLst>
          </p:cNvPr>
          <p:cNvSpPr>
            <a:spLocks noChangeArrowheads="1"/>
          </p:cNvSpPr>
          <p:nvPr/>
        </p:nvSpPr>
        <p:spPr bwMode="auto">
          <a:xfrm>
            <a:off x="5417344" y="2613870"/>
            <a:ext cx="4465637" cy="893762"/>
          </a:xfrm>
          <a:prstGeom prst="parallelogram">
            <a:avLst>
              <a:gd name="adj" fmla="val 124911"/>
            </a:avLst>
          </a:prstGeom>
          <a:solidFill>
            <a:srgbClr val="FFCCCC"/>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86" name="Group 314">
            <a:extLst>
              <a:ext uri="{FF2B5EF4-FFF2-40B4-BE49-F238E27FC236}">
                <a16:creationId xmlns:a16="http://schemas.microsoft.com/office/drawing/2014/main" id="{35193249-3AF1-438C-90B3-B52CB0ACD474}"/>
              </a:ext>
            </a:extLst>
          </p:cNvPr>
          <p:cNvGrpSpPr>
            <a:grpSpLocks/>
          </p:cNvGrpSpPr>
          <p:nvPr/>
        </p:nvGrpSpPr>
        <p:grpSpPr bwMode="auto">
          <a:xfrm>
            <a:off x="2207418" y="3082183"/>
            <a:ext cx="3941762" cy="2352675"/>
            <a:chOff x="766" y="2351"/>
            <a:chExt cx="2483" cy="1482"/>
          </a:xfrm>
        </p:grpSpPr>
        <p:sp>
          <p:nvSpPr>
            <p:cNvPr id="87" name="Rectangle 28">
              <a:extLst>
                <a:ext uri="{FF2B5EF4-FFF2-40B4-BE49-F238E27FC236}">
                  <a16:creationId xmlns:a16="http://schemas.microsoft.com/office/drawing/2014/main" id="{E30A5534-B01B-4093-9E03-8EFEE7818D0F}"/>
                </a:ext>
              </a:extLst>
            </p:cNvPr>
            <p:cNvSpPr>
              <a:spLocks noChangeArrowheads="1"/>
            </p:cNvSpPr>
            <p:nvPr/>
          </p:nvSpPr>
          <p:spPr bwMode="auto">
            <a:xfrm>
              <a:off x="766" y="2447"/>
              <a:ext cx="404" cy="151"/>
            </a:xfrm>
            <a:prstGeom prst="rect">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88" name="Rectangle 29">
              <a:extLst>
                <a:ext uri="{FF2B5EF4-FFF2-40B4-BE49-F238E27FC236}">
                  <a16:creationId xmlns:a16="http://schemas.microsoft.com/office/drawing/2014/main" id="{3C36FD3B-F87A-4B6B-92CF-6CB0A5482B17}"/>
                </a:ext>
              </a:extLst>
            </p:cNvPr>
            <p:cNvSpPr>
              <a:spLocks noChangeArrowheads="1"/>
            </p:cNvSpPr>
            <p:nvPr/>
          </p:nvSpPr>
          <p:spPr bwMode="auto">
            <a:xfrm>
              <a:off x="827" y="2455"/>
              <a:ext cx="29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User 1</a:t>
              </a:r>
              <a:endParaRPr lang="en-US" altLang="en-US" sz="1400" dirty="0">
                <a:latin typeface="Arial" panose="020B0604020202020204" pitchFamily="34" charset="0"/>
              </a:endParaRPr>
            </a:p>
          </p:txBody>
        </p:sp>
        <p:grpSp>
          <p:nvGrpSpPr>
            <p:cNvPr id="89" name="Group 85">
              <a:extLst>
                <a:ext uri="{FF2B5EF4-FFF2-40B4-BE49-F238E27FC236}">
                  <a16:creationId xmlns:a16="http://schemas.microsoft.com/office/drawing/2014/main" id="{3D7BDB68-177A-4FE6-9750-2DEA74CF17F8}"/>
                </a:ext>
              </a:extLst>
            </p:cNvPr>
            <p:cNvGrpSpPr>
              <a:grpSpLocks/>
            </p:cNvGrpSpPr>
            <p:nvPr/>
          </p:nvGrpSpPr>
          <p:grpSpPr bwMode="auto">
            <a:xfrm>
              <a:off x="2066" y="3556"/>
              <a:ext cx="193" cy="277"/>
              <a:chOff x="2066" y="3556"/>
              <a:chExt cx="193" cy="277"/>
            </a:xfrm>
          </p:grpSpPr>
          <p:sp>
            <p:nvSpPr>
              <p:cNvPr id="95" name="Rectangle 86">
                <a:extLst>
                  <a:ext uri="{FF2B5EF4-FFF2-40B4-BE49-F238E27FC236}">
                    <a16:creationId xmlns:a16="http://schemas.microsoft.com/office/drawing/2014/main" id="{A92C80A5-587B-4B73-A1E6-FD658BFD6372}"/>
                  </a:ext>
                </a:extLst>
              </p:cNvPr>
              <p:cNvSpPr>
                <a:spLocks noChangeArrowheads="1"/>
              </p:cNvSpPr>
              <p:nvPr/>
            </p:nvSpPr>
            <p:spPr bwMode="auto">
              <a:xfrm>
                <a:off x="2066" y="3556"/>
                <a:ext cx="193" cy="277"/>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96" name="Group 87">
                <a:extLst>
                  <a:ext uri="{FF2B5EF4-FFF2-40B4-BE49-F238E27FC236}">
                    <a16:creationId xmlns:a16="http://schemas.microsoft.com/office/drawing/2014/main" id="{D2F2AC29-924C-4BBB-9E09-AA98CA84C6A3}"/>
                  </a:ext>
                </a:extLst>
              </p:cNvPr>
              <p:cNvGrpSpPr>
                <a:grpSpLocks/>
              </p:cNvGrpSpPr>
              <p:nvPr/>
            </p:nvGrpSpPr>
            <p:grpSpPr bwMode="auto">
              <a:xfrm>
                <a:off x="2067" y="3557"/>
                <a:ext cx="190" cy="274"/>
                <a:chOff x="2067" y="3557"/>
                <a:chExt cx="190" cy="274"/>
              </a:xfrm>
            </p:grpSpPr>
            <p:grpSp>
              <p:nvGrpSpPr>
                <p:cNvPr id="97" name="Group 88">
                  <a:extLst>
                    <a:ext uri="{FF2B5EF4-FFF2-40B4-BE49-F238E27FC236}">
                      <a16:creationId xmlns:a16="http://schemas.microsoft.com/office/drawing/2014/main" id="{5A05029B-4321-4DD4-96E0-58417A07D6E2}"/>
                    </a:ext>
                  </a:extLst>
                </p:cNvPr>
                <p:cNvGrpSpPr>
                  <a:grpSpLocks/>
                </p:cNvGrpSpPr>
                <p:nvPr/>
              </p:nvGrpSpPr>
              <p:grpSpPr bwMode="auto">
                <a:xfrm>
                  <a:off x="2067" y="3614"/>
                  <a:ext cx="164" cy="197"/>
                  <a:chOff x="2067" y="3614"/>
                  <a:chExt cx="164" cy="197"/>
                </a:xfrm>
              </p:grpSpPr>
              <p:sp>
                <p:nvSpPr>
                  <p:cNvPr id="150" name="Freeform 89">
                    <a:extLst>
                      <a:ext uri="{FF2B5EF4-FFF2-40B4-BE49-F238E27FC236}">
                        <a16:creationId xmlns:a16="http://schemas.microsoft.com/office/drawing/2014/main" id="{C1EABE19-080A-48D7-8709-52FEADC5FD1F}"/>
                      </a:ext>
                    </a:extLst>
                  </p:cNvPr>
                  <p:cNvSpPr>
                    <a:spLocks/>
                  </p:cNvSpPr>
                  <p:nvPr/>
                </p:nvSpPr>
                <p:spPr bwMode="auto">
                  <a:xfrm>
                    <a:off x="2067" y="3614"/>
                    <a:ext cx="164"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199" y="1522"/>
                        </a:lnTo>
                        <a:lnTo>
                          <a:pt x="162" y="1459"/>
                        </a:lnTo>
                        <a:lnTo>
                          <a:pt x="153" y="1439"/>
                        </a:lnTo>
                        <a:lnTo>
                          <a:pt x="125" y="1376"/>
                        </a:lnTo>
                        <a:lnTo>
                          <a:pt x="115" y="1333"/>
                        </a:lnTo>
                        <a:lnTo>
                          <a:pt x="106" y="1292"/>
                        </a:lnTo>
                        <a:lnTo>
                          <a:pt x="88" y="1229"/>
                        </a:lnTo>
                        <a:lnTo>
                          <a:pt x="69" y="1188"/>
                        </a:lnTo>
                        <a:lnTo>
                          <a:pt x="41" y="1124"/>
                        </a:lnTo>
                        <a:lnTo>
                          <a:pt x="22" y="1061"/>
                        </a:lnTo>
                        <a:lnTo>
                          <a:pt x="16" y="1022"/>
                        </a:lnTo>
                        <a:lnTo>
                          <a:pt x="4" y="935"/>
                        </a:lnTo>
                        <a:lnTo>
                          <a:pt x="1" y="872"/>
                        </a:lnTo>
                        <a:lnTo>
                          <a:pt x="0" y="792"/>
                        </a:lnTo>
                        <a:lnTo>
                          <a:pt x="14" y="724"/>
                        </a:lnTo>
                        <a:lnTo>
                          <a:pt x="32" y="693"/>
                        </a:lnTo>
                        <a:lnTo>
                          <a:pt x="50" y="677"/>
                        </a:lnTo>
                        <a:lnTo>
                          <a:pt x="67" y="669"/>
                        </a:lnTo>
                        <a:lnTo>
                          <a:pt x="88" y="661"/>
                        </a:lnTo>
                        <a:lnTo>
                          <a:pt x="106" y="661"/>
                        </a:lnTo>
                        <a:lnTo>
                          <a:pt x="106" y="613"/>
                        </a:lnTo>
                        <a:lnTo>
                          <a:pt x="100" y="591"/>
                        </a:lnTo>
                        <a:lnTo>
                          <a:pt x="97" y="555"/>
                        </a:lnTo>
                        <a:lnTo>
                          <a:pt x="105" y="534"/>
                        </a:lnTo>
                        <a:lnTo>
                          <a:pt x="106" y="515"/>
                        </a:lnTo>
                        <a:lnTo>
                          <a:pt x="120" y="477"/>
                        </a:lnTo>
                        <a:lnTo>
                          <a:pt x="134" y="451"/>
                        </a:lnTo>
                        <a:lnTo>
                          <a:pt x="155" y="419"/>
                        </a:lnTo>
                        <a:lnTo>
                          <a:pt x="184" y="388"/>
                        </a:lnTo>
                        <a:lnTo>
                          <a:pt x="216" y="361"/>
                        </a:lnTo>
                        <a:lnTo>
                          <a:pt x="244" y="336"/>
                        </a:lnTo>
                        <a:lnTo>
                          <a:pt x="278" y="326"/>
                        </a:lnTo>
                        <a:lnTo>
                          <a:pt x="312" y="320"/>
                        </a:lnTo>
                        <a:lnTo>
                          <a:pt x="344" y="326"/>
                        </a:lnTo>
                        <a:lnTo>
                          <a:pt x="374" y="336"/>
                        </a:lnTo>
                        <a:lnTo>
                          <a:pt x="410" y="346"/>
                        </a:lnTo>
                        <a:lnTo>
                          <a:pt x="420" y="326"/>
                        </a:lnTo>
                        <a:lnTo>
                          <a:pt x="426" y="268"/>
                        </a:lnTo>
                        <a:lnTo>
                          <a:pt x="438" y="220"/>
                        </a:lnTo>
                        <a:lnTo>
                          <a:pt x="461" y="184"/>
                        </a:lnTo>
                        <a:lnTo>
                          <a:pt x="486" y="160"/>
                        </a:lnTo>
                        <a:lnTo>
                          <a:pt x="522" y="148"/>
                        </a:lnTo>
                        <a:lnTo>
                          <a:pt x="559" y="136"/>
                        </a:lnTo>
                        <a:lnTo>
                          <a:pt x="615" y="125"/>
                        </a:lnTo>
                        <a:lnTo>
                          <a:pt x="650" y="125"/>
                        </a:lnTo>
                        <a:lnTo>
                          <a:pt x="660" y="104"/>
                        </a:lnTo>
                        <a:lnTo>
                          <a:pt x="678" y="62"/>
                        </a:lnTo>
                        <a:lnTo>
                          <a:pt x="706" y="31"/>
                        </a:lnTo>
                        <a:lnTo>
                          <a:pt x="744" y="10"/>
                        </a:lnTo>
                        <a:lnTo>
                          <a:pt x="800" y="0"/>
                        </a:lnTo>
                        <a:lnTo>
                          <a:pt x="854" y="0"/>
                        </a:lnTo>
                        <a:lnTo>
                          <a:pt x="927" y="4"/>
                        </a:lnTo>
                        <a:lnTo>
                          <a:pt x="967" y="6"/>
                        </a:lnTo>
                        <a:lnTo>
                          <a:pt x="994" y="10"/>
                        </a:lnTo>
                        <a:lnTo>
                          <a:pt x="1018" y="17"/>
                        </a:lnTo>
                        <a:lnTo>
                          <a:pt x="1039" y="35"/>
                        </a:lnTo>
                        <a:lnTo>
                          <a:pt x="1052" y="57"/>
                        </a:lnTo>
                        <a:lnTo>
                          <a:pt x="1061" y="86"/>
                        </a:lnTo>
                        <a:lnTo>
                          <a:pt x="1067" y="136"/>
                        </a:lnTo>
                        <a:lnTo>
                          <a:pt x="1062" y="180"/>
                        </a:lnTo>
                        <a:lnTo>
                          <a:pt x="1046" y="218"/>
                        </a:lnTo>
                        <a:lnTo>
                          <a:pt x="1027" y="239"/>
                        </a:lnTo>
                        <a:lnTo>
                          <a:pt x="1002" y="252"/>
                        </a:lnTo>
                        <a:lnTo>
                          <a:pt x="973" y="260"/>
                        </a:lnTo>
                        <a:lnTo>
                          <a:pt x="923" y="259"/>
                        </a:lnTo>
                        <a:lnTo>
                          <a:pt x="939" y="281"/>
                        </a:lnTo>
                        <a:lnTo>
                          <a:pt x="961" y="323"/>
                        </a:lnTo>
                        <a:lnTo>
                          <a:pt x="980" y="357"/>
                        </a:lnTo>
                        <a:lnTo>
                          <a:pt x="995" y="399"/>
                        </a:lnTo>
                        <a:lnTo>
                          <a:pt x="1004" y="434"/>
                        </a:lnTo>
                        <a:lnTo>
                          <a:pt x="1000" y="457"/>
                        </a:lnTo>
                        <a:lnTo>
                          <a:pt x="980" y="482"/>
                        </a:lnTo>
                        <a:lnTo>
                          <a:pt x="1002" y="526"/>
                        </a:lnTo>
                        <a:lnTo>
                          <a:pt x="1029" y="567"/>
                        </a:lnTo>
                        <a:lnTo>
                          <a:pt x="1060" y="619"/>
                        </a:lnTo>
                        <a:lnTo>
                          <a:pt x="1108" y="667"/>
                        </a:lnTo>
                        <a:lnTo>
                          <a:pt x="1182" y="739"/>
                        </a:lnTo>
                        <a:lnTo>
                          <a:pt x="1251" y="822"/>
                        </a:lnTo>
                        <a:lnTo>
                          <a:pt x="1316" y="930"/>
                        </a:lnTo>
                        <a:lnTo>
                          <a:pt x="1372" y="1029"/>
                        </a:lnTo>
                        <a:lnTo>
                          <a:pt x="1418" y="1113"/>
                        </a:lnTo>
                        <a:lnTo>
                          <a:pt x="1432" y="1144"/>
                        </a:lnTo>
                        <a:lnTo>
                          <a:pt x="1435" y="1198"/>
                        </a:lnTo>
                        <a:lnTo>
                          <a:pt x="1450" y="1240"/>
                        </a:lnTo>
                        <a:lnTo>
                          <a:pt x="1473" y="1204"/>
                        </a:lnTo>
                        <a:lnTo>
                          <a:pt x="1517" y="1147"/>
                        </a:lnTo>
                        <a:lnTo>
                          <a:pt x="1575" y="1061"/>
                        </a:lnTo>
                        <a:lnTo>
                          <a:pt x="1612" y="1009"/>
                        </a:lnTo>
                        <a:lnTo>
                          <a:pt x="1629" y="977"/>
                        </a:lnTo>
                        <a:lnTo>
                          <a:pt x="1649" y="924"/>
                        </a:lnTo>
                        <a:lnTo>
                          <a:pt x="1666" y="889"/>
                        </a:lnTo>
                        <a:lnTo>
                          <a:pt x="1681" y="862"/>
                        </a:lnTo>
                        <a:lnTo>
                          <a:pt x="1701" y="833"/>
                        </a:lnTo>
                        <a:lnTo>
                          <a:pt x="1723" y="808"/>
                        </a:lnTo>
                        <a:lnTo>
                          <a:pt x="1763" y="767"/>
                        </a:lnTo>
                        <a:lnTo>
                          <a:pt x="1807" y="734"/>
                        </a:lnTo>
                        <a:lnTo>
                          <a:pt x="1851" y="713"/>
                        </a:lnTo>
                        <a:lnTo>
                          <a:pt x="1889" y="713"/>
                        </a:lnTo>
                        <a:lnTo>
                          <a:pt x="1923" y="717"/>
                        </a:lnTo>
                        <a:lnTo>
                          <a:pt x="1953" y="735"/>
                        </a:lnTo>
                        <a:lnTo>
                          <a:pt x="1974" y="774"/>
                        </a:lnTo>
                        <a:lnTo>
                          <a:pt x="1973" y="819"/>
                        </a:lnTo>
                        <a:lnTo>
                          <a:pt x="1973" y="839"/>
                        </a:lnTo>
                        <a:lnTo>
                          <a:pt x="1963" y="883"/>
                        </a:lnTo>
                        <a:lnTo>
                          <a:pt x="1945" y="903"/>
                        </a:lnTo>
                        <a:lnTo>
                          <a:pt x="1935" y="946"/>
                        </a:lnTo>
                        <a:lnTo>
                          <a:pt x="1917" y="1009"/>
                        </a:lnTo>
                        <a:lnTo>
                          <a:pt x="1917" y="1071"/>
                        </a:lnTo>
                        <a:lnTo>
                          <a:pt x="1907" y="1134"/>
                        </a:lnTo>
                        <a:lnTo>
                          <a:pt x="1904" y="1167"/>
                        </a:lnTo>
                        <a:lnTo>
                          <a:pt x="1895" y="1200"/>
                        </a:lnTo>
                        <a:lnTo>
                          <a:pt x="1876" y="1238"/>
                        </a:lnTo>
                        <a:lnTo>
                          <a:pt x="1851" y="1271"/>
                        </a:lnTo>
                        <a:lnTo>
                          <a:pt x="1834" y="1333"/>
                        </a:lnTo>
                        <a:lnTo>
                          <a:pt x="1806" y="1396"/>
                        </a:lnTo>
                        <a:lnTo>
                          <a:pt x="1723" y="1544"/>
                        </a:lnTo>
                        <a:lnTo>
                          <a:pt x="1649" y="1649"/>
                        </a:lnTo>
                        <a:lnTo>
                          <a:pt x="1594" y="1722"/>
                        </a:lnTo>
                        <a:lnTo>
                          <a:pt x="1584" y="1764"/>
                        </a:lnTo>
                        <a:lnTo>
                          <a:pt x="1575" y="1807"/>
                        </a:lnTo>
                        <a:lnTo>
                          <a:pt x="1558" y="1853"/>
                        </a:lnTo>
                        <a:lnTo>
                          <a:pt x="1545" y="1912"/>
                        </a:lnTo>
                        <a:lnTo>
                          <a:pt x="1519" y="1975"/>
                        </a:lnTo>
                        <a:lnTo>
                          <a:pt x="1473" y="2059"/>
                        </a:lnTo>
                        <a:lnTo>
                          <a:pt x="1428" y="2122"/>
                        </a:lnTo>
                        <a:lnTo>
                          <a:pt x="1400" y="2163"/>
                        </a:lnTo>
                        <a:lnTo>
                          <a:pt x="1381" y="2227"/>
                        </a:lnTo>
                        <a:lnTo>
                          <a:pt x="1362" y="2269"/>
                        </a:lnTo>
                        <a:lnTo>
                          <a:pt x="1332"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151" name="Group 90">
                    <a:extLst>
                      <a:ext uri="{FF2B5EF4-FFF2-40B4-BE49-F238E27FC236}">
                        <a16:creationId xmlns:a16="http://schemas.microsoft.com/office/drawing/2014/main" id="{A0F16090-A33E-40E4-8A8F-E760B29F10FF}"/>
                      </a:ext>
                    </a:extLst>
                  </p:cNvPr>
                  <p:cNvGrpSpPr>
                    <a:grpSpLocks/>
                  </p:cNvGrpSpPr>
                  <p:nvPr/>
                </p:nvGrpSpPr>
                <p:grpSpPr bwMode="auto">
                  <a:xfrm>
                    <a:off x="2078" y="3668"/>
                    <a:ext cx="139" cy="45"/>
                    <a:chOff x="2078" y="3668"/>
                    <a:chExt cx="139" cy="45"/>
                  </a:xfrm>
                </p:grpSpPr>
                <p:sp>
                  <p:nvSpPr>
                    <p:cNvPr id="156" name="Freeform 91">
                      <a:extLst>
                        <a:ext uri="{FF2B5EF4-FFF2-40B4-BE49-F238E27FC236}">
                          <a16:creationId xmlns:a16="http://schemas.microsoft.com/office/drawing/2014/main" id="{C746ED24-8C37-4455-B4DE-875552A3FD6A}"/>
                        </a:ext>
                      </a:extLst>
                    </p:cNvPr>
                    <p:cNvSpPr>
                      <a:spLocks/>
                    </p:cNvSpPr>
                    <p:nvPr/>
                  </p:nvSpPr>
                  <p:spPr bwMode="auto">
                    <a:xfrm>
                      <a:off x="2201" y="3705"/>
                      <a:ext cx="16" cy="8"/>
                    </a:xfrm>
                    <a:custGeom>
                      <a:avLst/>
                      <a:gdLst>
                        <a:gd name="T0" fmla="*/ 0 w 185"/>
                        <a:gd name="T1" fmla="*/ 0 h 96"/>
                        <a:gd name="T2" fmla="*/ 0 w 185"/>
                        <a:gd name="T3" fmla="*/ 0 h 96"/>
                        <a:gd name="T4" fmla="*/ 0 w 185"/>
                        <a:gd name="T5" fmla="*/ 0 h 96"/>
                        <a:gd name="T6" fmla="*/ 0 w 185"/>
                        <a:gd name="T7" fmla="*/ 0 h 96"/>
                        <a:gd name="T8" fmla="*/ 0 w 185"/>
                        <a:gd name="T9" fmla="*/ 0 h 96"/>
                        <a:gd name="T10" fmla="*/ 0 w 185"/>
                        <a:gd name="T11" fmla="*/ 0 h 96"/>
                        <a:gd name="T12" fmla="*/ 0 w 185"/>
                        <a:gd name="T13" fmla="*/ 0 h 96"/>
                        <a:gd name="T14" fmla="*/ 0 60000 65536"/>
                        <a:gd name="T15" fmla="*/ 0 60000 65536"/>
                        <a:gd name="T16" fmla="*/ 0 60000 65536"/>
                        <a:gd name="T17" fmla="*/ 0 60000 65536"/>
                        <a:gd name="T18" fmla="*/ 0 60000 65536"/>
                        <a:gd name="T19" fmla="*/ 0 60000 65536"/>
                        <a:gd name="T20" fmla="*/ 0 60000 65536"/>
                        <a:gd name="T21" fmla="*/ 0 w 185"/>
                        <a:gd name="T22" fmla="*/ 0 h 96"/>
                        <a:gd name="T23" fmla="*/ 185 w 185"/>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96">
                          <a:moveTo>
                            <a:pt x="0" y="0"/>
                          </a:moveTo>
                          <a:lnTo>
                            <a:pt x="38" y="21"/>
                          </a:lnTo>
                          <a:lnTo>
                            <a:pt x="66" y="52"/>
                          </a:lnTo>
                          <a:lnTo>
                            <a:pt x="101" y="85"/>
                          </a:lnTo>
                          <a:lnTo>
                            <a:pt x="129" y="96"/>
                          </a:lnTo>
                          <a:lnTo>
                            <a:pt x="139" y="96"/>
                          </a:lnTo>
                          <a:lnTo>
                            <a:pt x="185"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7" name="Freeform 92">
                      <a:extLst>
                        <a:ext uri="{FF2B5EF4-FFF2-40B4-BE49-F238E27FC236}">
                          <a16:creationId xmlns:a16="http://schemas.microsoft.com/office/drawing/2014/main" id="{2785A868-8AEE-4A79-8171-15B827E5999F}"/>
                        </a:ext>
                      </a:extLst>
                    </p:cNvPr>
                    <p:cNvSpPr>
                      <a:spLocks/>
                    </p:cNvSpPr>
                    <p:nvPr/>
                  </p:nvSpPr>
                  <p:spPr bwMode="auto">
                    <a:xfrm>
                      <a:off x="2078" y="3695"/>
                      <a:ext cx="8"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8" name="Freeform 93">
                      <a:extLst>
                        <a:ext uri="{FF2B5EF4-FFF2-40B4-BE49-F238E27FC236}">
                          <a16:creationId xmlns:a16="http://schemas.microsoft.com/office/drawing/2014/main" id="{0E35ECD2-6442-4302-8F6B-EFFE99204B59}"/>
                        </a:ext>
                      </a:extLst>
                    </p:cNvPr>
                    <p:cNvSpPr>
                      <a:spLocks/>
                    </p:cNvSpPr>
                    <p:nvPr/>
                  </p:nvSpPr>
                  <p:spPr bwMode="auto">
                    <a:xfrm>
                      <a:off x="2102" y="3670"/>
                      <a:ext cx="1" cy="4"/>
                    </a:xfrm>
                    <a:custGeom>
                      <a:avLst/>
                      <a:gdLst>
                        <a:gd name="T0" fmla="*/ 0 w 18"/>
                        <a:gd name="T1" fmla="*/ 0 h 44"/>
                        <a:gd name="T2" fmla="*/ 0 w 18"/>
                        <a:gd name="T3" fmla="*/ 0 h 44"/>
                        <a:gd name="T4" fmla="*/ 0 w 18"/>
                        <a:gd name="T5" fmla="*/ 0 h 44"/>
                        <a:gd name="T6" fmla="*/ 0 w 18"/>
                        <a:gd name="T7" fmla="*/ 0 h 44"/>
                        <a:gd name="T8" fmla="*/ 0 60000 65536"/>
                        <a:gd name="T9" fmla="*/ 0 60000 65536"/>
                        <a:gd name="T10" fmla="*/ 0 60000 65536"/>
                        <a:gd name="T11" fmla="*/ 0 60000 65536"/>
                        <a:gd name="T12" fmla="*/ 0 w 18"/>
                        <a:gd name="T13" fmla="*/ 0 h 44"/>
                        <a:gd name="T14" fmla="*/ 18 w 18"/>
                        <a:gd name="T15" fmla="*/ 44 h 44"/>
                      </a:gdLst>
                      <a:ahLst/>
                      <a:cxnLst>
                        <a:cxn ang="T8">
                          <a:pos x="T0" y="T1"/>
                        </a:cxn>
                        <a:cxn ang="T9">
                          <a:pos x="T2" y="T3"/>
                        </a:cxn>
                        <a:cxn ang="T10">
                          <a:pos x="T4" y="T5"/>
                        </a:cxn>
                        <a:cxn ang="T11">
                          <a:pos x="T6" y="T7"/>
                        </a:cxn>
                      </a:cxnLst>
                      <a:rect l="T12" t="T13" r="T14" b="T15"/>
                      <a:pathLst>
                        <a:path w="18" h="44">
                          <a:moveTo>
                            <a:pt x="0" y="0"/>
                          </a:moveTo>
                          <a:lnTo>
                            <a:pt x="18" y="18"/>
                          </a:lnTo>
                          <a:lnTo>
                            <a:pt x="16" y="29"/>
                          </a:lnTo>
                          <a:lnTo>
                            <a:pt x="18"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9" name="Freeform 94">
                      <a:extLst>
                        <a:ext uri="{FF2B5EF4-FFF2-40B4-BE49-F238E27FC236}">
                          <a16:creationId xmlns:a16="http://schemas.microsoft.com/office/drawing/2014/main" id="{8DDC6C6F-C21F-499C-A18D-FEFDD55EA007}"/>
                        </a:ext>
                      </a:extLst>
                    </p:cNvPr>
                    <p:cNvSpPr>
                      <a:spLocks/>
                    </p:cNvSpPr>
                    <p:nvPr/>
                  </p:nvSpPr>
                  <p:spPr bwMode="auto">
                    <a:xfrm>
                      <a:off x="2095" y="3668"/>
                      <a:ext cx="15" cy="2"/>
                    </a:xfrm>
                    <a:custGeom>
                      <a:avLst/>
                      <a:gdLst>
                        <a:gd name="T0" fmla="*/ 0 w 179"/>
                        <a:gd name="T1" fmla="*/ 0 h 22"/>
                        <a:gd name="T2" fmla="*/ 0 w 179"/>
                        <a:gd name="T3" fmla="*/ 0 h 22"/>
                        <a:gd name="T4" fmla="*/ 0 w 179"/>
                        <a:gd name="T5" fmla="*/ 0 h 22"/>
                        <a:gd name="T6" fmla="*/ 0 w 179"/>
                        <a:gd name="T7" fmla="*/ 0 h 22"/>
                        <a:gd name="T8" fmla="*/ 0 w 179"/>
                        <a:gd name="T9" fmla="*/ 0 h 22"/>
                        <a:gd name="T10" fmla="*/ 0 60000 65536"/>
                        <a:gd name="T11" fmla="*/ 0 60000 65536"/>
                        <a:gd name="T12" fmla="*/ 0 60000 65536"/>
                        <a:gd name="T13" fmla="*/ 0 60000 65536"/>
                        <a:gd name="T14" fmla="*/ 0 60000 65536"/>
                        <a:gd name="T15" fmla="*/ 0 w 179"/>
                        <a:gd name="T16" fmla="*/ 0 h 22"/>
                        <a:gd name="T17" fmla="*/ 179 w 179"/>
                        <a:gd name="T18" fmla="*/ 22 h 22"/>
                      </a:gdLst>
                      <a:ahLst/>
                      <a:cxnLst>
                        <a:cxn ang="T10">
                          <a:pos x="T0" y="T1"/>
                        </a:cxn>
                        <a:cxn ang="T11">
                          <a:pos x="T2" y="T3"/>
                        </a:cxn>
                        <a:cxn ang="T12">
                          <a:pos x="T4" y="T5"/>
                        </a:cxn>
                        <a:cxn ang="T13">
                          <a:pos x="T6" y="T7"/>
                        </a:cxn>
                        <a:cxn ang="T14">
                          <a:pos x="T8" y="T9"/>
                        </a:cxn>
                      </a:cxnLst>
                      <a:rect l="T15" t="T16" r="T17" b="T18"/>
                      <a:pathLst>
                        <a:path w="179" h="22">
                          <a:moveTo>
                            <a:pt x="179" y="11"/>
                          </a:moveTo>
                          <a:lnTo>
                            <a:pt x="151" y="22"/>
                          </a:lnTo>
                          <a:lnTo>
                            <a:pt x="39" y="22"/>
                          </a:lnTo>
                          <a:lnTo>
                            <a:pt x="18" y="10"/>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52" name="Group 95">
                    <a:extLst>
                      <a:ext uri="{FF2B5EF4-FFF2-40B4-BE49-F238E27FC236}">
                        <a16:creationId xmlns:a16="http://schemas.microsoft.com/office/drawing/2014/main" id="{30F62DCD-3A31-49D2-8002-8268258BE9DE}"/>
                      </a:ext>
                    </a:extLst>
                  </p:cNvPr>
                  <p:cNvGrpSpPr>
                    <a:grpSpLocks/>
                  </p:cNvGrpSpPr>
                  <p:nvPr/>
                </p:nvGrpSpPr>
                <p:grpSpPr bwMode="auto">
                  <a:xfrm>
                    <a:off x="2093" y="3659"/>
                    <a:ext cx="95" cy="91"/>
                    <a:chOff x="2093" y="3659"/>
                    <a:chExt cx="95" cy="91"/>
                  </a:xfrm>
                </p:grpSpPr>
                <p:sp>
                  <p:nvSpPr>
                    <p:cNvPr id="153" name="Freeform 96">
                      <a:extLst>
                        <a:ext uri="{FF2B5EF4-FFF2-40B4-BE49-F238E27FC236}">
                          <a16:creationId xmlns:a16="http://schemas.microsoft.com/office/drawing/2014/main" id="{1DE61186-C349-42A8-AEB1-15209CAF3606}"/>
                        </a:ext>
                      </a:extLst>
                    </p:cNvPr>
                    <p:cNvSpPr>
                      <a:spLocks/>
                    </p:cNvSpPr>
                    <p:nvPr/>
                  </p:nvSpPr>
                  <p:spPr bwMode="auto">
                    <a:xfrm>
                      <a:off x="2100" y="3676"/>
                      <a:ext cx="88" cy="74"/>
                    </a:xfrm>
                    <a:custGeom>
                      <a:avLst/>
                      <a:gdLst>
                        <a:gd name="T0" fmla="*/ 0 w 1061"/>
                        <a:gd name="T1" fmla="*/ 0 h 894"/>
                        <a:gd name="T2" fmla="*/ 0 w 1061"/>
                        <a:gd name="T3" fmla="*/ 0 h 894"/>
                        <a:gd name="T4" fmla="*/ 0 w 1061"/>
                        <a:gd name="T5" fmla="*/ 0 h 894"/>
                        <a:gd name="T6" fmla="*/ 0 w 1061"/>
                        <a:gd name="T7" fmla="*/ 0 h 894"/>
                        <a:gd name="T8" fmla="*/ 0 w 1061"/>
                        <a:gd name="T9" fmla="*/ 0 h 894"/>
                        <a:gd name="T10" fmla="*/ 0 w 1061"/>
                        <a:gd name="T11" fmla="*/ 0 h 894"/>
                        <a:gd name="T12" fmla="*/ 0 w 1061"/>
                        <a:gd name="T13" fmla="*/ 0 h 894"/>
                        <a:gd name="T14" fmla="*/ 0 w 1061"/>
                        <a:gd name="T15" fmla="*/ 0 h 894"/>
                        <a:gd name="T16" fmla="*/ 0 w 1061"/>
                        <a:gd name="T17" fmla="*/ 0 h 894"/>
                        <a:gd name="T18" fmla="*/ 0 w 1061"/>
                        <a:gd name="T19" fmla="*/ 0 h 894"/>
                        <a:gd name="T20" fmla="*/ 0 w 1061"/>
                        <a:gd name="T21" fmla="*/ 0 h 894"/>
                        <a:gd name="T22" fmla="*/ 0 w 1061"/>
                        <a:gd name="T23" fmla="*/ 0 h 894"/>
                        <a:gd name="T24" fmla="*/ 0 w 1061"/>
                        <a:gd name="T25" fmla="*/ 0 h 894"/>
                        <a:gd name="T26" fmla="*/ 0 w 1061"/>
                        <a:gd name="T27" fmla="*/ 0 h 894"/>
                        <a:gd name="T28" fmla="*/ 0 w 1061"/>
                        <a:gd name="T29" fmla="*/ 0 h 894"/>
                        <a:gd name="T30" fmla="*/ 0 w 1061"/>
                        <a:gd name="T31" fmla="*/ 0 h 894"/>
                        <a:gd name="T32" fmla="*/ 0 w 1061"/>
                        <a:gd name="T33" fmla="*/ 0 h 894"/>
                        <a:gd name="T34" fmla="*/ 0 w 1061"/>
                        <a:gd name="T35" fmla="*/ 0 h 894"/>
                        <a:gd name="T36" fmla="*/ 0 w 1061"/>
                        <a:gd name="T37" fmla="*/ 0 h 894"/>
                        <a:gd name="T38" fmla="*/ 0 w 1061"/>
                        <a:gd name="T39" fmla="*/ 0 h 894"/>
                        <a:gd name="T40" fmla="*/ 0 w 1061"/>
                        <a:gd name="T41" fmla="*/ 0 h 894"/>
                        <a:gd name="T42" fmla="*/ 0 w 1061"/>
                        <a:gd name="T43" fmla="*/ 0 h 894"/>
                        <a:gd name="T44" fmla="*/ 0 w 1061"/>
                        <a:gd name="T45" fmla="*/ 0 h 894"/>
                        <a:gd name="T46" fmla="*/ 0 w 1061"/>
                        <a:gd name="T47" fmla="*/ 0 h 894"/>
                        <a:gd name="T48" fmla="*/ 0 w 1061"/>
                        <a:gd name="T49" fmla="*/ 0 h 894"/>
                        <a:gd name="T50" fmla="*/ 0 w 1061"/>
                        <a:gd name="T51" fmla="*/ 0 h 894"/>
                        <a:gd name="T52" fmla="*/ 0 w 1061"/>
                        <a:gd name="T53" fmla="*/ 0 h 894"/>
                        <a:gd name="T54" fmla="*/ 0 w 1061"/>
                        <a:gd name="T55" fmla="*/ 0 h 894"/>
                        <a:gd name="T56" fmla="*/ 0 w 1061"/>
                        <a:gd name="T57" fmla="*/ 0 h 894"/>
                        <a:gd name="T58" fmla="*/ 0 w 1061"/>
                        <a:gd name="T59" fmla="*/ 0 h 894"/>
                        <a:gd name="T60" fmla="*/ 0 w 1061"/>
                        <a:gd name="T61" fmla="*/ 0 h 894"/>
                        <a:gd name="T62" fmla="*/ 0 w 1061"/>
                        <a:gd name="T63" fmla="*/ 0 h 894"/>
                        <a:gd name="T64" fmla="*/ 0 w 1061"/>
                        <a:gd name="T65" fmla="*/ 0 h 894"/>
                        <a:gd name="T66" fmla="*/ 0 w 1061"/>
                        <a:gd name="T67" fmla="*/ 0 h 894"/>
                        <a:gd name="T68" fmla="*/ 0 w 1061"/>
                        <a:gd name="T69" fmla="*/ 0 h 894"/>
                        <a:gd name="T70" fmla="*/ 0 w 1061"/>
                        <a:gd name="T71" fmla="*/ 0 h 894"/>
                        <a:gd name="T72" fmla="*/ 0 w 1061"/>
                        <a:gd name="T73" fmla="*/ 0 h 894"/>
                        <a:gd name="T74" fmla="*/ 0 w 1061"/>
                        <a:gd name="T75" fmla="*/ 0 h 894"/>
                        <a:gd name="T76" fmla="*/ 0 w 1061"/>
                        <a:gd name="T77" fmla="*/ 0 h 894"/>
                        <a:gd name="T78" fmla="*/ 0 w 1061"/>
                        <a:gd name="T79" fmla="*/ 0 h 894"/>
                        <a:gd name="T80" fmla="*/ 0 w 1061"/>
                        <a:gd name="T81" fmla="*/ 0 h 894"/>
                        <a:gd name="T82" fmla="*/ 0 w 1061"/>
                        <a:gd name="T83" fmla="*/ 0 h 894"/>
                        <a:gd name="T84" fmla="*/ 0 w 1061"/>
                        <a:gd name="T85" fmla="*/ 0 h 894"/>
                        <a:gd name="T86" fmla="*/ 0 w 1061"/>
                        <a:gd name="T87" fmla="*/ 0 h 894"/>
                        <a:gd name="T88" fmla="*/ 0 w 1061"/>
                        <a:gd name="T89" fmla="*/ 0 h 894"/>
                        <a:gd name="T90" fmla="*/ 0 w 1061"/>
                        <a:gd name="T91" fmla="*/ 0 h 894"/>
                        <a:gd name="T92" fmla="*/ 0 w 1061"/>
                        <a:gd name="T93" fmla="*/ 0 h 894"/>
                        <a:gd name="T94" fmla="*/ 0 w 1061"/>
                        <a:gd name="T95" fmla="*/ 0 h 894"/>
                        <a:gd name="T96" fmla="*/ 0 w 1061"/>
                        <a:gd name="T97" fmla="*/ 0 h 894"/>
                        <a:gd name="T98" fmla="*/ 0 w 1061"/>
                        <a:gd name="T99" fmla="*/ 0 h 894"/>
                        <a:gd name="T100" fmla="*/ 0 w 1061"/>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1"/>
                        <a:gd name="T154" fmla="*/ 0 h 894"/>
                        <a:gd name="T155" fmla="*/ 1061 w 1061"/>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1" h="894">
                          <a:moveTo>
                            <a:pt x="1061" y="487"/>
                          </a:moveTo>
                          <a:lnTo>
                            <a:pt x="982" y="517"/>
                          </a:lnTo>
                          <a:lnTo>
                            <a:pt x="886" y="555"/>
                          </a:lnTo>
                          <a:lnTo>
                            <a:pt x="827" y="593"/>
                          </a:lnTo>
                          <a:lnTo>
                            <a:pt x="779" y="652"/>
                          </a:lnTo>
                          <a:lnTo>
                            <a:pt x="750" y="739"/>
                          </a:lnTo>
                          <a:lnTo>
                            <a:pt x="730" y="807"/>
                          </a:lnTo>
                          <a:lnTo>
                            <a:pt x="671" y="875"/>
                          </a:lnTo>
                          <a:lnTo>
                            <a:pt x="574" y="894"/>
                          </a:lnTo>
                          <a:lnTo>
                            <a:pt x="506" y="865"/>
                          </a:lnTo>
                          <a:lnTo>
                            <a:pt x="457" y="826"/>
                          </a:lnTo>
                          <a:lnTo>
                            <a:pt x="454" y="784"/>
                          </a:lnTo>
                          <a:lnTo>
                            <a:pt x="447" y="749"/>
                          </a:lnTo>
                          <a:lnTo>
                            <a:pt x="409" y="690"/>
                          </a:lnTo>
                          <a:lnTo>
                            <a:pt x="321" y="662"/>
                          </a:lnTo>
                          <a:lnTo>
                            <a:pt x="389" y="617"/>
                          </a:lnTo>
                          <a:lnTo>
                            <a:pt x="460" y="603"/>
                          </a:lnTo>
                          <a:lnTo>
                            <a:pt x="493" y="584"/>
                          </a:lnTo>
                          <a:lnTo>
                            <a:pt x="431" y="581"/>
                          </a:lnTo>
                          <a:lnTo>
                            <a:pt x="360" y="603"/>
                          </a:lnTo>
                          <a:lnTo>
                            <a:pt x="282" y="633"/>
                          </a:lnTo>
                          <a:lnTo>
                            <a:pt x="247" y="603"/>
                          </a:lnTo>
                          <a:lnTo>
                            <a:pt x="240" y="565"/>
                          </a:lnTo>
                          <a:lnTo>
                            <a:pt x="237" y="520"/>
                          </a:lnTo>
                          <a:lnTo>
                            <a:pt x="224" y="477"/>
                          </a:lnTo>
                          <a:lnTo>
                            <a:pt x="175" y="468"/>
                          </a:lnTo>
                          <a:lnTo>
                            <a:pt x="136" y="484"/>
                          </a:lnTo>
                          <a:lnTo>
                            <a:pt x="104" y="514"/>
                          </a:lnTo>
                          <a:lnTo>
                            <a:pt x="58" y="542"/>
                          </a:lnTo>
                          <a:lnTo>
                            <a:pt x="0" y="593"/>
                          </a:lnTo>
                          <a:lnTo>
                            <a:pt x="58" y="507"/>
                          </a:lnTo>
                          <a:lnTo>
                            <a:pt x="165" y="420"/>
                          </a:lnTo>
                          <a:lnTo>
                            <a:pt x="234" y="380"/>
                          </a:lnTo>
                          <a:lnTo>
                            <a:pt x="295" y="364"/>
                          </a:lnTo>
                          <a:lnTo>
                            <a:pt x="348" y="368"/>
                          </a:lnTo>
                          <a:lnTo>
                            <a:pt x="402" y="355"/>
                          </a:lnTo>
                          <a:lnTo>
                            <a:pt x="487" y="332"/>
                          </a:lnTo>
                          <a:lnTo>
                            <a:pt x="593" y="288"/>
                          </a:lnTo>
                          <a:lnTo>
                            <a:pt x="694" y="239"/>
                          </a:lnTo>
                          <a:lnTo>
                            <a:pt x="753" y="210"/>
                          </a:lnTo>
                          <a:lnTo>
                            <a:pt x="785" y="168"/>
                          </a:lnTo>
                          <a:lnTo>
                            <a:pt x="801" y="116"/>
                          </a:lnTo>
                          <a:lnTo>
                            <a:pt x="798" y="62"/>
                          </a:lnTo>
                          <a:lnTo>
                            <a:pt x="785" y="0"/>
                          </a:lnTo>
                          <a:lnTo>
                            <a:pt x="846" y="68"/>
                          </a:lnTo>
                          <a:lnTo>
                            <a:pt x="896" y="145"/>
                          </a:lnTo>
                          <a:lnTo>
                            <a:pt x="953" y="245"/>
                          </a:lnTo>
                          <a:lnTo>
                            <a:pt x="979" y="300"/>
                          </a:lnTo>
                          <a:lnTo>
                            <a:pt x="1006" y="348"/>
                          </a:lnTo>
                          <a:lnTo>
                            <a:pt x="1041" y="401"/>
                          </a:lnTo>
                          <a:lnTo>
                            <a:pt x="1061"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97">
                      <a:extLst>
                        <a:ext uri="{FF2B5EF4-FFF2-40B4-BE49-F238E27FC236}">
                          <a16:creationId xmlns:a16="http://schemas.microsoft.com/office/drawing/2014/main" id="{FC643B23-D5F0-4AC4-8636-81330587CBD1}"/>
                        </a:ext>
                      </a:extLst>
                    </p:cNvPr>
                    <p:cNvSpPr>
                      <a:spLocks/>
                    </p:cNvSpPr>
                    <p:nvPr/>
                  </p:nvSpPr>
                  <p:spPr bwMode="auto">
                    <a:xfrm>
                      <a:off x="2093" y="3699"/>
                      <a:ext cx="24" cy="15"/>
                    </a:xfrm>
                    <a:custGeom>
                      <a:avLst/>
                      <a:gdLst>
                        <a:gd name="T0" fmla="*/ 0 w 288"/>
                        <a:gd name="T1" fmla="*/ 0 h 181"/>
                        <a:gd name="T2" fmla="*/ 0 w 288"/>
                        <a:gd name="T3" fmla="*/ 0 h 181"/>
                        <a:gd name="T4" fmla="*/ 0 w 288"/>
                        <a:gd name="T5" fmla="*/ 0 h 181"/>
                        <a:gd name="T6" fmla="*/ 0 w 288"/>
                        <a:gd name="T7" fmla="*/ 0 h 181"/>
                        <a:gd name="T8" fmla="*/ 0 w 288"/>
                        <a:gd name="T9" fmla="*/ 0 h 181"/>
                        <a:gd name="T10" fmla="*/ 0 w 288"/>
                        <a:gd name="T11" fmla="*/ 0 h 181"/>
                        <a:gd name="T12" fmla="*/ 0 w 288"/>
                        <a:gd name="T13" fmla="*/ 0 h 181"/>
                        <a:gd name="T14" fmla="*/ 0 w 288"/>
                        <a:gd name="T15" fmla="*/ 0 h 181"/>
                        <a:gd name="T16" fmla="*/ 0 w 288"/>
                        <a:gd name="T17" fmla="*/ 0 h 181"/>
                        <a:gd name="T18" fmla="*/ 0 w 288"/>
                        <a:gd name="T19" fmla="*/ 0 h 181"/>
                        <a:gd name="T20" fmla="*/ 0 w 288"/>
                        <a:gd name="T21" fmla="*/ 0 h 181"/>
                        <a:gd name="T22" fmla="*/ 0 w 288"/>
                        <a:gd name="T23" fmla="*/ 0 h 181"/>
                        <a:gd name="T24" fmla="*/ 0 w 288"/>
                        <a:gd name="T25" fmla="*/ 0 h 181"/>
                        <a:gd name="T26" fmla="*/ 0 w 288"/>
                        <a:gd name="T27" fmla="*/ 0 h 181"/>
                        <a:gd name="T28" fmla="*/ 0 w 288"/>
                        <a:gd name="T29" fmla="*/ 0 h 181"/>
                        <a:gd name="T30" fmla="*/ 0 w 288"/>
                        <a:gd name="T31" fmla="*/ 0 h 181"/>
                        <a:gd name="T32" fmla="*/ 0 w 288"/>
                        <a:gd name="T33" fmla="*/ 0 h 181"/>
                        <a:gd name="T34" fmla="*/ 0 w 288"/>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8"/>
                        <a:gd name="T55" fmla="*/ 0 h 181"/>
                        <a:gd name="T56" fmla="*/ 288 w 288"/>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8" h="181">
                          <a:moveTo>
                            <a:pt x="176" y="10"/>
                          </a:moveTo>
                          <a:lnTo>
                            <a:pt x="209" y="20"/>
                          </a:lnTo>
                          <a:lnTo>
                            <a:pt x="246" y="33"/>
                          </a:lnTo>
                          <a:lnTo>
                            <a:pt x="288" y="53"/>
                          </a:lnTo>
                          <a:lnTo>
                            <a:pt x="258" y="67"/>
                          </a:lnTo>
                          <a:lnTo>
                            <a:pt x="203" y="91"/>
                          </a:lnTo>
                          <a:lnTo>
                            <a:pt x="143" y="124"/>
                          </a:lnTo>
                          <a:lnTo>
                            <a:pt x="103" y="161"/>
                          </a:lnTo>
                          <a:lnTo>
                            <a:pt x="79" y="181"/>
                          </a:lnTo>
                          <a:lnTo>
                            <a:pt x="106"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Freeform 98">
                      <a:extLst>
                        <a:ext uri="{FF2B5EF4-FFF2-40B4-BE49-F238E27FC236}">
                          <a16:creationId xmlns:a16="http://schemas.microsoft.com/office/drawing/2014/main" id="{DE52FDEB-9430-42DE-9446-077CAB1FC8F4}"/>
                        </a:ext>
                      </a:extLst>
                    </p:cNvPr>
                    <p:cNvSpPr>
                      <a:spLocks/>
                    </p:cNvSpPr>
                    <p:nvPr/>
                  </p:nvSpPr>
                  <p:spPr bwMode="auto">
                    <a:xfrm>
                      <a:off x="2115" y="3659"/>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4" y="166"/>
                          </a:lnTo>
                          <a:lnTo>
                            <a:pt x="365" y="206"/>
                          </a:lnTo>
                          <a:lnTo>
                            <a:pt x="314" y="255"/>
                          </a:lnTo>
                          <a:lnTo>
                            <a:pt x="264" y="332"/>
                          </a:lnTo>
                          <a:lnTo>
                            <a:pt x="242" y="385"/>
                          </a:lnTo>
                          <a:lnTo>
                            <a:pt x="258" y="434"/>
                          </a:lnTo>
                          <a:lnTo>
                            <a:pt x="193" y="388"/>
                          </a:lnTo>
                          <a:lnTo>
                            <a:pt x="130" y="365"/>
                          </a:lnTo>
                          <a:lnTo>
                            <a:pt x="81" y="345"/>
                          </a:lnTo>
                          <a:lnTo>
                            <a:pt x="32" y="329"/>
                          </a:lnTo>
                          <a:lnTo>
                            <a:pt x="0" y="313"/>
                          </a:lnTo>
                          <a:lnTo>
                            <a:pt x="42" y="255"/>
                          </a:lnTo>
                          <a:lnTo>
                            <a:pt x="81" y="283"/>
                          </a:lnTo>
                          <a:lnTo>
                            <a:pt x="143" y="313"/>
                          </a:lnTo>
                          <a:lnTo>
                            <a:pt x="196" y="313"/>
                          </a:lnTo>
                          <a:lnTo>
                            <a:pt x="245" y="304"/>
                          </a:lnTo>
                          <a:lnTo>
                            <a:pt x="274" y="293"/>
                          </a:lnTo>
                          <a:lnTo>
                            <a:pt x="304" y="274"/>
                          </a:lnTo>
                          <a:lnTo>
                            <a:pt x="314" y="212"/>
                          </a:lnTo>
                          <a:lnTo>
                            <a:pt x="304" y="166"/>
                          </a:lnTo>
                          <a:lnTo>
                            <a:pt x="274" y="108"/>
                          </a:lnTo>
                          <a:lnTo>
                            <a:pt x="264" y="78"/>
                          </a:lnTo>
                          <a:lnTo>
                            <a:pt x="307" y="68"/>
                          </a:lnTo>
                          <a:lnTo>
                            <a:pt x="362" y="52"/>
                          </a:lnTo>
                          <a:lnTo>
                            <a:pt x="398" y="9"/>
                          </a:lnTo>
                          <a:lnTo>
                            <a:pt x="431" y="0"/>
                          </a:lnTo>
                          <a:lnTo>
                            <a:pt x="467" y="55"/>
                          </a:lnTo>
                          <a:lnTo>
                            <a:pt x="499"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98" name="Group 99">
                  <a:extLst>
                    <a:ext uri="{FF2B5EF4-FFF2-40B4-BE49-F238E27FC236}">
                      <a16:creationId xmlns:a16="http://schemas.microsoft.com/office/drawing/2014/main" id="{5E5B67EB-F7E4-4A27-85DF-DA67D416A2A7}"/>
                    </a:ext>
                  </a:extLst>
                </p:cNvPr>
                <p:cNvGrpSpPr>
                  <a:grpSpLocks/>
                </p:cNvGrpSpPr>
                <p:nvPr/>
              </p:nvGrpSpPr>
              <p:grpSpPr bwMode="auto">
                <a:xfrm>
                  <a:off x="2117" y="3557"/>
                  <a:ext cx="140" cy="274"/>
                  <a:chOff x="2117" y="3557"/>
                  <a:chExt cx="140" cy="274"/>
                </a:xfrm>
              </p:grpSpPr>
              <p:sp>
                <p:nvSpPr>
                  <p:cNvPr id="110" name="Freeform 100">
                    <a:extLst>
                      <a:ext uri="{FF2B5EF4-FFF2-40B4-BE49-F238E27FC236}">
                        <a16:creationId xmlns:a16="http://schemas.microsoft.com/office/drawing/2014/main" id="{FD2F351C-A3AB-4D32-94F2-69DD390F18D1}"/>
                      </a:ext>
                    </a:extLst>
                  </p:cNvPr>
                  <p:cNvSpPr>
                    <a:spLocks/>
                  </p:cNvSpPr>
                  <p:nvPr/>
                </p:nvSpPr>
                <p:spPr bwMode="auto">
                  <a:xfrm>
                    <a:off x="2126" y="3753"/>
                    <a:ext cx="129"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7"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111" name="Freeform 101">
                    <a:extLst>
                      <a:ext uri="{FF2B5EF4-FFF2-40B4-BE49-F238E27FC236}">
                        <a16:creationId xmlns:a16="http://schemas.microsoft.com/office/drawing/2014/main" id="{4B503284-E882-4264-82F3-F157835E70B7}"/>
                      </a:ext>
                    </a:extLst>
                  </p:cNvPr>
                  <p:cNvSpPr>
                    <a:spLocks/>
                  </p:cNvSpPr>
                  <p:nvPr/>
                </p:nvSpPr>
                <p:spPr bwMode="auto">
                  <a:xfrm>
                    <a:off x="2172" y="3787"/>
                    <a:ext cx="85"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6" y="179"/>
                        </a:lnTo>
                        <a:lnTo>
                          <a:pt x="944" y="523"/>
                        </a:lnTo>
                        <a:lnTo>
                          <a:pt x="963" y="528"/>
                        </a:lnTo>
                        <a:lnTo>
                          <a:pt x="980" y="523"/>
                        </a:lnTo>
                        <a:lnTo>
                          <a:pt x="995" y="505"/>
                        </a:lnTo>
                        <a:lnTo>
                          <a:pt x="1014" y="461"/>
                        </a:lnTo>
                        <a:lnTo>
                          <a:pt x="1023" y="428"/>
                        </a:lnTo>
                        <a:lnTo>
                          <a:pt x="1027" y="398"/>
                        </a:lnTo>
                        <a:lnTo>
                          <a:pt x="1019" y="366"/>
                        </a:lnTo>
                        <a:lnTo>
                          <a:pt x="999"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112" name="Freeform 102">
                    <a:extLst>
                      <a:ext uri="{FF2B5EF4-FFF2-40B4-BE49-F238E27FC236}">
                        <a16:creationId xmlns:a16="http://schemas.microsoft.com/office/drawing/2014/main" id="{809745CE-C855-4976-B583-F8D36471DF8F}"/>
                      </a:ext>
                    </a:extLst>
                  </p:cNvPr>
                  <p:cNvSpPr>
                    <a:spLocks/>
                  </p:cNvSpPr>
                  <p:nvPr/>
                </p:nvSpPr>
                <p:spPr bwMode="auto">
                  <a:xfrm>
                    <a:off x="2117" y="3557"/>
                    <a:ext cx="123" cy="245"/>
                  </a:xfrm>
                  <a:custGeom>
                    <a:avLst/>
                    <a:gdLst>
                      <a:gd name="T0" fmla="*/ 0 w 1479"/>
                      <a:gd name="T1" fmla="*/ 0 h 2948"/>
                      <a:gd name="T2" fmla="*/ 0 w 1479"/>
                      <a:gd name="T3" fmla="*/ 0 h 2948"/>
                      <a:gd name="T4" fmla="*/ 0 w 1479"/>
                      <a:gd name="T5" fmla="*/ 0 h 2948"/>
                      <a:gd name="T6" fmla="*/ 0 w 1479"/>
                      <a:gd name="T7" fmla="*/ 0 h 2948"/>
                      <a:gd name="T8" fmla="*/ 0 w 1479"/>
                      <a:gd name="T9" fmla="*/ 0 h 2948"/>
                      <a:gd name="T10" fmla="*/ 0 w 1479"/>
                      <a:gd name="T11" fmla="*/ 0 h 2948"/>
                      <a:gd name="T12" fmla="*/ 0 w 1479"/>
                      <a:gd name="T13" fmla="*/ 0 h 2948"/>
                      <a:gd name="T14" fmla="*/ 0 w 1479"/>
                      <a:gd name="T15" fmla="*/ 0 h 2948"/>
                      <a:gd name="T16" fmla="*/ 0 w 1479"/>
                      <a:gd name="T17" fmla="*/ 0 h 2948"/>
                      <a:gd name="T18" fmla="*/ 0 w 1479"/>
                      <a:gd name="T19" fmla="*/ 0 h 2948"/>
                      <a:gd name="T20" fmla="*/ 0 w 1479"/>
                      <a:gd name="T21" fmla="*/ 0 h 2948"/>
                      <a:gd name="T22" fmla="*/ 0 w 1479"/>
                      <a:gd name="T23" fmla="*/ 0 h 2948"/>
                      <a:gd name="T24" fmla="*/ 0 w 1479"/>
                      <a:gd name="T25" fmla="*/ 0 h 2948"/>
                      <a:gd name="T26" fmla="*/ 0 w 1479"/>
                      <a:gd name="T27" fmla="*/ 0 h 2948"/>
                      <a:gd name="T28" fmla="*/ 0 w 1479"/>
                      <a:gd name="T29" fmla="*/ 0 h 2948"/>
                      <a:gd name="T30" fmla="*/ 0 w 1479"/>
                      <a:gd name="T31" fmla="*/ 0 h 2948"/>
                      <a:gd name="T32" fmla="*/ 0 w 1479"/>
                      <a:gd name="T33" fmla="*/ 0 h 2948"/>
                      <a:gd name="T34" fmla="*/ 0 w 1479"/>
                      <a:gd name="T35" fmla="*/ 0 h 2948"/>
                      <a:gd name="T36" fmla="*/ 0 w 1479"/>
                      <a:gd name="T37" fmla="*/ 0 h 2948"/>
                      <a:gd name="T38" fmla="*/ 0 w 1479"/>
                      <a:gd name="T39" fmla="*/ 0 h 2948"/>
                      <a:gd name="T40" fmla="*/ 0 w 1479"/>
                      <a:gd name="T41" fmla="*/ 0 h 2948"/>
                      <a:gd name="T42" fmla="*/ 0 w 1479"/>
                      <a:gd name="T43" fmla="*/ 0 h 2948"/>
                      <a:gd name="T44" fmla="*/ 0 w 1479"/>
                      <a:gd name="T45" fmla="*/ 0 h 2948"/>
                      <a:gd name="T46" fmla="*/ 0 w 1479"/>
                      <a:gd name="T47" fmla="*/ 0 h 2948"/>
                      <a:gd name="T48" fmla="*/ 0 w 1479"/>
                      <a:gd name="T49" fmla="*/ 0 h 2948"/>
                      <a:gd name="T50" fmla="*/ 0 w 1479"/>
                      <a:gd name="T51" fmla="*/ 0 h 2948"/>
                      <a:gd name="T52" fmla="*/ 0 w 1479"/>
                      <a:gd name="T53" fmla="*/ 0 h 2948"/>
                      <a:gd name="T54" fmla="*/ 0 w 1479"/>
                      <a:gd name="T55" fmla="*/ 0 h 2948"/>
                      <a:gd name="T56" fmla="*/ 0 w 1479"/>
                      <a:gd name="T57" fmla="*/ 0 h 2948"/>
                      <a:gd name="T58" fmla="*/ 0 w 1479"/>
                      <a:gd name="T59" fmla="*/ 0 h 2948"/>
                      <a:gd name="T60" fmla="*/ 0 w 1479"/>
                      <a:gd name="T61" fmla="*/ 0 h 2948"/>
                      <a:gd name="T62" fmla="*/ 0 w 1479"/>
                      <a:gd name="T63" fmla="*/ 0 h 2948"/>
                      <a:gd name="T64" fmla="*/ 0 w 1479"/>
                      <a:gd name="T65" fmla="*/ 0 h 2948"/>
                      <a:gd name="T66" fmla="*/ 0 w 1479"/>
                      <a:gd name="T67" fmla="*/ 0 h 2948"/>
                      <a:gd name="T68" fmla="*/ 0 w 1479"/>
                      <a:gd name="T69" fmla="*/ 0 h 2948"/>
                      <a:gd name="T70" fmla="*/ 0 w 1479"/>
                      <a:gd name="T71" fmla="*/ 0 h 2948"/>
                      <a:gd name="T72" fmla="*/ 0 w 1479"/>
                      <a:gd name="T73" fmla="*/ 0 h 2948"/>
                      <a:gd name="T74" fmla="*/ 0 w 1479"/>
                      <a:gd name="T75" fmla="*/ 0 h 2948"/>
                      <a:gd name="T76" fmla="*/ 0 w 1479"/>
                      <a:gd name="T77" fmla="*/ 0 h 2948"/>
                      <a:gd name="T78" fmla="*/ 0 w 1479"/>
                      <a:gd name="T79" fmla="*/ 0 h 2948"/>
                      <a:gd name="T80" fmla="*/ 0 w 1479"/>
                      <a:gd name="T81" fmla="*/ 0 h 2948"/>
                      <a:gd name="T82" fmla="*/ 0 w 1479"/>
                      <a:gd name="T83" fmla="*/ 0 h 2948"/>
                      <a:gd name="T84" fmla="*/ 0 w 1479"/>
                      <a:gd name="T85" fmla="*/ 0 h 2948"/>
                      <a:gd name="T86" fmla="*/ 0 w 1479"/>
                      <a:gd name="T87" fmla="*/ 0 h 2948"/>
                      <a:gd name="T88" fmla="*/ 0 w 1479"/>
                      <a:gd name="T89" fmla="*/ 0 h 2948"/>
                      <a:gd name="T90" fmla="*/ 0 w 1479"/>
                      <a:gd name="T91" fmla="*/ 0 h 2948"/>
                      <a:gd name="T92" fmla="*/ 0 w 1479"/>
                      <a:gd name="T93" fmla="*/ 0 h 2948"/>
                      <a:gd name="T94" fmla="*/ 0 w 1479"/>
                      <a:gd name="T95" fmla="*/ 0 h 2948"/>
                      <a:gd name="T96" fmla="*/ 0 w 1479"/>
                      <a:gd name="T97" fmla="*/ 0 h 2948"/>
                      <a:gd name="T98" fmla="*/ 0 w 1479"/>
                      <a:gd name="T99" fmla="*/ 0 h 2948"/>
                      <a:gd name="T100" fmla="*/ 0 w 1479"/>
                      <a:gd name="T101" fmla="*/ 0 h 2948"/>
                      <a:gd name="T102" fmla="*/ 0 w 1479"/>
                      <a:gd name="T103" fmla="*/ 0 h 2948"/>
                      <a:gd name="T104" fmla="*/ 0 w 1479"/>
                      <a:gd name="T105" fmla="*/ 0 h 2948"/>
                      <a:gd name="T106" fmla="*/ 0 w 1479"/>
                      <a:gd name="T107" fmla="*/ 0 h 2948"/>
                      <a:gd name="T108" fmla="*/ 0 w 1479"/>
                      <a:gd name="T109" fmla="*/ 0 h 2948"/>
                      <a:gd name="T110" fmla="*/ 0 w 1479"/>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9"/>
                      <a:gd name="T169" fmla="*/ 0 h 2948"/>
                      <a:gd name="T170" fmla="*/ 1479 w 1479"/>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9" h="2948">
                        <a:moveTo>
                          <a:pt x="1479" y="384"/>
                        </a:moveTo>
                        <a:lnTo>
                          <a:pt x="1476" y="353"/>
                        </a:lnTo>
                        <a:lnTo>
                          <a:pt x="1461" y="332"/>
                        </a:lnTo>
                        <a:lnTo>
                          <a:pt x="1438" y="306"/>
                        </a:lnTo>
                        <a:lnTo>
                          <a:pt x="1360" y="255"/>
                        </a:lnTo>
                        <a:lnTo>
                          <a:pt x="1008" y="61"/>
                        </a:lnTo>
                        <a:lnTo>
                          <a:pt x="958" y="38"/>
                        </a:lnTo>
                        <a:lnTo>
                          <a:pt x="926" y="23"/>
                        </a:lnTo>
                        <a:lnTo>
                          <a:pt x="886" y="10"/>
                        </a:lnTo>
                        <a:lnTo>
                          <a:pt x="861" y="3"/>
                        </a:lnTo>
                        <a:lnTo>
                          <a:pt x="825" y="0"/>
                        </a:lnTo>
                        <a:lnTo>
                          <a:pt x="792" y="3"/>
                        </a:lnTo>
                        <a:lnTo>
                          <a:pt x="767" y="6"/>
                        </a:lnTo>
                        <a:lnTo>
                          <a:pt x="730" y="16"/>
                        </a:lnTo>
                        <a:lnTo>
                          <a:pt x="695" y="32"/>
                        </a:lnTo>
                        <a:lnTo>
                          <a:pt x="663" y="54"/>
                        </a:lnTo>
                        <a:lnTo>
                          <a:pt x="630" y="74"/>
                        </a:lnTo>
                        <a:lnTo>
                          <a:pt x="598" y="95"/>
                        </a:lnTo>
                        <a:lnTo>
                          <a:pt x="562" y="121"/>
                        </a:lnTo>
                        <a:lnTo>
                          <a:pt x="528" y="154"/>
                        </a:lnTo>
                        <a:lnTo>
                          <a:pt x="509" y="175"/>
                        </a:lnTo>
                        <a:lnTo>
                          <a:pt x="492" y="201"/>
                        </a:lnTo>
                        <a:lnTo>
                          <a:pt x="481" y="238"/>
                        </a:lnTo>
                        <a:lnTo>
                          <a:pt x="10" y="2307"/>
                        </a:lnTo>
                        <a:lnTo>
                          <a:pt x="0" y="2349"/>
                        </a:lnTo>
                        <a:lnTo>
                          <a:pt x="0" y="2370"/>
                        </a:lnTo>
                        <a:lnTo>
                          <a:pt x="0" y="2396"/>
                        </a:lnTo>
                        <a:lnTo>
                          <a:pt x="1" y="2422"/>
                        </a:lnTo>
                        <a:lnTo>
                          <a:pt x="11" y="2466"/>
                        </a:lnTo>
                        <a:lnTo>
                          <a:pt x="19" y="2485"/>
                        </a:lnTo>
                        <a:lnTo>
                          <a:pt x="38" y="2518"/>
                        </a:lnTo>
                        <a:lnTo>
                          <a:pt x="51" y="2540"/>
                        </a:lnTo>
                        <a:lnTo>
                          <a:pt x="79" y="2571"/>
                        </a:lnTo>
                        <a:lnTo>
                          <a:pt x="111" y="2598"/>
                        </a:lnTo>
                        <a:lnTo>
                          <a:pt x="155" y="2627"/>
                        </a:lnTo>
                        <a:lnTo>
                          <a:pt x="190" y="2650"/>
                        </a:lnTo>
                        <a:lnTo>
                          <a:pt x="717" y="2948"/>
                        </a:lnTo>
                        <a:lnTo>
                          <a:pt x="708" y="2916"/>
                        </a:lnTo>
                        <a:lnTo>
                          <a:pt x="707" y="2885"/>
                        </a:lnTo>
                        <a:lnTo>
                          <a:pt x="712" y="2861"/>
                        </a:lnTo>
                        <a:lnTo>
                          <a:pt x="721" y="2833"/>
                        </a:lnTo>
                        <a:lnTo>
                          <a:pt x="735" y="2805"/>
                        </a:lnTo>
                        <a:lnTo>
                          <a:pt x="753" y="2783"/>
                        </a:lnTo>
                        <a:lnTo>
                          <a:pt x="778" y="2769"/>
                        </a:lnTo>
                        <a:lnTo>
                          <a:pt x="194" y="2433"/>
                        </a:lnTo>
                        <a:lnTo>
                          <a:pt x="175" y="2417"/>
                        </a:lnTo>
                        <a:lnTo>
                          <a:pt x="168" y="2407"/>
                        </a:lnTo>
                        <a:lnTo>
                          <a:pt x="162" y="2391"/>
                        </a:lnTo>
                        <a:lnTo>
                          <a:pt x="157" y="2359"/>
                        </a:lnTo>
                        <a:lnTo>
                          <a:pt x="157" y="2339"/>
                        </a:lnTo>
                        <a:lnTo>
                          <a:pt x="444" y="1110"/>
                        </a:lnTo>
                        <a:lnTo>
                          <a:pt x="473" y="1055"/>
                        </a:lnTo>
                        <a:lnTo>
                          <a:pt x="501" y="1024"/>
                        </a:lnTo>
                        <a:lnTo>
                          <a:pt x="547" y="976"/>
                        </a:lnTo>
                        <a:lnTo>
                          <a:pt x="583" y="941"/>
                        </a:lnTo>
                        <a:lnTo>
                          <a:pt x="1479" y="384"/>
                        </a:lnTo>
                        <a:close/>
                      </a:path>
                    </a:pathLst>
                  </a:custGeom>
                  <a:solidFill>
                    <a:srgbClr val="808080"/>
                  </a:solidFill>
                  <a:ln w="1588">
                    <a:solidFill>
                      <a:srgbClr val="000000"/>
                    </a:solidFill>
                    <a:prstDash val="solid"/>
                    <a:round/>
                    <a:headEnd/>
                    <a:tailEnd/>
                  </a:ln>
                </p:spPr>
                <p:txBody>
                  <a:bodyPr/>
                  <a:lstStyle/>
                  <a:p>
                    <a:endParaRPr lang="en-US"/>
                  </a:p>
                </p:txBody>
              </p:sp>
              <p:sp>
                <p:nvSpPr>
                  <p:cNvPr id="113" name="Freeform 103">
                    <a:extLst>
                      <a:ext uri="{FF2B5EF4-FFF2-40B4-BE49-F238E27FC236}">
                        <a16:creationId xmlns:a16="http://schemas.microsoft.com/office/drawing/2014/main" id="{FFDCF884-B44A-4DD8-A223-01D3027E3F33}"/>
                      </a:ext>
                    </a:extLst>
                  </p:cNvPr>
                  <p:cNvSpPr>
                    <a:spLocks/>
                  </p:cNvSpPr>
                  <p:nvPr/>
                </p:nvSpPr>
                <p:spPr bwMode="auto">
                  <a:xfrm>
                    <a:off x="2166" y="3561"/>
                    <a:ext cx="78" cy="109"/>
                  </a:xfrm>
                  <a:custGeom>
                    <a:avLst/>
                    <a:gdLst>
                      <a:gd name="T0" fmla="*/ 0 w 928"/>
                      <a:gd name="T1" fmla="*/ 0 h 1304"/>
                      <a:gd name="T2" fmla="*/ 0 w 928"/>
                      <a:gd name="T3" fmla="*/ 0 h 1304"/>
                      <a:gd name="T4" fmla="*/ 0 w 928"/>
                      <a:gd name="T5" fmla="*/ 0 h 1304"/>
                      <a:gd name="T6" fmla="*/ 0 w 928"/>
                      <a:gd name="T7" fmla="*/ 0 h 1304"/>
                      <a:gd name="T8" fmla="*/ 0 w 928"/>
                      <a:gd name="T9" fmla="*/ 0 h 1304"/>
                      <a:gd name="T10" fmla="*/ 0 w 928"/>
                      <a:gd name="T11" fmla="*/ 0 h 1304"/>
                      <a:gd name="T12" fmla="*/ 0 w 928"/>
                      <a:gd name="T13" fmla="*/ 0 h 1304"/>
                      <a:gd name="T14" fmla="*/ 0 w 928"/>
                      <a:gd name="T15" fmla="*/ 0 h 1304"/>
                      <a:gd name="T16" fmla="*/ 0 w 928"/>
                      <a:gd name="T17" fmla="*/ 0 h 1304"/>
                      <a:gd name="T18" fmla="*/ 0 w 928"/>
                      <a:gd name="T19" fmla="*/ 0 h 1304"/>
                      <a:gd name="T20" fmla="*/ 0 w 928"/>
                      <a:gd name="T21" fmla="*/ 0 h 1304"/>
                      <a:gd name="T22" fmla="*/ 0 w 928"/>
                      <a:gd name="T23" fmla="*/ 0 h 1304"/>
                      <a:gd name="T24" fmla="*/ 0 w 928"/>
                      <a:gd name="T25" fmla="*/ 0 h 1304"/>
                      <a:gd name="T26" fmla="*/ 0 w 928"/>
                      <a:gd name="T27" fmla="*/ 0 h 1304"/>
                      <a:gd name="T28" fmla="*/ 0 w 928"/>
                      <a:gd name="T29" fmla="*/ 0 h 1304"/>
                      <a:gd name="T30" fmla="*/ 0 w 928"/>
                      <a:gd name="T31" fmla="*/ 0 h 1304"/>
                      <a:gd name="T32" fmla="*/ 0 w 928"/>
                      <a:gd name="T33" fmla="*/ 0 h 1304"/>
                      <a:gd name="T34" fmla="*/ 0 w 928"/>
                      <a:gd name="T35" fmla="*/ 0 h 1304"/>
                      <a:gd name="T36" fmla="*/ 0 w 928"/>
                      <a:gd name="T37" fmla="*/ 0 h 1304"/>
                      <a:gd name="T38" fmla="*/ 0 w 928"/>
                      <a:gd name="T39" fmla="*/ 0 h 1304"/>
                      <a:gd name="T40" fmla="*/ 0 w 928"/>
                      <a:gd name="T41" fmla="*/ 0 h 1304"/>
                      <a:gd name="T42" fmla="*/ 0 w 928"/>
                      <a:gd name="T43" fmla="*/ 0 h 1304"/>
                      <a:gd name="T44" fmla="*/ 0 w 928"/>
                      <a:gd name="T45" fmla="*/ 0 h 1304"/>
                      <a:gd name="T46" fmla="*/ 0 w 928"/>
                      <a:gd name="T47" fmla="*/ 0 h 1304"/>
                      <a:gd name="T48" fmla="*/ 0 w 928"/>
                      <a:gd name="T49" fmla="*/ 0 h 1304"/>
                      <a:gd name="T50" fmla="*/ 0 w 928"/>
                      <a:gd name="T51" fmla="*/ 0 h 1304"/>
                      <a:gd name="T52" fmla="*/ 0 w 928"/>
                      <a:gd name="T53" fmla="*/ 0 h 1304"/>
                      <a:gd name="T54" fmla="*/ 0 w 928"/>
                      <a:gd name="T55" fmla="*/ 0 h 1304"/>
                      <a:gd name="T56" fmla="*/ 0 w 928"/>
                      <a:gd name="T57" fmla="*/ 0 h 1304"/>
                      <a:gd name="T58" fmla="*/ 0 w 928"/>
                      <a:gd name="T59" fmla="*/ 0 h 1304"/>
                      <a:gd name="T60" fmla="*/ 0 w 928"/>
                      <a:gd name="T61" fmla="*/ 0 h 1304"/>
                      <a:gd name="T62" fmla="*/ 0 w 928"/>
                      <a:gd name="T63" fmla="*/ 0 h 1304"/>
                      <a:gd name="T64" fmla="*/ 0 w 928"/>
                      <a:gd name="T65" fmla="*/ 0 h 1304"/>
                      <a:gd name="T66" fmla="*/ 0 w 928"/>
                      <a:gd name="T67" fmla="*/ 0 h 1304"/>
                      <a:gd name="T68" fmla="*/ 0 w 928"/>
                      <a:gd name="T69" fmla="*/ 0 h 1304"/>
                      <a:gd name="T70" fmla="*/ 0 w 928"/>
                      <a:gd name="T71" fmla="*/ 0 h 1304"/>
                      <a:gd name="T72" fmla="*/ 0 w 928"/>
                      <a:gd name="T73" fmla="*/ 0 h 1304"/>
                      <a:gd name="T74" fmla="*/ 0 w 928"/>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8"/>
                      <a:gd name="T115" fmla="*/ 0 h 1304"/>
                      <a:gd name="T116" fmla="*/ 928 w 928"/>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8" h="1304">
                        <a:moveTo>
                          <a:pt x="898" y="351"/>
                        </a:moveTo>
                        <a:lnTo>
                          <a:pt x="868" y="315"/>
                        </a:lnTo>
                        <a:lnTo>
                          <a:pt x="821" y="278"/>
                        </a:lnTo>
                        <a:lnTo>
                          <a:pt x="755" y="241"/>
                        </a:lnTo>
                        <a:lnTo>
                          <a:pt x="586" y="148"/>
                        </a:lnTo>
                        <a:lnTo>
                          <a:pt x="400" y="53"/>
                        </a:lnTo>
                        <a:lnTo>
                          <a:pt x="335" y="21"/>
                        </a:lnTo>
                        <a:lnTo>
                          <a:pt x="290" y="6"/>
                        </a:lnTo>
                        <a:lnTo>
                          <a:pt x="255" y="0"/>
                        </a:lnTo>
                        <a:lnTo>
                          <a:pt x="228" y="0"/>
                        </a:lnTo>
                        <a:lnTo>
                          <a:pt x="205" y="5"/>
                        </a:lnTo>
                        <a:lnTo>
                          <a:pt x="182" y="21"/>
                        </a:lnTo>
                        <a:lnTo>
                          <a:pt x="164" y="41"/>
                        </a:lnTo>
                        <a:lnTo>
                          <a:pt x="148" y="76"/>
                        </a:lnTo>
                        <a:lnTo>
                          <a:pt x="0" y="833"/>
                        </a:lnTo>
                        <a:lnTo>
                          <a:pt x="0" y="865"/>
                        </a:lnTo>
                        <a:lnTo>
                          <a:pt x="0" y="906"/>
                        </a:lnTo>
                        <a:lnTo>
                          <a:pt x="7" y="936"/>
                        </a:lnTo>
                        <a:lnTo>
                          <a:pt x="16" y="957"/>
                        </a:lnTo>
                        <a:lnTo>
                          <a:pt x="29" y="978"/>
                        </a:lnTo>
                        <a:lnTo>
                          <a:pt x="57" y="1004"/>
                        </a:lnTo>
                        <a:lnTo>
                          <a:pt x="85" y="1022"/>
                        </a:lnTo>
                        <a:lnTo>
                          <a:pt x="118" y="1041"/>
                        </a:lnTo>
                        <a:lnTo>
                          <a:pt x="558" y="1267"/>
                        </a:lnTo>
                        <a:lnTo>
                          <a:pt x="599" y="1285"/>
                        </a:lnTo>
                        <a:lnTo>
                          <a:pt x="636" y="1295"/>
                        </a:lnTo>
                        <a:lnTo>
                          <a:pt x="678" y="1304"/>
                        </a:lnTo>
                        <a:lnTo>
                          <a:pt x="706" y="1304"/>
                        </a:lnTo>
                        <a:lnTo>
                          <a:pt x="734" y="1295"/>
                        </a:lnTo>
                        <a:lnTo>
                          <a:pt x="755" y="1269"/>
                        </a:lnTo>
                        <a:lnTo>
                          <a:pt x="767" y="1222"/>
                        </a:lnTo>
                        <a:lnTo>
                          <a:pt x="784" y="1162"/>
                        </a:lnTo>
                        <a:lnTo>
                          <a:pt x="860" y="833"/>
                        </a:lnTo>
                        <a:lnTo>
                          <a:pt x="916" y="507"/>
                        </a:lnTo>
                        <a:lnTo>
                          <a:pt x="928" y="431"/>
                        </a:lnTo>
                        <a:lnTo>
                          <a:pt x="925" y="403"/>
                        </a:lnTo>
                        <a:lnTo>
                          <a:pt x="917" y="379"/>
                        </a:lnTo>
                        <a:lnTo>
                          <a:pt x="898" y="351"/>
                        </a:lnTo>
                        <a:close/>
                      </a:path>
                    </a:pathLst>
                  </a:custGeom>
                  <a:solidFill>
                    <a:srgbClr val="606060"/>
                  </a:solidFill>
                  <a:ln w="1588">
                    <a:solidFill>
                      <a:srgbClr val="000000"/>
                    </a:solidFill>
                    <a:prstDash val="solid"/>
                    <a:round/>
                    <a:headEnd/>
                    <a:tailEnd/>
                  </a:ln>
                </p:spPr>
                <p:txBody>
                  <a:bodyPr/>
                  <a:lstStyle/>
                  <a:p>
                    <a:endParaRPr lang="en-US"/>
                  </a:p>
                </p:txBody>
              </p:sp>
              <p:sp>
                <p:nvSpPr>
                  <p:cNvPr id="114" name="Freeform 104">
                    <a:extLst>
                      <a:ext uri="{FF2B5EF4-FFF2-40B4-BE49-F238E27FC236}">
                        <a16:creationId xmlns:a16="http://schemas.microsoft.com/office/drawing/2014/main" id="{1AD33CF0-F78D-456C-B788-021249542FB0}"/>
                      </a:ext>
                    </a:extLst>
                  </p:cNvPr>
                  <p:cNvSpPr>
                    <a:spLocks/>
                  </p:cNvSpPr>
                  <p:nvPr/>
                </p:nvSpPr>
                <p:spPr bwMode="auto">
                  <a:xfrm>
                    <a:off x="2126" y="3634"/>
                    <a:ext cx="101"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10" y="431"/>
                        </a:moveTo>
                        <a:lnTo>
                          <a:pt x="1215" y="426"/>
                        </a:lnTo>
                        <a:lnTo>
                          <a:pt x="1156" y="451"/>
                        </a:lnTo>
                        <a:lnTo>
                          <a:pt x="1119" y="467"/>
                        </a:lnTo>
                        <a:lnTo>
                          <a:pt x="1101" y="478"/>
                        </a:lnTo>
                        <a:lnTo>
                          <a:pt x="1073" y="511"/>
                        </a:lnTo>
                        <a:lnTo>
                          <a:pt x="1053" y="552"/>
                        </a:lnTo>
                        <a:lnTo>
                          <a:pt x="772" y="1702"/>
                        </a:lnTo>
                        <a:lnTo>
                          <a:pt x="0" y="1429"/>
                        </a:lnTo>
                        <a:lnTo>
                          <a:pt x="315" y="31"/>
                        </a:lnTo>
                        <a:lnTo>
                          <a:pt x="481" y="0"/>
                        </a:lnTo>
                        <a:lnTo>
                          <a:pt x="1210"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115" name="Group 105">
                    <a:extLst>
                      <a:ext uri="{FF2B5EF4-FFF2-40B4-BE49-F238E27FC236}">
                        <a16:creationId xmlns:a16="http://schemas.microsoft.com/office/drawing/2014/main" id="{C46E9028-0A4A-42C7-BB8E-A6472FBD3811}"/>
                      </a:ext>
                    </a:extLst>
                  </p:cNvPr>
                  <p:cNvGrpSpPr>
                    <a:grpSpLocks/>
                  </p:cNvGrpSpPr>
                  <p:nvPr/>
                </p:nvGrpSpPr>
                <p:grpSpPr bwMode="auto">
                  <a:xfrm>
                    <a:off x="2183" y="3584"/>
                    <a:ext cx="52" cy="60"/>
                    <a:chOff x="2183" y="3584"/>
                    <a:chExt cx="52" cy="60"/>
                  </a:xfrm>
                </p:grpSpPr>
                <p:sp>
                  <p:nvSpPr>
                    <p:cNvPr id="135" name="Oval 106">
                      <a:extLst>
                        <a:ext uri="{FF2B5EF4-FFF2-40B4-BE49-F238E27FC236}">
                          <a16:creationId xmlns:a16="http://schemas.microsoft.com/office/drawing/2014/main" id="{88A8966F-0C8F-4A0B-8570-785E3F258951}"/>
                        </a:ext>
                      </a:extLst>
                    </p:cNvPr>
                    <p:cNvSpPr>
                      <a:spLocks noChangeArrowheads="1"/>
                    </p:cNvSpPr>
                    <p:nvPr/>
                  </p:nvSpPr>
                  <p:spPr bwMode="auto">
                    <a:xfrm>
                      <a:off x="2183" y="3584"/>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36" name="Group 107">
                      <a:extLst>
                        <a:ext uri="{FF2B5EF4-FFF2-40B4-BE49-F238E27FC236}">
                          <a16:creationId xmlns:a16="http://schemas.microsoft.com/office/drawing/2014/main" id="{7D11F0BA-7DFB-4D8C-B1A4-EAE390A9EC47}"/>
                        </a:ext>
                      </a:extLst>
                    </p:cNvPr>
                    <p:cNvGrpSpPr>
                      <a:grpSpLocks/>
                    </p:cNvGrpSpPr>
                    <p:nvPr/>
                  </p:nvGrpSpPr>
                  <p:grpSpPr bwMode="auto">
                    <a:xfrm>
                      <a:off x="2196" y="3594"/>
                      <a:ext cx="28" cy="40"/>
                      <a:chOff x="2196" y="3594"/>
                      <a:chExt cx="28" cy="40"/>
                    </a:xfrm>
                  </p:grpSpPr>
                  <p:sp>
                    <p:nvSpPr>
                      <p:cNvPr id="137" name="Oval 108">
                        <a:extLst>
                          <a:ext uri="{FF2B5EF4-FFF2-40B4-BE49-F238E27FC236}">
                            <a16:creationId xmlns:a16="http://schemas.microsoft.com/office/drawing/2014/main" id="{497C8EC4-F1F3-49CB-81BE-AD68DDEFC269}"/>
                          </a:ext>
                        </a:extLst>
                      </p:cNvPr>
                      <p:cNvSpPr>
                        <a:spLocks noChangeArrowheads="1"/>
                      </p:cNvSpPr>
                      <p:nvPr/>
                    </p:nvSpPr>
                    <p:spPr bwMode="auto">
                      <a:xfrm>
                        <a:off x="2208" y="361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38" name="Oval 109">
                        <a:extLst>
                          <a:ext uri="{FF2B5EF4-FFF2-40B4-BE49-F238E27FC236}">
                            <a16:creationId xmlns:a16="http://schemas.microsoft.com/office/drawing/2014/main" id="{98BCA189-AE84-48C5-9F8D-96B4B8DC3D59}"/>
                          </a:ext>
                        </a:extLst>
                      </p:cNvPr>
                      <p:cNvSpPr>
                        <a:spLocks noChangeArrowheads="1"/>
                      </p:cNvSpPr>
                      <p:nvPr/>
                    </p:nvSpPr>
                    <p:spPr bwMode="auto">
                      <a:xfrm>
                        <a:off x="2219" y="361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39" name="Oval 110">
                        <a:extLst>
                          <a:ext uri="{FF2B5EF4-FFF2-40B4-BE49-F238E27FC236}">
                            <a16:creationId xmlns:a16="http://schemas.microsoft.com/office/drawing/2014/main" id="{8E5B5340-53BD-410A-8827-12464C450AFF}"/>
                          </a:ext>
                        </a:extLst>
                      </p:cNvPr>
                      <p:cNvSpPr>
                        <a:spLocks noChangeArrowheads="1"/>
                      </p:cNvSpPr>
                      <p:nvPr/>
                    </p:nvSpPr>
                    <p:spPr bwMode="auto">
                      <a:xfrm>
                        <a:off x="2196" y="362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0" name="Oval 111">
                        <a:extLst>
                          <a:ext uri="{FF2B5EF4-FFF2-40B4-BE49-F238E27FC236}">
                            <a16:creationId xmlns:a16="http://schemas.microsoft.com/office/drawing/2014/main" id="{0A817112-7D94-4F04-95E8-475ACECBD33E}"/>
                          </a:ext>
                        </a:extLst>
                      </p:cNvPr>
                      <p:cNvSpPr>
                        <a:spLocks noChangeArrowheads="1"/>
                      </p:cNvSpPr>
                      <p:nvPr/>
                    </p:nvSpPr>
                    <p:spPr bwMode="auto">
                      <a:xfrm>
                        <a:off x="2205" y="362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1" name="Oval 112">
                        <a:extLst>
                          <a:ext uri="{FF2B5EF4-FFF2-40B4-BE49-F238E27FC236}">
                            <a16:creationId xmlns:a16="http://schemas.microsoft.com/office/drawing/2014/main" id="{8130A8B5-759F-4623-B9F9-6835892E5AE8}"/>
                          </a:ext>
                        </a:extLst>
                      </p:cNvPr>
                      <p:cNvSpPr>
                        <a:spLocks noChangeArrowheads="1"/>
                      </p:cNvSpPr>
                      <p:nvPr/>
                    </p:nvSpPr>
                    <p:spPr bwMode="auto">
                      <a:xfrm>
                        <a:off x="2215" y="3630"/>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2" name="Oval 113">
                        <a:extLst>
                          <a:ext uri="{FF2B5EF4-FFF2-40B4-BE49-F238E27FC236}">
                            <a16:creationId xmlns:a16="http://schemas.microsoft.com/office/drawing/2014/main" id="{16E8156F-E614-4824-BB06-D21E37E2A46B}"/>
                          </a:ext>
                        </a:extLst>
                      </p:cNvPr>
                      <p:cNvSpPr>
                        <a:spLocks noChangeArrowheads="1"/>
                      </p:cNvSpPr>
                      <p:nvPr/>
                    </p:nvSpPr>
                    <p:spPr bwMode="auto">
                      <a:xfrm>
                        <a:off x="2202" y="361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3" name="Oval 114">
                        <a:extLst>
                          <a:ext uri="{FF2B5EF4-FFF2-40B4-BE49-F238E27FC236}">
                            <a16:creationId xmlns:a16="http://schemas.microsoft.com/office/drawing/2014/main" id="{86A9CF63-294F-404A-A58B-FCDFB12A9EEA}"/>
                          </a:ext>
                        </a:extLst>
                      </p:cNvPr>
                      <p:cNvSpPr>
                        <a:spLocks noChangeArrowheads="1"/>
                      </p:cNvSpPr>
                      <p:nvPr/>
                    </p:nvSpPr>
                    <p:spPr bwMode="auto">
                      <a:xfrm>
                        <a:off x="2211" y="3621"/>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4" name="Oval 115">
                        <a:extLst>
                          <a:ext uri="{FF2B5EF4-FFF2-40B4-BE49-F238E27FC236}">
                            <a16:creationId xmlns:a16="http://schemas.microsoft.com/office/drawing/2014/main" id="{C5D3AD2E-3A6C-4BCC-A3B1-EFA805488601}"/>
                          </a:ext>
                        </a:extLst>
                      </p:cNvPr>
                      <p:cNvSpPr>
                        <a:spLocks noChangeArrowheads="1"/>
                      </p:cNvSpPr>
                      <p:nvPr/>
                    </p:nvSpPr>
                    <p:spPr bwMode="auto">
                      <a:xfrm>
                        <a:off x="2201" y="359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5" name="Oval 116">
                        <a:extLst>
                          <a:ext uri="{FF2B5EF4-FFF2-40B4-BE49-F238E27FC236}">
                            <a16:creationId xmlns:a16="http://schemas.microsoft.com/office/drawing/2014/main" id="{F3A084CF-037D-4F49-9AEC-E55DF36DFC63}"/>
                          </a:ext>
                        </a:extLst>
                      </p:cNvPr>
                      <p:cNvSpPr>
                        <a:spLocks noChangeArrowheads="1"/>
                      </p:cNvSpPr>
                      <p:nvPr/>
                    </p:nvSpPr>
                    <p:spPr bwMode="auto">
                      <a:xfrm>
                        <a:off x="2211" y="359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6" name="Oval 117">
                        <a:extLst>
                          <a:ext uri="{FF2B5EF4-FFF2-40B4-BE49-F238E27FC236}">
                            <a16:creationId xmlns:a16="http://schemas.microsoft.com/office/drawing/2014/main" id="{1B7AD265-FC32-46DC-9F87-F9D3ED8105D5}"/>
                          </a:ext>
                        </a:extLst>
                      </p:cNvPr>
                      <p:cNvSpPr>
                        <a:spLocks noChangeArrowheads="1"/>
                      </p:cNvSpPr>
                      <p:nvPr/>
                    </p:nvSpPr>
                    <p:spPr bwMode="auto">
                      <a:xfrm>
                        <a:off x="2221" y="360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7" name="Oval 118">
                        <a:extLst>
                          <a:ext uri="{FF2B5EF4-FFF2-40B4-BE49-F238E27FC236}">
                            <a16:creationId xmlns:a16="http://schemas.microsoft.com/office/drawing/2014/main" id="{34AF1634-98F7-46DC-95F9-A8B056BFC66C}"/>
                          </a:ext>
                        </a:extLst>
                      </p:cNvPr>
                      <p:cNvSpPr>
                        <a:spLocks noChangeArrowheads="1"/>
                      </p:cNvSpPr>
                      <p:nvPr/>
                    </p:nvSpPr>
                    <p:spPr bwMode="auto">
                      <a:xfrm>
                        <a:off x="2198" y="360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8" name="Oval 119">
                        <a:extLst>
                          <a:ext uri="{FF2B5EF4-FFF2-40B4-BE49-F238E27FC236}">
                            <a16:creationId xmlns:a16="http://schemas.microsoft.com/office/drawing/2014/main" id="{512567D8-BB3F-4E81-9DFF-BFF4B9A5D0D2}"/>
                          </a:ext>
                        </a:extLst>
                      </p:cNvPr>
                      <p:cNvSpPr>
                        <a:spLocks noChangeArrowheads="1"/>
                      </p:cNvSpPr>
                      <p:nvPr/>
                    </p:nvSpPr>
                    <p:spPr bwMode="auto">
                      <a:xfrm>
                        <a:off x="2204" y="360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49" name="Oval 120">
                        <a:extLst>
                          <a:ext uri="{FF2B5EF4-FFF2-40B4-BE49-F238E27FC236}">
                            <a16:creationId xmlns:a16="http://schemas.microsoft.com/office/drawing/2014/main" id="{9D585B38-15AE-4311-BA74-89D26407C02E}"/>
                          </a:ext>
                        </a:extLst>
                      </p:cNvPr>
                      <p:cNvSpPr>
                        <a:spLocks noChangeArrowheads="1"/>
                      </p:cNvSpPr>
                      <p:nvPr/>
                    </p:nvSpPr>
                    <p:spPr bwMode="auto">
                      <a:xfrm>
                        <a:off x="2215" y="360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16" name="Group 121">
                    <a:extLst>
                      <a:ext uri="{FF2B5EF4-FFF2-40B4-BE49-F238E27FC236}">
                        <a16:creationId xmlns:a16="http://schemas.microsoft.com/office/drawing/2014/main" id="{85FBC6ED-D78A-4F3D-A535-37313C1B828C}"/>
                      </a:ext>
                    </a:extLst>
                  </p:cNvPr>
                  <p:cNvGrpSpPr>
                    <a:grpSpLocks/>
                  </p:cNvGrpSpPr>
                  <p:nvPr/>
                </p:nvGrpSpPr>
                <p:grpSpPr bwMode="auto">
                  <a:xfrm>
                    <a:off x="2142" y="3655"/>
                    <a:ext cx="68" cy="111"/>
                    <a:chOff x="2142" y="3655"/>
                    <a:chExt cx="68" cy="111"/>
                  </a:xfrm>
                </p:grpSpPr>
                <p:sp>
                  <p:nvSpPr>
                    <p:cNvPr id="117" name="Oval 122">
                      <a:extLst>
                        <a:ext uri="{FF2B5EF4-FFF2-40B4-BE49-F238E27FC236}">
                          <a16:creationId xmlns:a16="http://schemas.microsoft.com/office/drawing/2014/main" id="{02839DFE-6FD8-41AD-9AC6-40655AFA2575}"/>
                        </a:ext>
                      </a:extLst>
                    </p:cNvPr>
                    <p:cNvSpPr>
                      <a:spLocks noChangeArrowheads="1"/>
                    </p:cNvSpPr>
                    <p:nvPr/>
                  </p:nvSpPr>
                  <p:spPr bwMode="auto">
                    <a:xfrm>
                      <a:off x="2176" y="375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18" name="Oval 123">
                      <a:extLst>
                        <a:ext uri="{FF2B5EF4-FFF2-40B4-BE49-F238E27FC236}">
                          <a16:creationId xmlns:a16="http://schemas.microsoft.com/office/drawing/2014/main" id="{058ABE6A-FF2F-41F3-AE37-3ED0FEAE2D92}"/>
                        </a:ext>
                      </a:extLst>
                    </p:cNvPr>
                    <p:cNvSpPr>
                      <a:spLocks noChangeArrowheads="1"/>
                    </p:cNvSpPr>
                    <p:nvPr/>
                  </p:nvSpPr>
                  <p:spPr bwMode="auto">
                    <a:xfrm>
                      <a:off x="2163" y="365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19" name="Oval 124">
                      <a:extLst>
                        <a:ext uri="{FF2B5EF4-FFF2-40B4-BE49-F238E27FC236}">
                          <a16:creationId xmlns:a16="http://schemas.microsoft.com/office/drawing/2014/main" id="{A7006D38-38BA-4BA8-A15F-0EEC68752EF0}"/>
                        </a:ext>
                      </a:extLst>
                    </p:cNvPr>
                    <p:cNvSpPr>
                      <a:spLocks noChangeArrowheads="1"/>
                    </p:cNvSpPr>
                    <p:nvPr/>
                  </p:nvSpPr>
                  <p:spPr bwMode="auto">
                    <a:xfrm>
                      <a:off x="2180" y="3663"/>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0" name="Oval 125">
                      <a:extLst>
                        <a:ext uri="{FF2B5EF4-FFF2-40B4-BE49-F238E27FC236}">
                          <a16:creationId xmlns:a16="http://schemas.microsoft.com/office/drawing/2014/main" id="{CB36E696-0E81-49E6-ADCB-5F7462D47B99}"/>
                        </a:ext>
                      </a:extLst>
                    </p:cNvPr>
                    <p:cNvSpPr>
                      <a:spLocks noChangeArrowheads="1"/>
                    </p:cNvSpPr>
                    <p:nvPr/>
                  </p:nvSpPr>
                  <p:spPr bwMode="auto">
                    <a:xfrm>
                      <a:off x="2196" y="367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1" name="Oval 126">
                      <a:extLst>
                        <a:ext uri="{FF2B5EF4-FFF2-40B4-BE49-F238E27FC236}">
                          <a16:creationId xmlns:a16="http://schemas.microsoft.com/office/drawing/2014/main" id="{A73DB5CA-0EB0-4A9D-ACC3-E8E7D6053A2A}"/>
                        </a:ext>
                      </a:extLst>
                    </p:cNvPr>
                    <p:cNvSpPr>
                      <a:spLocks noChangeArrowheads="1"/>
                    </p:cNvSpPr>
                    <p:nvPr/>
                  </p:nvSpPr>
                  <p:spPr bwMode="auto">
                    <a:xfrm>
                      <a:off x="2158" y="3672"/>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2" name="Oval 127">
                      <a:extLst>
                        <a:ext uri="{FF2B5EF4-FFF2-40B4-BE49-F238E27FC236}">
                          <a16:creationId xmlns:a16="http://schemas.microsoft.com/office/drawing/2014/main" id="{B676CE66-578F-4DEF-A13E-C648A9A8A984}"/>
                        </a:ext>
                      </a:extLst>
                    </p:cNvPr>
                    <p:cNvSpPr>
                      <a:spLocks noChangeArrowheads="1"/>
                    </p:cNvSpPr>
                    <p:nvPr/>
                  </p:nvSpPr>
                  <p:spPr bwMode="auto">
                    <a:xfrm>
                      <a:off x="2176" y="3679"/>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3" name="Oval 128">
                      <a:extLst>
                        <a:ext uri="{FF2B5EF4-FFF2-40B4-BE49-F238E27FC236}">
                          <a16:creationId xmlns:a16="http://schemas.microsoft.com/office/drawing/2014/main" id="{256B7B48-62A2-4079-A332-D63E4C69E766}"/>
                        </a:ext>
                      </a:extLst>
                    </p:cNvPr>
                    <p:cNvSpPr>
                      <a:spLocks noChangeArrowheads="1"/>
                    </p:cNvSpPr>
                    <p:nvPr/>
                  </p:nvSpPr>
                  <p:spPr bwMode="auto">
                    <a:xfrm>
                      <a:off x="2192" y="368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4" name="Oval 129">
                      <a:extLst>
                        <a:ext uri="{FF2B5EF4-FFF2-40B4-BE49-F238E27FC236}">
                          <a16:creationId xmlns:a16="http://schemas.microsoft.com/office/drawing/2014/main" id="{14C2D4AD-527B-4B75-BCA7-0DD63FE04525}"/>
                        </a:ext>
                      </a:extLst>
                    </p:cNvPr>
                    <p:cNvSpPr>
                      <a:spLocks noChangeArrowheads="1"/>
                    </p:cNvSpPr>
                    <p:nvPr/>
                  </p:nvSpPr>
                  <p:spPr bwMode="auto">
                    <a:xfrm>
                      <a:off x="2154" y="3688"/>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5" name="Oval 130">
                      <a:extLst>
                        <a:ext uri="{FF2B5EF4-FFF2-40B4-BE49-F238E27FC236}">
                          <a16:creationId xmlns:a16="http://schemas.microsoft.com/office/drawing/2014/main" id="{BAA17073-9E6E-43A0-8628-9C385DE0B1C8}"/>
                        </a:ext>
                      </a:extLst>
                    </p:cNvPr>
                    <p:cNvSpPr>
                      <a:spLocks noChangeArrowheads="1"/>
                    </p:cNvSpPr>
                    <p:nvPr/>
                  </p:nvSpPr>
                  <p:spPr bwMode="auto">
                    <a:xfrm>
                      <a:off x="2171" y="369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6" name="Oval 131">
                      <a:extLst>
                        <a:ext uri="{FF2B5EF4-FFF2-40B4-BE49-F238E27FC236}">
                          <a16:creationId xmlns:a16="http://schemas.microsoft.com/office/drawing/2014/main" id="{D19F546D-D674-49D1-B34A-FD75EFC92E44}"/>
                        </a:ext>
                      </a:extLst>
                    </p:cNvPr>
                    <p:cNvSpPr>
                      <a:spLocks noChangeArrowheads="1"/>
                    </p:cNvSpPr>
                    <p:nvPr/>
                  </p:nvSpPr>
                  <p:spPr bwMode="auto">
                    <a:xfrm>
                      <a:off x="2188" y="370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7" name="Oval 132">
                      <a:extLst>
                        <a:ext uri="{FF2B5EF4-FFF2-40B4-BE49-F238E27FC236}">
                          <a16:creationId xmlns:a16="http://schemas.microsoft.com/office/drawing/2014/main" id="{1C976EC5-B443-4EA1-8CC3-0F964798CA1D}"/>
                        </a:ext>
                      </a:extLst>
                    </p:cNvPr>
                    <p:cNvSpPr>
                      <a:spLocks noChangeArrowheads="1"/>
                    </p:cNvSpPr>
                    <p:nvPr/>
                  </p:nvSpPr>
                  <p:spPr bwMode="auto">
                    <a:xfrm>
                      <a:off x="2150" y="370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8" name="Oval 133">
                      <a:extLst>
                        <a:ext uri="{FF2B5EF4-FFF2-40B4-BE49-F238E27FC236}">
                          <a16:creationId xmlns:a16="http://schemas.microsoft.com/office/drawing/2014/main" id="{2C7974B5-D106-4EF4-8DBF-869A1FCE0E8D}"/>
                        </a:ext>
                      </a:extLst>
                    </p:cNvPr>
                    <p:cNvSpPr>
                      <a:spLocks noChangeArrowheads="1"/>
                    </p:cNvSpPr>
                    <p:nvPr/>
                  </p:nvSpPr>
                  <p:spPr bwMode="auto">
                    <a:xfrm>
                      <a:off x="2167" y="371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29" name="Oval 134">
                      <a:extLst>
                        <a:ext uri="{FF2B5EF4-FFF2-40B4-BE49-F238E27FC236}">
                          <a16:creationId xmlns:a16="http://schemas.microsoft.com/office/drawing/2014/main" id="{0E514981-77FE-46EC-80B2-E8956A908DB0}"/>
                        </a:ext>
                      </a:extLst>
                    </p:cNvPr>
                    <p:cNvSpPr>
                      <a:spLocks noChangeArrowheads="1"/>
                    </p:cNvSpPr>
                    <p:nvPr/>
                  </p:nvSpPr>
                  <p:spPr bwMode="auto">
                    <a:xfrm>
                      <a:off x="2184" y="371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30" name="Oval 135">
                      <a:extLst>
                        <a:ext uri="{FF2B5EF4-FFF2-40B4-BE49-F238E27FC236}">
                          <a16:creationId xmlns:a16="http://schemas.microsoft.com/office/drawing/2014/main" id="{CBA88498-46B6-4CE4-801E-673BAE857BAC}"/>
                        </a:ext>
                      </a:extLst>
                    </p:cNvPr>
                    <p:cNvSpPr>
                      <a:spLocks noChangeArrowheads="1"/>
                    </p:cNvSpPr>
                    <p:nvPr/>
                  </p:nvSpPr>
                  <p:spPr bwMode="auto">
                    <a:xfrm>
                      <a:off x="2146" y="372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31" name="Oval 136">
                      <a:extLst>
                        <a:ext uri="{FF2B5EF4-FFF2-40B4-BE49-F238E27FC236}">
                          <a16:creationId xmlns:a16="http://schemas.microsoft.com/office/drawing/2014/main" id="{EF6CD2FE-137E-4F21-B154-EFBC0523DA45}"/>
                        </a:ext>
                      </a:extLst>
                    </p:cNvPr>
                    <p:cNvSpPr>
                      <a:spLocks noChangeArrowheads="1"/>
                    </p:cNvSpPr>
                    <p:nvPr/>
                  </p:nvSpPr>
                  <p:spPr bwMode="auto">
                    <a:xfrm>
                      <a:off x="2163" y="372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32" name="Oval 137">
                      <a:extLst>
                        <a:ext uri="{FF2B5EF4-FFF2-40B4-BE49-F238E27FC236}">
                          <a16:creationId xmlns:a16="http://schemas.microsoft.com/office/drawing/2014/main" id="{9B374A9B-F623-46F3-BF7D-1A35BDD52E0D}"/>
                        </a:ext>
                      </a:extLst>
                    </p:cNvPr>
                    <p:cNvSpPr>
                      <a:spLocks noChangeArrowheads="1"/>
                    </p:cNvSpPr>
                    <p:nvPr/>
                  </p:nvSpPr>
                  <p:spPr bwMode="auto">
                    <a:xfrm>
                      <a:off x="2180" y="373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33" name="Oval 138">
                      <a:extLst>
                        <a:ext uri="{FF2B5EF4-FFF2-40B4-BE49-F238E27FC236}">
                          <a16:creationId xmlns:a16="http://schemas.microsoft.com/office/drawing/2014/main" id="{87868A78-5308-4ECA-80C4-598077EB98B6}"/>
                        </a:ext>
                      </a:extLst>
                    </p:cNvPr>
                    <p:cNvSpPr>
                      <a:spLocks noChangeArrowheads="1"/>
                    </p:cNvSpPr>
                    <p:nvPr/>
                  </p:nvSpPr>
                  <p:spPr bwMode="auto">
                    <a:xfrm>
                      <a:off x="2142" y="3736"/>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34" name="Oval 139">
                      <a:extLst>
                        <a:ext uri="{FF2B5EF4-FFF2-40B4-BE49-F238E27FC236}">
                          <a16:creationId xmlns:a16="http://schemas.microsoft.com/office/drawing/2014/main" id="{ADD455EC-3B7F-47E7-BA48-2C836E82A63B}"/>
                        </a:ext>
                      </a:extLst>
                    </p:cNvPr>
                    <p:cNvSpPr>
                      <a:spLocks noChangeArrowheads="1"/>
                    </p:cNvSpPr>
                    <p:nvPr/>
                  </p:nvSpPr>
                  <p:spPr bwMode="auto">
                    <a:xfrm>
                      <a:off x="2160" y="374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99" name="Group 140">
                  <a:extLst>
                    <a:ext uri="{FF2B5EF4-FFF2-40B4-BE49-F238E27FC236}">
                      <a16:creationId xmlns:a16="http://schemas.microsoft.com/office/drawing/2014/main" id="{57E30206-C65C-41AA-AC66-84CA7D2C8CCD}"/>
                    </a:ext>
                  </a:extLst>
                </p:cNvPr>
                <p:cNvGrpSpPr>
                  <a:grpSpLocks/>
                </p:cNvGrpSpPr>
                <p:nvPr/>
              </p:nvGrpSpPr>
              <p:grpSpPr bwMode="auto">
                <a:xfrm>
                  <a:off x="2075" y="3614"/>
                  <a:ext cx="81" cy="92"/>
                  <a:chOff x="2075" y="3614"/>
                  <a:chExt cx="81" cy="92"/>
                </a:xfrm>
              </p:grpSpPr>
              <p:grpSp>
                <p:nvGrpSpPr>
                  <p:cNvPr id="100" name="Group 141">
                    <a:extLst>
                      <a:ext uri="{FF2B5EF4-FFF2-40B4-BE49-F238E27FC236}">
                        <a16:creationId xmlns:a16="http://schemas.microsoft.com/office/drawing/2014/main" id="{6FC7A428-9D04-4A66-8140-3571F7609E32}"/>
                      </a:ext>
                    </a:extLst>
                  </p:cNvPr>
                  <p:cNvGrpSpPr>
                    <a:grpSpLocks/>
                  </p:cNvGrpSpPr>
                  <p:nvPr/>
                </p:nvGrpSpPr>
                <p:grpSpPr bwMode="auto">
                  <a:xfrm>
                    <a:off x="2101" y="3643"/>
                    <a:ext cx="39" cy="42"/>
                    <a:chOff x="2101" y="3643"/>
                    <a:chExt cx="39" cy="42"/>
                  </a:xfrm>
                </p:grpSpPr>
                <p:sp>
                  <p:nvSpPr>
                    <p:cNvPr id="108" name="Freeform 142">
                      <a:extLst>
                        <a:ext uri="{FF2B5EF4-FFF2-40B4-BE49-F238E27FC236}">
                          <a16:creationId xmlns:a16="http://schemas.microsoft.com/office/drawing/2014/main" id="{C9E297E9-DE61-41FD-82AE-0F27C6386D21}"/>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9" name="Freeform 143">
                      <a:extLst>
                        <a:ext uri="{FF2B5EF4-FFF2-40B4-BE49-F238E27FC236}">
                          <a16:creationId xmlns:a16="http://schemas.microsoft.com/office/drawing/2014/main" id="{D2F458E5-4D74-4ED3-89ED-2164D07D005D}"/>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01" name="Group 144">
                    <a:extLst>
                      <a:ext uri="{FF2B5EF4-FFF2-40B4-BE49-F238E27FC236}">
                        <a16:creationId xmlns:a16="http://schemas.microsoft.com/office/drawing/2014/main" id="{EC959541-0A09-45D6-A340-7BDCFEADEEC4}"/>
                      </a:ext>
                    </a:extLst>
                  </p:cNvPr>
                  <p:cNvGrpSpPr>
                    <a:grpSpLocks/>
                  </p:cNvGrpSpPr>
                  <p:nvPr/>
                </p:nvGrpSpPr>
                <p:grpSpPr bwMode="auto">
                  <a:xfrm>
                    <a:off x="2121" y="3625"/>
                    <a:ext cx="30" cy="32"/>
                    <a:chOff x="2121" y="3625"/>
                    <a:chExt cx="30" cy="32"/>
                  </a:xfrm>
                </p:grpSpPr>
                <p:sp>
                  <p:nvSpPr>
                    <p:cNvPr id="106" name="Freeform 145">
                      <a:extLst>
                        <a:ext uri="{FF2B5EF4-FFF2-40B4-BE49-F238E27FC236}">
                          <a16:creationId xmlns:a16="http://schemas.microsoft.com/office/drawing/2014/main" id="{DD3A9870-FD93-4E0A-AA39-EE3BEBE3F139}"/>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w 351"/>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1"/>
                        <a:gd name="T76" fmla="*/ 0 h 390"/>
                        <a:gd name="T77" fmla="*/ 351 w 351"/>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 name="Freeform 146">
                      <a:extLst>
                        <a:ext uri="{FF2B5EF4-FFF2-40B4-BE49-F238E27FC236}">
                          <a16:creationId xmlns:a16="http://schemas.microsoft.com/office/drawing/2014/main" id="{812CBB3F-89A4-40FF-8A29-72F49069615D}"/>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1"/>
                        <a:gd name="T73" fmla="*/ 0 h 390"/>
                        <a:gd name="T74" fmla="*/ 351 w 351"/>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02" name="Group 147">
                    <a:extLst>
                      <a:ext uri="{FF2B5EF4-FFF2-40B4-BE49-F238E27FC236}">
                        <a16:creationId xmlns:a16="http://schemas.microsoft.com/office/drawing/2014/main" id="{567011F0-32D7-4479-B347-F31C0A1C477B}"/>
                      </a:ext>
                    </a:extLst>
                  </p:cNvPr>
                  <p:cNvGrpSpPr>
                    <a:grpSpLocks/>
                  </p:cNvGrpSpPr>
                  <p:nvPr/>
                </p:nvGrpSpPr>
                <p:grpSpPr bwMode="auto">
                  <a:xfrm>
                    <a:off x="2075" y="3670"/>
                    <a:ext cx="62" cy="36"/>
                    <a:chOff x="2075" y="3670"/>
                    <a:chExt cx="62" cy="36"/>
                  </a:xfrm>
                </p:grpSpPr>
                <p:sp>
                  <p:nvSpPr>
                    <p:cNvPr id="104" name="Freeform 148">
                      <a:extLst>
                        <a:ext uri="{FF2B5EF4-FFF2-40B4-BE49-F238E27FC236}">
                          <a16:creationId xmlns:a16="http://schemas.microsoft.com/office/drawing/2014/main" id="{708905A9-F1E3-48C6-A7CB-645C2332C848}"/>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 name="Freeform 149">
                      <a:extLst>
                        <a:ext uri="{FF2B5EF4-FFF2-40B4-BE49-F238E27FC236}">
                          <a16:creationId xmlns:a16="http://schemas.microsoft.com/office/drawing/2014/main" id="{DCB18613-DCE3-483A-8C63-999A24DFBEF8}"/>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3" name="Freeform 150">
                    <a:extLst>
                      <a:ext uri="{FF2B5EF4-FFF2-40B4-BE49-F238E27FC236}">
                        <a16:creationId xmlns:a16="http://schemas.microsoft.com/office/drawing/2014/main" id="{C8E87F2B-182C-48D1-BF47-FDD72A32429F}"/>
                      </a:ext>
                    </a:extLst>
                  </p:cNvPr>
                  <p:cNvSpPr>
                    <a:spLocks/>
                  </p:cNvSpPr>
                  <p:nvPr/>
                </p:nvSpPr>
                <p:spPr bwMode="auto">
                  <a:xfrm>
                    <a:off x="2121" y="3614"/>
                    <a:ext cx="35"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49" y="4"/>
                        </a:lnTo>
                        <a:lnTo>
                          <a:pt x="292" y="6"/>
                        </a:lnTo>
                        <a:lnTo>
                          <a:pt x="340" y="10"/>
                        </a:lnTo>
                        <a:lnTo>
                          <a:pt x="372" y="20"/>
                        </a:lnTo>
                        <a:lnTo>
                          <a:pt x="386" y="35"/>
                        </a:lnTo>
                        <a:lnTo>
                          <a:pt x="399" y="57"/>
                        </a:lnTo>
                        <a:lnTo>
                          <a:pt x="407" y="83"/>
                        </a:lnTo>
                        <a:lnTo>
                          <a:pt x="411" y="116"/>
                        </a:lnTo>
                        <a:lnTo>
                          <a:pt x="414" y="154"/>
                        </a:lnTo>
                        <a:lnTo>
                          <a:pt x="407" y="191"/>
                        </a:lnTo>
                        <a:lnTo>
                          <a:pt x="394" y="221"/>
                        </a:lnTo>
                        <a:lnTo>
                          <a:pt x="375" y="240"/>
                        </a:lnTo>
                        <a:lnTo>
                          <a:pt x="356" y="252"/>
                        </a:lnTo>
                        <a:lnTo>
                          <a:pt x="327" y="260"/>
                        </a:lnTo>
                        <a:lnTo>
                          <a:pt x="299" y="262"/>
                        </a:lnTo>
                        <a:lnTo>
                          <a:pt x="272" y="260"/>
                        </a:lnTo>
                        <a:lnTo>
                          <a:pt x="243" y="233"/>
                        </a:lnTo>
                        <a:lnTo>
                          <a:pt x="224" y="210"/>
                        </a:lnTo>
                        <a:lnTo>
                          <a:pt x="195" y="189"/>
                        </a:lnTo>
                        <a:lnTo>
                          <a:pt x="167" y="172"/>
                        </a:lnTo>
                        <a:lnTo>
                          <a:pt x="135" y="153"/>
                        </a:lnTo>
                        <a:lnTo>
                          <a:pt x="105" y="141"/>
                        </a:lnTo>
                        <a:lnTo>
                          <a:pt x="80" y="134"/>
                        </a:lnTo>
                        <a:lnTo>
                          <a:pt x="56"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grpSp>
        <p:grpSp>
          <p:nvGrpSpPr>
            <p:cNvPr id="90" name="Group 283">
              <a:extLst>
                <a:ext uri="{FF2B5EF4-FFF2-40B4-BE49-F238E27FC236}">
                  <a16:creationId xmlns:a16="http://schemas.microsoft.com/office/drawing/2014/main" id="{584356C0-2025-42CF-B1AB-01DDDC17E79E}"/>
                </a:ext>
              </a:extLst>
            </p:cNvPr>
            <p:cNvGrpSpPr>
              <a:grpSpLocks/>
            </p:cNvGrpSpPr>
            <p:nvPr/>
          </p:nvGrpSpPr>
          <p:grpSpPr bwMode="auto">
            <a:xfrm>
              <a:off x="2331" y="3212"/>
              <a:ext cx="333" cy="277"/>
              <a:chOff x="2331" y="3212"/>
              <a:chExt cx="333" cy="277"/>
            </a:xfrm>
          </p:grpSpPr>
          <p:sp>
            <p:nvSpPr>
              <p:cNvPr id="93" name="Line 284">
                <a:extLst>
                  <a:ext uri="{FF2B5EF4-FFF2-40B4-BE49-F238E27FC236}">
                    <a16:creationId xmlns:a16="http://schemas.microsoft.com/office/drawing/2014/main" id="{45D8527A-6CD3-401B-AB8F-E60D860B7DD1}"/>
                  </a:ext>
                </a:extLst>
              </p:cNvPr>
              <p:cNvSpPr>
                <a:spLocks noChangeShapeType="1"/>
              </p:cNvSpPr>
              <p:nvPr/>
            </p:nvSpPr>
            <p:spPr bwMode="auto">
              <a:xfrm flipV="1">
                <a:off x="2331" y="3212"/>
                <a:ext cx="331" cy="2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 name="Freeform 285">
                <a:extLst>
                  <a:ext uri="{FF2B5EF4-FFF2-40B4-BE49-F238E27FC236}">
                    <a16:creationId xmlns:a16="http://schemas.microsoft.com/office/drawing/2014/main" id="{D6E38A27-44DD-49B7-BC5D-180F8D21917D}"/>
                  </a:ext>
                </a:extLst>
              </p:cNvPr>
              <p:cNvSpPr>
                <a:spLocks/>
              </p:cNvSpPr>
              <p:nvPr/>
            </p:nvSpPr>
            <p:spPr bwMode="auto">
              <a:xfrm>
                <a:off x="2587" y="3212"/>
                <a:ext cx="77" cy="72"/>
              </a:xfrm>
              <a:custGeom>
                <a:avLst/>
                <a:gdLst>
                  <a:gd name="T0" fmla="*/ 45 w 77"/>
                  <a:gd name="T1" fmla="*/ 72 h 72"/>
                  <a:gd name="T2" fmla="*/ 77 w 77"/>
                  <a:gd name="T3" fmla="*/ 0 h 72"/>
                  <a:gd name="T4" fmla="*/ 0 w 77"/>
                  <a:gd name="T5" fmla="*/ 19 h 72"/>
                  <a:gd name="T6" fmla="*/ 0 60000 65536"/>
                  <a:gd name="T7" fmla="*/ 0 60000 65536"/>
                  <a:gd name="T8" fmla="*/ 0 60000 65536"/>
                  <a:gd name="T9" fmla="*/ 0 w 77"/>
                  <a:gd name="T10" fmla="*/ 0 h 72"/>
                  <a:gd name="T11" fmla="*/ 77 w 77"/>
                  <a:gd name="T12" fmla="*/ 72 h 72"/>
                </a:gdLst>
                <a:ahLst/>
                <a:cxnLst>
                  <a:cxn ang="T6">
                    <a:pos x="T0" y="T1"/>
                  </a:cxn>
                  <a:cxn ang="T7">
                    <a:pos x="T2" y="T3"/>
                  </a:cxn>
                  <a:cxn ang="T8">
                    <a:pos x="T4" y="T5"/>
                  </a:cxn>
                </a:cxnLst>
                <a:rect l="T9" t="T10" r="T11" b="T12"/>
                <a:pathLst>
                  <a:path w="77" h="72">
                    <a:moveTo>
                      <a:pt x="45" y="72"/>
                    </a:moveTo>
                    <a:lnTo>
                      <a:pt x="77" y="0"/>
                    </a:lnTo>
                    <a:lnTo>
                      <a:pt x="0" y="19"/>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91" name="Rectangle 302">
              <a:extLst>
                <a:ext uri="{FF2B5EF4-FFF2-40B4-BE49-F238E27FC236}">
                  <a16:creationId xmlns:a16="http://schemas.microsoft.com/office/drawing/2014/main" id="{A104DC70-6F9D-4473-B50C-C36C3E837805}"/>
                </a:ext>
              </a:extLst>
            </p:cNvPr>
            <p:cNvSpPr>
              <a:spLocks noChangeArrowheads="1"/>
            </p:cNvSpPr>
            <p:nvPr/>
          </p:nvSpPr>
          <p:spPr bwMode="auto">
            <a:xfrm>
              <a:off x="2334" y="3198"/>
              <a:ext cx="29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latin typeface="Arial" panose="020B0604020202020204" pitchFamily="34" charset="0"/>
                </a:rPr>
                <a:t>f</a:t>
              </a:r>
              <a:r>
                <a:rPr lang="en-US" altLang="en-US" sz="1400" baseline="-25000" dirty="0">
                  <a:solidFill>
                    <a:srgbClr val="000000"/>
                  </a:solidFill>
                  <a:latin typeface="Arial" panose="020B0604020202020204" pitchFamily="34" charset="0"/>
                </a:rPr>
                <a:t>1</a:t>
              </a:r>
              <a:endParaRPr lang="en-US" altLang="en-US" sz="1400" baseline="-25000" dirty="0">
                <a:latin typeface="Arial" panose="020B0604020202020204" pitchFamily="34" charset="0"/>
              </a:endParaRPr>
            </a:p>
          </p:txBody>
        </p:sp>
        <p:sp>
          <p:nvSpPr>
            <p:cNvPr id="92" name="AutoShape 305">
              <a:extLst>
                <a:ext uri="{FF2B5EF4-FFF2-40B4-BE49-F238E27FC236}">
                  <a16:creationId xmlns:a16="http://schemas.microsoft.com/office/drawing/2014/main" id="{F117D2CC-08B1-4CA2-82D5-2E6DEA8E1CA7}"/>
                </a:ext>
              </a:extLst>
            </p:cNvPr>
            <p:cNvSpPr>
              <a:spLocks noChangeArrowheads="1"/>
            </p:cNvSpPr>
            <p:nvPr/>
          </p:nvSpPr>
          <p:spPr bwMode="auto">
            <a:xfrm>
              <a:off x="2928" y="2351"/>
              <a:ext cx="321" cy="182"/>
            </a:xfrm>
            <a:prstGeom prst="cube">
              <a:avLst>
                <a:gd name="adj" fmla="val 25000"/>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nvGrpSpPr>
          <p:cNvPr id="160" name="Group 315">
            <a:extLst>
              <a:ext uri="{FF2B5EF4-FFF2-40B4-BE49-F238E27FC236}">
                <a16:creationId xmlns:a16="http://schemas.microsoft.com/office/drawing/2014/main" id="{64A942F9-131A-41A7-9D47-B4C69752EE61}"/>
              </a:ext>
            </a:extLst>
          </p:cNvPr>
          <p:cNvGrpSpPr>
            <a:grpSpLocks/>
          </p:cNvGrpSpPr>
          <p:nvPr/>
        </p:nvGrpSpPr>
        <p:grpSpPr bwMode="auto">
          <a:xfrm>
            <a:off x="2853530" y="3082183"/>
            <a:ext cx="3709988" cy="2824163"/>
            <a:chOff x="1173" y="2351"/>
            <a:chExt cx="2337" cy="1779"/>
          </a:xfrm>
        </p:grpSpPr>
        <p:sp>
          <p:nvSpPr>
            <p:cNvPr id="161" name="Rectangle 30" descr="Large grid">
              <a:extLst>
                <a:ext uri="{FF2B5EF4-FFF2-40B4-BE49-F238E27FC236}">
                  <a16:creationId xmlns:a16="http://schemas.microsoft.com/office/drawing/2014/main" id="{0D4B1E52-D1C4-457F-B75C-957B31E51375}"/>
                </a:ext>
              </a:extLst>
            </p:cNvPr>
            <p:cNvSpPr>
              <a:spLocks noChangeArrowheads="1"/>
            </p:cNvSpPr>
            <p:nvPr/>
          </p:nvSpPr>
          <p:spPr bwMode="auto">
            <a:xfrm>
              <a:off x="1173" y="2447"/>
              <a:ext cx="405" cy="151"/>
            </a:xfrm>
            <a:prstGeom prst="rect">
              <a:avLst/>
            </a:prstGeom>
            <a:pattFill prst="lgGrid">
              <a:fgClr>
                <a:srgbClr val="FF00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2" name="Rectangle 31">
              <a:extLst>
                <a:ext uri="{FF2B5EF4-FFF2-40B4-BE49-F238E27FC236}">
                  <a16:creationId xmlns:a16="http://schemas.microsoft.com/office/drawing/2014/main" id="{850736DC-130F-494C-97B9-2B81CDEC89FE}"/>
                </a:ext>
              </a:extLst>
            </p:cNvPr>
            <p:cNvSpPr>
              <a:spLocks noChangeArrowheads="1"/>
            </p:cNvSpPr>
            <p:nvPr/>
          </p:nvSpPr>
          <p:spPr bwMode="auto">
            <a:xfrm>
              <a:off x="1249" y="2455"/>
              <a:ext cx="29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User 2</a:t>
              </a:r>
              <a:endParaRPr lang="en-US" altLang="en-US" sz="1400" dirty="0">
                <a:latin typeface="Arial" panose="020B0604020202020204" pitchFamily="34" charset="0"/>
              </a:endParaRPr>
            </a:p>
          </p:txBody>
        </p:sp>
        <p:grpSp>
          <p:nvGrpSpPr>
            <p:cNvPr id="163" name="Group 151">
              <a:extLst>
                <a:ext uri="{FF2B5EF4-FFF2-40B4-BE49-F238E27FC236}">
                  <a16:creationId xmlns:a16="http://schemas.microsoft.com/office/drawing/2014/main" id="{CFC8B64B-6682-4799-8398-FDF04E6998E4}"/>
                </a:ext>
              </a:extLst>
            </p:cNvPr>
            <p:cNvGrpSpPr>
              <a:grpSpLocks/>
            </p:cNvGrpSpPr>
            <p:nvPr/>
          </p:nvGrpSpPr>
          <p:grpSpPr bwMode="auto">
            <a:xfrm>
              <a:off x="2848" y="3853"/>
              <a:ext cx="192" cy="277"/>
              <a:chOff x="2848" y="3853"/>
              <a:chExt cx="192" cy="277"/>
            </a:xfrm>
          </p:grpSpPr>
          <p:sp>
            <p:nvSpPr>
              <p:cNvPr id="169" name="Rectangle 152">
                <a:extLst>
                  <a:ext uri="{FF2B5EF4-FFF2-40B4-BE49-F238E27FC236}">
                    <a16:creationId xmlns:a16="http://schemas.microsoft.com/office/drawing/2014/main" id="{52BC73F2-E755-4330-BDEE-87B3D4612BD9}"/>
                  </a:ext>
                </a:extLst>
              </p:cNvPr>
              <p:cNvSpPr>
                <a:spLocks noChangeArrowheads="1"/>
              </p:cNvSpPr>
              <p:nvPr/>
            </p:nvSpPr>
            <p:spPr bwMode="auto">
              <a:xfrm>
                <a:off x="2848" y="3853"/>
                <a:ext cx="192" cy="27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70" name="Group 153">
                <a:extLst>
                  <a:ext uri="{FF2B5EF4-FFF2-40B4-BE49-F238E27FC236}">
                    <a16:creationId xmlns:a16="http://schemas.microsoft.com/office/drawing/2014/main" id="{B5758184-1D01-4E63-A3E7-0ACA80AAD791}"/>
                  </a:ext>
                </a:extLst>
              </p:cNvPr>
              <p:cNvGrpSpPr>
                <a:grpSpLocks/>
              </p:cNvGrpSpPr>
              <p:nvPr/>
            </p:nvGrpSpPr>
            <p:grpSpPr bwMode="auto">
              <a:xfrm>
                <a:off x="2850" y="3854"/>
                <a:ext cx="189" cy="274"/>
                <a:chOff x="2850" y="3854"/>
                <a:chExt cx="189" cy="274"/>
              </a:xfrm>
            </p:grpSpPr>
            <p:grpSp>
              <p:nvGrpSpPr>
                <p:cNvPr id="171" name="Group 154">
                  <a:extLst>
                    <a:ext uri="{FF2B5EF4-FFF2-40B4-BE49-F238E27FC236}">
                      <a16:creationId xmlns:a16="http://schemas.microsoft.com/office/drawing/2014/main" id="{0D05EEB3-2EC9-4681-B4BF-C0ADD5119DFE}"/>
                    </a:ext>
                  </a:extLst>
                </p:cNvPr>
                <p:cNvGrpSpPr>
                  <a:grpSpLocks/>
                </p:cNvGrpSpPr>
                <p:nvPr/>
              </p:nvGrpSpPr>
              <p:grpSpPr bwMode="auto">
                <a:xfrm>
                  <a:off x="2850" y="3911"/>
                  <a:ext cx="163" cy="197"/>
                  <a:chOff x="2850" y="3911"/>
                  <a:chExt cx="163" cy="197"/>
                </a:xfrm>
              </p:grpSpPr>
              <p:sp>
                <p:nvSpPr>
                  <p:cNvPr id="224" name="Freeform 155">
                    <a:extLst>
                      <a:ext uri="{FF2B5EF4-FFF2-40B4-BE49-F238E27FC236}">
                        <a16:creationId xmlns:a16="http://schemas.microsoft.com/office/drawing/2014/main" id="{CE1276DB-7CFE-4664-9F84-754FD336DD47}"/>
                      </a:ext>
                    </a:extLst>
                  </p:cNvPr>
                  <p:cNvSpPr>
                    <a:spLocks/>
                  </p:cNvSpPr>
                  <p:nvPr/>
                </p:nvSpPr>
                <p:spPr bwMode="auto">
                  <a:xfrm>
                    <a:off x="2850" y="3911"/>
                    <a:ext cx="163" cy="197"/>
                  </a:xfrm>
                  <a:custGeom>
                    <a:avLst/>
                    <a:gdLst>
                      <a:gd name="T0" fmla="*/ 0 w 1963"/>
                      <a:gd name="T1" fmla="*/ 0 h 2364"/>
                      <a:gd name="T2" fmla="*/ 0 w 1963"/>
                      <a:gd name="T3" fmla="*/ 0 h 2364"/>
                      <a:gd name="T4" fmla="*/ 0 w 1963"/>
                      <a:gd name="T5" fmla="*/ 0 h 2364"/>
                      <a:gd name="T6" fmla="*/ 0 w 1963"/>
                      <a:gd name="T7" fmla="*/ 0 h 2364"/>
                      <a:gd name="T8" fmla="*/ 0 w 1963"/>
                      <a:gd name="T9" fmla="*/ 0 h 2364"/>
                      <a:gd name="T10" fmla="*/ 0 w 1963"/>
                      <a:gd name="T11" fmla="*/ 0 h 2364"/>
                      <a:gd name="T12" fmla="*/ 0 w 1963"/>
                      <a:gd name="T13" fmla="*/ 0 h 2364"/>
                      <a:gd name="T14" fmla="*/ 0 w 1963"/>
                      <a:gd name="T15" fmla="*/ 0 h 2364"/>
                      <a:gd name="T16" fmla="*/ 0 w 1963"/>
                      <a:gd name="T17" fmla="*/ 0 h 2364"/>
                      <a:gd name="T18" fmla="*/ 0 w 1963"/>
                      <a:gd name="T19" fmla="*/ 0 h 2364"/>
                      <a:gd name="T20" fmla="*/ 0 w 1963"/>
                      <a:gd name="T21" fmla="*/ 0 h 2364"/>
                      <a:gd name="T22" fmla="*/ 0 w 1963"/>
                      <a:gd name="T23" fmla="*/ 0 h 2364"/>
                      <a:gd name="T24" fmla="*/ 0 w 1963"/>
                      <a:gd name="T25" fmla="*/ 0 h 2364"/>
                      <a:gd name="T26" fmla="*/ 0 w 1963"/>
                      <a:gd name="T27" fmla="*/ 0 h 2364"/>
                      <a:gd name="T28" fmla="*/ 0 w 1963"/>
                      <a:gd name="T29" fmla="*/ 0 h 2364"/>
                      <a:gd name="T30" fmla="*/ 0 w 1963"/>
                      <a:gd name="T31" fmla="*/ 0 h 2364"/>
                      <a:gd name="T32" fmla="*/ 0 w 1963"/>
                      <a:gd name="T33" fmla="*/ 0 h 2364"/>
                      <a:gd name="T34" fmla="*/ 0 w 1963"/>
                      <a:gd name="T35" fmla="*/ 0 h 2364"/>
                      <a:gd name="T36" fmla="*/ 0 w 1963"/>
                      <a:gd name="T37" fmla="*/ 0 h 2364"/>
                      <a:gd name="T38" fmla="*/ 0 w 1963"/>
                      <a:gd name="T39" fmla="*/ 0 h 2364"/>
                      <a:gd name="T40" fmla="*/ 0 w 1963"/>
                      <a:gd name="T41" fmla="*/ 0 h 2364"/>
                      <a:gd name="T42" fmla="*/ 0 w 1963"/>
                      <a:gd name="T43" fmla="*/ 0 h 2364"/>
                      <a:gd name="T44" fmla="*/ 0 w 1963"/>
                      <a:gd name="T45" fmla="*/ 0 h 2364"/>
                      <a:gd name="T46" fmla="*/ 0 w 1963"/>
                      <a:gd name="T47" fmla="*/ 0 h 2364"/>
                      <a:gd name="T48" fmla="*/ 0 w 1963"/>
                      <a:gd name="T49" fmla="*/ 0 h 2364"/>
                      <a:gd name="T50" fmla="*/ 0 w 1963"/>
                      <a:gd name="T51" fmla="*/ 0 h 2364"/>
                      <a:gd name="T52" fmla="*/ 0 w 1963"/>
                      <a:gd name="T53" fmla="*/ 0 h 2364"/>
                      <a:gd name="T54" fmla="*/ 0 w 1963"/>
                      <a:gd name="T55" fmla="*/ 0 h 2364"/>
                      <a:gd name="T56" fmla="*/ 0 w 1963"/>
                      <a:gd name="T57" fmla="*/ 0 h 2364"/>
                      <a:gd name="T58" fmla="*/ 0 w 1963"/>
                      <a:gd name="T59" fmla="*/ 0 h 2364"/>
                      <a:gd name="T60" fmla="*/ 0 w 1963"/>
                      <a:gd name="T61" fmla="*/ 0 h 2364"/>
                      <a:gd name="T62" fmla="*/ 0 w 1963"/>
                      <a:gd name="T63" fmla="*/ 0 h 2364"/>
                      <a:gd name="T64" fmla="*/ 0 w 1963"/>
                      <a:gd name="T65" fmla="*/ 0 h 2364"/>
                      <a:gd name="T66" fmla="*/ 0 w 1963"/>
                      <a:gd name="T67" fmla="*/ 0 h 2364"/>
                      <a:gd name="T68" fmla="*/ 0 w 1963"/>
                      <a:gd name="T69" fmla="*/ 0 h 2364"/>
                      <a:gd name="T70" fmla="*/ 0 w 1963"/>
                      <a:gd name="T71" fmla="*/ 0 h 2364"/>
                      <a:gd name="T72" fmla="*/ 0 w 1963"/>
                      <a:gd name="T73" fmla="*/ 0 h 2364"/>
                      <a:gd name="T74" fmla="*/ 0 w 1963"/>
                      <a:gd name="T75" fmla="*/ 0 h 2364"/>
                      <a:gd name="T76" fmla="*/ 0 w 1963"/>
                      <a:gd name="T77" fmla="*/ 0 h 2364"/>
                      <a:gd name="T78" fmla="*/ 0 w 1963"/>
                      <a:gd name="T79" fmla="*/ 0 h 2364"/>
                      <a:gd name="T80" fmla="*/ 0 w 1963"/>
                      <a:gd name="T81" fmla="*/ 0 h 2364"/>
                      <a:gd name="T82" fmla="*/ 0 w 1963"/>
                      <a:gd name="T83" fmla="*/ 0 h 2364"/>
                      <a:gd name="T84" fmla="*/ 0 w 1963"/>
                      <a:gd name="T85" fmla="*/ 0 h 2364"/>
                      <a:gd name="T86" fmla="*/ 0 w 1963"/>
                      <a:gd name="T87" fmla="*/ 0 h 2364"/>
                      <a:gd name="T88" fmla="*/ 0 w 1963"/>
                      <a:gd name="T89" fmla="*/ 0 h 2364"/>
                      <a:gd name="T90" fmla="*/ 0 w 1963"/>
                      <a:gd name="T91" fmla="*/ 0 h 2364"/>
                      <a:gd name="T92" fmla="*/ 0 w 1963"/>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63"/>
                      <a:gd name="T142" fmla="*/ 0 h 2364"/>
                      <a:gd name="T143" fmla="*/ 1963 w 1963"/>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63" h="2364">
                        <a:moveTo>
                          <a:pt x="593" y="2364"/>
                        </a:moveTo>
                        <a:lnTo>
                          <a:pt x="593" y="2302"/>
                        </a:lnTo>
                        <a:lnTo>
                          <a:pt x="575" y="2175"/>
                        </a:lnTo>
                        <a:lnTo>
                          <a:pt x="537" y="2049"/>
                        </a:lnTo>
                        <a:lnTo>
                          <a:pt x="501" y="1945"/>
                        </a:lnTo>
                        <a:lnTo>
                          <a:pt x="491" y="1923"/>
                        </a:lnTo>
                        <a:lnTo>
                          <a:pt x="464" y="1882"/>
                        </a:lnTo>
                        <a:lnTo>
                          <a:pt x="418" y="1828"/>
                        </a:lnTo>
                        <a:lnTo>
                          <a:pt x="354" y="1755"/>
                        </a:lnTo>
                        <a:lnTo>
                          <a:pt x="308" y="1692"/>
                        </a:lnTo>
                        <a:lnTo>
                          <a:pt x="271" y="1640"/>
                        </a:lnTo>
                        <a:lnTo>
                          <a:pt x="225" y="1587"/>
                        </a:lnTo>
                        <a:lnTo>
                          <a:pt x="198" y="1523"/>
                        </a:lnTo>
                        <a:lnTo>
                          <a:pt x="161" y="1460"/>
                        </a:lnTo>
                        <a:lnTo>
                          <a:pt x="152" y="1440"/>
                        </a:lnTo>
                        <a:lnTo>
                          <a:pt x="125" y="1377"/>
                        </a:lnTo>
                        <a:lnTo>
                          <a:pt x="115" y="1334"/>
                        </a:lnTo>
                        <a:lnTo>
                          <a:pt x="105" y="1293"/>
                        </a:lnTo>
                        <a:lnTo>
                          <a:pt x="87" y="1230"/>
                        </a:lnTo>
                        <a:lnTo>
                          <a:pt x="69" y="1188"/>
                        </a:lnTo>
                        <a:lnTo>
                          <a:pt x="41" y="1124"/>
                        </a:lnTo>
                        <a:lnTo>
                          <a:pt x="22" y="1062"/>
                        </a:lnTo>
                        <a:lnTo>
                          <a:pt x="16" y="1023"/>
                        </a:lnTo>
                        <a:lnTo>
                          <a:pt x="4" y="936"/>
                        </a:lnTo>
                        <a:lnTo>
                          <a:pt x="1" y="873"/>
                        </a:lnTo>
                        <a:lnTo>
                          <a:pt x="0" y="793"/>
                        </a:lnTo>
                        <a:lnTo>
                          <a:pt x="14" y="725"/>
                        </a:lnTo>
                        <a:lnTo>
                          <a:pt x="32" y="694"/>
                        </a:lnTo>
                        <a:lnTo>
                          <a:pt x="50" y="678"/>
                        </a:lnTo>
                        <a:lnTo>
                          <a:pt x="67" y="669"/>
                        </a:lnTo>
                        <a:lnTo>
                          <a:pt x="87" y="662"/>
                        </a:lnTo>
                        <a:lnTo>
                          <a:pt x="105" y="662"/>
                        </a:lnTo>
                        <a:lnTo>
                          <a:pt x="105" y="614"/>
                        </a:lnTo>
                        <a:lnTo>
                          <a:pt x="100" y="592"/>
                        </a:lnTo>
                        <a:lnTo>
                          <a:pt x="97" y="555"/>
                        </a:lnTo>
                        <a:lnTo>
                          <a:pt x="104" y="535"/>
                        </a:lnTo>
                        <a:lnTo>
                          <a:pt x="105" y="516"/>
                        </a:lnTo>
                        <a:lnTo>
                          <a:pt x="119" y="478"/>
                        </a:lnTo>
                        <a:lnTo>
                          <a:pt x="133" y="452"/>
                        </a:lnTo>
                        <a:lnTo>
                          <a:pt x="154" y="420"/>
                        </a:lnTo>
                        <a:lnTo>
                          <a:pt x="183" y="389"/>
                        </a:lnTo>
                        <a:lnTo>
                          <a:pt x="215" y="362"/>
                        </a:lnTo>
                        <a:lnTo>
                          <a:pt x="243" y="337"/>
                        </a:lnTo>
                        <a:lnTo>
                          <a:pt x="277" y="326"/>
                        </a:lnTo>
                        <a:lnTo>
                          <a:pt x="310" y="321"/>
                        </a:lnTo>
                        <a:lnTo>
                          <a:pt x="342" y="326"/>
                        </a:lnTo>
                        <a:lnTo>
                          <a:pt x="372" y="337"/>
                        </a:lnTo>
                        <a:lnTo>
                          <a:pt x="408" y="347"/>
                        </a:lnTo>
                        <a:lnTo>
                          <a:pt x="418" y="326"/>
                        </a:lnTo>
                        <a:lnTo>
                          <a:pt x="424" y="269"/>
                        </a:lnTo>
                        <a:lnTo>
                          <a:pt x="436" y="221"/>
                        </a:lnTo>
                        <a:lnTo>
                          <a:pt x="458" y="185"/>
                        </a:lnTo>
                        <a:lnTo>
                          <a:pt x="484" y="161"/>
                        </a:lnTo>
                        <a:lnTo>
                          <a:pt x="519" y="148"/>
                        </a:lnTo>
                        <a:lnTo>
                          <a:pt x="557" y="137"/>
                        </a:lnTo>
                        <a:lnTo>
                          <a:pt x="612" y="126"/>
                        </a:lnTo>
                        <a:lnTo>
                          <a:pt x="647" y="126"/>
                        </a:lnTo>
                        <a:lnTo>
                          <a:pt x="657" y="105"/>
                        </a:lnTo>
                        <a:lnTo>
                          <a:pt x="675" y="63"/>
                        </a:lnTo>
                        <a:lnTo>
                          <a:pt x="703" y="31"/>
                        </a:lnTo>
                        <a:lnTo>
                          <a:pt x="740" y="11"/>
                        </a:lnTo>
                        <a:lnTo>
                          <a:pt x="795" y="0"/>
                        </a:lnTo>
                        <a:lnTo>
                          <a:pt x="850" y="0"/>
                        </a:lnTo>
                        <a:lnTo>
                          <a:pt x="922" y="5"/>
                        </a:lnTo>
                        <a:lnTo>
                          <a:pt x="962" y="7"/>
                        </a:lnTo>
                        <a:lnTo>
                          <a:pt x="989" y="11"/>
                        </a:lnTo>
                        <a:lnTo>
                          <a:pt x="1013" y="17"/>
                        </a:lnTo>
                        <a:lnTo>
                          <a:pt x="1033" y="36"/>
                        </a:lnTo>
                        <a:lnTo>
                          <a:pt x="1046" y="58"/>
                        </a:lnTo>
                        <a:lnTo>
                          <a:pt x="1056" y="87"/>
                        </a:lnTo>
                        <a:lnTo>
                          <a:pt x="1061" y="137"/>
                        </a:lnTo>
                        <a:lnTo>
                          <a:pt x="1057" y="180"/>
                        </a:lnTo>
                        <a:lnTo>
                          <a:pt x="1041" y="219"/>
                        </a:lnTo>
                        <a:lnTo>
                          <a:pt x="1022" y="240"/>
                        </a:lnTo>
                        <a:lnTo>
                          <a:pt x="997" y="253"/>
                        </a:lnTo>
                        <a:lnTo>
                          <a:pt x="968" y="260"/>
                        </a:lnTo>
                        <a:lnTo>
                          <a:pt x="918" y="259"/>
                        </a:lnTo>
                        <a:lnTo>
                          <a:pt x="934" y="282"/>
                        </a:lnTo>
                        <a:lnTo>
                          <a:pt x="957" y="324"/>
                        </a:lnTo>
                        <a:lnTo>
                          <a:pt x="975" y="357"/>
                        </a:lnTo>
                        <a:lnTo>
                          <a:pt x="990" y="400"/>
                        </a:lnTo>
                        <a:lnTo>
                          <a:pt x="999" y="435"/>
                        </a:lnTo>
                        <a:lnTo>
                          <a:pt x="995" y="457"/>
                        </a:lnTo>
                        <a:lnTo>
                          <a:pt x="975" y="483"/>
                        </a:lnTo>
                        <a:lnTo>
                          <a:pt x="997" y="527"/>
                        </a:lnTo>
                        <a:lnTo>
                          <a:pt x="1024" y="568"/>
                        </a:lnTo>
                        <a:lnTo>
                          <a:pt x="1055" y="619"/>
                        </a:lnTo>
                        <a:lnTo>
                          <a:pt x="1103" y="667"/>
                        </a:lnTo>
                        <a:lnTo>
                          <a:pt x="1176" y="740"/>
                        </a:lnTo>
                        <a:lnTo>
                          <a:pt x="1245" y="823"/>
                        </a:lnTo>
                        <a:lnTo>
                          <a:pt x="1310" y="930"/>
                        </a:lnTo>
                        <a:lnTo>
                          <a:pt x="1365" y="1030"/>
                        </a:lnTo>
                        <a:lnTo>
                          <a:pt x="1411" y="1114"/>
                        </a:lnTo>
                        <a:lnTo>
                          <a:pt x="1425" y="1145"/>
                        </a:lnTo>
                        <a:lnTo>
                          <a:pt x="1428" y="1199"/>
                        </a:lnTo>
                        <a:lnTo>
                          <a:pt x="1443" y="1241"/>
                        </a:lnTo>
                        <a:lnTo>
                          <a:pt x="1465" y="1204"/>
                        </a:lnTo>
                        <a:lnTo>
                          <a:pt x="1509" y="1148"/>
                        </a:lnTo>
                        <a:lnTo>
                          <a:pt x="1567" y="1062"/>
                        </a:lnTo>
                        <a:lnTo>
                          <a:pt x="1604" y="1009"/>
                        </a:lnTo>
                        <a:lnTo>
                          <a:pt x="1621" y="977"/>
                        </a:lnTo>
                        <a:lnTo>
                          <a:pt x="1640" y="925"/>
                        </a:lnTo>
                        <a:lnTo>
                          <a:pt x="1657" y="890"/>
                        </a:lnTo>
                        <a:lnTo>
                          <a:pt x="1672" y="862"/>
                        </a:lnTo>
                        <a:lnTo>
                          <a:pt x="1693" y="834"/>
                        </a:lnTo>
                        <a:lnTo>
                          <a:pt x="1714" y="809"/>
                        </a:lnTo>
                        <a:lnTo>
                          <a:pt x="1754" y="767"/>
                        </a:lnTo>
                        <a:lnTo>
                          <a:pt x="1798" y="734"/>
                        </a:lnTo>
                        <a:lnTo>
                          <a:pt x="1842" y="714"/>
                        </a:lnTo>
                        <a:lnTo>
                          <a:pt x="1879" y="714"/>
                        </a:lnTo>
                        <a:lnTo>
                          <a:pt x="1913" y="717"/>
                        </a:lnTo>
                        <a:lnTo>
                          <a:pt x="1943" y="736"/>
                        </a:lnTo>
                        <a:lnTo>
                          <a:pt x="1963" y="775"/>
                        </a:lnTo>
                        <a:lnTo>
                          <a:pt x="1962" y="820"/>
                        </a:lnTo>
                        <a:lnTo>
                          <a:pt x="1962" y="840"/>
                        </a:lnTo>
                        <a:lnTo>
                          <a:pt x="1953" y="884"/>
                        </a:lnTo>
                        <a:lnTo>
                          <a:pt x="1935" y="904"/>
                        </a:lnTo>
                        <a:lnTo>
                          <a:pt x="1925" y="946"/>
                        </a:lnTo>
                        <a:lnTo>
                          <a:pt x="1907" y="1009"/>
                        </a:lnTo>
                        <a:lnTo>
                          <a:pt x="1907" y="1072"/>
                        </a:lnTo>
                        <a:lnTo>
                          <a:pt x="1897" y="1135"/>
                        </a:lnTo>
                        <a:lnTo>
                          <a:pt x="1894" y="1168"/>
                        </a:lnTo>
                        <a:lnTo>
                          <a:pt x="1886" y="1201"/>
                        </a:lnTo>
                        <a:lnTo>
                          <a:pt x="1866" y="1238"/>
                        </a:lnTo>
                        <a:lnTo>
                          <a:pt x="1842" y="1271"/>
                        </a:lnTo>
                        <a:lnTo>
                          <a:pt x="1825" y="1334"/>
                        </a:lnTo>
                        <a:lnTo>
                          <a:pt x="1797" y="1397"/>
                        </a:lnTo>
                        <a:lnTo>
                          <a:pt x="1714" y="1545"/>
                        </a:lnTo>
                        <a:lnTo>
                          <a:pt x="1640" y="1650"/>
                        </a:lnTo>
                        <a:lnTo>
                          <a:pt x="1586" y="1723"/>
                        </a:lnTo>
                        <a:lnTo>
                          <a:pt x="1576" y="1765"/>
                        </a:lnTo>
                        <a:lnTo>
                          <a:pt x="1567" y="1807"/>
                        </a:lnTo>
                        <a:lnTo>
                          <a:pt x="1550" y="1854"/>
                        </a:lnTo>
                        <a:lnTo>
                          <a:pt x="1537" y="1913"/>
                        </a:lnTo>
                        <a:lnTo>
                          <a:pt x="1511" y="1976"/>
                        </a:lnTo>
                        <a:lnTo>
                          <a:pt x="1465" y="2060"/>
                        </a:lnTo>
                        <a:lnTo>
                          <a:pt x="1421" y="2123"/>
                        </a:lnTo>
                        <a:lnTo>
                          <a:pt x="1393" y="2164"/>
                        </a:lnTo>
                        <a:lnTo>
                          <a:pt x="1374" y="2228"/>
                        </a:lnTo>
                        <a:lnTo>
                          <a:pt x="1355" y="2270"/>
                        </a:lnTo>
                        <a:lnTo>
                          <a:pt x="1326" y="2364"/>
                        </a:lnTo>
                        <a:lnTo>
                          <a:pt x="593"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225" name="Group 156">
                    <a:extLst>
                      <a:ext uri="{FF2B5EF4-FFF2-40B4-BE49-F238E27FC236}">
                        <a16:creationId xmlns:a16="http://schemas.microsoft.com/office/drawing/2014/main" id="{8B36F2BE-11F8-4B04-8FC2-4D7DF9EB38B1}"/>
                      </a:ext>
                    </a:extLst>
                  </p:cNvPr>
                  <p:cNvGrpSpPr>
                    <a:grpSpLocks/>
                  </p:cNvGrpSpPr>
                  <p:nvPr/>
                </p:nvGrpSpPr>
                <p:grpSpPr bwMode="auto">
                  <a:xfrm>
                    <a:off x="2861" y="3965"/>
                    <a:ext cx="138" cy="45"/>
                    <a:chOff x="2861" y="3965"/>
                    <a:chExt cx="138" cy="45"/>
                  </a:xfrm>
                </p:grpSpPr>
                <p:sp>
                  <p:nvSpPr>
                    <p:cNvPr id="230" name="Freeform 157">
                      <a:extLst>
                        <a:ext uri="{FF2B5EF4-FFF2-40B4-BE49-F238E27FC236}">
                          <a16:creationId xmlns:a16="http://schemas.microsoft.com/office/drawing/2014/main" id="{2719594F-FCA7-4859-927D-F0F5AA269DC9}"/>
                        </a:ext>
                      </a:extLst>
                    </p:cNvPr>
                    <p:cNvSpPr>
                      <a:spLocks/>
                    </p:cNvSpPr>
                    <p:nvPr/>
                  </p:nvSpPr>
                  <p:spPr bwMode="auto">
                    <a:xfrm>
                      <a:off x="2983" y="4002"/>
                      <a:ext cx="16" cy="8"/>
                    </a:xfrm>
                    <a:custGeom>
                      <a:avLst/>
                      <a:gdLst>
                        <a:gd name="T0" fmla="*/ 0 w 183"/>
                        <a:gd name="T1" fmla="*/ 0 h 96"/>
                        <a:gd name="T2" fmla="*/ 0 w 183"/>
                        <a:gd name="T3" fmla="*/ 0 h 96"/>
                        <a:gd name="T4" fmla="*/ 0 w 183"/>
                        <a:gd name="T5" fmla="*/ 0 h 96"/>
                        <a:gd name="T6" fmla="*/ 0 w 183"/>
                        <a:gd name="T7" fmla="*/ 0 h 96"/>
                        <a:gd name="T8" fmla="*/ 0 w 183"/>
                        <a:gd name="T9" fmla="*/ 0 h 96"/>
                        <a:gd name="T10" fmla="*/ 0 w 183"/>
                        <a:gd name="T11" fmla="*/ 0 h 96"/>
                        <a:gd name="T12" fmla="*/ 0 w 183"/>
                        <a:gd name="T13" fmla="*/ 0 h 96"/>
                        <a:gd name="T14" fmla="*/ 0 60000 65536"/>
                        <a:gd name="T15" fmla="*/ 0 60000 65536"/>
                        <a:gd name="T16" fmla="*/ 0 60000 65536"/>
                        <a:gd name="T17" fmla="*/ 0 60000 65536"/>
                        <a:gd name="T18" fmla="*/ 0 60000 65536"/>
                        <a:gd name="T19" fmla="*/ 0 60000 65536"/>
                        <a:gd name="T20" fmla="*/ 0 60000 65536"/>
                        <a:gd name="T21" fmla="*/ 0 w 183"/>
                        <a:gd name="T22" fmla="*/ 0 h 96"/>
                        <a:gd name="T23" fmla="*/ 183 w 183"/>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3" h="96">
                          <a:moveTo>
                            <a:pt x="0" y="0"/>
                          </a:moveTo>
                          <a:lnTo>
                            <a:pt x="37" y="22"/>
                          </a:lnTo>
                          <a:lnTo>
                            <a:pt x="65" y="53"/>
                          </a:lnTo>
                          <a:lnTo>
                            <a:pt x="100" y="86"/>
                          </a:lnTo>
                          <a:lnTo>
                            <a:pt x="128" y="96"/>
                          </a:lnTo>
                          <a:lnTo>
                            <a:pt x="138" y="96"/>
                          </a:lnTo>
                          <a:lnTo>
                            <a:pt x="183" y="86"/>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1" name="Freeform 158">
                      <a:extLst>
                        <a:ext uri="{FF2B5EF4-FFF2-40B4-BE49-F238E27FC236}">
                          <a16:creationId xmlns:a16="http://schemas.microsoft.com/office/drawing/2014/main" id="{9E245A3F-905D-4A3B-A73F-CF78EA76B026}"/>
                        </a:ext>
                      </a:extLst>
                    </p:cNvPr>
                    <p:cNvSpPr>
                      <a:spLocks/>
                    </p:cNvSpPr>
                    <p:nvPr/>
                  </p:nvSpPr>
                  <p:spPr bwMode="auto">
                    <a:xfrm>
                      <a:off x="2861" y="3992"/>
                      <a:ext cx="7"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2" name="Freeform 159">
                      <a:extLst>
                        <a:ext uri="{FF2B5EF4-FFF2-40B4-BE49-F238E27FC236}">
                          <a16:creationId xmlns:a16="http://schemas.microsoft.com/office/drawing/2014/main" id="{FD0BFDE6-7498-4FED-B934-0F8FA496E85D}"/>
                        </a:ext>
                      </a:extLst>
                    </p:cNvPr>
                    <p:cNvSpPr>
                      <a:spLocks/>
                    </p:cNvSpPr>
                    <p:nvPr/>
                  </p:nvSpPr>
                  <p:spPr bwMode="auto">
                    <a:xfrm>
                      <a:off x="2885" y="3967"/>
                      <a:ext cx="1" cy="4"/>
                    </a:xfrm>
                    <a:custGeom>
                      <a:avLst/>
                      <a:gdLst>
                        <a:gd name="T0" fmla="*/ 0 w 18"/>
                        <a:gd name="T1" fmla="*/ 0 h 43"/>
                        <a:gd name="T2" fmla="*/ 0 w 18"/>
                        <a:gd name="T3" fmla="*/ 0 h 43"/>
                        <a:gd name="T4" fmla="*/ 0 w 18"/>
                        <a:gd name="T5" fmla="*/ 0 h 43"/>
                        <a:gd name="T6" fmla="*/ 0 w 18"/>
                        <a:gd name="T7" fmla="*/ 0 h 43"/>
                        <a:gd name="T8" fmla="*/ 0 60000 65536"/>
                        <a:gd name="T9" fmla="*/ 0 60000 65536"/>
                        <a:gd name="T10" fmla="*/ 0 60000 65536"/>
                        <a:gd name="T11" fmla="*/ 0 60000 65536"/>
                        <a:gd name="T12" fmla="*/ 0 w 18"/>
                        <a:gd name="T13" fmla="*/ 0 h 43"/>
                        <a:gd name="T14" fmla="*/ 18 w 18"/>
                        <a:gd name="T15" fmla="*/ 43 h 43"/>
                      </a:gdLst>
                      <a:ahLst/>
                      <a:cxnLst>
                        <a:cxn ang="T8">
                          <a:pos x="T0" y="T1"/>
                        </a:cxn>
                        <a:cxn ang="T9">
                          <a:pos x="T2" y="T3"/>
                        </a:cxn>
                        <a:cxn ang="T10">
                          <a:pos x="T4" y="T5"/>
                        </a:cxn>
                        <a:cxn ang="T11">
                          <a:pos x="T6" y="T7"/>
                        </a:cxn>
                      </a:cxnLst>
                      <a:rect l="T12" t="T13" r="T14" b="T15"/>
                      <a:pathLst>
                        <a:path w="18" h="43">
                          <a:moveTo>
                            <a:pt x="0" y="0"/>
                          </a:moveTo>
                          <a:lnTo>
                            <a:pt x="18" y="18"/>
                          </a:lnTo>
                          <a:lnTo>
                            <a:pt x="16" y="28"/>
                          </a:lnTo>
                          <a:lnTo>
                            <a:pt x="18" y="4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3" name="Freeform 160">
                      <a:extLst>
                        <a:ext uri="{FF2B5EF4-FFF2-40B4-BE49-F238E27FC236}">
                          <a16:creationId xmlns:a16="http://schemas.microsoft.com/office/drawing/2014/main" id="{E32C6B48-6535-4CEE-B9B1-98E8EC514A7C}"/>
                        </a:ext>
                      </a:extLst>
                    </p:cNvPr>
                    <p:cNvSpPr>
                      <a:spLocks/>
                    </p:cNvSpPr>
                    <p:nvPr/>
                  </p:nvSpPr>
                  <p:spPr bwMode="auto">
                    <a:xfrm>
                      <a:off x="2878" y="3965"/>
                      <a:ext cx="15" cy="2"/>
                    </a:xfrm>
                    <a:custGeom>
                      <a:avLst/>
                      <a:gdLst>
                        <a:gd name="T0" fmla="*/ 0 w 178"/>
                        <a:gd name="T1" fmla="*/ 0 h 23"/>
                        <a:gd name="T2" fmla="*/ 0 w 178"/>
                        <a:gd name="T3" fmla="*/ 0 h 23"/>
                        <a:gd name="T4" fmla="*/ 0 w 178"/>
                        <a:gd name="T5" fmla="*/ 0 h 23"/>
                        <a:gd name="T6" fmla="*/ 0 w 178"/>
                        <a:gd name="T7" fmla="*/ 0 h 23"/>
                        <a:gd name="T8" fmla="*/ 0 w 178"/>
                        <a:gd name="T9" fmla="*/ 0 h 23"/>
                        <a:gd name="T10" fmla="*/ 0 60000 65536"/>
                        <a:gd name="T11" fmla="*/ 0 60000 65536"/>
                        <a:gd name="T12" fmla="*/ 0 60000 65536"/>
                        <a:gd name="T13" fmla="*/ 0 60000 65536"/>
                        <a:gd name="T14" fmla="*/ 0 60000 65536"/>
                        <a:gd name="T15" fmla="*/ 0 w 178"/>
                        <a:gd name="T16" fmla="*/ 0 h 23"/>
                        <a:gd name="T17" fmla="*/ 178 w 178"/>
                        <a:gd name="T18" fmla="*/ 23 h 23"/>
                      </a:gdLst>
                      <a:ahLst/>
                      <a:cxnLst>
                        <a:cxn ang="T10">
                          <a:pos x="T0" y="T1"/>
                        </a:cxn>
                        <a:cxn ang="T11">
                          <a:pos x="T2" y="T3"/>
                        </a:cxn>
                        <a:cxn ang="T12">
                          <a:pos x="T4" y="T5"/>
                        </a:cxn>
                        <a:cxn ang="T13">
                          <a:pos x="T6" y="T7"/>
                        </a:cxn>
                        <a:cxn ang="T14">
                          <a:pos x="T8" y="T9"/>
                        </a:cxn>
                      </a:cxnLst>
                      <a:rect l="T15" t="T16" r="T17" b="T18"/>
                      <a:pathLst>
                        <a:path w="178" h="23">
                          <a:moveTo>
                            <a:pt x="178" y="12"/>
                          </a:moveTo>
                          <a:lnTo>
                            <a:pt x="150" y="23"/>
                          </a:lnTo>
                          <a:lnTo>
                            <a:pt x="40" y="23"/>
                          </a:lnTo>
                          <a:lnTo>
                            <a:pt x="18" y="11"/>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26" name="Group 161">
                    <a:extLst>
                      <a:ext uri="{FF2B5EF4-FFF2-40B4-BE49-F238E27FC236}">
                        <a16:creationId xmlns:a16="http://schemas.microsoft.com/office/drawing/2014/main" id="{EAA89D95-48AA-432B-AB97-83CC47B7E0EF}"/>
                      </a:ext>
                    </a:extLst>
                  </p:cNvPr>
                  <p:cNvGrpSpPr>
                    <a:grpSpLocks/>
                  </p:cNvGrpSpPr>
                  <p:nvPr/>
                </p:nvGrpSpPr>
                <p:grpSpPr bwMode="auto">
                  <a:xfrm>
                    <a:off x="2876" y="3956"/>
                    <a:ext cx="94" cy="91"/>
                    <a:chOff x="2876" y="3956"/>
                    <a:chExt cx="94" cy="91"/>
                  </a:xfrm>
                </p:grpSpPr>
                <p:sp>
                  <p:nvSpPr>
                    <p:cNvPr id="227" name="Freeform 162">
                      <a:extLst>
                        <a:ext uri="{FF2B5EF4-FFF2-40B4-BE49-F238E27FC236}">
                          <a16:creationId xmlns:a16="http://schemas.microsoft.com/office/drawing/2014/main" id="{BDDC9D4B-D85A-421A-AF32-AE2EBA91C5C0}"/>
                        </a:ext>
                      </a:extLst>
                    </p:cNvPr>
                    <p:cNvSpPr>
                      <a:spLocks/>
                    </p:cNvSpPr>
                    <p:nvPr/>
                  </p:nvSpPr>
                  <p:spPr bwMode="auto">
                    <a:xfrm>
                      <a:off x="2882" y="3973"/>
                      <a:ext cx="88" cy="74"/>
                    </a:xfrm>
                    <a:custGeom>
                      <a:avLst/>
                      <a:gdLst>
                        <a:gd name="T0" fmla="*/ 0 w 1055"/>
                        <a:gd name="T1" fmla="*/ 0 h 894"/>
                        <a:gd name="T2" fmla="*/ 0 w 1055"/>
                        <a:gd name="T3" fmla="*/ 0 h 894"/>
                        <a:gd name="T4" fmla="*/ 0 w 1055"/>
                        <a:gd name="T5" fmla="*/ 0 h 894"/>
                        <a:gd name="T6" fmla="*/ 0 w 1055"/>
                        <a:gd name="T7" fmla="*/ 0 h 894"/>
                        <a:gd name="T8" fmla="*/ 0 w 1055"/>
                        <a:gd name="T9" fmla="*/ 0 h 894"/>
                        <a:gd name="T10" fmla="*/ 0 w 1055"/>
                        <a:gd name="T11" fmla="*/ 0 h 894"/>
                        <a:gd name="T12" fmla="*/ 0 w 1055"/>
                        <a:gd name="T13" fmla="*/ 0 h 894"/>
                        <a:gd name="T14" fmla="*/ 0 w 1055"/>
                        <a:gd name="T15" fmla="*/ 0 h 894"/>
                        <a:gd name="T16" fmla="*/ 0 w 1055"/>
                        <a:gd name="T17" fmla="*/ 0 h 894"/>
                        <a:gd name="T18" fmla="*/ 0 w 1055"/>
                        <a:gd name="T19" fmla="*/ 0 h 894"/>
                        <a:gd name="T20" fmla="*/ 0 w 1055"/>
                        <a:gd name="T21" fmla="*/ 0 h 894"/>
                        <a:gd name="T22" fmla="*/ 0 w 1055"/>
                        <a:gd name="T23" fmla="*/ 0 h 894"/>
                        <a:gd name="T24" fmla="*/ 0 w 1055"/>
                        <a:gd name="T25" fmla="*/ 0 h 894"/>
                        <a:gd name="T26" fmla="*/ 0 w 1055"/>
                        <a:gd name="T27" fmla="*/ 0 h 894"/>
                        <a:gd name="T28" fmla="*/ 0 w 1055"/>
                        <a:gd name="T29" fmla="*/ 0 h 894"/>
                        <a:gd name="T30" fmla="*/ 0 w 1055"/>
                        <a:gd name="T31" fmla="*/ 0 h 894"/>
                        <a:gd name="T32" fmla="*/ 0 w 1055"/>
                        <a:gd name="T33" fmla="*/ 0 h 894"/>
                        <a:gd name="T34" fmla="*/ 0 w 1055"/>
                        <a:gd name="T35" fmla="*/ 0 h 894"/>
                        <a:gd name="T36" fmla="*/ 0 w 1055"/>
                        <a:gd name="T37" fmla="*/ 0 h 894"/>
                        <a:gd name="T38" fmla="*/ 0 w 1055"/>
                        <a:gd name="T39" fmla="*/ 0 h 894"/>
                        <a:gd name="T40" fmla="*/ 0 w 1055"/>
                        <a:gd name="T41" fmla="*/ 0 h 894"/>
                        <a:gd name="T42" fmla="*/ 0 w 1055"/>
                        <a:gd name="T43" fmla="*/ 0 h 894"/>
                        <a:gd name="T44" fmla="*/ 0 w 1055"/>
                        <a:gd name="T45" fmla="*/ 0 h 894"/>
                        <a:gd name="T46" fmla="*/ 0 w 1055"/>
                        <a:gd name="T47" fmla="*/ 0 h 894"/>
                        <a:gd name="T48" fmla="*/ 0 w 1055"/>
                        <a:gd name="T49" fmla="*/ 0 h 894"/>
                        <a:gd name="T50" fmla="*/ 0 w 1055"/>
                        <a:gd name="T51" fmla="*/ 0 h 894"/>
                        <a:gd name="T52" fmla="*/ 0 w 1055"/>
                        <a:gd name="T53" fmla="*/ 0 h 894"/>
                        <a:gd name="T54" fmla="*/ 0 w 1055"/>
                        <a:gd name="T55" fmla="*/ 0 h 894"/>
                        <a:gd name="T56" fmla="*/ 0 w 1055"/>
                        <a:gd name="T57" fmla="*/ 0 h 894"/>
                        <a:gd name="T58" fmla="*/ 0 w 1055"/>
                        <a:gd name="T59" fmla="*/ 0 h 894"/>
                        <a:gd name="T60" fmla="*/ 0 w 1055"/>
                        <a:gd name="T61" fmla="*/ 0 h 894"/>
                        <a:gd name="T62" fmla="*/ 0 w 1055"/>
                        <a:gd name="T63" fmla="*/ 0 h 894"/>
                        <a:gd name="T64" fmla="*/ 0 w 1055"/>
                        <a:gd name="T65" fmla="*/ 0 h 894"/>
                        <a:gd name="T66" fmla="*/ 0 w 1055"/>
                        <a:gd name="T67" fmla="*/ 0 h 894"/>
                        <a:gd name="T68" fmla="*/ 0 w 1055"/>
                        <a:gd name="T69" fmla="*/ 0 h 894"/>
                        <a:gd name="T70" fmla="*/ 0 w 1055"/>
                        <a:gd name="T71" fmla="*/ 0 h 894"/>
                        <a:gd name="T72" fmla="*/ 0 w 1055"/>
                        <a:gd name="T73" fmla="*/ 0 h 894"/>
                        <a:gd name="T74" fmla="*/ 0 w 1055"/>
                        <a:gd name="T75" fmla="*/ 0 h 894"/>
                        <a:gd name="T76" fmla="*/ 0 w 1055"/>
                        <a:gd name="T77" fmla="*/ 0 h 894"/>
                        <a:gd name="T78" fmla="*/ 0 w 1055"/>
                        <a:gd name="T79" fmla="*/ 0 h 894"/>
                        <a:gd name="T80" fmla="*/ 0 w 1055"/>
                        <a:gd name="T81" fmla="*/ 0 h 894"/>
                        <a:gd name="T82" fmla="*/ 0 w 1055"/>
                        <a:gd name="T83" fmla="*/ 0 h 894"/>
                        <a:gd name="T84" fmla="*/ 0 w 1055"/>
                        <a:gd name="T85" fmla="*/ 0 h 894"/>
                        <a:gd name="T86" fmla="*/ 0 w 1055"/>
                        <a:gd name="T87" fmla="*/ 0 h 894"/>
                        <a:gd name="T88" fmla="*/ 0 w 1055"/>
                        <a:gd name="T89" fmla="*/ 0 h 894"/>
                        <a:gd name="T90" fmla="*/ 0 w 1055"/>
                        <a:gd name="T91" fmla="*/ 0 h 894"/>
                        <a:gd name="T92" fmla="*/ 0 w 1055"/>
                        <a:gd name="T93" fmla="*/ 0 h 894"/>
                        <a:gd name="T94" fmla="*/ 0 w 1055"/>
                        <a:gd name="T95" fmla="*/ 0 h 894"/>
                        <a:gd name="T96" fmla="*/ 0 w 1055"/>
                        <a:gd name="T97" fmla="*/ 0 h 894"/>
                        <a:gd name="T98" fmla="*/ 0 w 1055"/>
                        <a:gd name="T99" fmla="*/ 0 h 894"/>
                        <a:gd name="T100" fmla="*/ 0 w 1055"/>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4"/>
                        <a:gd name="T155" fmla="*/ 1055 w 1055"/>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4">
                          <a:moveTo>
                            <a:pt x="1055" y="487"/>
                          </a:moveTo>
                          <a:lnTo>
                            <a:pt x="977" y="517"/>
                          </a:lnTo>
                          <a:lnTo>
                            <a:pt x="881" y="555"/>
                          </a:lnTo>
                          <a:lnTo>
                            <a:pt x="823" y="593"/>
                          </a:lnTo>
                          <a:lnTo>
                            <a:pt x="775" y="652"/>
                          </a:lnTo>
                          <a:lnTo>
                            <a:pt x="746" y="739"/>
                          </a:lnTo>
                          <a:lnTo>
                            <a:pt x="727" y="806"/>
                          </a:lnTo>
                          <a:lnTo>
                            <a:pt x="668" y="875"/>
                          </a:lnTo>
                          <a:lnTo>
                            <a:pt x="571" y="894"/>
                          </a:lnTo>
                          <a:lnTo>
                            <a:pt x="504" y="865"/>
                          </a:lnTo>
                          <a:lnTo>
                            <a:pt x="455" y="826"/>
                          </a:lnTo>
                          <a:lnTo>
                            <a:pt x="451" y="784"/>
                          </a:lnTo>
                          <a:lnTo>
                            <a:pt x="445" y="749"/>
                          </a:lnTo>
                          <a:lnTo>
                            <a:pt x="407" y="690"/>
                          </a:lnTo>
                          <a:lnTo>
                            <a:pt x="319" y="661"/>
                          </a:lnTo>
                          <a:lnTo>
                            <a:pt x="387" y="617"/>
                          </a:lnTo>
                          <a:lnTo>
                            <a:pt x="458" y="603"/>
                          </a:lnTo>
                          <a:lnTo>
                            <a:pt x="491" y="584"/>
                          </a:lnTo>
                          <a:lnTo>
                            <a:pt x="429" y="580"/>
                          </a:lnTo>
                          <a:lnTo>
                            <a:pt x="359" y="603"/>
                          </a:lnTo>
                          <a:lnTo>
                            <a:pt x="281" y="633"/>
                          </a:lnTo>
                          <a:lnTo>
                            <a:pt x="246" y="603"/>
                          </a:lnTo>
                          <a:lnTo>
                            <a:pt x="239" y="564"/>
                          </a:lnTo>
                          <a:lnTo>
                            <a:pt x="236" y="520"/>
                          </a:lnTo>
                          <a:lnTo>
                            <a:pt x="223" y="477"/>
                          </a:lnTo>
                          <a:lnTo>
                            <a:pt x="174" y="468"/>
                          </a:lnTo>
                          <a:lnTo>
                            <a:pt x="136" y="484"/>
                          </a:lnTo>
                          <a:lnTo>
                            <a:pt x="104" y="513"/>
                          </a:lnTo>
                          <a:lnTo>
                            <a:pt x="58" y="542"/>
                          </a:lnTo>
                          <a:lnTo>
                            <a:pt x="0" y="593"/>
                          </a:lnTo>
                          <a:lnTo>
                            <a:pt x="58" y="507"/>
                          </a:lnTo>
                          <a:lnTo>
                            <a:pt x="165" y="420"/>
                          </a:lnTo>
                          <a:lnTo>
                            <a:pt x="233" y="380"/>
                          </a:lnTo>
                          <a:lnTo>
                            <a:pt x="294" y="364"/>
                          </a:lnTo>
                          <a:lnTo>
                            <a:pt x="346" y="367"/>
                          </a:lnTo>
                          <a:lnTo>
                            <a:pt x="400" y="355"/>
                          </a:lnTo>
                          <a:lnTo>
                            <a:pt x="485" y="332"/>
                          </a:lnTo>
                          <a:lnTo>
                            <a:pt x="590" y="287"/>
                          </a:lnTo>
                          <a:lnTo>
                            <a:pt x="690" y="238"/>
                          </a:lnTo>
                          <a:lnTo>
                            <a:pt x="749" y="210"/>
                          </a:lnTo>
                          <a:lnTo>
                            <a:pt x="781" y="168"/>
                          </a:lnTo>
                          <a:lnTo>
                            <a:pt x="797" y="116"/>
                          </a:lnTo>
                          <a:lnTo>
                            <a:pt x="794" y="62"/>
                          </a:lnTo>
                          <a:lnTo>
                            <a:pt x="781" y="0"/>
                          </a:lnTo>
                          <a:lnTo>
                            <a:pt x="842" y="68"/>
                          </a:lnTo>
                          <a:lnTo>
                            <a:pt x="891" y="145"/>
                          </a:lnTo>
                          <a:lnTo>
                            <a:pt x="949" y="245"/>
                          </a:lnTo>
                          <a:lnTo>
                            <a:pt x="974" y="300"/>
                          </a:lnTo>
                          <a:lnTo>
                            <a:pt x="1001" y="348"/>
                          </a:lnTo>
                          <a:lnTo>
                            <a:pt x="1036" y="400"/>
                          </a:lnTo>
                          <a:lnTo>
                            <a:pt x="1055"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8" name="Freeform 163">
                      <a:extLst>
                        <a:ext uri="{FF2B5EF4-FFF2-40B4-BE49-F238E27FC236}">
                          <a16:creationId xmlns:a16="http://schemas.microsoft.com/office/drawing/2014/main" id="{94856074-AABD-4D23-B477-D92CEFE9DB09}"/>
                        </a:ext>
                      </a:extLst>
                    </p:cNvPr>
                    <p:cNvSpPr>
                      <a:spLocks/>
                    </p:cNvSpPr>
                    <p:nvPr/>
                  </p:nvSpPr>
                  <p:spPr bwMode="auto">
                    <a:xfrm>
                      <a:off x="2876" y="3996"/>
                      <a:ext cx="24" cy="15"/>
                    </a:xfrm>
                    <a:custGeom>
                      <a:avLst/>
                      <a:gdLst>
                        <a:gd name="T0" fmla="*/ 0 w 287"/>
                        <a:gd name="T1" fmla="*/ 0 h 181"/>
                        <a:gd name="T2" fmla="*/ 0 w 287"/>
                        <a:gd name="T3" fmla="*/ 0 h 181"/>
                        <a:gd name="T4" fmla="*/ 0 w 287"/>
                        <a:gd name="T5" fmla="*/ 0 h 181"/>
                        <a:gd name="T6" fmla="*/ 0 w 287"/>
                        <a:gd name="T7" fmla="*/ 0 h 181"/>
                        <a:gd name="T8" fmla="*/ 0 w 287"/>
                        <a:gd name="T9" fmla="*/ 0 h 181"/>
                        <a:gd name="T10" fmla="*/ 0 w 287"/>
                        <a:gd name="T11" fmla="*/ 0 h 181"/>
                        <a:gd name="T12" fmla="*/ 0 w 287"/>
                        <a:gd name="T13" fmla="*/ 0 h 181"/>
                        <a:gd name="T14" fmla="*/ 0 w 287"/>
                        <a:gd name="T15" fmla="*/ 0 h 181"/>
                        <a:gd name="T16" fmla="*/ 0 w 287"/>
                        <a:gd name="T17" fmla="*/ 0 h 181"/>
                        <a:gd name="T18" fmla="*/ 0 w 287"/>
                        <a:gd name="T19" fmla="*/ 0 h 181"/>
                        <a:gd name="T20" fmla="*/ 0 w 287"/>
                        <a:gd name="T21" fmla="*/ 0 h 181"/>
                        <a:gd name="T22" fmla="*/ 0 w 287"/>
                        <a:gd name="T23" fmla="*/ 0 h 181"/>
                        <a:gd name="T24" fmla="*/ 0 w 287"/>
                        <a:gd name="T25" fmla="*/ 0 h 181"/>
                        <a:gd name="T26" fmla="*/ 0 w 287"/>
                        <a:gd name="T27" fmla="*/ 0 h 181"/>
                        <a:gd name="T28" fmla="*/ 0 w 287"/>
                        <a:gd name="T29" fmla="*/ 0 h 181"/>
                        <a:gd name="T30" fmla="*/ 0 w 287"/>
                        <a:gd name="T31" fmla="*/ 0 h 181"/>
                        <a:gd name="T32" fmla="*/ 0 w 287"/>
                        <a:gd name="T33" fmla="*/ 0 h 181"/>
                        <a:gd name="T34" fmla="*/ 0 w 287"/>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7"/>
                        <a:gd name="T55" fmla="*/ 0 h 181"/>
                        <a:gd name="T56" fmla="*/ 287 w 287"/>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7" h="181">
                          <a:moveTo>
                            <a:pt x="175" y="9"/>
                          </a:moveTo>
                          <a:lnTo>
                            <a:pt x="208" y="20"/>
                          </a:lnTo>
                          <a:lnTo>
                            <a:pt x="245" y="33"/>
                          </a:lnTo>
                          <a:lnTo>
                            <a:pt x="287" y="53"/>
                          </a:lnTo>
                          <a:lnTo>
                            <a:pt x="258" y="67"/>
                          </a:lnTo>
                          <a:lnTo>
                            <a:pt x="202" y="90"/>
                          </a:lnTo>
                          <a:lnTo>
                            <a:pt x="142" y="123"/>
                          </a:lnTo>
                          <a:lnTo>
                            <a:pt x="103" y="161"/>
                          </a:lnTo>
                          <a:lnTo>
                            <a:pt x="79" y="181"/>
                          </a:lnTo>
                          <a:lnTo>
                            <a:pt x="106" y="120"/>
                          </a:lnTo>
                          <a:lnTo>
                            <a:pt x="116" y="77"/>
                          </a:lnTo>
                          <a:lnTo>
                            <a:pt x="116" y="50"/>
                          </a:lnTo>
                          <a:lnTo>
                            <a:pt x="86" y="44"/>
                          </a:lnTo>
                          <a:lnTo>
                            <a:pt x="0" y="84"/>
                          </a:lnTo>
                          <a:lnTo>
                            <a:pt x="70" y="33"/>
                          </a:lnTo>
                          <a:lnTo>
                            <a:pt x="112" y="0"/>
                          </a:lnTo>
                          <a:lnTo>
                            <a:pt x="142" y="3"/>
                          </a:lnTo>
                          <a:lnTo>
                            <a:pt x="175" y="9"/>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9" name="Freeform 164">
                      <a:extLst>
                        <a:ext uri="{FF2B5EF4-FFF2-40B4-BE49-F238E27FC236}">
                          <a16:creationId xmlns:a16="http://schemas.microsoft.com/office/drawing/2014/main" id="{884350F1-2A80-4133-B75B-623E82C95335}"/>
                        </a:ext>
                      </a:extLst>
                    </p:cNvPr>
                    <p:cNvSpPr>
                      <a:spLocks/>
                    </p:cNvSpPr>
                    <p:nvPr/>
                  </p:nvSpPr>
                  <p:spPr bwMode="auto">
                    <a:xfrm>
                      <a:off x="2898" y="3956"/>
                      <a:ext cx="44" cy="37"/>
                    </a:xfrm>
                    <a:custGeom>
                      <a:avLst/>
                      <a:gdLst>
                        <a:gd name="T0" fmla="*/ 0 w 533"/>
                        <a:gd name="T1" fmla="*/ 0 h 433"/>
                        <a:gd name="T2" fmla="*/ 0 w 533"/>
                        <a:gd name="T3" fmla="*/ 0 h 433"/>
                        <a:gd name="T4" fmla="*/ 0 w 533"/>
                        <a:gd name="T5" fmla="*/ 0 h 433"/>
                        <a:gd name="T6" fmla="*/ 0 w 533"/>
                        <a:gd name="T7" fmla="*/ 0 h 433"/>
                        <a:gd name="T8" fmla="*/ 0 w 533"/>
                        <a:gd name="T9" fmla="*/ 0 h 433"/>
                        <a:gd name="T10" fmla="*/ 0 w 533"/>
                        <a:gd name="T11" fmla="*/ 0 h 433"/>
                        <a:gd name="T12" fmla="*/ 0 w 533"/>
                        <a:gd name="T13" fmla="*/ 0 h 433"/>
                        <a:gd name="T14" fmla="*/ 0 w 533"/>
                        <a:gd name="T15" fmla="*/ 0 h 433"/>
                        <a:gd name="T16" fmla="*/ 0 w 533"/>
                        <a:gd name="T17" fmla="*/ 0 h 433"/>
                        <a:gd name="T18" fmla="*/ 0 w 533"/>
                        <a:gd name="T19" fmla="*/ 0 h 433"/>
                        <a:gd name="T20" fmla="*/ 0 w 533"/>
                        <a:gd name="T21" fmla="*/ 0 h 433"/>
                        <a:gd name="T22" fmla="*/ 0 w 533"/>
                        <a:gd name="T23" fmla="*/ 0 h 433"/>
                        <a:gd name="T24" fmla="*/ 0 w 533"/>
                        <a:gd name="T25" fmla="*/ 0 h 433"/>
                        <a:gd name="T26" fmla="*/ 0 w 533"/>
                        <a:gd name="T27" fmla="*/ 0 h 433"/>
                        <a:gd name="T28" fmla="*/ 0 w 533"/>
                        <a:gd name="T29" fmla="*/ 0 h 433"/>
                        <a:gd name="T30" fmla="*/ 0 w 533"/>
                        <a:gd name="T31" fmla="*/ 0 h 433"/>
                        <a:gd name="T32" fmla="*/ 0 w 533"/>
                        <a:gd name="T33" fmla="*/ 0 h 433"/>
                        <a:gd name="T34" fmla="*/ 0 w 533"/>
                        <a:gd name="T35" fmla="*/ 0 h 433"/>
                        <a:gd name="T36" fmla="*/ 0 w 533"/>
                        <a:gd name="T37" fmla="*/ 0 h 433"/>
                        <a:gd name="T38" fmla="*/ 0 w 533"/>
                        <a:gd name="T39" fmla="*/ 0 h 433"/>
                        <a:gd name="T40" fmla="*/ 0 w 533"/>
                        <a:gd name="T41" fmla="*/ 0 h 433"/>
                        <a:gd name="T42" fmla="*/ 0 w 533"/>
                        <a:gd name="T43" fmla="*/ 0 h 433"/>
                        <a:gd name="T44" fmla="*/ 0 w 533"/>
                        <a:gd name="T45" fmla="*/ 0 h 433"/>
                        <a:gd name="T46" fmla="*/ 0 w 533"/>
                        <a:gd name="T47" fmla="*/ 0 h 433"/>
                        <a:gd name="T48" fmla="*/ 0 w 533"/>
                        <a:gd name="T49" fmla="*/ 0 h 433"/>
                        <a:gd name="T50" fmla="*/ 0 w 533"/>
                        <a:gd name="T51" fmla="*/ 0 h 433"/>
                        <a:gd name="T52" fmla="*/ 0 w 533"/>
                        <a:gd name="T53" fmla="*/ 0 h 433"/>
                        <a:gd name="T54" fmla="*/ 0 w 533"/>
                        <a:gd name="T55" fmla="*/ 0 h 433"/>
                        <a:gd name="T56" fmla="*/ 0 w 533"/>
                        <a:gd name="T57" fmla="*/ 0 h 433"/>
                        <a:gd name="T58" fmla="*/ 0 w 533"/>
                        <a:gd name="T59" fmla="*/ 0 h 433"/>
                        <a:gd name="T60" fmla="*/ 0 w 533"/>
                        <a:gd name="T61" fmla="*/ 0 h 43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3"/>
                        <a:gd name="T94" fmla="*/ 0 h 433"/>
                        <a:gd name="T95" fmla="*/ 533 w 533"/>
                        <a:gd name="T96" fmla="*/ 433 h 43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3" h="433">
                          <a:moveTo>
                            <a:pt x="533" y="137"/>
                          </a:moveTo>
                          <a:lnTo>
                            <a:pt x="471" y="147"/>
                          </a:lnTo>
                          <a:lnTo>
                            <a:pt x="422" y="166"/>
                          </a:lnTo>
                          <a:lnTo>
                            <a:pt x="363" y="205"/>
                          </a:lnTo>
                          <a:lnTo>
                            <a:pt x="312" y="254"/>
                          </a:lnTo>
                          <a:lnTo>
                            <a:pt x="263" y="332"/>
                          </a:lnTo>
                          <a:lnTo>
                            <a:pt x="241" y="384"/>
                          </a:lnTo>
                          <a:lnTo>
                            <a:pt x="257" y="433"/>
                          </a:lnTo>
                          <a:lnTo>
                            <a:pt x="192" y="387"/>
                          </a:lnTo>
                          <a:lnTo>
                            <a:pt x="130" y="365"/>
                          </a:lnTo>
                          <a:lnTo>
                            <a:pt x="81" y="345"/>
                          </a:lnTo>
                          <a:lnTo>
                            <a:pt x="32" y="329"/>
                          </a:lnTo>
                          <a:lnTo>
                            <a:pt x="0" y="313"/>
                          </a:lnTo>
                          <a:lnTo>
                            <a:pt x="42" y="254"/>
                          </a:lnTo>
                          <a:lnTo>
                            <a:pt x="81" y="283"/>
                          </a:lnTo>
                          <a:lnTo>
                            <a:pt x="143" y="313"/>
                          </a:lnTo>
                          <a:lnTo>
                            <a:pt x="195" y="313"/>
                          </a:lnTo>
                          <a:lnTo>
                            <a:pt x="244" y="303"/>
                          </a:lnTo>
                          <a:lnTo>
                            <a:pt x="273" y="293"/>
                          </a:lnTo>
                          <a:lnTo>
                            <a:pt x="303" y="273"/>
                          </a:lnTo>
                          <a:lnTo>
                            <a:pt x="312" y="212"/>
                          </a:lnTo>
                          <a:lnTo>
                            <a:pt x="303" y="166"/>
                          </a:lnTo>
                          <a:lnTo>
                            <a:pt x="273" y="107"/>
                          </a:lnTo>
                          <a:lnTo>
                            <a:pt x="263" y="77"/>
                          </a:lnTo>
                          <a:lnTo>
                            <a:pt x="306" y="68"/>
                          </a:lnTo>
                          <a:lnTo>
                            <a:pt x="360" y="52"/>
                          </a:lnTo>
                          <a:lnTo>
                            <a:pt x="396" y="9"/>
                          </a:lnTo>
                          <a:lnTo>
                            <a:pt x="428" y="0"/>
                          </a:lnTo>
                          <a:lnTo>
                            <a:pt x="465" y="55"/>
                          </a:lnTo>
                          <a:lnTo>
                            <a:pt x="497" y="101"/>
                          </a:lnTo>
                          <a:lnTo>
                            <a:pt x="533"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72" name="Group 165">
                  <a:extLst>
                    <a:ext uri="{FF2B5EF4-FFF2-40B4-BE49-F238E27FC236}">
                      <a16:creationId xmlns:a16="http://schemas.microsoft.com/office/drawing/2014/main" id="{39E0D20A-E166-4CB3-8E59-8D4B2CD1096E}"/>
                    </a:ext>
                  </a:extLst>
                </p:cNvPr>
                <p:cNvGrpSpPr>
                  <a:grpSpLocks/>
                </p:cNvGrpSpPr>
                <p:nvPr/>
              </p:nvGrpSpPr>
              <p:grpSpPr bwMode="auto">
                <a:xfrm>
                  <a:off x="2900" y="3854"/>
                  <a:ext cx="139" cy="274"/>
                  <a:chOff x="2900" y="3854"/>
                  <a:chExt cx="139" cy="274"/>
                </a:xfrm>
              </p:grpSpPr>
              <p:sp>
                <p:nvSpPr>
                  <p:cNvPr id="184" name="Freeform 166">
                    <a:extLst>
                      <a:ext uri="{FF2B5EF4-FFF2-40B4-BE49-F238E27FC236}">
                        <a16:creationId xmlns:a16="http://schemas.microsoft.com/office/drawing/2014/main" id="{B481EB12-0866-4777-83D2-87A58A9A6265}"/>
                      </a:ext>
                    </a:extLst>
                  </p:cNvPr>
                  <p:cNvSpPr>
                    <a:spLocks/>
                  </p:cNvSpPr>
                  <p:nvPr/>
                </p:nvSpPr>
                <p:spPr bwMode="auto">
                  <a:xfrm>
                    <a:off x="2909" y="4050"/>
                    <a:ext cx="128" cy="63"/>
                  </a:xfrm>
                  <a:custGeom>
                    <a:avLst/>
                    <a:gdLst>
                      <a:gd name="T0" fmla="*/ 0 w 1532"/>
                      <a:gd name="T1" fmla="*/ 0 h 757"/>
                      <a:gd name="T2" fmla="*/ 0 w 1532"/>
                      <a:gd name="T3" fmla="*/ 0 h 757"/>
                      <a:gd name="T4" fmla="*/ 0 w 1532"/>
                      <a:gd name="T5" fmla="*/ 0 h 757"/>
                      <a:gd name="T6" fmla="*/ 0 w 1532"/>
                      <a:gd name="T7" fmla="*/ 0 h 757"/>
                      <a:gd name="T8" fmla="*/ 0 w 1532"/>
                      <a:gd name="T9" fmla="*/ 0 h 757"/>
                      <a:gd name="T10" fmla="*/ 0 w 1532"/>
                      <a:gd name="T11" fmla="*/ 0 h 757"/>
                      <a:gd name="T12" fmla="*/ 0 60000 65536"/>
                      <a:gd name="T13" fmla="*/ 0 60000 65536"/>
                      <a:gd name="T14" fmla="*/ 0 60000 65536"/>
                      <a:gd name="T15" fmla="*/ 0 60000 65536"/>
                      <a:gd name="T16" fmla="*/ 0 60000 65536"/>
                      <a:gd name="T17" fmla="*/ 0 60000 65536"/>
                      <a:gd name="T18" fmla="*/ 0 w 1532"/>
                      <a:gd name="T19" fmla="*/ 0 h 757"/>
                      <a:gd name="T20" fmla="*/ 1532 w 1532"/>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32" h="757">
                        <a:moveTo>
                          <a:pt x="1532" y="757"/>
                        </a:moveTo>
                        <a:lnTo>
                          <a:pt x="751" y="276"/>
                        </a:lnTo>
                        <a:lnTo>
                          <a:pt x="0" y="0"/>
                        </a:lnTo>
                        <a:lnTo>
                          <a:pt x="77" y="219"/>
                        </a:lnTo>
                        <a:lnTo>
                          <a:pt x="734" y="570"/>
                        </a:lnTo>
                        <a:lnTo>
                          <a:pt x="1532" y="757"/>
                        </a:lnTo>
                        <a:close/>
                      </a:path>
                    </a:pathLst>
                  </a:custGeom>
                  <a:solidFill>
                    <a:srgbClr val="808080"/>
                  </a:solidFill>
                  <a:ln w="1588">
                    <a:solidFill>
                      <a:srgbClr val="000000"/>
                    </a:solidFill>
                    <a:prstDash val="solid"/>
                    <a:round/>
                    <a:headEnd/>
                    <a:tailEnd/>
                  </a:ln>
                </p:spPr>
                <p:txBody>
                  <a:bodyPr/>
                  <a:lstStyle/>
                  <a:p>
                    <a:endParaRPr lang="en-US"/>
                  </a:p>
                </p:txBody>
              </p:sp>
              <p:sp>
                <p:nvSpPr>
                  <p:cNvPr id="185" name="Freeform 167">
                    <a:extLst>
                      <a:ext uri="{FF2B5EF4-FFF2-40B4-BE49-F238E27FC236}">
                        <a16:creationId xmlns:a16="http://schemas.microsoft.com/office/drawing/2014/main" id="{E2329775-B006-4679-80EE-4CA83D261B17}"/>
                      </a:ext>
                    </a:extLst>
                  </p:cNvPr>
                  <p:cNvSpPr>
                    <a:spLocks/>
                  </p:cNvSpPr>
                  <p:nvPr/>
                </p:nvSpPr>
                <p:spPr bwMode="auto">
                  <a:xfrm>
                    <a:off x="2954" y="4084"/>
                    <a:ext cx="85" cy="44"/>
                  </a:xfrm>
                  <a:custGeom>
                    <a:avLst/>
                    <a:gdLst>
                      <a:gd name="T0" fmla="*/ 0 w 1022"/>
                      <a:gd name="T1" fmla="*/ 0 h 527"/>
                      <a:gd name="T2" fmla="*/ 0 w 1022"/>
                      <a:gd name="T3" fmla="*/ 0 h 527"/>
                      <a:gd name="T4" fmla="*/ 0 w 1022"/>
                      <a:gd name="T5" fmla="*/ 0 h 527"/>
                      <a:gd name="T6" fmla="*/ 0 w 1022"/>
                      <a:gd name="T7" fmla="*/ 0 h 527"/>
                      <a:gd name="T8" fmla="*/ 0 w 1022"/>
                      <a:gd name="T9" fmla="*/ 0 h 527"/>
                      <a:gd name="T10" fmla="*/ 0 w 1022"/>
                      <a:gd name="T11" fmla="*/ 0 h 527"/>
                      <a:gd name="T12" fmla="*/ 0 w 1022"/>
                      <a:gd name="T13" fmla="*/ 0 h 527"/>
                      <a:gd name="T14" fmla="*/ 0 w 1022"/>
                      <a:gd name="T15" fmla="*/ 0 h 527"/>
                      <a:gd name="T16" fmla="*/ 0 w 1022"/>
                      <a:gd name="T17" fmla="*/ 0 h 527"/>
                      <a:gd name="T18" fmla="*/ 0 w 1022"/>
                      <a:gd name="T19" fmla="*/ 0 h 527"/>
                      <a:gd name="T20" fmla="*/ 0 w 1022"/>
                      <a:gd name="T21" fmla="*/ 0 h 527"/>
                      <a:gd name="T22" fmla="*/ 0 w 1022"/>
                      <a:gd name="T23" fmla="*/ 0 h 527"/>
                      <a:gd name="T24" fmla="*/ 0 w 1022"/>
                      <a:gd name="T25" fmla="*/ 0 h 527"/>
                      <a:gd name="T26" fmla="*/ 0 w 1022"/>
                      <a:gd name="T27" fmla="*/ 0 h 5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2"/>
                      <a:gd name="T43" fmla="*/ 0 h 527"/>
                      <a:gd name="T44" fmla="*/ 1022 w 1022"/>
                      <a:gd name="T45" fmla="*/ 527 h 5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2" h="527">
                        <a:moveTo>
                          <a:pt x="119" y="0"/>
                        </a:moveTo>
                        <a:lnTo>
                          <a:pt x="0" y="11"/>
                        </a:lnTo>
                        <a:lnTo>
                          <a:pt x="0" y="83"/>
                        </a:lnTo>
                        <a:lnTo>
                          <a:pt x="65" y="179"/>
                        </a:lnTo>
                        <a:lnTo>
                          <a:pt x="939" y="523"/>
                        </a:lnTo>
                        <a:lnTo>
                          <a:pt x="958" y="527"/>
                        </a:lnTo>
                        <a:lnTo>
                          <a:pt x="975" y="523"/>
                        </a:lnTo>
                        <a:lnTo>
                          <a:pt x="990" y="505"/>
                        </a:lnTo>
                        <a:lnTo>
                          <a:pt x="1008" y="461"/>
                        </a:lnTo>
                        <a:lnTo>
                          <a:pt x="1017" y="428"/>
                        </a:lnTo>
                        <a:lnTo>
                          <a:pt x="1022" y="397"/>
                        </a:lnTo>
                        <a:lnTo>
                          <a:pt x="1013" y="365"/>
                        </a:lnTo>
                        <a:lnTo>
                          <a:pt x="993" y="345"/>
                        </a:lnTo>
                        <a:lnTo>
                          <a:pt x="119" y="0"/>
                        </a:lnTo>
                        <a:close/>
                      </a:path>
                    </a:pathLst>
                  </a:custGeom>
                  <a:solidFill>
                    <a:srgbClr val="606060"/>
                  </a:solidFill>
                  <a:ln w="1588">
                    <a:solidFill>
                      <a:srgbClr val="000000"/>
                    </a:solidFill>
                    <a:prstDash val="solid"/>
                    <a:round/>
                    <a:headEnd/>
                    <a:tailEnd/>
                  </a:ln>
                </p:spPr>
                <p:txBody>
                  <a:bodyPr/>
                  <a:lstStyle/>
                  <a:p>
                    <a:endParaRPr lang="en-US"/>
                  </a:p>
                </p:txBody>
              </p:sp>
              <p:sp>
                <p:nvSpPr>
                  <p:cNvPr id="186" name="Freeform 168">
                    <a:extLst>
                      <a:ext uri="{FF2B5EF4-FFF2-40B4-BE49-F238E27FC236}">
                        <a16:creationId xmlns:a16="http://schemas.microsoft.com/office/drawing/2014/main" id="{2C9F5505-34A4-496B-9D35-42EA23826B0A}"/>
                      </a:ext>
                    </a:extLst>
                  </p:cNvPr>
                  <p:cNvSpPr>
                    <a:spLocks/>
                  </p:cNvSpPr>
                  <p:nvPr/>
                </p:nvSpPr>
                <p:spPr bwMode="auto">
                  <a:xfrm>
                    <a:off x="2900" y="3854"/>
                    <a:ext cx="122" cy="245"/>
                  </a:xfrm>
                  <a:custGeom>
                    <a:avLst/>
                    <a:gdLst>
                      <a:gd name="T0" fmla="*/ 0 w 1471"/>
                      <a:gd name="T1" fmla="*/ 0 h 2948"/>
                      <a:gd name="T2" fmla="*/ 0 w 1471"/>
                      <a:gd name="T3" fmla="*/ 0 h 2948"/>
                      <a:gd name="T4" fmla="*/ 0 w 1471"/>
                      <a:gd name="T5" fmla="*/ 0 h 2948"/>
                      <a:gd name="T6" fmla="*/ 0 w 1471"/>
                      <a:gd name="T7" fmla="*/ 0 h 2948"/>
                      <a:gd name="T8" fmla="*/ 0 w 1471"/>
                      <a:gd name="T9" fmla="*/ 0 h 2948"/>
                      <a:gd name="T10" fmla="*/ 0 w 1471"/>
                      <a:gd name="T11" fmla="*/ 0 h 2948"/>
                      <a:gd name="T12" fmla="*/ 0 w 1471"/>
                      <a:gd name="T13" fmla="*/ 0 h 2948"/>
                      <a:gd name="T14" fmla="*/ 0 w 1471"/>
                      <a:gd name="T15" fmla="*/ 0 h 2948"/>
                      <a:gd name="T16" fmla="*/ 0 w 1471"/>
                      <a:gd name="T17" fmla="*/ 0 h 2948"/>
                      <a:gd name="T18" fmla="*/ 0 w 1471"/>
                      <a:gd name="T19" fmla="*/ 0 h 2948"/>
                      <a:gd name="T20" fmla="*/ 0 w 1471"/>
                      <a:gd name="T21" fmla="*/ 0 h 2948"/>
                      <a:gd name="T22" fmla="*/ 0 w 1471"/>
                      <a:gd name="T23" fmla="*/ 0 h 2948"/>
                      <a:gd name="T24" fmla="*/ 0 w 1471"/>
                      <a:gd name="T25" fmla="*/ 0 h 2948"/>
                      <a:gd name="T26" fmla="*/ 0 w 1471"/>
                      <a:gd name="T27" fmla="*/ 0 h 2948"/>
                      <a:gd name="T28" fmla="*/ 0 w 1471"/>
                      <a:gd name="T29" fmla="*/ 0 h 2948"/>
                      <a:gd name="T30" fmla="*/ 0 w 1471"/>
                      <a:gd name="T31" fmla="*/ 0 h 2948"/>
                      <a:gd name="T32" fmla="*/ 0 w 1471"/>
                      <a:gd name="T33" fmla="*/ 0 h 2948"/>
                      <a:gd name="T34" fmla="*/ 0 w 1471"/>
                      <a:gd name="T35" fmla="*/ 0 h 2948"/>
                      <a:gd name="T36" fmla="*/ 0 w 1471"/>
                      <a:gd name="T37" fmla="*/ 0 h 2948"/>
                      <a:gd name="T38" fmla="*/ 0 w 1471"/>
                      <a:gd name="T39" fmla="*/ 0 h 2948"/>
                      <a:gd name="T40" fmla="*/ 0 w 1471"/>
                      <a:gd name="T41" fmla="*/ 0 h 2948"/>
                      <a:gd name="T42" fmla="*/ 0 w 1471"/>
                      <a:gd name="T43" fmla="*/ 0 h 2948"/>
                      <a:gd name="T44" fmla="*/ 0 w 1471"/>
                      <a:gd name="T45" fmla="*/ 0 h 2948"/>
                      <a:gd name="T46" fmla="*/ 0 w 1471"/>
                      <a:gd name="T47" fmla="*/ 0 h 2948"/>
                      <a:gd name="T48" fmla="*/ 0 w 1471"/>
                      <a:gd name="T49" fmla="*/ 0 h 2948"/>
                      <a:gd name="T50" fmla="*/ 0 w 1471"/>
                      <a:gd name="T51" fmla="*/ 0 h 2948"/>
                      <a:gd name="T52" fmla="*/ 0 w 1471"/>
                      <a:gd name="T53" fmla="*/ 0 h 2948"/>
                      <a:gd name="T54" fmla="*/ 0 w 1471"/>
                      <a:gd name="T55" fmla="*/ 0 h 2948"/>
                      <a:gd name="T56" fmla="*/ 0 w 1471"/>
                      <a:gd name="T57" fmla="*/ 0 h 2948"/>
                      <a:gd name="T58" fmla="*/ 0 w 1471"/>
                      <a:gd name="T59" fmla="*/ 0 h 2948"/>
                      <a:gd name="T60" fmla="*/ 0 w 1471"/>
                      <a:gd name="T61" fmla="*/ 0 h 2948"/>
                      <a:gd name="T62" fmla="*/ 0 w 1471"/>
                      <a:gd name="T63" fmla="*/ 0 h 2948"/>
                      <a:gd name="T64" fmla="*/ 0 w 1471"/>
                      <a:gd name="T65" fmla="*/ 0 h 2948"/>
                      <a:gd name="T66" fmla="*/ 0 w 1471"/>
                      <a:gd name="T67" fmla="*/ 0 h 2948"/>
                      <a:gd name="T68" fmla="*/ 0 w 1471"/>
                      <a:gd name="T69" fmla="*/ 0 h 2948"/>
                      <a:gd name="T70" fmla="*/ 0 w 1471"/>
                      <a:gd name="T71" fmla="*/ 0 h 2948"/>
                      <a:gd name="T72" fmla="*/ 0 w 1471"/>
                      <a:gd name="T73" fmla="*/ 0 h 2948"/>
                      <a:gd name="T74" fmla="*/ 0 w 1471"/>
                      <a:gd name="T75" fmla="*/ 0 h 2948"/>
                      <a:gd name="T76" fmla="*/ 0 w 1471"/>
                      <a:gd name="T77" fmla="*/ 0 h 2948"/>
                      <a:gd name="T78" fmla="*/ 0 w 1471"/>
                      <a:gd name="T79" fmla="*/ 0 h 2948"/>
                      <a:gd name="T80" fmla="*/ 0 w 1471"/>
                      <a:gd name="T81" fmla="*/ 0 h 2948"/>
                      <a:gd name="T82" fmla="*/ 0 w 1471"/>
                      <a:gd name="T83" fmla="*/ 0 h 2948"/>
                      <a:gd name="T84" fmla="*/ 0 w 1471"/>
                      <a:gd name="T85" fmla="*/ 0 h 2948"/>
                      <a:gd name="T86" fmla="*/ 0 w 1471"/>
                      <a:gd name="T87" fmla="*/ 0 h 2948"/>
                      <a:gd name="T88" fmla="*/ 0 w 1471"/>
                      <a:gd name="T89" fmla="*/ 0 h 2948"/>
                      <a:gd name="T90" fmla="*/ 0 w 1471"/>
                      <a:gd name="T91" fmla="*/ 0 h 2948"/>
                      <a:gd name="T92" fmla="*/ 0 w 1471"/>
                      <a:gd name="T93" fmla="*/ 0 h 2948"/>
                      <a:gd name="T94" fmla="*/ 0 w 1471"/>
                      <a:gd name="T95" fmla="*/ 0 h 2948"/>
                      <a:gd name="T96" fmla="*/ 0 w 1471"/>
                      <a:gd name="T97" fmla="*/ 0 h 2948"/>
                      <a:gd name="T98" fmla="*/ 0 w 1471"/>
                      <a:gd name="T99" fmla="*/ 0 h 2948"/>
                      <a:gd name="T100" fmla="*/ 0 w 1471"/>
                      <a:gd name="T101" fmla="*/ 0 h 2948"/>
                      <a:gd name="T102" fmla="*/ 0 w 1471"/>
                      <a:gd name="T103" fmla="*/ 0 h 2948"/>
                      <a:gd name="T104" fmla="*/ 0 w 1471"/>
                      <a:gd name="T105" fmla="*/ 0 h 2948"/>
                      <a:gd name="T106" fmla="*/ 0 w 1471"/>
                      <a:gd name="T107" fmla="*/ 0 h 2948"/>
                      <a:gd name="T108" fmla="*/ 0 w 1471"/>
                      <a:gd name="T109" fmla="*/ 0 h 2948"/>
                      <a:gd name="T110" fmla="*/ 0 w 1471"/>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1"/>
                      <a:gd name="T169" fmla="*/ 0 h 2948"/>
                      <a:gd name="T170" fmla="*/ 1471 w 1471"/>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1" h="2948">
                        <a:moveTo>
                          <a:pt x="1471" y="384"/>
                        </a:moveTo>
                        <a:lnTo>
                          <a:pt x="1468" y="353"/>
                        </a:lnTo>
                        <a:lnTo>
                          <a:pt x="1453" y="331"/>
                        </a:lnTo>
                        <a:lnTo>
                          <a:pt x="1431" y="306"/>
                        </a:lnTo>
                        <a:lnTo>
                          <a:pt x="1353" y="255"/>
                        </a:lnTo>
                        <a:lnTo>
                          <a:pt x="1003" y="61"/>
                        </a:lnTo>
                        <a:lnTo>
                          <a:pt x="953" y="37"/>
                        </a:lnTo>
                        <a:lnTo>
                          <a:pt x="921" y="22"/>
                        </a:lnTo>
                        <a:lnTo>
                          <a:pt x="881" y="10"/>
                        </a:lnTo>
                        <a:lnTo>
                          <a:pt x="857" y="3"/>
                        </a:lnTo>
                        <a:lnTo>
                          <a:pt x="821" y="0"/>
                        </a:lnTo>
                        <a:lnTo>
                          <a:pt x="787" y="3"/>
                        </a:lnTo>
                        <a:lnTo>
                          <a:pt x="763" y="5"/>
                        </a:lnTo>
                        <a:lnTo>
                          <a:pt x="727" y="16"/>
                        </a:lnTo>
                        <a:lnTo>
                          <a:pt x="691" y="32"/>
                        </a:lnTo>
                        <a:lnTo>
                          <a:pt x="659" y="53"/>
                        </a:lnTo>
                        <a:lnTo>
                          <a:pt x="626" y="74"/>
                        </a:lnTo>
                        <a:lnTo>
                          <a:pt x="594" y="95"/>
                        </a:lnTo>
                        <a:lnTo>
                          <a:pt x="559" y="120"/>
                        </a:lnTo>
                        <a:lnTo>
                          <a:pt x="525" y="153"/>
                        </a:lnTo>
                        <a:lnTo>
                          <a:pt x="506" y="175"/>
                        </a:lnTo>
                        <a:lnTo>
                          <a:pt x="490" y="200"/>
                        </a:lnTo>
                        <a:lnTo>
                          <a:pt x="478" y="238"/>
                        </a:lnTo>
                        <a:lnTo>
                          <a:pt x="10" y="2307"/>
                        </a:lnTo>
                        <a:lnTo>
                          <a:pt x="0" y="2349"/>
                        </a:lnTo>
                        <a:lnTo>
                          <a:pt x="0" y="2369"/>
                        </a:lnTo>
                        <a:lnTo>
                          <a:pt x="0" y="2396"/>
                        </a:lnTo>
                        <a:lnTo>
                          <a:pt x="1" y="2422"/>
                        </a:lnTo>
                        <a:lnTo>
                          <a:pt x="11" y="2465"/>
                        </a:lnTo>
                        <a:lnTo>
                          <a:pt x="18" y="2485"/>
                        </a:lnTo>
                        <a:lnTo>
                          <a:pt x="38" y="2518"/>
                        </a:lnTo>
                        <a:lnTo>
                          <a:pt x="50" y="2540"/>
                        </a:lnTo>
                        <a:lnTo>
                          <a:pt x="78" y="2571"/>
                        </a:lnTo>
                        <a:lnTo>
                          <a:pt x="110" y="2597"/>
                        </a:lnTo>
                        <a:lnTo>
                          <a:pt x="154" y="2627"/>
                        </a:lnTo>
                        <a:lnTo>
                          <a:pt x="189" y="2650"/>
                        </a:lnTo>
                        <a:lnTo>
                          <a:pt x="713" y="2948"/>
                        </a:lnTo>
                        <a:lnTo>
                          <a:pt x="704" y="2916"/>
                        </a:lnTo>
                        <a:lnTo>
                          <a:pt x="703" y="2885"/>
                        </a:lnTo>
                        <a:lnTo>
                          <a:pt x="709" y="2861"/>
                        </a:lnTo>
                        <a:lnTo>
                          <a:pt x="717" y="2833"/>
                        </a:lnTo>
                        <a:lnTo>
                          <a:pt x="731" y="2805"/>
                        </a:lnTo>
                        <a:lnTo>
                          <a:pt x="749" y="2783"/>
                        </a:lnTo>
                        <a:lnTo>
                          <a:pt x="774" y="2769"/>
                        </a:lnTo>
                        <a:lnTo>
                          <a:pt x="193" y="2432"/>
                        </a:lnTo>
                        <a:lnTo>
                          <a:pt x="174" y="2416"/>
                        </a:lnTo>
                        <a:lnTo>
                          <a:pt x="167" y="2407"/>
                        </a:lnTo>
                        <a:lnTo>
                          <a:pt x="161" y="2391"/>
                        </a:lnTo>
                        <a:lnTo>
                          <a:pt x="156" y="2359"/>
                        </a:lnTo>
                        <a:lnTo>
                          <a:pt x="156" y="2339"/>
                        </a:lnTo>
                        <a:lnTo>
                          <a:pt x="442" y="1110"/>
                        </a:lnTo>
                        <a:lnTo>
                          <a:pt x="471" y="1055"/>
                        </a:lnTo>
                        <a:lnTo>
                          <a:pt x="498" y="1024"/>
                        </a:lnTo>
                        <a:lnTo>
                          <a:pt x="544" y="976"/>
                        </a:lnTo>
                        <a:lnTo>
                          <a:pt x="579" y="941"/>
                        </a:lnTo>
                        <a:lnTo>
                          <a:pt x="1471" y="384"/>
                        </a:lnTo>
                        <a:close/>
                      </a:path>
                    </a:pathLst>
                  </a:custGeom>
                  <a:solidFill>
                    <a:srgbClr val="808080"/>
                  </a:solidFill>
                  <a:ln w="1588">
                    <a:solidFill>
                      <a:srgbClr val="000000"/>
                    </a:solidFill>
                    <a:prstDash val="solid"/>
                    <a:round/>
                    <a:headEnd/>
                    <a:tailEnd/>
                  </a:ln>
                </p:spPr>
                <p:txBody>
                  <a:bodyPr/>
                  <a:lstStyle/>
                  <a:p>
                    <a:endParaRPr lang="en-US"/>
                  </a:p>
                </p:txBody>
              </p:sp>
              <p:sp>
                <p:nvSpPr>
                  <p:cNvPr id="187" name="Freeform 169">
                    <a:extLst>
                      <a:ext uri="{FF2B5EF4-FFF2-40B4-BE49-F238E27FC236}">
                        <a16:creationId xmlns:a16="http://schemas.microsoft.com/office/drawing/2014/main" id="{19E5F986-E0FC-4349-97CC-768A42AAAB91}"/>
                      </a:ext>
                    </a:extLst>
                  </p:cNvPr>
                  <p:cNvSpPr>
                    <a:spLocks/>
                  </p:cNvSpPr>
                  <p:nvPr/>
                </p:nvSpPr>
                <p:spPr bwMode="auto">
                  <a:xfrm>
                    <a:off x="2949" y="3858"/>
                    <a:ext cx="77" cy="109"/>
                  </a:xfrm>
                  <a:custGeom>
                    <a:avLst/>
                    <a:gdLst>
                      <a:gd name="T0" fmla="*/ 0 w 923"/>
                      <a:gd name="T1" fmla="*/ 0 h 1304"/>
                      <a:gd name="T2" fmla="*/ 0 w 923"/>
                      <a:gd name="T3" fmla="*/ 0 h 1304"/>
                      <a:gd name="T4" fmla="*/ 0 w 923"/>
                      <a:gd name="T5" fmla="*/ 0 h 1304"/>
                      <a:gd name="T6" fmla="*/ 0 w 923"/>
                      <a:gd name="T7" fmla="*/ 0 h 1304"/>
                      <a:gd name="T8" fmla="*/ 0 w 923"/>
                      <a:gd name="T9" fmla="*/ 0 h 1304"/>
                      <a:gd name="T10" fmla="*/ 0 w 923"/>
                      <a:gd name="T11" fmla="*/ 0 h 1304"/>
                      <a:gd name="T12" fmla="*/ 0 w 923"/>
                      <a:gd name="T13" fmla="*/ 0 h 1304"/>
                      <a:gd name="T14" fmla="*/ 0 w 923"/>
                      <a:gd name="T15" fmla="*/ 0 h 1304"/>
                      <a:gd name="T16" fmla="*/ 0 w 923"/>
                      <a:gd name="T17" fmla="*/ 0 h 1304"/>
                      <a:gd name="T18" fmla="*/ 0 w 923"/>
                      <a:gd name="T19" fmla="*/ 0 h 1304"/>
                      <a:gd name="T20" fmla="*/ 0 w 923"/>
                      <a:gd name="T21" fmla="*/ 0 h 1304"/>
                      <a:gd name="T22" fmla="*/ 0 w 923"/>
                      <a:gd name="T23" fmla="*/ 0 h 1304"/>
                      <a:gd name="T24" fmla="*/ 0 w 923"/>
                      <a:gd name="T25" fmla="*/ 0 h 1304"/>
                      <a:gd name="T26" fmla="*/ 0 w 923"/>
                      <a:gd name="T27" fmla="*/ 0 h 1304"/>
                      <a:gd name="T28" fmla="*/ 0 w 923"/>
                      <a:gd name="T29" fmla="*/ 0 h 1304"/>
                      <a:gd name="T30" fmla="*/ 0 w 923"/>
                      <a:gd name="T31" fmla="*/ 0 h 1304"/>
                      <a:gd name="T32" fmla="*/ 0 w 923"/>
                      <a:gd name="T33" fmla="*/ 0 h 1304"/>
                      <a:gd name="T34" fmla="*/ 0 w 923"/>
                      <a:gd name="T35" fmla="*/ 0 h 1304"/>
                      <a:gd name="T36" fmla="*/ 0 w 923"/>
                      <a:gd name="T37" fmla="*/ 0 h 1304"/>
                      <a:gd name="T38" fmla="*/ 0 w 923"/>
                      <a:gd name="T39" fmla="*/ 0 h 1304"/>
                      <a:gd name="T40" fmla="*/ 0 w 923"/>
                      <a:gd name="T41" fmla="*/ 0 h 1304"/>
                      <a:gd name="T42" fmla="*/ 0 w 923"/>
                      <a:gd name="T43" fmla="*/ 0 h 1304"/>
                      <a:gd name="T44" fmla="*/ 0 w 923"/>
                      <a:gd name="T45" fmla="*/ 0 h 1304"/>
                      <a:gd name="T46" fmla="*/ 0 w 923"/>
                      <a:gd name="T47" fmla="*/ 0 h 1304"/>
                      <a:gd name="T48" fmla="*/ 0 w 923"/>
                      <a:gd name="T49" fmla="*/ 0 h 1304"/>
                      <a:gd name="T50" fmla="*/ 0 w 923"/>
                      <a:gd name="T51" fmla="*/ 0 h 1304"/>
                      <a:gd name="T52" fmla="*/ 0 w 923"/>
                      <a:gd name="T53" fmla="*/ 0 h 1304"/>
                      <a:gd name="T54" fmla="*/ 0 w 923"/>
                      <a:gd name="T55" fmla="*/ 0 h 1304"/>
                      <a:gd name="T56" fmla="*/ 0 w 923"/>
                      <a:gd name="T57" fmla="*/ 0 h 1304"/>
                      <a:gd name="T58" fmla="*/ 0 w 923"/>
                      <a:gd name="T59" fmla="*/ 0 h 1304"/>
                      <a:gd name="T60" fmla="*/ 0 w 923"/>
                      <a:gd name="T61" fmla="*/ 0 h 1304"/>
                      <a:gd name="T62" fmla="*/ 0 w 923"/>
                      <a:gd name="T63" fmla="*/ 0 h 1304"/>
                      <a:gd name="T64" fmla="*/ 0 w 923"/>
                      <a:gd name="T65" fmla="*/ 0 h 1304"/>
                      <a:gd name="T66" fmla="*/ 0 w 923"/>
                      <a:gd name="T67" fmla="*/ 0 h 1304"/>
                      <a:gd name="T68" fmla="*/ 0 w 923"/>
                      <a:gd name="T69" fmla="*/ 0 h 1304"/>
                      <a:gd name="T70" fmla="*/ 0 w 923"/>
                      <a:gd name="T71" fmla="*/ 0 h 1304"/>
                      <a:gd name="T72" fmla="*/ 0 w 923"/>
                      <a:gd name="T73" fmla="*/ 0 h 1304"/>
                      <a:gd name="T74" fmla="*/ 0 w 923"/>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3"/>
                      <a:gd name="T115" fmla="*/ 0 h 1304"/>
                      <a:gd name="T116" fmla="*/ 923 w 923"/>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3" h="1304">
                        <a:moveTo>
                          <a:pt x="893" y="352"/>
                        </a:moveTo>
                        <a:lnTo>
                          <a:pt x="863" y="316"/>
                        </a:lnTo>
                        <a:lnTo>
                          <a:pt x="817" y="278"/>
                        </a:lnTo>
                        <a:lnTo>
                          <a:pt x="751" y="242"/>
                        </a:lnTo>
                        <a:lnTo>
                          <a:pt x="582" y="149"/>
                        </a:lnTo>
                        <a:lnTo>
                          <a:pt x="398" y="54"/>
                        </a:lnTo>
                        <a:lnTo>
                          <a:pt x="333" y="22"/>
                        </a:lnTo>
                        <a:lnTo>
                          <a:pt x="288" y="7"/>
                        </a:lnTo>
                        <a:lnTo>
                          <a:pt x="254" y="0"/>
                        </a:lnTo>
                        <a:lnTo>
                          <a:pt x="227" y="0"/>
                        </a:lnTo>
                        <a:lnTo>
                          <a:pt x="204" y="6"/>
                        </a:lnTo>
                        <a:lnTo>
                          <a:pt x="181" y="22"/>
                        </a:lnTo>
                        <a:lnTo>
                          <a:pt x="163" y="42"/>
                        </a:lnTo>
                        <a:lnTo>
                          <a:pt x="147" y="77"/>
                        </a:lnTo>
                        <a:lnTo>
                          <a:pt x="0" y="834"/>
                        </a:lnTo>
                        <a:lnTo>
                          <a:pt x="0" y="866"/>
                        </a:lnTo>
                        <a:lnTo>
                          <a:pt x="0" y="907"/>
                        </a:lnTo>
                        <a:lnTo>
                          <a:pt x="6" y="937"/>
                        </a:lnTo>
                        <a:lnTo>
                          <a:pt x="16" y="958"/>
                        </a:lnTo>
                        <a:lnTo>
                          <a:pt x="29" y="978"/>
                        </a:lnTo>
                        <a:lnTo>
                          <a:pt x="57" y="1005"/>
                        </a:lnTo>
                        <a:lnTo>
                          <a:pt x="84" y="1023"/>
                        </a:lnTo>
                        <a:lnTo>
                          <a:pt x="117" y="1041"/>
                        </a:lnTo>
                        <a:lnTo>
                          <a:pt x="555" y="1268"/>
                        </a:lnTo>
                        <a:lnTo>
                          <a:pt x="596" y="1285"/>
                        </a:lnTo>
                        <a:lnTo>
                          <a:pt x="633" y="1296"/>
                        </a:lnTo>
                        <a:lnTo>
                          <a:pt x="674" y="1304"/>
                        </a:lnTo>
                        <a:lnTo>
                          <a:pt x="702" y="1304"/>
                        </a:lnTo>
                        <a:lnTo>
                          <a:pt x="730" y="1296"/>
                        </a:lnTo>
                        <a:lnTo>
                          <a:pt x="751" y="1269"/>
                        </a:lnTo>
                        <a:lnTo>
                          <a:pt x="763" y="1222"/>
                        </a:lnTo>
                        <a:lnTo>
                          <a:pt x="780" y="1163"/>
                        </a:lnTo>
                        <a:lnTo>
                          <a:pt x="855" y="834"/>
                        </a:lnTo>
                        <a:lnTo>
                          <a:pt x="911" y="508"/>
                        </a:lnTo>
                        <a:lnTo>
                          <a:pt x="923" y="432"/>
                        </a:lnTo>
                        <a:lnTo>
                          <a:pt x="921" y="404"/>
                        </a:lnTo>
                        <a:lnTo>
                          <a:pt x="912" y="380"/>
                        </a:lnTo>
                        <a:lnTo>
                          <a:pt x="893" y="352"/>
                        </a:lnTo>
                        <a:close/>
                      </a:path>
                    </a:pathLst>
                  </a:custGeom>
                  <a:solidFill>
                    <a:srgbClr val="606060"/>
                  </a:solidFill>
                  <a:ln w="1588">
                    <a:solidFill>
                      <a:srgbClr val="000000"/>
                    </a:solidFill>
                    <a:prstDash val="solid"/>
                    <a:round/>
                    <a:headEnd/>
                    <a:tailEnd/>
                  </a:ln>
                </p:spPr>
                <p:txBody>
                  <a:bodyPr/>
                  <a:lstStyle/>
                  <a:p>
                    <a:endParaRPr lang="en-US"/>
                  </a:p>
                </p:txBody>
              </p:sp>
              <p:sp>
                <p:nvSpPr>
                  <p:cNvPr id="188" name="Freeform 170">
                    <a:extLst>
                      <a:ext uri="{FF2B5EF4-FFF2-40B4-BE49-F238E27FC236}">
                        <a16:creationId xmlns:a16="http://schemas.microsoft.com/office/drawing/2014/main" id="{BBB9BB36-EC66-42EB-8CF2-A648F855B4A5}"/>
                      </a:ext>
                    </a:extLst>
                  </p:cNvPr>
                  <p:cNvSpPr>
                    <a:spLocks/>
                  </p:cNvSpPr>
                  <p:nvPr/>
                </p:nvSpPr>
                <p:spPr bwMode="auto">
                  <a:xfrm>
                    <a:off x="2908" y="3931"/>
                    <a:ext cx="101" cy="142"/>
                  </a:xfrm>
                  <a:custGeom>
                    <a:avLst/>
                    <a:gdLst>
                      <a:gd name="T0" fmla="*/ 0 w 1208"/>
                      <a:gd name="T1" fmla="*/ 0 h 1702"/>
                      <a:gd name="T2" fmla="*/ 0 w 1208"/>
                      <a:gd name="T3" fmla="*/ 0 h 1702"/>
                      <a:gd name="T4" fmla="*/ 0 w 1208"/>
                      <a:gd name="T5" fmla="*/ 0 h 1702"/>
                      <a:gd name="T6" fmla="*/ 0 w 1208"/>
                      <a:gd name="T7" fmla="*/ 0 h 1702"/>
                      <a:gd name="T8" fmla="*/ 0 w 1208"/>
                      <a:gd name="T9" fmla="*/ 0 h 1702"/>
                      <a:gd name="T10" fmla="*/ 0 w 1208"/>
                      <a:gd name="T11" fmla="*/ 0 h 1702"/>
                      <a:gd name="T12" fmla="*/ 0 w 1208"/>
                      <a:gd name="T13" fmla="*/ 0 h 1702"/>
                      <a:gd name="T14" fmla="*/ 0 w 1208"/>
                      <a:gd name="T15" fmla="*/ 0 h 1702"/>
                      <a:gd name="T16" fmla="*/ 0 w 1208"/>
                      <a:gd name="T17" fmla="*/ 0 h 1702"/>
                      <a:gd name="T18" fmla="*/ 0 w 1208"/>
                      <a:gd name="T19" fmla="*/ 0 h 1702"/>
                      <a:gd name="T20" fmla="*/ 0 w 1208"/>
                      <a:gd name="T21" fmla="*/ 0 h 1702"/>
                      <a:gd name="T22" fmla="*/ 0 w 1208"/>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08"/>
                      <a:gd name="T37" fmla="*/ 0 h 1702"/>
                      <a:gd name="T38" fmla="*/ 1208 w 1208"/>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08" h="1702">
                        <a:moveTo>
                          <a:pt x="1203" y="431"/>
                        </a:moveTo>
                        <a:lnTo>
                          <a:pt x="1208" y="425"/>
                        </a:lnTo>
                        <a:lnTo>
                          <a:pt x="1150" y="451"/>
                        </a:lnTo>
                        <a:lnTo>
                          <a:pt x="1112" y="467"/>
                        </a:lnTo>
                        <a:lnTo>
                          <a:pt x="1094" y="478"/>
                        </a:lnTo>
                        <a:lnTo>
                          <a:pt x="1067" y="511"/>
                        </a:lnTo>
                        <a:lnTo>
                          <a:pt x="1047" y="552"/>
                        </a:lnTo>
                        <a:lnTo>
                          <a:pt x="768" y="1702"/>
                        </a:lnTo>
                        <a:lnTo>
                          <a:pt x="0" y="1429"/>
                        </a:lnTo>
                        <a:lnTo>
                          <a:pt x="312" y="31"/>
                        </a:lnTo>
                        <a:lnTo>
                          <a:pt x="478" y="0"/>
                        </a:lnTo>
                        <a:lnTo>
                          <a:pt x="1203"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189" name="Group 171">
                    <a:extLst>
                      <a:ext uri="{FF2B5EF4-FFF2-40B4-BE49-F238E27FC236}">
                        <a16:creationId xmlns:a16="http://schemas.microsoft.com/office/drawing/2014/main" id="{9F9566AE-1B6E-41AC-AC42-779AEC62E468}"/>
                      </a:ext>
                    </a:extLst>
                  </p:cNvPr>
                  <p:cNvGrpSpPr>
                    <a:grpSpLocks/>
                  </p:cNvGrpSpPr>
                  <p:nvPr/>
                </p:nvGrpSpPr>
                <p:grpSpPr bwMode="auto">
                  <a:xfrm>
                    <a:off x="2965" y="3881"/>
                    <a:ext cx="52" cy="60"/>
                    <a:chOff x="2965" y="3881"/>
                    <a:chExt cx="52" cy="60"/>
                  </a:xfrm>
                </p:grpSpPr>
                <p:sp>
                  <p:nvSpPr>
                    <p:cNvPr id="209" name="Oval 172">
                      <a:extLst>
                        <a:ext uri="{FF2B5EF4-FFF2-40B4-BE49-F238E27FC236}">
                          <a16:creationId xmlns:a16="http://schemas.microsoft.com/office/drawing/2014/main" id="{78B3C8AE-DCF5-4690-A4DD-ECBB94792D2B}"/>
                        </a:ext>
                      </a:extLst>
                    </p:cNvPr>
                    <p:cNvSpPr>
                      <a:spLocks noChangeArrowheads="1"/>
                    </p:cNvSpPr>
                    <p:nvPr/>
                  </p:nvSpPr>
                  <p:spPr bwMode="auto">
                    <a:xfrm>
                      <a:off x="2965" y="3881"/>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210" name="Group 173">
                      <a:extLst>
                        <a:ext uri="{FF2B5EF4-FFF2-40B4-BE49-F238E27FC236}">
                          <a16:creationId xmlns:a16="http://schemas.microsoft.com/office/drawing/2014/main" id="{C730A3FC-F8A2-4917-BAA2-3C508B07F754}"/>
                        </a:ext>
                      </a:extLst>
                    </p:cNvPr>
                    <p:cNvGrpSpPr>
                      <a:grpSpLocks/>
                    </p:cNvGrpSpPr>
                    <p:nvPr/>
                  </p:nvGrpSpPr>
                  <p:grpSpPr bwMode="auto">
                    <a:xfrm>
                      <a:off x="2978" y="3891"/>
                      <a:ext cx="28" cy="40"/>
                      <a:chOff x="2978" y="3891"/>
                      <a:chExt cx="28" cy="40"/>
                    </a:xfrm>
                  </p:grpSpPr>
                  <p:sp>
                    <p:nvSpPr>
                      <p:cNvPr id="211" name="Oval 174">
                        <a:extLst>
                          <a:ext uri="{FF2B5EF4-FFF2-40B4-BE49-F238E27FC236}">
                            <a16:creationId xmlns:a16="http://schemas.microsoft.com/office/drawing/2014/main" id="{8C21DDF6-D862-4F02-8748-72CE0CB94EE8}"/>
                          </a:ext>
                        </a:extLst>
                      </p:cNvPr>
                      <p:cNvSpPr>
                        <a:spLocks noChangeArrowheads="1"/>
                      </p:cNvSpPr>
                      <p:nvPr/>
                    </p:nvSpPr>
                    <p:spPr bwMode="auto">
                      <a:xfrm>
                        <a:off x="2991" y="3909"/>
                        <a:ext cx="2"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12" name="Oval 175">
                        <a:extLst>
                          <a:ext uri="{FF2B5EF4-FFF2-40B4-BE49-F238E27FC236}">
                            <a16:creationId xmlns:a16="http://schemas.microsoft.com/office/drawing/2014/main" id="{89762329-6414-48F2-A25E-C5F4EAC12C18}"/>
                          </a:ext>
                        </a:extLst>
                      </p:cNvPr>
                      <p:cNvSpPr>
                        <a:spLocks noChangeArrowheads="1"/>
                      </p:cNvSpPr>
                      <p:nvPr/>
                    </p:nvSpPr>
                    <p:spPr bwMode="auto">
                      <a:xfrm>
                        <a:off x="3001" y="391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13" name="Oval 176">
                        <a:extLst>
                          <a:ext uri="{FF2B5EF4-FFF2-40B4-BE49-F238E27FC236}">
                            <a16:creationId xmlns:a16="http://schemas.microsoft.com/office/drawing/2014/main" id="{5316BBF6-E59B-4E3B-A49D-7179E04F6417}"/>
                          </a:ext>
                        </a:extLst>
                      </p:cNvPr>
                      <p:cNvSpPr>
                        <a:spLocks noChangeArrowheads="1"/>
                      </p:cNvSpPr>
                      <p:nvPr/>
                    </p:nvSpPr>
                    <p:spPr bwMode="auto">
                      <a:xfrm>
                        <a:off x="2978" y="3919"/>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14" name="Oval 177">
                        <a:extLst>
                          <a:ext uri="{FF2B5EF4-FFF2-40B4-BE49-F238E27FC236}">
                            <a16:creationId xmlns:a16="http://schemas.microsoft.com/office/drawing/2014/main" id="{94780560-065B-4127-A732-327FB0C2C3C2}"/>
                          </a:ext>
                        </a:extLst>
                      </p:cNvPr>
                      <p:cNvSpPr>
                        <a:spLocks noChangeArrowheads="1"/>
                      </p:cNvSpPr>
                      <p:nvPr/>
                    </p:nvSpPr>
                    <p:spPr bwMode="auto">
                      <a:xfrm>
                        <a:off x="2987" y="392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15" name="Oval 178">
                        <a:extLst>
                          <a:ext uri="{FF2B5EF4-FFF2-40B4-BE49-F238E27FC236}">
                            <a16:creationId xmlns:a16="http://schemas.microsoft.com/office/drawing/2014/main" id="{647B69CA-9268-4EFE-B475-6ED50A492FFB}"/>
                          </a:ext>
                        </a:extLst>
                      </p:cNvPr>
                      <p:cNvSpPr>
                        <a:spLocks noChangeArrowheads="1"/>
                      </p:cNvSpPr>
                      <p:nvPr/>
                    </p:nvSpPr>
                    <p:spPr bwMode="auto">
                      <a:xfrm>
                        <a:off x="2998" y="3927"/>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16" name="Oval 179">
                        <a:extLst>
                          <a:ext uri="{FF2B5EF4-FFF2-40B4-BE49-F238E27FC236}">
                            <a16:creationId xmlns:a16="http://schemas.microsoft.com/office/drawing/2014/main" id="{BF973246-E122-415D-9583-228B2EEFA888}"/>
                          </a:ext>
                        </a:extLst>
                      </p:cNvPr>
                      <p:cNvSpPr>
                        <a:spLocks noChangeArrowheads="1"/>
                      </p:cNvSpPr>
                      <p:nvPr/>
                    </p:nvSpPr>
                    <p:spPr bwMode="auto">
                      <a:xfrm>
                        <a:off x="2984" y="3913"/>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17" name="Oval 180">
                        <a:extLst>
                          <a:ext uri="{FF2B5EF4-FFF2-40B4-BE49-F238E27FC236}">
                            <a16:creationId xmlns:a16="http://schemas.microsoft.com/office/drawing/2014/main" id="{FC348A8D-99C8-43B3-9E78-7C64163D12F4}"/>
                          </a:ext>
                        </a:extLst>
                      </p:cNvPr>
                      <p:cNvSpPr>
                        <a:spLocks noChangeArrowheads="1"/>
                      </p:cNvSpPr>
                      <p:nvPr/>
                    </p:nvSpPr>
                    <p:spPr bwMode="auto">
                      <a:xfrm>
                        <a:off x="2993" y="391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18" name="Oval 181">
                        <a:extLst>
                          <a:ext uri="{FF2B5EF4-FFF2-40B4-BE49-F238E27FC236}">
                            <a16:creationId xmlns:a16="http://schemas.microsoft.com/office/drawing/2014/main" id="{C194B058-6B38-4348-9D8A-20EBB6C9787C}"/>
                          </a:ext>
                        </a:extLst>
                      </p:cNvPr>
                      <p:cNvSpPr>
                        <a:spLocks noChangeArrowheads="1"/>
                      </p:cNvSpPr>
                      <p:nvPr/>
                    </p:nvSpPr>
                    <p:spPr bwMode="auto">
                      <a:xfrm>
                        <a:off x="2983" y="3891"/>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19" name="Oval 182">
                        <a:extLst>
                          <a:ext uri="{FF2B5EF4-FFF2-40B4-BE49-F238E27FC236}">
                            <a16:creationId xmlns:a16="http://schemas.microsoft.com/office/drawing/2014/main" id="{DE2D08CD-300B-46D4-8DFE-3724E0AE325C}"/>
                          </a:ext>
                        </a:extLst>
                      </p:cNvPr>
                      <p:cNvSpPr>
                        <a:spLocks noChangeArrowheads="1"/>
                      </p:cNvSpPr>
                      <p:nvPr/>
                    </p:nvSpPr>
                    <p:spPr bwMode="auto">
                      <a:xfrm>
                        <a:off x="2993" y="3895"/>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0" name="Oval 183">
                        <a:extLst>
                          <a:ext uri="{FF2B5EF4-FFF2-40B4-BE49-F238E27FC236}">
                            <a16:creationId xmlns:a16="http://schemas.microsoft.com/office/drawing/2014/main" id="{6DF01001-AA42-4146-B8EB-672C06F60743}"/>
                          </a:ext>
                        </a:extLst>
                      </p:cNvPr>
                      <p:cNvSpPr>
                        <a:spLocks noChangeArrowheads="1"/>
                      </p:cNvSpPr>
                      <p:nvPr/>
                    </p:nvSpPr>
                    <p:spPr bwMode="auto">
                      <a:xfrm>
                        <a:off x="3003" y="3899"/>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1" name="Oval 184">
                        <a:extLst>
                          <a:ext uri="{FF2B5EF4-FFF2-40B4-BE49-F238E27FC236}">
                            <a16:creationId xmlns:a16="http://schemas.microsoft.com/office/drawing/2014/main" id="{D71ADC0C-D59E-4360-9C92-219FBC33C481}"/>
                          </a:ext>
                        </a:extLst>
                      </p:cNvPr>
                      <p:cNvSpPr>
                        <a:spLocks noChangeArrowheads="1"/>
                      </p:cNvSpPr>
                      <p:nvPr/>
                    </p:nvSpPr>
                    <p:spPr bwMode="auto">
                      <a:xfrm>
                        <a:off x="2980" y="3905"/>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2" name="Oval 185">
                        <a:extLst>
                          <a:ext uri="{FF2B5EF4-FFF2-40B4-BE49-F238E27FC236}">
                            <a16:creationId xmlns:a16="http://schemas.microsoft.com/office/drawing/2014/main" id="{DCA057B8-A012-4CA9-B49F-7263F6E31B32}"/>
                          </a:ext>
                        </a:extLst>
                      </p:cNvPr>
                      <p:cNvSpPr>
                        <a:spLocks noChangeArrowheads="1"/>
                      </p:cNvSpPr>
                      <p:nvPr/>
                    </p:nvSpPr>
                    <p:spPr bwMode="auto">
                      <a:xfrm>
                        <a:off x="2986" y="3900"/>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3" name="Oval 186">
                        <a:extLst>
                          <a:ext uri="{FF2B5EF4-FFF2-40B4-BE49-F238E27FC236}">
                            <a16:creationId xmlns:a16="http://schemas.microsoft.com/office/drawing/2014/main" id="{7CE00C4D-4E90-4E37-B4F3-A3EF256DF753}"/>
                          </a:ext>
                        </a:extLst>
                      </p:cNvPr>
                      <p:cNvSpPr>
                        <a:spLocks noChangeArrowheads="1"/>
                      </p:cNvSpPr>
                      <p:nvPr/>
                    </p:nvSpPr>
                    <p:spPr bwMode="auto">
                      <a:xfrm>
                        <a:off x="2997" y="3903"/>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90" name="Group 187">
                    <a:extLst>
                      <a:ext uri="{FF2B5EF4-FFF2-40B4-BE49-F238E27FC236}">
                        <a16:creationId xmlns:a16="http://schemas.microsoft.com/office/drawing/2014/main" id="{6B91F77A-076A-4A31-A61D-0516FFFBAB05}"/>
                      </a:ext>
                    </a:extLst>
                  </p:cNvPr>
                  <p:cNvGrpSpPr>
                    <a:grpSpLocks/>
                  </p:cNvGrpSpPr>
                  <p:nvPr/>
                </p:nvGrpSpPr>
                <p:grpSpPr bwMode="auto">
                  <a:xfrm>
                    <a:off x="2925" y="3952"/>
                    <a:ext cx="67" cy="111"/>
                    <a:chOff x="2925" y="3952"/>
                    <a:chExt cx="67" cy="111"/>
                  </a:xfrm>
                </p:grpSpPr>
                <p:sp>
                  <p:nvSpPr>
                    <p:cNvPr id="191" name="Oval 188">
                      <a:extLst>
                        <a:ext uri="{FF2B5EF4-FFF2-40B4-BE49-F238E27FC236}">
                          <a16:creationId xmlns:a16="http://schemas.microsoft.com/office/drawing/2014/main" id="{C9877A85-2D88-4144-99F5-43CFE2AA9104}"/>
                        </a:ext>
                      </a:extLst>
                    </p:cNvPr>
                    <p:cNvSpPr>
                      <a:spLocks noChangeArrowheads="1"/>
                    </p:cNvSpPr>
                    <p:nvPr/>
                  </p:nvSpPr>
                  <p:spPr bwMode="auto">
                    <a:xfrm>
                      <a:off x="2959" y="404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2" name="Oval 189">
                      <a:extLst>
                        <a:ext uri="{FF2B5EF4-FFF2-40B4-BE49-F238E27FC236}">
                          <a16:creationId xmlns:a16="http://schemas.microsoft.com/office/drawing/2014/main" id="{9AC9B27F-E3C1-474F-BC6A-227550E763F2}"/>
                        </a:ext>
                      </a:extLst>
                    </p:cNvPr>
                    <p:cNvSpPr>
                      <a:spLocks noChangeArrowheads="1"/>
                    </p:cNvSpPr>
                    <p:nvPr/>
                  </p:nvSpPr>
                  <p:spPr bwMode="auto">
                    <a:xfrm>
                      <a:off x="2945" y="395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3" name="Oval 190">
                      <a:extLst>
                        <a:ext uri="{FF2B5EF4-FFF2-40B4-BE49-F238E27FC236}">
                          <a16:creationId xmlns:a16="http://schemas.microsoft.com/office/drawing/2014/main" id="{6D894B40-252F-4448-AF2C-99EA7FB29626}"/>
                        </a:ext>
                      </a:extLst>
                    </p:cNvPr>
                    <p:cNvSpPr>
                      <a:spLocks noChangeArrowheads="1"/>
                    </p:cNvSpPr>
                    <p:nvPr/>
                  </p:nvSpPr>
                  <p:spPr bwMode="auto">
                    <a:xfrm>
                      <a:off x="2962" y="3960"/>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4" name="Oval 191">
                      <a:extLst>
                        <a:ext uri="{FF2B5EF4-FFF2-40B4-BE49-F238E27FC236}">
                          <a16:creationId xmlns:a16="http://schemas.microsoft.com/office/drawing/2014/main" id="{2B5FE022-188C-4EE6-8D4E-558962FF728F}"/>
                        </a:ext>
                      </a:extLst>
                    </p:cNvPr>
                    <p:cNvSpPr>
                      <a:spLocks noChangeArrowheads="1"/>
                    </p:cNvSpPr>
                    <p:nvPr/>
                  </p:nvSpPr>
                  <p:spPr bwMode="auto">
                    <a:xfrm>
                      <a:off x="2979" y="3967"/>
                      <a:ext cx="13"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5" name="Oval 192">
                      <a:extLst>
                        <a:ext uri="{FF2B5EF4-FFF2-40B4-BE49-F238E27FC236}">
                          <a16:creationId xmlns:a16="http://schemas.microsoft.com/office/drawing/2014/main" id="{327C8AF0-C65E-4877-9F95-CD7077BBC037}"/>
                        </a:ext>
                      </a:extLst>
                    </p:cNvPr>
                    <p:cNvSpPr>
                      <a:spLocks noChangeArrowheads="1"/>
                    </p:cNvSpPr>
                    <p:nvPr/>
                  </p:nvSpPr>
                  <p:spPr bwMode="auto">
                    <a:xfrm>
                      <a:off x="2941" y="3969"/>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6" name="Oval 193">
                      <a:extLst>
                        <a:ext uri="{FF2B5EF4-FFF2-40B4-BE49-F238E27FC236}">
                          <a16:creationId xmlns:a16="http://schemas.microsoft.com/office/drawing/2014/main" id="{DB190ECD-860B-48AE-8D75-5294413C55B0}"/>
                        </a:ext>
                      </a:extLst>
                    </p:cNvPr>
                    <p:cNvSpPr>
                      <a:spLocks noChangeArrowheads="1"/>
                    </p:cNvSpPr>
                    <p:nvPr/>
                  </p:nvSpPr>
                  <p:spPr bwMode="auto">
                    <a:xfrm>
                      <a:off x="2958" y="3976"/>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7" name="Oval 194">
                      <a:extLst>
                        <a:ext uri="{FF2B5EF4-FFF2-40B4-BE49-F238E27FC236}">
                          <a16:creationId xmlns:a16="http://schemas.microsoft.com/office/drawing/2014/main" id="{B7AAC16E-8D91-49B3-95BE-5EF8156D6516}"/>
                        </a:ext>
                      </a:extLst>
                    </p:cNvPr>
                    <p:cNvSpPr>
                      <a:spLocks noChangeArrowheads="1"/>
                    </p:cNvSpPr>
                    <p:nvPr/>
                  </p:nvSpPr>
                  <p:spPr bwMode="auto">
                    <a:xfrm>
                      <a:off x="2975" y="3983"/>
                      <a:ext cx="13"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8" name="Oval 195">
                      <a:extLst>
                        <a:ext uri="{FF2B5EF4-FFF2-40B4-BE49-F238E27FC236}">
                          <a16:creationId xmlns:a16="http://schemas.microsoft.com/office/drawing/2014/main" id="{C6A245F9-9244-423D-9162-21D80277FB91}"/>
                        </a:ext>
                      </a:extLst>
                    </p:cNvPr>
                    <p:cNvSpPr>
                      <a:spLocks noChangeArrowheads="1"/>
                    </p:cNvSpPr>
                    <p:nvPr/>
                  </p:nvSpPr>
                  <p:spPr bwMode="auto">
                    <a:xfrm>
                      <a:off x="2936" y="398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9" name="Oval 196">
                      <a:extLst>
                        <a:ext uri="{FF2B5EF4-FFF2-40B4-BE49-F238E27FC236}">
                          <a16:creationId xmlns:a16="http://schemas.microsoft.com/office/drawing/2014/main" id="{71A3782C-49F6-42B9-908B-2D3D48C61B04}"/>
                        </a:ext>
                      </a:extLst>
                    </p:cNvPr>
                    <p:cNvSpPr>
                      <a:spLocks noChangeArrowheads="1"/>
                    </p:cNvSpPr>
                    <p:nvPr/>
                  </p:nvSpPr>
                  <p:spPr bwMode="auto">
                    <a:xfrm>
                      <a:off x="2954" y="399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0" name="Oval 197">
                      <a:extLst>
                        <a:ext uri="{FF2B5EF4-FFF2-40B4-BE49-F238E27FC236}">
                          <a16:creationId xmlns:a16="http://schemas.microsoft.com/office/drawing/2014/main" id="{ACA187CC-9F02-4570-9AC0-83D3B7028DF5}"/>
                        </a:ext>
                      </a:extLst>
                    </p:cNvPr>
                    <p:cNvSpPr>
                      <a:spLocks noChangeArrowheads="1"/>
                    </p:cNvSpPr>
                    <p:nvPr/>
                  </p:nvSpPr>
                  <p:spPr bwMode="auto">
                    <a:xfrm>
                      <a:off x="2970" y="3999"/>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1" name="Oval 198">
                      <a:extLst>
                        <a:ext uri="{FF2B5EF4-FFF2-40B4-BE49-F238E27FC236}">
                          <a16:creationId xmlns:a16="http://schemas.microsoft.com/office/drawing/2014/main" id="{98363409-4FB9-4F4E-A32B-F35AE5C4F51B}"/>
                        </a:ext>
                      </a:extLst>
                    </p:cNvPr>
                    <p:cNvSpPr>
                      <a:spLocks noChangeArrowheads="1"/>
                    </p:cNvSpPr>
                    <p:nvPr/>
                  </p:nvSpPr>
                  <p:spPr bwMode="auto">
                    <a:xfrm>
                      <a:off x="2932" y="400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2" name="Oval 199">
                      <a:extLst>
                        <a:ext uri="{FF2B5EF4-FFF2-40B4-BE49-F238E27FC236}">
                          <a16:creationId xmlns:a16="http://schemas.microsoft.com/office/drawing/2014/main" id="{F17BE365-9E26-4C65-B36A-671DF93604E7}"/>
                        </a:ext>
                      </a:extLst>
                    </p:cNvPr>
                    <p:cNvSpPr>
                      <a:spLocks noChangeArrowheads="1"/>
                    </p:cNvSpPr>
                    <p:nvPr/>
                  </p:nvSpPr>
                  <p:spPr bwMode="auto">
                    <a:xfrm>
                      <a:off x="2949" y="400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3" name="Oval 200">
                      <a:extLst>
                        <a:ext uri="{FF2B5EF4-FFF2-40B4-BE49-F238E27FC236}">
                          <a16:creationId xmlns:a16="http://schemas.microsoft.com/office/drawing/2014/main" id="{088D83D8-2ED4-44A9-8C5F-196F39022B6B}"/>
                        </a:ext>
                      </a:extLst>
                    </p:cNvPr>
                    <p:cNvSpPr>
                      <a:spLocks noChangeArrowheads="1"/>
                    </p:cNvSpPr>
                    <p:nvPr/>
                  </p:nvSpPr>
                  <p:spPr bwMode="auto">
                    <a:xfrm>
                      <a:off x="2966" y="401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4" name="Oval 201">
                      <a:extLst>
                        <a:ext uri="{FF2B5EF4-FFF2-40B4-BE49-F238E27FC236}">
                          <a16:creationId xmlns:a16="http://schemas.microsoft.com/office/drawing/2014/main" id="{4BCEB049-8F03-4D40-B831-4400C4E1028C}"/>
                        </a:ext>
                      </a:extLst>
                    </p:cNvPr>
                    <p:cNvSpPr>
                      <a:spLocks noChangeArrowheads="1"/>
                    </p:cNvSpPr>
                    <p:nvPr/>
                  </p:nvSpPr>
                  <p:spPr bwMode="auto">
                    <a:xfrm>
                      <a:off x="2928" y="401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5" name="Oval 202">
                      <a:extLst>
                        <a:ext uri="{FF2B5EF4-FFF2-40B4-BE49-F238E27FC236}">
                          <a16:creationId xmlns:a16="http://schemas.microsoft.com/office/drawing/2014/main" id="{CB07AC83-37B3-4372-96E3-482041443E9E}"/>
                        </a:ext>
                      </a:extLst>
                    </p:cNvPr>
                    <p:cNvSpPr>
                      <a:spLocks noChangeArrowheads="1"/>
                    </p:cNvSpPr>
                    <p:nvPr/>
                  </p:nvSpPr>
                  <p:spPr bwMode="auto">
                    <a:xfrm>
                      <a:off x="2945" y="4024"/>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6" name="Oval 203">
                      <a:extLst>
                        <a:ext uri="{FF2B5EF4-FFF2-40B4-BE49-F238E27FC236}">
                          <a16:creationId xmlns:a16="http://schemas.microsoft.com/office/drawing/2014/main" id="{503743B8-401F-4C1F-A9EB-81EDC9EDA300}"/>
                        </a:ext>
                      </a:extLst>
                    </p:cNvPr>
                    <p:cNvSpPr>
                      <a:spLocks noChangeArrowheads="1"/>
                    </p:cNvSpPr>
                    <p:nvPr/>
                  </p:nvSpPr>
                  <p:spPr bwMode="auto">
                    <a:xfrm>
                      <a:off x="2962" y="403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7" name="Oval 204">
                      <a:extLst>
                        <a:ext uri="{FF2B5EF4-FFF2-40B4-BE49-F238E27FC236}">
                          <a16:creationId xmlns:a16="http://schemas.microsoft.com/office/drawing/2014/main" id="{6E9DD188-AFED-4BD8-A6BA-18073046A091}"/>
                        </a:ext>
                      </a:extLst>
                    </p:cNvPr>
                    <p:cNvSpPr>
                      <a:spLocks noChangeArrowheads="1"/>
                    </p:cNvSpPr>
                    <p:nvPr/>
                  </p:nvSpPr>
                  <p:spPr bwMode="auto">
                    <a:xfrm>
                      <a:off x="2925" y="403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8" name="Oval 205">
                      <a:extLst>
                        <a:ext uri="{FF2B5EF4-FFF2-40B4-BE49-F238E27FC236}">
                          <a16:creationId xmlns:a16="http://schemas.microsoft.com/office/drawing/2014/main" id="{13AFB46B-7F35-4B0A-8732-4D0A43E5D49B}"/>
                        </a:ext>
                      </a:extLst>
                    </p:cNvPr>
                    <p:cNvSpPr>
                      <a:spLocks noChangeArrowheads="1"/>
                    </p:cNvSpPr>
                    <p:nvPr/>
                  </p:nvSpPr>
                  <p:spPr bwMode="auto">
                    <a:xfrm>
                      <a:off x="2942" y="404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73" name="Group 206">
                  <a:extLst>
                    <a:ext uri="{FF2B5EF4-FFF2-40B4-BE49-F238E27FC236}">
                      <a16:creationId xmlns:a16="http://schemas.microsoft.com/office/drawing/2014/main" id="{E7CA5F3C-BED2-4557-AFF9-E811CBA70377}"/>
                    </a:ext>
                  </a:extLst>
                </p:cNvPr>
                <p:cNvGrpSpPr>
                  <a:grpSpLocks/>
                </p:cNvGrpSpPr>
                <p:nvPr/>
              </p:nvGrpSpPr>
              <p:grpSpPr bwMode="auto">
                <a:xfrm>
                  <a:off x="2858" y="3911"/>
                  <a:ext cx="80" cy="92"/>
                  <a:chOff x="2858" y="3911"/>
                  <a:chExt cx="80" cy="92"/>
                </a:xfrm>
              </p:grpSpPr>
              <p:grpSp>
                <p:nvGrpSpPr>
                  <p:cNvPr id="174" name="Group 207">
                    <a:extLst>
                      <a:ext uri="{FF2B5EF4-FFF2-40B4-BE49-F238E27FC236}">
                        <a16:creationId xmlns:a16="http://schemas.microsoft.com/office/drawing/2014/main" id="{96377891-AAD0-432D-8261-30C0A9AC81A2}"/>
                      </a:ext>
                    </a:extLst>
                  </p:cNvPr>
                  <p:cNvGrpSpPr>
                    <a:grpSpLocks/>
                  </p:cNvGrpSpPr>
                  <p:nvPr/>
                </p:nvGrpSpPr>
                <p:grpSpPr bwMode="auto">
                  <a:xfrm>
                    <a:off x="2884" y="3940"/>
                    <a:ext cx="39" cy="42"/>
                    <a:chOff x="2884" y="3940"/>
                    <a:chExt cx="39" cy="42"/>
                  </a:xfrm>
                </p:grpSpPr>
                <p:sp>
                  <p:nvSpPr>
                    <p:cNvPr id="182" name="Freeform 208">
                      <a:extLst>
                        <a:ext uri="{FF2B5EF4-FFF2-40B4-BE49-F238E27FC236}">
                          <a16:creationId xmlns:a16="http://schemas.microsoft.com/office/drawing/2014/main" id="{7D177ED6-C957-497B-A7A6-722CBA7DBF11}"/>
                        </a:ext>
                      </a:extLst>
                    </p:cNvPr>
                    <p:cNvSpPr>
                      <a:spLocks/>
                    </p:cNvSpPr>
                    <p:nvPr/>
                  </p:nvSpPr>
                  <p:spPr bwMode="auto">
                    <a:xfrm>
                      <a:off x="2884" y="3940"/>
                      <a:ext cx="39" cy="42"/>
                    </a:xfrm>
                    <a:custGeom>
                      <a:avLst/>
                      <a:gdLst>
                        <a:gd name="T0" fmla="*/ 0 w 473"/>
                        <a:gd name="T1" fmla="*/ 0 h 496"/>
                        <a:gd name="T2" fmla="*/ 0 w 473"/>
                        <a:gd name="T3" fmla="*/ 0 h 496"/>
                        <a:gd name="T4" fmla="*/ 0 w 473"/>
                        <a:gd name="T5" fmla="*/ 0 h 496"/>
                        <a:gd name="T6" fmla="*/ 0 w 473"/>
                        <a:gd name="T7" fmla="*/ 0 h 496"/>
                        <a:gd name="T8" fmla="*/ 0 w 473"/>
                        <a:gd name="T9" fmla="*/ 0 h 496"/>
                        <a:gd name="T10" fmla="*/ 0 w 473"/>
                        <a:gd name="T11" fmla="*/ 0 h 496"/>
                        <a:gd name="T12" fmla="*/ 0 w 473"/>
                        <a:gd name="T13" fmla="*/ 0 h 496"/>
                        <a:gd name="T14" fmla="*/ 0 w 473"/>
                        <a:gd name="T15" fmla="*/ 0 h 496"/>
                        <a:gd name="T16" fmla="*/ 0 w 473"/>
                        <a:gd name="T17" fmla="*/ 0 h 496"/>
                        <a:gd name="T18" fmla="*/ 0 w 473"/>
                        <a:gd name="T19" fmla="*/ 0 h 496"/>
                        <a:gd name="T20" fmla="*/ 0 w 473"/>
                        <a:gd name="T21" fmla="*/ 0 h 496"/>
                        <a:gd name="T22" fmla="*/ 0 w 473"/>
                        <a:gd name="T23" fmla="*/ 0 h 496"/>
                        <a:gd name="T24" fmla="*/ 0 w 473"/>
                        <a:gd name="T25" fmla="*/ 0 h 496"/>
                        <a:gd name="T26" fmla="*/ 0 w 473"/>
                        <a:gd name="T27" fmla="*/ 0 h 496"/>
                        <a:gd name="T28" fmla="*/ 0 w 473"/>
                        <a:gd name="T29" fmla="*/ 0 h 496"/>
                        <a:gd name="T30" fmla="*/ 0 w 473"/>
                        <a:gd name="T31" fmla="*/ 0 h 496"/>
                        <a:gd name="T32" fmla="*/ 0 w 473"/>
                        <a:gd name="T33" fmla="*/ 0 h 496"/>
                        <a:gd name="T34" fmla="*/ 0 w 473"/>
                        <a:gd name="T35" fmla="*/ 0 h 496"/>
                        <a:gd name="T36" fmla="*/ 0 w 473"/>
                        <a:gd name="T37" fmla="*/ 0 h 496"/>
                        <a:gd name="T38" fmla="*/ 0 w 473"/>
                        <a:gd name="T39" fmla="*/ 0 h 496"/>
                        <a:gd name="T40" fmla="*/ 0 w 473"/>
                        <a:gd name="T41" fmla="*/ 0 h 496"/>
                        <a:gd name="T42" fmla="*/ 0 w 473"/>
                        <a:gd name="T43" fmla="*/ 0 h 496"/>
                        <a:gd name="T44" fmla="*/ 0 w 473"/>
                        <a:gd name="T45" fmla="*/ 0 h 496"/>
                        <a:gd name="T46" fmla="*/ 0 w 473"/>
                        <a:gd name="T47" fmla="*/ 0 h 496"/>
                        <a:gd name="T48" fmla="*/ 0 w 473"/>
                        <a:gd name="T49" fmla="*/ 0 h 496"/>
                        <a:gd name="T50" fmla="*/ 0 w 473"/>
                        <a:gd name="T51" fmla="*/ 0 h 496"/>
                        <a:gd name="T52" fmla="*/ 0 w 473"/>
                        <a:gd name="T53" fmla="*/ 0 h 496"/>
                        <a:gd name="T54" fmla="*/ 0 w 473"/>
                        <a:gd name="T55" fmla="*/ 0 h 496"/>
                        <a:gd name="T56" fmla="*/ 0 w 473"/>
                        <a:gd name="T57" fmla="*/ 0 h 49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3"/>
                        <a:gd name="T88" fmla="*/ 0 h 496"/>
                        <a:gd name="T89" fmla="*/ 473 w 473"/>
                        <a:gd name="T90" fmla="*/ 496 h 49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3" h="496">
                          <a:moveTo>
                            <a:pt x="0" y="0"/>
                          </a:moveTo>
                          <a:lnTo>
                            <a:pt x="91" y="25"/>
                          </a:lnTo>
                          <a:lnTo>
                            <a:pt x="174" y="52"/>
                          </a:lnTo>
                          <a:lnTo>
                            <a:pt x="243" y="73"/>
                          </a:lnTo>
                          <a:lnTo>
                            <a:pt x="334" y="134"/>
                          </a:lnTo>
                          <a:lnTo>
                            <a:pt x="361" y="166"/>
                          </a:lnTo>
                          <a:lnTo>
                            <a:pt x="388" y="218"/>
                          </a:lnTo>
                          <a:lnTo>
                            <a:pt x="424" y="278"/>
                          </a:lnTo>
                          <a:lnTo>
                            <a:pt x="455" y="341"/>
                          </a:lnTo>
                          <a:lnTo>
                            <a:pt x="469" y="378"/>
                          </a:lnTo>
                          <a:lnTo>
                            <a:pt x="473" y="404"/>
                          </a:lnTo>
                          <a:lnTo>
                            <a:pt x="473" y="427"/>
                          </a:lnTo>
                          <a:lnTo>
                            <a:pt x="465" y="445"/>
                          </a:lnTo>
                          <a:lnTo>
                            <a:pt x="445" y="466"/>
                          </a:lnTo>
                          <a:lnTo>
                            <a:pt x="427" y="482"/>
                          </a:lnTo>
                          <a:lnTo>
                            <a:pt x="385" y="493"/>
                          </a:lnTo>
                          <a:lnTo>
                            <a:pt x="355" y="496"/>
                          </a:lnTo>
                          <a:lnTo>
                            <a:pt x="317" y="496"/>
                          </a:lnTo>
                          <a:lnTo>
                            <a:pt x="289" y="488"/>
                          </a:lnTo>
                          <a:lnTo>
                            <a:pt x="260" y="471"/>
                          </a:lnTo>
                          <a:lnTo>
                            <a:pt x="241" y="460"/>
                          </a:lnTo>
                          <a:lnTo>
                            <a:pt x="220" y="441"/>
                          </a:lnTo>
                          <a:lnTo>
                            <a:pt x="205" y="419"/>
                          </a:lnTo>
                          <a:lnTo>
                            <a:pt x="186" y="387"/>
                          </a:lnTo>
                          <a:lnTo>
                            <a:pt x="168" y="356"/>
                          </a:lnTo>
                          <a:lnTo>
                            <a:pt x="161" y="341"/>
                          </a:lnTo>
                          <a:lnTo>
                            <a:pt x="147" y="321"/>
                          </a:lnTo>
                          <a:lnTo>
                            <a:pt x="133"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3" name="Freeform 209">
                      <a:extLst>
                        <a:ext uri="{FF2B5EF4-FFF2-40B4-BE49-F238E27FC236}">
                          <a16:creationId xmlns:a16="http://schemas.microsoft.com/office/drawing/2014/main" id="{CB161F3E-3465-4518-AE06-E669A0014EBE}"/>
                        </a:ext>
                      </a:extLst>
                    </p:cNvPr>
                    <p:cNvSpPr>
                      <a:spLocks/>
                    </p:cNvSpPr>
                    <p:nvPr/>
                  </p:nvSpPr>
                  <p:spPr bwMode="auto">
                    <a:xfrm>
                      <a:off x="2884" y="3940"/>
                      <a:ext cx="39" cy="42"/>
                    </a:xfrm>
                    <a:custGeom>
                      <a:avLst/>
                      <a:gdLst>
                        <a:gd name="T0" fmla="*/ 0 w 473"/>
                        <a:gd name="T1" fmla="*/ 0 h 496"/>
                        <a:gd name="T2" fmla="*/ 0 w 473"/>
                        <a:gd name="T3" fmla="*/ 0 h 496"/>
                        <a:gd name="T4" fmla="*/ 0 w 473"/>
                        <a:gd name="T5" fmla="*/ 0 h 496"/>
                        <a:gd name="T6" fmla="*/ 0 w 473"/>
                        <a:gd name="T7" fmla="*/ 0 h 496"/>
                        <a:gd name="T8" fmla="*/ 0 w 473"/>
                        <a:gd name="T9" fmla="*/ 0 h 496"/>
                        <a:gd name="T10" fmla="*/ 0 w 473"/>
                        <a:gd name="T11" fmla="*/ 0 h 496"/>
                        <a:gd name="T12" fmla="*/ 0 w 473"/>
                        <a:gd name="T13" fmla="*/ 0 h 496"/>
                        <a:gd name="T14" fmla="*/ 0 w 473"/>
                        <a:gd name="T15" fmla="*/ 0 h 496"/>
                        <a:gd name="T16" fmla="*/ 0 w 473"/>
                        <a:gd name="T17" fmla="*/ 0 h 496"/>
                        <a:gd name="T18" fmla="*/ 0 w 473"/>
                        <a:gd name="T19" fmla="*/ 0 h 496"/>
                        <a:gd name="T20" fmla="*/ 0 w 473"/>
                        <a:gd name="T21" fmla="*/ 0 h 496"/>
                        <a:gd name="T22" fmla="*/ 0 w 473"/>
                        <a:gd name="T23" fmla="*/ 0 h 496"/>
                        <a:gd name="T24" fmla="*/ 0 w 473"/>
                        <a:gd name="T25" fmla="*/ 0 h 496"/>
                        <a:gd name="T26" fmla="*/ 0 w 473"/>
                        <a:gd name="T27" fmla="*/ 0 h 496"/>
                        <a:gd name="T28" fmla="*/ 0 w 473"/>
                        <a:gd name="T29" fmla="*/ 0 h 496"/>
                        <a:gd name="T30" fmla="*/ 0 w 473"/>
                        <a:gd name="T31" fmla="*/ 0 h 496"/>
                        <a:gd name="T32" fmla="*/ 0 w 473"/>
                        <a:gd name="T33" fmla="*/ 0 h 496"/>
                        <a:gd name="T34" fmla="*/ 0 w 473"/>
                        <a:gd name="T35" fmla="*/ 0 h 496"/>
                        <a:gd name="T36" fmla="*/ 0 w 473"/>
                        <a:gd name="T37" fmla="*/ 0 h 496"/>
                        <a:gd name="T38" fmla="*/ 0 w 473"/>
                        <a:gd name="T39" fmla="*/ 0 h 496"/>
                        <a:gd name="T40" fmla="*/ 0 w 473"/>
                        <a:gd name="T41" fmla="*/ 0 h 496"/>
                        <a:gd name="T42" fmla="*/ 0 w 473"/>
                        <a:gd name="T43" fmla="*/ 0 h 496"/>
                        <a:gd name="T44" fmla="*/ 0 w 473"/>
                        <a:gd name="T45" fmla="*/ 0 h 496"/>
                        <a:gd name="T46" fmla="*/ 0 w 473"/>
                        <a:gd name="T47" fmla="*/ 0 h 496"/>
                        <a:gd name="T48" fmla="*/ 0 w 473"/>
                        <a:gd name="T49" fmla="*/ 0 h 496"/>
                        <a:gd name="T50" fmla="*/ 0 w 473"/>
                        <a:gd name="T51" fmla="*/ 0 h 496"/>
                        <a:gd name="T52" fmla="*/ 0 w 473"/>
                        <a:gd name="T53" fmla="*/ 0 h 496"/>
                        <a:gd name="T54" fmla="*/ 0 w 473"/>
                        <a:gd name="T55" fmla="*/ 0 h 49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3"/>
                        <a:gd name="T85" fmla="*/ 0 h 496"/>
                        <a:gd name="T86" fmla="*/ 473 w 473"/>
                        <a:gd name="T87" fmla="*/ 496 h 49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3" h="496">
                          <a:moveTo>
                            <a:pt x="0" y="0"/>
                          </a:moveTo>
                          <a:lnTo>
                            <a:pt x="91" y="25"/>
                          </a:lnTo>
                          <a:lnTo>
                            <a:pt x="174" y="52"/>
                          </a:lnTo>
                          <a:lnTo>
                            <a:pt x="243" y="73"/>
                          </a:lnTo>
                          <a:lnTo>
                            <a:pt x="334" y="134"/>
                          </a:lnTo>
                          <a:lnTo>
                            <a:pt x="361" y="166"/>
                          </a:lnTo>
                          <a:lnTo>
                            <a:pt x="388" y="218"/>
                          </a:lnTo>
                          <a:lnTo>
                            <a:pt x="424" y="278"/>
                          </a:lnTo>
                          <a:lnTo>
                            <a:pt x="455" y="341"/>
                          </a:lnTo>
                          <a:lnTo>
                            <a:pt x="469" y="378"/>
                          </a:lnTo>
                          <a:lnTo>
                            <a:pt x="473" y="404"/>
                          </a:lnTo>
                          <a:lnTo>
                            <a:pt x="473" y="427"/>
                          </a:lnTo>
                          <a:lnTo>
                            <a:pt x="465" y="445"/>
                          </a:lnTo>
                          <a:lnTo>
                            <a:pt x="445" y="466"/>
                          </a:lnTo>
                          <a:lnTo>
                            <a:pt x="427" y="482"/>
                          </a:lnTo>
                          <a:lnTo>
                            <a:pt x="385" y="493"/>
                          </a:lnTo>
                          <a:lnTo>
                            <a:pt x="355" y="496"/>
                          </a:lnTo>
                          <a:lnTo>
                            <a:pt x="317" y="496"/>
                          </a:lnTo>
                          <a:lnTo>
                            <a:pt x="289" y="488"/>
                          </a:lnTo>
                          <a:lnTo>
                            <a:pt x="260" y="471"/>
                          </a:lnTo>
                          <a:lnTo>
                            <a:pt x="241" y="460"/>
                          </a:lnTo>
                          <a:lnTo>
                            <a:pt x="220" y="441"/>
                          </a:lnTo>
                          <a:lnTo>
                            <a:pt x="205" y="419"/>
                          </a:lnTo>
                          <a:lnTo>
                            <a:pt x="186" y="387"/>
                          </a:lnTo>
                          <a:lnTo>
                            <a:pt x="168" y="356"/>
                          </a:lnTo>
                          <a:lnTo>
                            <a:pt x="161" y="341"/>
                          </a:lnTo>
                          <a:lnTo>
                            <a:pt x="147" y="321"/>
                          </a:lnTo>
                          <a:lnTo>
                            <a:pt x="133"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5" name="Group 210">
                    <a:extLst>
                      <a:ext uri="{FF2B5EF4-FFF2-40B4-BE49-F238E27FC236}">
                        <a16:creationId xmlns:a16="http://schemas.microsoft.com/office/drawing/2014/main" id="{7A8773AD-286B-4A3F-A4D5-788312523556}"/>
                      </a:ext>
                    </a:extLst>
                  </p:cNvPr>
                  <p:cNvGrpSpPr>
                    <a:grpSpLocks/>
                  </p:cNvGrpSpPr>
                  <p:nvPr/>
                </p:nvGrpSpPr>
                <p:grpSpPr bwMode="auto">
                  <a:xfrm>
                    <a:off x="2904" y="3922"/>
                    <a:ext cx="29" cy="32"/>
                    <a:chOff x="2904" y="3922"/>
                    <a:chExt cx="29" cy="32"/>
                  </a:xfrm>
                </p:grpSpPr>
                <p:sp>
                  <p:nvSpPr>
                    <p:cNvPr id="180" name="Freeform 211">
                      <a:extLst>
                        <a:ext uri="{FF2B5EF4-FFF2-40B4-BE49-F238E27FC236}">
                          <a16:creationId xmlns:a16="http://schemas.microsoft.com/office/drawing/2014/main" id="{69E24A03-F51E-4280-9140-9BB05E3A9A00}"/>
                        </a:ext>
                      </a:extLst>
                    </p:cNvPr>
                    <p:cNvSpPr>
                      <a:spLocks/>
                    </p:cNvSpPr>
                    <p:nvPr/>
                  </p:nvSpPr>
                  <p:spPr bwMode="auto">
                    <a:xfrm>
                      <a:off x="2904" y="3922"/>
                      <a:ext cx="29" cy="32"/>
                    </a:xfrm>
                    <a:custGeom>
                      <a:avLst/>
                      <a:gdLst>
                        <a:gd name="T0" fmla="*/ 0 w 350"/>
                        <a:gd name="T1" fmla="*/ 0 h 390"/>
                        <a:gd name="T2" fmla="*/ 0 w 350"/>
                        <a:gd name="T3" fmla="*/ 0 h 390"/>
                        <a:gd name="T4" fmla="*/ 0 w 350"/>
                        <a:gd name="T5" fmla="*/ 0 h 390"/>
                        <a:gd name="T6" fmla="*/ 0 w 350"/>
                        <a:gd name="T7" fmla="*/ 0 h 390"/>
                        <a:gd name="T8" fmla="*/ 0 w 350"/>
                        <a:gd name="T9" fmla="*/ 0 h 390"/>
                        <a:gd name="T10" fmla="*/ 0 w 350"/>
                        <a:gd name="T11" fmla="*/ 0 h 390"/>
                        <a:gd name="T12" fmla="*/ 0 w 350"/>
                        <a:gd name="T13" fmla="*/ 0 h 390"/>
                        <a:gd name="T14" fmla="*/ 0 w 350"/>
                        <a:gd name="T15" fmla="*/ 0 h 390"/>
                        <a:gd name="T16" fmla="*/ 0 w 350"/>
                        <a:gd name="T17" fmla="*/ 0 h 390"/>
                        <a:gd name="T18" fmla="*/ 0 w 350"/>
                        <a:gd name="T19" fmla="*/ 0 h 390"/>
                        <a:gd name="T20" fmla="*/ 0 w 350"/>
                        <a:gd name="T21" fmla="*/ 0 h 390"/>
                        <a:gd name="T22" fmla="*/ 0 w 350"/>
                        <a:gd name="T23" fmla="*/ 0 h 390"/>
                        <a:gd name="T24" fmla="*/ 0 w 350"/>
                        <a:gd name="T25" fmla="*/ 0 h 390"/>
                        <a:gd name="T26" fmla="*/ 0 w 350"/>
                        <a:gd name="T27" fmla="*/ 0 h 390"/>
                        <a:gd name="T28" fmla="*/ 0 w 350"/>
                        <a:gd name="T29" fmla="*/ 0 h 390"/>
                        <a:gd name="T30" fmla="*/ 0 w 350"/>
                        <a:gd name="T31" fmla="*/ 0 h 390"/>
                        <a:gd name="T32" fmla="*/ 0 w 350"/>
                        <a:gd name="T33" fmla="*/ 0 h 390"/>
                        <a:gd name="T34" fmla="*/ 0 w 350"/>
                        <a:gd name="T35" fmla="*/ 0 h 390"/>
                        <a:gd name="T36" fmla="*/ 0 w 350"/>
                        <a:gd name="T37" fmla="*/ 0 h 390"/>
                        <a:gd name="T38" fmla="*/ 0 w 350"/>
                        <a:gd name="T39" fmla="*/ 0 h 390"/>
                        <a:gd name="T40" fmla="*/ 0 w 350"/>
                        <a:gd name="T41" fmla="*/ 0 h 390"/>
                        <a:gd name="T42" fmla="*/ 0 w 350"/>
                        <a:gd name="T43" fmla="*/ 0 h 390"/>
                        <a:gd name="T44" fmla="*/ 0 w 350"/>
                        <a:gd name="T45" fmla="*/ 0 h 390"/>
                        <a:gd name="T46" fmla="*/ 0 w 350"/>
                        <a:gd name="T47" fmla="*/ 0 h 390"/>
                        <a:gd name="T48" fmla="*/ 0 w 350"/>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0"/>
                        <a:gd name="T76" fmla="*/ 0 h 390"/>
                        <a:gd name="T77" fmla="*/ 350 w 350"/>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0" h="390">
                          <a:moveTo>
                            <a:pt x="0" y="0"/>
                          </a:moveTo>
                          <a:lnTo>
                            <a:pt x="82" y="9"/>
                          </a:lnTo>
                          <a:lnTo>
                            <a:pt x="134" y="25"/>
                          </a:lnTo>
                          <a:lnTo>
                            <a:pt x="176" y="51"/>
                          </a:lnTo>
                          <a:lnTo>
                            <a:pt x="217" y="77"/>
                          </a:lnTo>
                          <a:lnTo>
                            <a:pt x="239" y="104"/>
                          </a:lnTo>
                          <a:lnTo>
                            <a:pt x="267" y="130"/>
                          </a:lnTo>
                          <a:lnTo>
                            <a:pt x="296" y="178"/>
                          </a:lnTo>
                          <a:lnTo>
                            <a:pt x="319" y="223"/>
                          </a:lnTo>
                          <a:lnTo>
                            <a:pt x="335" y="257"/>
                          </a:lnTo>
                          <a:lnTo>
                            <a:pt x="350" y="287"/>
                          </a:lnTo>
                          <a:lnTo>
                            <a:pt x="350" y="323"/>
                          </a:lnTo>
                          <a:lnTo>
                            <a:pt x="331" y="355"/>
                          </a:lnTo>
                          <a:lnTo>
                            <a:pt x="292" y="373"/>
                          </a:lnTo>
                          <a:lnTo>
                            <a:pt x="245" y="386"/>
                          </a:lnTo>
                          <a:lnTo>
                            <a:pt x="207" y="390"/>
                          </a:lnTo>
                          <a:lnTo>
                            <a:pt x="165" y="376"/>
                          </a:lnTo>
                          <a:lnTo>
                            <a:pt x="125" y="360"/>
                          </a:lnTo>
                          <a:lnTo>
                            <a:pt x="87" y="327"/>
                          </a:lnTo>
                          <a:lnTo>
                            <a:pt x="59" y="311"/>
                          </a:lnTo>
                          <a:lnTo>
                            <a:pt x="29" y="291"/>
                          </a:lnTo>
                          <a:lnTo>
                            <a:pt x="13" y="265"/>
                          </a:lnTo>
                          <a:lnTo>
                            <a:pt x="1" y="235"/>
                          </a:lnTo>
                          <a:lnTo>
                            <a:pt x="0" y="199"/>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1" name="Freeform 212">
                      <a:extLst>
                        <a:ext uri="{FF2B5EF4-FFF2-40B4-BE49-F238E27FC236}">
                          <a16:creationId xmlns:a16="http://schemas.microsoft.com/office/drawing/2014/main" id="{3A480FE2-0AAA-4A94-99C8-0A2FA535AF35}"/>
                        </a:ext>
                      </a:extLst>
                    </p:cNvPr>
                    <p:cNvSpPr>
                      <a:spLocks/>
                    </p:cNvSpPr>
                    <p:nvPr/>
                  </p:nvSpPr>
                  <p:spPr bwMode="auto">
                    <a:xfrm>
                      <a:off x="2904" y="3922"/>
                      <a:ext cx="29" cy="32"/>
                    </a:xfrm>
                    <a:custGeom>
                      <a:avLst/>
                      <a:gdLst>
                        <a:gd name="T0" fmla="*/ 0 w 350"/>
                        <a:gd name="T1" fmla="*/ 0 h 390"/>
                        <a:gd name="T2" fmla="*/ 0 w 350"/>
                        <a:gd name="T3" fmla="*/ 0 h 390"/>
                        <a:gd name="T4" fmla="*/ 0 w 350"/>
                        <a:gd name="T5" fmla="*/ 0 h 390"/>
                        <a:gd name="T6" fmla="*/ 0 w 350"/>
                        <a:gd name="T7" fmla="*/ 0 h 390"/>
                        <a:gd name="T8" fmla="*/ 0 w 350"/>
                        <a:gd name="T9" fmla="*/ 0 h 390"/>
                        <a:gd name="T10" fmla="*/ 0 w 350"/>
                        <a:gd name="T11" fmla="*/ 0 h 390"/>
                        <a:gd name="T12" fmla="*/ 0 w 350"/>
                        <a:gd name="T13" fmla="*/ 0 h 390"/>
                        <a:gd name="T14" fmla="*/ 0 w 350"/>
                        <a:gd name="T15" fmla="*/ 0 h 390"/>
                        <a:gd name="T16" fmla="*/ 0 w 350"/>
                        <a:gd name="T17" fmla="*/ 0 h 390"/>
                        <a:gd name="T18" fmla="*/ 0 w 350"/>
                        <a:gd name="T19" fmla="*/ 0 h 390"/>
                        <a:gd name="T20" fmla="*/ 0 w 350"/>
                        <a:gd name="T21" fmla="*/ 0 h 390"/>
                        <a:gd name="T22" fmla="*/ 0 w 350"/>
                        <a:gd name="T23" fmla="*/ 0 h 390"/>
                        <a:gd name="T24" fmla="*/ 0 w 350"/>
                        <a:gd name="T25" fmla="*/ 0 h 390"/>
                        <a:gd name="T26" fmla="*/ 0 w 350"/>
                        <a:gd name="T27" fmla="*/ 0 h 390"/>
                        <a:gd name="T28" fmla="*/ 0 w 350"/>
                        <a:gd name="T29" fmla="*/ 0 h 390"/>
                        <a:gd name="T30" fmla="*/ 0 w 350"/>
                        <a:gd name="T31" fmla="*/ 0 h 390"/>
                        <a:gd name="T32" fmla="*/ 0 w 350"/>
                        <a:gd name="T33" fmla="*/ 0 h 390"/>
                        <a:gd name="T34" fmla="*/ 0 w 350"/>
                        <a:gd name="T35" fmla="*/ 0 h 390"/>
                        <a:gd name="T36" fmla="*/ 0 w 350"/>
                        <a:gd name="T37" fmla="*/ 0 h 390"/>
                        <a:gd name="T38" fmla="*/ 0 w 350"/>
                        <a:gd name="T39" fmla="*/ 0 h 390"/>
                        <a:gd name="T40" fmla="*/ 0 w 350"/>
                        <a:gd name="T41" fmla="*/ 0 h 390"/>
                        <a:gd name="T42" fmla="*/ 0 w 350"/>
                        <a:gd name="T43" fmla="*/ 0 h 390"/>
                        <a:gd name="T44" fmla="*/ 0 w 350"/>
                        <a:gd name="T45" fmla="*/ 0 h 390"/>
                        <a:gd name="T46" fmla="*/ 0 w 350"/>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0"/>
                        <a:gd name="T73" fmla="*/ 0 h 390"/>
                        <a:gd name="T74" fmla="*/ 350 w 350"/>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0" h="390">
                          <a:moveTo>
                            <a:pt x="0" y="0"/>
                          </a:moveTo>
                          <a:lnTo>
                            <a:pt x="82" y="9"/>
                          </a:lnTo>
                          <a:lnTo>
                            <a:pt x="134" y="25"/>
                          </a:lnTo>
                          <a:lnTo>
                            <a:pt x="176" y="51"/>
                          </a:lnTo>
                          <a:lnTo>
                            <a:pt x="217" y="77"/>
                          </a:lnTo>
                          <a:lnTo>
                            <a:pt x="239" y="104"/>
                          </a:lnTo>
                          <a:lnTo>
                            <a:pt x="267" y="130"/>
                          </a:lnTo>
                          <a:lnTo>
                            <a:pt x="296" y="178"/>
                          </a:lnTo>
                          <a:lnTo>
                            <a:pt x="319" y="223"/>
                          </a:lnTo>
                          <a:lnTo>
                            <a:pt x="335" y="257"/>
                          </a:lnTo>
                          <a:lnTo>
                            <a:pt x="350" y="287"/>
                          </a:lnTo>
                          <a:lnTo>
                            <a:pt x="350" y="323"/>
                          </a:lnTo>
                          <a:lnTo>
                            <a:pt x="331" y="355"/>
                          </a:lnTo>
                          <a:lnTo>
                            <a:pt x="292" y="373"/>
                          </a:lnTo>
                          <a:lnTo>
                            <a:pt x="245" y="386"/>
                          </a:lnTo>
                          <a:lnTo>
                            <a:pt x="207" y="390"/>
                          </a:lnTo>
                          <a:lnTo>
                            <a:pt x="165" y="376"/>
                          </a:lnTo>
                          <a:lnTo>
                            <a:pt x="125" y="360"/>
                          </a:lnTo>
                          <a:lnTo>
                            <a:pt x="87" y="327"/>
                          </a:lnTo>
                          <a:lnTo>
                            <a:pt x="59" y="311"/>
                          </a:lnTo>
                          <a:lnTo>
                            <a:pt x="29" y="291"/>
                          </a:lnTo>
                          <a:lnTo>
                            <a:pt x="13" y="265"/>
                          </a:lnTo>
                          <a:lnTo>
                            <a:pt x="1" y="235"/>
                          </a:lnTo>
                          <a:lnTo>
                            <a:pt x="0" y="19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76" name="Group 213">
                    <a:extLst>
                      <a:ext uri="{FF2B5EF4-FFF2-40B4-BE49-F238E27FC236}">
                        <a16:creationId xmlns:a16="http://schemas.microsoft.com/office/drawing/2014/main" id="{9E354DAA-D8E6-4A3C-896A-F08BAEAAC0AE}"/>
                      </a:ext>
                    </a:extLst>
                  </p:cNvPr>
                  <p:cNvGrpSpPr>
                    <a:grpSpLocks/>
                  </p:cNvGrpSpPr>
                  <p:nvPr/>
                </p:nvGrpSpPr>
                <p:grpSpPr bwMode="auto">
                  <a:xfrm>
                    <a:off x="2858" y="3967"/>
                    <a:ext cx="62" cy="36"/>
                    <a:chOff x="2858" y="3967"/>
                    <a:chExt cx="62" cy="36"/>
                  </a:xfrm>
                </p:grpSpPr>
                <p:sp>
                  <p:nvSpPr>
                    <p:cNvPr id="178" name="Freeform 214">
                      <a:extLst>
                        <a:ext uri="{FF2B5EF4-FFF2-40B4-BE49-F238E27FC236}">
                          <a16:creationId xmlns:a16="http://schemas.microsoft.com/office/drawing/2014/main" id="{495ED8B4-6C58-471D-8819-77A0A261B461}"/>
                        </a:ext>
                      </a:extLst>
                    </p:cNvPr>
                    <p:cNvSpPr>
                      <a:spLocks/>
                    </p:cNvSpPr>
                    <p:nvPr/>
                  </p:nvSpPr>
                  <p:spPr bwMode="auto">
                    <a:xfrm>
                      <a:off x="2858" y="3967"/>
                      <a:ext cx="62" cy="36"/>
                    </a:xfrm>
                    <a:custGeom>
                      <a:avLst/>
                      <a:gdLst>
                        <a:gd name="T0" fmla="*/ 0 w 738"/>
                        <a:gd name="T1" fmla="*/ 0 h 432"/>
                        <a:gd name="T2" fmla="*/ 0 w 738"/>
                        <a:gd name="T3" fmla="*/ 0 h 432"/>
                        <a:gd name="T4" fmla="*/ 0 w 738"/>
                        <a:gd name="T5" fmla="*/ 0 h 432"/>
                        <a:gd name="T6" fmla="*/ 0 w 738"/>
                        <a:gd name="T7" fmla="*/ 0 h 432"/>
                        <a:gd name="T8" fmla="*/ 0 w 738"/>
                        <a:gd name="T9" fmla="*/ 0 h 432"/>
                        <a:gd name="T10" fmla="*/ 0 w 738"/>
                        <a:gd name="T11" fmla="*/ 0 h 432"/>
                        <a:gd name="T12" fmla="*/ 0 w 738"/>
                        <a:gd name="T13" fmla="*/ 0 h 432"/>
                        <a:gd name="T14" fmla="*/ 0 w 738"/>
                        <a:gd name="T15" fmla="*/ 0 h 432"/>
                        <a:gd name="T16" fmla="*/ 0 w 738"/>
                        <a:gd name="T17" fmla="*/ 0 h 432"/>
                        <a:gd name="T18" fmla="*/ 0 w 738"/>
                        <a:gd name="T19" fmla="*/ 0 h 432"/>
                        <a:gd name="T20" fmla="*/ 0 w 738"/>
                        <a:gd name="T21" fmla="*/ 0 h 432"/>
                        <a:gd name="T22" fmla="*/ 0 w 738"/>
                        <a:gd name="T23" fmla="*/ 0 h 432"/>
                        <a:gd name="T24" fmla="*/ 0 w 738"/>
                        <a:gd name="T25" fmla="*/ 0 h 432"/>
                        <a:gd name="T26" fmla="*/ 0 w 738"/>
                        <a:gd name="T27" fmla="*/ 0 h 432"/>
                        <a:gd name="T28" fmla="*/ 0 w 738"/>
                        <a:gd name="T29" fmla="*/ 0 h 432"/>
                        <a:gd name="T30" fmla="*/ 0 w 738"/>
                        <a:gd name="T31" fmla="*/ 0 h 432"/>
                        <a:gd name="T32" fmla="*/ 0 w 738"/>
                        <a:gd name="T33" fmla="*/ 0 h 432"/>
                        <a:gd name="T34" fmla="*/ 0 w 738"/>
                        <a:gd name="T35" fmla="*/ 0 h 432"/>
                        <a:gd name="T36" fmla="*/ 0 w 738"/>
                        <a:gd name="T37" fmla="*/ 0 h 432"/>
                        <a:gd name="T38" fmla="*/ 0 w 738"/>
                        <a:gd name="T39" fmla="*/ 0 h 432"/>
                        <a:gd name="T40" fmla="*/ 0 w 738"/>
                        <a:gd name="T41" fmla="*/ 0 h 432"/>
                        <a:gd name="T42" fmla="*/ 0 w 738"/>
                        <a:gd name="T43" fmla="*/ 0 h 432"/>
                        <a:gd name="T44" fmla="*/ 0 w 738"/>
                        <a:gd name="T45" fmla="*/ 0 h 432"/>
                        <a:gd name="T46" fmla="*/ 0 w 738"/>
                        <a:gd name="T47" fmla="*/ 0 h 432"/>
                        <a:gd name="T48" fmla="*/ 0 w 738"/>
                        <a:gd name="T49" fmla="*/ 0 h 432"/>
                        <a:gd name="T50" fmla="*/ 0 w 738"/>
                        <a:gd name="T51" fmla="*/ 0 h 432"/>
                        <a:gd name="T52" fmla="*/ 0 w 738"/>
                        <a:gd name="T53" fmla="*/ 0 h 432"/>
                        <a:gd name="T54" fmla="*/ 0 w 738"/>
                        <a:gd name="T55" fmla="*/ 0 h 432"/>
                        <a:gd name="T56" fmla="*/ 0 w 738"/>
                        <a:gd name="T57" fmla="*/ 0 h 432"/>
                        <a:gd name="T58" fmla="*/ 0 w 738"/>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38"/>
                        <a:gd name="T91" fmla="*/ 0 h 432"/>
                        <a:gd name="T92" fmla="*/ 738 w 738"/>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38" h="432">
                          <a:moveTo>
                            <a:pt x="0" y="0"/>
                          </a:moveTo>
                          <a:lnTo>
                            <a:pt x="135" y="16"/>
                          </a:lnTo>
                          <a:lnTo>
                            <a:pt x="223" y="28"/>
                          </a:lnTo>
                          <a:lnTo>
                            <a:pt x="271" y="42"/>
                          </a:lnTo>
                          <a:lnTo>
                            <a:pt x="325" y="68"/>
                          </a:lnTo>
                          <a:lnTo>
                            <a:pt x="402" y="147"/>
                          </a:lnTo>
                          <a:lnTo>
                            <a:pt x="502" y="205"/>
                          </a:lnTo>
                          <a:lnTo>
                            <a:pt x="578" y="230"/>
                          </a:lnTo>
                          <a:lnTo>
                            <a:pt x="635" y="252"/>
                          </a:lnTo>
                          <a:lnTo>
                            <a:pt x="683" y="274"/>
                          </a:lnTo>
                          <a:lnTo>
                            <a:pt x="710" y="295"/>
                          </a:lnTo>
                          <a:lnTo>
                            <a:pt x="738" y="317"/>
                          </a:lnTo>
                          <a:lnTo>
                            <a:pt x="738" y="349"/>
                          </a:lnTo>
                          <a:lnTo>
                            <a:pt x="729" y="381"/>
                          </a:lnTo>
                          <a:lnTo>
                            <a:pt x="710" y="402"/>
                          </a:lnTo>
                          <a:lnTo>
                            <a:pt x="691" y="413"/>
                          </a:lnTo>
                          <a:lnTo>
                            <a:pt x="666" y="425"/>
                          </a:lnTo>
                          <a:lnTo>
                            <a:pt x="630" y="432"/>
                          </a:lnTo>
                          <a:lnTo>
                            <a:pt x="601" y="432"/>
                          </a:lnTo>
                          <a:lnTo>
                            <a:pt x="563" y="420"/>
                          </a:lnTo>
                          <a:lnTo>
                            <a:pt x="531" y="413"/>
                          </a:lnTo>
                          <a:lnTo>
                            <a:pt x="430" y="369"/>
                          </a:lnTo>
                          <a:lnTo>
                            <a:pt x="353" y="349"/>
                          </a:lnTo>
                          <a:lnTo>
                            <a:pt x="307" y="340"/>
                          </a:lnTo>
                          <a:lnTo>
                            <a:pt x="259" y="327"/>
                          </a:lnTo>
                          <a:lnTo>
                            <a:pt x="209" y="306"/>
                          </a:lnTo>
                          <a:lnTo>
                            <a:pt x="172" y="286"/>
                          </a:lnTo>
                          <a:lnTo>
                            <a:pt x="154" y="269"/>
                          </a:lnTo>
                          <a:lnTo>
                            <a:pt x="131"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9" name="Freeform 215">
                      <a:extLst>
                        <a:ext uri="{FF2B5EF4-FFF2-40B4-BE49-F238E27FC236}">
                          <a16:creationId xmlns:a16="http://schemas.microsoft.com/office/drawing/2014/main" id="{5703097E-F2FC-4B71-A40C-A9AC212546AF}"/>
                        </a:ext>
                      </a:extLst>
                    </p:cNvPr>
                    <p:cNvSpPr>
                      <a:spLocks/>
                    </p:cNvSpPr>
                    <p:nvPr/>
                  </p:nvSpPr>
                  <p:spPr bwMode="auto">
                    <a:xfrm>
                      <a:off x="2858" y="3967"/>
                      <a:ext cx="62" cy="36"/>
                    </a:xfrm>
                    <a:custGeom>
                      <a:avLst/>
                      <a:gdLst>
                        <a:gd name="T0" fmla="*/ 0 w 738"/>
                        <a:gd name="T1" fmla="*/ 0 h 432"/>
                        <a:gd name="T2" fmla="*/ 0 w 738"/>
                        <a:gd name="T3" fmla="*/ 0 h 432"/>
                        <a:gd name="T4" fmla="*/ 0 w 738"/>
                        <a:gd name="T5" fmla="*/ 0 h 432"/>
                        <a:gd name="T6" fmla="*/ 0 w 738"/>
                        <a:gd name="T7" fmla="*/ 0 h 432"/>
                        <a:gd name="T8" fmla="*/ 0 w 738"/>
                        <a:gd name="T9" fmla="*/ 0 h 432"/>
                        <a:gd name="T10" fmla="*/ 0 w 738"/>
                        <a:gd name="T11" fmla="*/ 0 h 432"/>
                        <a:gd name="T12" fmla="*/ 0 w 738"/>
                        <a:gd name="T13" fmla="*/ 0 h 432"/>
                        <a:gd name="T14" fmla="*/ 0 w 738"/>
                        <a:gd name="T15" fmla="*/ 0 h 432"/>
                        <a:gd name="T16" fmla="*/ 0 w 738"/>
                        <a:gd name="T17" fmla="*/ 0 h 432"/>
                        <a:gd name="T18" fmla="*/ 0 w 738"/>
                        <a:gd name="T19" fmla="*/ 0 h 432"/>
                        <a:gd name="T20" fmla="*/ 0 w 738"/>
                        <a:gd name="T21" fmla="*/ 0 h 432"/>
                        <a:gd name="T22" fmla="*/ 0 w 738"/>
                        <a:gd name="T23" fmla="*/ 0 h 432"/>
                        <a:gd name="T24" fmla="*/ 0 w 738"/>
                        <a:gd name="T25" fmla="*/ 0 h 432"/>
                        <a:gd name="T26" fmla="*/ 0 w 738"/>
                        <a:gd name="T27" fmla="*/ 0 h 432"/>
                        <a:gd name="T28" fmla="*/ 0 w 738"/>
                        <a:gd name="T29" fmla="*/ 0 h 432"/>
                        <a:gd name="T30" fmla="*/ 0 w 738"/>
                        <a:gd name="T31" fmla="*/ 0 h 432"/>
                        <a:gd name="T32" fmla="*/ 0 w 738"/>
                        <a:gd name="T33" fmla="*/ 0 h 432"/>
                        <a:gd name="T34" fmla="*/ 0 w 738"/>
                        <a:gd name="T35" fmla="*/ 0 h 432"/>
                        <a:gd name="T36" fmla="*/ 0 w 738"/>
                        <a:gd name="T37" fmla="*/ 0 h 432"/>
                        <a:gd name="T38" fmla="*/ 0 w 738"/>
                        <a:gd name="T39" fmla="*/ 0 h 432"/>
                        <a:gd name="T40" fmla="*/ 0 w 738"/>
                        <a:gd name="T41" fmla="*/ 0 h 432"/>
                        <a:gd name="T42" fmla="*/ 0 w 738"/>
                        <a:gd name="T43" fmla="*/ 0 h 432"/>
                        <a:gd name="T44" fmla="*/ 0 w 738"/>
                        <a:gd name="T45" fmla="*/ 0 h 432"/>
                        <a:gd name="T46" fmla="*/ 0 w 738"/>
                        <a:gd name="T47" fmla="*/ 0 h 432"/>
                        <a:gd name="T48" fmla="*/ 0 w 738"/>
                        <a:gd name="T49" fmla="*/ 0 h 432"/>
                        <a:gd name="T50" fmla="*/ 0 w 738"/>
                        <a:gd name="T51" fmla="*/ 0 h 432"/>
                        <a:gd name="T52" fmla="*/ 0 w 738"/>
                        <a:gd name="T53" fmla="*/ 0 h 432"/>
                        <a:gd name="T54" fmla="*/ 0 w 738"/>
                        <a:gd name="T55" fmla="*/ 0 h 432"/>
                        <a:gd name="T56" fmla="*/ 0 w 738"/>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38"/>
                        <a:gd name="T88" fmla="*/ 0 h 432"/>
                        <a:gd name="T89" fmla="*/ 738 w 738"/>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38" h="432">
                          <a:moveTo>
                            <a:pt x="0" y="0"/>
                          </a:moveTo>
                          <a:lnTo>
                            <a:pt x="135" y="16"/>
                          </a:lnTo>
                          <a:lnTo>
                            <a:pt x="223" y="28"/>
                          </a:lnTo>
                          <a:lnTo>
                            <a:pt x="271" y="42"/>
                          </a:lnTo>
                          <a:lnTo>
                            <a:pt x="325" y="68"/>
                          </a:lnTo>
                          <a:lnTo>
                            <a:pt x="402" y="147"/>
                          </a:lnTo>
                          <a:lnTo>
                            <a:pt x="502" y="205"/>
                          </a:lnTo>
                          <a:lnTo>
                            <a:pt x="578" y="230"/>
                          </a:lnTo>
                          <a:lnTo>
                            <a:pt x="635" y="252"/>
                          </a:lnTo>
                          <a:lnTo>
                            <a:pt x="683" y="274"/>
                          </a:lnTo>
                          <a:lnTo>
                            <a:pt x="710" y="295"/>
                          </a:lnTo>
                          <a:lnTo>
                            <a:pt x="738" y="317"/>
                          </a:lnTo>
                          <a:lnTo>
                            <a:pt x="738" y="349"/>
                          </a:lnTo>
                          <a:lnTo>
                            <a:pt x="729" y="381"/>
                          </a:lnTo>
                          <a:lnTo>
                            <a:pt x="710" y="402"/>
                          </a:lnTo>
                          <a:lnTo>
                            <a:pt x="691" y="413"/>
                          </a:lnTo>
                          <a:lnTo>
                            <a:pt x="666" y="425"/>
                          </a:lnTo>
                          <a:lnTo>
                            <a:pt x="630" y="432"/>
                          </a:lnTo>
                          <a:lnTo>
                            <a:pt x="601" y="432"/>
                          </a:lnTo>
                          <a:lnTo>
                            <a:pt x="563" y="420"/>
                          </a:lnTo>
                          <a:lnTo>
                            <a:pt x="531" y="413"/>
                          </a:lnTo>
                          <a:lnTo>
                            <a:pt x="430" y="369"/>
                          </a:lnTo>
                          <a:lnTo>
                            <a:pt x="353" y="349"/>
                          </a:lnTo>
                          <a:lnTo>
                            <a:pt x="307" y="340"/>
                          </a:lnTo>
                          <a:lnTo>
                            <a:pt x="259" y="327"/>
                          </a:lnTo>
                          <a:lnTo>
                            <a:pt x="209" y="306"/>
                          </a:lnTo>
                          <a:lnTo>
                            <a:pt x="172" y="286"/>
                          </a:lnTo>
                          <a:lnTo>
                            <a:pt x="154" y="269"/>
                          </a:lnTo>
                          <a:lnTo>
                            <a:pt x="131"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7" name="Freeform 216">
                    <a:extLst>
                      <a:ext uri="{FF2B5EF4-FFF2-40B4-BE49-F238E27FC236}">
                        <a16:creationId xmlns:a16="http://schemas.microsoft.com/office/drawing/2014/main" id="{42137954-5E9B-4281-BBE4-61C481B4816B}"/>
                      </a:ext>
                    </a:extLst>
                  </p:cNvPr>
                  <p:cNvSpPr>
                    <a:spLocks/>
                  </p:cNvSpPr>
                  <p:nvPr/>
                </p:nvSpPr>
                <p:spPr bwMode="auto">
                  <a:xfrm>
                    <a:off x="2904" y="3911"/>
                    <a:ext cx="34" cy="22"/>
                  </a:xfrm>
                  <a:custGeom>
                    <a:avLst/>
                    <a:gdLst>
                      <a:gd name="T0" fmla="*/ 0 w 412"/>
                      <a:gd name="T1" fmla="*/ 0 h 262"/>
                      <a:gd name="T2" fmla="*/ 0 w 412"/>
                      <a:gd name="T3" fmla="*/ 0 h 262"/>
                      <a:gd name="T4" fmla="*/ 0 w 412"/>
                      <a:gd name="T5" fmla="*/ 0 h 262"/>
                      <a:gd name="T6" fmla="*/ 0 w 412"/>
                      <a:gd name="T7" fmla="*/ 0 h 262"/>
                      <a:gd name="T8" fmla="*/ 0 w 412"/>
                      <a:gd name="T9" fmla="*/ 0 h 262"/>
                      <a:gd name="T10" fmla="*/ 0 w 412"/>
                      <a:gd name="T11" fmla="*/ 0 h 262"/>
                      <a:gd name="T12" fmla="*/ 0 w 412"/>
                      <a:gd name="T13" fmla="*/ 0 h 262"/>
                      <a:gd name="T14" fmla="*/ 0 w 412"/>
                      <a:gd name="T15" fmla="*/ 0 h 262"/>
                      <a:gd name="T16" fmla="*/ 0 w 412"/>
                      <a:gd name="T17" fmla="*/ 0 h 262"/>
                      <a:gd name="T18" fmla="*/ 0 w 412"/>
                      <a:gd name="T19" fmla="*/ 0 h 262"/>
                      <a:gd name="T20" fmla="*/ 0 w 412"/>
                      <a:gd name="T21" fmla="*/ 0 h 262"/>
                      <a:gd name="T22" fmla="*/ 0 w 412"/>
                      <a:gd name="T23" fmla="*/ 0 h 262"/>
                      <a:gd name="T24" fmla="*/ 0 w 412"/>
                      <a:gd name="T25" fmla="*/ 0 h 262"/>
                      <a:gd name="T26" fmla="*/ 0 w 412"/>
                      <a:gd name="T27" fmla="*/ 0 h 262"/>
                      <a:gd name="T28" fmla="*/ 0 w 412"/>
                      <a:gd name="T29" fmla="*/ 0 h 262"/>
                      <a:gd name="T30" fmla="*/ 0 w 412"/>
                      <a:gd name="T31" fmla="*/ 0 h 262"/>
                      <a:gd name="T32" fmla="*/ 0 w 412"/>
                      <a:gd name="T33" fmla="*/ 0 h 262"/>
                      <a:gd name="T34" fmla="*/ 0 w 412"/>
                      <a:gd name="T35" fmla="*/ 0 h 262"/>
                      <a:gd name="T36" fmla="*/ 0 w 412"/>
                      <a:gd name="T37" fmla="*/ 0 h 262"/>
                      <a:gd name="T38" fmla="*/ 0 w 412"/>
                      <a:gd name="T39" fmla="*/ 0 h 262"/>
                      <a:gd name="T40" fmla="*/ 0 w 412"/>
                      <a:gd name="T41" fmla="*/ 0 h 262"/>
                      <a:gd name="T42" fmla="*/ 0 w 412"/>
                      <a:gd name="T43" fmla="*/ 0 h 262"/>
                      <a:gd name="T44" fmla="*/ 0 w 412"/>
                      <a:gd name="T45" fmla="*/ 0 h 262"/>
                      <a:gd name="T46" fmla="*/ 0 w 412"/>
                      <a:gd name="T47" fmla="*/ 0 h 262"/>
                      <a:gd name="T48" fmla="*/ 0 w 412"/>
                      <a:gd name="T49" fmla="*/ 0 h 262"/>
                      <a:gd name="T50" fmla="*/ 0 w 412"/>
                      <a:gd name="T51" fmla="*/ 0 h 262"/>
                      <a:gd name="T52" fmla="*/ 0 w 412"/>
                      <a:gd name="T53" fmla="*/ 0 h 262"/>
                      <a:gd name="T54" fmla="*/ 0 w 412"/>
                      <a:gd name="T55" fmla="*/ 0 h 262"/>
                      <a:gd name="T56" fmla="*/ 0 w 412"/>
                      <a:gd name="T57" fmla="*/ 0 h 262"/>
                      <a:gd name="T58" fmla="*/ 0 w 412"/>
                      <a:gd name="T59" fmla="*/ 0 h 262"/>
                      <a:gd name="T60" fmla="*/ 0 w 412"/>
                      <a:gd name="T61" fmla="*/ 0 h 262"/>
                      <a:gd name="T62" fmla="*/ 0 w 412"/>
                      <a:gd name="T63" fmla="*/ 0 h 262"/>
                      <a:gd name="T64" fmla="*/ 0 w 412"/>
                      <a:gd name="T65" fmla="*/ 0 h 262"/>
                      <a:gd name="T66" fmla="*/ 0 w 412"/>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2"/>
                      <a:gd name="T103" fmla="*/ 0 h 262"/>
                      <a:gd name="T104" fmla="*/ 412 w 412"/>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2" h="262">
                        <a:moveTo>
                          <a:pt x="0" y="123"/>
                        </a:moveTo>
                        <a:lnTo>
                          <a:pt x="13" y="96"/>
                        </a:lnTo>
                        <a:lnTo>
                          <a:pt x="29" y="62"/>
                        </a:lnTo>
                        <a:lnTo>
                          <a:pt x="48" y="39"/>
                        </a:lnTo>
                        <a:lnTo>
                          <a:pt x="73" y="21"/>
                        </a:lnTo>
                        <a:lnTo>
                          <a:pt x="103" y="8"/>
                        </a:lnTo>
                        <a:lnTo>
                          <a:pt x="135" y="4"/>
                        </a:lnTo>
                        <a:lnTo>
                          <a:pt x="167" y="0"/>
                        </a:lnTo>
                        <a:lnTo>
                          <a:pt x="207" y="1"/>
                        </a:lnTo>
                        <a:lnTo>
                          <a:pt x="249" y="5"/>
                        </a:lnTo>
                        <a:lnTo>
                          <a:pt x="292" y="7"/>
                        </a:lnTo>
                        <a:lnTo>
                          <a:pt x="338" y="11"/>
                        </a:lnTo>
                        <a:lnTo>
                          <a:pt x="370" y="21"/>
                        </a:lnTo>
                        <a:lnTo>
                          <a:pt x="384" y="35"/>
                        </a:lnTo>
                        <a:lnTo>
                          <a:pt x="397" y="58"/>
                        </a:lnTo>
                        <a:lnTo>
                          <a:pt x="406" y="83"/>
                        </a:lnTo>
                        <a:lnTo>
                          <a:pt x="410" y="116"/>
                        </a:lnTo>
                        <a:lnTo>
                          <a:pt x="412" y="155"/>
                        </a:lnTo>
                        <a:lnTo>
                          <a:pt x="406" y="192"/>
                        </a:lnTo>
                        <a:lnTo>
                          <a:pt x="393" y="222"/>
                        </a:lnTo>
                        <a:lnTo>
                          <a:pt x="374" y="241"/>
                        </a:lnTo>
                        <a:lnTo>
                          <a:pt x="354" y="253"/>
                        </a:lnTo>
                        <a:lnTo>
                          <a:pt x="326" y="260"/>
                        </a:lnTo>
                        <a:lnTo>
                          <a:pt x="298" y="262"/>
                        </a:lnTo>
                        <a:lnTo>
                          <a:pt x="271" y="260"/>
                        </a:lnTo>
                        <a:lnTo>
                          <a:pt x="242" y="234"/>
                        </a:lnTo>
                        <a:lnTo>
                          <a:pt x="223" y="211"/>
                        </a:lnTo>
                        <a:lnTo>
                          <a:pt x="194" y="190"/>
                        </a:lnTo>
                        <a:lnTo>
                          <a:pt x="167" y="173"/>
                        </a:lnTo>
                        <a:lnTo>
                          <a:pt x="135" y="154"/>
                        </a:lnTo>
                        <a:lnTo>
                          <a:pt x="105" y="142"/>
                        </a:lnTo>
                        <a:lnTo>
                          <a:pt x="80" y="135"/>
                        </a:lnTo>
                        <a:lnTo>
                          <a:pt x="57" y="132"/>
                        </a:lnTo>
                        <a:lnTo>
                          <a:pt x="0" y="123"/>
                        </a:lnTo>
                        <a:close/>
                      </a:path>
                    </a:pathLst>
                  </a:custGeom>
                  <a:solidFill>
                    <a:srgbClr val="FFC0C0"/>
                  </a:solidFill>
                  <a:ln w="1588">
                    <a:solidFill>
                      <a:srgbClr val="000000"/>
                    </a:solidFill>
                    <a:prstDash val="solid"/>
                    <a:round/>
                    <a:headEnd/>
                    <a:tailEnd/>
                  </a:ln>
                </p:spPr>
                <p:txBody>
                  <a:bodyPr/>
                  <a:lstStyle/>
                  <a:p>
                    <a:endParaRPr lang="en-US"/>
                  </a:p>
                </p:txBody>
              </p:sp>
            </p:grpSp>
          </p:grpSp>
        </p:grpSp>
        <p:grpSp>
          <p:nvGrpSpPr>
            <p:cNvPr id="164" name="Group 286">
              <a:extLst>
                <a:ext uri="{FF2B5EF4-FFF2-40B4-BE49-F238E27FC236}">
                  <a16:creationId xmlns:a16="http://schemas.microsoft.com/office/drawing/2014/main" id="{B365E3E1-C934-4164-BB03-743A1E048EF7}"/>
                </a:ext>
              </a:extLst>
            </p:cNvPr>
            <p:cNvGrpSpPr>
              <a:grpSpLocks/>
            </p:cNvGrpSpPr>
            <p:nvPr/>
          </p:nvGrpSpPr>
          <p:grpSpPr bwMode="auto">
            <a:xfrm>
              <a:off x="2863" y="3304"/>
              <a:ext cx="97" cy="496"/>
              <a:chOff x="2863" y="3304"/>
              <a:chExt cx="97" cy="496"/>
            </a:xfrm>
          </p:grpSpPr>
          <p:sp>
            <p:nvSpPr>
              <p:cNvPr id="167" name="Line 287">
                <a:extLst>
                  <a:ext uri="{FF2B5EF4-FFF2-40B4-BE49-F238E27FC236}">
                    <a16:creationId xmlns:a16="http://schemas.microsoft.com/office/drawing/2014/main" id="{20381D20-7458-438D-B26E-29961904032E}"/>
                  </a:ext>
                </a:extLst>
              </p:cNvPr>
              <p:cNvSpPr>
                <a:spLocks noChangeShapeType="1"/>
              </p:cNvSpPr>
              <p:nvPr/>
            </p:nvSpPr>
            <p:spPr bwMode="auto">
              <a:xfrm flipH="1" flipV="1">
                <a:off x="2887" y="3304"/>
                <a:ext cx="73" cy="4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8" name="Freeform 288">
                <a:extLst>
                  <a:ext uri="{FF2B5EF4-FFF2-40B4-BE49-F238E27FC236}">
                    <a16:creationId xmlns:a16="http://schemas.microsoft.com/office/drawing/2014/main" id="{726325BA-A4EE-4AA9-B662-293E9016178A}"/>
                  </a:ext>
                </a:extLst>
              </p:cNvPr>
              <p:cNvSpPr>
                <a:spLocks/>
              </p:cNvSpPr>
              <p:nvPr/>
            </p:nvSpPr>
            <p:spPr bwMode="auto">
              <a:xfrm>
                <a:off x="2863" y="3305"/>
                <a:ext cx="69" cy="73"/>
              </a:xfrm>
              <a:custGeom>
                <a:avLst/>
                <a:gdLst>
                  <a:gd name="T0" fmla="*/ 69 w 69"/>
                  <a:gd name="T1" fmla="*/ 64 h 73"/>
                  <a:gd name="T2" fmla="*/ 25 w 69"/>
                  <a:gd name="T3" fmla="*/ 0 h 73"/>
                  <a:gd name="T4" fmla="*/ 0 w 69"/>
                  <a:gd name="T5" fmla="*/ 73 h 73"/>
                  <a:gd name="T6" fmla="*/ 0 60000 65536"/>
                  <a:gd name="T7" fmla="*/ 0 60000 65536"/>
                  <a:gd name="T8" fmla="*/ 0 60000 65536"/>
                  <a:gd name="T9" fmla="*/ 0 w 69"/>
                  <a:gd name="T10" fmla="*/ 0 h 73"/>
                  <a:gd name="T11" fmla="*/ 69 w 69"/>
                  <a:gd name="T12" fmla="*/ 73 h 73"/>
                </a:gdLst>
                <a:ahLst/>
                <a:cxnLst>
                  <a:cxn ang="T6">
                    <a:pos x="T0" y="T1"/>
                  </a:cxn>
                  <a:cxn ang="T7">
                    <a:pos x="T2" y="T3"/>
                  </a:cxn>
                  <a:cxn ang="T8">
                    <a:pos x="T4" y="T5"/>
                  </a:cxn>
                </a:cxnLst>
                <a:rect l="T9" t="T10" r="T11" b="T12"/>
                <a:pathLst>
                  <a:path w="69" h="73">
                    <a:moveTo>
                      <a:pt x="69" y="64"/>
                    </a:moveTo>
                    <a:lnTo>
                      <a:pt x="25" y="0"/>
                    </a:lnTo>
                    <a:lnTo>
                      <a:pt x="0" y="73"/>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65" name="Rectangle 294">
              <a:extLst>
                <a:ext uri="{FF2B5EF4-FFF2-40B4-BE49-F238E27FC236}">
                  <a16:creationId xmlns:a16="http://schemas.microsoft.com/office/drawing/2014/main" id="{41FCF268-4DEE-42D2-83FF-AE4104C4837A}"/>
                </a:ext>
              </a:extLst>
            </p:cNvPr>
            <p:cNvSpPr>
              <a:spLocks noChangeArrowheads="1"/>
            </p:cNvSpPr>
            <p:nvPr/>
          </p:nvSpPr>
          <p:spPr bwMode="auto">
            <a:xfrm>
              <a:off x="2779" y="3558"/>
              <a:ext cx="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f</a:t>
              </a:r>
              <a:r>
                <a:rPr lang="en-US" altLang="en-US" sz="1400" baseline="-25000" dirty="0">
                  <a:solidFill>
                    <a:srgbClr val="000000"/>
                  </a:solidFill>
                </a:rPr>
                <a:t>1</a:t>
              </a:r>
              <a:endParaRPr lang="en-US" altLang="en-US" sz="1400" baseline="-25000" dirty="0">
                <a:latin typeface="Arial" panose="020B0604020202020204" pitchFamily="34" charset="0"/>
              </a:endParaRPr>
            </a:p>
          </p:txBody>
        </p:sp>
        <p:sp>
          <p:nvSpPr>
            <p:cNvPr id="166" name="AutoShape 306" descr="Large grid">
              <a:extLst>
                <a:ext uri="{FF2B5EF4-FFF2-40B4-BE49-F238E27FC236}">
                  <a16:creationId xmlns:a16="http://schemas.microsoft.com/office/drawing/2014/main" id="{2DFAD8F3-D740-4BA3-86C3-C8593BADEE3C}"/>
                </a:ext>
              </a:extLst>
            </p:cNvPr>
            <p:cNvSpPr>
              <a:spLocks noChangeArrowheads="1"/>
            </p:cNvSpPr>
            <p:nvPr/>
          </p:nvSpPr>
          <p:spPr bwMode="auto">
            <a:xfrm>
              <a:off x="3188" y="2351"/>
              <a:ext cx="322" cy="182"/>
            </a:xfrm>
            <a:prstGeom prst="cube">
              <a:avLst>
                <a:gd name="adj" fmla="val 25000"/>
              </a:avLst>
            </a:prstGeom>
            <a:pattFill prst="lgGrid">
              <a:fgClr>
                <a:srgbClr val="FF00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nvGrpSpPr>
          <p:cNvPr id="234" name="Group 316">
            <a:extLst>
              <a:ext uri="{FF2B5EF4-FFF2-40B4-BE49-F238E27FC236}">
                <a16:creationId xmlns:a16="http://schemas.microsoft.com/office/drawing/2014/main" id="{0D49CD8A-D04E-47D7-A7CD-3566DDFA85D1}"/>
              </a:ext>
            </a:extLst>
          </p:cNvPr>
          <p:cNvGrpSpPr>
            <a:grpSpLocks/>
          </p:cNvGrpSpPr>
          <p:nvPr/>
        </p:nvGrpSpPr>
        <p:grpSpPr bwMode="auto">
          <a:xfrm>
            <a:off x="3501231" y="3082182"/>
            <a:ext cx="3476625" cy="1943100"/>
            <a:chOff x="1581" y="2351"/>
            <a:chExt cx="2190" cy="1224"/>
          </a:xfrm>
        </p:grpSpPr>
        <p:sp>
          <p:nvSpPr>
            <p:cNvPr id="235" name="Rectangle 32" descr="Wide upward diagonal">
              <a:extLst>
                <a:ext uri="{FF2B5EF4-FFF2-40B4-BE49-F238E27FC236}">
                  <a16:creationId xmlns:a16="http://schemas.microsoft.com/office/drawing/2014/main" id="{3DA7AA23-8EE7-4E52-ACEE-9C578A6B23ED}"/>
                </a:ext>
              </a:extLst>
            </p:cNvPr>
            <p:cNvSpPr>
              <a:spLocks noChangeArrowheads="1"/>
            </p:cNvSpPr>
            <p:nvPr/>
          </p:nvSpPr>
          <p:spPr bwMode="auto">
            <a:xfrm>
              <a:off x="1581" y="2447"/>
              <a:ext cx="404" cy="151"/>
            </a:xfrm>
            <a:prstGeom prst="rect">
              <a:avLst/>
            </a:prstGeom>
            <a:pattFill prst="wdUpDiag">
              <a:fgClr>
                <a:srgbClr val="FF66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36" name="Rectangle 33">
              <a:extLst>
                <a:ext uri="{FF2B5EF4-FFF2-40B4-BE49-F238E27FC236}">
                  <a16:creationId xmlns:a16="http://schemas.microsoft.com/office/drawing/2014/main" id="{40DA7978-4A0D-46A5-AE3D-167E5D2CC4F7}"/>
                </a:ext>
              </a:extLst>
            </p:cNvPr>
            <p:cNvSpPr>
              <a:spLocks noChangeArrowheads="1"/>
            </p:cNvSpPr>
            <p:nvPr/>
          </p:nvSpPr>
          <p:spPr bwMode="auto">
            <a:xfrm>
              <a:off x="1657" y="2450"/>
              <a:ext cx="29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User 3</a:t>
              </a:r>
              <a:endParaRPr lang="en-US" altLang="en-US" sz="1400" dirty="0">
                <a:latin typeface="Arial" panose="020B0604020202020204" pitchFamily="34" charset="0"/>
              </a:endParaRPr>
            </a:p>
          </p:txBody>
        </p:sp>
        <p:grpSp>
          <p:nvGrpSpPr>
            <p:cNvPr id="237" name="Group 217">
              <a:extLst>
                <a:ext uri="{FF2B5EF4-FFF2-40B4-BE49-F238E27FC236}">
                  <a16:creationId xmlns:a16="http://schemas.microsoft.com/office/drawing/2014/main" id="{96182195-D279-4050-B1E3-86FF091A73F2}"/>
                </a:ext>
              </a:extLst>
            </p:cNvPr>
            <p:cNvGrpSpPr>
              <a:grpSpLocks/>
            </p:cNvGrpSpPr>
            <p:nvPr/>
          </p:nvGrpSpPr>
          <p:grpSpPr bwMode="auto">
            <a:xfrm>
              <a:off x="3390" y="3298"/>
              <a:ext cx="193" cy="277"/>
              <a:chOff x="3390" y="3298"/>
              <a:chExt cx="193" cy="277"/>
            </a:xfrm>
          </p:grpSpPr>
          <p:sp>
            <p:nvSpPr>
              <p:cNvPr id="243" name="Rectangle 218">
                <a:extLst>
                  <a:ext uri="{FF2B5EF4-FFF2-40B4-BE49-F238E27FC236}">
                    <a16:creationId xmlns:a16="http://schemas.microsoft.com/office/drawing/2014/main" id="{86031DAB-4AAD-48BB-8EF1-7B6A3B19FE11}"/>
                  </a:ext>
                </a:extLst>
              </p:cNvPr>
              <p:cNvSpPr>
                <a:spLocks noChangeArrowheads="1"/>
              </p:cNvSpPr>
              <p:nvPr/>
            </p:nvSpPr>
            <p:spPr bwMode="auto">
              <a:xfrm>
                <a:off x="3390" y="3298"/>
                <a:ext cx="193" cy="277"/>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244" name="Group 219">
                <a:extLst>
                  <a:ext uri="{FF2B5EF4-FFF2-40B4-BE49-F238E27FC236}">
                    <a16:creationId xmlns:a16="http://schemas.microsoft.com/office/drawing/2014/main" id="{327ADB96-B966-482C-908C-E47A4A94B800}"/>
                  </a:ext>
                </a:extLst>
              </p:cNvPr>
              <p:cNvGrpSpPr>
                <a:grpSpLocks/>
              </p:cNvGrpSpPr>
              <p:nvPr/>
            </p:nvGrpSpPr>
            <p:grpSpPr bwMode="auto">
              <a:xfrm>
                <a:off x="3392" y="3299"/>
                <a:ext cx="191" cy="274"/>
                <a:chOff x="3392" y="3299"/>
                <a:chExt cx="191" cy="274"/>
              </a:xfrm>
            </p:grpSpPr>
            <p:grpSp>
              <p:nvGrpSpPr>
                <p:cNvPr id="245" name="Group 220">
                  <a:extLst>
                    <a:ext uri="{FF2B5EF4-FFF2-40B4-BE49-F238E27FC236}">
                      <a16:creationId xmlns:a16="http://schemas.microsoft.com/office/drawing/2014/main" id="{4B47161D-B7ED-4C42-8D12-4C89BECEFD3C}"/>
                    </a:ext>
                  </a:extLst>
                </p:cNvPr>
                <p:cNvGrpSpPr>
                  <a:grpSpLocks/>
                </p:cNvGrpSpPr>
                <p:nvPr/>
              </p:nvGrpSpPr>
              <p:grpSpPr bwMode="auto">
                <a:xfrm>
                  <a:off x="3392" y="3356"/>
                  <a:ext cx="165" cy="197"/>
                  <a:chOff x="3392" y="3356"/>
                  <a:chExt cx="165" cy="197"/>
                </a:xfrm>
              </p:grpSpPr>
              <p:sp>
                <p:nvSpPr>
                  <p:cNvPr id="298" name="Freeform 221">
                    <a:extLst>
                      <a:ext uri="{FF2B5EF4-FFF2-40B4-BE49-F238E27FC236}">
                        <a16:creationId xmlns:a16="http://schemas.microsoft.com/office/drawing/2014/main" id="{745980C3-7130-4099-BAA3-5C148BC2E996}"/>
                      </a:ext>
                    </a:extLst>
                  </p:cNvPr>
                  <p:cNvSpPr>
                    <a:spLocks/>
                  </p:cNvSpPr>
                  <p:nvPr/>
                </p:nvSpPr>
                <p:spPr bwMode="auto">
                  <a:xfrm>
                    <a:off x="3392" y="3356"/>
                    <a:ext cx="165"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200" y="1522"/>
                        </a:lnTo>
                        <a:lnTo>
                          <a:pt x="162" y="1459"/>
                        </a:lnTo>
                        <a:lnTo>
                          <a:pt x="153" y="1439"/>
                        </a:lnTo>
                        <a:lnTo>
                          <a:pt x="126" y="1376"/>
                        </a:lnTo>
                        <a:lnTo>
                          <a:pt x="116" y="1333"/>
                        </a:lnTo>
                        <a:lnTo>
                          <a:pt x="106" y="1292"/>
                        </a:lnTo>
                        <a:lnTo>
                          <a:pt x="88" y="1229"/>
                        </a:lnTo>
                        <a:lnTo>
                          <a:pt x="70" y="1188"/>
                        </a:lnTo>
                        <a:lnTo>
                          <a:pt x="42" y="1124"/>
                        </a:lnTo>
                        <a:lnTo>
                          <a:pt x="23" y="1061"/>
                        </a:lnTo>
                        <a:lnTo>
                          <a:pt x="16" y="1022"/>
                        </a:lnTo>
                        <a:lnTo>
                          <a:pt x="4" y="935"/>
                        </a:lnTo>
                        <a:lnTo>
                          <a:pt x="1" y="872"/>
                        </a:lnTo>
                        <a:lnTo>
                          <a:pt x="0" y="792"/>
                        </a:lnTo>
                        <a:lnTo>
                          <a:pt x="14" y="724"/>
                        </a:lnTo>
                        <a:lnTo>
                          <a:pt x="32" y="693"/>
                        </a:lnTo>
                        <a:lnTo>
                          <a:pt x="50" y="677"/>
                        </a:lnTo>
                        <a:lnTo>
                          <a:pt x="68" y="669"/>
                        </a:lnTo>
                        <a:lnTo>
                          <a:pt x="88" y="661"/>
                        </a:lnTo>
                        <a:lnTo>
                          <a:pt x="106" y="661"/>
                        </a:lnTo>
                        <a:lnTo>
                          <a:pt x="106" y="613"/>
                        </a:lnTo>
                        <a:lnTo>
                          <a:pt x="101" y="591"/>
                        </a:lnTo>
                        <a:lnTo>
                          <a:pt x="98" y="555"/>
                        </a:lnTo>
                        <a:lnTo>
                          <a:pt x="105" y="534"/>
                        </a:lnTo>
                        <a:lnTo>
                          <a:pt x="106" y="515"/>
                        </a:lnTo>
                        <a:lnTo>
                          <a:pt x="120" y="477"/>
                        </a:lnTo>
                        <a:lnTo>
                          <a:pt x="134" y="451"/>
                        </a:lnTo>
                        <a:lnTo>
                          <a:pt x="156" y="419"/>
                        </a:lnTo>
                        <a:lnTo>
                          <a:pt x="184" y="388"/>
                        </a:lnTo>
                        <a:lnTo>
                          <a:pt x="217" y="361"/>
                        </a:lnTo>
                        <a:lnTo>
                          <a:pt x="245" y="336"/>
                        </a:lnTo>
                        <a:lnTo>
                          <a:pt x="279" y="326"/>
                        </a:lnTo>
                        <a:lnTo>
                          <a:pt x="312" y="320"/>
                        </a:lnTo>
                        <a:lnTo>
                          <a:pt x="344" y="326"/>
                        </a:lnTo>
                        <a:lnTo>
                          <a:pt x="374" y="336"/>
                        </a:lnTo>
                        <a:lnTo>
                          <a:pt x="411" y="346"/>
                        </a:lnTo>
                        <a:lnTo>
                          <a:pt x="420" y="326"/>
                        </a:lnTo>
                        <a:lnTo>
                          <a:pt x="427" y="268"/>
                        </a:lnTo>
                        <a:lnTo>
                          <a:pt x="439" y="220"/>
                        </a:lnTo>
                        <a:lnTo>
                          <a:pt x="461" y="184"/>
                        </a:lnTo>
                        <a:lnTo>
                          <a:pt x="487" y="160"/>
                        </a:lnTo>
                        <a:lnTo>
                          <a:pt x="522" y="148"/>
                        </a:lnTo>
                        <a:lnTo>
                          <a:pt x="560" y="136"/>
                        </a:lnTo>
                        <a:lnTo>
                          <a:pt x="616" y="125"/>
                        </a:lnTo>
                        <a:lnTo>
                          <a:pt x="651" y="125"/>
                        </a:lnTo>
                        <a:lnTo>
                          <a:pt x="661" y="104"/>
                        </a:lnTo>
                        <a:lnTo>
                          <a:pt x="679" y="62"/>
                        </a:lnTo>
                        <a:lnTo>
                          <a:pt x="707" y="31"/>
                        </a:lnTo>
                        <a:lnTo>
                          <a:pt x="744" y="10"/>
                        </a:lnTo>
                        <a:lnTo>
                          <a:pt x="800" y="0"/>
                        </a:lnTo>
                        <a:lnTo>
                          <a:pt x="855" y="0"/>
                        </a:lnTo>
                        <a:lnTo>
                          <a:pt x="928" y="4"/>
                        </a:lnTo>
                        <a:lnTo>
                          <a:pt x="967" y="6"/>
                        </a:lnTo>
                        <a:lnTo>
                          <a:pt x="994" y="10"/>
                        </a:lnTo>
                        <a:lnTo>
                          <a:pt x="1019" y="17"/>
                        </a:lnTo>
                        <a:lnTo>
                          <a:pt x="1039" y="35"/>
                        </a:lnTo>
                        <a:lnTo>
                          <a:pt x="1052" y="57"/>
                        </a:lnTo>
                        <a:lnTo>
                          <a:pt x="1062" y="86"/>
                        </a:lnTo>
                        <a:lnTo>
                          <a:pt x="1067" y="136"/>
                        </a:lnTo>
                        <a:lnTo>
                          <a:pt x="1063" y="180"/>
                        </a:lnTo>
                        <a:lnTo>
                          <a:pt x="1047" y="218"/>
                        </a:lnTo>
                        <a:lnTo>
                          <a:pt x="1027" y="239"/>
                        </a:lnTo>
                        <a:lnTo>
                          <a:pt x="1003" y="252"/>
                        </a:lnTo>
                        <a:lnTo>
                          <a:pt x="974" y="260"/>
                        </a:lnTo>
                        <a:lnTo>
                          <a:pt x="923" y="258"/>
                        </a:lnTo>
                        <a:lnTo>
                          <a:pt x="939" y="281"/>
                        </a:lnTo>
                        <a:lnTo>
                          <a:pt x="962" y="323"/>
                        </a:lnTo>
                        <a:lnTo>
                          <a:pt x="980" y="357"/>
                        </a:lnTo>
                        <a:lnTo>
                          <a:pt x="995" y="399"/>
                        </a:lnTo>
                        <a:lnTo>
                          <a:pt x="1005" y="434"/>
                        </a:lnTo>
                        <a:lnTo>
                          <a:pt x="1000" y="457"/>
                        </a:lnTo>
                        <a:lnTo>
                          <a:pt x="980" y="482"/>
                        </a:lnTo>
                        <a:lnTo>
                          <a:pt x="1003" y="526"/>
                        </a:lnTo>
                        <a:lnTo>
                          <a:pt x="1029" y="567"/>
                        </a:lnTo>
                        <a:lnTo>
                          <a:pt x="1060" y="619"/>
                        </a:lnTo>
                        <a:lnTo>
                          <a:pt x="1109" y="667"/>
                        </a:lnTo>
                        <a:lnTo>
                          <a:pt x="1183" y="739"/>
                        </a:lnTo>
                        <a:lnTo>
                          <a:pt x="1251" y="822"/>
                        </a:lnTo>
                        <a:lnTo>
                          <a:pt x="1317" y="930"/>
                        </a:lnTo>
                        <a:lnTo>
                          <a:pt x="1373" y="1029"/>
                        </a:lnTo>
                        <a:lnTo>
                          <a:pt x="1419" y="1113"/>
                        </a:lnTo>
                        <a:lnTo>
                          <a:pt x="1433" y="1144"/>
                        </a:lnTo>
                        <a:lnTo>
                          <a:pt x="1436" y="1198"/>
                        </a:lnTo>
                        <a:lnTo>
                          <a:pt x="1451" y="1240"/>
                        </a:lnTo>
                        <a:lnTo>
                          <a:pt x="1473" y="1203"/>
                        </a:lnTo>
                        <a:lnTo>
                          <a:pt x="1517" y="1147"/>
                        </a:lnTo>
                        <a:lnTo>
                          <a:pt x="1575" y="1061"/>
                        </a:lnTo>
                        <a:lnTo>
                          <a:pt x="1613" y="1009"/>
                        </a:lnTo>
                        <a:lnTo>
                          <a:pt x="1630" y="977"/>
                        </a:lnTo>
                        <a:lnTo>
                          <a:pt x="1649" y="924"/>
                        </a:lnTo>
                        <a:lnTo>
                          <a:pt x="1666" y="889"/>
                        </a:lnTo>
                        <a:lnTo>
                          <a:pt x="1681" y="862"/>
                        </a:lnTo>
                        <a:lnTo>
                          <a:pt x="1702" y="833"/>
                        </a:lnTo>
                        <a:lnTo>
                          <a:pt x="1723" y="808"/>
                        </a:lnTo>
                        <a:lnTo>
                          <a:pt x="1764" y="767"/>
                        </a:lnTo>
                        <a:lnTo>
                          <a:pt x="1808" y="734"/>
                        </a:lnTo>
                        <a:lnTo>
                          <a:pt x="1852" y="713"/>
                        </a:lnTo>
                        <a:lnTo>
                          <a:pt x="1889" y="713"/>
                        </a:lnTo>
                        <a:lnTo>
                          <a:pt x="1924" y="717"/>
                        </a:lnTo>
                        <a:lnTo>
                          <a:pt x="1954" y="735"/>
                        </a:lnTo>
                        <a:lnTo>
                          <a:pt x="1974" y="774"/>
                        </a:lnTo>
                        <a:lnTo>
                          <a:pt x="1973" y="819"/>
                        </a:lnTo>
                        <a:lnTo>
                          <a:pt x="1973" y="839"/>
                        </a:lnTo>
                        <a:lnTo>
                          <a:pt x="1963" y="883"/>
                        </a:lnTo>
                        <a:lnTo>
                          <a:pt x="1945" y="903"/>
                        </a:lnTo>
                        <a:lnTo>
                          <a:pt x="1935" y="946"/>
                        </a:lnTo>
                        <a:lnTo>
                          <a:pt x="1917" y="1009"/>
                        </a:lnTo>
                        <a:lnTo>
                          <a:pt x="1917" y="1071"/>
                        </a:lnTo>
                        <a:lnTo>
                          <a:pt x="1908" y="1134"/>
                        </a:lnTo>
                        <a:lnTo>
                          <a:pt x="1904" y="1167"/>
                        </a:lnTo>
                        <a:lnTo>
                          <a:pt x="1896" y="1200"/>
                        </a:lnTo>
                        <a:lnTo>
                          <a:pt x="1876" y="1238"/>
                        </a:lnTo>
                        <a:lnTo>
                          <a:pt x="1852" y="1271"/>
                        </a:lnTo>
                        <a:lnTo>
                          <a:pt x="1835" y="1333"/>
                        </a:lnTo>
                        <a:lnTo>
                          <a:pt x="1807" y="1396"/>
                        </a:lnTo>
                        <a:lnTo>
                          <a:pt x="1723" y="1544"/>
                        </a:lnTo>
                        <a:lnTo>
                          <a:pt x="1649" y="1649"/>
                        </a:lnTo>
                        <a:lnTo>
                          <a:pt x="1594" y="1722"/>
                        </a:lnTo>
                        <a:lnTo>
                          <a:pt x="1585" y="1764"/>
                        </a:lnTo>
                        <a:lnTo>
                          <a:pt x="1575" y="1807"/>
                        </a:lnTo>
                        <a:lnTo>
                          <a:pt x="1558" y="1853"/>
                        </a:lnTo>
                        <a:lnTo>
                          <a:pt x="1545" y="1912"/>
                        </a:lnTo>
                        <a:lnTo>
                          <a:pt x="1519" y="1975"/>
                        </a:lnTo>
                        <a:lnTo>
                          <a:pt x="1473" y="2059"/>
                        </a:lnTo>
                        <a:lnTo>
                          <a:pt x="1428" y="2122"/>
                        </a:lnTo>
                        <a:lnTo>
                          <a:pt x="1400" y="2163"/>
                        </a:lnTo>
                        <a:lnTo>
                          <a:pt x="1381" y="2227"/>
                        </a:lnTo>
                        <a:lnTo>
                          <a:pt x="1363" y="2269"/>
                        </a:lnTo>
                        <a:lnTo>
                          <a:pt x="1333"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299" name="Group 222">
                    <a:extLst>
                      <a:ext uri="{FF2B5EF4-FFF2-40B4-BE49-F238E27FC236}">
                        <a16:creationId xmlns:a16="http://schemas.microsoft.com/office/drawing/2014/main" id="{D3FC89ED-5A02-497C-8CE3-EA10B22E9442}"/>
                      </a:ext>
                    </a:extLst>
                  </p:cNvPr>
                  <p:cNvGrpSpPr>
                    <a:grpSpLocks/>
                  </p:cNvGrpSpPr>
                  <p:nvPr/>
                </p:nvGrpSpPr>
                <p:grpSpPr bwMode="auto">
                  <a:xfrm>
                    <a:off x="3404" y="3410"/>
                    <a:ext cx="138" cy="45"/>
                    <a:chOff x="3404" y="3410"/>
                    <a:chExt cx="138" cy="45"/>
                  </a:xfrm>
                </p:grpSpPr>
                <p:sp>
                  <p:nvSpPr>
                    <p:cNvPr id="304" name="Freeform 223">
                      <a:extLst>
                        <a:ext uri="{FF2B5EF4-FFF2-40B4-BE49-F238E27FC236}">
                          <a16:creationId xmlns:a16="http://schemas.microsoft.com/office/drawing/2014/main" id="{F28F5DE8-A26D-4E5C-9BE3-488436833C17}"/>
                        </a:ext>
                      </a:extLst>
                    </p:cNvPr>
                    <p:cNvSpPr>
                      <a:spLocks/>
                    </p:cNvSpPr>
                    <p:nvPr/>
                  </p:nvSpPr>
                  <p:spPr bwMode="auto">
                    <a:xfrm>
                      <a:off x="3527" y="3447"/>
                      <a:ext cx="15" cy="8"/>
                    </a:xfrm>
                    <a:custGeom>
                      <a:avLst/>
                      <a:gdLst>
                        <a:gd name="T0" fmla="*/ 0 w 184"/>
                        <a:gd name="T1" fmla="*/ 0 h 96"/>
                        <a:gd name="T2" fmla="*/ 0 w 184"/>
                        <a:gd name="T3" fmla="*/ 0 h 96"/>
                        <a:gd name="T4" fmla="*/ 0 w 184"/>
                        <a:gd name="T5" fmla="*/ 0 h 96"/>
                        <a:gd name="T6" fmla="*/ 0 w 184"/>
                        <a:gd name="T7" fmla="*/ 0 h 96"/>
                        <a:gd name="T8" fmla="*/ 0 w 184"/>
                        <a:gd name="T9" fmla="*/ 0 h 96"/>
                        <a:gd name="T10" fmla="*/ 0 w 184"/>
                        <a:gd name="T11" fmla="*/ 0 h 96"/>
                        <a:gd name="T12" fmla="*/ 0 w 184"/>
                        <a:gd name="T13" fmla="*/ 0 h 96"/>
                        <a:gd name="T14" fmla="*/ 0 60000 65536"/>
                        <a:gd name="T15" fmla="*/ 0 60000 65536"/>
                        <a:gd name="T16" fmla="*/ 0 60000 65536"/>
                        <a:gd name="T17" fmla="*/ 0 60000 65536"/>
                        <a:gd name="T18" fmla="*/ 0 60000 65536"/>
                        <a:gd name="T19" fmla="*/ 0 60000 65536"/>
                        <a:gd name="T20" fmla="*/ 0 60000 65536"/>
                        <a:gd name="T21" fmla="*/ 0 w 184"/>
                        <a:gd name="T22" fmla="*/ 0 h 96"/>
                        <a:gd name="T23" fmla="*/ 184 w 184"/>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4" h="96">
                          <a:moveTo>
                            <a:pt x="0" y="0"/>
                          </a:moveTo>
                          <a:lnTo>
                            <a:pt x="37" y="21"/>
                          </a:lnTo>
                          <a:lnTo>
                            <a:pt x="65" y="52"/>
                          </a:lnTo>
                          <a:lnTo>
                            <a:pt x="100" y="85"/>
                          </a:lnTo>
                          <a:lnTo>
                            <a:pt x="128" y="96"/>
                          </a:lnTo>
                          <a:lnTo>
                            <a:pt x="138" y="96"/>
                          </a:lnTo>
                          <a:lnTo>
                            <a:pt x="184"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5" name="Freeform 224">
                      <a:extLst>
                        <a:ext uri="{FF2B5EF4-FFF2-40B4-BE49-F238E27FC236}">
                          <a16:creationId xmlns:a16="http://schemas.microsoft.com/office/drawing/2014/main" id="{4B573D20-323D-4ED8-9E49-3FAB54408E45}"/>
                        </a:ext>
                      </a:extLst>
                    </p:cNvPr>
                    <p:cNvSpPr>
                      <a:spLocks/>
                    </p:cNvSpPr>
                    <p:nvPr/>
                  </p:nvSpPr>
                  <p:spPr bwMode="auto">
                    <a:xfrm>
                      <a:off x="3404" y="3437"/>
                      <a:ext cx="7"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6" name="Freeform 225">
                      <a:extLst>
                        <a:ext uri="{FF2B5EF4-FFF2-40B4-BE49-F238E27FC236}">
                          <a16:creationId xmlns:a16="http://schemas.microsoft.com/office/drawing/2014/main" id="{5E89C8AE-449C-4C9E-96B6-99105DF393A2}"/>
                        </a:ext>
                      </a:extLst>
                    </p:cNvPr>
                    <p:cNvSpPr>
                      <a:spLocks/>
                    </p:cNvSpPr>
                    <p:nvPr/>
                  </p:nvSpPr>
                  <p:spPr bwMode="auto">
                    <a:xfrm>
                      <a:off x="3427" y="3412"/>
                      <a:ext cx="2" cy="4"/>
                    </a:xfrm>
                    <a:custGeom>
                      <a:avLst/>
                      <a:gdLst>
                        <a:gd name="T0" fmla="*/ 0 w 19"/>
                        <a:gd name="T1" fmla="*/ 0 h 44"/>
                        <a:gd name="T2" fmla="*/ 0 w 19"/>
                        <a:gd name="T3" fmla="*/ 0 h 44"/>
                        <a:gd name="T4" fmla="*/ 0 w 19"/>
                        <a:gd name="T5" fmla="*/ 0 h 44"/>
                        <a:gd name="T6" fmla="*/ 0 w 19"/>
                        <a:gd name="T7" fmla="*/ 0 h 44"/>
                        <a:gd name="T8" fmla="*/ 0 60000 65536"/>
                        <a:gd name="T9" fmla="*/ 0 60000 65536"/>
                        <a:gd name="T10" fmla="*/ 0 60000 65536"/>
                        <a:gd name="T11" fmla="*/ 0 60000 65536"/>
                        <a:gd name="T12" fmla="*/ 0 w 19"/>
                        <a:gd name="T13" fmla="*/ 0 h 44"/>
                        <a:gd name="T14" fmla="*/ 19 w 19"/>
                        <a:gd name="T15" fmla="*/ 44 h 44"/>
                      </a:gdLst>
                      <a:ahLst/>
                      <a:cxnLst>
                        <a:cxn ang="T8">
                          <a:pos x="T0" y="T1"/>
                        </a:cxn>
                        <a:cxn ang="T9">
                          <a:pos x="T2" y="T3"/>
                        </a:cxn>
                        <a:cxn ang="T10">
                          <a:pos x="T4" y="T5"/>
                        </a:cxn>
                        <a:cxn ang="T11">
                          <a:pos x="T6" y="T7"/>
                        </a:cxn>
                      </a:cxnLst>
                      <a:rect l="T12" t="T13" r="T14" b="T15"/>
                      <a:pathLst>
                        <a:path w="19" h="44">
                          <a:moveTo>
                            <a:pt x="0" y="0"/>
                          </a:moveTo>
                          <a:lnTo>
                            <a:pt x="19" y="18"/>
                          </a:lnTo>
                          <a:lnTo>
                            <a:pt x="17" y="29"/>
                          </a:lnTo>
                          <a:lnTo>
                            <a:pt x="19"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7" name="Freeform 226">
                      <a:extLst>
                        <a:ext uri="{FF2B5EF4-FFF2-40B4-BE49-F238E27FC236}">
                          <a16:creationId xmlns:a16="http://schemas.microsoft.com/office/drawing/2014/main" id="{2A3B86C5-FD27-45C6-9874-CCEEA12351DE}"/>
                        </a:ext>
                      </a:extLst>
                    </p:cNvPr>
                    <p:cNvSpPr>
                      <a:spLocks/>
                    </p:cNvSpPr>
                    <p:nvPr/>
                  </p:nvSpPr>
                  <p:spPr bwMode="auto">
                    <a:xfrm>
                      <a:off x="3421" y="3410"/>
                      <a:ext cx="15" cy="2"/>
                    </a:xfrm>
                    <a:custGeom>
                      <a:avLst/>
                      <a:gdLst>
                        <a:gd name="T0" fmla="*/ 0 w 179"/>
                        <a:gd name="T1" fmla="*/ 0 h 23"/>
                        <a:gd name="T2" fmla="*/ 0 w 179"/>
                        <a:gd name="T3" fmla="*/ 0 h 23"/>
                        <a:gd name="T4" fmla="*/ 0 w 179"/>
                        <a:gd name="T5" fmla="*/ 0 h 23"/>
                        <a:gd name="T6" fmla="*/ 0 w 179"/>
                        <a:gd name="T7" fmla="*/ 0 h 23"/>
                        <a:gd name="T8" fmla="*/ 0 w 179"/>
                        <a:gd name="T9" fmla="*/ 0 h 23"/>
                        <a:gd name="T10" fmla="*/ 0 60000 65536"/>
                        <a:gd name="T11" fmla="*/ 0 60000 65536"/>
                        <a:gd name="T12" fmla="*/ 0 60000 65536"/>
                        <a:gd name="T13" fmla="*/ 0 60000 65536"/>
                        <a:gd name="T14" fmla="*/ 0 60000 65536"/>
                        <a:gd name="T15" fmla="*/ 0 w 179"/>
                        <a:gd name="T16" fmla="*/ 0 h 23"/>
                        <a:gd name="T17" fmla="*/ 179 w 179"/>
                        <a:gd name="T18" fmla="*/ 23 h 23"/>
                      </a:gdLst>
                      <a:ahLst/>
                      <a:cxnLst>
                        <a:cxn ang="T10">
                          <a:pos x="T0" y="T1"/>
                        </a:cxn>
                        <a:cxn ang="T11">
                          <a:pos x="T2" y="T3"/>
                        </a:cxn>
                        <a:cxn ang="T12">
                          <a:pos x="T4" y="T5"/>
                        </a:cxn>
                        <a:cxn ang="T13">
                          <a:pos x="T6" y="T7"/>
                        </a:cxn>
                        <a:cxn ang="T14">
                          <a:pos x="T8" y="T9"/>
                        </a:cxn>
                      </a:cxnLst>
                      <a:rect l="T15" t="T16" r="T17" b="T18"/>
                      <a:pathLst>
                        <a:path w="179" h="23">
                          <a:moveTo>
                            <a:pt x="179" y="12"/>
                          </a:moveTo>
                          <a:lnTo>
                            <a:pt x="151" y="23"/>
                          </a:lnTo>
                          <a:lnTo>
                            <a:pt x="40" y="23"/>
                          </a:lnTo>
                          <a:lnTo>
                            <a:pt x="18" y="11"/>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00" name="Group 227">
                    <a:extLst>
                      <a:ext uri="{FF2B5EF4-FFF2-40B4-BE49-F238E27FC236}">
                        <a16:creationId xmlns:a16="http://schemas.microsoft.com/office/drawing/2014/main" id="{68AC2AD0-9B25-4A7A-B0C2-599BF0D327DF}"/>
                      </a:ext>
                    </a:extLst>
                  </p:cNvPr>
                  <p:cNvGrpSpPr>
                    <a:grpSpLocks/>
                  </p:cNvGrpSpPr>
                  <p:nvPr/>
                </p:nvGrpSpPr>
                <p:grpSpPr bwMode="auto">
                  <a:xfrm>
                    <a:off x="3419" y="3401"/>
                    <a:ext cx="95" cy="91"/>
                    <a:chOff x="3419" y="3401"/>
                    <a:chExt cx="95" cy="91"/>
                  </a:xfrm>
                </p:grpSpPr>
                <p:sp>
                  <p:nvSpPr>
                    <p:cNvPr id="301" name="Freeform 228">
                      <a:extLst>
                        <a:ext uri="{FF2B5EF4-FFF2-40B4-BE49-F238E27FC236}">
                          <a16:creationId xmlns:a16="http://schemas.microsoft.com/office/drawing/2014/main" id="{B8A69786-2BAC-4BAD-B800-BCF293C5BA5A}"/>
                        </a:ext>
                      </a:extLst>
                    </p:cNvPr>
                    <p:cNvSpPr>
                      <a:spLocks/>
                    </p:cNvSpPr>
                    <p:nvPr/>
                  </p:nvSpPr>
                  <p:spPr bwMode="auto">
                    <a:xfrm>
                      <a:off x="3425" y="3418"/>
                      <a:ext cx="89" cy="74"/>
                    </a:xfrm>
                    <a:custGeom>
                      <a:avLst/>
                      <a:gdLst>
                        <a:gd name="T0" fmla="*/ 0 w 1060"/>
                        <a:gd name="T1" fmla="*/ 0 h 894"/>
                        <a:gd name="T2" fmla="*/ 0 w 1060"/>
                        <a:gd name="T3" fmla="*/ 0 h 894"/>
                        <a:gd name="T4" fmla="*/ 0 w 1060"/>
                        <a:gd name="T5" fmla="*/ 0 h 894"/>
                        <a:gd name="T6" fmla="*/ 0 w 1060"/>
                        <a:gd name="T7" fmla="*/ 0 h 894"/>
                        <a:gd name="T8" fmla="*/ 0 w 1060"/>
                        <a:gd name="T9" fmla="*/ 0 h 894"/>
                        <a:gd name="T10" fmla="*/ 0 w 1060"/>
                        <a:gd name="T11" fmla="*/ 0 h 894"/>
                        <a:gd name="T12" fmla="*/ 0 w 1060"/>
                        <a:gd name="T13" fmla="*/ 0 h 894"/>
                        <a:gd name="T14" fmla="*/ 0 w 1060"/>
                        <a:gd name="T15" fmla="*/ 0 h 894"/>
                        <a:gd name="T16" fmla="*/ 0 w 1060"/>
                        <a:gd name="T17" fmla="*/ 0 h 894"/>
                        <a:gd name="T18" fmla="*/ 0 w 1060"/>
                        <a:gd name="T19" fmla="*/ 0 h 894"/>
                        <a:gd name="T20" fmla="*/ 0 w 1060"/>
                        <a:gd name="T21" fmla="*/ 0 h 894"/>
                        <a:gd name="T22" fmla="*/ 0 w 1060"/>
                        <a:gd name="T23" fmla="*/ 0 h 894"/>
                        <a:gd name="T24" fmla="*/ 0 w 1060"/>
                        <a:gd name="T25" fmla="*/ 0 h 894"/>
                        <a:gd name="T26" fmla="*/ 0 w 1060"/>
                        <a:gd name="T27" fmla="*/ 0 h 894"/>
                        <a:gd name="T28" fmla="*/ 0 w 1060"/>
                        <a:gd name="T29" fmla="*/ 0 h 894"/>
                        <a:gd name="T30" fmla="*/ 0 w 1060"/>
                        <a:gd name="T31" fmla="*/ 0 h 894"/>
                        <a:gd name="T32" fmla="*/ 0 w 1060"/>
                        <a:gd name="T33" fmla="*/ 0 h 894"/>
                        <a:gd name="T34" fmla="*/ 0 w 1060"/>
                        <a:gd name="T35" fmla="*/ 0 h 894"/>
                        <a:gd name="T36" fmla="*/ 0 w 1060"/>
                        <a:gd name="T37" fmla="*/ 0 h 894"/>
                        <a:gd name="T38" fmla="*/ 0 w 1060"/>
                        <a:gd name="T39" fmla="*/ 0 h 894"/>
                        <a:gd name="T40" fmla="*/ 0 w 1060"/>
                        <a:gd name="T41" fmla="*/ 0 h 894"/>
                        <a:gd name="T42" fmla="*/ 0 w 1060"/>
                        <a:gd name="T43" fmla="*/ 0 h 894"/>
                        <a:gd name="T44" fmla="*/ 0 w 1060"/>
                        <a:gd name="T45" fmla="*/ 0 h 894"/>
                        <a:gd name="T46" fmla="*/ 0 w 1060"/>
                        <a:gd name="T47" fmla="*/ 0 h 894"/>
                        <a:gd name="T48" fmla="*/ 0 w 1060"/>
                        <a:gd name="T49" fmla="*/ 0 h 894"/>
                        <a:gd name="T50" fmla="*/ 0 w 1060"/>
                        <a:gd name="T51" fmla="*/ 0 h 894"/>
                        <a:gd name="T52" fmla="*/ 0 w 1060"/>
                        <a:gd name="T53" fmla="*/ 0 h 894"/>
                        <a:gd name="T54" fmla="*/ 0 w 1060"/>
                        <a:gd name="T55" fmla="*/ 0 h 894"/>
                        <a:gd name="T56" fmla="*/ 0 w 1060"/>
                        <a:gd name="T57" fmla="*/ 0 h 894"/>
                        <a:gd name="T58" fmla="*/ 0 w 1060"/>
                        <a:gd name="T59" fmla="*/ 0 h 894"/>
                        <a:gd name="T60" fmla="*/ 0 w 1060"/>
                        <a:gd name="T61" fmla="*/ 0 h 894"/>
                        <a:gd name="T62" fmla="*/ 0 w 1060"/>
                        <a:gd name="T63" fmla="*/ 0 h 894"/>
                        <a:gd name="T64" fmla="*/ 0 w 1060"/>
                        <a:gd name="T65" fmla="*/ 0 h 894"/>
                        <a:gd name="T66" fmla="*/ 0 w 1060"/>
                        <a:gd name="T67" fmla="*/ 0 h 894"/>
                        <a:gd name="T68" fmla="*/ 0 w 1060"/>
                        <a:gd name="T69" fmla="*/ 0 h 894"/>
                        <a:gd name="T70" fmla="*/ 0 w 1060"/>
                        <a:gd name="T71" fmla="*/ 0 h 894"/>
                        <a:gd name="T72" fmla="*/ 0 w 1060"/>
                        <a:gd name="T73" fmla="*/ 0 h 894"/>
                        <a:gd name="T74" fmla="*/ 0 w 1060"/>
                        <a:gd name="T75" fmla="*/ 0 h 894"/>
                        <a:gd name="T76" fmla="*/ 0 w 1060"/>
                        <a:gd name="T77" fmla="*/ 0 h 894"/>
                        <a:gd name="T78" fmla="*/ 0 w 1060"/>
                        <a:gd name="T79" fmla="*/ 0 h 894"/>
                        <a:gd name="T80" fmla="*/ 0 w 1060"/>
                        <a:gd name="T81" fmla="*/ 0 h 894"/>
                        <a:gd name="T82" fmla="*/ 0 w 1060"/>
                        <a:gd name="T83" fmla="*/ 0 h 894"/>
                        <a:gd name="T84" fmla="*/ 0 w 1060"/>
                        <a:gd name="T85" fmla="*/ 0 h 894"/>
                        <a:gd name="T86" fmla="*/ 0 w 1060"/>
                        <a:gd name="T87" fmla="*/ 0 h 894"/>
                        <a:gd name="T88" fmla="*/ 0 w 1060"/>
                        <a:gd name="T89" fmla="*/ 0 h 894"/>
                        <a:gd name="T90" fmla="*/ 0 w 1060"/>
                        <a:gd name="T91" fmla="*/ 0 h 894"/>
                        <a:gd name="T92" fmla="*/ 0 w 1060"/>
                        <a:gd name="T93" fmla="*/ 0 h 894"/>
                        <a:gd name="T94" fmla="*/ 0 w 1060"/>
                        <a:gd name="T95" fmla="*/ 0 h 894"/>
                        <a:gd name="T96" fmla="*/ 0 w 1060"/>
                        <a:gd name="T97" fmla="*/ 0 h 894"/>
                        <a:gd name="T98" fmla="*/ 0 w 1060"/>
                        <a:gd name="T99" fmla="*/ 0 h 894"/>
                        <a:gd name="T100" fmla="*/ 0 w 1060"/>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0"/>
                        <a:gd name="T154" fmla="*/ 0 h 894"/>
                        <a:gd name="T155" fmla="*/ 1060 w 1060"/>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0" h="894">
                          <a:moveTo>
                            <a:pt x="1060" y="487"/>
                          </a:moveTo>
                          <a:lnTo>
                            <a:pt x="982" y="517"/>
                          </a:lnTo>
                          <a:lnTo>
                            <a:pt x="885" y="555"/>
                          </a:lnTo>
                          <a:lnTo>
                            <a:pt x="826" y="593"/>
                          </a:lnTo>
                          <a:lnTo>
                            <a:pt x="778" y="652"/>
                          </a:lnTo>
                          <a:lnTo>
                            <a:pt x="749" y="739"/>
                          </a:lnTo>
                          <a:lnTo>
                            <a:pt x="730" y="807"/>
                          </a:lnTo>
                          <a:lnTo>
                            <a:pt x="671" y="875"/>
                          </a:lnTo>
                          <a:lnTo>
                            <a:pt x="573" y="894"/>
                          </a:lnTo>
                          <a:lnTo>
                            <a:pt x="506" y="865"/>
                          </a:lnTo>
                          <a:lnTo>
                            <a:pt x="456" y="826"/>
                          </a:lnTo>
                          <a:lnTo>
                            <a:pt x="453" y="784"/>
                          </a:lnTo>
                          <a:lnTo>
                            <a:pt x="447" y="749"/>
                          </a:lnTo>
                          <a:lnTo>
                            <a:pt x="408" y="690"/>
                          </a:lnTo>
                          <a:lnTo>
                            <a:pt x="320" y="662"/>
                          </a:lnTo>
                          <a:lnTo>
                            <a:pt x="389" y="617"/>
                          </a:lnTo>
                          <a:lnTo>
                            <a:pt x="460" y="603"/>
                          </a:lnTo>
                          <a:lnTo>
                            <a:pt x="493" y="584"/>
                          </a:lnTo>
                          <a:lnTo>
                            <a:pt x="431" y="581"/>
                          </a:lnTo>
                          <a:lnTo>
                            <a:pt x="360" y="603"/>
                          </a:lnTo>
                          <a:lnTo>
                            <a:pt x="282" y="633"/>
                          </a:lnTo>
                          <a:lnTo>
                            <a:pt x="246" y="603"/>
                          </a:lnTo>
                          <a:lnTo>
                            <a:pt x="240" y="565"/>
                          </a:lnTo>
                          <a:lnTo>
                            <a:pt x="237" y="520"/>
                          </a:lnTo>
                          <a:lnTo>
                            <a:pt x="224" y="477"/>
                          </a:lnTo>
                          <a:lnTo>
                            <a:pt x="174" y="468"/>
                          </a:lnTo>
                          <a:lnTo>
                            <a:pt x="136" y="484"/>
                          </a:lnTo>
                          <a:lnTo>
                            <a:pt x="104" y="514"/>
                          </a:lnTo>
                          <a:lnTo>
                            <a:pt x="58" y="542"/>
                          </a:lnTo>
                          <a:lnTo>
                            <a:pt x="0" y="593"/>
                          </a:lnTo>
                          <a:lnTo>
                            <a:pt x="58" y="507"/>
                          </a:lnTo>
                          <a:lnTo>
                            <a:pt x="165" y="420"/>
                          </a:lnTo>
                          <a:lnTo>
                            <a:pt x="233" y="380"/>
                          </a:lnTo>
                          <a:lnTo>
                            <a:pt x="295" y="364"/>
                          </a:lnTo>
                          <a:lnTo>
                            <a:pt x="347" y="368"/>
                          </a:lnTo>
                          <a:lnTo>
                            <a:pt x="402" y="355"/>
                          </a:lnTo>
                          <a:lnTo>
                            <a:pt x="486" y="332"/>
                          </a:lnTo>
                          <a:lnTo>
                            <a:pt x="593" y="288"/>
                          </a:lnTo>
                          <a:lnTo>
                            <a:pt x="693" y="239"/>
                          </a:lnTo>
                          <a:lnTo>
                            <a:pt x="752" y="210"/>
                          </a:lnTo>
                          <a:lnTo>
                            <a:pt x="785" y="168"/>
                          </a:lnTo>
                          <a:lnTo>
                            <a:pt x="801" y="116"/>
                          </a:lnTo>
                          <a:lnTo>
                            <a:pt x="797" y="62"/>
                          </a:lnTo>
                          <a:lnTo>
                            <a:pt x="785" y="0"/>
                          </a:lnTo>
                          <a:lnTo>
                            <a:pt x="846" y="68"/>
                          </a:lnTo>
                          <a:lnTo>
                            <a:pt x="895" y="145"/>
                          </a:lnTo>
                          <a:lnTo>
                            <a:pt x="953" y="245"/>
                          </a:lnTo>
                          <a:lnTo>
                            <a:pt x="979" y="300"/>
                          </a:lnTo>
                          <a:lnTo>
                            <a:pt x="1005" y="348"/>
                          </a:lnTo>
                          <a:lnTo>
                            <a:pt x="1041" y="401"/>
                          </a:lnTo>
                          <a:lnTo>
                            <a:pt x="1060"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2" name="Freeform 229">
                      <a:extLst>
                        <a:ext uri="{FF2B5EF4-FFF2-40B4-BE49-F238E27FC236}">
                          <a16:creationId xmlns:a16="http://schemas.microsoft.com/office/drawing/2014/main" id="{DA13FCEA-00C6-43C5-B1E1-78B1487CB711}"/>
                        </a:ext>
                      </a:extLst>
                    </p:cNvPr>
                    <p:cNvSpPr>
                      <a:spLocks/>
                    </p:cNvSpPr>
                    <p:nvPr/>
                  </p:nvSpPr>
                  <p:spPr bwMode="auto">
                    <a:xfrm>
                      <a:off x="3419" y="3441"/>
                      <a:ext cx="24" cy="15"/>
                    </a:xfrm>
                    <a:custGeom>
                      <a:avLst/>
                      <a:gdLst>
                        <a:gd name="T0" fmla="*/ 0 w 289"/>
                        <a:gd name="T1" fmla="*/ 0 h 181"/>
                        <a:gd name="T2" fmla="*/ 0 w 289"/>
                        <a:gd name="T3" fmla="*/ 0 h 181"/>
                        <a:gd name="T4" fmla="*/ 0 w 289"/>
                        <a:gd name="T5" fmla="*/ 0 h 181"/>
                        <a:gd name="T6" fmla="*/ 0 w 289"/>
                        <a:gd name="T7" fmla="*/ 0 h 181"/>
                        <a:gd name="T8" fmla="*/ 0 w 289"/>
                        <a:gd name="T9" fmla="*/ 0 h 181"/>
                        <a:gd name="T10" fmla="*/ 0 w 289"/>
                        <a:gd name="T11" fmla="*/ 0 h 181"/>
                        <a:gd name="T12" fmla="*/ 0 w 289"/>
                        <a:gd name="T13" fmla="*/ 0 h 181"/>
                        <a:gd name="T14" fmla="*/ 0 w 289"/>
                        <a:gd name="T15" fmla="*/ 0 h 181"/>
                        <a:gd name="T16" fmla="*/ 0 w 289"/>
                        <a:gd name="T17" fmla="*/ 0 h 181"/>
                        <a:gd name="T18" fmla="*/ 0 w 289"/>
                        <a:gd name="T19" fmla="*/ 0 h 181"/>
                        <a:gd name="T20" fmla="*/ 0 w 289"/>
                        <a:gd name="T21" fmla="*/ 0 h 181"/>
                        <a:gd name="T22" fmla="*/ 0 w 289"/>
                        <a:gd name="T23" fmla="*/ 0 h 181"/>
                        <a:gd name="T24" fmla="*/ 0 w 289"/>
                        <a:gd name="T25" fmla="*/ 0 h 181"/>
                        <a:gd name="T26" fmla="*/ 0 w 289"/>
                        <a:gd name="T27" fmla="*/ 0 h 181"/>
                        <a:gd name="T28" fmla="*/ 0 w 289"/>
                        <a:gd name="T29" fmla="*/ 0 h 181"/>
                        <a:gd name="T30" fmla="*/ 0 w 289"/>
                        <a:gd name="T31" fmla="*/ 0 h 181"/>
                        <a:gd name="T32" fmla="*/ 0 w 289"/>
                        <a:gd name="T33" fmla="*/ 0 h 181"/>
                        <a:gd name="T34" fmla="*/ 0 w 289"/>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9"/>
                        <a:gd name="T55" fmla="*/ 0 h 181"/>
                        <a:gd name="T56" fmla="*/ 289 w 289"/>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9" h="181">
                          <a:moveTo>
                            <a:pt x="176" y="10"/>
                          </a:moveTo>
                          <a:lnTo>
                            <a:pt x="210" y="20"/>
                          </a:lnTo>
                          <a:lnTo>
                            <a:pt x="246" y="33"/>
                          </a:lnTo>
                          <a:lnTo>
                            <a:pt x="289" y="53"/>
                          </a:lnTo>
                          <a:lnTo>
                            <a:pt x="259" y="67"/>
                          </a:lnTo>
                          <a:lnTo>
                            <a:pt x="203" y="91"/>
                          </a:lnTo>
                          <a:lnTo>
                            <a:pt x="143" y="124"/>
                          </a:lnTo>
                          <a:lnTo>
                            <a:pt x="103" y="161"/>
                          </a:lnTo>
                          <a:lnTo>
                            <a:pt x="80" y="181"/>
                          </a:lnTo>
                          <a:lnTo>
                            <a:pt x="107"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3" name="Freeform 230">
                      <a:extLst>
                        <a:ext uri="{FF2B5EF4-FFF2-40B4-BE49-F238E27FC236}">
                          <a16:creationId xmlns:a16="http://schemas.microsoft.com/office/drawing/2014/main" id="{94C1066E-4B67-425B-8921-E97FFE077AE7}"/>
                        </a:ext>
                      </a:extLst>
                    </p:cNvPr>
                    <p:cNvSpPr>
                      <a:spLocks/>
                    </p:cNvSpPr>
                    <p:nvPr/>
                  </p:nvSpPr>
                  <p:spPr bwMode="auto">
                    <a:xfrm>
                      <a:off x="3440" y="3401"/>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5" y="166"/>
                          </a:lnTo>
                          <a:lnTo>
                            <a:pt x="366" y="206"/>
                          </a:lnTo>
                          <a:lnTo>
                            <a:pt x="314" y="255"/>
                          </a:lnTo>
                          <a:lnTo>
                            <a:pt x="265" y="332"/>
                          </a:lnTo>
                          <a:lnTo>
                            <a:pt x="242" y="384"/>
                          </a:lnTo>
                          <a:lnTo>
                            <a:pt x="258" y="434"/>
                          </a:lnTo>
                          <a:lnTo>
                            <a:pt x="193" y="388"/>
                          </a:lnTo>
                          <a:lnTo>
                            <a:pt x="131" y="365"/>
                          </a:lnTo>
                          <a:lnTo>
                            <a:pt x="81" y="345"/>
                          </a:lnTo>
                          <a:lnTo>
                            <a:pt x="32" y="329"/>
                          </a:lnTo>
                          <a:lnTo>
                            <a:pt x="0" y="313"/>
                          </a:lnTo>
                          <a:lnTo>
                            <a:pt x="43" y="255"/>
                          </a:lnTo>
                          <a:lnTo>
                            <a:pt x="81" y="283"/>
                          </a:lnTo>
                          <a:lnTo>
                            <a:pt x="144" y="313"/>
                          </a:lnTo>
                          <a:lnTo>
                            <a:pt x="196" y="313"/>
                          </a:lnTo>
                          <a:lnTo>
                            <a:pt x="246" y="304"/>
                          </a:lnTo>
                          <a:lnTo>
                            <a:pt x="274" y="293"/>
                          </a:lnTo>
                          <a:lnTo>
                            <a:pt x="305" y="274"/>
                          </a:lnTo>
                          <a:lnTo>
                            <a:pt x="314" y="212"/>
                          </a:lnTo>
                          <a:lnTo>
                            <a:pt x="305" y="166"/>
                          </a:lnTo>
                          <a:lnTo>
                            <a:pt x="274" y="107"/>
                          </a:lnTo>
                          <a:lnTo>
                            <a:pt x="265" y="78"/>
                          </a:lnTo>
                          <a:lnTo>
                            <a:pt x="308" y="68"/>
                          </a:lnTo>
                          <a:lnTo>
                            <a:pt x="362" y="52"/>
                          </a:lnTo>
                          <a:lnTo>
                            <a:pt x="399" y="9"/>
                          </a:lnTo>
                          <a:lnTo>
                            <a:pt x="431" y="0"/>
                          </a:lnTo>
                          <a:lnTo>
                            <a:pt x="467" y="55"/>
                          </a:lnTo>
                          <a:lnTo>
                            <a:pt x="500"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46" name="Group 231">
                  <a:extLst>
                    <a:ext uri="{FF2B5EF4-FFF2-40B4-BE49-F238E27FC236}">
                      <a16:creationId xmlns:a16="http://schemas.microsoft.com/office/drawing/2014/main" id="{D491FC8A-74BD-49DA-A0C1-5F01B227B392}"/>
                    </a:ext>
                  </a:extLst>
                </p:cNvPr>
                <p:cNvGrpSpPr>
                  <a:grpSpLocks/>
                </p:cNvGrpSpPr>
                <p:nvPr/>
              </p:nvGrpSpPr>
              <p:grpSpPr bwMode="auto">
                <a:xfrm>
                  <a:off x="3443" y="3299"/>
                  <a:ext cx="140" cy="274"/>
                  <a:chOff x="3443" y="3299"/>
                  <a:chExt cx="140" cy="274"/>
                </a:xfrm>
              </p:grpSpPr>
              <p:sp>
                <p:nvSpPr>
                  <p:cNvPr id="258" name="Freeform 232">
                    <a:extLst>
                      <a:ext uri="{FF2B5EF4-FFF2-40B4-BE49-F238E27FC236}">
                        <a16:creationId xmlns:a16="http://schemas.microsoft.com/office/drawing/2014/main" id="{D4B18862-C460-4EF9-95E0-CEF87E6DD10D}"/>
                      </a:ext>
                    </a:extLst>
                  </p:cNvPr>
                  <p:cNvSpPr>
                    <a:spLocks/>
                  </p:cNvSpPr>
                  <p:nvPr/>
                </p:nvSpPr>
                <p:spPr bwMode="auto">
                  <a:xfrm>
                    <a:off x="3452" y="3495"/>
                    <a:ext cx="128"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8"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259" name="Freeform 233">
                    <a:extLst>
                      <a:ext uri="{FF2B5EF4-FFF2-40B4-BE49-F238E27FC236}">
                        <a16:creationId xmlns:a16="http://schemas.microsoft.com/office/drawing/2014/main" id="{CE34FD2C-AF55-4116-BF4B-54C365903D2F}"/>
                      </a:ext>
                    </a:extLst>
                  </p:cNvPr>
                  <p:cNvSpPr>
                    <a:spLocks/>
                  </p:cNvSpPr>
                  <p:nvPr/>
                </p:nvSpPr>
                <p:spPr bwMode="auto">
                  <a:xfrm>
                    <a:off x="3497" y="3529"/>
                    <a:ext cx="86"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5" y="179"/>
                        </a:lnTo>
                        <a:lnTo>
                          <a:pt x="943" y="523"/>
                        </a:lnTo>
                        <a:lnTo>
                          <a:pt x="963" y="528"/>
                        </a:lnTo>
                        <a:lnTo>
                          <a:pt x="980" y="523"/>
                        </a:lnTo>
                        <a:lnTo>
                          <a:pt x="995" y="505"/>
                        </a:lnTo>
                        <a:lnTo>
                          <a:pt x="1013" y="461"/>
                        </a:lnTo>
                        <a:lnTo>
                          <a:pt x="1023" y="428"/>
                        </a:lnTo>
                        <a:lnTo>
                          <a:pt x="1027" y="398"/>
                        </a:lnTo>
                        <a:lnTo>
                          <a:pt x="1018" y="366"/>
                        </a:lnTo>
                        <a:lnTo>
                          <a:pt x="998"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260" name="Freeform 234">
                    <a:extLst>
                      <a:ext uri="{FF2B5EF4-FFF2-40B4-BE49-F238E27FC236}">
                        <a16:creationId xmlns:a16="http://schemas.microsoft.com/office/drawing/2014/main" id="{49B93A35-81AD-47AA-8020-EA086D004518}"/>
                      </a:ext>
                    </a:extLst>
                  </p:cNvPr>
                  <p:cNvSpPr>
                    <a:spLocks/>
                  </p:cNvSpPr>
                  <p:nvPr/>
                </p:nvSpPr>
                <p:spPr bwMode="auto">
                  <a:xfrm>
                    <a:off x="3443" y="3299"/>
                    <a:ext cx="123" cy="245"/>
                  </a:xfrm>
                  <a:custGeom>
                    <a:avLst/>
                    <a:gdLst>
                      <a:gd name="T0" fmla="*/ 0 w 1478"/>
                      <a:gd name="T1" fmla="*/ 0 h 2948"/>
                      <a:gd name="T2" fmla="*/ 0 w 1478"/>
                      <a:gd name="T3" fmla="*/ 0 h 2948"/>
                      <a:gd name="T4" fmla="*/ 0 w 1478"/>
                      <a:gd name="T5" fmla="*/ 0 h 2948"/>
                      <a:gd name="T6" fmla="*/ 0 w 1478"/>
                      <a:gd name="T7" fmla="*/ 0 h 2948"/>
                      <a:gd name="T8" fmla="*/ 0 w 1478"/>
                      <a:gd name="T9" fmla="*/ 0 h 2948"/>
                      <a:gd name="T10" fmla="*/ 0 w 1478"/>
                      <a:gd name="T11" fmla="*/ 0 h 2948"/>
                      <a:gd name="T12" fmla="*/ 0 w 1478"/>
                      <a:gd name="T13" fmla="*/ 0 h 2948"/>
                      <a:gd name="T14" fmla="*/ 0 w 1478"/>
                      <a:gd name="T15" fmla="*/ 0 h 2948"/>
                      <a:gd name="T16" fmla="*/ 0 w 1478"/>
                      <a:gd name="T17" fmla="*/ 0 h 2948"/>
                      <a:gd name="T18" fmla="*/ 0 w 1478"/>
                      <a:gd name="T19" fmla="*/ 0 h 2948"/>
                      <a:gd name="T20" fmla="*/ 0 w 1478"/>
                      <a:gd name="T21" fmla="*/ 0 h 2948"/>
                      <a:gd name="T22" fmla="*/ 0 w 1478"/>
                      <a:gd name="T23" fmla="*/ 0 h 2948"/>
                      <a:gd name="T24" fmla="*/ 0 w 1478"/>
                      <a:gd name="T25" fmla="*/ 0 h 2948"/>
                      <a:gd name="T26" fmla="*/ 0 w 1478"/>
                      <a:gd name="T27" fmla="*/ 0 h 2948"/>
                      <a:gd name="T28" fmla="*/ 0 w 1478"/>
                      <a:gd name="T29" fmla="*/ 0 h 2948"/>
                      <a:gd name="T30" fmla="*/ 0 w 1478"/>
                      <a:gd name="T31" fmla="*/ 0 h 2948"/>
                      <a:gd name="T32" fmla="*/ 0 w 1478"/>
                      <a:gd name="T33" fmla="*/ 0 h 2948"/>
                      <a:gd name="T34" fmla="*/ 0 w 1478"/>
                      <a:gd name="T35" fmla="*/ 0 h 2948"/>
                      <a:gd name="T36" fmla="*/ 0 w 1478"/>
                      <a:gd name="T37" fmla="*/ 0 h 2948"/>
                      <a:gd name="T38" fmla="*/ 0 w 1478"/>
                      <a:gd name="T39" fmla="*/ 0 h 2948"/>
                      <a:gd name="T40" fmla="*/ 0 w 1478"/>
                      <a:gd name="T41" fmla="*/ 0 h 2948"/>
                      <a:gd name="T42" fmla="*/ 0 w 1478"/>
                      <a:gd name="T43" fmla="*/ 0 h 2948"/>
                      <a:gd name="T44" fmla="*/ 0 w 1478"/>
                      <a:gd name="T45" fmla="*/ 0 h 2948"/>
                      <a:gd name="T46" fmla="*/ 0 w 1478"/>
                      <a:gd name="T47" fmla="*/ 0 h 2948"/>
                      <a:gd name="T48" fmla="*/ 0 w 1478"/>
                      <a:gd name="T49" fmla="*/ 0 h 2948"/>
                      <a:gd name="T50" fmla="*/ 0 w 1478"/>
                      <a:gd name="T51" fmla="*/ 0 h 2948"/>
                      <a:gd name="T52" fmla="*/ 0 w 1478"/>
                      <a:gd name="T53" fmla="*/ 0 h 2948"/>
                      <a:gd name="T54" fmla="*/ 0 w 1478"/>
                      <a:gd name="T55" fmla="*/ 0 h 2948"/>
                      <a:gd name="T56" fmla="*/ 0 w 1478"/>
                      <a:gd name="T57" fmla="*/ 0 h 2948"/>
                      <a:gd name="T58" fmla="*/ 0 w 1478"/>
                      <a:gd name="T59" fmla="*/ 0 h 2948"/>
                      <a:gd name="T60" fmla="*/ 0 w 1478"/>
                      <a:gd name="T61" fmla="*/ 0 h 2948"/>
                      <a:gd name="T62" fmla="*/ 0 w 1478"/>
                      <a:gd name="T63" fmla="*/ 0 h 2948"/>
                      <a:gd name="T64" fmla="*/ 0 w 1478"/>
                      <a:gd name="T65" fmla="*/ 0 h 2948"/>
                      <a:gd name="T66" fmla="*/ 0 w 1478"/>
                      <a:gd name="T67" fmla="*/ 0 h 2948"/>
                      <a:gd name="T68" fmla="*/ 0 w 1478"/>
                      <a:gd name="T69" fmla="*/ 0 h 2948"/>
                      <a:gd name="T70" fmla="*/ 0 w 1478"/>
                      <a:gd name="T71" fmla="*/ 0 h 2948"/>
                      <a:gd name="T72" fmla="*/ 0 w 1478"/>
                      <a:gd name="T73" fmla="*/ 0 h 2948"/>
                      <a:gd name="T74" fmla="*/ 0 w 1478"/>
                      <a:gd name="T75" fmla="*/ 0 h 2948"/>
                      <a:gd name="T76" fmla="*/ 0 w 1478"/>
                      <a:gd name="T77" fmla="*/ 0 h 2948"/>
                      <a:gd name="T78" fmla="*/ 0 w 1478"/>
                      <a:gd name="T79" fmla="*/ 0 h 2948"/>
                      <a:gd name="T80" fmla="*/ 0 w 1478"/>
                      <a:gd name="T81" fmla="*/ 0 h 2948"/>
                      <a:gd name="T82" fmla="*/ 0 w 1478"/>
                      <a:gd name="T83" fmla="*/ 0 h 2948"/>
                      <a:gd name="T84" fmla="*/ 0 w 1478"/>
                      <a:gd name="T85" fmla="*/ 0 h 2948"/>
                      <a:gd name="T86" fmla="*/ 0 w 1478"/>
                      <a:gd name="T87" fmla="*/ 0 h 2948"/>
                      <a:gd name="T88" fmla="*/ 0 w 1478"/>
                      <a:gd name="T89" fmla="*/ 0 h 2948"/>
                      <a:gd name="T90" fmla="*/ 0 w 1478"/>
                      <a:gd name="T91" fmla="*/ 0 h 2948"/>
                      <a:gd name="T92" fmla="*/ 0 w 1478"/>
                      <a:gd name="T93" fmla="*/ 0 h 2948"/>
                      <a:gd name="T94" fmla="*/ 0 w 1478"/>
                      <a:gd name="T95" fmla="*/ 0 h 2948"/>
                      <a:gd name="T96" fmla="*/ 0 w 1478"/>
                      <a:gd name="T97" fmla="*/ 0 h 2948"/>
                      <a:gd name="T98" fmla="*/ 0 w 1478"/>
                      <a:gd name="T99" fmla="*/ 0 h 2948"/>
                      <a:gd name="T100" fmla="*/ 0 w 1478"/>
                      <a:gd name="T101" fmla="*/ 0 h 2948"/>
                      <a:gd name="T102" fmla="*/ 0 w 1478"/>
                      <a:gd name="T103" fmla="*/ 0 h 2948"/>
                      <a:gd name="T104" fmla="*/ 0 w 1478"/>
                      <a:gd name="T105" fmla="*/ 0 h 2948"/>
                      <a:gd name="T106" fmla="*/ 0 w 1478"/>
                      <a:gd name="T107" fmla="*/ 0 h 2948"/>
                      <a:gd name="T108" fmla="*/ 0 w 1478"/>
                      <a:gd name="T109" fmla="*/ 0 h 2948"/>
                      <a:gd name="T110" fmla="*/ 0 w 1478"/>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8"/>
                      <a:gd name="T169" fmla="*/ 0 h 2948"/>
                      <a:gd name="T170" fmla="*/ 1478 w 1478"/>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8" h="2948">
                        <a:moveTo>
                          <a:pt x="1478" y="384"/>
                        </a:moveTo>
                        <a:lnTo>
                          <a:pt x="1475" y="353"/>
                        </a:lnTo>
                        <a:lnTo>
                          <a:pt x="1460" y="332"/>
                        </a:lnTo>
                        <a:lnTo>
                          <a:pt x="1438" y="306"/>
                        </a:lnTo>
                        <a:lnTo>
                          <a:pt x="1359" y="255"/>
                        </a:lnTo>
                        <a:lnTo>
                          <a:pt x="1008" y="61"/>
                        </a:lnTo>
                        <a:lnTo>
                          <a:pt x="957" y="38"/>
                        </a:lnTo>
                        <a:lnTo>
                          <a:pt x="925" y="23"/>
                        </a:lnTo>
                        <a:lnTo>
                          <a:pt x="885" y="10"/>
                        </a:lnTo>
                        <a:lnTo>
                          <a:pt x="861" y="3"/>
                        </a:lnTo>
                        <a:lnTo>
                          <a:pt x="824" y="0"/>
                        </a:lnTo>
                        <a:lnTo>
                          <a:pt x="791" y="3"/>
                        </a:lnTo>
                        <a:lnTo>
                          <a:pt x="766" y="6"/>
                        </a:lnTo>
                        <a:lnTo>
                          <a:pt x="730" y="16"/>
                        </a:lnTo>
                        <a:lnTo>
                          <a:pt x="695" y="32"/>
                        </a:lnTo>
                        <a:lnTo>
                          <a:pt x="662" y="54"/>
                        </a:lnTo>
                        <a:lnTo>
                          <a:pt x="629" y="74"/>
                        </a:lnTo>
                        <a:lnTo>
                          <a:pt x="597" y="95"/>
                        </a:lnTo>
                        <a:lnTo>
                          <a:pt x="562" y="121"/>
                        </a:lnTo>
                        <a:lnTo>
                          <a:pt x="527" y="154"/>
                        </a:lnTo>
                        <a:lnTo>
                          <a:pt x="508" y="175"/>
                        </a:lnTo>
                        <a:lnTo>
                          <a:pt x="492" y="201"/>
                        </a:lnTo>
                        <a:lnTo>
                          <a:pt x="480" y="238"/>
                        </a:lnTo>
                        <a:lnTo>
                          <a:pt x="9" y="2307"/>
                        </a:lnTo>
                        <a:lnTo>
                          <a:pt x="0" y="2349"/>
                        </a:lnTo>
                        <a:lnTo>
                          <a:pt x="0" y="2370"/>
                        </a:lnTo>
                        <a:lnTo>
                          <a:pt x="0" y="2396"/>
                        </a:lnTo>
                        <a:lnTo>
                          <a:pt x="1" y="2422"/>
                        </a:lnTo>
                        <a:lnTo>
                          <a:pt x="10" y="2466"/>
                        </a:lnTo>
                        <a:lnTo>
                          <a:pt x="18" y="2485"/>
                        </a:lnTo>
                        <a:lnTo>
                          <a:pt x="37" y="2518"/>
                        </a:lnTo>
                        <a:lnTo>
                          <a:pt x="50" y="2540"/>
                        </a:lnTo>
                        <a:lnTo>
                          <a:pt x="78" y="2571"/>
                        </a:lnTo>
                        <a:lnTo>
                          <a:pt x="110" y="2598"/>
                        </a:lnTo>
                        <a:lnTo>
                          <a:pt x="154" y="2627"/>
                        </a:lnTo>
                        <a:lnTo>
                          <a:pt x="190" y="2650"/>
                        </a:lnTo>
                        <a:lnTo>
                          <a:pt x="716" y="2948"/>
                        </a:lnTo>
                        <a:lnTo>
                          <a:pt x="707" y="2916"/>
                        </a:lnTo>
                        <a:lnTo>
                          <a:pt x="706" y="2885"/>
                        </a:lnTo>
                        <a:lnTo>
                          <a:pt x="712" y="2861"/>
                        </a:lnTo>
                        <a:lnTo>
                          <a:pt x="720" y="2833"/>
                        </a:lnTo>
                        <a:lnTo>
                          <a:pt x="734" y="2805"/>
                        </a:lnTo>
                        <a:lnTo>
                          <a:pt x="752" y="2783"/>
                        </a:lnTo>
                        <a:lnTo>
                          <a:pt x="777" y="2769"/>
                        </a:lnTo>
                        <a:lnTo>
                          <a:pt x="194" y="2433"/>
                        </a:lnTo>
                        <a:lnTo>
                          <a:pt x="175" y="2417"/>
                        </a:lnTo>
                        <a:lnTo>
                          <a:pt x="167" y="2407"/>
                        </a:lnTo>
                        <a:lnTo>
                          <a:pt x="162" y="2391"/>
                        </a:lnTo>
                        <a:lnTo>
                          <a:pt x="156" y="2359"/>
                        </a:lnTo>
                        <a:lnTo>
                          <a:pt x="156" y="2339"/>
                        </a:lnTo>
                        <a:lnTo>
                          <a:pt x="444" y="1110"/>
                        </a:lnTo>
                        <a:lnTo>
                          <a:pt x="473" y="1055"/>
                        </a:lnTo>
                        <a:lnTo>
                          <a:pt x="500" y="1024"/>
                        </a:lnTo>
                        <a:lnTo>
                          <a:pt x="547" y="976"/>
                        </a:lnTo>
                        <a:lnTo>
                          <a:pt x="582" y="941"/>
                        </a:lnTo>
                        <a:lnTo>
                          <a:pt x="1478" y="384"/>
                        </a:lnTo>
                        <a:close/>
                      </a:path>
                    </a:pathLst>
                  </a:custGeom>
                  <a:solidFill>
                    <a:srgbClr val="808080"/>
                  </a:solidFill>
                  <a:ln w="1588">
                    <a:solidFill>
                      <a:srgbClr val="000000"/>
                    </a:solidFill>
                    <a:prstDash val="solid"/>
                    <a:round/>
                    <a:headEnd/>
                    <a:tailEnd/>
                  </a:ln>
                </p:spPr>
                <p:txBody>
                  <a:bodyPr/>
                  <a:lstStyle/>
                  <a:p>
                    <a:endParaRPr lang="en-US"/>
                  </a:p>
                </p:txBody>
              </p:sp>
              <p:sp>
                <p:nvSpPr>
                  <p:cNvPr id="261" name="Freeform 235">
                    <a:extLst>
                      <a:ext uri="{FF2B5EF4-FFF2-40B4-BE49-F238E27FC236}">
                        <a16:creationId xmlns:a16="http://schemas.microsoft.com/office/drawing/2014/main" id="{47DB5DE5-2330-45CF-9084-517474B85329}"/>
                      </a:ext>
                    </a:extLst>
                  </p:cNvPr>
                  <p:cNvSpPr>
                    <a:spLocks/>
                  </p:cNvSpPr>
                  <p:nvPr/>
                </p:nvSpPr>
                <p:spPr bwMode="auto">
                  <a:xfrm>
                    <a:off x="3492" y="3303"/>
                    <a:ext cx="77" cy="109"/>
                  </a:xfrm>
                  <a:custGeom>
                    <a:avLst/>
                    <a:gdLst>
                      <a:gd name="T0" fmla="*/ 0 w 927"/>
                      <a:gd name="T1" fmla="*/ 0 h 1304"/>
                      <a:gd name="T2" fmla="*/ 0 w 927"/>
                      <a:gd name="T3" fmla="*/ 0 h 1304"/>
                      <a:gd name="T4" fmla="*/ 0 w 927"/>
                      <a:gd name="T5" fmla="*/ 0 h 1304"/>
                      <a:gd name="T6" fmla="*/ 0 w 927"/>
                      <a:gd name="T7" fmla="*/ 0 h 1304"/>
                      <a:gd name="T8" fmla="*/ 0 w 927"/>
                      <a:gd name="T9" fmla="*/ 0 h 1304"/>
                      <a:gd name="T10" fmla="*/ 0 w 927"/>
                      <a:gd name="T11" fmla="*/ 0 h 1304"/>
                      <a:gd name="T12" fmla="*/ 0 w 927"/>
                      <a:gd name="T13" fmla="*/ 0 h 1304"/>
                      <a:gd name="T14" fmla="*/ 0 w 927"/>
                      <a:gd name="T15" fmla="*/ 0 h 1304"/>
                      <a:gd name="T16" fmla="*/ 0 w 927"/>
                      <a:gd name="T17" fmla="*/ 0 h 1304"/>
                      <a:gd name="T18" fmla="*/ 0 w 927"/>
                      <a:gd name="T19" fmla="*/ 0 h 1304"/>
                      <a:gd name="T20" fmla="*/ 0 w 927"/>
                      <a:gd name="T21" fmla="*/ 0 h 1304"/>
                      <a:gd name="T22" fmla="*/ 0 w 927"/>
                      <a:gd name="T23" fmla="*/ 0 h 1304"/>
                      <a:gd name="T24" fmla="*/ 0 w 927"/>
                      <a:gd name="T25" fmla="*/ 0 h 1304"/>
                      <a:gd name="T26" fmla="*/ 0 w 927"/>
                      <a:gd name="T27" fmla="*/ 0 h 1304"/>
                      <a:gd name="T28" fmla="*/ 0 w 927"/>
                      <a:gd name="T29" fmla="*/ 0 h 1304"/>
                      <a:gd name="T30" fmla="*/ 0 w 927"/>
                      <a:gd name="T31" fmla="*/ 0 h 1304"/>
                      <a:gd name="T32" fmla="*/ 0 w 927"/>
                      <a:gd name="T33" fmla="*/ 0 h 1304"/>
                      <a:gd name="T34" fmla="*/ 0 w 927"/>
                      <a:gd name="T35" fmla="*/ 0 h 1304"/>
                      <a:gd name="T36" fmla="*/ 0 w 927"/>
                      <a:gd name="T37" fmla="*/ 0 h 1304"/>
                      <a:gd name="T38" fmla="*/ 0 w 927"/>
                      <a:gd name="T39" fmla="*/ 0 h 1304"/>
                      <a:gd name="T40" fmla="*/ 0 w 927"/>
                      <a:gd name="T41" fmla="*/ 0 h 1304"/>
                      <a:gd name="T42" fmla="*/ 0 w 927"/>
                      <a:gd name="T43" fmla="*/ 0 h 1304"/>
                      <a:gd name="T44" fmla="*/ 0 w 927"/>
                      <a:gd name="T45" fmla="*/ 0 h 1304"/>
                      <a:gd name="T46" fmla="*/ 0 w 927"/>
                      <a:gd name="T47" fmla="*/ 0 h 1304"/>
                      <a:gd name="T48" fmla="*/ 0 w 927"/>
                      <a:gd name="T49" fmla="*/ 0 h 1304"/>
                      <a:gd name="T50" fmla="*/ 0 w 927"/>
                      <a:gd name="T51" fmla="*/ 0 h 1304"/>
                      <a:gd name="T52" fmla="*/ 0 w 927"/>
                      <a:gd name="T53" fmla="*/ 0 h 1304"/>
                      <a:gd name="T54" fmla="*/ 0 w 927"/>
                      <a:gd name="T55" fmla="*/ 0 h 1304"/>
                      <a:gd name="T56" fmla="*/ 0 w 927"/>
                      <a:gd name="T57" fmla="*/ 0 h 1304"/>
                      <a:gd name="T58" fmla="*/ 0 w 927"/>
                      <a:gd name="T59" fmla="*/ 0 h 1304"/>
                      <a:gd name="T60" fmla="*/ 0 w 927"/>
                      <a:gd name="T61" fmla="*/ 0 h 1304"/>
                      <a:gd name="T62" fmla="*/ 0 w 927"/>
                      <a:gd name="T63" fmla="*/ 0 h 1304"/>
                      <a:gd name="T64" fmla="*/ 0 w 927"/>
                      <a:gd name="T65" fmla="*/ 0 h 1304"/>
                      <a:gd name="T66" fmla="*/ 0 w 927"/>
                      <a:gd name="T67" fmla="*/ 0 h 1304"/>
                      <a:gd name="T68" fmla="*/ 0 w 927"/>
                      <a:gd name="T69" fmla="*/ 0 h 1304"/>
                      <a:gd name="T70" fmla="*/ 0 w 927"/>
                      <a:gd name="T71" fmla="*/ 0 h 1304"/>
                      <a:gd name="T72" fmla="*/ 0 w 927"/>
                      <a:gd name="T73" fmla="*/ 0 h 1304"/>
                      <a:gd name="T74" fmla="*/ 0 w 927"/>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7"/>
                      <a:gd name="T115" fmla="*/ 0 h 1304"/>
                      <a:gd name="T116" fmla="*/ 927 w 927"/>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7" h="1304">
                        <a:moveTo>
                          <a:pt x="897" y="351"/>
                        </a:moveTo>
                        <a:lnTo>
                          <a:pt x="867" y="315"/>
                        </a:lnTo>
                        <a:lnTo>
                          <a:pt x="821" y="278"/>
                        </a:lnTo>
                        <a:lnTo>
                          <a:pt x="754" y="241"/>
                        </a:lnTo>
                        <a:lnTo>
                          <a:pt x="585" y="148"/>
                        </a:lnTo>
                        <a:lnTo>
                          <a:pt x="399" y="53"/>
                        </a:lnTo>
                        <a:lnTo>
                          <a:pt x="334" y="21"/>
                        </a:lnTo>
                        <a:lnTo>
                          <a:pt x="289" y="6"/>
                        </a:lnTo>
                        <a:lnTo>
                          <a:pt x="255" y="0"/>
                        </a:lnTo>
                        <a:lnTo>
                          <a:pt x="228" y="0"/>
                        </a:lnTo>
                        <a:lnTo>
                          <a:pt x="204" y="5"/>
                        </a:lnTo>
                        <a:lnTo>
                          <a:pt x="182" y="21"/>
                        </a:lnTo>
                        <a:lnTo>
                          <a:pt x="164" y="41"/>
                        </a:lnTo>
                        <a:lnTo>
                          <a:pt x="147" y="76"/>
                        </a:lnTo>
                        <a:lnTo>
                          <a:pt x="0" y="833"/>
                        </a:lnTo>
                        <a:lnTo>
                          <a:pt x="0" y="865"/>
                        </a:lnTo>
                        <a:lnTo>
                          <a:pt x="0" y="906"/>
                        </a:lnTo>
                        <a:lnTo>
                          <a:pt x="6" y="936"/>
                        </a:lnTo>
                        <a:lnTo>
                          <a:pt x="16" y="957"/>
                        </a:lnTo>
                        <a:lnTo>
                          <a:pt x="28" y="978"/>
                        </a:lnTo>
                        <a:lnTo>
                          <a:pt x="56" y="1004"/>
                        </a:lnTo>
                        <a:lnTo>
                          <a:pt x="84" y="1022"/>
                        </a:lnTo>
                        <a:lnTo>
                          <a:pt x="117" y="1041"/>
                        </a:lnTo>
                        <a:lnTo>
                          <a:pt x="557" y="1267"/>
                        </a:lnTo>
                        <a:lnTo>
                          <a:pt x="599" y="1284"/>
                        </a:lnTo>
                        <a:lnTo>
                          <a:pt x="635" y="1295"/>
                        </a:lnTo>
                        <a:lnTo>
                          <a:pt x="677" y="1304"/>
                        </a:lnTo>
                        <a:lnTo>
                          <a:pt x="705" y="1304"/>
                        </a:lnTo>
                        <a:lnTo>
                          <a:pt x="733" y="1295"/>
                        </a:lnTo>
                        <a:lnTo>
                          <a:pt x="754" y="1269"/>
                        </a:lnTo>
                        <a:lnTo>
                          <a:pt x="766" y="1222"/>
                        </a:lnTo>
                        <a:lnTo>
                          <a:pt x="783" y="1162"/>
                        </a:lnTo>
                        <a:lnTo>
                          <a:pt x="859" y="833"/>
                        </a:lnTo>
                        <a:lnTo>
                          <a:pt x="915" y="507"/>
                        </a:lnTo>
                        <a:lnTo>
                          <a:pt x="927" y="431"/>
                        </a:lnTo>
                        <a:lnTo>
                          <a:pt x="925" y="403"/>
                        </a:lnTo>
                        <a:lnTo>
                          <a:pt x="916" y="379"/>
                        </a:lnTo>
                        <a:lnTo>
                          <a:pt x="897" y="351"/>
                        </a:lnTo>
                        <a:close/>
                      </a:path>
                    </a:pathLst>
                  </a:custGeom>
                  <a:solidFill>
                    <a:srgbClr val="606060"/>
                  </a:solidFill>
                  <a:ln w="1588">
                    <a:solidFill>
                      <a:srgbClr val="000000"/>
                    </a:solidFill>
                    <a:prstDash val="solid"/>
                    <a:round/>
                    <a:headEnd/>
                    <a:tailEnd/>
                  </a:ln>
                </p:spPr>
                <p:txBody>
                  <a:bodyPr/>
                  <a:lstStyle/>
                  <a:p>
                    <a:endParaRPr lang="en-US"/>
                  </a:p>
                </p:txBody>
              </p:sp>
              <p:sp>
                <p:nvSpPr>
                  <p:cNvPr id="262" name="Freeform 236">
                    <a:extLst>
                      <a:ext uri="{FF2B5EF4-FFF2-40B4-BE49-F238E27FC236}">
                        <a16:creationId xmlns:a16="http://schemas.microsoft.com/office/drawing/2014/main" id="{2D47D793-17BF-40A6-8E3F-3A7D6603E0D8}"/>
                      </a:ext>
                    </a:extLst>
                  </p:cNvPr>
                  <p:cNvSpPr>
                    <a:spLocks/>
                  </p:cNvSpPr>
                  <p:nvPr/>
                </p:nvSpPr>
                <p:spPr bwMode="auto">
                  <a:xfrm>
                    <a:off x="3451" y="3376"/>
                    <a:ext cx="102"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09" y="431"/>
                        </a:moveTo>
                        <a:lnTo>
                          <a:pt x="1215" y="426"/>
                        </a:lnTo>
                        <a:lnTo>
                          <a:pt x="1156" y="451"/>
                        </a:lnTo>
                        <a:lnTo>
                          <a:pt x="1118" y="467"/>
                        </a:lnTo>
                        <a:lnTo>
                          <a:pt x="1100" y="478"/>
                        </a:lnTo>
                        <a:lnTo>
                          <a:pt x="1072" y="511"/>
                        </a:lnTo>
                        <a:lnTo>
                          <a:pt x="1053" y="552"/>
                        </a:lnTo>
                        <a:lnTo>
                          <a:pt x="772" y="1702"/>
                        </a:lnTo>
                        <a:lnTo>
                          <a:pt x="0" y="1429"/>
                        </a:lnTo>
                        <a:lnTo>
                          <a:pt x="314" y="31"/>
                        </a:lnTo>
                        <a:lnTo>
                          <a:pt x="480" y="0"/>
                        </a:lnTo>
                        <a:lnTo>
                          <a:pt x="1209"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263" name="Group 237">
                    <a:extLst>
                      <a:ext uri="{FF2B5EF4-FFF2-40B4-BE49-F238E27FC236}">
                        <a16:creationId xmlns:a16="http://schemas.microsoft.com/office/drawing/2014/main" id="{4BB200C0-8981-457C-8E4B-8708AC5358CD}"/>
                      </a:ext>
                    </a:extLst>
                  </p:cNvPr>
                  <p:cNvGrpSpPr>
                    <a:grpSpLocks/>
                  </p:cNvGrpSpPr>
                  <p:nvPr/>
                </p:nvGrpSpPr>
                <p:grpSpPr bwMode="auto">
                  <a:xfrm>
                    <a:off x="3508" y="3326"/>
                    <a:ext cx="53" cy="60"/>
                    <a:chOff x="3508" y="3326"/>
                    <a:chExt cx="53" cy="60"/>
                  </a:xfrm>
                </p:grpSpPr>
                <p:sp>
                  <p:nvSpPr>
                    <p:cNvPr id="283" name="Oval 238">
                      <a:extLst>
                        <a:ext uri="{FF2B5EF4-FFF2-40B4-BE49-F238E27FC236}">
                          <a16:creationId xmlns:a16="http://schemas.microsoft.com/office/drawing/2014/main" id="{EA15DC97-3E65-4F28-B3C2-3945F6B7A763}"/>
                        </a:ext>
                      </a:extLst>
                    </p:cNvPr>
                    <p:cNvSpPr>
                      <a:spLocks noChangeArrowheads="1"/>
                    </p:cNvSpPr>
                    <p:nvPr/>
                  </p:nvSpPr>
                  <p:spPr bwMode="auto">
                    <a:xfrm>
                      <a:off x="3508" y="3326"/>
                      <a:ext cx="53"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284" name="Group 239">
                      <a:extLst>
                        <a:ext uri="{FF2B5EF4-FFF2-40B4-BE49-F238E27FC236}">
                          <a16:creationId xmlns:a16="http://schemas.microsoft.com/office/drawing/2014/main" id="{C6E0A876-0CED-4A9D-97F0-4739297429EE}"/>
                        </a:ext>
                      </a:extLst>
                    </p:cNvPr>
                    <p:cNvGrpSpPr>
                      <a:grpSpLocks/>
                    </p:cNvGrpSpPr>
                    <p:nvPr/>
                  </p:nvGrpSpPr>
                  <p:grpSpPr bwMode="auto">
                    <a:xfrm>
                      <a:off x="3521" y="3336"/>
                      <a:ext cx="29" cy="40"/>
                      <a:chOff x="3521" y="3336"/>
                      <a:chExt cx="29" cy="40"/>
                    </a:xfrm>
                  </p:grpSpPr>
                  <p:sp>
                    <p:nvSpPr>
                      <p:cNvPr id="285" name="Oval 240">
                        <a:extLst>
                          <a:ext uri="{FF2B5EF4-FFF2-40B4-BE49-F238E27FC236}">
                            <a16:creationId xmlns:a16="http://schemas.microsoft.com/office/drawing/2014/main" id="{3F4F6851-4E9E-4240-AAC6-C71B150DAAC9}"/>
                          </a:ext>
                        </a:extLst>
                      </p:cNvPr>
                      <p:cNvSpPr>
                        <a:spLocks noChangeArrowheads="1"/>
                      </p:cNvSpPr>
                      <p:nvPr/>
                    </p:nvSpPr>
                    <p:spPr bwMode="auto">
                      <a:xfrm>
                        <a:off x="3534" y="3354"/>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6" name="Oval 241">
                        <a:extLst>
                          <a:ext uri="{FF2B5EF4-FFF2-40B4-BE49-F238E27FC236}">
                            <a16:creationId xmlns:a16="http://schemas.microsoft.com/office/drawing/2014/main" id="{2BF0C6C2-B750-4DD8-8CDE-0D64E28F6056}"/>
                          </a:ext>
                        </a:extLst>
                      </p:cNvPr>
                      <p:cNvSpPr>
                        <a:spLocks noChangeArrowheads="1"/>
                      </p:cNvSpPr>
                      <p:nvPr/>
                    </p:nvSpPr>
                    <p:spPr bwMode="auto">
                      <a:xfrm>
                        <a:off x="3544" y="335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7" name="Oval 242">
                        <a:extLst>
                          <a:ext uri="{FF2B5EF4-FFF2-40B4-BE49-F238E27FC236}">
                            <a16:creationId xmlns:a16="http://schemas.microsoft.com/office/drawing/2014/main" id="{75232E58-482E-41FD-846F-C08EFB5AD816}"/>
                          </a:ext>
                        </a:extLst>
                      </p:cNvPr>
                      <p:cNvSpPr>
                        <a:spLocks noChangeArrowheads="1"/>
                      </p:cNvSpPr>
                      <p:nvPr/>
                    </p:nvSpPr>
                    <p:spPr bwMode="auto">
                      <a:xfrm>
                        <a:off x="3521" y="3364"/>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8" name="Oval 243">
                        <a:extLst>
                          <a:ext uri="{FF2B5EF4-FFF2-40B4-BE49-F238E27FC236}">
                            <a16:creationId xmlns:a16="http://schemas.microsoft.com/office/drawing/2014/main" id="{4BAFAEEC-D516-45DA-A8D7-0CB2248ECA90}"/>
                          </a:ext>
                        </a:extLst>
                      </p:cNvPr>
                      <p:cNvSpPr>
                        <a:spLocks noChangeArrowheads="1"/>
                      </p:cNvSpPr>
                      <p:nvPr/>
                    </p:nvSpPr>
                    <p:spPr bwMode="auto">
                      <a:xfrm>
                        <a:off x="3531" y="336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9" name="Oval 244">
                        <a:extLst>
                          <a:ext uri="{FF2B5EF4-FFF2-40B4-BE49-F238E27FC236}">
                            <a16:creationId xmlns:a16="http://schemas.microsoft.com/office/drawing/2014/main" id="{21833AE8-A5D9-4651-A8C0-80FA033D9FF6}"/>
                          </a:ext>
                        </a:extLst>
                      </p:cNvPr>
                      <p:cNvSpPr>
                        <a:spLocks noChangeArrowheads="1"/>
                      </p:cNvSpPr>
                      <p:nvPr/>
                    </p:nvSpPr>
                    <p:spPr bwMode="auto">
                      <a:xfrm>
                        <a:off x="3541" y="337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0" name="Oval 245">
                        <a:extLst>
                          <a:ext uri="{FF2B5EF4-FFF2-40B4-BE49-F238E27FC236}">
                            <a16:creationId xmlns:a16="http://schemas.microsoft.com/office/drawing/2014/main" id="{44057403-6581-4865-88A0-5A6099A330AE}"/>
                          </a:ext>
                        </a:extLst>
                      </p:cNvPr>
                      <p:cNvSpPr>
                        <a:spLocks noChangeArrowheads="1"/>
                      </p:cNvSpPr>
                      <p:nvPr/>
                    </p:nvSpPr>
                    <p:spPr bwMode="auto">
                      <a:xfrm>
                        <a:off x="3527" y="3358"/>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1" name="Oval 246">
                        <a:extLst>
                          <a:ext uri="{FF2B5EF4-FFF2-40B4-BE49-F238E27FC236}">
                            <a16:creationId xmlns:a16="http://schemas.microsoft.com/office/drawing/2014/main" id="{DCEF69EC-DCB3-4709-9CAA-F5ECC21C69E9}"/>
                          </a:ext>
                        </a:extLst>
                      </p:cNvPr>
                      <p:cNvSpPr>
                        <a:spLocks noChangeArrowheads="1"/>
                      </p:cNvSpPr>
                      <p:nvPr/>
                    </p:nvSpPr>
                    <p:spPr bwMode="auto">
                      <a:xfrm>
                        <a:off x="3537" y="336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2" name="Oval 247">
                        <a:extLst>
                          <a:ext uri="{FF2B5EF4-FFF2-40B4-BE49-F238E27FC236}">
                            <a16:creationId xmlns:a16="http://schemas.microsoft.com/office/drawing/2014/main" id="{5ACD6817-674D-4835-852B-2DBF77E194D6}"/>
                          </a:ext>
                        </a:extLst>
                      </p:cNvPr>
                      <p:cNvSpPr>
                        <a:spLocks noChangeArrowheads="1"/>
                      </p:cNvSpPr>
                      <p:nvPr/>
                    </p:nvSpPr>
                    <p:spPr bwMode="auto">
                      <a:xfrm>
                        <a:off x="3526" y="3336"/>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3" name="Oval 248">
                        <a:extLst>
                          <a:ext uri="{FF2B5EF4-FFF2-40B4-BE49-F238E27FC236}">
                            <a16:creationId xmlns:a16="http://schemas.microsoft.com/office/drawing/2014/main" id="{370A0E1E-4DD5-4E1B-AF64-50275208512A}"/>
                          </a:ext>
                        </a:extLst>
                      </p:cNvPr>
                      <p:cNvSpPr>
                        <a:spLocks noChangeArrowheads="1"/>
                      </p:cNvSpPr>
                      <p:nvPr/>
                    </p:nvSpPr>
                    <p:spPr bwMode="auto">
                      <a:xfrm>
                        <a:off x="3536" y="3340"/>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4" name="Oval 249">
                        <a:extLst>
                          <a:ext uri="{FF2B5EF4-FFF2-40B4-BE49-F238E27FC236}">
                            <a16:creationId xmlns:a16="http://schemas.microsoft.com/office/drawing/2014/main" id="{35D8DFE1-AB22-4534-892F-DFF3616DA4B3}"/>
                          </a:ext>
                        </a:extLst>
                      </p:cNvPr>
                      <p:cNvSpPr>
                        <a:spLocks noChangeArrowheads="1"/>
                      </p:cNvSpPr>
                      <p:nvPr/>
                    </p:nvSpPr>
                    <p:spPr bwMode="auto">
                      <a:xfrm>
                        <a:off x="3547" y="334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5" name="Oval 250">
                        <a:extLst>
                          <a:ext uri="{FF2B5EF4-FFF2-40B4-BE49-F238E27FC236}">
                            <a16:creationId xmlns:a16="http://schemas.microsoft.com/office/drawing/2014/main" id="{B390AECE-0136-469B-99F4-36841F83B42C}"/>
                          </a:ext>
                        </a:extLst>
                      </p:cNvPr>
                      <p:cNvSpPr>
                        <a:spLocks noChangeArrowheads="1"/>
                      </p:cNvSpPr>
                      <p:nvPr/>
                    </p:nvSpPr>
                    <p:spPr bwMode="auto">
                      <a:xfrm>
                        <a:off x="3523" y="3350"/>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6" name="Oval 251">
                        <a:extLst>
                          <a:ext uri="{FF2B5EF4-FFF2-40B4-BE49-F238E27FC236}">
                            <a16:creationId xmlns:a16="http://schemas.microsoft.com/office/drawing/2014/main" id="{216F04D5-1D7D-4602-9201-635D4138BDB5}"/>
                          </a:ext>
                        </a:extLst>
                      </p:cNvPr>
                      <p:cNvSpPr>
                        <a:spLocks noChangeArrowheads="1"/>
                      </p:cNvSpPr>
                      <p:nvPr/>
                    </p:nvSpPr>
                    <p:spPr bwMode="auto">
                      <a:xfrm>
                        <a:off x="3530" y="3345"/>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7" name="Oval 252">
                        <a:extLst>
                          <a:ext uri="{FF2B5EF4-FFF2-40B4-BE49-F238E27FC236}">
                            <a16:creationId xmlns:a16="http://schemas.microsoft.com/office/drawing/2014/main" id="{7FF520BC-4C26-48B2-A092-6CAD08E5A7C4}"/>
                          </a:ext>
                        </a:extLst>
                      </p:cNvPr>
                      <p:cNvSpPr>
                        <a:spLocks noChangeArrowheads="1"/>
                      </p:cNvSpPr>
                      <p:nvPr/>
                    </p:nvSpPr>
                    <p:spPr bwMode="auto">
                      <a:xfrm>
                        <a:off x="3540" y="3348"/>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264" name="Group 253">
                    <a:extLst>
                      <a:ext uri="{FF2B5EF4-FFF2-40B4-BE49-F238E27FC236}">
                        <a16:creationId xmlns:a16="http://schemas.microsoft.com/office/drawing/2014/main" id="{E599F347-7E3A-49E6-A062-AA69388A4264}"/>
                      </a:ext>
                    </a:extLst>
                  </p:cNvPr>
                  <p:cNvGrpSpPr>
                    <a:grpSpLocks/>
                  </p:cNvGrpSpPr>
                  <p:nvPr/>
                </p:nvGrpSpPr>
                <p:grpSpPr bwMode="auto">
                  <a:xfrm>
                    <a:off x="3468" y="3397"/>
                    <a:ext cx="68" cy="111"/>
                    <a:chOff x="3468" y="3397"/>
                    <a:chExt cx="68" cy="111"/>
                  </a:xfrm>
                </p:grpSpPr>
                <p:sp>
                  <p:nvSpPr>
                    <p:cNvPr id="265" name="Oval 254">
                      <a:extLst>
                        <a:ext uri="{FF2B5EF4-FFF2-40B4-BE49-F238E27FC236}">
                          <a16:creationId xmlns:a16="http://schemas.microsoft.com/office/drawing/2014/main" id="{32E845C1-D138-47CA-A248-95678ADF47BF}"/>
                        </a:ext>
                      </a:extLst>
                    </p:cNvPr>
                    <p:cNvSpPr>
                      <a:spLocks noChangeArrowheads="1"/>
                    </p:cNvSpPr>
                    <p:nvPr/>
                  </p:nvSpPr>
                  <p:spPr bwMode="auto">
                    <a:xfrm>
                      <a:off x="3502" y="349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66" name="Oval 255">
                      <a:extLst>
                        <a:ext uri="{FF2B5EF4-FFF2-40B4-BE49-F238E27FC236}">
                          <a16:creationId xmlns:a16="http://schemas.microsoft.com/office/drawing/2014/main" id="{F91E5B0D-71AD-4047-B868-EBDA1ABD09E6}"/>
                        </a:ext>
                      </a:extLst>
                    </p:cNvPr>
                    <p:cNvSpPr>
                      <a:spLocks noChangeArrowheads="1"/>
                    </p:cNvSpPr>
                    <p:nvPr/>
                  </p:nvSpPr>
                  <p:spPr bwMode="auto">
                    <a:xfrm>
                      <a:off x="3488" y="339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67" name="Oval 256">
                      <a:extLst>
                        <a:ext uri="{FF2B5EF4-FFF2-40B4-BE49-F238E27FC236}">
                          <a16:creationId xmlns:a16="http://schemas.microsoft.com/office/drawing/2014/main" id="{562064B8-7115-46F0-AF96-9819C359BF4F}"/>
                        </a:ext>
                      </a:extLst>
                    </p:cNvPr>
                    <p:cNvSpPr>
                      <a:spLocks noChangeArrowheads="1"/>
                    </p:cNvSpPr>
                    <p:nvPr/>
                  </p:nvSpPr>
                  <p:spPr bwMode="auto">
                    <a:xfrm>
                      <a:off x="3505" y="340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68" name="Oval 257">
                      <a:extLst>
                        <a:ext uri="{FF2B5EF4-FFF2-40B4-BE49-F238E27FC236}">
                          <a16:creationId xmlns:a16="http://schemas.microsoft.com/office/drawing/2014/main" id="{78009AF7-B0C2-47E8-A955-50D6B8A4FE0E}"/>
                        </a:ext>
                      </a:extLst>
                    </p:cNvPr>
                    <p:cNvSpPr>
                      <a:spLocks noChangeArrowheads="1"/>
                    </p:cNvSpPr>
                    <p:nvPr/>
                  </p:nvSpPr>
                  <p:spPr bwMode="auto">
                    <a:xfrm>
                      <a:off x="3522" y="341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69" name="Oval 258">
                      <a:extLst>
                        <a:ext uri="{FF2B5EF4-FFF2-40B4-BE49-F238E27FC236}">
                          <a16:creationId xmlns:a16="http://schemas.microsoft.com/office/drawing/2014/main" id="{D8E9110E-F690-42CC-8315-10DBBE32723A}"/>
                        </a:ext>
                      </a:extLst>
                    </p:cNvPr>
                    <p:cNvSpPr>
                      <a:spLocks noChangeArrowheads="1"/>
                    </p:cNvSpPr>
                    <p:nvPr/>
                  </p:nvSpPr>
                  <p:spPr bwMode="auto">
                    <a:xfrm>
                      <a:off x="3484" y="3414"/>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0" name="Oval 259">
                      <a:extLst>
                        <a:ext uri="{FF2B5EF4-FFF2-40B4-BE49-F238E27FC236}">
                          <a16:creationId xmlns:a16="http://schemas.microsoft.com/office/drawing/2014/main" id="{0F57A9B1-4B6F-42C1-A040-FBC2D35864BF}"/>
                        </a:ext>
                      </a:extLst>
                    </p:cNvPr>
                    <p:cNvSpPr>
                      <a:spLocks noChangeArrowheads="1"/>
                    </p:cNvSpPr>
                    <p:nvPr/>
                  </p:nvSpPr>
                  <p:spPr bwMode="auto">
                    <a:xfrm>
                      <a:off x="3501" y="3421"/>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1" name="Oval 260">
                      <a:extLst>
                        <a:ext uri="{FF2B5EF4-FFF2-40B4-BE49-F238E27FC236}">
                          <a16:creationId xmlns:a16="http://schemas.microsoft.com/office/drawing/2014/main" id="{6C866C55-F859-4E7F-B8EF-B13CC84172B3}"/>
                        </a:ext>
                      </a:extLst>
                    </p:cNvPr>
                    <p:cNvSpPr>
                      <a:spLocks noChangeArrowheads="1"/>
                    </p:cNvSpPr>
                    <p:nvPr/>
                  </p:nvSpPr>
                  <p:spPr bwMode="auto">
                    <a:xfrm>
                      <a:off x="3518" y="342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2" name="Oval 261">
                      <a:extLst>
                        <a:ext uri="{FF2B5EF4-FFF2-40B4-BE49-F238E27FC236}">
                          <a16:creationId xmlns:a16="http://schemas.microsoft.com/office/drawing/2014/main" id="{055E7FFD-E766-4514-936A-D6B7026A721B}"/>
                        </a:ext>
                      </a:extLst>
                    </p:cNvPr>
                    <p:cNvSpPr>
                      <a:spLocks noChangeArrowheads="1"/>
                    </p:cNvSpPr>
                    <p:nvPr/>
                  </p:nvSpPr>
                  <p:spPr bwMode="auto">
                    <a:xfrm>
                      <a:off x="3479" y="3430"/>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3" name="Oval 262">
                      <a:extLst>
                        <a:ext uri="{FF2B5EF4-FFF2-40B4-BE49-F238E27FC236}">
                          <a16:creationId xmlns:a16="http://schemas.microsoft.com/office/drawing/2014/main" id="{D4D58C8C-E757-43AF-89DA-02EE47B7D4D1}"/>
                        </a:ext>
                      </a:extLst>
                    </p:cNvPr>
                    <p:cNvSpPr>
                      <a:spLocks noChangeArrowheads="1"/>
                    </p:cNvSpPr>
                    <p:nvPr/>
                  </p:nvSpPr>
                  <p:spPr bwMode="auto">
                    <a:xfrm>
                      <a:off x="3497" y="3437"/>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4" name="Oval 263">
                      <a:extLst>
                        <a:ext uri="{FF2B5EF4-FFF2-40B4-BE49-F238E27FC236}">
                          <a16:creationId xmlns:a16="http://schemas.microsoft.com/office/drawing/2014/main" id="{C0530324-C52E-4E63-8DBE-9549D15D85C2}"/>
                        </a:ext>
                      </a:extLst>
                    </p:cNvPr>
                    <p:cNvSpPr>
                      <a:spLocks noChangeArrowheads="1"/>
                    </p:cNvSpPr>
                    <p:nvPr/>
                  </p:nvSpPr>
                  <p:spPr bwMode="auto">
                    <a:xfrm>
                      <a:off x="3513" y="3444"/>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5" name="Oval 264">
                      <a:extLst>
                        <a:ext uri="{FF2B5EF4-FFF2-40B4-BE49-F238E27FC236}">
                          <a16:creationId xmlns:a16="http://schemas.microsoft.com/office/drawing/2014/main" id="{E1BA1F8D-4BE2-484A-9D3D-2ABE4C7EC71B}"/>
                        </a:ext>
                      </a:extLst>
                    </p:cNvPr>
                    <p:cNvSpPr>
                      <a:spLocks noChangeArrowheads="1"/>
                    </p:cNvSpPr>
                    <p:nvPr/>
                  </p:nvSpPr>
                  <p:spPr bwMode="auto">
                    <a:xfrm>
                      <a:off x="3475" y="344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6" name="Oval 265">
                      <a:extLst>
                        <a:ext uri="{FF2B5EF4-FFF2-40B4-BE49-F238E27FC236}">
                          <a16:creationId xmlns:a16="http://schemas.microsoft.com/office/drawing/2014/main" id="{C308D54D-FBFD-4597-A705-E03003D67CD3}"/>
                        </a:ext>
                      </a:extLst>
                    </p:cNvPr>
                    <p:cNvSpPr>
                      <a:spLocks noChangeArrowheads="1"/>
                    </p:cNvSpPr>
                    <p:nvPr/>
                  </p:nvSpPr>
                  <p:spPr bwMode="auto">
                    <a:xfrm>
                      <a:off x="3493" y="345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7" name="Oval 266">
                      <a:extLst>
                        <a:ext uri="{FF2B5EF4-FFF2-40B4-BE49-F238E27FC236}">
                          <a16:creationId xmlns:a16="http://schemas.microsoft.com/office/drawing/2014/main" id="{419404E0-B289-4739-B696-57AE1BC0E503}"/>
                        </a:ext>
                      </a:extLst>
                    </p:cNvPr>
                    <p:cNvSpPr>
                      <a:spLocks noChangeArrowheads="1"/>
                    </p:cNvSpPr>
                    <p:nvPr/>
                  </p:nvSpPr>
                  <p:spPr bwMode="auto">
                    <a:xfrm>
                      <a:off x="3509" y="346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8" name="Oval 267">
                      <a:extLst>
                        <a:ext uri="{FF2B5EF4-FFF2-40B4-BE49-F238E27FC236}">
                          <a16:creationId xmlns:a16="http://schemas.microsoft.com/office/drawing/2014/main" id="{5FB709BF-7F54-45FB-83DB-0B4B1A8A9418}"/>
                        </a:ext>
                      </a:extLst>
                    </p:cNvPr>
                    <p:cNvSpPr>
                      <a:spLocks noChangeArrowheads="1"/>
                    </p:cNvSpPr>
                    <p:nvPr/>
                  </p:nvSpPr>
                  <p:spPr bwMode="auto">
                    <a:xfrm>
                      <a:off x="3471" y="3462"/>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9" name="Oval 268">
                      <a:extLst>
                        <a:ext uri="{FF2B5EF4-FFF2-40B4-BE49-F238E27FC236}">
                          <a16:creationId xmlns:a16="http://schemas.microsoft.com/office/drawing/2014/main" id="{29D21827-1BE6-45E1-BEDF-FB8CDC4E99BF}"/>
                        </a:ext>
                      </a:extLst>
                    </p:cNvPr>
                    <p:cNvSpPr>
                      <a:spLocks noChangeArrowheads="1"/>
                    </p:cNvSpPr>
                    <p:nvPr/>
                  </p:nvSpPr>
                  <p:spPr bwMode="auto">
                    <a:xfrm>
                      <a:off x="3489" y="3469"/>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0" name="Oval 269">
                      <a:extLst>
                        <a:ext uri="{FF2B5EF4-FFF2-40B4-BE49-F238E27FC236}">
                          <a16:creationId xmlns:a16="http://schemas.microsoft.com/office/drawing/2014/main" id="{62C791C3-CFA4-4390-9DF6-C03AB6534773}"/>
                        </a:ext>
                      </a:extLst>
                    </p:cNvPr>
                    <p:cNvSpPr>
                      <a:spLocks noChangeArrowheads="1"/>
                    </p:cNvSpPr>
                    <p:nvPr/>
                  </p:nvSpPr>
                  <p:spPr bwMode="auto">
                    <a:xfrm>
                      <a:off x="3505" y="347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1" name="Oval 270">
                      <a:extLst>
                        <a:ext uri="{FF2B5EF4-FFF2-40B4-BE49-F238E27FC236}">
                          <a16:creationId xmlns:a16="http://schemas.microsoft.com/office/drawing/2014/main" id="{53ECD488-7249-4E4B-BE3F-A57DC4191A20}"/>
                        </a:ext>
                      </a:extLst>
                    </p:cNvPr>
                    <p:cNvSpPr>
                      <a:spLocks noChangeArrowheads="1"/>
                    </p:cNvSpPr>
                    <p:nvPr/>
                  </p:nvSpPr>
                  <p:spPr bwMode="auto">
                    <a:xfrm>
                      <a:off x="3468" y="347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2" name="Oval 271">
                      <a:extLst>
                        <a:ext uri="{FF2B5EF4-FFF2-40B4-BE49-F238E27FC236}">
                          <a16:creationId xmlns:a16="http://schemas.microsoft.com/office/drawing/2014/main" id="{4FA24F43-7074-46B2-BA09-0B6F989BFECD}"/>
                        </a:ext>
                      </a:extLst>
                    </p:cNvPr>
                    <p:cNvSpPr>
                      <a:spLocks noChangeArrowheads="1"/>
                    </p:cNvSpPr>
                    <p:nvPr/>
                  </p:nvSpPr>
                  <p:spPr bwMode="auto">
                    <a:xfrm>
                      <a:off x="3485" y="348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247" name="Group 272">
                  <a:extLst>
                    <a:ext uri="{FF2B5EF4-FFF2-40B4-BE49-F238E27FC236}">
                      <a16:creationId xmlns:a16="http://schemas.microsoft.com/office/drawing/2014/main" id="{E75D992D-FE71-457D-8B8F-BF20AB662E37}"/>
                    </a:ext>
                  </a:extLst>
                </p:cNvPr>
                <p:cNvGrpSpPr>
                  <a:grpSpLocks/>
                </p:cNvGrpSpPr>
                <p:nvPr/>
              </p:nvGrpSpPr>
              <p:grpSpPr bwMode="auto">
                <a:xfrm>
                  <a:off x="3401" y="3356"/>
                  <a:ext cx="80" cy="92"/>
                  <a:chOff x="3401" y="3356"/>
                  <a:chExt cx="80" cy="92"/>
                </a:xfrm>
              </p:grpSpPr>
              <p:grpSp>
                <p:nvGrpSpPr>
                  <p:cNvPr id="248" name="Group 273">
                    <a:extLst>
                      <a:ext uri="{FF2B5EF4-FFF2-40B4-BE49-F238E27FC236}">
                        <a16:creationId xmlns:a16="http://schemas.microsoft.com/office/drawing/2014/main" id="{6DEA6623-A3B9-4443-BB96-D743FBFF21CA}"/>
                      </a:ext>
                    </a:extLst>
                  </p:cNvPr>
                  <p:cNvGrpSpPr>
                    <a:grpSpLocks/>
                  </p:cNvGrpSpPr>
                  <p:nvPr/>
                </p:nvGrpSpPr>
                <p:grpSpPr bwMode="auto">
                  <a:xfrm>
                    <a:off x="3426" y="3385"/>
                    <a:ext cx="40" cy="42"/>
                    <a:chOff x="3426" y="3385"/>
                    <a:chExt cx="40" cy="42"/>
                  </a:xfrm>
                </p:grpSpPr>
                <p:sp>
                  <p:nvSpPr>
                    <p:cNvPr id="256" name="Freeform 274">
                      <a:extLst>
                        <a:ext uri="{FF2B5EF4-FFF2-40B4-BE49-F238E27FC236}">
                          <a16:creationId xmlns:a16="http://schemas.microsoft.com/office/drawing/2014/main" id="{8006218D-024B-4AA0-A650-C14EBD49466A}"/>
                        </a:ext>
                      </a:extLst>
                    </p:cNvPr>
                    <p:cNvSpPr>
                      <a:spLocks/>
                    </p:cNvSpPr>
                    <p:nvPr/>
                  </p:nvSpPr>
                  <p:spPr bwMode="auto">
                    <a:xfrm>
                      <a:off x="3426" y="3385"/>
                      <a:ext cx="40"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4" y="52"/>
                          </a:lnTo>
                          <a:lnTo>
                            <a:pt x="244" y="74"/>
                          </a:lnTo>
                          <a:lnTo>
                            <a:pt x="335" y="134"/>
                          </a:lnTo>
                          <a:lnTo>
                            <a:pt x="362" y="166"/>
                          </a:lnTo>
                          <a:lnTo>
                            <a:pt x="390" y="218"/>
                          </a:lnTo>
                          <a:lnTo>
                            <a:pt x="425" y="278"/>
                          </a:lnTo>
                          <a:lnTo>
                            <a:pt x="456" y="341"/>
                          </a:lnTo>
                          <a:lnTo>
                            <a:pt x="471" y="378"/>
                          </a:lnTo>
                          <a:lnTo>
                            <a:pt x="475" y="404"/>
                          </a:lnTo>
                          <a:lnTo>
                            <a:pt x="475" y="427"/>
                          </a:lnTo>
                          <a:lnTo>
                            <a:pt x="467" y="445"/>
                          </a:lnTo>
                          <a:lnTo>
                            <a:pt x="447" y="467"/>
                          </a:lnTo>
                          <a:lnTo>
                            <a:pt x="428" y="483"/>
                          </a:lnTo>
                          <a:lnTo>
                            <a:pt x="387" y="493"/>
                          </a:lnTo>
                          <a:lnTo>
                            <a:pt x="357" y="497"/>
                          </a:lnTo>
                          <a:lnTo>
                            <a:pt x="318" y="497"/>
                          </a:lnTo>
                          <a:lnTo>
                            <a:pt x="290" y="488"/>
                          </a:lnTo>
                          <a:lnTo>
                            <a:pt x="261" y="471"/>
                          </a:lnTo>
                          <a:lnTo>
                            <a:pt x="242" y="460"/>
                          </a:lnTo>
                          <a:lnTo>
                            <a:pt x="220" y="441"/>
                          </a:lnTo>
                          <a:lnTo>
                            <a:pt x="205" y="419"/>
                          </a:lnTo>
                          <a:lnTo>
                            <a:pt x="186" y="387"/>
                          </a:lnTo>
                          <a:lnTo>
                            <a:pt x="168" y="356"/>
                          </a:lnTo>
                          <a:lnTo>
                            <a:pt x="161"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 name="Freeform 275">
                      <a:extLst>
                        <a:ext uri="{FF2B5EF4-FFF2-40B4-BE49-F238E27FC236}">
                          <a16:creationId xmlns:a16="http://schemas.microsoft.com/office/drawing/2014/main" id="{8AD3ABFC-B4DC-4171-9D08-CBE15E070E41}"/>
                        </a:ext>
                      </a:extLst>
                    </p:cNvPr>
                    <p:cNvSpPr>
                      <a:spLocks/>
                    </p:cNvSpPr>
                    <p:nvPr/>
                  </p:nvSpPr>
                  <p:spPr bwMode="auto">
                    <a:xfrm>
                      <a:off x="3426" y="3385"/>
                      <a:ext cx="40"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4" y="52"/>
                          </a:lnTo>
                          <a:lnTo>
                            <a:pt x="244" y="74"/>
                          </a:lnTo>
                          <a:lnTo>
                            <a:pt x="335" y="134"/>
                          </a:lnTo>
                          <a:lnTo>
                            <a:pt x="362" y="166"/>
                          </a:lnTo>
                          <a:lnTo>
                            <a:pt x="390" y="218"/>
                          </a:lnTo>
                          <a:lnTo>
                            <a:pt x="425" y="278"/>
                          </a:lnTo>
                          <a:lnTo>
                            <a:pt x="456" y="341"/>
                          </a:lnTo>
                          <a:lnTo>
                            <a:pt x="471" y="378"/>
                          </a:lnTo>
                          <a:lnTo>
                            <a:pt x="475" y="404"/>
                          </a:lnTo>
                          <a:lnTo>
                            <a:pt x="475" y="427"/>
                          </a:lnTo>
                          <a:lnTo>
                            <a:pt x="467" y="445"/>
                          </a:lnTo>
                          <a:lnTo>
                            <a:pt x="447" y="467"/>
                          </a:lnTo>
                          <a:lnTo>
                            <a:pt x="428" y="483"/>
                          </a:lnTo>
                          <a:lnTo>
                            <a:pt x="387" y="493"/>
                          </a:lnTo>
                          <a:lnTo>
                            <a:pt x="357" y="497"/>
                          </a:lnTo>
                          <a:lnTo>
                            <a:pt x="318" y="497"/>
                          </a:lnTo>
                          <a:lnTo>
                            <a:pt x="290" y="488"/>
                          </a:lnTo>
                          <a:lnTo>
                            <a:pt x="261" y="471"/>
                          </a:lnTo>
                          <a:lnTo>
                            <a:pt x="242" y="460"/>
                          </a:lnTo>
                          <a:lnTo>
                            <a:pt x="220" y="441"/>
                          </a:lnTo>
                          <a:lnTo>
                            <a:pt x="205" y="419"/>
                          </a:lnTo>
                          <a:lnTo>
                            <a:pt x="186" y="387"/>
                          </a:lnTo>
                          <a:lnTo>
                            <a:pt x="168" y="356"/>
                          </a:lnTo>
                          <a:lnTo>
                            <a:pt x="161"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49" name="Group 276">
                    <a:extLst>
                      <a:ext uri="{FF2B5EF4-FFF2-40B4-BE49-F238E27FC236}">
                        <a16:creationId xmlns:a16="http://schemas.microsoft.com/office/drawing/2014/main" id="{4E824B1F-9EFD-49F6-B34B-093D42F584BE}"/>
                      </a:ext>
                    </a:extLst>
                  </p:cNvPr>
                  <p:cNvGrpSpPr>
                    <a:grpSpLocks/>
                  </p:cNvGrpSpPr>
                  <p:nvPr/>
                </p:nvGrpSpPr>
                <p:grpSpPr bwMode="auto">
                  <a:xfrm>
                    <a:off x="3447" y="3367"/>
                    <a:ext cx="29" cy="32"/>
                    <a:chOff x="3447" y="3367"/>
                    <a:chExt cx="29" cy="32"/>
                  </a:xfrm>
                </p:grpSpPr>
                <p:sp>
                  <p:nvSpPr>
                    <p:cNvPr id="254" name="Freeform 277">
                      <a:extLst>
                        <a:ext uri="{FF2B5EF4-FFF2-40B4-BE49-F238E27FC236}">
                          <a16:creationId xmlns:a16="http://schemas.microsoft.com/office/drawing/2014/main" id="{9BADA150-FA85-48C5-93C9-16DDD775BEF6}"/>
                        </a:ext>
                      </a:extLst>
                    </p:cNvPr>
                    <p:cNvSpPr>
                      <a:spLocks/>
                    </p:cNvSpPr>
                    <p:nvPr/>
                  </p:nvSpPr>
                  <p:spPr bwMode="auto">
                    <a:xfrm>
                      <a:off x="3447" y="3367"/>
                      <a:ext cx="29" cy="32"/>
                    </a:xfrm>
                    <a:custGeom>
                      <a:avLst/>
                      <a:gdLst>
                        <a:gd name="T0" fmla="*/ 0 w 352"/>
                        <a:gd name="T1" fmla="*/ 0 h 390"/>
                        <a:gd name="T2" fmla="*/ 0 w 352"/>
                        <a:gd name="T3" fmla="*/ 0 h 390"/>
                        <a:gd name="T4" fmla="*/ 0 w 352"/>
                        <a:gd name="T5" fmla="*/ 0 h 390"/>
                        <a:gd name="T6" fmla="*/ 0 w 352"/>
                        <a:gd name="T7" fmla="*/ 0 h 390"/>
                        <a:gd name="T8" fmla="*/ 0 w 352"/>
                        <a:gd name="T9" fmla="*/ 0 h 390"/>
                        <a:gd name="T10" fmla="*/ 0 w 352"/>
                        <a:gd name="T11" fmla="*/ 0 h 390"/>
                        <a:gd name="T12" fmla="*/ 0 w 352"/>
                        <a:gd name="T13" fmla="*/ 0 h 390"/>
                        <a:gd name="T14" fmla="*/ 0 w 352"/>
                        <a:gd name="T15" fmla="*/ 0 h 390"/>
                        <a:gd name="T16" fmla="*/ 0 w 352"/>
                        <a:gd name="T17" fmla="*/ 0 h 390"/>
                        <a:gd name="T18" fmla="*/ 0 w 352"/>
                        <a:gd name="T19" fmla="*/ 0 h 390"/>
                        <a:gd name="T20" fmla="*/ 0 w 352"/>
                        <a:gd name="T21" fmla="*/ 0 h 390"/>
                        <a:gd name="T22" fmla="*/ 0 w 352"/>
                        <a:gd name="T23" fmla="*/ 0 h 390"/>
                        <a:gd name="T24" fmla="*/ 0 w 352"/>
                        <a:gd name="T25" fmla="*/ 0 h 390"/>
                        <a:gd name="T26" fmla="*/ 0 w 352"/>
                        <a:gd name="T27" fmla="*/ 0 h 390"/>
                        <a:gd name="T28" fmla="*/ 0 w 352"/>
                        <a:gd name="T29" fmla="*/ 0 h 390"/>
                        <a:gd name="T30" fmla="*/ 0 w 352"/>
                        <a:gd name="T31" fmla="*/ 0 h 390"/>
                        <a:gd name="T32" fmla="*/ 0 w 352"/>
                        <a:gd name="T33" fmla="*/ 0 h 390"/>
                        <a:gd name="T34" fmla="*/ 0 w 352"/>
                        <a:gd name="T35" fmla="*/ 0 h 390"/>
                        <a:gd name="T36" fmla="*/ 0 w 352"/>
                        <a:gd name="T37" fmla="*/ 0 h 390"/>
                        <a:gd name="T38" fmla="*/ 0 w 352"/>
                        <a:gd name="T39" fmla="*/ 0 h 390"/>
                        <a:gd name="T40" fmla="*/ 0 w 352"/>
                        <a:gd name="T41" fmla="*/ 0 h 390"/>
                        <a:gd name="T42" fmla="*/ 0 w 352"/>
                        <a:gd name="T43" fmla="*/ 0 h 390"/>
                        <a:gd name="T44" fmla="*/ 0 w 352"/>
                        <a:gd name="T45" fmla="*/ 0 h 390"/>
                        <a:gd name="T46" fmla="*/ 0 w 352"/>
                        <a:gd name="T47" fmla="*/ 0 h 390"/>
                        <a:gd name="T48" fmla="*/ 0 w 352"/>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2"/>
                        <a:gd name="T76" fmla="*/ 0 h 390"/>
                        <a:gd name="T77" fmla="*/ 352 w 352"/>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2" h="390">
                          <a:moveTo>
                            <a:pt x="0" y="0"/>
                          </a:moveTo>
                          <a:lnTo>
                            <a:pt x="83" y="9"/>
                          </a:lnTo>
                          <a:lnTo>
                            <a:pt x="134" y="25"/>
                          </a:lnTo>
                          <a:lnTo>
                            <a:pt x="177" y="52"/>
                          </a:lnTo>
                          <a:lnTo>
                            <a:pt x="218" y="77"/>
                          </a:lnTo>
                          <a:lnTo>
                            <a:pt x="240" y="104"/>
                          </a:lnTo>
                          <a:lnTo>
                            <a:pt x="268" y="130"/>
                          </a:lnTo>
                          <a:lnTo>
                            <a:pt x="297" y="178"/>
                          </a:lnTo>
                          <a:lnTo>
                            <a:pt x="321" y="223"/>
                          </a:lnTo>
                          <a:lnTo>
                            <a:pt x="337" y="257"/>
                          </a:lnTo>
                          <a:lnTo>
                            <a:pt x="352" y="287"/>
                          </a:lnTo>
                          <a:lnTo>
                            <a:pt x="352" y="323"/>
                          </a:lnTo>
                          <a:lnTo>
                            <a:pt x="332" y="355"/>
                          </a:lnTo>
                          <a:lnTo>
                            <a:pt x="293" y="373"/>
                          </a:lnTo>
                          <a:lnTo>
                            <a:pt x="246" y="386"/>
                          </a:lnTo>
                          <a:lnTo>
                            <a:pt x="208" y="390"/>
                          </a:lnTo>
                          <a:lnTo>
                            <a:pt x="165" y="376"/>
                          </a:lnTo>
                          <a:lnTo>
                            <a:pt x="126" y="360"/>
                          </a:lnTo>
                          <a:lnTo>
                            <a:pt x="87"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5" name="Freeform 278">
                      <a:extLst>
                        <a:ext uri="{FF2B5EF4-FFF2-40B4-BE49-F238E27FC236}">
                          <a16:creationId xmlns:a16="http://schemas.microsoft.com/office/drawing/2014/main" id="{BE6BB744-C5A0-4808-BA4A-2A3C6F8C1391}"/>
                        </a:ext>
                      </a:extLst>
                    </p:cNvPr>
                    <p:cNvSpPr>
                      <a:spLocks/>
                    </p:cNvSpPr>
                    <p:nvPr/>
                  </p:nvSpPr>
                  <p:spPr bwMode="auto">
                    <a:xfrm>
                      <a:off x="3447" y="3367"/>
                      <a:ext cx="29" cy="32"/>
                    </a:xfrm>
                    <a:custGeom>
                      <a:avLst/>
                      <a:gdLst>
                        <a:gd name="T0" fmla="*/ 0 w 352"/>
                        <a:gd name="T1" fmla="*/ 0 h 390"/>
                        <a:gd name="T2" fmla="*/ 0 w 352"/>
                        <a:gd name="T3" fmla="*/ 0 h 390"/>
                        <a:gd name="T4" fmla="*/ 0 w 352"/>
                        <a:gd name="T5" fmla="*/ 0 h 390"/>
                        <a:gd name="T6" fmla="*/ 0 w 352"/>
                        <a:gd name="T7" fmla="*/ 0 h 390"/>
                        <a:gd name="T8" fmla="*/ 0 w 352"/>
                        <a:gd name="T9" fmla="*/ 0 h 390"/>
                        <a:gd name="T10" fmla="*/ 0 w 352"/>
                        <a:gd name="T11" fmla="*/ 0 h 390"/>
                        <a:gd name="T12" fmla="*/ 0 w 352"/>
                        <a:gd name="T13" fmla="*/ 0 h 390"/>
                        <a:gd name="T14" fmla="*/ 0 w 352"/>
                        <a:gd name="T15" fmla="*/ 0 h 390"/>
                        <a:gd name="T16" fmla="*/ 0 w 352"/>
                        <a:gd name="T17" fmla="*/ 0 h 390"/>
                        <a:gd name="T18" fmla="*/ 0 w 352"/>
                        <a:gd name="T19" fmla="*/ 0 h 390"/>
                        <a:gd name="T20" fmla="*/ 0 w 352"/>
                        <a:gd name="T21" fmla="*/ 0 h 390"/>
                        <a:gd name="T22" fmla="*/ 0 w 352"/>
                        <a:gd name="T23" fmla="*/ 0 h 390"/>
                        <a:gd name="T24" fmla="*/ 0 w 352"/>
                        <a:gd name="T25" fmla="*/ 0 h 390"/>
                        <a:gd name="T26" fmla="*/ 0 w 352"/>
                        <a:gd name="T27" fmla="*/ 0 h 390"/>
                        <a:gd name="T28" fmla="*/ 0 w 352"/>
                        <a:gd name="T29" fmla="*/ 0 h 390"/>
                        <a:gd name="T30" fmla="*/ 0 w 352"/>
                        <a:gd name="T31" fmla="*/ 0 h 390"/>
                        <a:gd name="T32" fmla="*/ 0 w 352"/>
                        <a:gd name="T33" fmla="*/ 0 h 390"/>
                        <a:gd name="T34" fmla="*/ 0 w 352"/>
                        <a:gd name="T35" fmla="*/ 0 h 390"/>
                        <a:gd name="T36" fmla="*/ 0 w 352"/>
                        <a:gd name="T37" fmla="*/ 0 h 390"/>
                        <a:gd name="T38" fmla="*/ 0 w 352"/>
                        <a:gd name="T39" fmla="*/ 0 h 390"/>
                        <a:gd name="T40" fmla="*/ 0 w 352"/>
                        <a:gd name="T41" fmla="*/ 0 h 390"/>
                        <a:gd name="T42" fmla="*/ 0 w 352"/>
                        <a:gd name="T43" fmla="*/ 0 h 390"/>
                        <a:gd name="T44" fmla="*/ 0 w 352"/>
                        <a:gd name="T45" fmla="*/ 0 h 390"/>
                        <a:gd name="T46" fmla="*/ 0 w 352"/>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2"/>
                        <a:gd name="T73" fmla="*/ 0 h 390"/>
                        <a:gd name="T74" fmla="*/ 352 w 352"/>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2" h="390">
                          <a:moveTo>
                            <a:pt x="0" y="0"/>
                          </a:moveTo>
                          <a:lnTo>
                            <a:pt x="83" y="9"/>
                          </a:lnTo>
                          <a:lnTo>
                            <a:pt x="134" y="25"/>
                          </a:lnTo>
                          <a:lnTo>
                            <a:pt x="177" y="52"/>
                          </a:lnTo>
                          <a:lnTo>
                            <a:pt x="218" y="77"/>
                          </a:lnTo>
                          <a:lnTo>
                            <a:pt x="240" y="104"/>
                          </a:lnTo>
                          <a:lnTo>
                            <a:pt x="268" y="130"/>
                          </a:lnTo>
                          <a:lnTo>
                            <a:pt x="297" y="178"/>
                          </a:lnTo>
                          <a:lnTo>
                            <a:pt x="321" y="223"/>
                          </a:lnTo>
                          <a:lnTo>
                            <a:pt x="337" y="257"/>
                          </a:lnTo>
                          <a:lnTo>
                            <a:pt x="352" y="287"/>
                          </a:lnTo>
                          <a:lnTo>
                            <a:pt x="352" y="323"/>
                          </a:lnTo>
                          <a:lnTo>
                            <a:pt x="332" y="355"/>
                          </a:lnTo>
                          <a:lnTo>
                            <a:pt x="293" y="373"/>
                          </a:lnTo>
                          <a:lnTo>
                            <a:pt x="246" y="386"/>
                          </a:lnTo>
                          <a:lnTo>
                            <a:pt x="208" y="390"/>
                          </a:lnTo>
                          <a:lnTo>
                            <a:pt x="165" y="376"/>
                          </a:lnTo>
                          <a:lnTo>
                            <a:pt x="126" y="360"/>
                          </a:lnTo>
                          <a:lnTo>
                            <a:pt x="87"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50" name="Group 279">
                    <a:extLst>
                      <a:ext uri="{FF2B5EF4-FFF2-40B4-BE49-F238E27FC236}">
                        <a16:creationId xmlns:a16="http://schemas.microsoft.com/office/drawing/2014/main" id="{A1A34A42-E25A-4EC7-964B-544725C9B58C}"/>
                      </a:ext>
                    </a:extLst>
                  </p:cNvPr>
                  <p:cNvGrpSpPr>
                    <a:grpSpLocks/>
                  </p:cNvGrpSpPr>
                  <p:nvPr/>
                </p:nvGrpSpPr>
                <p:grpSpPr bwMode="auto">
                  <a:xfrm>
                    <a:off x="3401" y="3412"/>
                    <a:ext cx="62" cy="36"/>
                    <a:chOff x="3401" y="3412"/>
                    <a:chExt cx="62" cy="36"/>
                  </a:xfrm>
                </p:grpSpPr>
                <p:sp>
                  <p:nvSpPr>
                    <p:cNvPr id="252" name="Freeform 280">
                      <a:extLst>
                        <a:ext uri="{FF2B5EF4-FFF2-40B4-BE49-F238E27FC236}">
                          <a16:creationId xmlns:a16="http://schemas.microsoft.com/office/drawing/2014/main" id="{D94A133B-3A40-4053-AE3E-F5E4A1E34C2A}"/>
                        </a:ext>
                      </a:extLst>
                    </p:cNvPr>
                    <p:cNvSpPr>
                      <a:spLocks/>
                    </p:cNvSpPr>
                    <p:nvPr/>
                  </p:nvSpPr>
                  <p:spPr bwMode="auto">
                    <a:xfrm>
                      <a:off x="3401" y="3412"/>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6" y="16"/>
                          </a:lnTo>
                          <a:lnTo>
                            <a:pt x="224" y="28"/>
                          </a:lnTo>
                          <a:lnTo>
                            <a:pt x="272" y="42"/>
                          </a:lnTo>
                          <a:lnTo>
                            <a:pt x="327" y="69"/>
                          </a:lnTo>
                          <a:lnTo>
                            <a:pt x="404" y="147"/>
                          </a:lnTo>
                          <a:lnTo>
                            <a:pt x="505" y="205"/>
                          </a:lnTo>
                          <a:lnTo>
                            <a:pt x="581" y="231"/>
                          </a:lnTo>
                          <a:lnTo>
                            <a:pt x="638" y="252"/>
                          </a:lnTo>
                          <a:lnTo>
                            <a:pt x="686" y="274"/>
                          </a:lnTo>
                          <a:lnTo>
                            <a:pt x="714" y="296"/>
                          </a:lnTo>
                          <a:lnTo>
                            <a:pt x="742" y="317"/>
                          </a:lnTo>
                          <a:lnTo>
                            <a:pt x="742" y="349"/>
                          </a:lnTo>
                          <a:lnTo>
                            <a:pt x="732" y="381"/>
                          </a:lnTo>
                          <a:lnTo>
                            <a:pt x="714" y="402"/>
                          </a:lnTo>
                          <a:lnTo>
                            <a:pt x="695" y="413"/>
                          </a:lnTo>
                          <a:lnTo>
                            <a:pt x="669" y="426"/>
                          </a:lnTo>
                          <a:lnTo>
                            <a:pt x="634" y="432"/>
                          </a:lnTo>
                          <a:lnTo>
                            <a:pt x="604" y="432"/>
                          </a:lnTo>
                          <a:lnTo>
                            <a:pt x="566" y="420"/>
                          </a:lnTo>
                          <a:lnTo>
                            <a:pt x="534" y="413"/>
                          </a:lnTo>
                          <a:lnTo>
                            <a:pt x="432" y="369"/>
                          </a:lnTo>
                          <a:lnTo>
                            <a:pt x="355" y="349"/>
                          </a:lnTo>
                          <a:lnTo>
                            <a:pt x="309" y="340"/>
                          </a:lnTo>
                          <a:lnTo>
                            <a:pt x="260" y="328"/>
                          </a:lnTo>
                          <a:lnTo>
                            <a:pt x="210" y="306"/>
                          </a:lnTo>
                          <a:lnTo>
                            <a:pt x="172" y="286"/>
                          </a:lnTo>
                          <a:lnTo>
                            <a:pt x="154"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3" name="Freeform 281">
                      <a:extLst>
                        <a:ext uri="{FF2B5EF4-FFF2-40B4-BE49-F238E27FC236}">
                          <a16:creationId xmlns:a16="http://schemas.microsoft.com/office/drawing/2014/main" id="{71D153DD-CF3D-414F-8477-974F84173EE5}"/>
                        </a:ext>
                      </a:extLst>
                    </p:cNvPr>
                    <p:cNvSpPr>
                      <a:spLocks/>
                    </p:cNvSpPr>
                    <p:nvPr/>
                  </p:nvSpPr>
                  <p:spPr bwMode="auto">
                    <a:xfrm>
                      <a:off x="3401" y="3412"/>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6" y="16"/>
                          </a:lnTo>
                          <a:lnTo>
                            <a:pt x="224" y="28"/>
                          </a:lnTo>
                          <a:lnTo>
                            <a:pt x="272" y="42"/>
                          </a:lnTo>
                          <a:lnTo>
                            <a:pt x="327" y="69"/>
                          </a:lnTo>
                          <a:lnTo>
                            <a:pt x="404" y="147"/>
                          </a:lnTo>
                          <a:lnTo>
                            <a:pt x="505" y="205"/>
                          </a:lnTo>
                          <a:lnTo>
                            <a:pt x="581" y="231"/>
                          </a:lnTo>
                          <a:lnTo>
                            <a:pt x="638" y="252"/>
                          </a:lnTo>
                          <a:lnTo>
                            <a:pt x="686" y="274"/>
                          </a:lnTo>
                          <a:lnTo>
                            <a:pt x="714" y="296"/>
                          </a:lnTo>
                          <a:lnTo>
                            <a:pt x="742" y="317"/>
                          </a:lnTo>
                          <a:lnTo>
                            <a:pt x="742" y="349"/>
                          </a:lnTo>
                          <a:lnTo>
                            <a:pt x="732" y="381"/>
                          </a:lnTo>
                          <a:lnTo>
                            <a:pt x="714" y="402"/>
                          </a:lnTo>
                          <a:lnTo>
                            <a:pt x="695" y="413"/>
                          </a:lnTo>
                          <a:lnTo>
                            <a:pt x="669" y="426"/>
                          </a:lnTo>
                          <a:lnTo>
                            <a:pt x="634" y="432"/>
                          </a:lnTo>
                          <a:lnTo>
                            <a:pt x="604" y="432"/>
                          </a:lnTo>
                          <a:lnTo>
                            <a:pt x="566" y="420"/>
                          </a:lnTo>
                          <a:lnTo>
                            <a:pt x="534" y="413"/>
                          </a:lnTo>
                          <a:lnTo>
                            <a:pt x="432" y="369"/>
                          </a:lnTo>
                          <a:lnTo>
                            <a:pt x="355" y="349"/>
                          </a:lnTo>
                          <a:lnTo>
                            <a:pt x="309" y="340"/>
                          </a:lnTo>
                          <a:lnTo>
                            <a:pt x="260" y="328"/>
                          </a:lnTo>
                          <a:lnTo>
                            <a:pt x="210" y="306"/>
                          </a:lnTo>
                          <a:lnTo>
                            <a:pt x="172" y="286"/>
                          </a:lnTo>
                          <a:lnTo>
                            <a:pt x="154"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51" name="Freeform 282">
                    <a:extLst>
                      <a:ext uri="{FF2B5EF4-FFF2-40B4-BE49-F238E27FC236}">
                        <a16:creationId xmlns:a16="http://schemas.microsoft.com/office/drawing/2014/main" id="{4DD504DE-AA40-41E9-8F23-CDB7A3F80646}"/>
                      </a:ext>
                    </a:extLst>
                  </p:cNvPr>
                  <p:cNvSpPr>
                    <a:spLocks/>
                  </p:cNvSpPr>
                  <p:nvPr/>
                </p:nvSpPr>
                <p:spPr bwMode="auto">
                  <a:xfrm>
                    <a:off x="3447" y="3356"/>
                    <a:ext cx="34"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50" y="4"/>
                        </a:lnTo>
                        <a:lnTo>
                          <a:pt x="293" y="6"/>
                        </a:lnTo>
                        <a:lnTo>
                          <a:pt x="340" y="10"/>
                        </a:lnTo>
                        <a:lnTo>
                          <a:pt x="372" y="20"/>
                        </a:lnTo>
                        <a:lnTo>
                          <a:pt x="386" y="35"/>
                        </a:lnTo>
                        <a:lnTo>
                          <a:pt x="399" y="57"/>
                        </a:lnTo>
                        <a:lnTo>
                          <a:pt x="407" y="83"/>
                        </a:lnTo>
                        <a:lnTo>
                          <a:pt x="412" y="116"/>
                        </a:lnTo>
                        <a:lnTo>
                          <a:pt x="414" y="154"/>
                        </a:lnTo>
                        <a:lnTo>
                          <a:pt x="407" y="191"/>
                        </a:lnTo>
                        <a:lnTo>
                          <a:pt x="395" y="221"/>
                        </a:lnTo>
                        <a:lnTo>
                          <a:pt x="375" y="240"/>
                        </a:lnTo>
                        <a:lnTo>
                          <a:pt x="356" y="252"/>
                        </a:lnTo>
                        <a:lnTo>
                          <a:pt x="327" y="259"/>
                        </a:lnTo>
                        <a:lnTo>
                          <a:pt x="299" y="262"/>
                        </a:lnTo>
                        <a:lnTo>
                          <a:pt x="272" y="259"/>
                        </a:lnTo>
                        <a:lnTo>
                          <a:pt x="243" y="233"/>
                        </a:lnTo>
                        <a:lnTo>
                          <a:pt x="224" y="210"/>
                        </a:lnTo>
                        <a:lnTo>
                          <a:pt x="195" y="189"/>
                        </a:lnTo>
                        <a:lnTo>
                          <a:pt x="167" y="172"/>
                        </a:lnTo>
                        <a:lnTo>
                          <a:pt x="135" y="153"/>
                        </a:lnTo>
                        <a:lnTo>
                          <a:pt x="105" y="141"/>
                        </a:lnTo>
                        <a:lnTo>
                          <a:pt x="80" y="134"/>
                        </a:lnTo>
                        <a:lnTo>
                          <a:pt x="57"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grpSp>
        <p:grpSp>
          <p:nvGrpSpPr>
            <p:cNvPr id="238" name="Group 289">
              <a:extLst>
                <a:ext uri="{FF2B5EF4-FFF2-40B4-BE49-F238E27FC236}">
                  <a16:creationId xmlns:a16="http://schemas.microsoft.com/office/drawing/2014/main" id="{A2F66FDB-B65B-4B71-B598-1C75214BC3D4}"/>
                </a:ext>
              </a:extLst>
            </p:cNvPr>
            <p:cNvGrpSpPr>
              <a:grpSpLocks/>
            </p:cNvGrpSpPr>
            <p:nvPr/>
          </p:nvGrpSpPr>
          <p:grpSpPr bwMode="auto">
            <a:xfrm>
              <a:off x="2927" y="3146"/>
              <a:ext cx="377" cy="205"/>
              <a:chOff x="2927" y="3146"/>
              <a:chExt cx="377" cy="205"/>
            </a:xfrm>
          </p:grpSpPr>
          <p:sp>
            <p:nvSpPr>
              <p:cNvPr id="241" name="Line 290">
                <a:extLst>
                  <a:ext uri="{FF2B5EF4-FFF2-40B4-BE49-F238E27FC236}">
                    <a16:creationId xmlns:a16="http://schemas.microsoft.com/office/drawing/2014/main" id="{7433B92A-A40D-4712-BEC5-A1D1113EEC12}"/>
                  </a:ext>
                </a:extLst>
              </p:cNvPr>
              <p:cNvSpPr>
                <a:spLocks noChangeShapeType="1"/>
              </p:cNvSpPr>
              <p:nvPr/>
            </p:nvSpPr>
            <p:spPr bwMode="auto">
              <a:xfrm flipH="1" flipV="1">
                <a:off x="2927" y="3146"/>
                <a:ext cx="377" cy="2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2" name="Freeform 291">
                <a:extLst>
                  <a:ext uri="{FF2B5EF4-FFF2-40B4-BE49-F238E27FC236}">
                    <a16:creationId xmlns:a16="http://schemas.microsoft.com/office/drawing/2014/main" id="{AA71237F-CB48-4B4F-BAAF-8AC5308B6FFD}"/>
                  </a:ext>
                </a:extLst>
              </p:cNvPr>
              <p:cNvSpPr>
                <a:spLocks/>
              </p:cNvSpPr>
              <p:nvPr/>
            </p:nvSpPr>
            <p:spPr bwMode="auto">
              <a:xfrm>
                <a:off x="2928" y="3147"/>
                <a:ext cx="78" cy="63"/>
              </a:xfrm>
              <a:custGeom>
                <a:avLst/>
                <a:gdLst>
                  <a:gd name="T0" fmla="*/ 78 w 78"/>
                  <a:gd name="T1" fmla="*/ 2 h 63"/>
                  <a:gd name="T2" fmla="*/ 0 w 78"/>
                  <a:gd name="T3" fmla="*/ 0 h 63"/>
                  <a:gd name="T4" fmla="*/ 44 w 78"/>
                  <a:gd name="T5" fmla="*/ 63 h 63"/>
                  <a:gd name="T6" fmla="*/ 0 60000 65536"/>
                  <a:gd name="T7" fmla="*/ 0 60000 65536"/>
                  <a:gd name="T8" fmla="*/ 0 60000 65536"/>
                  <a:gd name="T9" fmla="*/ 0 w 78"/>
                  <a:gd name="T10" fmla="*/ 0 h 63"/>
                  <a:gd name="T11" fmla="*/ 78 w 78"/>
                  <a:gd name="T12" fmla="*/ 63 h 63"/>
                </a:gdLst>
                <a:ahLst/>
                <a:cxnLst>
                  <a:cxn ang="T6">
                    <a:pos x="T0" y="T1"/>
                  </a:cxn>
                  <a:cxn ang="T7">
                    <a:pos x="T2" y="T3"/>
                  </a:cxn>
                  <a:cxn ang="T8">
                    <a:pos x="T4" y="T5"/>
                  </a:cxn>
                </a:cxnLst>
                <a:rect l="T9" t="T10" r="T11" b="T12"/>
                <a:pathLst>
                  <a:path w="78" h="63">
                    <a:moveTo>
                      <a:pt x="78" y="2"/>
                    </a:moveTo>
                    <a:lnTo>
                      <a:pt x="0" y="0"/>
                    </a:lnTo>
                    <a:lnTo>
                      <a:pt x="44" y="63"/>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39" name="Rectangle 298">
              <a:extLst>
                <a:ext uri="{FF2B5EF4-FFF2-40B4-BE49-F238E27FC236}">
                  <a16:creationId xmlns:a16="http://schemas.microsoft.com/office/drawing/2014/main" id="{69AE9112-3A23-4004-A4B8-23537D942BE4}"/>
                </a:ext>
              </a:extLst>
            </p:cNvPr>
            <p:cNvSpPr>
              <a:spLocks noChangeArrowheads="1"/>
            </p:cNvSpPr>
            <p:nvPr/>
          </p:nvSpPr>
          <p:spPr bwMode="auto">
            <a:xfrm>
              <a:off x="3179" y="3079"/>
              <a:ext cx="7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f</a:t>
              </a:r>
              <a:r>
                <a:rPr lang="en-US" altLang="en-US" sz="1400" baseline="-25000" dirty="0">
                  <a:solidFill>
                    <a:srgbClr val="000000"/>
                  </a:solidFill>
                </a:rPr>
                <a:t>1</a:t>
              </a:r>
              <a:endParaRPr lang="en-US" altLang="en-US" sz="1400" baseline="-25000" dirty="0">
                <a:latin typeface="Arial" panose="020B0604020202020204" pitchFamily="34" charset="0"/>
              </a:endParaRPr>
            </a:p>
          </p:txBody>
        </p:sp>
        <p:sp>
          <p:nvSpPr>
            <p:cNvPr id="240" name="AutoShape 307" descr="Wide upward diagonal">
              <a:extLst>
                <a:ext uri="{FF2B5EF4-FFF2-40B4-BE49-F238E27FC236}">
                  <a16:creationId xmlns:a16="http://schemas.microsoft.com/office/drawing/2014/main" id="{35B29D13-BBCE-434E-A1CB-0EAE07F89705}"/>
                </a:ext>
              </a:extLst>
            </p:cNvPr>
            <p:cNvSpPr>
              <a:spLocks noChangeArrowheads="1"/>
            </p:cNvSpPr>
            <p:nvPr/>
          </p:nvSpPr>
          <p:spPr bwMode="auto">
            <a:xfrm>
              <a:off x="3449" y="2351"/>
              <a:ext cx="322" cy="182"/>
            </a:xfrm>
            <a:prstGeom prst="cube">
              <a:avLst>
                <a:gd name="adj" fmla="val 25000"/>
              </a:avLst>
            </a:prstGeom>
            <a:pattFill prst="wdUpDiag">
              <a:fgClr>
                <a:srgbClr val="FF66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nvGrpSpPr>
          <p:cNvPr id="308" name="Group 317">
            <a:extLst>
              <a:ext uri="{FF2B5EF4-FFF2-40B4-BE49-F238E27FC236}">
                <a16:creationId xmlns:a16="http://schemas.microsoft.com/office/drawing/2014/main" id="{BC4327A8-FADC-41A6-8736-30D11E38C94E}"/>
              </a:ext>
            </a:extLst>
          </p:cNvPr>
          <p:cNvGrpSpPr>
            <a:grpSpLocks/>
          </p:cNvGrpSpPr>
          <p:nvPr/>
        </p:nvGrpSpPr>
        <p:grpSpPr bwMode="auto">
          <a:xfrm>
            <a:off x="4144169" y="3082182"/>
            <a:ext cx="4479925" cy="388938"/>
            <a:chOff x="1986" y="2351"/>
            <a:chExt cx="2822" cy="245"/>
          </a:xfrm>
        </p:grpSpPr>
        <p:sp>
          <p:nvSpPr>
            <p:cNvPr id="309" name="Rectangle 61">
              <a:extLst>
                <a:ext uri="{FF2B5EF4-FFF2-40B4-BE49-F238E27FC236}">
                  <a16:creationId xmlns:a16="http://schemas.microsoft.com/office/drawing/2014/main" id="{0826489F-AF8C-49F4-B533-AE18E2AC5AE7}"/>
                </a:ext>
              </a:extLst>
            </p:cNvPr>
            <p:cNvSpPr>
              <a:spLocks noChangeArrowheads="1"/>
            </p:cNvSpPr>
            <p:nvPr/>
          </p:nvSpPr>
          <p:spPr bwMode="auto">
            <a:xfrm>
              <a:off x="1986" y="2448"/>
              <a:ext cx="404" cy="148"/>
            </a:xfrm>
            <a:prstGeom prst="rect">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0" name="Rectangle 62">
              <a:extLst>
                <a:ext uri="{FF2B5EF4-FFF2-40B4-BE49-F238E27FC236}">
                  <a16:creationId xmlns:a16="http://schemas.microsoft.com/office/drawing/2014/main" id="{0E5F3E64-34C7-48F1-A0C9-3BF41D133FD9}"/>
                </a:ext>
              </a:extLst>
            </p:cNvPr>
            <p:cNvSpPr>
              <a:spLocks noChangeArrowheads="1"/>
            </p:cNvSpPr>
            <p:nvPr/>
          </p:nvSpPr>
          <p:spPr bwMode="auto">
            <a:xfrm>
              <a:off x="2062" y="2456"/>
              <a:ext cx="29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User 1</a:t>
              </a:r>
              <a:endParaRPr lang="en-US" altLang="en-US" sz="1400" dirty="0">
                <a:latin typeface="Arial" panose="020B0604020202020204" pitchFamily="34" charset="0"/>
              </a:endParaRPr>
            </a:p>
          </p:txBody>
        </p:sp>
        <p:sp>
          <p:nvSpPr>
            <p:cNvPr id="311" name="AutoShape 308">
              <a:extLst>
                <a:ext uri="{FF2B5EF4-FFF2-40B4-BE49-F238E27FC236}">
                  <a16:creationId xmlns:a16="http://schemas.microsoft.com/office/drawing/2014/main" id="{6969181B-EF7B-4B96-86A7-ABE930BDCC38}"/>
                </a:ext>
              </a:extLst>
            </p:cNvPr>
            <p:cNvSpPr>
              <a:spLocks noChangeArrowheads="1"/>
            </p:cNvSpPr>
            <p:nvPr/>
          </p:nvSpPr>
          <p:spPr bwMode="auto">
            <a:xfrm>
              <a:off x="3710" y="2351"/>
              <a:ext cx="322" cy="182"/>
            </a:xfrm>
            <a:prstGeom prst="cube">
              <a:avLst>
                <a:gd name="adj" fmla="val 25000"/>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2" name="AutoShape 309" descr="Large grid">
              <a:extLst>
                <a:ext uri="{FF2B5EF4-FFF2-40B4-BE49-F238E27FC236}">
                  <a16:creationId xmlns:a16="http://schemas.microsoft.com/office/drawing/2014/main" id="{C80FC682-7D41-4E34-A51A-612DA11BD815}"/>
                </a:ext>
              </a:extLst>
            </p:cNvPr>
            <p:cNvSpPr>
              <a:spLocks noChangeArrowheads="1"/>
            </p:cNvSpPr>
            <p:nvPr/>
          </p:nvSpPr>
          <p:spPr bwMode="auto">
            <a:xfrm>
              <a:off x="3971" y="2351"/>
              <a:ext cx="322" cy="182"/>
            </a:xfrm>
            <a:prstGeom prst="cube">
              <a:avLst>
                <a:gd name="adj" fmla="val 25000"/>
              </a:avLst>
            </a:prstGeom>
            <a:pattFill prst="lgGrid">
              <a:fgClr>
                <a:srgbClr val="FF00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3" name="AutoShape 310" descr="Wide upward diagonal">
              <a:extLst>
                <a:ext uri="{FF2B5EF4-FFF2-40B4-BE49-F238E27FC236}">
                  <a16:creationId xmlns:a16="http://schemas.microsoft.com/office/drawing/2014/main" id="{08815D21-BEE0-430E-BA16-0C447F6BB3E8}"/>
                </a:ext>
              </a:extLst>
            </p:cNvPr>
            <p:cNvSpPr>
              <a:spLocks noChangeArrowheads="1"/>
            </p:cNvSpPr>
            <p:nvPr/>
          </p:nvSpPr>
          <p:spPr bwMode="auto">
            <a:xfrm>
              <a:off x="4226" y="2351"/>
              <a:ext cx="321" cy="182"/>
            </a:xfrm>
            <a:prstGeom prst="cube">
              <a:avLst>
                <a:gd name="adj" fmla="val 25000"/>
              </a:avLst>
            </a:prstGeom>
            <a:pattFill prst="wdUpDiag">
              <a:fgClr>
                <a:srgbClr val="FF66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4" name="AutoShape 311">
              <a:extLst>
                <a:ext uri="{FF2B5EF4-FFF2-40B4-BE49-F238E27FC236}">
                  <a16:creationId xmlns:a16="http://schemas.microsoft.com/office/drawing/2014/main" id="{D9FD94A8-F8F8-4FAD-BA02-36BB37C5F5EA}"/>
                </a:ext>
              </a:extLst>
            </p:cNvPr>
            <p:cNvSpPr>
              <a:spLocks noChangeArrowheads="1"/>
            </p:cNvSpPr>
            <p:nvPr/>
          </p:nvSpPr>
          <p:spPr bwMode="auto">
            <a:xfrm>
              <a:off x="4487" y="2351"/>
              <a:ext cx="321" cy="182"/>
            </a:xfrm>
            <a:prstGeom prst="cube">
              <a:avLst>
                <a:gd name="adj" fmla="val 25000"/>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sp>
        <p:nvSpPr>
          <p:cNvPr id="315" name="Rectangle 313">
            <a:extLst>
              <a:ext uri="{FF2B5EF4-FFF2-40B4-BE49-F238E27FC236}">
                <a16:creationId xmlns:a16="http://schemas.microsoft.com/office/drawing/2014/main" id="{C3DDBBF5-EFFF-45F5-8C80-8FC0D4CFBEA7}"/>
              </a:ext>
            </a:extLst>
          </p:cNvPr>
          <p:cNvSpPr>
            <a:spLocks noChangeArrowheads="1"/>
          </p:cNvSpPr>
          <p:nvPr/>
        </p:nvSpPr>
        <p:spPr bwMode="auto">
          <a:xfrm>
            <a:off x="5355430" y="3036146"/>
            <a:ext cx="14128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400" dirty="0">
                <a:solidFill>
                  <a:srgbClr val="000000"/>
                </a:solidFill>
              </a:rPr>
              <a:t>f</a:t>
            </a:r>
            <a:r>
              <a:rPr lang="en-US" altLang="en-US" sz="1400" baseline="-25000" dirty="0">
                <a:solidFill>
                  <a:srgbClr val="000000"/>
                </a:solidFill>
              </a:rPr>
              <a:t>1</a:t>
            </a:r>
            <a:endParaRPr lang="en-US" altLang="en-US" sz="1400" dirty="0">
              <a:latin typeface="Arial" panose="020B0604020202020204" pitchFamily="34" charset="0"/>
            </a:endParaRPr>
          </a:p>
        </p:txBody>
      </p:sp>
      <p:pic>
        <p:nvPicPr>
          <p:cNvPr id="318" name="Pg23">
            <a:hlinkClick r:id="" action="ppaction://media"/>
            <a:extLst>
              <a:ext uri="{FF2B5EF4-FFF2-40B4-BE49-F238E27FC236}">
                <a16:creationId xmlns:a16="http://schemas.microsoft.com/office/drawing/2014/main" id="{6B5440CB-E3F9-4A8E-8DBC-D03C21540CA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882187" y="5445087"/>
            <a:ext cx="609600" cy="609600"/>
          </a:xfrm>
          <a:prstGeom prst="rect">
            <a:avLst/>
          </a:prstGeom>
        </p:spPr>
      </p:pic>
      <p:sp>
        <p:nvSpPr>
          <p:cNvPr id="323" name="Rectangle 322">
            <a:extLst>
              <a:ext uri="{FF2B5EF4-FFF2-40B4-BE49-F238E27FC236}">
                <a16:creationId xmlns:a16="http://schemas.microsoft.com/office/drawing/2014/main" id="{0E4FC0A8-87DB-4293-A3E6-0DF9D0346D89}"/>
              </a:ext>
            </a:extLst>
          </p:cNvPr>
          <p:cNvSpPr/>
          <p:nvPr/>
        </p:nvSpPr>
        <p:spPr>
          <a:xfrm>
            <a:off x="715472" y="1110267"/>
            <a:ext cx="5941050" cy="523220"/>
          </a:xfrm>
          <a:prstGeom prst="rect">
            <a:avLst/>
          </a:prstGeom>
        </p:spPr>
        <p:txBody>
          <a:bodyPr wrap="none">
            <a:spAutoFit/>
          </a:bodyPr>
          <a:lstStyle/>
          <a:p>
            <a:r>
              <a:rPr lang="en-SG" sz="2800" b="1" dirty="0">
                <a:solidFill>
                  <a:srgbClr val="00B050"/>
                </a:solidFill>
                <a:latin typeface="Calibri" panose="020F0502020204030204" pitchFamily="34" charset="0"/>
                <a:cs typeface="Calibri" panose="020F0502020204030204" pitchFamily="34" charset="0"/>
              </a:rPr>
              <a:t>T</a:t>
            </a:r>
            <a:r>
              <a:rPr lang="en-SG" sz="2800" dirty="0">
                <a:latin typeface="Calibri" panose="020F0502020204030204" pitchFamily="34" charset="0"/>
                <a:cs typeface="Calibri" panose="020F0502020204030204" pitchFamily="34" charset="0"/>
              </a:rPr>
              <a:t>ime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TDMA</a:t>
            </a:r>
            <a:r>
              <a:rPr lang="en-SG" sz="2800" dirty="0">
                <a:latin typeface="Calibri" panose="020F0502020204030204" pitchFamily="34" charset="0"/>
                <a:cs typeface="Calibri" panose="020F0502020204030204" pitchFamily="34" charset="0"/>
              </a:rPr>
              <a:t>)</a:t>
            </a:r>
            <a:endParaRPr lang="en-US" sz="2800" dirty="0"/>
          </a:p>
        </p:txBody>
      </p:sp>
      <p:sp>
        <p:nvSpPr>
          <p:cNvPr id="2" name="Rectangle 1">
            <a:extLst>
              <a:ext uri="{FF2B5EF4-FFF2-40B4-BE49-F238E27FC236}">
                <a16:creationId xmlns:a16="http://schemas.microsoft.com/office/drawing/2014/main" id="{90218FE6-BF9D-408C-511D-FE6AB762298D}"/>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9018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70" fill="hold"/>
                                        <p:tgtEl>
                                          <p:spTgt spid="318"/>
                                        </p:tgtEl>
                                      </p:cBhvr>
                                    </p:cmd>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86"/>
                                        </p:tgtEl>
                                        <p:attrNameLst>
                                          <p:attrName>style.visibility</p:attrName>
                                        </p:attrNameLst>
                                      </p:cBhvr>
                                      <p:to>
                                        <p:strVal val="visible"/>
                                      </p:to>
                                    </p:set>
                                    <p:animEffect transition="in" filter="dissolve">
                                      <p:cBhvr>
                                        <p:cTn id="11" dur="500"/>
                                        <p:tgtEl>
                                          <p:spTgt spid="86"/>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2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60"/>
                                        </p:tgtEl>
                                        <p:attrNameLst>
                                          <p:attrName>style.visibility</p:attrName>
                                        </p:attrNameLst>
                                      </p:cBhvr>
                                      <p:to>
                                        <p:strVal val="visible"/>
                                      </p:to>
                                    </p:set>
                                    <p:animEffect transition="in" filter="dissolve">
                                      <p:cBhvr>
                                        <p:cTn id="20" dur="500"/>
                                        <p:tgtEl>
                                          <p:spTgt spid="16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34"/>
                                        </p:tgtEl>
                                        <p:attrNameLst>
                                          <p:attrName>style.visibility</p:attrName>
                                        </p:attrNameLst>
                                      </p:cBhvr>
                                      <p:to>
                                        <p:strVal val="visible"/>
                                      </p:to>
                                    </p:set>
                                    <p:animEffect transition="in" filter="dissolve">
                                      <p:cBhvr>
                                        <p:cTn id="25" dur="500"/>
                                        <p:tgtEl>
                                          <p:spTgt spid="23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08"/>
                                        </p:tgtEl>
                                        <p:attrNameLst>
                                          <p:attrName>style.visibility</p:attrName>
                                        </p:attrNameLst>
                                      </p:cBhvr>
                                      <p:to>
                                        <p:strVal val="visible"/>
                                      </p:to>
                                    </p:set>
                                    <p:animEffect transition="in" filter="dissolve">
                                      <p:cBhvr>
                                        <p:cTn id="30" dur="5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31" fill="hold" display="0">
                  <p:stCondLst>
                    <p:cond delay="indefinite"/>
                  </p:stCondLst>
                  <p:endCondLst>
                    <p:cond evt="onStopAudio" delay="0">
                      <p:tgtEl>
                        <p:sldTgt/>
                      </p:tgtEl>
                    </p:cond>
                  </p:endCondLst>
                </p:cTn>
                <p:tgtEl>
                  <p:spTgt spid="318"/>
                </p:tgtEl>
              </p:cMediaNode>
            </p:audio>
          </p:childTnLst>
        </p:cTn>
      </p:par>
    </p:tnLst>
    <p:bldLst>
      <p:bldP spid="29" grpId="0"/>
      <p:bldP spid="3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4"/>
          <a:stretch>
            <a:fillRect/>
          </a:stretch>
        </p:blipFill>
        <p:spPr>
          <a:xfrm>
            <a:off x="3307545" y="1967562"/>
            <a:ext cx="5892879" cy="2653519"/>
          </a:xfrm>
          <a:prstGeom prst="rect">
            <a:avLst/>
          </a:prstGeom>
        </p:spPr>
      </p:pic>
      <p:sp>
        <p:nvSpPr>
          <p:cNvPr id="5" name="Rectangle 4"/>
          <p:cNvSpPr/>
          <p:nvPr/>
        </p:nvSpPr>
        <p:spPr>
          <a:xfrm>
            <a:off x="838199" y="4676196"/>
            <a:ext cx="10515600" cy="954107"/>
          </a:xfrm>
          <a:prstGeom prst="rect">
            <a:avLst/>
          </a:prstGeom>
        </p:spPr>
        <p:txBody>
          <a:bodyPr wrap="square">
            <a:spAutoFit/>
          </a:bodyPr>
          <a:lstStyle/>
          <a:p>
            <a:pPr algn="just"/>
            <a:r>
              <a:rPr lang="en-SG" sz="2800" b="1" dirty="0"/>
              <a:t>Time-division multiple access</a:t>
            </a:r>
            <a:r>
              <a:rPr lang="en-SG" sz="2800" dirty="0"/>
              <a:t> (TDMA) allows </a:t>
            </a:r>
            <a:r>
              <a:rPr lang="en-SG" sz="2800" dirty="0">
                <a:solidFill>
                  <a:srgbClr val="0070C0"/>
                </a:solidFill>
              </a:rPr>
              <a:t>several users to share the same frequency channel by dividing the signal into different time slots</a:t>
            </a:r>
            <a:r>
              <a:rPr lang="en-SG" sz="2800" dirty="0"/>
              <a:t>. </a:t>
            </a:r>
          </a:p>
        </p:txBody>
      </p:sp>
      <p:sp>
        <p:nvSpPr>
          <p:cNvPr id="9" name="Title 1">
            <a:extLst>
              <a:ext uri="{FF2B5EF4-FFF2-40B4-BE49-F238E27FC236}">
                <a16:creationId xmlns:a16="http://schemas.microsoft.com/office/drawing/2014/main" id="{FFFC5E9D-B7F3-4ED6-B404-A9A3DDF0FEEA}"/>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 (TDMA)</a:t>
            </a:r>
          </a:p>
        </p:txBody>
      </p:sp>
      <p:sp>
        <p:nvSpPr>
          <p:cNvPr id="15" name="Rectangle 14">
            <a:extLst>
              <a:ext uri="{FF2B5EF4-FFF2-40B4-BE49-F238E27FC236}">
                <a16:creationId xmlns:a16="http://schemas.microsoft.com/office/drawing/2014/main" id="{111E4DA5-AB35-45D3-B414-C069873181A4}"/>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2" name="Pg24">
            <a:hlinkClick r:id="" action="ppaction://media"/>
            <a:extLst>
              <a:ext uri="{FF2B5EF4-FFF2-40B4-BE49-F238E27FC236}">
                <a16:creationId xmlns:a16="http://schemas.microsoft.com/office/drawing/2014/main" id="{273353BE-429A-4E74-8B4E-71A18F3672A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823018" y="5523011"/>
            <a:ext cx="609600" cy="609600"/>
          </a:xfrm>
          <a:prstGeom prst="rect">
            <a:avLst/>
          </a:prstGeom>
        </p:spPr>
      </p:pic>
      <p:sp>
        <p:nvSpPr>
          <p:cNvPr id="17" name="Rectangle 16">
            <a:extLst>
              <a:ext uri="{FF2B5EF4-FFF2-40B4-BE49-F238E27FC236}">
                <a16:creationId xmlns:a16="http://schemas.microsoft.com/office/drawing/2014/main" id="{BE015420-9263-46B6-A612-A5CB3F86B8DF}"/>
              </a:ext>
            </a:extLst>
          </p:cNvPr>
          <p:cNvSpPr/>
          <p:nvPr/>
        </p:nvSpPr>
        <p:spPr>
          <a:xfrm>
            <a:off x="715472" y="1110267"/>
            <a:ext cx="5941050" cy="523220"/>
          </a:xfrm>
          <a:prstGeom prst="rect">
            <a:avLst/>
          </a:prstGeom>
        </p:spPr>
        <p:txBody>
          <a:bodyPr wrap="none">
            <a:spAutoFit/>
          </a:bodyPr>
          <a:lstStyle/>
          <a:p>
            <a:r>
              <a:rPr lang="en-SG" sz="2800" b="1" dirty="0">
                <a:solidFill>
                  <a:srgbClr val="00B050"/>
                </a:solidFill>
                <a:latin typeface="Calibri" panose="020F0502020204030204" pitchFamily="34" charset="0"/>
                <a:cs typeface="Calibri" panose="020F0502020204030204" pitchFamily="34" charset="0"/>
              </a:rPr>
              <a:t>T</a:t>
            </a:r>
            <a:r>
              <a:rPr lang="en-SG" sz="2800" dirty="0">
                <a:latin typeface="Calibri" panose="020F0502020204030204" pitchFamily="34" charset="0"/>
                <a:cs typeface="Calibri" panose="020F0502020204030204" pitchFamily="34" charset="0"/>
              </a:rPr>
              <a:t>ime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TDMA</a:t>
            </a:r>
            <a:r>
              <a:rPr lang="en-SG" sz="2800" dirty="0">
                <a:latin typeface="Calibri" panose="020F0502020204030204" pitchFamily="34" charset="0"/>
                <a:cs typeface="Calibri" panose="020F0502020204030204" pitchFamily="34" charset="0"/>
              </a:rPr>
              <a:t>)</a:t>
            </a:r>
            <a:endParaRPr lang="en-US" sz="2800" dirty="0"/>
          </a:p>
        </p:txBody>
      </p:sp>
      <p:sp>
        <p:nvSpPr>
          <p:cNvPr id="3" name="Rectangle 2">
            <a:extLst>
              <a:ext uri="{FF2B5EF4-FFF2-40B4-BE49-F238E27FC236}">
                <a16:creationId xmlns:a16="http://schemas.microsoft.com/office/drawing/2014/main" id="{DABD3DB9-A4BC-A414-D4DD-312CB38EA632}"/>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29425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07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11E4DA5-AB35-45D3-B414-C069873181A4}"/>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sp>
        <p:nvSpPr>
          <p:cNvPr id="10" name="Text Box 1035">
            <a:extLst>
              <a:ext uri="{FF2B5EF4-FFF2-40B4-BE49-F238E27FC236}">
                <a16:creationId xmlns:a16="http://schemas.microsoft.com/office/drawing/2014/main" id="{0DB1E686-29F2-4FCA-A0C4-93EF4B3CC997}"/>
              </a:ext>
            </a:extLst>
          </p:cNvPr>
          <p:cNvSpPr txBox="1">
            <a:spLocks noChangeArrowheads="1"/>
          </p:cNvSpPr>
          <p:nvPr/>
        </p:nvSpPr>
        <p:spPr bwMode="auto">
          <a:xfrm>
            <a:off x="7192963" y="345440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a:latin typeface="Arial" panose="020B0604020202020204" pitchFamily="34" charset="0"/>
              </a:rPr>
              <a:t>Time</a:t>
            </a:r>
            <a:endParaRPr lang="en-US" altLang="en-US" sz="1400">
              <a:latin typeface="Arial" panose="020B0604020202020204" pitchFamily="34" charset="0"/>
            </a:endParaRPr>
          </a:p>
        </p:txBody>
      </p:sp>
      <p:sp>
        <p:nvSpPr>
          <p:cNvPr id="11" name="Text Box 1036">
            <a:extLst>
              <a:ext uri="{FF2B5EF4-FFF2-40B4-BE49-F238E27FC236}">
                <a16:creationId xmlns:a16="http://schemas.microsoft.com/office/drawing/2014/main" id="{7A43A1B2-C6F6-4A04-AC7F-10A20D7FF0ED}"/>
              </a:ext>
            </a:extLst>
          </p:cNvPr>
          <p:cNvSpPr txBox="1">
            <a:spLocks noChangeArrowheads="1"/>
          </p:cNvSpPr>
          <p:nvPr/>
        </p:nvSpPr>
        <p:spPr bwMode="auto">
          <a:xfrm rot="18641054">
            <a:off x="9085263" y="2857500"/>
            <a:ext cx="1047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GB" altLang="en-US" sz="1400">
                <a:latin typeface="Arial" panose="020B0604020202020204" pitchFamily="34" charset="0"/>
              </a:rPr>
              <a:t>Frequency</a:t>
            </a:r>
            <a:endParaRPr lang="en-US" altLang="en-US" sz="1400">
              <a:latin typeface="Arial" panose="020B0604020202020204" pitchFamily="34" charset="0"/>
            </a:endParaRPr>
          </a:p>
        </p:txBody>
      </p:sp>
      <p:sp>
        <p:nvSpPr>
          <p:cNvPr id="12" name="Rectangle 1037">
            <a:extLst>
              <a:ext uri="{FF2B5EF4-FFF2-40B4-BE49-F238E27FC236}">
                <a16:creationId xmlns:a16="http://schemas.microsoft.com/office/drawing/2014/main" id="{D5FBF667-624F-4994-AD9E-89C0F413A8C8}"/>
              </a:ext>
            </a:extLst>
          </p:cNvPr>
          <p:cNvSpPr>
            <a:spLocks noChangeArrowheads="1"/>
          </p:cNvSpPr>
          <p:nvPr/>
        </p:nvSpPr>
        <p:spPr bwMode="auto">
          <a:xfrm>
            <a:off x="1524001" y="2013051"/>
            <a:ext cx="1847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6" name="Group 1327">
            <a:extLst>
              <a:ext uri="{FF2B5EF4-FFF2-40B4-BE49-F238E27FC236}">
                <a16:creationId xmlns:a16="http://schemas.microsoft.com/office/drawing/2014/main" id="{290922D3-2290-4ED9-8D90-78535B76BCF2}"/>
              </a:ext>
            </a:extLst>
          </p:cNvPr>
          <p:cNvGrpSpPr>
            <a:grpSpLocks/>
          </p:cNvGrpSpPr>
          <p:nvPr/>
        </p:nvGrpSpPr>
        <p:grpSpPr bwMode="auto">
          <a:xfrm>
            <a:off x="5953126" y="2212975"/>
            <a:ext cx="4087813" cy="1163638"/>
            <a:chOff x="1180" y="9236"/>
            <a:chExt cx="9273" cy="2680"/>
          </a:xfrm>
        </p:grpSpPr>
        <p:sp>
          <p:nvSpPr>
            <p:cNvPr id="17" name="AutoShape 1328">
              <a:extLst>
                <a:ext uri="{FF2B5EF4-FFF2-40B4-BE49-F238E27FC236}">
                  <a16:creationId xmlns:a16="http://schemas.microsoft.com/office/drawing/2014/main" id="{FA887FF2-C891-499C-A8BB-050B289B49E3}"/>
                </a:ext>
              </a:extLst>
            </p:cNvPr>
            <p:cNvSpPr>
              <a:spLocks noChangeArrowheads="1"/>
            </p:cNvSpPr>
            <p:nvPr/>
          </p:nvSpPr>
          <p:spPr bwMode="auto">
            <a:xfrm>
              <a:off x="1180" y="9436"/>
              <a:ext cx="9273" cy="2480"/>
            </a:xfrm>
            <a:prstGeom prst="parallelogram">
              <a:avLst>
                <a:gd name="adj" fmla="val 93478"/>
              </a:avLst>
            </a:prstGeom>
            <a:solidFill>
              <a:srgbClr val="FFCCCC"/>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8" name="AutoShape 1329">
              <a:extLst>
                <a:ext uri="{FF2B5EF4-FFF2-40B4-BE49-F238E27FC236}">
                  <a16:creationId xmlns:a16="http://schemas.microsoft.com/office/drawing/2014/main" id="{90502D2B-1B3E-4048-8656-46C03BAB8C13}"/>
                </a:ext>
              </a:extLst>
            </p:cNvPr>
            <p:cNvSpPr>
              <a:spLocks noChangeArrowheads="1"/>
            </p:cNvSpPr>
            <p:nvPr/>
          </p:nvSpPr>
          <p:spPr bwMode="auto">
            <a:xfrm>
              <a:off x="3120" y="9236"/>
              <a:ext cx="1060" cy="800"/>
            </a:xfrm>
            <a:prstGeom prst="cube">
              <a:avLst>
                <a:gd name="adj" fmla="val 25000"/>
              </a:avLst>
            </a:prstGeom>
            <a:solidFill>
              <a:srgbClr val="CC99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9" name="AutoShape 1330" descr="5%">
              <a:extLst>
                <a:ext uri="{FF2B5EF4-FFF2-40B4-BE49-F238E27FC236}">
                  <a16:creationId xmlns:a16="http://schemas.microsoft.com/office/drawing/2014/main" id="{4FFB1056-A085-4167-9D98-4917B75526CD}"/>
                </a:ext>
              </a:extLst>
            </p:cNvPr>
            <p:cNvSpPr>
              <a:spLocks noChangeArrowheads="1"/>
            </p:cNvSpPr>
            <p:nvPr/>
          </p:nvSpPr>
          <p:spPr bwMode="auto">
            <a:xfrm>
              <a:off x="3980" y="9236"/>
              <a:ext cx="1060" cy="800"/>
            </a:xfrm>
            <a:prstGeom prst="cube">
              <a:avLst>
                <a:gd name="adj" fmla="val 25000"/>
              </a:avLst>
            </a:prstGeom>
            <a:pattFill prst="pct5">
              <a:fgClr>
                <a:srgbClr val="993366"/>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0" name="AutoShape 1331" descr="Light downward diagonal">
              <a:extLst>
                <a:ext uri="{FF2B5EF4-FFF2-40B4-BE49-F238E27FC236}">
                  <a16:creationId xmlns:a16="http://schemas.microsoft.com/office/drawing/2014/main" id="{0674A56C-ED80-47EB-8C56-16C52EA84215}"/>
                </a:ext>
              </a:extLst>
            </p:cNvPr>
            <p:cNvSpPr>
              <a:spLocks noChangeArrowheads="1"/>
            </p:cNvSpPr>
            <p:nvPr/>
          </p:nvSpPr>
          <p:spPr bwMode="auto">
            <a:xfrm>
              <a:off x="4840" y="9236"/>
              <a:ext cx="1060" cy="800"/>
            </a:xfrm>
            <a:prstGeom prst="cube">
              <a:avLst>
                <a:gd name="adj" fmla="val 25000"/>
              </a:avLst>
            </a:prstGeom>
            <a:pattFill prst="ltDnDiag">
              <a:fgClr>
                <a:srgbClr val="660066"/>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1" name="AutoShape 1332">
              <a:extLst>
                <a:ext uri="{FF2B5EF4-FFF2-40B4-BE49-F238E27FC236}">
                  <a16:creationId xmlns:a16="http://schemas.microsoft.com/office/drawing/2014/main" id="{C27A0C99-C610-46BE-BF87-21C6A62B1BA4}"/>
                </a:ext>
              </a:extLst>
            </p:cNvPr>
            <p:cNvSpPr>
              <a:spLocks noChangeArrowheads="1"/>
            </p:cNvSpPr>
            <p:nvPr/>
          </p:nvSpPr>
          <p:spPr bwMode="auto">
            <a:xfrm>
              <a:off x="5700" y="9236"/>
              <a:ext cx="1060" cy="800"/>
            </a:xfrm>
            <a:prstGeom prst="cube">
              <a:avLst>
                <a:gd name="adj" fmla="val 25000"/>
              </a:avLst>
            </a:prstGeom>
            <a:solidFill>
              <a:srgbClr val="CC99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 name="AutoShape 1333" descr="5%">
              <a:extLst>
                <a:ext uri="{FF2B5EF4-FFF2-40B4-BE49-F238E27FC236}">
                  <a16:creationId xmlns:a16="http://schemas.microsoft.com/office/drawing/2014/main" id="{5BE4411C-C879-4B59-8F7D-014F77796597}"/>
                </a:ext>
              </a:extLst>
            </p:cNvPr>
            <p:cNvSpPr>
              <a:spLocks noChangeArrowheads="1"/>
            </p:cNvSpPr>
            <p:nvPr/>
          </p:nvSpPr>
          <p:spPr bwMode="auto">
            <a:xfrm>
              <a:off x="6560" y="9236"/>
              <a:ext cx="1060" cy="800"/>
            </a:xfrm>
            <a:prstGeom prst="cube">
              <a:avLst>
                <a:gd name="adj" fmla="val 25000"/>
              </a:avLst>
            </a:prstGeom>
            <a:pattFill prst="pct5">
              <a:fgClr>
                <a:srgbClr val="993366"/>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3" name="AutoShape 1334" descr="Light downward diagonal">
              <a:extLst>
                <a:ext uri="{FF2B5EF4-FFF2-40B4-BE49-F238E27FC236}">
                  <a16:creationId xmlns:a16="http://schemas.microsoft.com/office/drawing/2014/main" id="{2D446AC9-2734-433E-99A1-8D07B24AB9F2}"/>
                </a:ext>
              </a:extLst>
            </p:cNvPr>
            <p:cNvSpPr>
              <a:spLocks noChangeArrowheads="1"/>
            </p:cNvSpPr>
            <p:nvPr/>
          </p:nvSpPr>
          <p:spPr bwMode="auto">
            <a:xfrm>
              <a:off x="7400" y="9236"/>
              <a:ext cx="1060" cy="800"/>
            </a:xfrm>
            <a:prstGeom prst="cube">
              <a:avLst>
                <a:gd name="adj" fmla="val 25000"/>
              </a:avLst>
            </a:prstGeom>
            <a:pattFill prst="ltDnDiag">
              <a:fgClr>
                <a:srgbClr val="660066"/>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 name="AutoShape 1335">
              <a:extLst>
                <a:ext uri="{FF2B5EF4-FFF2-40B4-BE49-F238E27FC236}">
                  <a16:creationId xmlns:a16="http://schemas.microsoft.com/office/drawing/2014/main" id="{C124A27D-257D-4119-8430-DEDFE00C93FC}"/>
                </a:ext>
              </a:extLst>
            </p:cNvPr>
            <p:cNvSpPr>
              <a:spLocks noChangeArrowheads="1"/>
            </p:cNvSpPr>
            <p:nvPr/>
          </p:nvSpPr>
          <p:spPr bwMode="auto">
            <a:xfrm>
              <a:off x="8260" y="9236"/>
              <a:ext cx="1060" cy="800"/>
            </a:xfrm>
            <a:prstGeom prst="cube">
              <a:avLst>
                <a:gd name="adj" fmla="val 25000"/>
              </a:avLst>
            </a:prstGeom>
            <a:solidFill>
              <a:srgbClr val="CC99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5" name="AutoShape 1336">
              <a:extLst>
                <a:ext uri="{FF2B5EF4-FFF2-40B4-BE49-F238E27FC236}">
                  <a16:creationId xmlns:a16="http://schemas.microsoft.com/office/drawing/2014/main" id="{D5164079-6E3B-44EF-B6F9-9A1B9D95358A}"/>
                </a:ext>
              </a:extLst>
            </p:cNvPr>
            <p:cNvSpPr>
              <a:spLocks noChangeArrowheads="1"/>
            </p:cNvSpPr>
            <p:nvPr/>
          </p:nvSpPr>
          <p:spPr bwMode="auto">
            <a:xfrm>
              <a:off x="2380" y="9956"/>
              <a:ext cx="1060" cy="800"/>
            </a:xfrm>
            <a:prstGeom prst="cube">
              <a:avLst>
                <a:gd name="adj" fmla="val 25000"/>
              </a:avLst>
            </a:prstGeom>
            <a:solidFill>
              <a:srgbClr val="CCFF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6" name="AutoShape 1337" descr="Dotted grid">
              <a:extLst>
                <a:ext uri="{FF2B5EF4-FFF2-40B4-BE49-F238E27FC236}">
                  <a16:creationId xmlns:a16="http://schemas.microsoft.com/office/drawing/2014/main" id="{AA02646F-AF94-432F-8EBD-30BA49C078BB}"/>
                </a:ext>
              </a:extLst>
            </p:cNvPr>
            <p:cNvSpPr>
              <a:spLocks noChangeArrowheads="1"/>
            </p:cNvSpPr>
            <p:nvPr/>
          </p:nvSpPr>
          <p:spPr bwMode="auto">
            <a:xfrm>
              <a:off x="3240" y="9956"/>
              <a:ext cx="1060" cy="800"/>
            </a:xfrm>
            <a:prstGeom prst="cube">
              <a:avLst>
                <a:gd name="adj" fmla="val 25000"/>
              </a:avLst>
            </a:prstGeom>
            <a:pattFill prst="dotGrid">
              <a:fgClr>
                <a:srgbClr val="00808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7" name="AutoShape 1338" descr="Wide downward diagonal">
              <a:extLst>
                <a:ext uri="{FF2B5EF4-FFF2-40B4-BE49-F238E27FC236}">
                  <a16:creationId xmlns:a16="http://schemas.microsoft.com/office/drawing/2014/main" id="{B8844EC1-3007-4BE9-B117-42C8DAC82459}"/>
                </a:ext>
              </a:extLst>
            </p:cNvPr>
            <p:cNvSpPr>
              <a:spLocks noChangeArrowheads="1"/>
            </p:cNvSpPr>
            <p:nvPr/>
          </p:nvSpPr>
          <p:spPr bwMode="auto">
            <a:xfrm>
              <a:off x="4100" y="9956"/>
              <a:ext cx="1060" cy="800"/>
            </a:xfrm>
            <a:prstGeom prst="cube">
              <a:avLst>
                <a:gd name="adj" fmla="val 25000"/>
              </a:avLst>
            </a:prstGeom>
            <a:pattFill prst="wdDnDiag">
              <a:fgClr>
                <a:srgbClr val="00008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 name="AutoShape 1339">
              <a:extLst>
                <a:ext uri="{FF2B5EF4-FFF2-40B4-BE49-F238E27FC236}">
                  <a16:creationId xmlns:a16="http://schemas.microsoft.com/office/drawing/2014/main" id="{39698E21-6425-48C6-A8CB-21471C660A00}"/>
                </a:ext>
              </a:extLst>
            </p:cNvPr>
            <p:cNvSpPr>
              <a:spLocks noChangeArrowheads="1"/>
            </p:cNvSpPr>
            <p:nvPr/>
          </p:nvSpPr>
          <p:spPr bwMode="auto">
            <a:xfrm>
              <a:off x="4960" y="9956"/>
              <a:ext cx="1060" cy="800"/>
            </a:xfrm>
            <a:prstGeom prst="cube">
              <a:avLst>
                <a:gd name="adj" fmla="val 25000"/>
              </a:avLst>
            </a:prstGeom>
            <a:solidFill>
              <a:srgbClr val="CCFF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 name="AutoShape 1340" descr="Dotted grid">
              <a:extLst>
                <a:ext uri="{FF2B5EF4-FFF2-40B4-BE49-F238E27FC236}">
                  <a16:creationId xmlns:a16="http://schemas.microsoft.com/office/drawing/2014/main" id="{CB43B8B3-7CA1-4E4B-85F8-D6D53F4FA33E}"/>
                </a:ext>
              </a:extLst>
            </p:cNvPr>
            <p:cNvSpPr>
              <a:spLocks noChangeArrowheads="1"/>
            </p:cNvSpPr>
            <p:nvPr/>
          </p:nvSpPr>
          <p:spPr bwMode="auto">
            <a:xfrm>
              <a:off x="5820" y="9956"/>
              <a:ext cx="1060" cy="800"/>
            </a:xfrm>
            <a:prstGeom prst="cube">
              <a:avLst>
                <a:gd name="adj" fmla="val 25000"/>
              </a:avLst>
            </a:prstGeom>
            <a:pattFill prst="dotGrid">
              <a:fgClr>
                <a:srgbClr val="00808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0" name="AutoShape 1341" descr="Wide downward diagonal">
              <a:extLst>
                <a:ext uri="{FF2B5EF4-FFF2-40B4-BE49-F238E27FC236}">
                  <a16:creationId xmlns:a16="http://schemas.microsoft.com/office/drawing/2014/main" id="{137D7B1F-D914-4950-AB2B-D998769C2131}"/>
                </a:ext>
              </a:extLst>
            </p:cNvPr>
            <p:cNvSpPr>
              <a:spLocks noChangeArrowheads="1"/>
            </p:cNvSpPr>
            <p:nvPr/>
          </p:nvSpPr>
          <p:spPr bwMode="auto">
            <a:xfrm>
              <a:off x="6660" y="9956"/>
              <a:ext cx="1060" cy="800"/>
            </a:xfrm>
            <a:prstGeom prst="cube">
              <a:avLst>
                <a:gd name="adj" fmla="val 25000"/>
              </a:avLst>
            </a:prstGeom>
            <a:pattFill prst="wdDnDiag">
              <a:fgClr>
                <a:srgbClr val="00008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 name="AutoShape 1342">
              <a:extLst>
                <a:ext uri="{FF2B5EF4-FFF2-40B4-BE49-F238E27FC236}">
                  <a16:creationId xmlns:a16="http://schemas.microsoft.com/office/drawing/2014/main" id="{C6F7AE27-41BD-48DE-88DD-9663020A37E5}"/>
                </a:ext>
              </a:extLst>
            </p:cNvPr>
            <p:cNvSpPr>
              <a:spLocks noChangeArrowheads="1"/>
            </p:cNvSpPr>
            <p:nvPr/>
          </p:nvSpPr>
          <p:spPr bwMode="auto">
            <a:xfrm>
              <a:off x="7520" y="9956"/>
              <a:ext cx="1060" cy="800"/>
            </a:xfrm>
            <a:prstGeom prst="cube">
              <a:avLst>
                <a:gd name="adj" fmla="val 25000"/>
              </a:avLst>
            </a:prstGeom>
            <a:solidFill>
              <a:srgbClr val="CCFF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32" name="Group 1343">
              <a:extLst>
                <a:ext uri="{FF2B5EF4-FFF2-40B4-BE49-F238E27FC236}">
                  <a16:creationId xmlns:a16="http://schemas.microsoft.com/office/drawing/2014/main" id="{98A4FE3C-0708-456E-825A-2C87998F38FE}"/>
                </a:ext>
              </a:extLst>
            </p:cNvPr>
            <p:cNvGrpSpPr>
              <a:grpSpLocks/>
            </p:cNvGrpSpPr>
            <p:nvPr/>
          </p:nvGrpSpPr>
          <p:grpSpPr bwMode="auto">
            <a:xfrm>
              <a:off x="1640" y="10736"/>
              <a:ext cx="6200" cy="800"/>
              <a:chOff x="1640" y="10460"/>
              <a:chExt cx="6200" cy="800"/>
            </a:xfrm>
          </p:grpSpPr>
          <p:sp>
            <p:nvSpPr>
              <p:cNvPr id="33" name="AutoShape 1344">
                <a:extLst>
                  <a:ext uri="{FF2B5EF4-FFF2-40B4-BE49-F238E27FC236}">
                    <a16:creationId xmlns:a16="http://schemas.microsoft.com/office/drawing/2014/main" id="{14EC07E0-95AD-4C15-A90E-99AC8D9AD261}"/>
                  </a:ext>
                </a:extLst>
              </p:cNvPr>
              <p:cNvSpPr>
                <a:spLocks noChangeArrowheads="1"/>
              </p:cNvSpPr>
              <p:nvPr/>
            </p:nvSpPr>
            <p:spPr bwMode="auto">
              <a:xfrm>
                <a:off x="1640" y="10460"/>
                <a:ext cx="1060" cy="800"/>
              </a:xfrm>
              <a:prstGeom prst="cube">
                <a:avLst>
                  <a:gd name="adj" fmla="val 25000"/>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4" name="AutoShape 1345" descr="Large grid">
                <a:extLst>
                  <a:ext uri="{FF2B5EF4-FFF2-40B4-BE49-F238E27FC236}">
                    <a16:creationId xmlns:a16="http://schemas.microsoft.com/office/drawing/2014/main" id="{474BA265-36A0-4408-96E3-92017135F6CF}"/>
                  </a:ext>
                </a:extLst>
              </p:cNvPr>
              <p:cNvSpPr>
                <a:spLocks noChangeArrowheads="1"/>
              </p:cNvSpPr>
              <p:nvPr/>
            </p:nvSpPr>
            <p:spPr bwMode="auto">
              <a:xfrm>
                <a:off x="2500" y="10460"/>
                <a:ext cx="1060" cy="800"/>
              </a:xfrm>
              <a:prstGeom prst="cube">
                <a:avLst>
                  <a:gd name="adj" fmla="val 25000"/>
                </a:avLst>
              </a:prstGeom>
              <a:pattFill prst="lgGrid">
                <a:fgClr>
                  <a:srgbClr val="FF00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5" name="AutoShape 1346" descr="Wide upward diagonal">
                <a:extLst>
                  <a:ext uri="{FF2B5EF4-FFF2-40B4-BE49-F238E27FC236}">
                    <a16:creationId xmlns:a16="http://schemas.microsoft.com/office/drawing/2014/main" id="{493116BA-07FD-4946-99A4-58B3D3F60C7D}"/>
                  </a:ext>
                </a:extLst>
              </p:cNvPr>
              <p:cNvSpPr>
                <a:spLocks noChangeArrowheads="1"/>
              </p:cNvSpPr>
              <p:nvPr/>
            </p:nvSpPr>
            <p:spPr bwMode="auto">
              <a:xfrm>
                <a:off x="3360" y="10460"/>
                <a:ext cx="1060" cy="800"/>
              </a:xfrm>
              <a:prstGeom prst="cube">
                <a:avLst>
                  <a:gd name="adj" fmla="val 25000"/>
                </a:avLst>
              </a:prstGeom>
              <a:pattFill prst="wdUpDiag">
                <a:fgClr>
                  <a:srgbClr val="FF66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6" name="AutoShape 1347">
                <a:extLst>
                  <a:ext uri="{FF2B5EF4-FFF2-40B4-BE49-F238E27FC236}">
                    <a16:creationId xmlns:a16="http://schemas.microsoft.com/office/drawing/2014/main" id="{C65DD0AD-C5FF-49BD-8453-8BDF4347262D}"/>
                  </a:ext>
                </a:extLst>
              </p:cNvPr>
              <p:cNvSpPr>
                <a:spLocks noChangeArrowheads="1"/>
              </p:cNvSpPr>
              <p:nvPr/>
            </p:nvSpPr>
            <p:spPr bwMode="auto">
              <a:xfrm>
                <a:off x="4220" y="10460"/>
                <a:ext cx="1060" cy="800"/>
              </a:xfrm>
              <a:prstGeom prst="cube">
                <a:avLst>
                  <a:gd name="adj" fmla="val 25000"/>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 name="AutoShape 1348" descr="Large grid">
                <a:extLst>
                  <a:ext uri="{FF2B5EF4-FFF2-40B4-BE49-F238E27FC236}">
                    <a16:creationId xmlns:a16="http://schemas.microsoft.com/office/drawing/2014/main" id="{85AA16AC-DB3B-42EE-BEC0-393D9FD10933}"/>
                  </a:ext>
                </a:extLst>
              </p:cNvPr>
              <p:cNvSpPr>
                <a:spLocks noChangeArrowheads="1"/>
              </p:cNvSpPr>
              <p:nvPr/>
            </p:nvSpPr>
            <p:spPr bwMode="auto">
              <a:xfrm>
                <a:off x="5080" y="10460"/>
                <a:ext cx="1060" cy="800"/>
              </a:xfrm>
              <a:prstGeom prst="cube">
                <a:avLst>
                  <a:gd name="adj" fmla="val 25000"/>
                </a:avLst>
              </a:prstGeom>
              <a:pattFill prst="lgGrid">
                <a:fgClr>
                  <a:srgbClr val="FF00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8" name="AutoShape 1349" descr="Wide upward diagonal">
                <a:extLst>
                  <a:ext uri="{FF2B5EF4-FFF2-40B4-BE49-F238E27FC236}">
                    <a16:creationId xmlns:a16="http://schemas.microsoft.com/office/drawing/2014/main" id="{F36E5C44-47A0-428C-B45C-947A6038507D}"/>
                  </a:ext>
                </a:extLst>
              </p:cNvPr>
              <p:cNvSpPr>
                <a:spLocks noChangeArrowheads="1"/>
              </p:cNvSpPr>
              <p:nvPr/>
            </p:nvSpPr>
            <p:spPr bwMode="auto">
              <a:xfrm>
                <a:off x="5920" y="10460"/>
                <a:ext cx="1060" cy="800"/>
              </a:xfrm>
              <a:prstGeom prst="cube">
                <a:avLst>
                  <a:gd name="adj" fmla="val 25000"/>
                </a:avLst>
              </a:prstGeom>
              <a:pattFill prst="wdUpDiag">
                <a:fgClr>
                  <a:srgbClr val="FF66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9" name="AutoShape 1350">
                <a:extLst>
                  <a:ext uri="{FF2B5EF4-FFF2-40B4-BE49-F238E27FC236}">
                    <a16:creationId xmlns:a16="http://schemas.microsoft.com/office/drawing/2014/main" id="{33500783-BB66-4345-BD19-5AFB533D168E}"/>
                  </a:ext>
                </a:extLst>
              </p:cNvPr>
              <p:cNvSpPr>
                <a:spLocks noChangeArrowheads="1"/>
              </p:cNvSpPr>
              <p:nvPr/>
            </p:nvSpPr>
            <p:spPr bwMode="auto">
              <a:xfrm>
                <a:off x="6780" y="10460"/>
                <a:ext cx="1060" cy="800"/>
              </a:xfrm>
              <a:prstGeom prst="cube">
                <a:avLst>
                  <a:gd name="adj" fmla="val 25000"/>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40" name="Group 1368">
            <a:extLst>
              <a:ext uri="{FF2B5EF4-FFF2-40B4-BE49-F238E27FC236}">
                <a16:creationId xmlns:a16="http://schemas.microsoft.com/office/drawing/2014/main" id="{B9867BAD-EE64-480C-A042-1A21B806EBCD}"/>
              </a:ext>
            </a:extLst>
          </p:cNvPr>
          <p:cNvGrpSpPr>
            <a:grpSpLocks/>
          </p:cNvGrpSpPr>
          <p:nvPr/>
        </p:nvGrpSpPr>
        <p:grpSpPr bwMode="auto">
          <a:xfrm>
            <a:off x="2251075" y="1833563"/>
            <a:ext cx="3295650" cy="2108200"/>
            <a:chOff x="421" y="1674"/>
            <a:chExt cx="2076" cy="1328"/>
          </a:xfrm>
        </p:grpSpPr>
        <p:sp>
          <p:nvSpPr>
            <p:cNvPr id="41" name="AutoShape 1038">
              <a:extLst>
                <a:ext uri="{FF2B5EF4-FFF2-40B4-BE49-F238E27FC236}">
                  <a16:creationId xmlns:a16="http://schemas.microsoft.com/office/drawing/2014/main" id="{B401B6DF-38CE-4E08-AE01-D03C90F14426}"/>
                </a:ext>
              </a:extLst>
            </p:cNvPr>
            <p:cNvSpPr>
              <a:spLocks noChangeAspect="1" noChangeArrowheads="1" noTextEdit="1"/>
            </p:cNvSpPr>
            <p:nvPr/>
          </p:nvSpPr>
          <p:spPr bwMode="auto">
            <a:xfrm>
              <a:off x="421" y="1674"/>
              <a:ext cx="2076" cy="1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2" name="Rectangle 1045">
              <a:extLst>
                <a:ext uri="{FF2B5EF4-FFF2-40B4-BE49-F238E27FC236}">
                  <a16:creationId xmlns:a16="http://schemas.microsoft.com/office/drawing/2014/main" id="{97490651-006A-432F-89C0-E64AC0B0CEB8}"/>
                </a:ext>
              </a:extLst>
            </p:cNvPr>
            <p:cNvSpPr>
              <a:spLocks noChangeArrowheads="1"/>
            </p:cNvSpPr>
            <p:nvPr/>
          </p:nvSpPr>
          <p:spPr bwMode="auto">
            <a:xfrm>
              <a:off x="2154" y="2802"/>
              <a:ext cx="343"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43" name="Group 1367">
              <a:extLst>
                <a:ext uri="{FF2B5EF4-FFF2-40B4-BE49-F238E27FC236}">
                  <a16:creationId xmlns:a16="http://schemas.microsoft.com/office/drawing/2014/main" id="{78CC5C88-AE9B-4998-BE64-33031B32A79D}"/>
                </a:ext>
              </a:extLst>
            </p:cNvPr>
            <p:cNvGrpSpPr>
              <a:grpSpLocks/>
            </p:cNvGrpSpPr>
            <p:nvPr/>
          </p:nvGrpSpPr>
          <p:grpSpPr bwMode="auto">
            <a:xfrm>
              <a:off x="421" y="1680"/>
              <a:ext cx="1960" cy="1322"/>
              <a:chOff x="421" y="1680"/>
              <a:chExt cx="1960" cy="1322"/>
            </a:xfrm>
          </p:grpSpPr>
          <p:grpSp>
            <p:nvGrpSpPr>
              <p:cNvPr id="44" name="Group 1039">
                <a:extLst>
                  <a:ext uri="{FF2B5EF4-FFF2-40B4-BE49-F238E27FC236}">
                    <a16:creationId xmlns:a16="http://schemas.microsoft.com/office/drawing/2014/main" id="{584B1DBE-695D-4645-8FFC-E1843AB92638}"/>
                  </a:ext>
                </a:extLst>
              </p:cNvPr>
              <p:cNvGrpSpPr>
                <a:grpSpLocks/>
              </p:cNvGrpSpPr>
              <p:nvPr/>
            </p:nvGrpSpPr>
            <p:grpSpPr bwMode="auto">
              <a:xfrm>
                <a:off x="732" y="1680"/>
                <a:ext cx="62" cy="1074"/>
                <a:chOff x="732" y="1680"/>
                <a:chExt cx="62" cy="1074"/>
              </a:xfrm>
            </p:grpSpPr>
            <p:sp>
              <p:nvSpPr>
                <p:cNvPr id="106" name="Line 1040">
                  <a:extLst>
                    <a:ext uri="{FF2B5EF4-FFF2-40B4-BE49-F238E27FC236}">
                      <a16:creationId xmlns:a16="http://schemas.microsoft.com/office/drawing/2014/main" id="{37293357-133B-4155-A360-8FC6F80597BE}"/>
                    </a:ext>
                  </a:extLst>
                </p:cNvPr>
                <p:cNvSpPr>
                  <a:spLocks noChangeShapeType="1"/>
                </p:cNvSpPr>
                <p:nvPr/>
              </p:nvSpPr>
              <p:spPr bwMode="auto">
                <a:xfrm flipV="1">
                  <a:off x="763" y="1740"/>
                  <a:ext cx="1" cy="10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Freeform 1041">
                  <a:extLst>
                    <a:ext uri="{FF2B5EF4-FFF2-40B4-BE49-F238E27FC236}">
                      <a16:creationId xmlns:a16="http://schemas.microsoft.com/office/drawing/2014/main" id="{C5BB2FED-DB81-411B-AC1B-9E29F8475582}"/>
                    </a:ext>
                  </a:extLst>
                </p:cNvPr>
                <p:cNvSpPr>
                  <a:spLocks/>
                </p:cNvSpPr>
                <p:nvPr/>
              </p:nvSpPr>
              <p:spPr bwMode="auto">
                <a:xfrm>
                  <a:off x="732" y="1680"/>
                  <a:ext cx="62" cy="62"/>
                </a:xfrm>
                <a:custGeom>
                  <a:avLst/>
                  <a:gdLst>
                    <a:gd name="T0" fmla="*/ 7 w 125"/>
                    <a:gd name="T1" fmla="*/ 8 h 124"/>
                    <a:gd name="T2" fmla="*/ 3 w 125"/>
                    <a:gd name="T3" fmla="*/ 0 h 124"/>
                    <a:gd name="T4" fmla="*/ 0 w 125"/>
                    <a:gd name="T5" fmla="*/ 8 h 124"/>
                    <a:gd name="T6" fmla="*/ 7 w 125"/>
                    <a:gd name="T7" fmla="*/ 8 h 124"/>
                    <a:gd name="T8" fmla="*/ 0 60000 65536"/>
                    <a:gd name="T9" fmla="*/ 0 60000 65536"/>
                    <a:gd name="T10" fmla="*/ 0 60000 65536"/>
                    <a:gd name="T11" fmla="*/ 0 60000 65536"/>
                    <a:gd name="T12" fmla="*/ 0 w 125"/>
                    <a:gd name="T13" fmla="*/ 0 h 124"/>
                    <a:gd name="T14" fmla="*/ 125 w 125"/>
                    <a:gd name="T15" fmla="*/ 124 h 124"/>
                  </a:gdLst>
                  <a:ahLst/>
                  <a:cxnLst>
                    <a:cxn ang="T8">
                      <a:pos x="T0" y="T1"/>
                    </a:cxn>
                    <a:cxn ang="T9">
                      <a:pos x="T2" y="T3"/>
                    </a:cxn>
                    <a:cxn ang="T10">
                      <a:pos x="T4" y="T5"/>
                    </a:cxn>
                    <a:cxn ang="T11">
                      <a:pos x="T6" y="T7"/>
                    </a:cxn>
                  </a:cxnLst>
                  <a:rect l="T12" t="T13" r="T14" b="T15"/>
                  <a:pathLst>
                    <a:path w="125" h="124">
                      <a:moveTo>
                        <a:pt x="125" y="124"/>
                      </a:moveTo>
                      <a:lnTo>
                        <a:pt x="61" y="0"/>
                      </a:lnTo>
                      <a:lnTo>
                        <a:pt x="0" y="124"/>
                      </a:lnTo>
                      <a:lnTo>
                        <a:pt x="125" y="1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5" name="Group 1042">
                <a:extLst>
                  <a:ext uri="{FF2B5EF4-FFF2-40B4-BE49-F238E27FC236}">
                    <a16:creationId xmlns:a16="http://schemas.microsoft.com/office/drawing/2014/main" id="{F66E5781-31C3-4667-9766-C03B1DA3622B}"/>
                  </a:ext>
                </a:extLst>
              </p:cNvPr>
              <p:cNvGrpSpPr>
                <a:grpSpLocks/>
              </p:cNvGrpSpPr>
              <p:nvPr/>
            </p:nvGrpSpPr>
            <p:grpSpPr bwMode="auto">
              <a:xfrm>
                <a:off x="763" y="2729"/>
                <a:ext cx="1578" cy="63"/>
                <a:chOff x="763" y="2729"/>
                <a:chExt cx="1578" cy="63"/>
              </a:xfrm>
            </p:grpSpPr>
            <p:sp>
              <p:nvSpPr>
                <p:cNvPr id="104" name="Line 1043">
                  <a:extLst>
                    <a:ext uri="{FF2B5EF4-FFF2-40B4-BE49-F238E27FC236}">
                      <a16:creationId xmlns:a16="http://schemas.microsoft.com/office/drawing/2014/main" id="{BA83A6F5-DB0C-4694-A805-A2875FF1796C}"/>
                    </a:ext>
                  </a:extLst>
                </p:cNvPr>
                <p:cNvSpPr>
                  <a:spLocks noChangeShapeType="1"/>
                </p:cNvSpPr>
                <p:nvPr/>
              </p:nvSpPr>
              <p:spPr bwMode="auto">
                <a:xfrm>
                  <a:off x="763" y="2760"/>
                  <a:ext cx="151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 name="Freeform 1044">
                  <a:extLst>
                    <a:ext uri="{FF2B5EF4-FFF2-40B4-BE49-F238E27FC236}">
                      <a16:creationId xmlns:a16="http://schemas.microsoft.com/office/drawing/2014/main" id="{E3373E8F-F088-4B94-9311-AA73EE567C3E}"/>
                    </a:ext>
                  </a:extLst>
                </p:cNvPr>
                <p:cNvSpPr>
                  <a:spLocks/>
                </p:cNvSpPr>
                <p:nvPr/>
              </p:nvSpPr>
              <p:spPr bwMode="auto">
                <a:xfrm>
                  <a:off x="2278" y="2729"/>
                  <a:ext cx="63" cy="63"/>
                </a:xfrm>
                <a:custGeom>
                  <a:avLst/>
                  <a:gdLst>
                    <a:gd name="T0" fmla="*/ 0 w 125"/>
                    <a:gd name="T1" fmla="*/ 8 h 125"/>
                    <a:gd name="T2" fmla="*/ 8 w 125"/>
                    <a:gd name="T3" fmla="*/ 4 h 125"/>
                    <a:gd name="T4" fmla="*/ 0 w 125"/>
                    <a:gd name="T5" fmla="*/ 0 h 125"/>
                    <a:gd name="T6" fmla="*/ 0 w 125"/>
                    <a:gd name="T7" fmla="*/ 8 h 125"/>
                    <a:gd name="T8" fmla="*/ 0 60000 65536"/>
                    <a:gd name="T9" fmla="*/ 0 60000 65536"/>
                    <a:gd name="T10" fmla="*/ 0 60000 65536"/>
                    <a:gd name="T11" fmla="*/ 0 60000 65536"/>
                    <a:gd name="T12" fmla="*/ 0 w 125"/>
                    <a:gd name="T13" fmla="*/ 0 h 125"/>
                    <a:gd name="T14" fmla="*/ 125 w 125"/>
                    <a:gd name="T15" fmla="*/ 125 h 125"/>
                  </a:gdLst>
                  <a:ahLst/>
                  <a:cxnLst>
                    <a:cxn ang="T8">
                      <a:pos x="T0" y="T1"/>
                    </a:cxn>
                    <a:cxn ang="T9">
                      <a:pos x="T2" y="T3"/>
                    </a:cxn>
                    <a:cxn ang="T10">
                      <a:pos x="T4" y="T5"/>
                    </a:cxn>
                    <a:cxn ang="T11">
                      <a:pos x="T6" y="T7"/>
                    </a:cxn>
                  </a:cxnLst>
                  <a:rect l="T12" t="T13" r="T14" b="T15"/>
                  <a:pathLst>
                    <a:path w="125" h="125">
                      <a:moveTo>
                        <a:pt x="0" y="125"/>
                      </a:moveTo>
                      <a:lnTo>
                        <a:pt x="125" y="62"/>
                      </a:lnTo>
                      <a:lnTo>
                        <a:pt x="0" y="0"/>
                      </a:lnTo>
                      <a:lnTo>
                        <a:pt x="0" y="1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6" name="Rectangle 1046">
                <a:extLst>
                  <a:ext uri="{FF2B5EF4-FFF2-40B4-BE49-F238E27FC236}">
                    <a16:creationId xmlns:a16="http://schemas.microsoft.com/office/drawing/2014/main" id="{350FA166-8EE3-409E-A8DC-9AED6E835AA6}"/>
                  </a:ext>
                </a:extLst>
              </p:cNvPr>
              <p:cNvSpPr>
                <a:spLocks noChangeArrowheads="1"/>
              </p:cNvSpPr>
              <p:nvPr/>
            </p:nvSpPr>
            <p:spPr bwMode="auto">
              <a:xfrm>
                <a:off x="2212" y="2834"/>
                <a:ext cx="16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Time</a:t>
                </a:r>
                <a:endParaRPr lang="en-US" altLang="en-US" sz="1400">
                  <a:latin typeface="Arial" panose="020B0604020202020204" pitchFamily="34" charset="0"/>
                </a:endParaRPr>
              </a:p>
            </p:txBody>
          </p:sp>
          <p:sp>
            <p:nvSpPr>
              <p:cNvPr id="47" name="Rectangle 1047">
                <a:extLst>
                  <a:ext uri="{FF2B5EF4-FFF2-40B4-BE49-F238E27FC236}">
                    <a16:creationId xmlns:a16="http://schemas.microsoft.com/office/drawing/2014/main" id="{1885A0AA-C10D-47A5-8EA6-8645FB78CAC6}"/>
                  </a:ext>
                </a:extLst>
              </p:cNvPr>
              <p:cNvSpPr>
                <a:spLocks noChangeArrowheads="1"/>
              </p:cNvSpPr>
              <p:nvPr/>
            </p:nvSpPr>
            <p:spPr bwMode="auto">
              <a:xfrm>
                <a:off x="604" y="2435"/>
                <a:ext cx="22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8" name="Rectangle 1048">
                <a:extLst>
                  <a:ext uri="{FF2B5EF4-FFF2-40B4-BE49-F238E27FC236}">
                    <a16:creationId xmlns:a16="http://schemas.microsoft.com/office/drawing/2014/main" id="{DFC7DFED-7629-46D5-AEA7-99E9F939500C}"/>
                  </a:ext>
                </a:extLst>
              </p:cNvPr>
              <p:cNvSpPr>
                <a:spLocks noChangeArrowheads="1"/>
              </p:cNvSpPr>
              <p:nvPr/>
            </p:nvSpPr>
            <p:spPr bwMode="auto">
              <a:xfrm>
                <a:off x="662" y="2466"/>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f</a:t>
                </a:r>
                <a:endParaRPr lang="en-US" altLang="en-US" sz="1400">
                  <a:latin typeface="Arial" panose="020B0604020202020204" pitchFamily="34" charset="0"/>
                </a:endParaRPr>
              </a:p>
            </p:txBody>
          </p:sp>
          <p:sp>
            <p:nvSpPr>
              <p:cNvPr id="49" name="Rectangle 1049">
                <a:extLst>
                  <a:ext uri="{FF2B5EF4-FFF2-40B4-BE49-F238E27FC236}">
                    <a16:creationId xmlns:a16="http://schemas.microsoft.com/office/drawing/2014/main" id="{6C833F64-35A3-4CCE-84CA-CA4263ED0BCC}"/>
                  </a:ext>
                </a:extLst>
              </p:cNvPr>
              <p:cNvSpPr>
                <a:spLocks noChangeArrowheads="1"/>
              </p:cNvSpPr>
              <p:nvPr/>
            </p:nvSpPr>
            <p:spPr bwMode="auto">
              <a:xfrm>
                <a:off x="688" y="2504"/>
                <a:ext cx="28"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1</a:t>
                </a:r>
                <a:endParaRPr lang="en-US" altLang="en-US" sz="1400">
                  <a:latin typeface="Arial" panose="020B0604020202020204" pitchFamily="34" charset="0"/>
                </a:endParaRPr>
              </a:p>
            </p:txBody>
          </p:sp>
          <p:sp>
            <p:nvSpPr>
              <p:cNvPr id="50" name="Rectangle 1050">
                <a:extLst>
                  <a:ext uri="{FF2B5EF4-FFF2-40B4-BE49-F238E27FC236}">
                    <a16:creationId xmlns:a16="http://schemas.microsoft.com/office/drawing/2014/main" id="{5E2FE511-4638-4737-AAFF-001100C0226B}"/>
                  </a:ext>
                </a:extLst>
              </p:cNvPr>
              <p:cNvSpPr>
                <a:spLocks noChangeArrowheads="1"/>
              </p:cNvSpPr>
              <p:nvPr/>
            </p:nvSpPr>
            <p:spPr bwMode="auto">
              <a:xfrm>
                <a:off x="421" y="1800"/>
                <a:ext cx="402"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1" name="Rectangle 1051">
                <a:extLst>
                  <a:ext uri="{FF2B5EF4-FFF2-40B4-BE49-F238E27FC236}">
                    <a16:creationId xmlns:a16="http://schemas.microsoft.com/office/drawing/2014/main" id="{FDD47DA7-8CFC-4A9C-9066-06288F368B2F}"/>
                  </a:ext>
                </a:extLst>
              </p:cNvPr>
              <p:cNvSpPr>
                <a:spLocks noChangeArrowheads="1"/>
              </p:cNvSpPr>
              <p:nvPr/>
            </p:nvSpPr>
            <p:spPr bwMode="auto">
              <a:xfrm>
                <a:off x="538" y="1831"/>
                <a:ext cx="16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Freq.</a:t>
                </a:r>
                <a:endParaRPr lang="en-US" altLang="en-US" sz="1400">
                  <a:latin typeface="Arial" panose="020B0604020202020204" pitchFamily="34" charset="0"/>
                </a:endParaRPr>
              </a:p>
            </p:txBody>
          </p:sp>
          <p:sp>
            <p:nvSpPr>
              <p:cNvPr id="52" name="Rectangle 1052">
                <a:extLst>
                  <a:ext uri="{FF2B5EF4-FFF2-40B4-BE49-F238E27FC236}">
                    <a16:creationId xmlns:a16="http://schemas.microsoft.com/office/drawing/2014/main" id="{B48DC98B-B03D-4187-ACED-6A3D4527031C}"/>
                  </a:ext>
                </a:extLst>
              </p:cNvPr>
              <p:cNvSpPr>
                <a:spLocks noChangeArrowheads="1"/>
              </p:cNvSpPr>
              <p:nvPr/>
            </p:nvSpPr>
            <p:spPr bwMode="auto">
              <a:xfrm>
                <a:off x="766" y="2447"/>
                <a:ext cx="404" cy="151"/>
              </a:xfrm>
              <a:prstGeom prst="rect">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3" name="Rectangle 1053">
                <a:extLst>
                  <a:ext uri="{FF2B5EF4-FFF2-40B4-BE49-F238E27FC236}">
                    <a16:creationId xmlns:a16="http://schemas.microsoft.com/office/drawing/2014/main" id="{5DDD7F03-95EA-495E-92F3-733A41293624}"/>
                  </a:ext>
                </a:extLst>
              </p:cNvPr>
              <p:cNvSpPr>
                <a:spLocks noChangeArrowheads="1"/>
              </p:cNvSpPr>
              <p:nvPr/>
            </p:nvSpPr>
            <p:spPr bwMode="auto">
              <a:xfrm>
                <a:off x="862" y="2480"/>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1</a:t>
                </a:r>
                <a:endParaRPr lang="en-US" altLang="en-US" sz="1400">
                  <a:latin typeface="Arial" panose="020B0604020202020204" pitchFamily="34" charset="0"/>
                </a:endParaRPr>
              </a:p>
            </p:txBody>
          </p:sp>
          <p:sp>
            <p:nvSpPr>
              <p:cNvPr id="54" name="Rectangle 1054" descr="Large grid">
                <a:extLst>
                  <a:ext uri="{FF2B5EF4-FFF2-40B4-BE49-F238E27FC236}">
                    <a16:creationId xmlns:a16="http://schemas.microsoft.com/office/drawing/2014/main" id="{AAB5E381-8262-4B9B-9B1E-0502AAEDCCB5}"/>
                  </a:ext>
                </a:extLst>
              </p:cNvPr>
              <p:cNvSpPr>
                <a:spLocks noChangeArrowheads="1"/>
              </p:cNvSpPr>
              <p:nvPr/>
            </p:nvSpPr>
            <p:spPr bwMode="auto">
              <a:xfrm>
                <a:off x="1167" y="2447"/>
                <a:ext cx="405" cy="151"/>
              </a:xfrm>
              <a:prstGeom prst="rect">
                <a:avLst/>
              </a:prstGeom>
              <a:pattFill prst="lgGrid">
                <a:fgClr>
                  <a:srgbClr val="FF00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5" name="Rectangle 1055">
                <a:extLst>
                  <a:ext uri="{FF2B5EF4-FFF2-40B4-BE49-F238E27FC236}">
                    <a16:creationId xmlns:a16="http://schemas.microsoft.com/office/drawing/2014/main" id="{A5ADF06F-53A8-4B3B-A847-073C54EA21CA}"/>
                  </a:ext>
                </a:extLst>
              </p:cNvPr>
              <p:cNvSpPr>
                <a:spLocks noChangeArrowheads="1"/>
              </p:cNvSpPr>
              <p:nvPr/>
            </p:nvSpPr>
            <p:spPr bwMode="auto">
              <a:xfrm>
                <a:off x="1269" y="2480"/>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2</a:t>
                </a:r>
                <a:endParaRPr lang="en-US" altLang="en-US" sz="1400">
                  <a:latin typeface="Arial" panose="020B0604020202020204" pitchFamily="34" charset="0"/>
                </a:endParaRPr>
              </a:p>
            </p:txBody>
          </p:sp>
          <p:sp>
            <p:nvSpPr>
              <p:cNvPr id="56" name="Rectangle 1056" descr="Wide upward diagonal">
                <a:extLst>
                  <a:ext uri="{FF2B5EF4-FFF2-40B4-BE49-F238E27FC236}">
                    <a16:creationId xmlns:a16="http://schemas.microsoft.com/office/drawing/2014/main" id="{BDE9BF99-AC1B-4E84-A91F-CE65194C86B7}"/>
                  </a:ext>
                </a:extLst>
              </p:cNvPr>
              <p:cNvSpPr>
                <a:spLocks noChangeArrowheads="1"/>
              </p:cNvSpPr>
              <p:nvPr/>
            </p:nvSpPr>
            <p:spPr bwMode="auto">
              <a:xfrm>
                <a:off x="1569" y="2447"/>
                <a:ext cx="404" cy="151"/>
              </a:xfrm>
              <a:prstGeom prst="rect">
                <a:avLst/>
              </a:prstGeom>
              <a:pattFill prst="wdUpDiag">
                <a:fgClr>
                  <a:srgbClr val="FF6600"/>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7" name="Rectangle 1057">
                <a:extLst>
                  <a:ext uri="{FF2B5EF4-FFF2-40B4-BE49-F238E27FC236}">
                    <a16:creationId xmlns:a16="http://schemas.microsoft.com/office/drawing/2014/main" id="{3041C080-D1FF-49AE-871C-6E5C82D4BCE8}"/>
                  </a:ext>
                </a:extLst>
              </p:cNvPr>
              <p:cNvSpPr>
                <a:spLocks noChangeArrowheads="1"/>
              </p:cNvSpPr>
              <p:nvPr/>
            </p:nvSpPr>
            <p:spPr bwMode="auto">
              <a:xfrm>
                <a:off x="1677" y="2480"/>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3</a:t>
                </a:r>
                <a:endParaRPr lang="en-US" altLang="en-US" sz="1400">
                  <a:latin typeface="Arial" panose="020B0604020202020204" pitchFamily="34" charset="0"/>
                </a:endParaRPr>
              </a:p>
            </p:txBody>
          </p:sp>
          <p:grpSp>
            <p:nvGrpSpPr>
              <p:cNvPr id="58" name="Group 1058">
                <a:extLst>
                  <a:ext uri="{FF2B5EF4-FFF2-40B4-BE49-F238E27FC236}">
                    <a16:creationId xmlns:a16="http://schemas.microsoft.com/office/drawing/2014/main" id="{85FD03C8-D319-4865-B3CB-B8B5FDF37893}"/>
                  </a:ext>
                </a:extLst>
              </p:cNvPr>
              <p:cNvGrpSpPr>
                <a:grpSpLocks/>
              </p:cNvGrpSpPr>
              <p:nvPr/>
            </p:nvGrpSpPr>
            <p:grpSpPr bwMode="auto">
              <a:xfrm>
                <a:off x="1168" y="2589"/>
                <a:ext cx="5" cy="230"/>
                <a:chOff x="1168" y="2589"/>
                <a:chExt cx="5" cy="230"/>
              </a:xfrm>
            </p:grpSpPr>
            <p:sp>
              <p:nvSpPr>
                <p:cNvPr id="98" name="Freeform 1059">
                  <a:extLst>
                    <a:ext uri="{FF2B5EF4-FFF2-40B4-BE49-F238E27FC236}">
                      <a16:creationId xmlns:a16="http://schemas.microsoft.com/office/drawing/2014/main" id="{857F178A-9F79-4579-8BB0-9F8A2FFD5B73}"/>
                    </a:ext>
                  </a:extLst>
                </p:cNvPr>
                <p:cNvSpPr>
                  <a:spLocks/>
                </p:cNvSpPr>
                <p:nvPr/>
              </p:nvSpPr>
              <p:spPr bwMode="auto">
                <a:xfrm>
                  <a:off x="1168" y="2589"/>
                  <a:ext cx="5" cy="29"/>
                </a:xfrm>
                <a:custGeom>
                  <a:avLst/>
                  <a:gdLst>
                    <a:gd name="T0" fmla="*/ 0 w 12"/>
                    <a:gd name="T1" fmla="*/ 1 h 58"/>
                    <a:gd name="T2" fmla="*/ 0 w 12"/>
                    <a:gd name="T3" fmla="*/ 1 h 58"/>
                    <a:gd name="T4" fmla="*/ 0 w 12"/>
                    <a:gd name="T5" fmla="*/ 1 h 58"/>
                    <a:gd name="T6" fmla="*/ 0 w 12"/>
                    <a:gd name="T7" fmla="*/ 1 h 58"/>
                    <a:gd name="T8" fmla="*/ 0 w 12"/>
                    <a:gd name="T9" fmla="*/ 0 h 58"/>
                    <a:gd name="T10" fmla="*/ 0 w 12"/>
                    <a:gd name="T11" fmla="*/ 0 h 58"/>
                    <a:gd name="T12" fmla="*/ 0 w 12"/>
                    <a:gd name="T13" fmla="*/ 1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8"/>
                      </a:moveTo>
                      <a:lnTo>
                        <a:pt x="12" y="6"/>
                      </a:lnTo>
                      <a:lnTo>
                        <a:pt x="10" y="4"/>
                      </a:lnTo>
                      <a:lnTo>
                        <a:pt x="8" y="2"/>
                      </a:lnTo>
                      <a:lnTo>
                        <a:pt x="6" y="0"/>
                      </a:lnTo>
                      <a:lnTo>
                        <a:pt x="4" y="2"/>
                      </a:lnTo>
                      <a:lnTo>
                        <a:pt x="2" y="4"/>
                      </a:lnTo>
                      <a:lnTo>
                        <a:pt x="0" y="6"/>
                      </a:lnTo>
                      <a:lnTo>
                        <a:pt x="0" y="50"/>
                      </a:lnTo>
                      <a:lnTo>
                        <a:pt x="0" y="52"/>
                      </a:lnTo>
                      <a:lnTo>
                        <a:pt x="2" y="54"/>
                      </a:lnTo>
                      <a:lnTo>
                        <a:pt x="4" y="56"/>
                      </a:lnTo>
                      <a:lnTo>
                        <a:pt x="6" y="58"/>
                      </a:lnTo>
                      <a:lnTo>
                        <a:pt x="8" y="58"/>
                      </a:lnTo>
                      <a:lnTo>
                        <a:pt x="10" y="56"/>
                      </a:lnTo>
                      <a:lnTo>
                        <a:pt x="12" y="54"/>
                      </a:lnTo>
                      <a:lnTo>
                        <a:pt x="12" y="52"/>
                      </a:lnTo>
                      <a:lnTo>
                        <a:pt x="1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9" name="Freeform 1060">
                  <a:extLst>
                    <a:ext uri="{FF2B5EF4-FFF2-40B4-BE49-F238E27FC236}">
                      <a16:creationId xmlns:a16="http://schemas.microsoft.com/office/drawing/2014/main" id="{37490453-365A-44FE-B31A-9A4FB8DC464C}"/>
                    </a:ext>
                  </a:extLst>
                </p:cNvPr>
                <p:cNvSpPr>
                  <a:spLocks/>
                </p:cNvSpPr>
                <p:nvPr/>
              </p:nvSpPr>
              <p:spPr bwMode="auto">
                <a:xfrm>
                  <a:off x="1168" y="2629"/>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5"/>
                      </a:lnTo>
                      <a:lnTo>
                        <a:pt x="6" y="57"/>
                      </a:lnTo>
                      <a:lnTo>
                        <a:pt x="8" y="57"/>
                      </a:lnTo>
                      <a:lnTo>
                        <a:pt x="10" y="55"/>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0" name="Freeform 1061">
                  <a:extLst>
                    <a:ext uri="{FF2B5EF4-FFF2-40B4-BE49-F238E27FC236}">
                      <a16:creationId xmlns:a16="http://schemas.microsoft.com/office/drawing/2014/main" id="{85F782D8-A8D2-4C0A-A4FA-4D49F63DEED7}"/>
                    </a:ext>
                  </a:extLst>
                </p:cNvPr>
                <p:cNvSpPr>
                  <a:spLocks/>
                </p:cNvSpPr>
                <p:nvPr/>
              </p:nvSpPr>
              <p:spPr bwMode="auto">
                <a:xfrm>
                  <a:off x="1168" y="2670"/>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1" name="Freeform 1062">
                  <a:extLst>
                    <a:ext uri="{FF2B5EF4-FFF2-40B4-BE49-F238E27FC236}">
                      <a16:creationId xmlns:a16="http://schemas.microsoft.com/office/drawing/2014/main" id="{9B96938C-7359-4888-BD5A-DC7AA012D05B}"/>
                    </a:ext>
                  </a:extLst>
                </p:cNvPr>
                <p:cNvSpPr>
                  <a:spLocks/>
                </p:cNvSpPr>
                <p:nvPr/>
              </p:nvSpPr>
              <p:spPr bwMode="auto">
                <a:xfrm>
                  <a:off x="1168" y="2710"/>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 name="Freeform 1063">
                  <a:extLst>
                    <a:ext uri="{FF2B5EF4-FFF2-40B4-BE49-F238E27FC236}">
                      <a16:creationId xmlns:a16="http://schemas.microsoft.com/office/drawing/2014/main" id="{9C64FFF7-5E3A-4A16-BB65-BFEE189CEA8C}"/>
                    </a:ext>
                  </a:extLst>
                </p:cNvPr>
                <p:cNvSpPr>
                  <a:spLocks/>
                </p:cNvSpPr>
                <p:nvPr/>
              </p:nvSpPr>
              <p:spPr bwMode="auto">
                <a:xfrm>
                  <a:off x="1168" y="2750"/>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5"/>
                      </a:moveTo>
                      <a:lnTo>
                        <a:pt x="12" y="4"/>
                      </a:lnTo>
                      <a:lnTo>
                        <a:pt x="12" y="2"/>
                      </a:lnTo>
                      <a:lnTo>
                        <a:pt x="10" y="0"/>
                      </a:lnTo>
                      <a:lnTo>
                        <a:pt x="8" y="0"/>
                      </a:lnTo>
                      <a:lnTo>
                        <a:pt x="6" y="0"/>
                      </a:lnTo>
                      <a:lnTo>
                        <a:pt x="4" y="0"/>
                      </a:lnTo>
                      <a:lnTo>
                        <a:pt x="2" y="2"/>
                      </a:lnTo>
                      <a:lnTo>
                        <a:pt x="0" y="4"/>
                      </a:lnTo>
                      <a:lnTo>
                        <a:pt x="0" y="50"/>
                      </a:lnTo>
                      <a:lnTo>
                        <a:pt x="0" y="52"/>
                      </a:lnTo>
                      <a:lnTo>
                        <a:pt x="2" y="53"/>
                      </a:lnTo>
                      <a:lnTo>
                        <a:pt x="4" y="55"/>
                      </a:lnTo>
                      <a:lnTo>
                        <a:pt x="6" y="57"/>
                      </a:lnTo>
                      <a:lnTo>
                        <a:pt x="8" y="57"/>
                      </a:lnTo>
                      <a:lnTo>
                        <a:pt x="10" y="55"/>
                      </a:lnTo>
                      <a:lnTo>
                        <a:pt x="12" y="53"/>
                      </a:lnTo>
                      <a:lnTo>
                        <a:pt x="12" y="52"/>
                      </a:lnTo>
                      <a:lnTo>
                        <a:pt x="1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 name="Freeform 1064">
                  <a:extLst>
                    <a:ext uri="{FF2B5EF4-FFF2-40B4-BE49-F238E27FC236}">
                      <a16:creationId xmlns:a16="http://schemas.microsoft.com/office/drawing/2014/main" id="{E6D3BC60-ECA8-4FDC-B966-D2EC453F7D83}"/>
                    </a:ext>
                  </a:extLst>
                </p:cNvPr>
                <p:cNvSpPr>
                  <a:spLocks/>
                </p:cNvSpPr>
                <p:nvPr/>
              </p:nvSpPr>
              <p:spPr bwMode="auto">
                <a:xfrm>
                  <a:off x="1168" y="2791"/>
                  <a:ext cx="5" cy="28"/>
                </a:xfrm>
                <a:custGeom>
                  <a:avLst/>
                  <a:gdLst>
                    <a:gd name="T0" fmla="*/ 0 w 12"/>
                    <a:gd name="T1" fmla="*/ 0 h 58"/>
                    <a:gd name="T2" fmla="*/ 0 w 12"/>
                    <a:gd name="T3" fmla="*/ 0 h 58"/>
                    <a:gd name="T4" fmla="*/ 0 w 12"/>
                    <a:gd name="T5" fmla="*/ 0 h 58"/>
                    <a:gd name="T6" fmla="*/ 0 w 12"/>
                    <a:gd name="T7" fmla="*/ 0 h 58"/>
                    <a:gd name="T8" fmla="*/ 0 w 12"/>
                    <a:gd name="T9" fmla="*/ 0 h 58"/>
                    <a:gd name="T10" fmla="*/ 0 w 12"/>
                    <a:gd name="T11" fmla="*/ 0 h 58"/>
                    <a:gd name="T12" fmla="*/ 0 w 12"/>
                    <a:gd name="T13" fmla="*/ 0 h 58"/>
                    <a:gd name="T14" fmla="*/ 0 w 12"/>
                    <a:gd name="T15" fmla="*/ 0 h 58"/>
                    <a:gd name="T16" fmla="*/ 0 w 12"/>
                    <a:gd name="T17" fmla="*/ 0 h 58"/>
                    <a:gd name="T18" fmla="*/ 0 w 12"/>
                    <a:gd name="T19" fmla="*/ 3 h 58"/>
                    <a:gd name="T20" fmla="*/ 0 w 12"/>
                    <a:gd name="T21" fmla="*/ 3 h 58"/>
                    <a:gd name="T22" fmla="*/ 0 w 12"/>
                    <a:gd name="T23" fmla="*/ 3 h 58"/>
                    <a:gd name="T24" fmla="*/ 0 w 12"/>
                    <a:gd name="T25" fmla="*/ 3 h 58"/>
                    <a:gd name="T26" fmla="*/ 0 w 12"/>
                    <a:gd name="T27" fmla="*/ 3 h 58"/>
                    <a:gd name="T28" fmla="*/ 0 w 12"/>
                    <a:gd name="T29" fmla="*/ 3 h 58"/>
                    <a:gd name="T30" fmla="*/ 0 w 12"/>
                    <a:gd name="T31" fmla="*/ 3 h 58"/>
                    <a:gd name="T32" fmla="*/ 0 w 12"/>
                    <a:gd name="T33" fmla="*/ 3 h 58"/>
                    <a:gd name="T34" fmla="*/ 0 w 12"/>
                    <a:gd name="T35" fmla="*/ 3 h 58"/>
                    <a:gd name="T36" fmla="*/ 0 w 12"/>
                    <a:gd name="T37" fmla="*/ 0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59" name="Group 1065">
                <a:extLst>
                  <a:ext uri="{FF2B5EF4-FFF2-40B4-BE49-F238E27FC236}">
                    <a16:creationId xmlns:a16="http://schemas.microsoft.com/office/drawing/2014/main" id="{5447E24F-AC38-4FB3-A257-532C514ED9E0}"/>
                  </a:ext>
                </a:extLst>
              </p:cNvPr>
              <p:cNvGrpSpPr>
                <a:grpSpLocks/>
              </p:cNvGrpSpPr>
              <p:nvPr/>
            </p:nvGrpSpPr>
            <p:grpSpPr bwMode="auto">
              <a:xfrm>
                <a:off x="1576" y="2602"/>
                <a:ext cx="5" cy="230"/>
                <a:chOff x="1576" y="2602"/>
                <a:chExt cx="5" cy="230"/>
              </a:xfrm>
            </p:grpSpPr>
            <p:sp>
              <p:nvSpPr>
                <p:cNvPr id="92" name="Freeform 1066">
                  <a:extLst>
                    <a:ext uri="{FF2B5EF4-FFF2-40B4-BE49-F238E27FC236}">
                      <a16:creationId xmlns:a16="http://schemas.microsoft.com/office/drawing/2014/main" id="{62285C52-1E1D-436D-B850-72069DED4403}"/>
                    </a:ext>
                  </a:extLst>
                </p:cNvPr>
                <p:cNvSpPr>
                  <a:spLocks/>
                </p:cNvSpPr>
                <p:nvPr/>
              </p:nvSpPr>
              <p:spPr bwMode="auto">
                <a:xfrm>
                  <a:off x="1576" y="2602"/>
                  <a:ext cx="5" cy="28"/>
                </a:xfrm>
                <a:custGeom>
                  <a:avLst/>
                  <a:gdLst>
                    <a:gd name="T0" fmla="*/ 0 w 12"/>
                    <a:gd name="T1" fmla="*/ 0 h 58"/>
                    <a:gd name="T2" fmla="*/ 0 w 12"/>
                    <a:gd name="T3" fmla="*/ 0 h 58"/>
                    <a:gd name="T4" fmla="*/ 0 w 12"/>
                    <a:gd name="T5" fmla="*/ 0 h 58"/>
                    <a:gd name="T6" fmla="*/ 0 w 12"/>
                    <a:gd name="T7" fmla="*/ 0 h 58"/>
                    <a:gd name="T8" fmla="*/ 0 w 12"/>
                    <a:gd name="T9" fmla="*/ 0 h 58"/>
                    <a:gd name="T10" fmla="*/ 0 w 12"/>
                    <a:gd name="T11" fmla="*/ 0 h 58"/>
                    <a:gd name="T12" fmla="*/ 0 w 12"/>
                    <a:gd name="T13" fmla="*/ 0 h 58"/>
                    <a:gd name="T14" fmla="*/ 0 w 12"/>
                    <a:gd name="T15" fmla="*/ 0 h 58"/>
                    <a:gd name="T16" fmla="*/ 0 w 12"/>
                    <a:gd name="T17" fmla="*/ 0 h 58"/>
                    <a:gd name="T18" fmla="*/ 0 w 12"/>
                    <a:gd name="T19" fmla="*/ 3 h 58"/>
                    <a:gd name="T20" fmla="*/ 0 w 12"/>
                    <a:gd name="T21" fmla="*/ 3 h 58"/>
                    <a:gd name="T22" fmla="*/ 0 w 12"/>
                    <a:gd name="T23" fmla="*/ 3 h 58"/>
                    <a:gd name="T24" fmla="*/ 0 w 12"/>
                    <a:gd name="T25" fmla="*/ 3 h 58"/>
                    <a:gd name="T26" fmla="*/ 0 w 12"/>
                    <a:gd name="T27" fmla="*/ 3 h 58"/>
                    <a:gd name="T28" fmla="*/ 0 w 12"/>
                    <a:gd name="T29" fmla="*/ 3 h 58"/>
                    <a:gd name="T30" fmla="*/ 0 w 12"/>
                    <a:gd name="T31" fmla="*/ 3 h 58"/>
                    <a:gd name="T32" fmla="*/ 0 w 12"/>
                    <a:gd name="T33" fmla="*/ 3 h 58"/>
                    <a:gd name="T34" fmla="*/ 0 w 12"/>
                    <a:gd name="T35" fmla="*/ 3 h 58"/>
                    <a:gd name="T36" fmla="*/ 0 w 12"/>
                    <a:gd name="T37" fmla="*/ 0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8"/>
                      </a:moveTo>
                      <a:lnTo>
                        <a:pt x="12" y="6"/>
                      </a:lnTo>
                      <a:lnTo>
                        <a:pt x="10" y="4"/>
                      </a:lnTo>
                      <a:lnTo>
                        <a:pt x="8" y="2"/>
                      </a:lnTo>
                      <a:lnTo>
                        <a:pt x="6" y="0"/>
                      </a:lnTo>
                      <a:lnTo>
                        <a:pt x="4" y="2"/>
                      </a:lnTo>
                      <a:lnTo>
                        <a:pt x="2" y="4"/>
                      </a:lnTo>
                      <a:lnTo>
                        <a:pt x="0" y="6"/>
                      </a:lnTo>
                      <a:lnTo>
                        <a:pt x="0" y="50"/>
                      </a:lnTo>
                      <a:lnTo>
                        <a:pt x="0" y="52"/>
                      </a:lnTo>
                      <a:lnTo>
                        <a:pt x="2" y="54"/>
                      </a:lnTo>
                      <a:lnTo>
                        <a:pt x="4" y="56"/>
                      </a:lnTo>
                      <a:lnTo>
                        <a:pt x="6" y="58"/>
                      </a:lnTo>
                      <a:lnTo>
                        <a:pt x="8" y="58"/>
                      </a:lnTo>
                      <a:lnTo>
                        <a:pt x="10" y="56"/>
                      </a:lnTo>
                      <a:lnTo>
                        <a:pt x="12" y="54"/>
                      </a:lnTo>
                      <a:lnTo>
                        <a:pt x="12" y="52"/>
                      </a:lnTo>
                      <a:lnTo>
                        <a:pt x="1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3" name="Freeform 1067">
                  <a:extLst>
                    <a:ext uri="{FF2B5EF4-FFF2-40B4-BE49-F238E27FC236}">
                      <a16:creationId xmlns:a16="http://schemas.microsoft.com/office/drawing/2014/main" id="{5ABB1EBE-99F2-4293-BDAC-AD88BA3B9DC5}"/>
                    </a:ext>
                  </a:extLst>
                </p:cNvPr>
                <p:cNvSpPr>
                  <a:spLocks/>
                </p:cNvSpPr>
                <p:nvPr/>
              </p:nvSpPr>
              <p:spPr bwMode="auto">
                <a:xfrm>
                  <a:off x="1576" y="2642"/>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5"/>
                      </a:moveTo>
                      <a:lnTo>
                        <a:pt x="12" y="4"/>
                      </a:lnTo>
                      <a:lnTo>
                        <a:pt x="12" y="2"/>
                      </a:lnTo>
                      <a:lnTo>
                        <a:pt x="10" y="0"/>
                      </a:lnTo>
                      <a:lnTo>
                        <a:pt x="8" y="0"/>
                      </a:lnTo>
                      <a:lnTo>
                        <a:pt x="6" y="0"/>
                      </a:lnTo>
                      <a:lnTo>
                        <a:pt x="4" y="0"/>
                      </a:lnTo>
                      <a:lnTo>
                        <a:pt x="2" y="2"/>
                      </a:lnTo>
                      <a:lnTo>
                        <a:pt x="0" y="4"/>
                      </a:lnTo>
                      <a:lnTo>
                        <a:pt x="0" y="50"/>
                      </a:lnTo>
                      <a:lnTo>
                        <a:pt x="0" y="52"/>
                      </a:lnTo>
                      <a:lnTo>
                        <a:pt x="2" y="53"/>
                      </a:lnTo>
                      <a:lnTo>
                        <a:pt x="4" y="55"/>
                      </a:lnTo>
                      <a:lnTo>
                        <a:pt x="6" y="57"/>
                      </a:lnTo>
                      <a:lnTo>
                        <a:pt x="8" y="57"/>
                      </a:lnTo>
                      <a:lnTo>
                        <a:pt x="10" y="55"/>
                      </a:lnTo>
                      <a:lnTo>
                        <a:pt x="12" y="53"/>
                      </a:lnTo>
                      <a:lnTo>
                        <a:pt x="12" y="52"/>
                      </a:lnTo>
                      <a:lnTo>
                        <a:pt x="1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 name="Freeform 1068">
                  <a:extLst>
                    <a:ext uri="{FF2B5EF4-FFF2-40B4-BE49-F238E27FC236}">
                      <a16:creationId xmlns:a16="http://schemas.microsoft.com/office/drawing/2014/main" id="{6F0E3A9F-BEB7-46A8-B6C6-3423B01848ED}"/>
                    </a:ext>
                  </a:extLst>
                </p:cNvPr>
                <p:cNvSpPr>
                  <a:spLocks/>
                </p:cNvSpPr>
                <p:nvPr/>
              </p:nvSpPr>
              <p:spPr bwMode="auto">
                <a:xfrm>
                  <a:off x="1576" y="2682"/>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5" name="Freeform 1069">
                  <a:extLst>
                    <a:ext uri="{FF2B5EF4-FFF2-40B4-BE49-F238E27FC236}">
                      <a16:creationId xmlns:a16="http://schemas.microsoft.com/office/drawing/2014/main" id="{734DD80B-B5B7-4795-B815-3A6420105F9D}"/>
                    </a:ext>
                  </a:extLst>
                </p:cNvPr>
                <p:cNvSpPr>
                  <a:spLocks/>
                </p:cNvSpPr>
                <p:nvPr/>
              </p:nvSpPr>
              <p:spPr bwMode="auto">
                <a:xfrm>
                  <a:off x="1576" y="2723"/>
                  <a:ext cx="5" cy="28"/>
                </a:xfrm>
                <a:custGeom>
                  <a:avLst/>
                  <a:gdLst>
                    <a:gd name="T0" fmla="*/ 0 w 12"/>
                    <a:gd name="T1" fmla="*/ 0 h 58"/>
                    <a:gd name="T2" fmla="*/ 0 w 12"/>
                    <a:gd name="T3" fmla="*/ 0 h 58"/>
                    <a:gd name="T4" fmla="*/ 0 w 12"/>
                    <a:gd name="T5" fmla="*/ 0 h 58"/>
                    <a:gd name="T6" fmla="*/ 0 w 12"/>
                    <a:gd name="T7" fmla="*/ 0 h 58"/>
                    <a:gd name="T8" fmla="*/ 0 w 12"/>
                    <a:gd name="T9" fmla="*/ 0 h 58"/>
                    <a:gd name="T10" fmla="*/ 0 w 12"/>
                    <a:gd name="T11" fmla="*/ 0 h 58"/>
                    <a:gd name="T12" fmla="*/ 0 w 12"/>
                    <a:gd name="T13" fmla="*/ 0 h 58"/>
                    <a:gd name="T14" fmla="*/ 0 w 12"/>
                    <a:gd name="T15" fmla="*/ 0 h 58"/>
                    <a:gd name="T16" fmla="*/ 0 w 12"/>
                    <a:gd name="T17" fmla="*/ 0 h 58"/>
                    <a:gd name="T18" fmla="*/ 0 w 12"/>
                    <a:gd name="T19" fmla="*/ 3 h 58"/>
                    <a:gd name="T20" fmla="*/ 0 w 12"/>
                    <a:gd name="T21" fmla="*/ 3 h 58"/>
                    <a:gd name="T22" fmla="*/ 0 w 12"/>
                    <a:gd name="T23" fmla="*/ 3 h 58"/>
                    <a:gd name="T24" fmla="*/ 0 w 12"/>
                    <a:gd name="T25" fmla="*/ 3 h 58"/>
                    <a:gd name="T26" fmla="*/ 0 w 12"/>
                    <a:gd name="T27" fmla="*/ 3 h 58"/>
                    <a:gd name="T28" fmla="*/ 0 w 12"/>
                    <a:gd name="T29" fmla="*/ 3 h 58"/>
                    <a:gd name="T30" fmla="*/ 0 w 12"/>
                    <a:gd name="T31" fmla="*/ 3 h 58"/>
                    <a:gd name="T32" fmla="*/ 0 w 12"/>
                    <a:gd name="T33" fmla="*/ 3 h 58"/>
                    <a:gd name="T34" fmla="*/ 0 w 12"/>
                    <a:gd name="T35" fmla="*/ 3 h 58"/>
                    <a:gd name="T36" fmla="*/ 0 w 12"/>
                    <a:gd name="T37" fmla="*/ 0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6" name="Freeform 1070">
                  <a:extLst>
                    <a:ext uri="{FF2B5EF4-FFF2-40B4-BE49-F238E27FC236}">
                      <a16:creationId xmlns:a16="http://schemas.microsoft.com/office/drawing/2014/main" id="{A1AB8783-F0CD-4038-896D-48EFEC5F4363}"/>
                    </a:ext>
                  </a:extLst>
                </p:cNvPr>
                <p:cNvSpPr>
                  <a:spLocks/>
                </p:cNvSpPr>
                <p:nvPr/>
              </p:nvSpPr>
              <p:spPr bwMode="auto">
                <a:xfrm>
                  <a:off x="1576" y="2763"/>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5"/>
                      </a:moveTo>
                      <a:lnTo>
                        <a:pt x="12" y="4"/>
                      </a:lnTo>
                      <a:lnTo>
                        <a:pt x="12" y="2"/>
                      </a:lnTo>
                      <a:lnTo>
                        <a:pt x="10" y="0"/>
                      </a:lnTo>
                      <a:lnTo>
                        <a:pt x="8" y="0"/>
                      </a:lnTo>
                      <a:lnTo>
                        <a:pt x="6" y="0"/>
                      </a:lnTo>
                      <a:lnTo>
                        <a:pt x="4" y="0"/>
                      </a:lnTo>
                      <a:lnTo>
                        <a:pt x="2" y="2"/>
                      </a:lnTo>
                      <a:lnTo>
                        <a:pt x="0" y="4"/>
                      </a:lnTo>
                      <a:lnTo>
                        <a:pt x="0" y="50"/>
                      </a:lnTo>
                      <a:lnTo>
                        <a:pt x="0" y="52"/>
                      </a:lnTo>
                      <a:lnTo>
                        <a:pt x="2" y="53"/>
                      </a:lnTo>
                      <a:lnTo>
                        <a:pt x="4" y="55"/>
                      </a:lnTo>
                      <a:lnTo>
                        <a:pt x="6" y="57"/>
                      </a:lnTo>
                      <a:lnTo>
                        <a:pt x="8" y="57"/>
                      </a:lnTo>
                      <a:lnTo>
                        <a:pt x="10" y="55"/>
                      </a:lnTo>
                      <a:lnTo>
                        <a:pt x="12" y="53"/>
                      </a:lnTo>
                      <a:lnTo>
                        <a:pt x="12" y="52"/>
                      </a:lnTo>
                      <a:lnTo>
                        <a:pt x="1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7" name="Freeform 1071">
                  <a:extLst>
                    <a:ext uri="{FF2B5EF4-FFF2-40B4-BE49-F238E27FC236}">
                      <a16:creationId xmlns:a16="http://schemas.microsoft.com/office/drawing/2014/main" id="{31161FA5-28D5-4483-9FB7-4FAF21FC36ED}"/>
                    </a:ext>
                  </a:extLst>
                </p:cNvPr>
                <p:cNvSpPr>
                  <a:spLocks/>
                </p:cNvSpPr>
                <p:nvPr/>
              </p:nvSpPr>
              <p:spPr bwMode="auto">
                <a:xfrm>
                  <a:off x="1576" y="2803"/>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0" name="Group 1072">
                <a:extLst>
                  <a:ext uri="{FF2B5EF4-FFF2-40B4-BE49-F238E27FC236}">
                    <a16:creationId xmlns:a16="http://schemas.microsoft.com/office/drawing/2014/main" id="{50AEBB50-91E4-4F20-8CA9-A68811EF536A}"/>
                  </a:ext>
                </a:extLst>
              </p:cNvPr>
              <p:cNvGrpSpPr>
                <a:grpSpLocks/>
              </p:cNvGrpSpPr>
              <p:nvPr/>
            </p:nvGrpSpPr>
            <p:grpSpPr bwMode="auto">
              <a:xfrm>
                <a:off x="1984" y="2595"/>
                <a:ext cx="5" cy="230"/>
                <a:chOff x="1984" y="2595"/>
                <a:chExt cx="5" cy="230"/>
              </a:xfrm>
            </p:grpSpPr>
            <p:sp>
              <p:nvSpPr>
                <p:cNvPr id="86" name="Freeform 1073">
                  <a:extLst>
                    <a:ext uri="{FF2B5EF4-FFF2-40B4-BE49-F238E27FC236}">
                      <a16:creationId xmlns:a16="http://schemas.microsoft.com/office/drawing/2014/main" id="{FC69AD73-B8EC-4B73-A3D7-E28BF29FC06C}"/>
                    </a:ext>
                  </a:extLst>
                </p:cNvPr>
                <p:cNvSpPr>
                  <a:spLocks/>
                </p:cNvSpPr>
                <p:nvPr/>
              </p:nvSpPr>
              <p:spPr bwMode="auto">
                <a:xfrm>
                  <a:off x="1984" y="2595"/>
                  <a:ext cx="5" cy="29"/>
                </a:xfrm>
                <a:custGeom>
                  <a:avLst/>
                  <a:gdLst>
                    <a:gd name="T0" fmla="*/ 0 w 12"/>
                    <a:gd name="T1" fmla="*/ 1 h 57"/>
                    <a:gd name="T2" fmla="*/ 0 w 12"/>
                    <a:gd name="T3" fmla="*/ 1 h 57"/>
                    <a:gd name="T4" fmla="*/ 0 w 12"/>
                    <a:gd name="T5" fmla="*/ 1 h 57"/>
                    <a:gd name="T6" fmla="*/ 0 w 12"/>
                    <a:gd name="T7" fmla="*/ 1 h 57"/>
                    <a:gd name="T8" fmla="*/ 0 w 12"/>
                    <a:gd name="T9" fmla="*/ 0 h 57"/>
                    <a:gd name="T10" fmla="*/ 0 w 12"/>
                    <a:gd name="T11" fmla="*/ 0 h 57"/>
                    <a:gd name="T12" fmla="*/ 0 w 12"/>
                    <a:gd name="T13" fmla="*/ 1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7"/>
                      </a:moveTo>
                      <a:lnTo>
                        <a:pt x="12" y="5"/>
                      </a:lnTo>
                      <a:lnTo>
                        <a:pt x="10" y="3"/>
                      </a:lnTo>
                      <a:lnTo>
                        <a:pt x="8" y="2"/>
                      </a:lnTo>
                      <a:lnTo>
                        <a:pt x="6" y="0"/>
                      </a:lnTo>
                      <a:lnTo>
                        <a:pt x="4" y="2"/>
                      </a:lnTo>
                      <a:lnTo>
                        <a:pt x="2" y="3"/>
                      </a:lnTo>
                      <a:lnTo>
                        <a:pt x="0" y="5"/>
                      </a:lnTo>
                      <a:lnTo>
                        <a:pt x="0" y="50"/>
                      </a:lnTo>
                      <a:lnTo>
                        <a:pt x="0" y="51"/>
                      </a:lnTo>
                      <a:lnTo>
                        <a:pt x="2" y="53"/>
                      </a:lnTo>
                      <a:lnTo>
                        <a:pt x="4" y="55"/>
                      </a:lnTo>
                      <a:lnTo>
                        <a:pt x="6" y="57"/>
                      </a:lnTo>
                      <a:lnTo>
                        <a:pt x="8" y="57"/>
                      </a:lnTo>
                      <a:lnTo>
                        <a:pt x="10" y="55"/>
                      </a:lnTo>
                      <a:lnTo>
                        <a:pt x="12" y="53"/>
                      </a:lnTo>
                      <a:lnTo>
                        <a:pt x="12" y="51"/>
                      </a:lnTo>
                      <a:lnTo>
                        <a:pt x="1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7" name="Freeform 1074">
                  <a:extLst>
                    <a:ext uri="{FF2B5EF4-FFF2-40B4-BE49-F238E27FC236}">
                      <a16:creationId xmlns:a16="http://schemas.microsoft.com/office/drawing/2014/main" id="{0359CEE6-D579-483B-8EFA-E5DDE9849336}"/>
                    </a:ext>
                  </a:extLst>
                </p:cNvPr>
                <p:cNvSpPr>
                  <a:spLocks/>
                </p:cNvSpPr>
                <p:nvPr/>
              </p:nvSpPr>
              <p:spPr bwMode="auto">
                <a:xfrm>
                  <a:off x="1984" y="2635"/>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8" name="Freeform 1075">
                  <a:extLst>
                    <a:ext uri="{FF2B5EF4-FFF2-40B4-BE49-F238E27FC236}">
                      <a16:creationId xmlns:a16="http://schemas.microsoft.com/office/drawing/2014/main" id="{DC846439-20B0-422A-8E02-73BB6DAC19D8}"/>
                    </a:ext>
                  </a:extLst>
                </p:cNvPr>
                <p:cNvSpPr>
                  <a:spLocks/>
                </p:cNvSpPr>
                <p:nvPr/>
              </p:nvSpPr>
              <p:spPr bwMode="auto">
                <a:xfrm>
                  <a:off x="1984" y="2675"/>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9" name="Freeform 1076">
                  <a:extLst>
                    <a:ext uri="{FF2B5EF4-FFF2-40B4-BE49-F238E27FC236}">
                      <a16:creationId xmlns:a16="http://schemas.microsoft.com/office/drawing/2014/main" id="{E7A02218-7F15-4767-ABC9-24AC197282AD}"/>
                    </a:ext>
                  </a:extLst>
                </p:cNvPr>
                <p:cNvSpPr>
                  <a:spLocks/>
                </p:cNvSpPr>
                <p:nvPr/>
              </p:nvSpPr>
              <p:spPr bwMode="auto">
                <a:xfrm>
                  <a:off x="1984" y="2716"/>
                  <a:ext cx="5" cy="29"/>
                </a:xfrm>
                <a:custGeom>
                  <a:avLst/>
                  <a:gdLst>
                    <a:gd name="T0" fmla="*/ 0 w 12"/>
                    <a:gd name="T1" fmla="*/ 1 h 57"/>
                    <a:gd name="T2" fmla="*/ 0 w 12"/>
                    <a:gd name="T3" fmla="*/ 1 h 57"/>
                    <a:gd name="T4" fmla="*/ 0 w 12"/>
                    <a:gd name="T5" fmla="*/ 1 h 57"/>
                    <a:gd name="T6" fmla="*/ 0 w 12"/>
                    <a:gd name="T7" fmla="*/ 0 h 57"/>
                    <a:gd name="T8" fmla="*/ 0 w 12"/>
                    <a:gd name="T9" fmla="*/ 0 h 57"/>
                    <a:gd name="T10" fmla="*/ 0 w 12"/>
                    <a:gd name="T11" fmla="*/ 0 h 57"/>
                    <a:gd name="T12" fmla="*/ 0 w 12"/>
                    <a:gd name="T13" fmla="*/ 0 h 57"/>
                    <a:gd name="T14" fmla="*/ 0 w 12"/>
                    <a:gd name="T15" fmla="*/ 1 h 57"/>
                    <a:gd name="T16" fmla="*/ 0 w 12"/>
                    <a:gd name="T17" fmla="*/ 1 h 57"/>
                    <a:gd name="T18" fmla="*/ 0 w 12"/>
                    <a:gd name="T19" fmla="*/ 4 h 57"/>
                    <a:gd name="T20" fmla="*/ 0 w 12"/>
                    <a:gd name="T21" fmla="*/ 4 h 57"/>
                    <a:gd name="T22" fmla="*/ 0 w 12"/>
                    <a:gd name="T23" fmla="*/ 4 h 57"/>
                    <a:gd name="T24" fmla="*/ 0 w 12"/>
                    <a:gd name="T25" fmla="*/ 4 h 57"/>
                    <a:gd name="T26" fmla="*/ 0 w 12"/>
                    <a:gd name="T27" fmla="*/ 4 h 57"/>
                    <a:gd name="T28" fmla="*/ 0 w 12"/>
                    <a:gd name="T29" fmla="*/ 4 h 57"/>
                    <a:gd name="T30" fmla="*/ 0 w 12"/>
                    <a:gd name="T31" fmla="*/ 4 h 57"/>
                    <a:gd name="T32" fmla="*/ 0 w 12"/>
                    <a:gd name="T33" fmla="*/ 4 h 57"/>
                    <a:gd name="T34" fmla="*/ 0 w 12"/>
                    <a:gd name="T35" fmla="*/ 4 h 57"/>
                    <a:gd name="T36" fmla="*/ 0 w 12"/>
                    <a:gd name="T37" fmla="*/ 1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7"/>
                    <a:gd name="T59" fmla="*/ 12 w 12"/>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7">
                      <a:moveTo>
                        <a:pt x="12" y="5"/>
                      </a:moveTo>
                      <a:lnTo>
                        <a:pt x="12" y="3"/>
                      </a:lnTo>
                      <a:lnTo>
                        <a:pt x="12" y="2"/>
                      </a:lnTo>
                      <a:lnTo>
                        <a:pt x="10" y="0"/>
                      </a:lnTo>
                      <a:lnTo>
                        <a:pt x="8" y="0"/>
                      </a:lnTo>
                      <a:lnTo>
                        <a:pt x="6" y="0"/>
                      </a:lnTo>
                      <a:lnTo>
                        <a:pt x="4" y="0"/>
                      </a:lnTo>
                      <a:lnTo>
                        <a:pt x="2" y="2"/>
                      </a:lnTo>
                      <a:lnTo>
                        <a:pt x="0" y="3"/>
                      </a:lnTo>
                      <a:lnTo>
                        <a:pt x="0" y="50"/>
                      </a:lnTo>
                      <a:lnTo>
                        <a:pt x="0" y="51"/>
                      </a:lnTo>
                      <a:lnTo>
                        <a:pt x="2" y="53"/>
                      </a:lnTo>
                      <a:lnTo>
                        <a:pt x="4" y="55"/>
                      </a:lnTo>
                      <a:lnTo>
                        <a:pt x="6" y="57"/>
                      </a:lnTo>
                      <a:lnTo>
                        <a:pt x="8" y="57"/>
                      </a:lnTo>
                      <a:lnTo>
                        <a:pt x="10" y="55"/>
                      </a:lnTo>
                      <a:lnTo>
                        <a:pt x="12" y="53"/>
                      </a:lnTo>
                      <a:lnTo>
                        <a:pt x="12" y="51"/>
                      </a:lnTo>
                      <a:lnTo>
                        <a:pt x="1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0" name="Freeform 1077">
                  <a:extLst>
                    <a:ext uri="{FF2B5EF4-FFF2-40B4-BE49-F238E27FC236}">
                      <a16:creationId xmlns:a16="http://schemas.microsoft.com/office/drawing/2014/main" id="{A1F9AAB6-96C2-4B1B-B177-3006E1A52D26}"/>
                    </a:ext>
                  </a:extLst>
                </p:cNvPr>
                <p:cNvSpPr>
                  <a:spLocks/>
                </p:cNvSpPr>
                <p:nvPr/>
              </p:nvSpPr>
              <p:spPr bwMode="auto">
                <a:xfrm>
                  <a:off x="1984" y="2756"/>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1" name="Freeform 1078">
                  <a:extLst>
                    <a:ext uri="{FF2B5EF4-FFF2-40B4-BE49-F238E27FC236}">
                      <a16:creationId xmlns:a16="http://schemas.microsoft.com/office/drawing/2014/main" id="{4758C3FD-FDAE-42F7-AAC4-A45CE7981C53}"/>
                    </a:ext>
                  </a:extLst>
                </p:cNvPr>
                <p:cNvSpPr>
                  <a:spLocks/>
                </p:cNvSpPr>
                <p:nvPr/>
              </p:nvSpPr>
              <p:spPr bwMode="auto">
                <a:xfrm>
                  <a:off x="1984" y="2796"/>
                  <a:ext cx="5" cy="29"/>
                </a:xfrm>
                <a:custGeom>
                  <a:avLst/>
                  <a:gdLst>
                    <a:gd name="T0" fmla="*/ 0 w 12"/>
                    <a:gd name="T1" fmla="*/ 1 h 58"/>
                    <a:gd name="T2" fmla="*/ 0 w 12"/>
                    <a:gd name="T3" fmla="*/ 1 h 58"/>
                    <a:gd name="T4" fmla="*/ 0 w 12"/>
                    <a:gd name="T5" fmla="*/ 1 h 58"/>
                    <a:gd name="T6" fmla="*/ 0 w 12"/>
                    <a:gd name="T7" fmla="*/ 0 h 58"/>
                    <a:gd name="T8" fmla="*/ 0 w 12"/>
                    <a:gd name="T9" fmla="*/ 0 h 58"/>
                    <a:gd name="T10" fmla="*/ 0 w 12"/>
                    <a:gd name="T11" fmla="*/ 0 h 58"/>
                    <a:gd name="T12" fmla="*/ 0 w 12"/>
                    <a:gd name="T13" fmla="*/ 0 h 58"/>
                    <a:gd name="T14" fmla="*/ 0 w 12"/>
                    <a:gd name="T15" fmla="*/ 1 h 58"/>
                    <a:gd name="T16" fmla="*/ 0 w 12"/>
                    <a:gd name="T17" fmla="*/ 1 h 58"/>
                    <a:gd name="T18" fmla="*/ 0 w 12"/>
                    <a:gd name="T19" fmla="*/ 4 h 58"/>
                    <a:gd name="T20" fmla="*/ 0 w 12"/>
                    <a:gd name="T21" fmla="*/ 4 h 58"/>
                    <a:gd name="T22" fmla="*/ 0 w 12"/>
                    <a:gd name="T23" fmla="*/ 4 h 58"/>
                    <a:gd name="T24" fmla="*/ 0 w 12"/>
                    <a:gd name="T25" fmla="*/ 4 h 58"/>
                    <a:gd name="T26" fmla="*/ 0 w 12"/>
                    <a:gd name="T27" fmla="*/ 4 h 58"/>
                    <a:gd name="T28" fmla="*/ 0 w 12"/>
                    <a:gd name="T29" fmla="*/ 4 h 58"/>
                    <a:gd name="T30" fmla="*/ 0 w 12"/>
                    <a:gd name="T31" fmla="*/ 4 h 58"/>
                    <a:gd name="T32" fmla="*/ 0 w 12"/>
                    <a:gd name="T33" fmla="*/ 4 h 58"/>
                    <a:gd name="T34" fmla="*/ 0 w 12"/>
                    <a:gd name="T35" fmla="*/ 4 h 58"/>
                    <a:gd name="T36" fmla="*/ 0 w 12"/>
                    <a:gd name="T37" fmla="*/ 1 h 5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
                    <a:gd name="T58" fmla="*/ 0 h 58"/>
                    <a:gd name="T59" fmla="*/ 12 w 12"/>
                    <a:gd name="T60" fmla="*/ 58 h 5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 h="58">
                      <a:moveTo>
                        <a:pt x="12" y="6"/>
                      </a:moveTo>
                      <a:lnTo>
                        <a:pt x="12" y="4"/>
                      </a:lnTo>
                      <a:lnTo>
                        <a:pt x="12" y="2"/>
                      </a:lnTo>
                      <a:lnTo>
                        <a:pt x="10" y="0"/>
                      </a:lnTo>
                      <a:lnTo>
                        <a:pt x="8" y="0"/>
                      </a:lnTo>
                      <a:lnTo>
                        <a:pt x="6" y="0"/>
                      </a:lnTo>
                      <a:lnTo>
                        <a:pt x="4" y="0"/>
                      </a:lnTo>
                      <a:lnTo>
                        <a:pt x="2" y="2"/>
                      </a:lnTo>
                      <a:lnTo>
                        <a:pt x="0" y="4"/>
                      </a:lnTo>
                      <a:lnTo>
                        <a:pt x="0" y="50"/>
                      </a:lnTo>
                      <a:lnTo>
                        <a:pt x="0" y="52"/>
                      </a:lnTo>
                      <a:lnTo>
                        <a:pt x="2" y="54"/>
                      </a:lnTo>
                      <a:lnTo>
                        <a:pt x="4" y="56"/>
                      </a:lnTo>
                      <a:lnTo>
                        <a:pt x="6" y="58"/>
                      </a:lnTo>
                      <a:lnTo>
                        <a:pt x="8" y="58"/>
                      </a:lnTo>
                      <a:lnTo>
                        <a:pt x="10" y="56"/>
                      </a:lnTo>
                      <a:lnTo>
                        <a:pt x="12" y="54"/>
                      </a:lnTo>
                      <a:lnTo>
                        <a:pt x="12" y="52"/>
                      </a:lnTo>
                      <a:lnTo>
                        <a:pt x="1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1" name="Rectangle 1079">
                <a:extLst>
                  <a:ext uri="{FF2B5EF4-FFF2-40B4-BE49-F238E27FC236}">
                    <a16:creationId xmlns:a16="http://schemas.microsoft.com/office/drawing/2014/main" id="{DE08688F-9240-4575-BB56-C8B3ADFC800B}"/>
                  </a:ext>
                </a:extLst>
              </p:cNvPr>
              <p:cNvSpPr>
                <a:spLocks noChangeArrowheads="1"/>
              </p:cNvSpPr>
              <p:nvPr/>
            </p:nvSpPr>
            <p:spPr bwMode="auto">
              <a:xfrm>
                <a:off x="726" y="2760"/>
                <a:ext cx="488"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2" name="Rectangle 1080">
                <a:extLst>
                  <a:ext uri="{FF2B5EF4-FFF2-40B4-BE49-F238E27FC236}">
                    <a16:creationId xmlns:a16="http://schemas.microsoft.com/office/drawing/2014/main" id="{A3AE501E-2FDF-4FD4-BE16-C0F47410D16B}"/>
                  </a:ext>
                </a:extLst>
              </p:cNvPr>
              <p:cNvSpPr>
                <a:spLocks noChangeArrowheads="1"/>
              </p:cNvSpPr>
              <p:nvPr/>
            </p:nvSpPr>
            <p:spPr bwMode="auto">
              <a:xfrm>
                <a:off x="784" y="2792"/>
                <a:ext cx="3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Timeslot 1</a:t>
                </a:r>
                <a:endParaRPr lang="en-US" altLang="en-US" sz="1400">
                  <a:latin typeface="Arial" panose="020B0604020202020204" pitchFamily="34" charset="0"/>
                </a:endParaRPr>
              </a:p>
            </p:txBody>
          </p:sp>
          <p:sp>
            <p:nvSpPr>
              <p:cNvPr id="63" name="Rectangle 1081">
                <a:extLst>
                  <a:ext uri="{FF2B5EF4-FFF2-40B4-BE49-F238E27FC236}">
                    <a16:creationId xmlns:a16="http://schemas.microsoft.com/office/drawing/2014/main" id="{5CFD053A-08D5-4F89-8074-18ABC918D30D}"/>
                  </a:ext>
                </a:extLst>
              </p:cNvPr>
              <p:cNvSpPr>
                <a:spLocks noChangeArrowheads="1"/>
              </p:cNvSpPr>
              <p:nvPr/>
            </p:nvSpPr>
            <p:spPr bwMode="auto">
              <a:xfrm>
                <a:off x="1134" y="2760"/>
                <a:ext cx="488"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4" name="Rectangle 1082">
                <a:extLst>
                  <a:ext uri="{FF2B5EF4-FFF2-40B4-BE49-F238E27FC236}">
                    <a16:creationId xmlns:a16="http://schemas.microsoft.com/office/drawing/2014/main" id="{3CCE8351-35C8-48D7-AA7F-B6C45A8D3D54}"/>
                  </a:ext>
                </a:extLst>
              </p:cNvPr>
              <p:cNvSpPr>
                <a:spLocks noChangeArrowheads="1"/>
              </p:cNvSpPr>
              <p:nvPr/>
            </p:nvSpPr>
            <p:spPr bwMode="auto">
              <a:xfrm>
                <a:off x="1192" y="2792"/>
                <a:ext cx="3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Timeslot 2</a:t>
                </a:r>
                <a:endParaRPr lang="en-US" altLang="en-US" sz="1400">
                  <a:latin typeface="Arial" panose="020B0604020202020204" pitchFamily="34" charset="0"/>
                </a:endParaRPr>
              </a:p>
            </p:txBody>
          </p:sp>
          <p:sp>
            <p:nvSpPr>
              <p:cNvPr id="65" name="Rectangle 1083">
                <a:extLst>
                  <a:ext uri="{FF2B5EF4-FFF2-40B4-BE49-F238E27FC236}">
                    <a16:creationId xmlns:a16="http://schemas.microsoft.com/office/drawing/2014/main" id="{620B98C6-CB26-4EF4-B759-8EF1550940D8}"/>
                  </a:ext>
                </a:extLst>
              </p:cNvPr>
              <p:cNvSpPr>
                <a:spLocks noChangeArrowheads="1"/>
              </p:cNvSpPr>
              <p:nvPr/>
            </p:nvSpPr>
            <p:spPr bwMode="auto">
              <a:xfrm>
                <a:off x="1542" y="2760"/>
                <a:ext cx="488"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6" name="Rectangle 1084">
                <a:extLst>
                  <a:ext uri="{FF2B5EF4-FFF2-40B4-BE49-F238E27FC236}">
                    <a16:creationId xmlns:a16="http://schemas.microsoft.com/office/drawing/2014/main" id="{652A5F3F-14C5-486D-872B-5FEE266E8079}"/>
                  </a:ext>
                </a:extLst>
              </p:cNvPr>
              <p:cNvSpPr>
                <a:spLocks noChangeArrowheads="1"/>
              </p:cNvSpPr>
              <p:nvPr/>
            </p:nvSpPr>
            <p:spPr bwMode="auto">
              <a:xfrm>
                <a:off x="1600" y="2792"/>
                <a:ext cx="3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solidFill>
                      <a:srgbClr val="000000"/>
                    </a:solidFill>
                  </a:rPr>
                  <a:t>Timeslot 3</a:t>
                </a:r>
                <a:endParaRPr lang="en-US" altLang="en-US" sz="1400">
                  <a:latin typeface="Arial" panose="020B0604020202020204" pitchFamily="34" charset="0"/>
                </a:endParaRPr>
              </a:p>
            </p:txBody>
          </p:sp>
          <p:sp>
            <p:nvSpPr>
              <p:cNvPr id="67" name="Rectangle 1085">
                <a:extLst>
                  <a:ext uri="{FF2B5EF4-FFF2-40B4-BE49-F238E27FC236}">
                    <a16:creationId xmlns:a16="http://schemas.microsoft.com/office/drawing/2014/main" id="{228648AB-C019-49D9-A450-A65F9E7B2072}"/>
                  </a:ext>
                </a:extLst>
              </p:cNvPr>
              <p:cNvSpPr>
                <a:spLocks noChangeArrowheads="1"/>
              </p:cNvSpPr>
              <p:nvPr/>
            </p:nvSpPr>
            <p:spPr bwMode="auto">
              <a:xfrm>
                <a:off x="1974" y="2448"/>
                <a:ext cx="404" cy="148"/>
              </a:xfrm>
              <a:prstGeom prst="rect">
                <a:avLst/>
              </a:prstGeom>
              <a:solidFill>
                <a:srgbClr val="FFCC99"/>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8" name="Rectangle 1086">
                <a:extLst>
                  <a:ext uri="{FF2B5EF4-FFF2-40B4-BE49-F238E27FC236}">
                    <a16:creationId xmlns:a16="http://schemas.microsoft.com/office/drawing/2014/main" id="{92531E76-1AFC-4721-ADF6-A67801DA2B7C}"/>
                  </a:ext>
                </a:extLst>
              </p:cNvPr>
              <p:cNvSpPr>
                <a:spLocks noChangeArrowheads="1"/>
              </p:cNvSpPr>
              <p:nvPr/>
            </p:nvSpPr>
            <p:spPr bwMode="auto">
              <a:xfrm>
                <a:off x="2082" y="2476"/>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1</a:t>
                </a:r>
                <a:endParaRPr lang="en-US" altLang="en-US" sz="1400">
                  <a:latin typeface="Arial" panose="020B0604020202020204" pitchFamily="34" charset="0"/>
                </a:endParaRPr>
              </a:p>
            </p:txBody>
          </p:sp>
          <p:sp>
            <p:nvSpPr>
              <p:cNvPr id="69" name="Rectangle 1088">
                <a:extLst>
                  <a:ext uri="{FF2B5EF4-FFF2-40B4-BE49-F238E27FC236}">
                    <a16:creationId xmlns:a16="http://schemas.microsoft.com/office/drawing/2014/main" id="{D92DD285-1C02-4E6A-9EA8-8C596D13274D}"/>
                  </a:ext>
                </a:extLst>
              </p:cNvPr>
              <p:cNvSpPr>
                <a:spLocks noChangeArrowheads="1"/>
              </p:cNvSpPr>
              <p:nvPr/>
            </p:nvSpPr>
            <p:spPr bwMode="auto">
              <a:xfrm>
                <a:off x="2066" y="2896"/>
                <a:ext cx="2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100">
                    <a:solidFill>
                      <a:srgbClr val="000000"/>
                    </a:solidFill>
                  </a:rPr>
                  <a:t> </a:t>
                </a:r>
                <a:endParaRPr lang="en-US" altLang="en-US" sz="1400">
                  <a:latin typeface="Arial" panose="020B0604020202020204" pitchFamily="34" charset="0"/>
                </a:endParaRPr>
              </a:p>
            </p:txBody>
          </p:sp>
          <p:sp>
            <p:nvSpPr>
              <p:cNvPr id="70" name="Rectangle 1351">
                <a:extLst>
                  <a:ext uri="{FF2B5EF4-FFF2-40B4-BE49-F238E27FC236}">
                    <a16:creationId xmlns:a16="http://schemas.microsoft.com/office/drawing/2014/main" id="{54B1EE01-F856-4AD8-B356-3C2E3A9729C2}"/>
                  </a:ext>
                </a:extLst>
              </p:cNvPr>
              <p:cNvSpPr>
                <a:spLocks noChangeArrowheads="1"/>
              </p:cNvSpPr>
              <p:nvPr/>
            </p:nvSpPr>
            <p:spPr bwMode="auto">
              <a:xfrm>
                <a:off x="760" y="2201"/>
                <a:ext cx="404" cy="151"/>
              </a:xfrm>
              <a:prstGeom prst="rect">
                <a:avLst/>
              </a:prstGeom>
              <a:solidFill>
                <a:srgbClr val="CCFF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 name="Rectangle 1352" descr="Dotted grid">
                <a:extLst>
                  <a:ext uri="{FF2B5EF4-FFF2-40B4-BE49-F238E27FC236}">
                    <a16:creationId xmlns:a16="http://schemas.microsoft.com/office/drawing/2014/main" id="{C1ABA3BA-1226-458D-ABD2-794F6A5DB9E1}"/>
                  </a:ext>
                </a:extLst>
              </p:cNvPr>
              <p:cNvSpPr>
                <a:spLocks noChangeArrowheads="1"/>
              </p:cNvSpPr>
              <p:nvPr/>
            </p:nvSpPr>
            <p:spPr bwMode="auto">
              <a:xfrm>
                <a:off x="1161" y="2201"/>
                <a:ext cx="405" cy="151"/>
              </a:xfrm>
              <a:prstGeom prst="rect">
                <a:avLst/>
              </a:prstGeom>
              <a:pattFill prst="dotGrid">
                <a:fgClr>
                  <a:srgbClr val="009999"/>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2" name="Rectangle 1353" descr="Wide downward diagonal">
                <a:extLst>
                  <a:ext uri="{FF2B5EF4-FFF2-40B4-BE49-F238E27FC236}">
                    <a16:creationId xmlns:a16="http://schemas.microsoft.com/office/drawing/2014/main" id="{D850C100-3F5D-42AC-8879-D8A71843D306}"/>
                  </a:ext>
                </a:extLst>
              </p:cNvPr>
              <p:cNvSpPr>
                <a:spLocks noChangeArrowheads="1"/>
              </p:cNvSpPr>
              <p:nvPr/>
            </p:nvSpPr>
            <p:spPr bwMode="auto">
              <a:xfrm>
                <a:off x="1563" y="2201"/>
                <a:ext cx="404" cy="151"/>
              </a:xfrm>
              <a:prstGeom prst="rect">
                <a:avLst/>
              </a:prstGeom>
              <a:pattFill prst="wdDnDiag">
                <a:fgClr>
                  <a:srgbClr val="003399"/>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3" name="Rectangle 1354">
                <a:extLst>
                  <a:ext uri="{FF2B5EF4-FFF2-40B4-BE49-F238E27FC236}">
                    <a16:creationId xmlns:a16="http://schemas.microsoft.com/office/drawing/2014/main" id="{3B812871-0D3E-43E3-BBB4-4EFBBC2603BA}"/>
                  </a:ext>
                </a:extLst>
              </p:cNvPr>
              <p:cNvSpPr>
                <a:spLocks noChangeArrowheads="1"/>
              </p:cNvSpPr>
              <p:nvPr/>
            </p:nvSpPr>
            <p:spPr bwMode="auto">
              <a:xfrm>
                <a:off x="760" y="1949"/>
                <a:ext cx="404" cy="151"/>
              </a:xfrm>
              <a:prstGeom prst="rect">
                <a:avLst/>
              </a:prstGeom>
              <a:solidFill>
                <a:srgbClr val="CC99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4" name="Rectangle 1355" descr="5%">
                <a:extLst>
                  <a:ext uri="{FF2B5EF4-FFF2-40B4-BE49-F238E27FC236}">
                    <a16:creationId xmlns:a16="http://schemas.microsoft.com/office/drawing/2014/main" id="{5D8116D4-2E4E-47DB-976C-AC30E8109E4C}"/>
                  </a:ext>
                </a:extLst>
              </p:cNvPr>
              <p:cNvSpPr>
                <a:spLocks noChangeArrowheads="1"/>
              </p:cNvSpPr>
              <p:nvPr/>
            </p:nvSpPr>
            <p:spPr bwMode="auto">
              <a:xfrm>
                <a:off x="1161" y="1949"/>
                <a:ext cx="405" cy="151"/>
              </a:xfrm>
              <a:prstGeom prst="rect">
                <a:avLst/>
              </a:prstGeom>
              <a:pattFill prst="pct5">
                <a:fgClr>
                  <a:srgbClr val="993366"/>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5" name="Rectangle 1356" descr="Light downward diagonal">
                <a:extLst>
                  <a:ext uri="{FF2B5EF4-FFF2-40B4-BE49-F238E27FC236}">
                    <a16:creationId xmlns:a16="http://schemas.microsoft.com/office/drawing/2014/main" id="{D18A1DBD-FDDC-4F4F-ACD9-5B4D1B4E9C9E}"/>
                  </a:ext>
                </a:extLst>
              </p:cNvPr>
              <p:cNvSpPr>
                <a:spLocks noChangeArrowheads="1"/>
              </p:cNvSpPr>
              <p:nvPr/>
            </p:nvSpPr>
            <p:spPr bwMode="auto">
              <a:xfrm>
                <a:off x="1563" y="1949"/>
                <a:ext cx="404" cy="151"/>
              </a:xfrm>
              <a:prstGeom prst="rect">
                <a:avLst/>
              </a:prstGeom>
              <a:pattFill prst="ltDnDiag">
                <a:fgClr>
                  <a:srgbClr val="660066"/>
                </a:fgClr>
                <a:bgClr>
                  <a:srgbClr val="FFFFFF"/>
                </a:bgClr>
              </a:patt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6" name="Rectangle 1357">
                <a:extLst>
                  <a:ext uri="{FF2B5EF4-FFF2-40B4-BE49-F238E27FC236}">
                    <a16:creationId xmlns:a16="http://schemas.microsoft.com/office/drawing/2014/main" id="{C4037E6D-A912-4043-9CFA-DB27AA879B3E}"/>
                  </a:ext>
                </a:extLst>
              </p:cNvPr>
              <p:cNvSpPr>
                <a:spLocks noChangeArrowheads="1"/>
              </p:cNvSpPr>
              <p:nvPr/>
            </p:nvSpPr>
            <p:spPr bwMode="auto">
              <a:xfrm>
                <a:off x="1968" y="1950"/>
                <a:ext cx="404" cy="148"/>
              </a:xfrm>
              <a:prstGeom prst="rect">
                <a:avLst/>
              </a:prstGeom>
              <a:solidFill>
                <a:srgbClr val="CC99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7" name="Rectangle 1358">
                <a:extLst>
                  <a:ext uri="{FF2B5EF4-FFF2-40B4-BE49-F238E27FC236}">
                    <a16:creationId xmlns:a16="http://schemas.microsoft.com/office/drawing/2014/main" id="{335ABFDB-C7B9-4087-AF93-3A76722FDA12}"/>
                  </a:ext>
                </a:extLst>
              </p:cNvPr>
              <p:cNvSpPr>
                <a:spLocks noChangeArrowheads="1"/>
              </p:cNvSpPr>
              <p:nvPr/>
            </p:nvSpPr>
            <p:spPr bwMode="auto">
              <a:xfrm>
                <a:off x="1968" y="2202"/>
                <a:ext cx="404" cy="148"/>
              </a:xfrm>
              <a:prstGeom prst="rect">
                <a:avLst/>
              </a:prstGeom>
              <a:solidFill>
                <a:srgbClr val="CCFFFF"/>
              </a:solidFill>
              <a:ln w="9525">
                <a:solidFill>
                  <a:srgbClr val="000000"/>
                </a:solidFill>
                <a:miter lim="800000"/>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8" name="Rectangle 1359">
                <a:extLst>
                  <a:ext uri="{FF2B5EF4-FFF2-40B4-BE49-F238E27FC236}">
                    <a16:creationId xmlns:a16="http://schemas.microsoft.com/office/drawing/2014/main" id="{0B007518-7A5C-4C84-9462-2B1AB38E7086}"/>
                  </a:ext>
                </a:extLst>
              </p:cNvPr>
              <p:cNvSpPr>
                <a:spLocks noChangeArrowheads="1"/>
              </p:cNvSpPr>
              <p:nvPr/>
            </p:nvSpPr>
            <p:spPr bwMode="auto">
              <a:xfrm>
                <a:off x="838" y="2228"/>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4</a:t>
                </a:r>
                <a:endParaRPr lang="en-US" altLang="en-US" sz="1400">
                  <a:latin typeface="Arial" panose="020B0604020202020204" pitchFamily="34" charset="0"/>
                </a:endParaRPr>
              </a:p>
            </p:txBody>
          </p:sp>
          <p:sp>
            <p:nvSpPr>
              <p:cNvPr id="79" name="Rectangle 1360">
                <a:extLst>
                  <a:ext uri="{FF2B5EF4-FFF2-40B4-BE49-F238E27FC236}">
                    <a16:creationId xmlns:a16="http://schemas.microsoft.com/office/drawing/2014/main" id="{A0A0A5D3-728D-440D-83CB-4898B0BC0275}"/>
                  </a:ext>
                </a:extLst>
              </p:cNvPr>
              <p:cNvSpPr>
                <a:spLocks noChangeArrowheads="1"/>
              </p:cNvSpPr>
              <p:nvPr/>
            </p:nvSpPr>
            <p:spPr bwMode="auto">
              <a:xfrm>
                <a:off x="1258" y="2228"/>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5</a:t>
                </a:r>
                <a:endParaRPr lang="en-US" altLang="en-US" sz="1400">
                  <a:latin typeface="Arial" panose="020B0604020202020204" pitchFamily="34" charset="0"/>
                </a:endParaRPr>
              </a:p>
            </p:txBody>
          </p:sp>
          <p:sp>
            <p:nvSpPr>
              <p:cNvPr id="80" name="Rectangle 1361">
                <a:extLst>
                  <a:ext uri="{FF2B5EF4-FFF2-40B4-BE49-F238E27FC236}">
                    <a16:creationId xmlns:a16="http://schemas.microsoft.com/office/drawing/2014/main" id="{7A5380EE-A17E-46E7-B05B-8DFD32B9BE0D}"/>
                  </a:ext>
                </a:extLst>
              </p:cNvPr>
              <p:cNvSpPr>
                <a:spLocks noChangeArrowheads="1"/>
              </p:cNvSpPr>
              <p:nvPr/>
            </p:nvSpPr>
            <p:spPr bwMode="auto">
              <a:xfrm>
                <a:off x="1655" y="2232"/>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6</a:t>
                </a:r>
                <a:endParaRPr lang="en-US" altLang="en-US" sz="1400">
                  <a:latin typeface="Arial" panose="020B0604020202020204" pitchFamily="34" charset="0"/>
                </a:endParaRPr>
              </a:p>
            </p:txBody>
          </p:sp>
          <p:sp>
            <p:nvSpPr>
              <p:cNvPr id="81" name="Rectangle 1362">
                <a:extLst>
                  <a:ext uri="{FF2B5EF4-FFF2-40B4-BE49-F238E27FC236}">
                    <a16:creationId xmlns:a16="http://schemas.microsoft.com/office/drawing/2014/main" id="{EAD3056D-7C4C-414A-A6E6-228E58347F65}"/>
                  </a:ext>
                </a:extLst>
              </p:cNvPr>
              <p:cNvSpPr>
                <a:spLocks noChangeArrowheads="1"/>
              </p:cNvSpPr>
              <p:nvPr/>
            </p:nvSpPr>
            <p:spPr bwMode="auto">
              <a:xfrm>
                <a:off x="2068" y="2234"/>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4</a:t>
                </a:r>
                <a:endParaRPr lang="en-US" altLang="en-US" sz="1400">
                  <a:latin typeface="Arial" panose="020B0604020202020204" pitchFamily="34" charset="0"/>
                </a:endParaRPr>
              </a:p>
            </p:txBody>
          </p:sp>
          <p:sp>
            <p:nvSpPr>
              <p:cNvPr id="82" name="Rectangle 1363">
                <a:extLst>
                  <a:ext uri="{FF2B5EF4-FFF2-40B4-BE49-F238E27FC236}">
                    <a16:creationId xmlns:a16="http://schemas.microsoft.com/office/drawing/2014/main" id="{0D29654B-6F28-4F07-8DCD-9D639C25FF5C}"/>
                  </a:ext>
                </a:extLst>
              </p:cNvPr>
              <p:cNvSpPr>
                <a:spLocks noChangeArrowheads="1"/>
              </p:cNvSpPr>
              <p:nvPr/>
            </p:nvSpPr>
            <p:spPr bwMode="auto">
              <a:xfrm>
                <a:off x="850" y="1982"/>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dirty="0"/>
                  <a:t>User 7</a:t>
                </a:r>
                <a:endParaRPr lang="en-US" altLang="en-US" sz="1400" dirty="0">
                  <a:latin typeface="Arial" panose="020B0604020202020204" pitchFamily="34" charset="0"/>
                </a:endParaRPr>
              </a:p>
            </p:txBody>
          </p:sp>
          <p:sp>
            <p:nvSpPr>
              <p:cNvPr id="83" name="Rectangle 1364">
                <a:extLst>
                  <a:ext uri="{FF2B5EF4-FFF2-40B4-BE49-F238E27FC236}">
                    <a16:creationId xmlns:a16="http://schemas.microsoft.com/office/drawing/2014/main" id="{FE2B211A-2096-473A-B4CB-D97AC23AE36B}"/>
                  </a:ext>
                </a:extLst>
              </p:cNvPr>
              <p:cNvSpPr>
                <a:spLocks noChangeArrowheads="1"/>
              </p:cNvSpPr>
              <p:nvPr/>
            </p:nvSpPr>
            <p:spPr bwMode="auto">
              <a:xfrm>
                <a:off x="1240" y="1982"/>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8</a:t>
                </a:r>
                <a:endParaRPr lang="en-US" altLang="en-US" sz="1400">
                  <a:latin typeface="Arial" panose="020B0604020202020204" pitchFamily="34" charset="0"/>
                </a:endParaRPr>
              </a:p>
            </p:txBody>
          </p:sp>
          <p:sp>
            <p:nvSpPr>
              <p:cNvPr id="84" name="Rectangle 1365">
                <a:extLst>
                  <a:ext uri="{FF2B5EF4-FFF2-40B4-BE49-F238E27FC236}">
                    <a16:creationId xmlns:a16="http://schemas.microsoft.com/office/drawing/2014/main" id="{183B186E-EE8F-4C04-98A0-59D4728FBDC0}"/>
                  </a:ext>
                </a:extLst>
              </p:cNvPr>
              <p:cNvSpPr>
                <a:spLocks noChangeArrowheads="1"/>
              </p:cNvSpPr>
              <p:nvPr/>
            </p:nvSpPr>
            <p:spPr bwMode="auto">
              <a:xfrm>
                <a:off x="1648" y="1982"/>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9</a:t>
                </a:r>
                <a:endParaRPr lang="en-US" altLang="en-US" sz="1400">
                  <a:latin typeface="Arial" panose="020B0604020202020204" pitchFamily="34" charset="0"/>
                </a:endParaRPr>
              </a:p>
            </p:txBody>
          </p:sp>
          <p:sp>
            <p:nvSpPr>
              <p:cNvPr id="85" name="Rectangle 1366">
                <a:extLst>
                  <a:ext uri="{FF2B5EF4-FFF2-40B4-BE49-F238E27FC236}">
                    <a16:creationId xmlns:a16="http://schemas.microsoft.com/office/drawing/2014/main" id="{FC7F75BF-ACDA-454A-A1B9-08EC9437AC8F}"/>
                  </a:ext>
                </a:extLst>
              </p:cNvPr>
              <p:cNvSpPr>
                <a:spLocks noChangeArrowheads="1"/>
              </p:cNvSpPr>
              <p:nvPr/>
            </p:nvSpPr>
            <p:spPr bwMode="auto">
              <a:xfrm>
                <a:off x="2068" y="1976"/>
                <a:ext cx="21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000"/>
                  <a:t>User 7</a:t>
                </a:r>
                <a:endParaRPr lang="en-US" altLang="en-US" sz="1400">
                  <a:latin typeface="Arial" panose="020B0604020202020204" pitchFamily="34" charset="0"/>
                </a:endParaRPr>
              </a:p>
            </p:txBody>
          </p:sp>
        </p:grpSp>
      </p:grpSp>
      <p:sp>
        <p:nvSpPr>
          <p:cNvPr id="108" name="Rectangle 1369">
            <a:extLst>
              <a:ext uri="{FF2B5EF4-FFF2-40B4-BE49-F238E27FC236}">
                <a16:creationId xmlns:a16="http://schemas.microsoft.com/office/drawing/2014/main" id="{6808E93F-C13F-4DB8-B4E5-E69098186A21}"/>
              </a:ext>
            </a:extLst>
          </p:cNvPr>
          <p:cNvSpPr>
            <a:spLocks noChangeArrowheads="1"/>
          </p:cNvSpPr>
          <p:nvPr/>
        </p:nvSpPr>
        <p:spPr bwMode="auto">
          <a:xfrm>
            <a:off x="4916488" y="3652838"/>
            <a:ext cx="5445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09" name="AutoShape 1371">
            <a:extLst>
              <a:ext uri="{FF2B5EF4-FFF2-40B4-BE49-F238E27FC236}">
                <a16:creationId xmlns:a16="http://schemas.microsoft.com/office/drawing/2014/main" id="{00DC70B0-31FF-4779-946D-504343B3940C}"/>
              </a:ext>
            </a:extLst>
          </p:cNvPr>
          <p:cNvSpPr>
            <a:spLocks noChangeAspect="1" noChangeArrowheads="1" noTextEdit="1"/>
          </p:cNvSpPr>
          <p:nvPr/>
        </p:nvSpPr>
        <p:spPr bwMode="auto">
          <a:xfrm>
            <a:off x="4776788" y="3800475"/>
            <a:ext cx="2406650"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0" name="Rectangle 1372">
            <a:extLst>
              <a:ext uri="{FF2B5EF4-FFF2-40B4-BE49-F238E27FC236}">
                <a16:creationId xmlns:a16="http://schemas.microsoft.com/office/drawing/2014/main" id="{E95AC02F-0063-436C-86EC-609590726A19}"/>
              </a:ext>
            </a:extLst>
          </p:cNvPr>
          <p:cNvSpPr>
            <a:spLocks noChangeArrowheads="1"/>
          </p:cNvSpPr>
          <p:nvPr/>
        </p:nvSpPr>
        <p:spPr bwMode="auto">
          <a:xfrm>
            <a:off x="4776789" y="3802064"/>
            <a:ext cx="34925"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1100">
                <a:solidFill>
                  <a:srgbClr val="000000"/>
                </a:solidFill>
              </a:rPr>
              <a:t> </a:t>
            </a:r>
            <a:endParaRPr lang="en-US" altLang="en-US" sz="1400">
              <a:latin typeface="Arial" panose="020B0604020202020204" pitchFamily="34" charset="0"/>
            </a:endParaRPr>
          </a:p>
        </p:txBody>
      </p:sp>
      <p:sp>
        <p:nvSpPr>
          <p:cNvPr id="111" name="Freeform 1373">
            <a:extLst>
              <a:ext uri="{FF2B5EF4-FFF2-40B4-BE49-F238E27FC236}">
                <a16:creationId xmlns:a16="http://schemas.microsoft.com/office/drawing/2014/main" id="{22BA8303-A44C-4FC6-97C2-299F03044093}"/>
              </a:ext>
            </a:extLst>
          </p:cNvPr>
          <p:cNvSpPr>
            <a:spLocks/>
          </p:cNvSpPr>
          <p:nvPr/>
        </p:nvSpPr>
        <p:spPr bwMode="auto">
          <a:xfrm>
            <a:off x="6046788" y="3881439"/>
            <a:ext cx="150812" cy="90487"/>
          </a:xfrm>
          <a:custGeom>
            <a:avLst/>
            <a:gdLst>
              <a:gd name="T0" fmla="*/ 0 w 95"/>
              <a:gd name="T1" fmla="*/ 2147483647 h 57"/>
              <a:gd name="T2" fmla="*/ 2147483647 w 95"/>
              <a:gd name="T3" fmla="*/ 2147483647 h 57"/>
              <a:gd name="T4" fmla="*/ 2147483647 w 95"/>
              <a:gd name="T5" fmla="*/ 2147483647 h 57"/>
              <a:gd name="T6" fmla="*/ 2147483647 w 95"/>
              <a:gd name="T7" fmla="*/ 2147483647 h 57"/>
              <a:gd name="T8" fmla="*/ 2147483647 w 95"/>
              <a:gd name="T9" fmla="*/ 2147483647 h 57"/>
              <a:gd name="T10" fmla="*/ 2147483647 w 95"/>
              <a:gd name="T11" fmla="*/ 0 h 57"/>
              <a:gd name="T12" fmla="*/ 0 60000 65536"/>
              <a:gd name="T13" fmla="*/ 0 60000 65536"/>
              <a:gd name="T14" fmla="*/ 0 60000 65536"/>
              <a:gd name="T15" fmla="*/ 0 60000 65536"/>
              <a:gd name="T16" fmla="*/ 0 60000 65536"/>
              <a:gd name="T17" fmla="*/ 0 60000 65536"/>
              <a:gd name="T18" fmla="*/ 0 w 95"/>
              <a:gd name="T19" fmla="*/ 0 h 57"/>
              <a:gd name="T20" fmla="*/ 95 w 95"/>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95" h="57">
                <a:moveTo>
                  <a:pt x="0" y="57"/>
                </a:moveTo>
                <a:lnTo>
                  <a:pt x="25" y="37"/>
                </a:lnTo>
                <a:lnTo>
                  <a:pt x="26" y="46"/>
                </a:lnTo>
                <a:lnTo>
                  <a:pt x="66" y="15"/>
                </a:lnTo>
                <a:lnTo>
                  <a:pt x="68" y="20"/>
                </a:lnTo>
                <a:lnTo>
                  <a:pt x="95"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1374">
            <a:extLst>
              <a:ext uri="{FF2B5EF4-FFF2-40B4-BE49-F238E27FC236}">
                <a16:creationId xmlns:a16="http://schemas.microsoft.com/office/drawing/2014/main" id="{1D94ABB2-2AA2-4BA1-ACCE-9E2A684EAAA9}"/>
              </a:ext>
            </a:extLst>
          </p:cNvPr>
          <p:cNvSpPr>
            <a:spLocks/>
          </p:cNvSpPr>
          <p:nvPr/>
        </p:nvSpPr>
        <p:spPr bwMode="auto">
          <a:xfrm>
            <a:off x="5978526" y="3816350"/>
            <a:ext cx="104775" cy="134938"/>
          </a:xfrm>
          <a:custGeom>
            <a:avLst/>
            <a:gdLst>
              <a:gd name="T0" fmla="*/ 0 w 66"/>
              <a:gd name="T1" fmla="*/ 2147483647 h 85"/>
              <a:gd name="T2" fmla="*/ 2147483647 w 66"/>
              <a:gd name="T3" fmla="*/ 2147483647 h 85"/>
              <a:gd name="T4" fmla="*/ 2147483647 w 66"/>
              <a:gd name="T5" fmla="*/ 2147483647 h 85"/>
              <a:gd name="T6" fmla="*/ 2147483647 w 66"/>
              <a:gd name="T7" fmla="*/ 2147483647 h 85"/>
              <a:gd name="T8" fmla="*/ 2147483647 w 66"/>
              <a:gd name="T9" fmla="*/ 2147483647 h 85"/>
              <a:gd name="T10" fmla="*/ 2147483647 w 66"/>
              <a:gd name="T11" fmla="*/ 0 h 85"/>
              <a:gd name="T12" fmla="*/ 0 60000 65536"/>
              <a:gd name="T13" fmla="*/ 0 60000 65536"/>
              <a:gd name="T14" fmla="*/ 0 60000 65536"/>
              <a:gd name="T15" fmla="*/ 0 60000 65536"/>
              <a:gd name="T16" fmla="*/ 0 60000 65536"/>
              <a:gd name="T17" fmla="*/ 0 60000 65536"/>
              <a:gd name="T18" fmla="*/ 0 w 66"/>
              <a:gd name="T19" fmla="*/ 0 h 85"/>
              <a:gd name="T20" fmla="*/ 66 w 66"/>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66" h="85">
                <a:moveTo>
                  <a:pt x="0" y="85"/>
                </a:moveTo>
                <a:lnTo>
                  <a:pt x="9" y="61"/>
                </a:lnTo>
                <a:lnTo>
                  <a:pt x="21" y="68"/>
                </a:lnTo>
                <a:lnTo>
                  <a:pt x="42" y="24"/>
                </a:lnTo>
                <a:lnTo>
                  <a:pt x="51" y="29"/>
                </a:lnTo>
                <a:lnTo>
                  <a:pt x="66"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 name="Freeform 1375">
            <a:extLst>
              <a:ext uri="{FF2B5EF4-FFF2-40B4-BE49-F238E27FC236}">
                <a16:creationId xmlns:a16="http://schemas.microsoft.com/office/drawing/2014/main" id="{99593870-9CEA-42F4-B007-4CA82C6C5FBE}"/>
              </a:ext>
            </a:extLst>
          </p:cNvPr>
          <p:cNvSpPr>
            <a:spLocks/>
          </p:cNvSpPr>
          <p:nvPr/>
        </p:nvSpPr>
        <p:spPr bwMode="auto">
          <a:xfrm>
            <a:off x="5821363" y="3816350"/>
            <a:ext cx="106362" cy="134938"/>
          </a:xfrm>
          <a:custGeom>
            <a:avLst/>
            <a:gdLst>
              <a:gd name="T0" fmla="*/ 2147483647 w 67"/>
              <a:gd name="T1" fmla="*/ 2147483647 h 85"/>
              <a:gd name="T2" fmla="*/ 2147483647 w 67"/>
              <a:gd name="T3" fmla="*/ 2147483647 h 85"/>
              <a:gd name="T4" fmla="*/ 2147483647 w 67"/>
              <a:gd name="T5" fmla="*/ 2147483647 h 85"/>
              <a:gd name="T6" fmla="*/ 2147483647 w 67"/>
              <a:gd name="T7" fmla="*/ 2147483647 h 85"/>
              <a:gd name="T8" fmla="*/ 2147483647 w 67"/>
              <a:gd name="T9" fmla="*/ 2147483647 h 85"/>
              <a:gd name="T10" fmla="*/ 0 w 67"/>
              <a:gd name="T11" fmla="*/ 0 h 85"/>
              <a:gd name="T12" fmla="*/ 0 60000 65536"/>
              <a:gd name="T13" fmla="*/ 0 60000 65536"/>
              <a:gd name="T14" fmla="*/ 0 60000 65536"/>
              <a:gd name="T15" fmla="*/ 0 60000 65536"/>
              <a:gd name="T16" fmla="*/ 0 60000 65536"/>
              <a:gd name="T17" fmla="*/ 0 60000 65536"/>
              <a:gd name="T18" fmla="*/ 0 w 67"/>
              <a:gd name="T19" fmla="*/ 0 h 85"/>
              <a:gd name="T20" fmla="*/ 67 w 67"/>
              <a:gd name="T21" fmla="*/ 85 h 85"/>
            </a:gdLst>
            <a:ahLst/>
            <a:cxnLst>
              <a:cxn ang="T12">
                <a:pos x="T0" y="T1"/>
              </a:cxn>
              <a:cxn ang="T13">
                <a:pos x="T2" y="T3"/>
              </a:cxn>
              <a:cxn ang="T14">
                <a:pos x="T4" y="T5"/>
              </a:cxn>
              <a:cxn ang="T15">
                <a:pos x="T6" y="T7"/>
              </a:cxn>
              <a:cxn ang="T16">
                <a:pos x="T8" y="T9"/>
              </a:cxn>
              <a:cxn ang="T17">
                <a:pos x="T10" y="T11"/>
              </a:cxn>
            </a:cxnLst>
            <a:rect l="T18" t="T19" r="T20" b="T21"/>
            <a:pathLst>
              <a:path w="67" h="85">
                <a:moveTo>
                  <a:pt x="67" y="85"/>
                </a:moveTo>
                <a:lnTo>
                  <a:pt x="57" y="62"/>
                </a:lnTo>
                <a:lnTo>
                  <a:pt x="44" y="69"/>
                </a:lnTo>
                <a:lnTo>
                  <a:pt x="23" y="24"/>
                </a:lnTo>
                <a:lnTo>
                  <a:pt x="15" y="30"/>
                </a:lnTo>
                <a:lnTo>
                  <a:pt x="0"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1376">
            <a:extLst>
              <a:ext uri="{FF2B5EF4-FFF2-40B4-BE49-F238E27FC236}">
                <a16:creationId xmlns:a16="http://schemas.microsoft.com/office/drawing/2014/main" id="{3BD1CBBC-49E7-4E45-A8B7-CD6585022E43}"/>
              </a:ext>
            </a:extLst>
          </p:cNvPr>
          <p:cNvSpPr>
            <a:spLocks/>
          </p:cNvSpPr>
          <p:nvPr/>
        </p:nvSpPr>
        <p:spPr bwMode="auto">
          <a:xfrm>
            <a:off x="5708651" y="3881439"/>
            <a:ext cx="149225" cy="90487"/>
          </a:xfrm>
          <a:custGeom>
            <a:avLst/>
            <a:gdLst>
              <a:gd name="T0" fmla="*/ 2147483647 w 94"/>
              <a:gd name="T1" fmla="*/ 2147483647 h 57"/>
              <a:gd name="T2" fmla="*/ 2147483647 w 94"/>
              <a:gd name="T3" fmla="*/ 2147483647 h 57"/>
              <a:gd name="T4" fmla="*/ 2147483647 w 94"/>
              <a:gd name="T5" fmla="*/ 2147483647 h 57"/>
              <a:gd name="T6" fmla="*/ 2147483647 w 94"/>
              <a:gd name="T7" fmla="*/ 2147483647 h 57"/>
              <a:gd name="T8" fmla="*/ 2147483647 w 94"/>
              <a:gd name="T9" fmla="*/ 2147483647 h 57"/>
              <a:gd name="T10" fmla="*/ 0 w 94"/>
              <a:gd name="T11" fmla="*/ 0 h 57"/>
              <a:gd name="T12" fmla="*/ 0 60000 65536"/>
              <a:gd name="T13" fmla="*/ 0 60000 65536"/>
              <a:gd name="T14" fmla="*/ 0 60000 65536"/>
              <a:gd name="T15" fmla="*/ 0 60000 65536"/>
              <a:gd name="T16" fmla="*/ 0 60000 65536"/>
              <a:gd name="T17" fmla="*/ 0 60000 65536"/>
              <a:gd name="T18" fmla="*/ 0 w 94"/>
              <a:gd name="T19" fmla="*/ 0 h 57"/>
              <a:gd name="T20" fmla="*/ 94 w 94"/>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94" h="57">
                <a:moveTo>
                  <a:pt x="94" y="57"/>
                </a:moveTo>
                <a:lnTo>
                  <a:pt x="69" y="36"/>
                </a:lnTo>
                <a:lnTo>
                  <a:pt x="69" y="45"/>
                </a:lnTo>
                <a:lnTo>
                  <a:pt x="30" y="13"/>
                </a:lnTo>
                <a:lnTo>
                  <a:pt x="27" y="21"/>
                </a:lnTo>
                <a:lnTo>
                  <a:pt x="0" y="0"/>
                </a:lnTo>
              </a:path>
            </a:pathLst>
          </a:custGeom>
          <a:noFill/>
          <a:ln w="3175">
            <a:solidFill>
              <a:srgbClr val="96969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 name="Line 1377">
            <a:extLst>
              <a:ext uri="{FF2B5EF4-FFF2-40B4-BE49-F238E27FC236}">
                <a16:creationId xmlns:a16="http://schemas.microsoft.com/office/drawing/2014/main" id="{4AB234E6-CA79-4821-8B97-5EC516A2D5D5}"/>
              </a:ext>
            </a:extLst>
          </p:cNvPr>
          <p:cNvSpPr>
            <a:spLocks noChangeShapeType="1"/>
          </p:cNvSpPr>
          <p:nvPr/>
        </p:nvSpPr>
        <p:spPr bwMode="auto">
          <a:xfrm>
            <a:off x="5942013" y="4252914"/>
            <a:ext cx="30162" cy="158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6" name="Group 1378">
            <a:extLst>
              <a:ext uri="{FF2B5EF4-FFF2-40B4-BE49-F238E27FC236}">
                <a16:creationId xmlns:a16="http://schemas.microsoft.com/office/drawing/2014/main" id="{A072E68D-E212-4DFB-8C9C-D13123CE4BBF}"/>
              </a:ext>
            </a:extLst>
          </p:cNvPr>
          <p:cNvGrpSpPr>
            <a:grpSpLocks/>
          </p:cNvGrpSpPr>
          <p:nvPr/>
        </p:nvGrpSpPr>
        <p:grpSpPr bwMode="auto">
          <a:xfrm>
            <a:off x="5907089" y="3987801"/>
            <a:ext cx="96837" cy="739775"/>
            <a:chOff x="2778" y="3013"/>
            <a:chExt cx="61" cy="466"/>
          </a:xfrm>
        </p:grpSpPr>
        <p:sp>
          <p:nvSpPr>
            <p:cNvPr id="117" name="Line 1379">
              <a:extLst>
                <a:ext uri="{FF2B5EF4-FFF2-40B4-BE49-F238E27FC236}">
                  <a16:creationId xmlns:a16="http://schemas.microsoft.com/office/drawing/2014/main" id="{5B55CB00-55C5-47BE-98B5-A537D4353206}"/>
                </a:ext>
              </a:extLst>
            </p:cNvPr>
            <p:cNvSpPr>
              <a:spLocks noChangeShapeType="1"/>
            </p:cNvSpPr>
            <p:nvPr/>
          </p:nvSpPr>
          <p:spPr bwMode="auto">
            <a:xfrm flipV="1">
              <a:off x="2809" y="3020"/>
              <a:ext cx="1" cy="93"/>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Line 1380">
              <a:extLst>
                <a:ext uri="{FF2B5EF4-FFF2-40B4-BE49-F238E27FC236}">
                  <a16:creationId xmlns:a16="http://schemas.microsoft.com/office/drawing/2014/main" id="{06536478-0DEC-4AA9-B92F-317BBD13460A}"/>
                </a:ext>
              </a:extLst>
            </p:cNvPr>
            <p:cNvSpPr>
              <a:spLocks noChangeShapeType="1"/>
            </p:cNvSpPr>
            <p:nvPr/>
          </p:nvSpPr>
          <p:spPr bwMode="auto">
            <a:xfrm flipV="1">
              <a:off x="2778" y="3111"/>
              <a:ext cx="24" cy="368"/>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 name="Line 1381">
              <a:extLst>
                <a:ext uri="{FF2B5EF4-FFF2-40B4-BE49-F238E27FC236}">
                  <a16:creationId xmlns:a16="http://schemas.microsoft.com/office/drawing/2014/main" id="{590637D5-AA1B-4913-9DA6-805CF29CDED4}"/>
                </a:ext>
              </a:extLst>
            </p:cNvPr>
            <p:cNvSpPr>
              <a:spLocks noChangeShapeType="1"/>
            </p:cNvSpPr>
            <p:nvPr/>
          </p:nvSpPr>
          <p:spPr bwMode="auto">
            <a:xfrm>
              <a:off x="2815" y="3112"/>
              <a:ext cx="24" cy="36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 name="Line 1382">
              <a:extLst>
                <a:ext uri="{FF2B5EF4-FFF2-40B4-BE49-F238E27FC236}">
                  <a16:creationId xmlns:a16="http://schemas.microsoft.com/office/drawing/2014/main" id="{7CD080D4-E462-45C0-AC90-199E0D678B96}"/>
                </a:ext>
              </a:extLst>
            </p:cNvPr>
            <p:cNvSpPr>
              <a:spLocks noChangeShapeType="1"/>
            </p:cNvSpPr>
            <p:nvPr/>
          </p:nvSpPr>
          <p:spPr bwMode="auto">
            <a:xfrm>
              <a:off x="2780" y="3469"/>
              <a:ext cx="5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1" name="Line 1383">
              <a:extLst>
                <a:ext uri="{FF2B5EF4-FFF2-40B4-BE49-F238E27FC236}">
                  <a16:creationId xmlns:a16="http://schemas.microsoft.com/office/drawing/2014/main" id="{D569634F-709C-447D-918D-30A06AD42A52}"/>
                </a:ext>
              </a:extLst>
            </p:cNvPr>
            <p:cNvSpPr>
              <a:spLocks noChangeShapeType="1"/>
            </p:cNvSpPr>
            <p:nvPr/>
          </p:nvSpPr>
          <p:spPr bwMode="auto">
            <a:xfrm>
              <a:off x="2786" y="3369"/>
              <a:ext cx="47"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 name="Line 1384">
              <a:extLst>
                <a:ext uri="{FF2B5EF4-FFF2-40B4-BE49-F238E27FC236}">
                  <a16:creationId xmlns:a16="http://schemas.microsoft.com/office/drawing/2014/main" id="{D2812E6D-9F77-4413-B523-60B8602F0833}"/>
                </a:ext>
              </a:extLst>
            </p:cNvPr>
            <p:cNvSpPr>
              <a:spLocks noChangeShapeType="1"/>
            </p:cNvSpPr>
            <p:nvPr/>
          </p:nvSpPr>
          <p:spPr bwMode="auto">
            <a:xfrm>
              <a:off x="2786" y="3370"/>
              <a:ext cx="51" cy="10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 name="Line 1385">
              <a:extLst>
                <a:ext uri="{FF2B5EF4-FFF2-40B4-BE49-F238E27FC236}">
                  <a16:creationId xmlns:a16="http://schemas.microsoft.com/office/drawing/2014/main" id="{AAAE3ADB-2BB2-4AB8-AD17-9F5D1F41AC1B}"/>
                </a:ext>
              </a:extLst>
            </p:cNvPr>
            <p:cNvSpPr>
              <a:spLocks noChangeShapeType="1"/>
            </p:cNvSpPr>
            <p:nvPr/>
          </p:nvSpPr>
          <p:spPr bwMode="auto">
            <a:xfrm flipH="1">
              <a:off x="2781" y="3369"/>
              <a:ext cx="50" cy="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 name="Line 1386">
              <a:extLst>
                <a:ext uri="{FF2B5EF4-FFF2-40B4-BE49-F238E27FC236}">
                  <a16:creationId xmlns:a16="http://schemas.microsoft.com/office/drawing/2014/main" id="{E5390A4F-49DD-4C17-BCE9-FA6530148CE9}"/>
                </a:ext>
              </a:extLst>
            </p:cNvPr>
            <p:cNvSpPr>
              <a:spLocks noChangeShapeType="1"/>
            </p:cNvSpPr>
            <p:nvPr/>
          </p:nvSpPr>
          <p:spPr bwMode="auto">
            <a:xfrm>
              <a:off x="2794" y="3270"/>
              <a:ext cx="3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Line 1387">
              <a:extLst>
                <a:ext uri="{FF2B5EF4-FFF2-40B4-BE49-F238E27FC236}">
                  <a16:creationId xmlns:a16="http://schemas.microsoft.com/office/drawing/2014/main" id="{B1507A7A-16D2-4D43-A5C7-B0C650D5DBE9}"/>
                </a:ext>
              </a:extLst>
            </p:cNvPr>
            <p:cNvSpPr>
              <a:spLocks noChangeShapeType="1"/>
            </p:cNvSpPr>
            <p:nvPr/>
          </p:nvSpPr>
          <p:spPr bwMode="auto">
            <a:xfrm>
              <a:off x="2793" y="3270"/>
              <a:ext cx="38" cy="9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 name="Line 1388">
              <a:extLst>
                <a:ext uri="{FF2B5EF4-FFF2-40B4-BE49-F238E27FC236}">
                  <a16:creationId xmlns:a16="http://schemas.microsoft.com/office/drawing/2014/main" id="{B320F324-F5B0-4DDA-B953-AED69095B4FF}"/>
                </a:ext>
              </a:extLst>
            </p:cNvPr>
            <p:cNvSpPr>
              <a:spLocks noChangeShapeType="1"/>
            </p:cNvSpPr>
            <p:nvPr/>
          </p:nvSpPr>
          <p:spPr bwMode="auto">
            <a:xfrm flipV="1">
              <a:off x="2785" y="3270"/>
              <a:ext cx="40" cy="9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 name="Line 1389">
              <a:extLst>
                <a:ext uri="{FF2B5EF4-FFF2-40B4-BE49-F238E27FC236}">
                  <a16:creationId xmlns:a16="http://schemas.microsoft.com/office/drawing/2014/main" id="{F45DBFAD-7A0F-4C22-B7F2-90483902006D}"/>
                </a:ext>
              </a:extLst>
            </p:cNvPr>
            <p:cNvSpPr>
              <a:spLocks noChangeShapeType="1"/>
            </p:cNvSpPr>
            <p:nvPr/>
          </p:nvSpPr>
          <p:spPr bwMode="auto">
            <a:xfrm>
              <a:off x="2797" y="3180"/>
              <a:ext cx="29" cy="9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 name="Line 1390">
              <a:extLst>
                <a:ext uri="{FF2B5EF4-FFF2-40B4-BE49-F238E27FC236}">
                  <a16:creationId xmlns:a16="http://schemas.microsoft.com/office/drawing/2014/main" id="{5817E00F-61A5-4FEB-BDF3-347063646EF4}"/>
                </a:ext>
              </a:extLst>
            </p:cNvPr>
            <p:cNvSpPr>
              <a:spLocks noChangeShapeType="1"/>
            </p:cNvSpPr>
            <p:nvPr/>
          </p:nvSpPr>
          <p:spPr bwMode="auto">
            <a:xfrm flipV="1">
              <a:off x="2792" y="3179"/>
              <a:ext cx="26" cy="9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 name="Line 1391">
              <a:extLst>
                <a:ext uri="{FF2B5EF4-FFF2-40B4-BE49-F238E27FC236}">
                  <a16:creationId xmlns:a16="http://schemas.microsoft.com/office/drawing/2014/main" id="{4950F2B1-FEE4-446F-9622-8ED216623DCD}"/>
                </a:ext>
              </a:extLst>
            </p:cNvPr>
            <p:cNvSpPr>
              <a:spLocks noChangeShapeType="1"/>
            </p:cNvSpPr>
            <p:nvPr/>
          </p:nvSpPr>
          <p:spPr bwMode="auto">
            <a:xfrm flipV="1">
              <a:off x="2796" y="3112"/>
              <a:ext cx="19" cy="7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 name="Oval 1392">
              <a:extLst>
                <a:ext uri="{FF2B5EF4-FFF2-40B4-BE49-F238E27FC236}">
                  <a16:creationId xmlns:a16="http://schemas.microsoft.com/office/drawing/2014/main" id="{86ED6CF7-2BD3-476A-97CF-D902B350749A}"/>
                </a:ext>
              </a:extLst>
            </p:cNvPr>
            <p:cNvSpPr>
              <a:spLocks noChangeArrowheads="1"/>
            </p:cNvSpPr>
            <p:nvPr/>
          </p:nvSpPr>
          <p:spPr bwMode="auto">
            <a:xfrm>
              <a:off x="2801" y="3013"/>
              <a:ext cx="17" cy="12"/>
            </a:xfrm>
            <a:prstGeom prst="ellipse">
              <a:avLst/>
            </a:prstGeom>
            <a:solidFill>
              <a:srgbClr val="000000"/>
            </a:solidFill>
            <a:ln w="9525">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sp>
        <p:nvSpPr>
          <p:cNvPr id="131" name="Rectangle 1394">
            <a:extLst>
              <a:ext uri="{FF2B5EF4-FFF2-40B4-BE49-F238E27FC236}">
                <a16:creationId xmlns:a16="http://schemas.microsoft.com/office/drawing/2014/main" id="{4D806BFB-6637-4AE2-8F33-450874E43A66}"/>
              </a:ext>
            </a:extLst>
          </p:cNvPr>
          <p:cNvSpPr>
            <a:spLocks noChangeArrowheads="1"/>
          </p:cNvSpPr>
          <p:nvPr/>
        </p:nvSpPr>
        <p:spPr bwMode="auto">
          <a:xfrm>
            <a:off x="4776789" y="4849814"/>
            <a:ext cx="306387" cy="439737"/>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32" name="Group 1395">
            <a:extLst>
              <a:ext uri="{FF2B5EF4-FFF2-40B4-BE49-F238E27FC236}">
                <a16:creationId xmlns:a16="http://schemas.microsoft.com/office/drawing/2014/main" id="{26DA53B1-1EB6-4382-9537-DCD85D8F2388}"/>
              </a:ext>
            </a:extLst>
          </p:cNvPr>
          <p:cNvGrpSpPr>
            <a:grpSpLocks/>
          </p:cNvGrpSpPr>
          <p:nvPr/>
        </p:nvGrpSpPr>
        <p:grpSpPr bwMode="auto">
          <a:xfrm>
            <a:off x="4778376" y="4851401"/>
            <a:ext cx="301625" cy="434975"/>
            <a:chOff x="2067" y="3557"/>
            <a:chExt cx="190" cy="274"/>
          </a:xfrm>
        </p:grpSpPr>
        <p:grpSp>
          <p:nvGrpSpPr>
            <p:cNvPr id="133" name="Group 1396">
              <a:extLst>
                <a:ext uri="{FF2B5EF4-FFF2-40B4-BE49-F238E27FC236}">
                  <a16:creationId xmlns:a16="http://schemas.microsoft.com/office/drawing/2014/main" id="{D7BF3098-5CDE-45FF-A65D-952F6F5150D4}"/>
                </a:ext>
              </a:extLst>
            </p:cNvPr>
            <p:cNvGrpSpPr>
              <a:grpSpLocks/>
            </p:cNvGrpSpPr>
            <p:nvPr/>
          </p:nvGrpSpPr>
          <p:grpSpPr bwMode="auto">
            <a:xfrm>
              <a:off x="2067" y="3614"/>
              <a:ext cx="164" cy="197"/>
              <a:chOff x="2067" y="3614"/>
              <a:chExt cx="164" cy="197"/>
            </a:xfrm>
          </p:grpSpPr>
          <p:sp>
            <p:nvSpPr>
              <p:cNvPr id="186" name="Freeform 1397">
                <a:extLst>
                  <a:ext uri="{FF2B5EF4-FFF2-40B4-BE49-F238E27FC236}">
                    <a16:creationId xmlns:a16="http://schemas.microsoft.com/office/drawing/2014/main" id="{CE3B07A1-4ED9-4514-8B93-D33BD682605C}"/>
                  </a:ext>
                </a:extLst>
              </p:cNvPr>
              <p:cNvSpPr>
                <a:spLocks/>
              </p:cNvSpPr>
              <p:nvPr/>
            </p:nvSpPr>
            <p:spPr bwMode="auto">
              <a:xfrm>
                <a:off x="2067" y="3614"/>
                <a:ext cx="164"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199" y="1522"/>
                    </a:lnTo>
                    <a:lnTo>
                      <a:pt x="162" y="1459"/>
                    </a:lnTo>
                    <a:lnTo>
                      <a:pt x="153" y="1439"/>
                    </a:lnTo>
                    <a:lnTo>
                      <a:pt x="125" y="1376"/>
                    </a:lnTo>
                    <a:lnTo>
                      <a:pt x="115" y="1333"/>
                    </a:lnTo>
                    <a:lnTo>
                      <a:pt x="106" y="1292"/>
                    </a:lnTo>
                    <a:lnTo>
                      <a:pt x="88" y="1229"/>
                    </a:lnTo>
                    <a:lnTo>
                      <a:pt x="69" y="1188"/>
                    </a:lnTo>
                    <a:lnTo>
                      <a:pt x="41" y="1124"/>
                    </a:lnTo>
                    <a:lnTo>
                      <a:pt x="22" y="1061"/>
                    </a:lnTo>
                    <a:lnTo>
                      <a:pt x="16" y="1022"/>
                    </a:lnTo>
                    <a:lnTo>
                      <a:pt x="4" y="935"/>
                    </a:lnTo>
                    <a:lnTo>
                      <a:pt x="1" y="872"/>
                    </a:lnTo>
                    <a:lnTo>
                      <a:pt x="0" y="792"/>
                    </a:lnTo>
                    <a:lnTo>
                      <a:pt x="14" y="724"/>
                    </a:lnTo>
                    <a:lnTo>
                      <a:pt x="32" y="693"/>
                    </a:lnTo>
                    <a:lnTo>
                      <a:pt x="50" y="677"/>
                    </a:lnTo>
                    <a:lnTo>
                      <a:pt x="67" y="669"/>
                    </a:lnTo>
                    <a:lnTo>
                      <a:pt x="88" y="661"/>
                    </a:lnTo>
                    <a:lnTo>
                      <a:pt x="106" y="661"/>
                    </a:lnTo>
                    <a:lnTo>
                      <a:pt x="106" y="613"/>
                    </a:lnTo>
                    <a:lnTo>
                      <a:pt x="100" y="591"/>
                    </a:lnTo>
                    <a:lnTo>
                      <a:pt x="97" y="555"/>
                    </a:lnTo>
                    <a:lnTo>
                      <a:pt x="105" y="534"/>
                    </a:lnTo>
                    <a:lnTo>
                      <a:pt x="106" y="515"/>
                    </a:lnTo>
                    <a:lnTo>
                      <a:pt x="120" y="477"/>
                    </a:lnTo>
                    <a:lnTo>
                      <a:pt x="134" y="451"/>
                    </a:lnTo>
                    <a:lnTo>
                      <a:pt x="155" y="419"/>
                    </a:lnTo>
                    <a:lnTo>
                      <a:pt x="184" y="388"/>
                    </a:lnTo>
                    <a:lnTo>
                      <a:pt x="216" y="361"/>
                    </a:lnTo>
                    <a:lnTo>
                      <a:pt x="244" y="336"/>
                    </a:lnTo>
                    <a:lnTo>
                      <a:pt x="278" y="326"/>
                    </a:lnTo>
                    <a:lnTo>
                      <a:pt x="312" y="320"/>
                    </a:lnTo>
                    <a:lnTo>
                      <a:pt x="344" y="326"/>
                    </a:lnTo>
                    <a:lnTo>
                      <a:pt x="374" y="336"/>
                    </a:lnTo>
                    <a:lnTo>
                      <a:pt x="410" y="346"/>
                    </a:lnTo>
                    <a:lnTo>
                      <a:pt x="420" y="326"/>
                    </a:lnTo>
                    <a:lnTo>
                      <a:pt x="426" y="268"/>
                    </a:lnTo>
                    <a:lnTo>
                      <a:pt x="438" y="220"/>
                    </a:lnTo>
                    <a:lnTo>
                      <a:pt x="461" y="184"/>
                    </a:lnTo>
                    <a:lnTo>
                      <a:pt x="486" y="160"/>
                    </a:lnTo>
                    <a:lnTo>
                      <a:pt x="522" y="148"/>
                    </a:lnTo>
                    <a:lnTo>
                      <a:pt x="559" y="136"/>
                    </a:lnTo>
                    <a:lnTo>
                      <a:pt x="615" y="125"/>
                    </a:lnTo>
                    <a:lnTo>
                      <a:pt x="650" y="125"/>
                    </a:lnTo>
                    <a:lnTo>
                      <a:pt x="660" y="104"/>
                    </a:lnTo>
                    <a:lnTo>
                      <a:pt x="678" y="62"/>
                    </a:lnTo>
                    <a:lnTo>
                      <a:pt x="706" y="31"/>
                    </a:lnTo>
                    <a:lnTo>
                      <a:pt x="744" y="10"/>
                    </a:lnTo>
                    <a:lnTo>
                      <a:pt x="800" y="0"/>
                    </a:lnTo>
                    <a:lnTo>
                      <a:pt x="854" y="0"/>
                    </a:lnTo>
                    <a:lnTo>
                      <a:pt x="927" y="4"/>
                    </a:lnTo>
                    <a:lnTo>
                      <a:pt x="967" y="6"/>
                    </a:lnTo>
                    <a:lnTo>
                      <a:pt x="994" y="10"/>
                    </a:lnTo>
                    <a:lnTo>
                      <a:pt x="1018" y="17"/>
                    </a:lnTo>
                    <a:lnTo>
                      <a:pt x="1039" y="35"/>
                    </a:lnTo>
                    <a:lnTo>
                      <a:pt x="1052" y="57"/>
                    </a:lnTo>
                    <a:lnTo>
                      <a:pt x="1061" y="86"/>
                    </a:lnTo>
                    <a:lnTo>
                      <a:pt x="1067" y="136"/>
                    </a:lnTo>
                    <a:lnTo>
                      <a:pt x="1062" y="180"/>
                    </a:lnTo>
                    <a:lnTo>
                      <a:pt x="1046" y="218"/>
                    </a:lnTo>
                    <a:lnTo>
                      <a:pt x="1027" y="239"/>
                    </a:lnTo>
                    <a:lnTo>
                      <a:pt x="1002" y="252"/>
                    </a:lnTo>
                    <a:lnTo>
                      <a:pt x="973" y="260"/>
                    </a:lnTo>
                    <a:lnTo>
                      <a:pt x="923" y="259"/>
                    </a:lnTo>
                    <a:lnTo>
                      <a:pt x="939" y="281"/>
                    </a:lnTo>
                    <a:lnTo>
                      <a:pt x="961" y="323"/>
                    </a:lnTo>
                    <a:lnTo>
                      <a:pt x="980" y="357"/>
                    </a:lnTo>
                    <a:lnTo>
                      <a:pt x="995" y="399"/>
                    </a:lnTo>
                    <a:lnTo>
                      <a:pt x="1004" y="434"/>
                    </a:lnTo>
                    <a:lnTo>
                      <a:pt x="1000" y="457"/>
                    </a:lnTo>
                    <a:lnTo>
                      <a:pt x="980" y="482"/>
                    </a:lnTo>
                    <a:lnTo>
                      <a:pt x="1002" y="526"/>
                    </a:lnTo>
                    <a:lnTo>
                      <a:pt x="1029" y="567"/>
                    </a:lnTo>
                    <a:lnTo>
                      <a:pt x="1060" y="619"/>
                    </a:lnTo>
                    <a:lnTo>
                      <a:pt x="1108" y="667"/>
                    </a:lnTo>
                    <a:lnTo>
                      <a:pt x="1182" y="739"/>
                    </a:lnTo>
                    <a:lnTo>
                      <a:pt x="1251" y="822"/>
                    </a:lnTo>
                    <a:lnTo>
                      <a:pt x="1316" y="930"/>
                    </a:lnTo>
                    <a:lnTo>
                      <a:pt x="1372" y="1029"/>
                    </a:lnTo>
                    <a:lnTo>
                      <a:pt x="1418" y="1113"/>
                    </a:lnTo>
                    <a:lnTo>
                      <a:pt x="1432" y="1144"/>
                    </a:lnTo>
                    <a:lnTo>
                      <a:pt x="1435" y="1198"/>
                    </a:lnTo>
                    <a:lnTo>
                      <a:pt x="1450" y="1240"/>
                    </a:lnTo>
                    <a:lnTo>
                      <a:pt x="1473" y="1204"/>
                    </a:lnTo>
                    <a:lnTo>
                      <a:pt x="1517" y="1147"/>
                    </a:lnTo>
                    <a:lnTo>
                      <a:pt x="1575" y="1061"/>
                    </a:lnTo>
                    <a:lnTo>
                      <a:pt x="1612" y="1009"/>
                    </a:lnTo>
                    <a:lnTo>
                      <a:pt x="1629" y="977"/>
                    </a:lnTo>
                    <a:lnTo>
                      <a:pt x="1649" y="924"/>
                    </a:lnTo>
                    <a:lnTo>
                      <a:pt x="1666" y="889"/>
                    </a:lnTo>
                    <a:lnTo>
                      <a:pt x="1681" y="862"/>
                    </a:lnTo>
                    <a:lnTo>
                      <a:pt x="1701" y="833"/>
                    </a:lnTo>
                    <a:lnTo>
                      <a:pt x="1723" y="808"/>
                    </a:lnTo>
                    <a:lnTo>
                      <a:pt x="1763" y="767"/>
                    </a:lnTo>
                    <a:lnTo>
                      <a:pt x="1807" y="734"/>
                    </a:lnTo>
                    <a:lnTo>
                      <a:pt x="1851" y="713"/>
                    </a:lnTo>
                    <a:lnTo>
                      <a:pt x="1889" y="713"/>
                    </a:lnTo>
                    <a:lnTo>
                      <a:pt x="1923" y="717"/>
                    </a:lnTo>
                    <a:lnTo>
                      <a:pt x="1953" y="735"/>
                    </a:lnTo>
                    <a:lnTo>
                      <a:pt x="1974" y="774"/>
                    </a:lnTo>
                    <a:lnTo>
                      <a:pt x="1973" y="819"/>
                    </a:lnTo>
                    <a:lnTo>
                      <a:pt x="1973" y="839"/>
                    </a:lnTo>
                    <a:lnTo>
                      <a:pt x="1963" y="883"/>
                    </a:lnTo>
                    <a:lnTo>
                      <a:pt x="1945" y="903"/>
                    </a:lnTo>
                    <a:lnTo>
                      <a:pt x="1935" y="946"/>
                    </a:lnTo>
                    <a:lnTo>
                      <a:pt x="1917" y="1009"/>
                    </a:lnTo>
                    <a:lnTo>
                      <a:pt x="1917" y="1071"/>
                    </a:lnTo>
                    <a:lnTo>
                      <a:pt x="1907" y="1134"/>
                    </a:lnTo>
                    <a:lnTo>
                      <a:pt x="1904" y="1167"/>
                    </a:lnTo>
                    <a:lnTo>
                      <a:pt x="1895" y="1200"/>
                    </a:lnTo>
                    <a:lnTo>
                      <a:pt x="1876" y="1238"/>
                    </a:lnTo>
                    <a:lnTo>
                      <a:pt x="1851" y="1271"/>
                    </a:lnTo>
                    <a:lnTo>
                      <a:pt x="1834" y="1333"/>
                    </a:lnTo>
                    <a:lnTo>
                      <a:pt x="1806" y="1396"/>
                    </a:lnTo>
                    <a:lnTo>
                      <a:pt x="1723" y="1544"/>
                    </a:lnTo>
                    <a:lnTo>
                      <a:pt x="1649" y="1649"/>
                    </a:lnTo>
                    <a:lnTo>
                      <a:pt x="1594" y="1722"/>
                    </a:lnTo>
                    <a:lnTo>
                      <a:pt x="1584" y="1764"/>
                    </a:lnTo>
                    <a:lnTo>
                      <a:pt x="1575" y="1807"/>
                    </a:lnTo>
                    <a:lnTo>
                      <a:pt x="1558" y="1853"/>
                    </a:lnTo>
                    <a:lnTo>
                      <a:pt x="1545" y="1912"/>
                    </a:lnTo>
                    <a:lnTo>
                      <a:pt x="1519" y="1975"/>
                    </a:lnTo>
                    <a:lnTo>
                      <a:pt x="1473" y="2059"/>
                    </a:lnTo>
                    <a:lnTo>
                      <a:pt x="1428" y="2122"/>
                    </a:lnTo>
                    <a:lnTo>
                      <a:pt x="1400" y="2163"/>
                    </a:lnTo>
                    <a:lnTo>
                      <a:pt x="1381" y="2227"/>
                    </a:lnTo>
                    <a:lnTo>
                      <a:pt x="1362" y="2269"/>
                    </a:lnTo>
                    <a:lnTo>
                      <a:pt x="1332"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187" name="Group 1398">
                <a:extLst>
                  <a:ext uri="{FF2B5EF4-FFF2-40B4-BE49-F238E27FC236}">
                    <a16:creationId xmlns:a16="http://schemas.microsoft.com/office/drawing/2014/main" id="{55A0A80B-21BF-4B75-8BCA-598417F0207A}"/>
                  </a:ext>
                </a:extLst>
              </p:cNvPr>
              <p:cNvGrpSpPr>
                <a:grpSpLocks/>
              </p:cNvGrpSpPr>
              <p:nvPr/>
            </p:nvGrpSpPr>
            <p:grpSpPr bwMode="auto">
              <a:xfrm>
                <a:off x="2078" y="3668"/>
                <a:ext cx="139" cy="45"/>
                <a:chOff x="2078" y="3668"/>
                <a:chExt cx="139" cy="45"/>
              </a:xfrm>
            </p:grpSpPr>
            <p:sp>
              <p:nvSpPr>
                <p:cNvPr id="192" name="Freeform 1399">
                  <a:extLst>
                    <a:ext uri="{FF2B5EF4-FFF2-40B4-BE49-F238E27FC236}">
                      <a16:creationId xmlns:a16="http://schemas.microsoft.com/office/drawing/2014/main" id="{160DBEC2-A2AC-436C-80BF-A6A143AA1A34}"/>
                    </a:ext>
                  </a:extLst>
                </p:cNvPr>
                <p:cNvSpPr>
                  <a:spLocks/>
                </p:cNvSpPr>
                <p:nvPr/>
              </p:nvSpPr>
              <p:spPr bwMode="auto">
                <a:xfrm>
                  <a:off x="2201" y="3705"/>
                  <a:ext cx="16" cy="8"/>
                </a:xfrm>
                <a:custGeom>
                  <a:avLst/>
                  <a:gdLst>
                    <a:gd name="T0" fmla="*/ 0 w 185"/>
                    <a:gd name="T1" fmla="*/ 0 h 96"/>
                    <a:gd name="T2" fmla="*/ 0 w 185"/>
                    <a:gd name="T3" fmla="*/ 0 h 96"/>
                    <a:gd name="T4" fmla="*/ 0 w 185"/>
                    <a:gd name="T5" fmla="*/ 0 h 96"/>
                    <a:gd name="T6" fmla="*/ 0 w 185"/>
                    <a:gd name="T7" fmla="*/ 0 h 96"/>
                    <a:gd name="T8" fmla="*/ 0 w 185"/>
                    <a:gd name="T9" fmla="*/ 0 h 96"/>
                    <a:gd name="T10" fmla="*/ 0 w 185"/>
                    <a:gd name="T11" fmla="*/ 0 h 96"/>
                    <a:gd name="T12" fmla="*/ 0 w 185"/>
                    <a:gd name="T13" fmla="*/ 0 h 96"/>
                    <a:gd name="T14" fmla="*/ 0 60000 65536"/>
                    <a:gd name="T15" fmla="*/ 0 60000 65536"/>
                    <a:gd name="T16" fmla="*/ 0 60000 65536"/>
                    <a:gd name="T17" fmla="*/ 0 60000 65536"/>
                    <a:gd name="T18" fmla="*/ 0 60000 65536"/>
                    <a:gd name="T19" fmla="*/ 0 60000 65536"/>
                    <a:gd name="T20" fmla="*/ 0 60000 65536"/>
                    <a:gd name="T21" fmla="*/ 0 w 185"/>
                    <a:gd name="T22" fmla="*/ 0 h 96"/>
                    <a:gd name="T23" fmla="*/ 185 w 185"/>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96">
                      <a:moveTo>
                        <a:pt x="0" y="0"/>
                      </a:moveTo>
                      <a:lnTo>
                        <a:pt x="38" y="21"/>
                      </a:lnTo>
                      <a:lnTo>
                        <a:pt x="66" y="52"/>
                      </a:lnTo>
                      <a:lnTo>
                        <a:pt x="101" y="85"/>
                      </a:lnTo>
                      <a:lnTo>
                        <a:pt x="129" y="96"/>
                      </a:lnTo>
                      <a:lnTo>
                        <a:pt x="139" y="96"/>
                      </a:lnTo>
                      <a:lnTo>
                        <a:pt x="185"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3" name="Freeform 1400">
                  <a:extLst>
                    <a:ext uri="{FF2B5EF4-FFF2-40B4-BE49-F238E27FC236}">
                      <a16:creationId xmlns:a16="http://schemas.microsoft.com/office/drawing/2014/main" id="{1C0F4BD0-B87F-4D36-B9A6-E3A57608A41C}"/>
                    </a:ext>
                  </a:extLst>
                </p:cNvPr>
                <p:cNvSpPr>
                  <a:spLocks/>
                </p:cNvSpPr>
                <p:nvPr/>
              </p:nvSpPr>
              <p:spPr bwMode="auto">
                <a:xfrm>
                  <a:off x="2078" y="3695"/>
                  <a:ext cx="8"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4" name="Freeform 1401">
                  <a:extLst>
                    <a:ext uri="{FF2B5EF4-FFF2-40B4-BE49-F238E27FC236}">
                      <a16:creationId xmlns:a16="http://schemas.microsoft.com/office/drawing/2014/main" id="{C5925BDD-32D0-490A-AA8D-9AA73CD1E870}"/>
                    </a:ext>
                  </a:extLst>
                </p:cNvPr>
                <p:cNvSpPr>
                  <a:spLocks/>
                </p:cNvSpPr>
                <p:nvPr/>
              </p:nvSpPr>
              <p:spPr bwMode="auto">
                <a:xfrm>
                  <a:off x="2102" y="3670"/>
                  <a:ext cx="1" cy="4"/>
                </a:xfrm>
                <a:custGeom>
                  <a:avLst/>
                  <a:gdLst>
                    <a:gd name="T0" fmla="*/ 0 w 18"/>
                    <a:gd name="T1" fmla="*/ 0 h 44"/>
                    <a:gd name="T2" fmla="*/ 0 w 18"/>
                    <a:gd name="T3" fmla="*/ 0 h 44"/>
                    <a:gd name="T4" fmla="*/ 0 w 18"/>
                    <a:gd name="T5" fmla="*/ 0 h 44"/>
                    <a:gd name="T6" fmla="*/ 0 w 18"/>
                    <a:gd name="T7" fmla="*/ 0 h 44"/>
                    <a:gd name="T8" fmla="*/ 0 60000 65536"/>
                    <a:gd name="T9" fmla="*/ 0 60000 65536"/>
                    <a:gd name="T10" fmla="*/ 0 60000 65536"/>
                    <a:gd name="T11" fmla="*/ 0 60000 65536"/>
                    <a:gd name="T12" fmla="*/ 0 w 18"/>
                    <a:gd name="T13" fmla="*/ 0 h 44"/>
                    <a:gd name="T14" fmla="*/ 18 w 18"/>
                    <a:gd name="T15" fmla="*/ 44 h 44"/>
                  </a:gdLst>
                  <a:ahLst/>
                  <a:cxnLst>
                    <a:cxn ang="T8">
                      <a:pos x="T0" y="T1"/>
                    </a:cxn>
                    <a:cxn ang="T9">
                      <a:pos x="T2" y="T3"/>
                    </a:cxn>
                    <a:cxn ang="T10">
                      <a:pos x="T4" y="T5"/>
                    </a:cxn>
                    <a:cxn ang="T11">
                      <a:pos x="T6" y="T7"/>
                    </a:cxn>
                  </a:cxnLst>
                  <a:rect l="T12" t="T13" r="T14" b="T15"/>
                  <a:pathLst>
                    <a:path w="18" h="44">
                      <a:moveTo>
                        <a:pt x="0" y="0"/>
                      </a:moveTo>
                      <a:lnTo>
                        <a:pt x="18" y="18"/>
                      </a:lnTo>
                      <a:lnTo>
                        <a:pt x="16" y="29"/>
                      </a:lnTo>
                      <a:lnTo>
                        <a:pt x="18"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5" name="Freeform 1402">
                  <a:extLst>
                    <a:ext uri="{FF2B5EF4-FFF2-40B4-BE49-F238E27FC236}">
                      <a16:creationId xmlns:a16="http://schemas.microsoft.com/office/drawing/2014/main" id="{EC022080-21C3-4A85-933D-D2735623FDAC}"/>
                    </a:ext>
                  </a:extLst>
                </p:cNvPr>
                <p:cNvSpPr>
                  <a:spLocks/>
                </p:cNvSpPr>
                <p:nvPr/>
              </p:nvSpPr>
              <p:spPr bwMode="auto">
                <a:xfrm>
                  <a:off x="2095" y="3668"/>
                  <a:ext cx="15" cy="2"/>
                </a:xfrm>
                <a:custGeom>
                  <a:avLst/>
                  <a:gdLst>
                    <a:gd name="T0" fmla="*/ 0 w 179"/>
                    <a:gd name="T1" fmla="*/ 0 h 22"/>
                    <a:gd name="T2" fmla="*/ 0 w 179"/>
                    <a:gd name="T3" fmla="*/ 0 h 22"/>
                    <a:gd name="T4" fmla="*/ 0 w 179"/>
                    <a:gd name="T5" fmla="*/ 0 h 22"/>
                    <a:gd name="T6" fmla="*/ 0 w 179"/>
                    <a:gd name="T7" fmla="*/ 0 h 22"/>
                    <a:gd name="T8" fmla="*/ 0 w 179"/>
                    <a:gd name="T9" fmla="*/ 0 h 22"/>
                    <a:gd name="T10" fmla="*/ 0 60000 65536"/>
                    <a:gd name="T11" fmla="*/ 0 60000 65536"/>
                    <a:gd name="T12" fmla="*/ 0 60000 65536"/>
                    <a:gd name="T13" fmla="*/ 0 60000 65536"/>
                    <a:gd name="T14" fmla="*/ 0 60000 65536"/>
                    <a:gd name="T15" fmla="*/ 0 w 179"/>
                    <a:gd name="T16" fmla="*/ 0 h 22"/>
                    <a:gd name="T17" fmla="*/ 179 w 179"/>
                    <a:gd name="T18" fmla="*/ 22 h 22"/>
                  </a:gdLst>
                  <a:ahLst/>
                  <a:cxnLst>
                    <a:cxn ang="T10">
                      <a:pos x="T0" y="T1"/>
                    </a:cxn>
                    <a:cxn ang="T11">
                      <a:pos x="T2" y="T3"/>
                    </a:cxn>
                    <a:cxn ang="T12">
                      <a:pos x="T4" y="T5"/>
                    </a:cxn>
                    <a:cxn ang="T13">
                      <a:pos x="T6" y="T7"/>
                    </a:cxn>
                    <a:cxn ang="T14">
                      <a:pos x="T8" y="T9"/>
                    </a:cxn>
                  </a:cxnLst>
                  <a:rect l="T15" t="T16" r="T17" b="T18"/>
                  <a:pathLst>
                    <a:path w="179" h="22">
                      <a:moveTo>
                        <a:pt x="179" y="11"/>
                      </a:moveTo>
                      <a:lnTo>
                        <a:pt x="151" y="22"/>
                      </a:lnTo>
                      <a:lnTo>
                        <a:pt x="39" y="22"/>
                      </a:lnTo>
                      <a:lnTo>
                        <a:pt x="18" y="10"/>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88" name="Group 1403">
                <a:extLst>
                  <a:ext uri="{FF2B5EF4-FFF2-40B4-BE49-F238E27FC236}">
                    <a16:creationId xmlns:a16="http://schemas.microsoft.com/office/drawing/2014/main" id="{35CE3E86-9FD5-44DD-8CE2-A0B43DFCBE82}"/>
                  </a:ext>
                </a:extLst>
              </p:cNvPr>
              <p:cNvGrpSpPr>
                <a:grpSpLocks/>
              </p:cNvGrpSpPr>
              <p:nvPr/>
            </p:nvGrpSpPr>
            <p:grpSpPr bwMode="auto">
              <a:xfrm>
                <a:off x="2093" y="3659"/>
                <a:ext cx="95" cy="91"/>
                <a:chOff x="2093" y="3659"/>
                <a:chExt cx="95" cy="91"/>
              </a:xfrm>
            </p:grpSpPr>
            <p:sp>
              <p:nvSpPr>
                <p:cNvPr id="189" name="Freeform 1404">
                  <a:extLst>
                    <a:ext uri="{FF2B5EF4-FFF2-40B4-BE49-F238E27FC236}">
                      <a16:creationId xmlns:a16="http://schemas.microsoft.com/office/drawing/2014/main" id="{F331D5CB-D214-4FD2-A7B3-A0FFA3A91CFE}"/>
                    </a:ext>
                  </a:extLst>
                </p:cNvPr>
                <p:cNvSpPr>
                  <a:spLocks/>
                </p:cNvSpPr>
                <p:nvPr/>
              </p:nvSpPr>
              <p:spPr bwMode="auto">
                <a:xfrm>
                  <a:off x="2100" y="3676"/>
                  <a:ext cx="88" cy="74"/>
                </a:xfrm>
                <a:custGeom>
                  <a:avLst/>
                  <a:gdLst>
                    <a:gd name="T0" fmla="*/ 0 w 1061"/>
                    <a:gd name="T1" fmla="*/ 0 h 894"/>
                    <a:gd name="T2" fmla="*/ 0 w 1061"/>
                    <a:gd name="T3" fmla="*/ 0 h 894"/>
                    <a:gd name="T4" fmla="*/ 0 w 1061"/>
                    <a:gd name="T5" fmla="*/ 0 h 894"/>
                    <a:gd name="T6" fmla="*/ 0 w 1061"/>
                    <a:gd name="T7" fmla="*/ 0 h 894"/>
                    <a:gd name="T8" fmla="*/ 0 w 1061"/>
                    <a:gd name="T9" fmla="*/ 0 h 894"/>
                    <a:gd name="T10" fmla="*/ 0 w 1061"/>
                    <a:gd name="T11" fmla="*/ 0 h 894"/>
                    <a:gd name="T12" fmla="*/ 0 w 1061"/>
                    <a:gd name="T13" fmla="*/ 0 h 894"/>
                    <a:gd name="T14" fmla="*/ 0 w 1061"/>
                    <a:gd name="T15" fmla="*/ 0 h 894"/>
                    <a:gd name="T16" fmla="*/ 0 w 1061"/>
                    <a:gd name="T17" fmla="*/ 0 h 894"/>
                    <a:gd name="T18" fmla="*/ 0 w 1061"/>
                    <a:gd name="T19" fmla="*/ 0 h 894"/>
                    <a:gd name="T20" fmla="*/ 0 w 1061"/>
                    <a:gd name="T21" fmla="*/ 0 h 894"/>
                    <a:gd name="T22" fmla="*/ 0 w 1061"/>
                    <a:gd name="T23" fmla="*/ 0 h 894"/>
                    <a:gd name="T24" fmla="*/ 0 w 1061"/>
                    <a:gd name="T25" fmla="*/ 0 h 894"/>
                    <a:gd name="T26" fmla="*/ 0 w 1061"/>
                    <a:gd name="T27" fmla="*/ 0 h 894"/>
                    <a:gd name="T28" fmla="*/ 0 w 1061"/>
                    <a:gd name="T29" fmla="*/ 0 h 894"/>
                    <a:gd name="T30" fmla="*/ 0 w 1061"/>
                    <a:gd name="T31" fmla="*/ 0 h 894"/>
                    <a:gd name="T32" fmla="*/ 0 w 1061"/>
                    <a:gd name="T33" fmla="*/ 0 h 894"/>
                    <a:gd name="T34" fmla="*/ 0 w 1061"/>
                    <a:gd name="T35" fmla="*/ 0 h 894"/>
                    <a:gd name="T36" fmla="*/ 0 w 1061"/>
                    <a:gd name="T37" fmla="*/ 0 h 894"/>
                    <a:gd name="T38" fmla="*/ 0 w 1061"/>
                    <a:gd name="T39" fmla="*/ 0 h 894"/>
                    <a:gd name="T40" fmla="*/ 0 w 1061"/>
                    <a:gd name="T41" fmla="*/ 0 h 894"/>
                    <a:gd name="T42" fmla="*/ 0 w 1061"/>
                    <a:gd name="T43" fmla="*/ 0 h 894"/>
                    <a:gd name="T44" fmla="*/ 0 w 1061"/>
                    <a:gd name="T45" fmla="*/ 0 h 894"/>
                    <a:gd name="T46" fmla="*/ 0 w 1061"/>
                    <a:gd name="T47" fmla="*/ 0 h 894"/>
                    <a:gd name="T48" fmla="*/ 0 w 1061"/>
                    <a:gd name="T49" fmla="*/ 0 h 894"/>
                    <a:gd name="T50" fmla="*/ 0 w 1061"/>
                    <a:gd name="T51" fmla="*/ 0 h 894"/>
                    <a:gd name="T52" fmla="*/ 0 w 1061"/>
                    <a:gd name="T53" fmla="*/ 0 h 894"/>
                    <a:gd name="T54" fmla="*/ 0 w 1061"/>
                    <a:gd name="T55" fmla="*/ 0 h 894"/>
                    <a:gd name="T56" fmla="*/ 0 w 1061"/>
                    <a:gd name="T57" fmla="*/ 0 h 894"/>
                    <a:gd name="T58" fmla="*/ 0 w 1061"/>
                    <a:gd name="T59" fmla="*/ 0 h 894"/>
                    <a:gd name="T60" fmla="*/ 0 w 1061"/>
                    <a:gd name="T61" fmla="*/ 0 h 894"/>
                    <a:gd name="T62" fmla="*/ 0 w 1061"/>
                    <a:gd name="T63" fmla="*/ 0 h 894"/>
                    <a:gd name="T64" fmla="*/ 0 w 1061"/>
                    <a:gd name="T65" fmla="*/ 0 h 894"/>
                    <a:gd name="T66" fmla="*/ 0 w 1061"/>
                    <a:gd name="T67" fmla="*/ 0 h 894"/>
                    <a:gd name="T68" fmla="*/ 0 w 1061"/>
                    <a:gd name="T69" fmla="*/ 0 h 894"/>
                    <a:gd name="T70" fmla="*/ 0 w 1061"/>
                    <a:gd name="T71" fmla="*/ 0 h 894"/>
                    <a:gd name="T72" fmla="*/ 0 w 1061"/>
                    <a:gd name="T73" fmla="*/ 0 h 894"/>
                    <a:gd name="T74" fmla="*/ 0 w 1061"/>
                    <a:gd name="T75" fmla="*/ 0 h 894"/>
                    <a:gd name="T76" fmla="*/ 0 w 1061"/>
                    <a:gd name="T77" fmla="*/ 0 h 894"/>
                    <a:gd name="T78" fmla="*/ 0 w 1061"/>
                    <a:gd name="T79" fmla="*/ 0 h 894"/>
                    <a:gd name="T80" fmla="*/ 0 w 1061"/>
                    <a:gd name="T81" fmla="*/ 0 h 894"/>
                    <a:gd name="T82" fmla="*/ 0 w 1061"/>
                    <a:gd name="T83" fmla="*/ 0 h 894"/>
                    <a:gd name="T84" fmla="*/ 0 w 1061"/>
                    <a:gd name="T85" fmla="*/ 0 h 894"/>
                    <a:gd name="T86" fmla="*/ 0 w 1061"/>
                    <a:gd name="T87" fmla="*/ 0 h 894"/>
                    <a:gd name="T88" fmla="*/ 0 w 1061"/>
                    <a:gd name="T89" fmla="*/ 0 h 894"/>
                    <a:gd name="T90" fmla="*/ 0 w 1061"/>
                    <a:gd name="T91" fmla="*/ 0 h 894"/>
                    <a:gd name="T92" fmla="*/ 0 w 1061"/>
                    <a:gd name="T93" fmla="*/ 0 h 894"/>
                    <a:gd name="T94" fmla="*/ 0 w 1061"/>
                    <a:gd name="T95" fmla="*/ 0 h 894"/>
                    <a:gd name="T96" fmla="*/ 0 w 1061"/>
                    <a:gd name="T97" fmla="*/ 0 h 894"/>
                    <a:gd name="T98" fmla="*/ 0 w 1061"/>
                    <a:gd name="T99" fmla="*/ 0 h 894"/>
                    <a:gd name="T100" fmla="*/ 0 w 1061"/>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1"/>
                    <a:gd name="T154" fmla="*/ 0 h 894"/>
                    <a:gd name="T155" fmla="*/ 1061 w 1061"/>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1" h="894">
                      <a:moveTo>
                        <a:pt x="1061" y="487"/>
                      </a:moveTo>
                      <a:lnTo>
                        <a:pt x="982" y="517"/>
                      </a:lnTo>
                      <a:lnTo>
                        <a:pt x="886" y="555"/>
                      </a:lnTo>
                      <a:lnTo>
                        <a:pt x="827" y="593"/>
                      </a:lnTo>
                      <a:lnTo>
                        <a:pt x="779" y="652"/>
                      </a:lnTo>
                      <a:lnTo>
                        <a:pt x="750" y="739"/>
                      </a:lnTo>
                      <a:lnTo>
                        <a:pt x="730" y="807"/>
                      </a:lnTo>
                      <a:lnTo>
                        <a:pt x="671" y="875"/>
                      </a:lnTo>
                      <a:lnTo>
                        <a:pt x="574" y="894"/>
                      </a:lnTo>
                      <a:lnTo>
                        <a:pt x="506" y="865"/>
                      </a:lnTo>
                      <a:lnTo>
                        <a:pt x="457" y="826"/>
                      </a:lnTo>
                      <a:lnTo>
                        <a:pt x="454" y="784"/>
                      </a:lnTo>
                      <a:lnTo>
                        <a:pt x="447" y="749"/>
                      </a:lnTo>
                      <a:lnTo>
                        <a:pt x="409" y="690"/>
                      </a:lnTo>
                      <a:lnTo>
                        <a:pt x="321" y="662"/>
                      </a:lnTo>
                      <a:lnTo>
                        <a:pt x="389" y="617"/>
                      </a:lnTo>
                      <a:lnTo>
                        <a:pt x="460" y="603"/>
                      </a:lnTo>
                      <a:lnTo>
                        <a:pt x="493" y="584"/>
                      </a:lnTo>
                      <a:lnTo>
                        <a:pt x="431" y="581"/>
                      </a:lnTo>
                      <a:lnTo>
                        <a:pt x="360" y="603"/>
                      </a:lnTo>
                      <a:lnTo>
                        <a:pt x="282" y="633"/>
                      </a:lnTo>
                      <a:lnTo>
                        <a:pt x="247" y="603"/>
                      </a:lnTo>
                      <a:lnTo>
                        <a:pt x="240" y="565"/>
                      </a:lnTo>
                      <a:lnTo>
                        <a:pt x="237" y="520"/>
                      </a:lnTo>
                      <a:lnTo>
                        <a:pt x="224" y="477"/>
                      </a:lnTo>
                      <a:lnTo>
                        <a:pt x="175" y="468"/>
                      </a:lnTo>
                      <a:lnTo>
                        <a:pt x="136" y="484"/>
                      </a:lnTo>
                      <a:lnTo>
                        <a:pt x="104" y="514"/>
                      </a:lnTo>
                      <a:lnTo>
                        <a:pt x="58" y="542"/>
                      </a:lnTo>
                      <a:lnTo>
                        <a:pt x="0" y="593"/>
                      </a:lnTo>
                      <a:lnTo>
                        <a:pt x="58" y="507"/>
                      </a:lnTo>
                      <a:lnTo>
                        <a:pt x="165" y="420"/>
                      </a:lnTo>
                      <a:lnTo>
                        <a:pt x="234" y="380"/>
                      </a:lnTo>
                      <a:lnTo>
                        <a:pt x="295" y="364"/>
                      </a:lnTo>
                      <a:lnTo>
                        <a:pt x="348" y="368"/>
                      </a:lnTo>
                      <a:lnTo>
                        <a:pt x="402" y="355"/>
                      </a:lnTo>
                      <a:lnTo>
                        <a:pt x="487" y="332"/>
                      </a:lnTo>
                      <a:lnTo>
                        <a:pt x="593" y="288"/>
                      </a:lnTo>
                      <a:lnTo>
                        <a:pt x="694" y="239"/>
                      </a:lnTo>
                      <a:lnTo>
                        <a:pt x="753" y="210"/>
                      </a:lnTo>
                      <a:lnTo>
                        <a:pt x="785" y="168"/>
                      </a:lnTo>
                      <a:lnTo>
                        <a:pt x="801" y="116"/>
                      </a:lnTo>
                      <a:lnTo>
                        <a:pt x="798" y="62"/>
                      </a:lnTo>
                      <a:lnTo>
                        <a:pt x="785" y="0"/>
                      </a:lnTo>
                      <a:lnTo>
                        <a:pt x="846" y="68"/>
                      </a:lnTo>
                      <a:lnTo>
                        <a:pt x="896" y="145"/>
                      </a:lnTo>
                      <a:lnTo>
                        <a:pt x="953" y="245"/>
                      </a:lnTo>
                      <a:lnTo>
                        <a:pt x="979" y="300"/>
                      </a:lnTo>
                      <a:lnTo>
                        <a:pt x="1006" y="348"/>
                      </a:lnTo>
                      <a:lnTo>
                        <a:pt x="1041" y="401"/>
                      </a:lnTo>
                      <a:lnTo>
                        <a:pt x="1061"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0" name="Freeform 1405">
                  <a:extLst>
                    <a:ext uri="{FF2B5EF4-FFF2-40B4-BE49-F238E27FC236}">
                      <a16:creationId xmlns:a16="http://schemas.microsoft.com/office/drawing/2014/main" id="{0E64EAF0-5A6C-4B06-A7F7-9E613A0DF1EE}"/>
                    </a:ext>
                  </a:extLst>
                </p:cNvPr>
                <p:cNvSpPr>
                  <a:spLocks/>
                </p:cNvSpPr>
                <p:nvPr/>
              </p:nvSpPr>
              <p:spPr bwMode="auto">
                <a:xfrm>
                  <a:off x="2093" y="3699"/>
                  <a:ext cx="24" cy="15"/>
                </a:xfrm>
                <a:custGeom>
                  <a:avLst/>
                  <a:gdLst>
                    <a:gd name="T0" fmla="*/ 0 w 288"/>
                    <a:gd name="T1" fmla="*/ 0 h 181"/>
                    <a:gd name="T2" fmla="*/ 0 w 288"/>
                    <a:gd name="T3" fmla="*/ 0 h 181"/>
                    <a:gd name="T4" fmla="*/ 0 w 288"/>
                    <a:gd name="T5" fmla="*/ 0 h 181"/>
                    <a:gd name="T6" fmla="*/ 0 w 288"/>
                    <a:gd name="T7" fmla="*/ 0 h 181"/>
                    <a:gd name="T8" fmla="*/ 0 w 288"/>
                    <a:gd name="T9" fmla="*/ 0 h 181"/>
                    <a:gd name="T10" fmla="*/ 0 w 288"/>
                    <a:gd name="T11" fmla="*/ 0 h 181"/>
                    <a:gd name="T12" fmla="*/ 0 w 288"/>
                    <a:gd name="T13" fmla="*/ 0 h 181"/>
                    <a:gd name="T14" fmla="*/ 0 w 288"/>
                    <a:gd name="T15" fmla="*/ 0 h 181"/>
                    <a:gd name="T16" fmla="*/ 0 w 288"/>
                    <a:gd name="T17" fmla="*/ 0 h 181"/>
                    <a:gd name="T18" fmla="*/ 0 w 288"/>
                    <a:gd name="T19" fmla="*/ 0 h 181"/>
                    <a:gd name="T20" fmla="*/ 0 w 288"/>
                    <a:gd name="T21" fmla="*/ 0 h 181"/>
                    <a:gd name="T22" fmla="*/ 0 w 288"/>
                    <a:gd name="T23" fmla="*/ 0 h 181"/>
                    <a:gd name="T24" fmla="*/ 0 w 288"/>
                    <a:gd name="T25" fmla="*/ 0 h 181"/>
                    <a:gd name="T26" fmla="*/ 0 w 288"/>
                    <a:gd name="T27" fmla="*/ 0 h 181"/>
                    <a:gd name="T28" fmla="*/ 0 w 288"/>
                    <a:gd name="T29" fmla="*/ 0 h 181"/>
                    <a:gd name="T30" fmla="*/ 0 w 288"/>
                    <a:gd name="T31" fmla="*/ 0 h 181"/>
                    <a:gd name="T32" fmla="*/ 0 w 288"/>
                    <a:gd name="T33" fmla="*/ 0 h 181"/>
                    <a:gd name="T34" fmla="*/ 0 w 288"/>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8"/>
                    <a:gd name="T55" fmla="*/ 0 h 181"/>
                    <a:gd name="T56" fmla="*/ 288 w 288"/>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8" h="181">
                      <a:moveTo>
                        <a:pt x="176" y="10"/>
                      </a:moveTo>
                      <a:lnTo>
                        <a:pt x="209" y="20"/>
                      </a:lnTo>
                      <a:lnTo>
                        <a:pt x="246" y="33"/>
                      </a:lnTo>
                      <a:lnTo>
                        <a:pt x="288" y="53"/>
                      </a:lnTo>
                      <a:lnTo>
                        <a:pt x="258" y="67"/>
                      </a:lnTo>
                      <a:lnTo>
                        <a:pt x="203" y="91"/>
                      </a:lnTo>
                      <a:lnTo>
                        <a:pt x="143" y="124"/>
                      </a:lnTo>
                      <a:lnTo>
                        <a:pt x="103" y="161"/>
                      </a:lnTo>
                      <a:lnTo>
                        <a:pt x="79" y="181"/>
                      </a:lnTo>
                      <a:lnTo>
                        <a:pt x="106"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1" name="Freeform 1406">
                  <a:extLst>
                    <a:ext uri="{FF2B5EF4-FFF2-40B4-BE49-F238E27FC236}">
                      <a16:creationId xmlns:a16="http://schemas.microsoft.com/office/drawing/2014/main" id="{CD5A2314-0866-4EC7-9004-7579C1893E65}"/>
                    </a:ext>
                  </a:extLst>
                </p:cNvPr>
                <p:cNvSpPr>
                  <a:spLocks/>
                </p:cNvSpPr>
                <p:nvPr/>
              </p:nvSpPr>
              <p:spPr bwMode="auto">
                <a:xfrm>
                  <a:off x="2115" y="3659"/>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4" y="166"/>
                      </a:lnTo>
                      <a:lnTo>
                        <a:pt x="365" y="206"/>
                      </a:lnTo>
                      <a:lnTo>
                        <a:pt x="314" y="255"/>
                      </a:lnTo>
                      <a:lnTo>
                        <a:pt x="264" y="332"/>
                      </a:lnTo>
                      <a:lnTo>
                        <a:pt x="242" y="385"/>
                      </a:lnTo>
                      <a:lnTo>
                        <a:pt x="258" y="434"/>
                      </a:lnTo>
                      <a:lnTo>
                        <a:pt x="193" y="388"/>
                      </a:lnTo>
                      <a:lnTo>
                        <a:pt x="130" y="365"/>
                      </a:lnTo>
                      <a:lnTo>
                        <a:pt x="81" y="345"/>
                      </a:lnTo>
                      <a:lnTo>
                        <a:pt x="32" y="329"/>
                      </a:lnTo>
                      <a:lnTo>
                        <a:pt x="0" y="313"/>
                      </a:lnTo>
                      <a:lnTo>
                        <a:pt x="42" y="255"/>
                      </a:lnTo>
                      <a:lnTo>
                        <a:pt x="81" y="283"/>
                      </a:lnTo>
                      <a:lnTo>
                        <a:pt x="143" y="313"/>
                      </a:lnTo>
                      <a:lnTo>
                        <a:pt x="196" y="313"/>
                      </a:lnTo>
                      <a:lnTo>
                        <a:pt x="245" y="304"/>
                      </a:lnTo>
                      <a:lnTo>
                        <a:pt x="274" y="293"/>
                      </a:lnTo>
                      <a:lnTo>
                        <a:pt x="304" y="274"/>
                      </a:lnTo>
                      <a:lnTo>
                        <a:pt x="314" y="212"/>
                      </a:lnTo>
                      <a:lnTo>
                        <a:pt x="304" y="166"/>
                      </a:lnTo>
                      <a:lnTo>
                        <a:pt x="274" y="108"/>
                      </a:lnTo>
                      <a:lnTo>
                        <a:pt x="264" y="78"/>
                      </a:lnTo>
                      <a:lnTo>
                        <a:pt x="307" y="68"/>
                      </a:lnTo>
                      <a:lnTo>
                        <a:pt x="362" y="52"/>
                      </a:lnTo>
                      <a:lnTo>
                        <a:pt x="398" y="9"/>
                      </a:lnTo>
                      <a:lnTo>
                        <a:pt x="431" y="0"/>
                      </a:lnTo>
                      <a:lnTo>
                        <a:pt x="467" y="55"/>
                      </a:lnTo>
                      <a:lnTo>
                        <a:pt x="499"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34" name="Group 1407">
              <a:extLst>
                <a:ext uri="{FF2B5EF4-FFF2-40B4-BE49-F238E27FC236}">
                  <a16:creationId xmlns:a16="http://schemas.microsoft.com/office/drawing/2014/main" id="{6D9F5BCB-CDF3-4871-B892-B1E76FB958DC}"/>
                </a:ext>
              </a:extLst>
            </p:cNvPr>
            <p:cNvGrpSpPr>
              <a:grpSpLocks/>
            </p:cNvGrpSpPr>
            <p:nvPr/>
          </p:nvGrpSpPr>
          <p:grpSpPr bwMode="auto">
            <a:xfrm>
              <a:off x="2117" y="3557"/>
              <a:ext cx="140" cy="274"/>
              <a:chOff x="2117" y="3557"/>
              <a:chExt cx="140" cy="274"/>
            </a:xfrm>
          </p:grpSpPr>
          <p:sp>
            <p:nvSpPr>
              <p:cNvPr id="146" name="Freeform 1408">
                <a:extLst>
                  <a:ext uri="{FF2B5EF4-FFF2-40B4-BE49-F238E27FC236}">
                    <a16:creationId xmlns:a16="http://schemas.microsoft.com/office/drawing/2014/main" id="{B5D3E75C-F15A-4D48-B839-F505DBF8FDB9}"/>
                  </a:ext>
                </a:extLst>
              </p:cNvPr>
              <p:cNvSpPr>
                <a:spLocks/>
              </p:cNvSpPr>
              <p:nvPr/>
            </p:nvSpPr>
            <p:spPr bwMode="auto">
              <a:xfrm>
                <a:off x="2126" y="3753"/>
                <a:ext cx="129"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7"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147" name="Freeform 1409">
                <a:extLst>
                  <a:ext uri="{FF2B5EF4-FFF2-40B4-BE49-F238E27FC236}">
                    <a16:creationId xmlns:a16="http://schemas.microsoft.com/office/drawing/2014/main" id="{1674ED80-3E58-4567-BA92-313848BBFB76}"/>
                  </a:ext>
                </a:extLst>
              </p:cNvPr>
              <p:cNvSpPr>
                <a:spLocks/>
              </p:cNvSpPr>
              <p:nvPr/>
            </p:nvSpPr>
            <p:spPr bwMode="auto">
              <a:xfrm>
                <a:off x="2172" y="3787"/>
                <a:ext cx="85"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6" y="179"/>
                    </a:lnTo>
                    <a:lnTo>
                      <a:pt x="944" y="523"/>
                    </a:lnTo>
                    <a:lnTo>
                      <a:pt x="963" y="528"/>
                    </a:lnTo>
                    <a:lnTo>
                      <a:pt x="980" y="523"/>
                    </a:lnTo>
                    <a:lnTo>
                      <a:pt x="995" y="505"/>
                    </a:lnTo>
                    <a:lnTo>
                      <a:pt x="1014" y="461"/>
                    </a:lnTo>
                    <a:lnTo>
                      <a:pt x="1023" y="428"/>
                    </a:lnTo>
                    <a:lnTo>
                      <a:pt x="1027" y="398"/>
                    </a:lnTo>
                    <a:lnTo>
                      <a:pt x="1019" y="366"/>
                    </a:lnTo>
                    <a:lnTo>
                      <a:pt x="999"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148" name="Freeform 1410">
                <a:extLst>
                  <a:ext uri="{FF2B5EF4-FFF2-40B4-BE49-F238E27FC236}">
                    <a16:creationId xmlns:a16="http://schemas.microsoft.com/office/drawing/2014/main" id="{593CB637-C081-4737-872E-81DB2D51A489}"/>
                  </a:ext>
                </a:extLst>
              </p:cNvPr>
              <p:cNvSpPr>
                <a:spLocks/>
              </p:cNvSpPr>
              <p:nvPr/>
            </p:nvSpPr>
            <p:spPr bwMode="auto">
              <a:xfrm>
                <a:off x="2117" y="3557"/>
                <a:ext cx="123" cy="245"/>
              </a:xfrm>
              <a:custGeom>
                <a:avLst/>
                <a:gdLst>
                  <a:gd name="T0" fmla="*/ 0 w 1479"/>
                  <a:gd name="T1" fmla="*/ 0 h 2948"/>
                  <a:gd name="T2" fmla="*/ 0 w 1479"/>
                  <a:gd name="T3" fmla="*/ 0 h 2948"/>
                  <a:gd name="T4" fmla="*/ 0 w 1479"/>
                  <a:gd name="T5" fmla="*/ 0 h 2948"/>
                  <a:gd name="T6" fmla="*/ 0 w 1479"/>
                  <a:gd name="T7" fmla="*/ 0 h 2948"/>
                  <a:gd name="T8" fmla="*/ 0 w 1479"/>
                  <a:gd name="T9" fmla="*/ 0 h 2948"/>
                  <a:gd name="T10" fmla="*/ 0 w 1479"/>
                  <a:gd name="T11" fmla="*/ 0 h 2948"/>
                  <a:gd name="T12" fmla="*/ 0 w 1479"/>
                  <a:gd name="T13" fmla="*/ 0 h 2948"/>
                  <a:gd name="T14" fmla="*/ 0 w 1479"/>
                  <a:gd name="T15" fmla="*/ 0 h 2948"/>
                  <a:gd name="T16" fmla="*/ 0 w 1479"/>
                  <a:gd name="T17" fmla="*/ 0 h 2948"/>
                  <a:gd name="T18" fmla="*/ 0 w 1479"/>
                  <a:gd name="T19" fmla="*/ 0 h 2948"/>
                  <a:gd name="T20" fmla="*/ 0 w 1479"/>
                  <a:gd name="T21" fmla="*/ 0 h 2948"/>
                  <a:gd name="T22" fmla="*/ 0 w 1479"/>
                  <a:gd name="T23" fmla="*/ 0 h 2948"/>
                  <a:gd name="T24" fmla="*/ 0 w 1479"/>
                  <a:gd name="T25" fmla="*/ 0 h 2948"/>
                  <a:gd name="T26" fmla="*/ 0 w 1479"/>
                  <a:gd name="T27" fmla="*/ 0 h 2948"/>
                  <a:gd name="T28" fmla="*/ 0 w 1479"/>
                  <a:gd name="T29" fmla="*/ 0 h 2948"/>
                  <a:gd name="T30" fmla="*/ 0 w 1479"/>
                  <a:gd name="T31" fmla="*/ 0 h 2948"/>
                  <a:gd name="T32" fmla="*/ 0 w 1479"/>
                  <a:gd name="T33" fmla="*/ 0 h 2948"/>
                  <a:gd name="T34" fmla="*/ 0 w 1479"/>
                  <a:gd name="T35" fmla="*/ 0 h 2948"/>
                  <a:gd name="T36" fmla="*/ 0 w 1479"/>
                  <a:gd name="T37" fmla="*/ 0 h 2948"/>
                  <a:gd name="T38" fmla="*/ 0 w 1479"/>
                  <a:gd name="T39" fmla="*/ 0 h 2948"/>
                  <a:gd name="T40" fmla="*/ 0 w 1479"/>
                  <a:gd name="T41" fmla="*/ 0 h 2948"/>
                  <a:gd name="T42" fmla="*/ 0 w 1479"/>
                  <a:gd name="T43" fmla="*/ 0 h 2948"/>
                  <a:gd name="T44" fmla="*/ 0 w 1479"/>
                  <a:gd name="T45" fmla="*/ 0 h 2948"/>
                  <a:gd name="T46" fmla="*/ 0 w 1479"/>
                  <a:gd name="T47" fmla="*/ 0 h 2948"/>
                  <a:gd name="T48" fmla="*/ 0 w 1479"/>
                  <a:gd name="T49" fmla="*/ 0 h 2948"/>
                  <a:gd name="T50" fmla="*/ 0 w 1479"/>
                  <a:gd name="T51" fmla="*/ 0 h 2948"/>
                  <a:gd name="T52" fmla="*/ 0 w 1479"/>
                  <a:gd name="T53" fmla="*/ 0 h 2948"/>
                  <a:gd name="T54" fmla="*/ 0 w 1479"/>
                  <a:gd name="T55" fmla="*/ 0 h 2948"/>
                  <a:gd name="T56" fmla="*/ 0 w 1479"/>
                  <a:gd name="T57" fmla="*/ 0 h 2948"/>
                  <a:gd name="T58" fmla="*/ 0 w 1479"/>
                  <a:gd name="T59" fmla="*/ 0 h 2948"/>
                  <a:gd name="T60" fmla="*/ 0 w 1479"/>
                  <a:gd name="T61" fmla="*/ 0 h 2948"/>
                  <a:gd name="T62" fmla="*/ 0 w 1479"/>
                  <a:gd name="T63" fmla="*/ 0 h 2948"/>
                  <a:gd name="T64" fmla="*/ 0 w 1479"/>
                  <a:gd name="T65" fmla="*/ 0 h 2948"/>
                  <a:gd name="T66" fmla="*/ 0 w 1479"/>
                  <a:gd name="T67" fmla="*/ 0 h 2948"/>
                  <a:gd name="T68" fmla="*/ 0 w 1479"/>
                  <a:gd name="T69" fmla="*/ 0 h 2948"/>
                  <a:gd name="T70" fmla="*/ 0 w 1479"/>
                  <a:gd name="T71" fmla="*/ 0 h 2948"/>
                  <a:gd name="T72" fmla="*/ 0 w 1479"/>
                  <a:gd name="T73" fmla="*/ 0 h 2948"/>
                  <a:gd name="T74" fmla="*/ 0 w 1479"/>
                  <a:gd name="T75" fmla="*/ 0 h 2948"/>
                  <a:gd name="T76" fmla="*/ 0 w 1479"/>
                  <a:gd name="T77" fmla="*/ 0 h 2948"/>
                  <a:gd name="T78" fmla="*/ 0 w 1479"/>
                  <a:gd name="T79" fmla="*/ 0 h 2948"/>
                  <a:gd name="T80" fmla="*/ 0 w 1479"/>
                  <a:gd name="T81" fmla="*/ 0 h 2948"/>
                  <a:gd name="T82" fmla="*/ 0 w 1479"/>
                  <a:gd name="T83" fmla="*/ 0 h 2948"/>
                  <a:gd name="T84" fmla="*/ 0 w 1479"/>
                  <a:gd name="T85" fmla="*/ 0 h 2948"/>
                  <a:gd name="T86" fmla="*/ 0 w 1479"/>
                  <a:gd name="T87" fmla="*/ 0 h 2948"/>
                  <a:gd name="T88" fmla="*/ 0 w 1479"/>
                  <a:gd name="T89" fmla="*/ 0 h 2948"/>
                  <a:gd name="T90" fmla="*/ 0 w 1479"/>
                  <a:gd name="T91" fmla="*/ 0 h 2948"/>
                  <a:gd name="T92" fmla="*/ 0 w 1479"/>
                  <a:gd name="T93" fmla="*/ 0 h 2948"/>
                  <a:gd name="T94" fmla="*/ 0 w 1479"/>
                  <a:gd name="T95" fmla="*/ 0 h 2948"/>
                  <a:gd name="T96" fmla="*/ 0 w 1479"/>
                  <a:gd name="T97" fmla="*/ 0 h 2948"/>
                  <a:gd name="T98" fmla="*/ 0 w 1479"/>
                  <a:gd name="T99" fmla="*/ 0 h 2948"/>
                  <a:gd name="T100" fmla="*/ 0 w 1479"/>
                  <a:gd name="T101" fmla="*/ 0 h 2948"/>
                  <a:gd name="T102" fmla="*/ 0 w 1479"/>
                  <a:gd name="T103" fmla="*/ 0 h 2948"/>
                  <a:gd name="T104" fmla="*/ 0 w 1479"/>
                  <a:gd name="T105" fmla="*/ 0 h 2948"/>
                  <a:gd name="T106" fmla="*/ 0 w 1479"/>
                  <a:gd name="T107" fmla="*/ 0 h 2948"/>
                  <a:gd name="T108" fmla="*/ 0 w 1479"/>
                  <a:gd name="T109" fmla="*/ 0 h 2948"/>
                  <a:gd name="T110" fmla="*/ 0 w 1479"/>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9"/>
                  <a:gd name="T169" fmla="*/ 0 h 2948"/>
                  <a:gd name="T170" fmla="*/ 1479 w 1479"/>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9" h="2948">
                    <a:moveTo>
                      <a:pt x="1479" y="384"/>
                    </a:moveTo>
                    <a:lnTo>
                      <a:pt x="1476" y="353"/>
                    </a:lnTo>
                    <a:lnTo>
                      <a:pt x="1461" y="332"/>
                    </a:lnTo>
                    <a:lnTo>
                      <a:pt x="1438" y="306"/>
                    </a:lnTo>
                    <a:lnTo>
                      <a:pt x="1360" y="255"/>
                    </a:lnTo>
                    <a:lnTo>
                      <a:pt x="1008" y="61"/>
                    </a:lnTo>
                    <a:lnTo>
                      <a:pt x="958" y="38"/>
                    </a:lnTo>
                    <a:lnTo>
                      <a:pt x="926" y="23"/>
                    </a:lnTo>
                    <a:lnTo>
                      <a:pt x="886" y="10"/>
                    </a:lnTo>
                    <a:lnTo>
                      <a:pt x="861" y="3"/>
                    </a:lnTo>
                    <a:lnTo>
                      <a:pt x="825" y="0"/>
                    </a:lnTo>
                    <a:lnTo>
                      <a:pt x="792" y="3"/>
                    </a:lnTo>
                    <a:lnTo>
                      <a:pt x="767" y="6"/>
                    </a:lnTo>
                    <a:lnTo>
                      <a:pt x="730" y="16"/>
                    </a:lnTo>
                    <a:lnTo>
                      <a:pt x="695" y="32"/>
                    </a:lnTo>
                    <a:lnTo>
                      <a:pt x="663" y="54"/>
                    </a:lnTo>
                    <a:lnTo>
                      <a:pt x="630" y="74"/>
                    </a:lnTo>
                    <a:lnTo>
                      <a:pt x="598" y="95"/>
                    </a:lnTo>
                    <a:lnTo>
                      <a:pt x="562" y="121"/>
                    </a:lnTo>
                    <a:lnTo>
                      <a:pt x="528" y="154"/>
                    </a:lnTo>
                    <a:lnTo>
                      <a:pt x="509" y="175"/>
                    </a:lnTo>
                    <a:lnTo>
                      <a:pt x="492" y="201"/>
                    </a:lnTo>
                    <a:lnTo>
                      <a:pt x="481" y="238"/>
                    </a:lnTo>
                    <a:lnTo>
                      <a:pt x="10" y="2307"/>
                    </a:lnTo>
                    <a:lnTo>
                      <a:pt x="0" y="2349"/>
                    </a:lnTo>
                    <a:lnTo>
                      <a:pt x="0" y="2370"/>
                    </a:lnTo>
                    <a:lnTo>
                      <a:pt x="0" y="2396"/>
                    </a:lnTo>
                    <a:lnTo>
                      <a:pt x="1" y="2422"/>
                    </a:lnTo>
                    <a:lnTo>
                      <a:pt x="11" y="2466"/>
                    </a:lnTo>
                    <a:lnTo>
                      <a:pt x="19" y="2485"/>
                    </a:lnTo>
                    <a:lnTo>
                      <a:pt x="38" y="2518"/>
                    </a:lnTo>
                    <a:lnTo>
                      <a:pt x="51" y="2540"/>
                    </a:lnTo>
                    <a:lnTo>
                      <a:pt x="79" y="2571"/>
                    </a:lnTo>
                    <a:lnTo>
                      <a:pt x="111" y="2598"/>
                    </a:lnTo>
                    <a:lnTo>
                      <a:pt x="155" y="2627"/>
                    </a:lnTo>
                    <a:lnTo>
                      <a:pt x="190" y="2650"/>
                    </a:lnTo>
                    <a:lnTo>
                      <a:pt x="717" y="2948"/>
                    </a:lnTo>
                    <a:lnTo>
                      <a:pt x="708" y="2916"/>
                    </a:lnTo>
                    <a:lnTo>
                      <a:pt x="707" y="2885"/>
                    </a:lnTo>
                    <a:lnTo>
                      <a:pt x="712" y="2861"/>
                    </a:lnTo>
                    <a:lnTo>
                      <a:pt x="721" y="2833"/>
                    </a:lnTo>
                    <a:lnTo>
                      <a:pt x="735" y="2805"/>
                    </a:lnTo>
                    <a:lnTo>
                      <a:pt x="753" y="2783"/>
                    </a:lnTo>
                    <a:lnTo>
                      <a:pt x="778" y="2769"/>
                    </a:lnTo>
                    <a:lnTo>
                      <a:pt x="194" y="2433"/>
                    </a:lnTo>
                    <a:lnTo>
                      <a:pt x="175" y="2417"/>
                    </a:lnTo>
                    <a:lnTo>
                      <a:pt x="168" y="2407"/>
                    </a:lnTo>
                    <a:lnTo>
                      <a:pt x="162" y="2391"/>
                    </a:lnTo>
                    <a:lnTo>
                      <a:pt x="157" y="2359"/>
                    </a:lnTo>
                    <a:lnTo>
                      <a:pt x="157" y="2339"/>
                    </a:lnTo>
                    <a:lnTo>
                      <a:pt x="444" y="1110"/>
                    </a:lnTo>
                    <a:lnTo>
                      <a:pt x="473" y="1055"/>
                    </a:lnTo>
                    <a:lnTo>
                      <a:pt x="501" y="1024"/>
                    </a:lnTo>
                    <a:lnTo>
                      <a:pt x="547" y="976"/>
                    </a:lnTo>
                    <a:lnTo>
                      <a:pt x="583" y="941"/>
                    </a:lnTo>
                    <a:lnTo>
                      <a:pt x="1479" y="384"/>
                    </a:lnTo>
                    <a:close/>
                  </a:path>
                </a:pathLst>
              </a:custGeom>
              <a:solidFill>
                <a:srgbClr val="808080"/>
              </a:solidFill>
              <a:ln w="1588">
                <a:solidFill>
                  <a:srgbClr val="000000"/>
                </a:solidFill>
                <a:prstDash val="solid"/>
                <a:round/>
                <a:headEnd/>
                <a:tailEnd/>
              </a:ln>
            </p:spPr>
            <p:txBody>
              <a:bodyPr/>
              <a:lstStyle/>
              <a:p>
                <a:endParaRPr lang="en-US"/>
              </a:p>
            </p:txBody>
          </p:sp>
          <p:sp>
            <p:nvSpPr>
              <p:cNvPr id="149" name="Freeform 1411">
                <a:extLst>
                  <a:ext uri="{FF2B5EF4-FFF2-40B4-BE49-F238E27FC236}">
                    <a16:creationId xmlns:a16="http://schemas.microsoft.com/office/drawing/2014/main" id="{E744BA51-882D-437D-A6E7-EE8F5B665812}"/>
                  </a:ext>
                </a:extLst>
              </p:cNvPr>
              <p:cNvSpPr>
                <a:spLocks/>
              </p:cNvSpPr>
              <p:nvPr/>
            </p:nvSpPr>
            <p:spPr bwMode="auto">
              <a:xfrm>
                <a:off x="2166" y="3561"/>
                <a:ext cx="78" cy="109"/>
              </a:xfrm>
              <a:custGeom>
                <a:avLst/>
                <a:gdLst>
                  <a:gd name="T0" fmla="*/ 0 w 928"/>
                  <a:gd name="T1" fmla="*/ 0 h 1304"/>
                  <a:gd name="T2" fmla="*/ 0 w 928"/>
                  <a:gd name="T3" fmla="*/ 0 h 1304"/>
                  <a:gd name="T4" fmla="*/ 0 w 928"/>
                  <a:gd name="T5" fmla="*/ 0 h 1304"/>
                  <a:gd name="T6" fmla="*/ 0 w 928"/>
                  <a:gd name="T7" fmla="*/ 0 h 1304"/>
                  <a:gd name="T8" fmla="*/ 0 w 928"/>
                  <a:gd name="T9" fmla="*/ 0 h 1304"/>
                  <a:gd name="T10" fmla="*/ 0 w 928"/>
                  <a:gd name="T11" fmla="*/ 0 h 1304"/>
                  <a:gd name="T12" fmla="*/ 0 w 928"/>
                  <a:gd name="T13" fmla="*/ 0 h 1304"/>
                  <a:gd name="T14" fmla="*/ 0 w 928"/>
                  <a:gd name="T15" fmla="*/ 0 h 1304"/>
                  <a:gd name="T16" fmla="*/ 0 w 928"/>
                  <a:gd name="T17" fmla="*/ 0 h 1304"/>
                  <a:gd name="T18" fmla="*/ 0 w 928"/>
                  <a:gd name="T19" fmla="*/ 0 h 1304"/>
                  <a:gd name="T20" fmla="*/ 0 w 928"/>
                  <a:gd name="T21" fmla="*/ 0 h 1304"/>
                  <a:gd name="T22" fmla="*/ 0 w 928"/>
                  <a:gd name="T23" fmla="*/ 0 h 1304"/>
                  <a:gd name="T24" fmla="*/ 0 w 928"/>
                  <a:gd name="T25" fmla="*/ 0 h 1304"/>
                  <a:gd name="T26" fmla="*/ 0 w 928"/>
                  <a:gd name="T27" fmla="*/ 0 h 1304"/>
                  <a:gd name="T28" fmla="*/ 0 w 928"/>
                  <a:gd name="T29" fmla="*/ 0 h 1304"/>
                  <a:gd name="T30" fmla="*/ 0 w 928"/>
                  <a:gd name="T31" fmla="*/ 0 h 1304"/>
                  <a:gd name="T32" fmla="*/ 0 w 928"/>
                  <a:gd name="T33" fmla="*/ 0 h 1304"/>
                  <a:gd name="T34" fmla="*/ 0 w 928"/>
                  <a:gd name="T35" fmla="*/ 0 h 1304"/>
                  <a:gd name="T36" fmla="*/ 0 w 928"/>
                  <a:gd name="T37" fmla="*/ 0 h 1304"/>
                  <a:gd name="T38" fmla="*/ 0 w 928"/>
                  <a:gd name="T39" fmla="*/ 0 h 1304"/>
                  <a:gd name="T40" fmla="*/ 0 w 928"/>
                  <a:gd name="T41" fmla="*/ 0 h 1304"/>
                  <a:gd name="T42" fmla="*/ 0 w 928"/>
                  <a:gd name="T43" fmla="*/ 0 h 1304"/>
                  <a:gd name="T44" fmla="*/ 0 w 928"/>
                  <a:gd name="T45" fmla="*/ 0 h 1304"/>
                  <a:gd name="T46" fmla="*/ 0 w 928"/>
                  <a:gd name="T47" fmla="*/ 0 h 1304"/>
                  <a:gd name="T48" fmla="*/ 0 w 928"/>
                  <a:gd name="T49" fmla="*/ 0 h 1304"/>
                  <a:gd name="T50" fmla="*/ 0 w 928"/>
                  <a:gd name="T51" fmla="*/ 0 h 1304"/>
                  <a:gd name="T52" fmla="*/ 0 w 928"/>
                  <a:gd name="T53" fmla="*/ 0 h 1304"/>
                  <a:gd name="T54" fmla="*/ 0 w 928"/>
                  <a:gd name="T55" fmla="*/ 0 h 1304"/>
                  <a:gd name="T56" fmla="*/ 0 w 928"/>
                  <a:gd name="T57" fmla="*/ 0 h 1304"/>
                  <a:gd name="T58" fmla="*/ 0 w 928"/>
                  <a:gd name="T59" fmla="*/ 0 h 1304"/>
                  <a:gd name="T60" fmla="*/ 0 w 928"/>
                  <a:gd name="T61" fmla="*/ 0 h 1304"/>
                  <a:gd name="T62" fmla="*/ 0 w 928"/>
                  <a:gd name="T63" fmla="*/ 0 h 1304"/>
                  <a:gd name="T64" fmla="*/ 0 w 928"/>
                  <a:gd name="T65" fmla="*/ 0 h 1304"/>
                  <a:gd name="T66" fmla="*/ 0 w 928"/>
                  <a:gd name="T67" fmla="*/ 0 h 1304"/>
                  <a:gd name="T68" fmla="*/ 0 w 928"/>
                  <a:gd name="T69" fmla="*/ 0 h 1304"/>
                  <a:gd name="T70" fmla="*/ 0 w 928"/>
                  <a:gd name="T71" fmla="*/ 0 h 1304"/>
                  <a:gd name="T72" fmla="*/ 0 w 928"/>
                  <a:gd name="T73" fmla="*/ 0 h 1304"/>
                  <a:gd name="T74" fmla="*/ 0 w 928"/>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8"/>
                  <a:gd name="T115" fmla="*/ 0 h 1304"/>
                  <a:gd name="T116" fmla="*/ 928 w 928"/>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8" h="1304">
                    <a:moveTo>
                      <a:pt x="898" y="351"/>
                    </a:moveTo>
                    <a:lnTo>
                      <a:pt x="868" y="315"/>
                    </a:lnTo>
                    <a:lnTo>
                      <a:pt x="821" y="278"/>
                    </a:lnTo>
                    <a:lnTo>
                      <a:pt x="755" y="241"/>
                    </a:lnTo>
                    <a:lnTo>
                      <a:pt x="586" y="148"/>
                    </a:lnTo>
                    <a:lnTo>
                      <a:pt x="400" y="53"/>
                    </a:lnTo>
                    <a:lnTo>
                      <a:pt x="335" y="21"/>
                    </a:lnTo>
                    <a:lnTo>
                      <a:pt x="290" y="6"/>
                    </a:lnTo>
                    <a:lnTo>
                      <a:pt x="255" y="0"/>
                    </a:lnTo>
                    <a:lnTo>
                      <a:pt x="228" y="0"/>
                    </a:lnTo>
                    <a:lnTo>
                      <a:pt x="205" y="5"/>
                    </a:lnTo>
                    <a:lnTo>
                      <a:pt x="182" y="21"/>
                    </a:lnTo>
                    <a:lnTo>
                      <a:pt x="164" y="41"/>
                    </a:lnTo>
                    <a:lnTo>
                      <a:pt x="148" y="76"/>
                    </a:lnTo>
                    <a:lnTo>
                      <a:pt x="0" y="833"/>
                    </a:lnTo>
                    <a:lnTo>
                      <a:pt x="0" y="865"/>
                    </a:lnTo>
                    <a:lnTo>
                      <a:pt x="0" y="906"/>
                    </a:lnTo>
                    <a:lnTo>
                      <a:pt x="7" y="936"/>
                    </a:lnTo>
                    <a:lnTo>
                      <a:pt x="16" y="957"/>
                    </a:lnTo>
                    <a:lnTo>
                      <a:pt x="29" y="978"/>
                    </a:lnTo>
                    <a:lnTo>
                      <a:pt x="57" y="1004"/>
                    </a:lnTo>
                    <a:lnTo>
                      <a:pt x="85" y="1022"/>
                    </a:lnTo>
                    <a:lnTo>
                      <a:pt x="118" y="1041"/>
                    </a:lnTo>
                    <a:lnTo>
                      <a:pt x="558" y="1267"/>
                    </a:lnTo>
                    <a:lnTo>
                      <a:pt x="599" y="1285"/>
                    </a:lnTo>
                    <a:lnTo>
                      <a:pt x="636" y="1295"/>
                    </a:lnTo>
                    <a:lnTo>
                      <a:pt x="678" y="1304"/>
                    </a:lnTo>
                    <a:lnTo>
                      <a:pt x="706" y="1304"/>
                    </a:lnTo>
                    <a:lnTo>
                      <a:pt x="734" y="1295"/>
                    </a:lnTo>
                    <a:lnTo>
                      <a:pt x="755" y="1269"/>
                    </a:lnTo>
                    <a:lnTo>
                      <a:pt x="767" y="1222"/>
                    </a:lnTo>
                    <a:lnTo>
                      <a:pt x="784" y="1162"/>
                    </a:lnTo>
                    <a:lnTo>
                      <a:pt x="860" y="833"/>
                    </a:lnTo>
                    <a:lnTo>
                      <a:pt x="916" y="507"/>
                    </a:lnTo>
                    <a:lnTo>
                      <a:pt x="928" y="431"/>
                    </a:lnTo>
                    <a:lnTo>
                      <a:pt x="925" y="403"/>
                    </a:lnTo>
                    <a:lnTo>
                      <a:pt x="917" y="379"/>
                    </a:lnTo>
                    <a:lnTo>
                      <a:pt x="898" y="351"/>
                    </a:lnTo>
                    <a:close/>
                  </a:path>
                </a:pathLst>
              </a:custGeom>
              <a:solidFill>
                <a:srgbClr val="606060"/>
              </a:solidFill>
              <a:ln w="1588">
                <a:solidFill>
                  <a:srgbClr val="000000"/>
                </a:solidFill>
                <a:prstDash val="solid"/>
                <a:round/>
                <a:headEnd/>
                <a:tailEnd/>
              </a:ln>
            </p:spPr>
            <p:txBody>
              <a:bodyPr/>
              <a:lstStyle/>
              <a:p>
                <a:endParaRPr lang="en-US"/>
              </a:p>
            </p:txBody>
          </p:sp>
          <p:sp>
            <p:nvSpPr>
              <p:cNvPr id="150" name="Freeform 1412">
                <a:extLst>
                  <a:ext uri="{FF2B5EF4-FFF2-40B4-BE49-F238E27FC236}">
                    <a16:creationId xmlns:a16="http://schemas.microsoft.com/office/drawing/2014/main" id="{43320375-591E-4DAC-9AD2-2F9820D69819}"/>
                  </a:ext>
                </a:extLst>
              </p:cNvPr>
              <p:cNvSpPr>
                <a:spLocks/>
              </p:cNvSpPr>
              <p:nvPr/>
            </p:nvSpPr>
            <p:spPr bwMode="auto">
              <a:xfrm>
                <a:off x="2126" y="3634"/>
                <a:ext cx="101"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10" y="431"/>
                    </a:moveTo>
                    <a:lnTo>
                      <a:pt x="1215" y="426"/>
                    </a:lnTo>
                    <a:lnTo>
                      <a:pt x="1156" y="451"/>
                    </a:lnTo>
                    <a:lnTo>
                      <a:pt x="1119" y="467"/>
                    </a:lnTo>
                    <a:lnTo>
                      <a:pt x="1101" y="478"/>
                    </a:lnTo>
                    <a:lnTo>
                      <a:pt x="1073" y="511"/>
                    </a:lnTo>
                    <a:lnTo>
                      <a:pt x="1053" y="552"/>
                    </a:lnTo>
                    <a:lnTo>
                      <a:pt x="772" y="1702"/>
                    </a:lnTo>
                    <a:lnTo>
                      <a:pt x="0" y="1429"/>
                    </a:lnTo>
                    <a:lnTo>
                      <a:pt x="315" y="31"/>
                    </a:lnTo>
                    <a:lnTo>
                      <a:pt x="481" y="0"/>
                    </a:lnTo>
                    <a:lnTo>
                      <a:pt x="1210"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151" name="Group 1413">
                <a:extLst>
                  <a:ext uri="{FF2B5EF4-FFF2-40B4-BE49-F238E27FC236}">
                    <a16:creationId xmlns:a16="http://schemas.microsoft.com/office/drawing/2014/main" id="{A4D69E08-E75E-4A40-BF94-3498ADFF0A1C}"/>
                  </a:ext>
                </a:extLst>
              </p:cNvPr>
              <p:cNvGrpSpPr>
                <a:grpSpLocks/>
              </p:cNvGrpSpPr>
              <p:nvPr/>
            </p:nvGrpSpPr>
            <p:grpSpPr bwMode="auto">
              <a:xfrm>
                <a:off x="2183" y="3584"/>
                <a:ext cx="52" cy="60"/>
                <a:chOff x="2183" y="3584"/>
                <a:chExt cx="52" cy="60"/>
              </a:xfrm>
            </p:grpSpPr>
            <p:sp>
              <p:nvSpPr>
                <p:cNvPr id="171" name="Oval 1414">
                  <a:extLst>
                    <a:ext uri="{FF2B5EF4-FFF2-40B4-BE49-F238E27FC236}">
                      <a16:creationId xmlns:a16="http://schemas.microsoft.com/office/drawing/2014/main" id="{0AF7AAB8-152B-4C95-96AE-B10A28872C60}"/>
                    </a:ext>
                  </a:extLst>
                </p:cNvPr>
                <p:cNvSpPr>
                  <a:spLocks noChangeArrowheads="1"/>
                </p:cNvSpPr>
                <p:nvPr/>
              </p:nvSpPr>
              <p:spPr bwMode="auto">
                <a:xfrm>
                  <a:off x="2183" y="3584"/>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72" name="Group 1415">
                  <a:extLst>
                    <a:ext uri="{FF2B5EF4-FFF2-40B4-BE49-F238E27FC236}">
                      <a16:creationId xmlns:a16="http://schemas.microsoft.com/office/drawing/2014/main" id="{965E959D-B0D9-4651-8078-CD2F788DF525}"/>
                    </a:ext>
                  </a:extLst>
                </p:cNvPr>
                <p:cNvGrpSpPr>
                  <a:grpSpLocks/>
                </p:cNvGrpSpPr>
                <p:nvPr/>
              </p:nvGrpSpPr>
              <p:grpSpPr bwMode="auto">
                <a:xfrm>
                  <a:off x="2196" y="3594"/>
                  <a:ext cx="28" cy="40"/>
                  <a:chOff x="2196" y="3594"/>
                  <a:chExt cx="28" cy="40"/>
                </a:xfrm>
              </p:grpSpPr>
              <p:sp>
                <p:nvSpPr>
                  <p:cNvPr id="173" name="Oval 1416">
                    <a:extLst>
                      <a:ext uri="{FF2B5EF4-FFF2-40B4-BE49-F238E27FC236}">
                        <a16:creationId xmlns:a16="http://schemas.microsoft.com/office/drawing/2014/main" id="{9D664993-CFB9-4025-A4AC-FE0F1B2A8A1A}"/>
                      </a:ext>
                    </a:extLst>
                  </p:cNvPr>
                  <p:cNvSpPr>
                    <a:spLocks noChangeArrowheads="1"/>
                  </p:cNvSpPr>
                  <p:nvPr/>
                </p:nvSpPr>
                <p:spPr bwMode="auto">
                  <a:xfrm>
                    <a:off x="2208" y="361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4" name="Oval 1417">
                    <a:extLst>
                      <a:ext uri="{FF2B5EF4-FFF2-40B4-BE49-F238E27FC236}">
                        <a16:creationId xmlns:a16="http://schemas.microsoft.com/office/drawing/2014/main" id="{3D4AE54A-B722-4920-8431-FC5671DDF31F}"/>
                      </a:ext>
                    </a:extLst>
                  </p:cNvPr>
                  <p:cNvSpPr>
                    <a:spLocks noChangeArrowheads="1"/>
                  </p:cNvSpPr>
                  <p:nvPr/>
                </p:nvSpPr>
                <p:spPr bwMode="auto">
                  <a:xfrm>
                    <a:off x="2219" y="361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5" name="Oval 1418">
                    <a:extLst>
                      <a:ext uri="{FF2B5EF4-FFF2-40B4-BE49-F238E27FC236}">
                        <a16:creationId xmlns:a16="http://schemas.microsoft.com/office/drawing/2014/main" id="{5E6978A5-70A4-42DA-927B-B254B1794EC2}"/>
                      </a:ext>
                    </a:extLst>
                  </p:cNvPr>
                  <p:cNvSpPr>
                    <a:spLocks noChangeArrowheads="1"/>
                  </p:cNvSpPr>
                  <p:nvPr/>
                </p:nvSpPr>
                <p:spPr bwMode="auto">
                  <a:xfrm>
                    <a:off x="2196" y="362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6" name="Oval 1419">
                    <a:extLst>
                      <a:ext uri="{FF2B5EF4-FFF2-40B4-BE49-F238E27FC236}">
                        <a16:creationId xmlns:a16="http://schemas.microsoft.com/office/drawing/2014/main" id="{8080BE3A-A981-4437-A9A0-D925A91B4D4F}"/>
                      </a:ext>
                    </a:extLst>
                  </p:cNvPr>
                  <p:cNvSpPr>
                    <a:spLocks noChangeArrowheads="1"/>
                  </p:cNvSpPr>
                  <p:nvPr/>
                </p:nvSpPr>
                <p:spPr bwMode="auto">
                  <a:xfrm>
                    <a:off x="2205" y="362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7" name="Oval 1420">
                    <a:extLst>
                      <a:ext uri="{FF2B5EF4-FFF2-40B4-BE49-F238E27FC236}">
                        <a16:creationId xmlns:a16="http://schemas.microsoft.com/office/drawing/2014/main" id="{B5214657-116B-4E53-9B9E-C56DA8A96B5D}"/>
                      </a:ext>
                    </a:extLst>
                  </p:cNvPr>
                  <p:cNvSpPr>
                    <a:spLocks noChangeArrowheads="1"/>
                  </p:cNvSpPr>
                  <p:nvPr/>
                </p:nvSpPr>
                <p:spPr bwMode="auto">
                  <a:xfrm>
                    <a:off x="2215" y="3630"/>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8" name="Oval 1421">
                    <a:extLst>
                      <a:ext uri="{FF2B5EF4-FFF2-40B4-BE49-F238E27FC236}">
                        <a16:creationId xmlns:a16="http://schemas.microsoft.com/office/drawing/2014/main" id="{B324D49E-CD5A-4C8C-B1BB-AB938DDF96C8}"/>
                      </a:ext>
                    </a:extLst>
                  </p:cNvPr>
                  <p:cNvSpPr>
                    <a:spLocks noChangeArrowheads="1"/>
                  </p:cNvSpPr>
                  <p:nvPr/>
                </p:nvSpPr>
                <p:spPr bwMode="auto">
                  <a:xfrm>
                    <a:off x="2202" y="361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9" name="Oval 1422">
                    <a:extLst>
                      <a:ext uri="{FF2B5EF4-FFF2-40B4-BE49-F238E27FC236}">
                        <a16:creationId xmlns:a16="http://schemas.microsoft.com/office/drawing/2014/main" id="{A39CE81D-1F1C-476A-A831-00B7DAB52FD1}"/>
                      </a:ext>
                    </a:extLst>
                  </p:cNvPr>
                  <p:cNvSpPr>
                    <a:spLocks noChangeArrowheads="1"/>
                  </p:cNvSpPr>
                  <p:nvPr/>
                </p:nvSpPr>
                <p:spPr bwMode="auto">
                  <a:xfrm>
                    <a:off x="2211" y="3621"/>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80" name="Oval 1423">
                    <a:extLst>
                      <a:ext uri="{FF2B5EF4-FFF2-40B4-BE49-F238E27FC236}">
                        <a16:creationId xmlns:a16="http://schemas.microsoft.com/office/drawing/2014/main" id="{F04BF5FE-0211-4D99-8708-F89DCFFC366A}"/>
                      </a:ext>
                    </a:extLst>
                  </p:cNvPr>
                  <p:cNvSpPr>
                    <a:spLocks noChangeArrowheads="1"/>
                  </p:cNvSpPr>
                  <p:nvPr/>
                </p:nvSpPr>
                <p:spPr bwMode="auto">
                  <a:xfrm>
                    <a:off x="2201" y="359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81" name="Oval 1424">
                    <a:extLst>
                      <a:ext uri="{FF2B5EF4-FFF2-40B4-BE49-F238E27FC236}">
                        <a16:creationId xmlns:a16="http://schemas.microsoft.com/office/drawing/2014/main" id="{40E90FF3-60DD-43A4-BCE3-831170D7CEC2}"/>
                      </a:ext>
                    </a:extLst>
                  </p:cNvPr>
                  <p:cNvSpPr>
                    <a:spLocks noChangeArrowheads="1"/>
                  </p:cNvSpPr>
                  <p:nvPr/>
                </p:nvSpPr>
                <p:spPr bwMode="auto">
                  <a:xfrm>
                    <a:off x="2211" y="359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82" name="Oval 1425">
                    <a:extLst>
                      <a:ext uri="{FF2B5EF4-FFF2-40B4-BE49-F238E27FC236}">
                        <a16:creationId xmlns:a16="http://schemas.microsoft.com/office/drawing/2014/main" id="{DBDFAE68-B78D-4CAC-80CB-27F79DFF440E}"/>
                      </a:ext>
                    </a:extLst>
                  </p:cNvPr>
                  <p:cNvSpPr>
                    <a:spLocks noChangeArrowheads="1"/>
                  </p:cNvSpPr>
                  <p:nvPr/>
                </p:nvSpPr>
                <p:spPr bwMode="auto">
                  <a:xfrm>
                    <a:off x="2221" y="360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83" name="Oval 1426">
                    <a:extLst>
                      <a:ext uri="{FF2B5EF4-FFF2-40B4-BE49-F238E27FC236}">
                        <a16:creationId xmlns:a16="http://schemas.microsoft.com/office/drawing/2014/main" id="{722D6159-7891-4514-9944-18BDFA37A917}"/>
                      </a:ext>
                    </a:extLst>
                  </p:cNvPr>
                  <p:cNvSpPr>
                    <a:spLocks noChangeArrowheads="1"/>
                  </p:cNvSpPr>
                  <p:nvPr/>
                </p:nvSpPr>
                <p:spPr bwMode="auto">
                  <a:xfrm>
                    <a:off x="2198" y="360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84" name="Oval 1427">
                    <a:extLst>
                      <a:ext uri="{FF2B5EF4-FFF2-40B4-BE49-F238E27FC236}">
                        <a16:creationId xmlns:a16="http://schemas.microsoft.com/office/drawing/2014/main" id="{0789A0C1-A379-44BC-949A-969B64426997}"/>
                      </a:ext>
                    </a:extLst>
                  </p:cNvPr>
                  <p:cNvSpPr>
                    <a:spLocks noChangeArrowheads="1"/>
                  </p:cNvSpPr>
                  <p:nvPr/>
                </p:nvSpPr>
                <p:spPr bwMode="auto">
                  <a:xfrm>
                    <a:off x="2204" y="360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85" name="Oval 1428">
                    <a:extLst>
                      <a:ext uri="{FF2B5EF4-FFF2-40B4-BE49-F238E27FC236}">
                        <a16:creationId xmlns:a16="http://schemas.microsoft.com/office/drawing/2014/main" id="{EE2C2D32-6057-4CDA-B1B3-1DA1EB559B2B}"/>
                      </a:ext>
                    </a:extLst>
                  </p:cNvPr>
                  <p:cNvSpPr>
                    <a:spLocks noChangeArrowheads="1"/>
                  </p:cNvSpPr>
                  <p:nvPr/>
                </p:nvSpPr>
                <p:spPr bwMode="auto">
                  <a:xfrm>
                    <a:off x="2215" y="360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52" name="Group 1429">
                <a:extLst>
                  <a:ext uri="{FF2B5EF4-FFF2-40B4-BE49-F238E27FC236}">
                    <a16:creationId xmlns:a16="http://schemas.microsoft.com/office/drawing/2014/main" id="{90C3FE54-C084-4D81-B94C-7A69AC4E77E9}"/>
                  </a:ext>
                </a:extLst>
              </p:cNvPr>
              <p:cNvGrpSpPr>
                <a:grpSpLocks/>
              </p:cNvGrpSpPr>
              <p:nvPr/>
            </p:nvGrpSpPr>
            <p:grpSpPr bwMode="auto">
              <a:xfrm>
                <a:off x="2142" y="3655"/>
                <a:ext cx="68" cy="111"/>
                <a:chOff x="2142" y="3655"/>
                <a:chExt cx="68" cy="111"/>
              </a:xfrm>
            </p:grpSpPr>
            <p:sp>
              <p:nvSpPr>
                <p:cNvPr id="153" name="Oval 1430">
                  <a:extLst>
                    <a:ext uri="{FF2B5EF4-FFF2-40B4-BE49-F238E27FC236}">
                      <a16:creationId xmlns:a16="http://schemas.microsoft.com/office/drawing/2014/main" id="{B7A4DAC9-1A28-49CA-BCBB-6698EED68DEC}"/>
                    </a:ext>
                  </a:extLst>
                </p:cNvPr>
                <p:cNvSpPr>
                  <a:spLocks noChangeArrowheads="1"/>
                </p:cNvSpPr>
                <p:nvPr/>
              </p:nvSpPr>
              <p:spPr bwMode="auto">
                <a:xfrm>
                  <a:off x="2176" y="375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54" name="Oval 1431">
                  <a:extLst>
                    <a:ext uri="{FF2B5EF4-FFF2-40B4-BE49-F238E27FC236}">
                      <a16:creationId xmlns:a16="http://schemas.microsoft.com/office/drawing/2014/main" id="{15C66E78-52A9-4507-8644-198FAD7ECF21}"/>
                    </a:ext>
                  </a:extLst>
                </p:cNvPr>
                <p:cNvSpPr>
                  <a:spLocks noChangeArrowheads="1"/>
                </p:cNvSpPr>
                <p:nvPr/>
              </p:nvSpPr>
              <p:spPr bwMode="auto">
                <a:xfrm>
                  <a:off x="2163" y="365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55" name="Oval 1432">
                  <a:extLst>
                    <a:ext uri="{FF2B5EF4-FFF2-40B4-BE49-F238E27FC236}">
                      <a16:creationId xmlns:a16="http://schemas.microsoft.com/office/drawing/2014/main" id="{9FC2DC42-5221-4BFF-A868-8CC8D4F21267}"/>
                    </a:ext>
                  </a:extLst>
                </p:cNvPr>
                <p:cNvSpPr>
                  <a:spLocks noChangeArrowheads="1"/>
                </p:cNvSpPr>
                <p:nvPr/>
              </p:nvSpPr>
              <p:spPr bwMode="auto">
                <a:xfrm>
                  <a:off x="2180" y="3663"/>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56" name="Oval 1433">
                  <a:extLst>
                    <a:ext uri="{FF2B5EF4-FFF2-40B4-BE49-F238E27FC236}">
                      <a16:creationId xmlns:a16="http://schemas.microsoft.com/office/drawing/2014/main" id="{66286936-9AE6-4561-A00C-B5DAAB56C214}"/>
                    </a:ext>
                  </a:extLst>
                </p:cNvPr>
                <p:cNvSpPr>
                  <a:spLocks noChangeArrowheads="1"/>
                </p:cNvSpPr>
                <p:nvPr/>
              </p:nvSpPr>
              <p:spPr bwMode="auto">
                <a:xfrm>
                  <a:off x="2196" y="367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57" name="Oval 1434">
                  <a:extLst>
                    <a:ext uri="{FF2B5EF4-FFF2-40B4-BE49-F238E27FC236}">
                      <a16:creationId xmlns:a16="http://schemas.microsoft.com/office/drawing/2014/main" id="{A57EA71A-E145-4B03-8388-E29D0978B35F}"/>
                    </a:ext>
                  </a:extLst>
                </p:cNvPr>
                <p:cNvSpPr>
                  <a:spLocks noChangeArrowheads="1"/>
                </p:cNvSpPr>
                <p:nvPr/>
              </p:nvSpPr>
              <p:spPr bwMode="auto">
                <a:xfrm>
                  <a:off x="2158" y="3672"/>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58" name="Oval 1435">
                  <a:extLst>
                    <a:ext uri="{FF2B5EF4-FFF2-40B4-BE49-F238E27FC236}">
                      <a16:creationId xmlns:a16="http://schemas.microsoft.com/office/drawing/2014/main" id="{370988C2-F7A6-43DB-90DE-02C9BDDA22F8}"/>
                    </a:ext>
                  </a:extLst>
                </p:cNvPr>
                <p:cNvSpPr>
                  <a:spLocks noChangeArrowheads="1"/>
                </p:cNvSpPr>
                <p:nvPr/>
              </p:nvSpPr>
              <p:spPr bwMode="auto">
                <a:xfrm>
                  <a:off x="2176" y="3679"/>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59" name="Oval 1436">
                  <a:extLst>
                    <a:ext uri="{FF2B5EF4-FFF2-40B4-BE49-F238E27FC236}">
                      <a16:creationId xmlns:a16="http://schemas.microsoft.com/office/drawing/2014/main" id="{BFDC2EDD-0EC0-42D9-AA13-F8A7946B2D1C}"/>
                    </a:ext>
                  </a:extLst>
                </p:cNvPr>
                <p:cNvSpPr>
                  <a:spLocks noChangeArrowheads="1"/>
                </p:cNvSpPr>
                <p:nvPr/>
              </p:nvSpPr>
              <p:spPr bwMode="auto">
                <a:xfrm>
                  <a:off x="2192" y="368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0" name="Oval 1437">
                  <a:extLst>
                    <a:ext uri="{FF2B5EF4-FFF2-40B4-BE49-F238E27FC236}">
                      <a16:creationId xmlns:a16="http://schemas.microsoft.com/office/drawing/2014/main" id="{DB25BBD2-D379-4CC0-AD3A-6B24010F7B67}"/>
                    </a:ext>
                  </a:extLst>
                </p:cNvPr>
                <p:cNvSpPr>
                  <a:spLocks noChangeArrowheads="1"/>
                </p:cNvSpPr>
                <p:nvPr/>
              </p:nvSpPr>
              <p:spPr bwMode="auto">
                <a:xfrm>
                  <a:off x="2154" y="3688"/>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1" name="Oval 1438">
                  <a:extLst>
                    <a:ext uri="{FF2B5EF4-FFF2-40B4-BE49-F238E27FC236}">
                      <a16:creationId xmlns:a16="http://schemas.microsoft.com/office/drawing/2014/main" id="{AE7E1A1F-FE8C-4163-AF6D-523EE20E6B11}"/>
                    </a:ext>
                  </a:extLst>
                </p:cNvPr>
                <p:cNvSpPr>
                  <a:spLocks noChangeArrowheads="1"/>
                </p:cNvSpPr>
                <p:nvPr/>
              </p:nvSpPr>
              <p:spPr bwMode="auto">
                <a:xfrm>
                  <a:off x="2171" y="369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2" name="Oval 1439">
                  <a:extLst>
                    <a:ext uri="{FF2B5EF4-FFF2-40B4-BE49-F238E27FC236}">
                      <a16:creationId xmlns:a16="http://schemas.microsoft.com/office/drawing/2014/main" id="{1391C4C5-60DD-4125-AB76-0C02E77E1A18}"/>
                    </a:ext>
                  </a:extLst>
                </p:cNvPr>
                <p:cNvSpPr>
                  <a:spLocks noChangeArrowheads="1"/>
                </p:cNvSpPr>
                <p:nvPr/>
              </p:nvSpPr>
              <p:spPr bwMode="auto">
                <a:xfrm>
                  <a:off x="2188" y="370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3" name="Oval 1440">
                  <a:extLst>
                    <a:ext uri="{FF2B5EF4-FFF2-40B4-BE49-F238E27FC236}">
                      <a16:creationId xmlns:a16="http://schemas.microsoft.com/office/drawing/2014/main" id="{B13103B9-9D74-4342-9452-9183DC7D041C}"/>
                    </a:ext>
                  </a:extLst>
                </p:cNvPr>
                <p:cNvSpPr>
                  <a:spLocks noChangeArrowheads="1"/>
                </p:cNvSpPr>
                <p:nvPr/>
              </p:nvSpPr>
              <p:spPr bwMode="auto">
                <a:xfrm>
                  <a:off x="2150" y="370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4" name="Oval 1441">
                  <a:extLst>
                    <a:ext uri="{FF2B5EF4-FFF2-40B4-BE49-F238E27FC236}">
                      <a16:creationId xmlns:a16="http://schemas.microsoft.com/office/drawing/2014/main" id="{8B73FAD0-4F14-40FA-88FB-731A3EF7FDD3}"/>
                    </a:ext>
                  </a:extLst>
                </p:cNvPr>
                <p:cNvSpPr>
                  <a:spLocks noChangeArrowheads="1"/>
                </p:cNvSpPr>
                <p:nvPr/>
              </p:nvSpPr>
              <p:spPr bwMode="auto">
                <a:xfrm>
                  <a:off x="2167" y="371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5" name="Oval 1442">
                  <a:extLst>
                    <a:ext uri="{FF2B5EF4-FFF2-40B4-BE49-F238E27FC236}">
                      <a16:creationId xmlns:a16="http://schemas.microsoft.com/office/drawing/2014/main" id="{113B3F9C-23BF-443C-B2A8-F1F868FE0086}"/>
                    </a:ext>
                  </a:extLst>
                </p:cNvPr>
                <p:cNvSpPr>
                  <a:spLocks noChangeArrowheads="1"/>
                </p:cNvSpPr>
                <p:nvPr/>
              </p:nvSpPr>
              <p:spPr bwMode="auto">
                <a:xfrm>
                  <a:off x="2184" y="371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6" name="Oval 1443">
                  <a:extLst>
                    <a:ext uri="{FF2B5EF4-FFF2-40B4-BE49-F238E27FC236}">
                      <a16:creationId xmlns:a16="http://schemas.microsoft.com/office/drawing/2014/main" id="{36B7E41F-D9CF-43F8-973E-C0AAD497D50D}"/>
                    </a:ext>
                  </a:extLst>
                </p:cNvPr>
                <p:cNvSpPr>
                  <a:spLocks noChangeArrowheads="1"/>
                </p:cNvSpPr>
                <p:nvPr/>
              </p:nvSpPr>
              <p:spPr bwMode="auto">
                <a:xfrm>
                  <a:off x="2146" y="372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7" name="Oval 1444">
                  <a:extLst>
                    <a:ext uri="{FF2B5EF4-FFF2-40B4-BE49-F238E27FC236}">
                      <a16:creationId xmlns:a16="http://schemas.microsoft.com/office/drawing/2014/main" id="{2B2C2F9C-DE11-41C5-B9C5-2D379B397A31}"/>
                    </a:ext>
                  </a:extLst>
                </p:cNvPr>
                <p:cNvSpPr>
                  <a:spLocks noChangeArrowheads="1"/>
                </p:cNvSpPr>
                <p:nvPr/>
              </p:nvSpPr>
              <p:spPr bwMode="auto">
                <a:xfrm>
                  <a:off x="2163" y="372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8" name="Oval 1445">
                  <a:extLst>
                    <a:ext uri="{FF2B5EF4-FFF2-40B4-BE49-F238E27FC236}">
                      <a16:creationId xmlns:a16="http://schemas.microsoft.com/office/drawing/2014/main" id="{0A089A6A-D681-4934-875F-3A656A7197F7}"/>
                    </a:ext>
                  </a:extLst>
                </p:cNvPr>
                <p:cNvSpPr>
                  <a:spLocks noChangeArrowheads="1"/>
                </p:cNvSpPr>
                <p:nvPr/>
              </p:nvSpPr>
              <p:spPr bwMode="auto">
                <a:xfrm>
                  <a:off x="2180" y="373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69" name="Oval 1446">
                  <a:extLst>
                    <a:ext uri="{FF2B5EF4-FFF2-40B4-BE49-F238E27FC236}">
                      <a16:creationId xmlns:a16="http://schemas.microsoft.com/office/drawing/2014/main" id="{8C27C409-05C9-4491-A2B6-9FF1808DA047}"/>
                    </a:ext>
                  </a:extLst>
                </p:cNvPr>
                <p:cNvSpPr>
                  <a:spLocks noChangeArrowheads="1"/>
                </p:cNvSpPr>
                <p:nvPr/>
              </p:nvSpPr>
              <p:spPr bwMode="auto">
                <a:xfrm>
                  <a:off x="2142" y="3736"/>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170" name="Oval 1447">
                  <a:extLst>
                    <a:ext uri="{FF2B5EF4-FFF2-40B4-BE49-F238E27FC236}">
                      <a16:creationId xmlns:a16="http://schemas.microsoft.com/office/drawing/2014/main" id="{64468F7A-F638-45C1-8362-D7B5CD67880A}"/>
                    </a:ext>
                  </a:extLst>
                </p:cNvPr>
                <p:cNvSpPr>
                  <a:spLocks noChangeArrowheads="1"/>
                </p:cNvSpPr>
                <p:nvPr/>
              </p:nvSpPr>
              <p:spPr bwMode="auto">
                <a:xfrm>
                  <a:off x="2160" y="374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135" name="Group 1448">
              <a:extLst>
                <a:ext uri="{FF2B5EF4-FFF2-40B4-BE49-F238E27FC236}">
                  <a16:creationId xmlns:a16="http://schemas.microsoft.com/office/drawing/2014/main" id="{4191CFB9-C36F-4E08-ADD3-A9B0C95937C9}"/>
                </a:ext>
              </a:extLst>
            </p:cNvPr>
            <p:cNvGrpSpPr>
              <a:grpSpLocks/>
            </p:cNvGrpSpPr>
            <p:nvPr/>
          </p:nvGrpSpPr>
          <p:grpSpPr bwMode="auto">
            <a:xfrm>
              <a:off x="2075" y="3614"/>
              <a:ext cx="81" cy="92"/>
              <a:chOff x="2075" y="3614"/>
              <a:chExt cx="81" cy="92"/>
            </a:xfrm>
          </p:grpSpPr>
          <p:grpSp>
            <p:nvGrpSpPr>
              <p:cNvPr id="136" name="Group 1449">
                <a:extLst>
                  <a:ext uri="{FF2B5EF4-FFF2-40B4-BE49-F238E27FC236}">
                    <a16:creationId xmlns:a16="http://schemas.microsoft.com/office/drawing/2014/main" id="{3198D3B9-0842-4913-A914-5140E35575C9}"/>
                  </a:ext>
                </a:extLst>
              </p:cNvPr>
              <p:cNvGrpSpPr>
                <a:grpSpLocks/>
              </p:cNvGrpSpPr>
              <p:nvPr/>
            </p:nvGrpSpPr>
            <p:grpSpPr bwMode="auto">
              <a:xfrm>
                <a:off x="2101" y="3643"/>
                <a:ext cx="39" cy="42"/>
                <a:chOff x="2101" y="3643"/>
                <a:chExt cx="39" cy="42"/>
              </a:xfrm>
            </p:grpSpPr>
            <p:sp>
              <p:nvSpPr>
                <p:cNvPr id="144" name="Freeform 1450">
                  <a:extLst>
                    <a:ext uri="{FF2B5EF4-FFF2-40B4-BE49-F238E27FC236}">
                      <a16:creationId xmlns:a16="http://schemas.microsoft.com/office/drawing/2014/main" id="{42A61267-CBDD-445F-90F2-BF62A5D08178}"/>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1451">
                  <a:extLst>
                    <a:ext uri="{FF2B5EF4-FFF2-40B4-BE49-F238E27FC236}">
                      <a16:creationId xmlns:a16="http://schemas.microsoft.com/office/drawing/2014/main" id="{624C631F-7BA3-4811-A143-07E2E2D98A64}"/>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37" name="Group 1452">
                <a:extLst>
                  <a:ext uri="{FF2B5EF4-FFF2-40B4-BE49-F238E27FC236}">
                    <a16:creationId xmlns:a16="http://schemas.microsoft.com/office/drawing/2014/main" id="{74BC182D-4A01-496C-974A-85DFDFA10846}"/>
                  </a:ext>
                </a:extLst>
              </p:cNvPr>
              <p:cNvGrpSpPr>
                <a:grpSpLocks/>
              </p:cNvGrpSpPr>
              <p:nvPr/>
            </p:nvGrpSpPr>
            <p:grpSpPr bwMode="auto">
              <a:xfrm>
                <a:off x="2121" y="3625"/>
                <a:ext cx="30" cy="32"/>
                <a:chOff x="2121" y="3625"/>
                <a:chExt cx="30" cy="32"/>
              </a:xfrm>
            </p:grpSpPr>
            <p:sp>
              <p:nvSpPr>
                <p:cNvPr id="142" name="Freeform 1453">
                  <a:extLst>
                    <a:ext uri="{FF2B5EF4-FFF2-40B4-BE49-F238E27FC236}">
                      <a16:creationId xmlns:a16="http://schemas.microsoft.com/office/drawing/2014/main" id="{0376D9FB-BA7C-4B92-8A61-D2D80ED3732C}"/>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w 351"/>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1"/>
                    <a:gd name="T76" fmla="*/ 0 h 390"/>
                    <a:gd name="T77" fmla="*/ 351 w 351"/>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 name="Freeform 1454">
                  <a:extLst>
                    <a:ext uri="{FF2B5EF4-FFF2-40B4-BE49-F238E27FC236}">
                      <a16:creationId xmlns:a16="http://schemas.microsoft.com/office/drawing/2014/main" id="{05F1702B-84B8-4DE2-903E-CA3B3ABC58EB}"/>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1"/>
                    <a:gd name="T73" fmla="*/ 0 h 390"/>
                    <a:gd name="T74" fmla="*/ 351 w 351"/>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38" name="Group 1455">
                <a:extLst>
                  <a:ext uri="{FF2B5EF4-FFF2-40B4-BE49-F238E27FC236}">
                    <a16:creationId xmlns:a16="http://schemas.microsoft.com/office/drawing/2014/main" id="{9FE29445-5A26-48FF-A63E-014123EAB4D9}"/>
                  </a:ext>
                </a:extLst>
              </p:cNvPr>
              <p:cNvGrpSpPr>
                <a:grpSpLocks/>
              </p:cNvGrpSpPr>
              <p:nvPr/>
            </p:nvGrpSpPr>
            <p:grpSpPr bwMode="auto">
              <a:xfrm>
                <a:off x="2075" y="3670"/>
                <a:ext cx="62" cy="36"/>
                <a:chOff x="2075" y="3670"/>
                <a:chExt cx="62" cy="36"/>
              </a:xfrm>
            </p:grpSpPr>
            <p:sp>
              <p:nvSpPr>
                <p:cNvPr id="140" name="Freeform 1456">
                  <a:extLst>
                    <a:ext uri="{FF2B5EF4-FFF2-40B4-BE49-F238E27FC236}">
                      <a16:creationId xmlns:a16="http://schemas.microsoft.com/office/drawing/2014/main" id="{EFBC2F54-50CB-43A5-9FBE-E42603A56600}"/>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1457">
                  <a:extLst>
                    <a:ext uri="{FF2B5EF4-FFF2-40B4-BE49-F238E27FC236}">
                      <a16:creationId xmlns:a16="http://schemas.microsoft.com/office/drawing/2014/main" id="{AF442737-DA5E-47F7-9580-B08C935985FE}"/>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39" name="Freeform 1458">
                <a:extLst>
                  <a:ext uri="{FF2B5EF4-FFF2-40B4-BE49-F238E27FC236}">
                    <a16:creationId xmlns:a16="http://schemas.microsoft.com/office/drawing/2014/main" id="{1B1657D9-A414-4FD3-8C26-1E5FC9EE82E9}"/>
                  </a:ext>
                </a:extLst>
              </p:cNvPr>
              <p:cNvSpPr>
                <a:spLocks/>
              </p:cNvSpPr>
              <p:nvPr/>
            </p:nvSpPr>
            <p:spPr bwMode="auto">
              <a:xfrm>
                <a:off x="2121" y="3614"/>
                <a:ext cx="35"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49" y="4"/>
                    </a:lnTo>
                    <a:lnTo>
                      <a:pt x="292" y="6"/>
                    </a:lnTo>
                    <a:lnTo>
                      <a:pt x="340" y="10"/>
                    </a:lnTo>
                    <a:lnTo>
                      <a:pt x="372" y="20"/>
                    </a:lnTo>
                    <a:lnTo>
                      <a:pt x="386" y="35"/>
                    </a:lnTo>
                    <a:lnTo>
                      <a:pt x="399" y="57"/>
                    </a:lnTo>
                    <a:lnTo>
                      <a:pt x="407" y="83"/>
                    </a:lnTo>
                    <a:lnTo>
                      <a:pt x="411" y="116"/>
                    </a:lnTo>
                    <a:lnTo>
                      <a:pt x="414" y="154"/>
                    </a:lnTo>
                    <a:lnTo>
                      <a:pt x="407" y="191"/>
                    </a:lnTo>
                    <a:lnTo>
                      <a:pt x="394" y="221"/>
                    </a:lnTo>
                    <a:lnTo>
                      <a:pt x="375" y="240"/>
                    </a:lnTo>
                    <a:lnTo>
                      <a:pt x="356" y="252"/>
                    </a:lnTo>
                    <a:lnTo>
                      <a:pt x="327" y="260"/>
                    </a:lnTo>
                    <a:lnTo>
                      <a:pt x="299" y="262"/>
                    </a:lnTo>
                    <a:lnTo>
                      <a:pt x="272" y="260"/>
                    </a:lnTo>
                    <a:lnTo>
                      <a:pt x="243" y="233"/>
                    </a:lnTo>
                    <a:lnTo>
                      <a:pt x="224" y="210"/>
                    </a:lnTo>
                    <a:lnTo>
                      <a:pt x="195" y="189"/>
                    </a:lnTo>
                    <a:lnTo>
                      <a:pt x="167" y="172"/>
                    </a:lnTo>
                    <a:lnTo>
                      <a:pt x="135" y="153"/>
                    </a:lnTo>
                    <a:lnTo>
                      <a:pt x="105" y="141"/>
                    </a:lnTo>
                    <a:lnTo>
                      <a:pt x="80" y="134"/>
                    </a:lnTo>
                    <a:lnTo>
                      <a:pt x="56"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grpSp>
        <p:nvGrpSpPr>
          <p:cNvPr id="196" name="Group 1459">
            <a:extLst>
              <a:ext uri="{FF2B5EF4-FFF2-40B4-BE49-F238E27FC236}">
                <a16:creationId xmlns:a16="http://schemas.microsoft.com/office/drawing/2014/main" id="{A730AD09-361B-4559-BB74-07E6C2625AD1}"/>
              </a:ext>
            </a:extLst>
          </p:cNvPr>
          <p:cNvGrpSpPr>
            <a:grpSpLocks/>
          </p:cNvGrpSpPr>
          <p:nvPr/>
        </p:nvGrpSpPr>
        <p:grpSpPr bwMode="auto">
          <a:xfrm>
            <a:off x="5437188" y="5187950"/>
            <a:ext cx="304800" cy="439738"/>
            <a:chOff x="2848" y="3853"/>
            <a:chExt cx="192" cy="277"/>
          </a:xfrm>
        </p:grpSpPr>
        <p:sp>
          <p:nvSpPr>
            <p:cNvPr id="197" name="Rectangle 1460">
              <a:extLst>
                <a:ext uri="{FF2B5EF4-FFF2-40B4-BE49-F238E27FC236}">
                  <a16:creationId xmlns:a16="http://schemas.microsoft.com/office/drawing/2014/main" id="{C8BF4B8D-CB53-41B6-A268-08888ED37A9B}"/>
                </a:ext>
              </a:extLst>
            </p:cNvPr>
            <p:cNvSpPr>
              <a:spLocks noChangeArrowheads="1"/>
            </p:cNvSpPr>
            <p:nvPr/>
          </p:nvSpPr>
          <p:spPr bwMode="auto">
            <a:xfrm>
              <a:off x="2848" y="3853"/>
              <a:ext cx="192" cy="27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198" name="Group 1461">
              <a:extLst>
                <a:ext uri="{FF2B5EF4-FFF2-40B4-BE49-F238E27FC236}">
                  <a16:creationId xmlns:a16="http://schemas.microsoft.com/office/drawing/2014/main" id="{91D43EEA-A769-472D-8058-0DED402961D0}"/>
                </a:ext>
              </a:extLst>
            </p:cNvPr>
            <p:cNvGrpSpPr>
              <a:grpSpLocks/>
            </p:cNvGrpSpPr>
            <p:nvPr/>
          </p:nvGrpSpPr>
          <p:grpSpPr bwMode="auto">
            <a:xfrm>
              <a:off x="2850" y="3854"/>
              <a:ext cx="189" cy="274"/>
              <a:chOff x="2850" y="3854"/>
              <a:chExt cx="189" cy="274"/>
            </a:xfrm>
          </p:grpSpPr>
          <p:grpSp>
            <p:nvGrpSpPr>
              <p:cNvPr id="199" name="Group 1462">
                <a:extLst>
                  <a:ext uri="{FF2B5EF4-FFF2-40B4-BE49-F238E27FC236}">
                    <a16:creationId xmlns:a16="http://schemas.microsoft.com/office/drawing/2014/main" id="{C3C2AC21-8258-453C-A6CB-12A417C5CC7A}"/>
                  </a:ext>
                </a:extLst>
              </p:cNvPr>
              <p:cNvGrpSpPr>
                <a:grpSpLocks/>
              </p:cNvGrpSpPr>
              <p:nvPr/>
            </p:nvGrpSpPr>
            <p:grpSpPr bwMode="auto">
              <a:xfrm>
                <a:off x="2850" y="3911"/>
                <a:ext cx="163" cy="197"/>
                <a:chOff x="2850" y="3911"/>
                <a:chExt cx="163" cy="197"/>
              </a:xfrm>
            </p:grpSpPr>
            <p:sp>
              <p:nvSpPr>
                <p:cNvPr id="252" name="Freeform 1463">
                  <a:extLst>
                    <a:ext uri="{FF2B5EF4-FFF2-40B4-BE49-F238E27FC236}">
                      <a16:creationId xmlns:a16="http://schemas.microsoft.com/office/drawing/2014/main" id="{5347D199-C968-4AC4-A36C-CD835FC3AB16}"/>
                    </a:ext>
                  </a:extLst>
                </p:cNvPr>
                <p:cNvSpPr>
                  <a:spLocks/>
                </p:cNvSpPr>
                <p:nvPr/>
              </p:nvSpPr>
              <p:spPr bwMode="auto">
                <a:xfrm>
                  <a:off x="2850" y="3911"/>
                  <a:ext cx="163" cy="197"/>
                </a:xfrm>
                <a:custGeom>
                  <a:avLst/>
                  <a:gdLst>
                    <a:gd name="T0" fmla="*/ 0 w 1963"/>
                    <a:gd name="T1" fmla="*/ 0 h 2364"/>
                    <a:gd name="T2" fmla="*/ 0 w 1963"/>
                    <a:gd name="T3" fmla="*/ 0 h 2364"/>
                    <a:gd name="T4" fmla="*/ 0 w 1963"/>
                    <a:gd name="T5" fmla="*/ 0 h 2364"/>
                    <a:gd name="T6" fmla="*/ 0 w 1963"/>
                    <a:gd name="T7" fmla="*/ 0 h 2364"/>
                    <a:gd name="T8" fmla="*/ 0 w 1963"/>
                    <a:gd name="T9" fmla="*/ 0 h 2364"/>
                    <a:gd name="T10" fmla="*/ 0 w 1963"/>
                    <a:gd name="T11" fmla="*/ 0 h 2364"/>
                    <a:gd name="T12" fmla="*/ 0 w 1963"/>
                    <a:gd name="T13" fmla="*/ 0 h 2364"/>
                    <a:gd name="T14" fmla="*/ 0 w 1963"/>
                    <a:gd name="T15" fmla="*/ 0 h 2364"/>
                    <a:gd name="T16" fmla="*/ 0 w 1963"/>
                    <a:gd name="T17" fmla="*/ 0 h 2364"/>
                    <a:gd name="T18" fmla="*/ 0 w 1963"/>
                    <a:gd name="T19" fmla="*/ 0 h 2364"/>
                    <a:gd name="T20" fmla="*/ 0 w 1963"/>
                    <a:gd name="T21" fmla="*/ 0 h 2364"/>
                    <a:gd name="T22" fmla="*/ 0 w 1963"/>
                    <a:gd name="T23" fmla="*/ 0 h 2364"/>
                    <a:gd name="T24" fmla="*/ 0 w 1963"/>
                    <a:gd name="T25" fmla="*/ 0 h 2364"/>
                    <a:gd name="T26" fmla="*/ 0 w 1963"/>
                    <a:gd name="T27" fmla="*/ 0 h 2364"/>
                    <a:gd name="T28" fmla="*/ 0 w 1963"/>
                    <a:gd name="T29" fmla="*/ 0 h 2364"/>
                    <a:gd name="T30" fmla="*/ 0 w 1963"/>
                    <a:gd name="T31" fmla="*/ 0 h 2364"/>
                    <a:gd name="T32" fmla="*/ 0 w 1963"/>
                    <a:gd name="T33" fmla="*/ 0 h 2364"/>
                    <a:gd name="T34" fmla="*/ 0 w 1963"/>
                    <a:gd name="T35" fmla="*/ 0 h 2364"/>
                    <a:gd name="T36" fmla="*/ 0 w 1963"/>
                    <a:gd name="T37" fmla="*/ 0 h 2364"/>
                    <a:gd name="T38" fmla="*/ 0 w 1963"/>
                    <a:gd name="T39" fmla="*/ 0 h 2364"/>
                    <a:gd name="T40" fmla="*/ 0 w 1963"/>
                    <a:gd name="T41" fmla="*/ 0 h 2364"/>
                    <a:gd name="T42" fmla="*/ 0 w 1963"/>
                    <a:gd name="T43" fmla="*/ 0 h 2364"/>
                    <a:gd name="T44" fmla="*/ 0 w 1963"/>
                    <a:gd name="T45" fmla="*/ 0 h 2364"/>
                    <a:gd name="T46" fmla="*/ 0 w 1963"/>
                    <a:gd name="T47" fmla="*/ 0 h 2364"/>
                    <a:gd name="T48" fmla="*/ 0 w 1963"/>
                    <a:gd name="T49" fmla="*/ 0 h 2364"/>
                    <a:gd name="T50" fmla="*/ 0 w 1963"/>
                    <a:gd name="T51" fmla="*/ 0 h 2364"/>
                    <a:gd name="T52" fmla="*/ 0 w 1963"/>
                    <a:gd name="T53" fmla="*/ 0 h 2364"/>
                    <a:gd name="T54" fmla="*/ 0 w 1963"/>
                    <a:gd name="T55" fmla="*/ 0 h 2364"/>
                    <a:gd name="T56" fmla="*/ 0 w 1963"/>
                    <a:gd name="T57" fmla="*/ 0 h 2364"/>
                    <a:gd name="T58" fmla="*/ 0 w 1963"/>
                    <a:gd name="T59" fmla="*/ 0 h 2364"/>
                    <a:gd name="T60" fmla="*/ 0 w 1963"/>
                    <a:gd name="T61" fmla="*/ 0 h 2364"/>
                    <a:gd name="T62" fmla="*/ 0 w 1963"/>
                    <a:gd name="T63" fmla="*/ 0 h 2364"/>
                    <a:gd name="T64" fmla="*/ 0 w 1963"/>
                    <a:gd name="T65" fmla="*/ 0 h 2364"/>
                    <a:gd name="T66" fmla="*/ 0 w 1963"/>
                    <a:gd name="T67" fmla="*/ 0 h 2364"/>
                    <a:gd name="T68" fmla="*/ 0 w 1963"/>
                    <a:gd name="T69" fmla="*/ 0 h 2364"/>
                    <a:gd name="T70" fmla="*/ 0 w 1963"/>
                    <a:gd name="T71" fmla="*/ 0 h 2364"/>
                    <a:gd name="T72" fmla="*/ 0 w 1963"/>
                    <a:gd name="T73" fmla="*/ 0 h 2364"/>
                    <a:gd name="T74" fmla="*/ 0 w 1963"/>
                    <a:gd name="T75" fmla="*/ 0 h 2364"/>
                    <a:gd name="T76" fmla="*/ 0 w 1963"/>
                    <a:gd name="T77" fmla="*/ 0 h 2364"/>
                    <a:gd name="T78" fmla="*/ 0 w 1963"/>
                    <a:gd name="T79" fmla="*/ 0 h 2364"/>
                    <a:gd name="T80" fmla="*/ 0 w 1963"/>
                    <a:gd name="T81" fmla="*/ 0 h 2364"/>
                    <a:gd name="T82" fmla="*/ 0 w 1963"/>
                    <a:gd name="T83" fmla="*/ 0 h 2364"/>
                    <a:gd name="T84" fmla="*/ 0 w 1963"/>
                    <a:gd name="T85" fmla="*/ 0 h 2364"/>
                    <a:gd name="T86" fmla="*/ 0 w 1963"/>
                    <a:gd name="T87" fmla="*/ 0 h 2364"/>
                    <a:gd name="T88" fmla="*/ 0 w 1963"/>
                    <a:gd name="T89" fmla="*/ 0 h 2364"/>
                    <a:gd name="T90" fmla="*/ 0 w 1963"/>
                    <a:gd name="T91" fmla="*/ 0 h 2364"/>
                    <a:gd name="T92" fmla="*/ 0 w 1963"/>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63"/>
                    <a:gd name="T142" fmla="*/ 0 h 2364"/>
                    <a:gd name="T143" fmla="*/ 1963 w 1963"/>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63" h="2364">
                      <a:moveTo>
                        <a:pt x="593" y="2364"/>
                      </a:moveTo>
                      <a:lnTo>
                        <a:pt x="593" y="2302"/>
                      </a:lnTo>
                      <a:lnTo>
                        <a:pt x="575" y="2175"/>
                      </a:lnTo>
                      <a:lnTo>
                        <a:pt x="537" y="2049"/>
                      </a:lnTo>
                      <a:lnTo>
                        <a:pt x="501" y="1945"/>
                      </a:lnTo>
                      <a:lnTo>
                        <a:pt x="491" y="1923"/>
                      </a:lnTo>
                      <a:lnTo>
                        <a:pt x="464" y="1882"/>
                      </a:lnTo>
                      <a:lnTo>
                        <a:pt x="418" y="1828"/>
                      </a:lnTo>
                      <a:lnTo>
                        <a:pt x="354" y="1755"/>
                      </a:lnTo>
                      <a:lnTo>
                        <a:pt x="308" y="1692"/>
                      </a:lnTo>
                      <a:lnTo>
                        <a:pt x="271" y="1640"/>
                      </a:lnTo>
                      <a:lnTo>
                        <a:pt x="225" y="1587"/>
                      </a:lnTo>
                      <a:lnTo>
                        <a:pt x="198" y="1523"/>
                      </a:lnTo>
                      <a:lnTo>
                        <a:pt x="161" y="1460"/>
                      </a:lnTo>
                      <a:lnTo>
                        <a:pt x="152" y="1440"/>
                      </a:lnTo>
                      <a:lnTo>
                        <a:pt x="125" y="1377"/>
                      </a:lnTo>
                      <a:lnTo>
                        <a:pt x="115" y="1334"/>
                      </a:lnTo>
                      <a:lnTo>
                        <a:pt x="105" y="1293"/>
                      </a:lnTo>
                      <a:lnTo>
                        <a:pt x="87" y="1230"/>
                      </a:lnTo>
                      <a:lnTo>
                        <a:pt x="69" y="1188"/>
                      </a:lnTo>
                      <a:lnTo>
                        <a:pt x="41" y="1124"/>
                      </a:lnTo>
                      <a:lnTo>
                        <a:pt x="22" y="1062"/>
                      </a:lnTo>
                      <a:lnTo>
                        <a:pt x="16" y="1023"/>
                      </a:lnTo>
                      <a:lnTo>
                        <a:pt x="4" y="936"/>
                      </a:lnTo>
                      <a:lnTo>
                        <a:pt x="1" y="873"/>
                      </a:lnTo>
                      <a:lnTo>
                        <a:pt x="0" y="793"/>
                      </a:lnTo>
                      <a:lnTo>
                        <a:pt x="14" y="725"/>
                      </a:lnTo>
                      <a:lnTo>
                        <a:pt x="32" y="694"/>
                      </a:lnTo>
                      <a:lnTo>
                        <a:pt x="50" y="678"/>
                      </a:lnTo>
                      <a:lnTo>
                        <a:pt x="67" y="669"/>
                      </a:lnTo>
                      <a:lnTo>
                        <a:pt x="87" y="662"/>
                      </a:lnTo>
                      <a:lnTo>
                        <a:pt x="105" y="662"/>
                      </a:lnTo>
                      <a:lnTo>
                        <a:pt x="105" y="614"/>
                      </a:lnTo>
                      <a:lnTo>
                        <a:pt x="100" y="592"/>
                      </a:lnTo>
                      <a:lnTo>
                        <a:pt x="97" y="555"/>
                      </a:lnTo>
                      <a:lnTo>
                        <a:pt x="104" y="535"/>
                      </a:lnTo>
                      <a:lnTo>
                        <a:pt x="105" y="516"/>
                      </a:lnTo>
                      <a:lnTo>
                        <a:pt x="119" y="478"/>
                      </a:lnTo>
                      <a:lnTo>
                        <a:pt x="133" y="452"/>
                      </a:lnTo>
                      <a:lnTo>
                        <a:pt x="154" y="420"/>
                      </a:lnTo>
                      <a:lnTo>
                        <a:pt x="183" y="389"/>
                      </a:lnTo>
                      <a:lnTo>
                        <a:pt x="215" y="362"/>
                      </a:lnTo>
                      <a:lnTo>
                        <a:pt x="243" y="337"/>
                      </a:lnTo>
                      <a:lnTo>
                        <a:pt x="277" y="326"/>
                      </a:lnTo>
                      <a:lnTo>
                        <a:pt x="310" y="321"/>
                      </a:lnTo>
                      <a:lnTo>
                        <a:pt x="342" y="326"/>
                      </a:lnTo>
                      <a:lnTo>
                        <a:pt x="372" y="337"/>
                      </a:lnTo>
                      <a:lnTo>
                        <a:pt x="408" y="347"/>
                      </a:lnTo>
                      <a:lnTo>
                        <a:pt x="418" y="326"/>
                      </a:lnTo>
                      <a:lnTo>
                        <a:pt x="424" y="269"/>
                      </a:lnTo>
                      <a:lnTo>
                        <a:pt x="436" y="221"/>
                      </a:lnTo>
                      <a:lnTo>
                        <a:pt x="458" y="185"/>
                      </a:lnTo>
                      <a:lnTo>
                        <a:pt x="484" y="161"/>
                      </a:lnTo>
                      <a:lnTo>
                        <a:pt x="519" y="148"/>
                      </a:lnTo>
                      <a:lnTo>
                        <a:pt x="557" y="137"/>
                      </a:lnTo>
                      <a:lnTo>
                        <a:pt x="612" y="126"/>
                      </a:lnTo>
                      <a:lnTo>
                        <a:pt x="647" y="126"/>
                      </a:lnTo>
                      <a:lnTo>
                        <a:pt x="657" y="105"/>
                      </a:lnTo>
                      <a:lnTo>
                        <a:pt x="675" y="63"/>
                      </a:lnTo>
                      <a:lnTo>
                        <a:pt x="703" y="31"/>
                      </a:lnTo>
                      <a:lnTo>
                        <a:pt x="740" y="11"/>
                      </a:lnTo>
                      <a:lnTo>
                        <a:pt x="795" y="0"/>
                      </a:lnTo>
                      <a:lnTo>
                        <a:pt x="850" y="0"/>
                      </a:lnTo>
                      <a:lnTo>
                        <a:pt x="922" y="5"/>
                      </a:lnTo>
                      <a:lnTo>
                        <a:pt x="962" y="7"/>
                      </a:lnTo>
                      <a:lnTo>
                        <a:pt x="989" y="11"/>
                      </a:lnTo>
                      <a:lnTo>
                        <a:pt x="1013" y="17"/>
                      </a:lnTo>
                      <a:lnTo>
                        <a:pt x="1033" y="36"/>
                      </a:lnTo>
                      <a:lnTo>
                        <a:pt x="1046" y="58"/>
                      </a:lnTo>
                      <a:lnTo>
                        <a:pt x="1056" y="87"/>
                      </a:lnTo>
                      <a:lnTo>
                        <a:pt x="1061" y="137"/>
                      </a:lnTo>
                      <a:lnTo>
                        <a:pt x="1057" y="180"/>
                      </a:lnTo>
                      <a:lnTo>
                        <a:pt x="1041" y="219"/>
                      </a:lnTo>
                      <a:lnTo>
                        <a:pt x="1022" y="240"/>
                      </a:lnTo>
                      <a:lnTo>
                        <a:pt x="997" y="253"/>
                      </a:lnTo>
                      <a:lnTo>
                        <a:pt x="968" y="260"/>
                      </a:lnTo>
                      <a:lnTo>
                        <a:pt x="918" y="259"/>
                      </a:lnTo>
                      <a:lnTo>
                        <a:pt x="934" y="282"/>
                      </a:lnTo>
                      <a:lnTo>
                        <a:pt x="957" y="324"/>
                      </a:lnTo>
                      <a:lnTo>
                        <a:pt x="975" y="357"/>
                      </a:lnTo>
                      <a:lnTo>
                        <a:pt x="990" y="400"/>
                      </a:lnTo>
                      <a:lnTo>
                        <a:pt x="999" y="435"/>
                      </a:lnTo>
                      <a:lnTo>
                        <a:pt x="995" y="457"/>
                      </a:lnTo>
                      <a:lnTo>
                        <a:pt x="975" y="483"/>
                      </a:lnTo>
                      <a:lnTo>
                        <a:pt x="997" y="527"/>
                      </a:lnTo>
                      <a:lnTo>
                        <a:pt x="1024" y="568"/>
                      </a:lnTo>
                      <a:lnTo>
                        <a:pt x="1055" y="619"/>
                      </a:lnTo>
                      <a:lnTo>
                        <a:pt x="1103" y="667"/>
                      </a:lnTo>
                      <a:lnTo>
                        <a:pt x="1176" y="740"/>
                      </a:lnTo>
                      <a:lnTo>
                        <a:pt x="1245" y="823"/>
                      </a:lnTo>
                      <a:lnTo>
                        <a:pt x="1310" y="930"/>
                      </a:lnTo>
                      <a:lnTo>
                        <a:pt x="1365" y="1030"/>
                      </a:lnTo>
                      <a:lnTo>
                        <a:pt x="1411" y="1114"/>
                      </a:lnTo>
                      <a:lnTo>
                        <a:pt x="1425" y="1145"/>
                      </a:lnTo>
                      <a:lnTo>
                        <a:pt x="1428" y="1199"/>
                      </a:lnTo>
                      <a:lnTo>
                        <a:pt x="1443" y="1241"/>
                      </a:lnTo>
                      <a:lnTo>
                        <a:pt x="1465" y="1204"/>
                      </a:lnTo>
                      <a:lnTo>
                        <a:pt x="1509" y="1148"/>
                      </a:lnTo>
                      <a:lnTo>
                        <a:pt x="1567" y="1062"/>
                      </a:lnTo>
                      <a:lnTo>
                        <a:pt x="1604" y="1009"/>
                      </a:lnTo>
                      <a:lnTo>
                        <a:pt x="1621" y="977"/>
                      </a:lnTo>
                      <a:lnTo>
                        <a:pt x="1640" y="925"/>
                      </a:lnTo>
                      <a:lnTo>
                        <a:pt x="1657" y="890"/>
                      </a:lnTo>
                      <a:lnTo>
                        <a:pt x="1672" y="862"/>
                      </a:lnTo>
                      <a:lnTo>
                        <a:pt x="1693" y="834"/>
                      </a:lnTo>
                      <a:lnTo>
                        <a:pt x="1714" y="809"/>
                      </a:lnTo>
                      <a:lnTo>
                        <a:pt x="1754" y="767"/>
                      </a:lnTo>
                      <a:lnTo>
                        <a:pt x="1798" y="734"/>
                      </a:lnTo>
                      <a:lnTo>
                        <a:pt x="1842" y="714"/>
                      </a:lnTo>
                      <a:lnTo>
                        <a:pt x="1879" y="714"/>
                      </a:lnTo>
                      <a:lnTo>
                        <a:pt x="1913" y="717"/>
                      </a:lnTo>
                      <a:lnTo>
                        <a:pt x="1943" y="736"/>
                      </a:lnTo>
                      <a:lnTo>
                        <a:pt x="1963" y="775"/>
                      </a:lnTo>
                      <a:lnTo>
                        <a:pt x="1962" y="820"/>
                      </a:lnTo>
                      <a:lnTo>
                        <a:pt x="1962" y="840"/>
                      </a:lnTo>
                      <a:lnTo>
                        <a:pt x="1953" y="884"/>
                      </a:lnTo>
                      <a:lnTo>
                        <a:pt x="1935" y="904"/>
                      </a:lnTo>
                      <a:lnTo>
                        <a:pt x="1925" y="946"/>
                      </a:lnTo>
                      <a:lnTo>
                        <a:pt x="1907" y="1009"/>
                      </a:lnTo>
                      <a:lnTo>
                        <a:pt x="1907" y="1072"/>
                      </a:lnTo>
                      <a:lnTo>
                        <a:pt x="1897" y="1135"/>
                      </a:lnTo>
                      <a:lnTo>
                        <a:pt x="1894" y="1168"/>
                      </a:lnTo>
                      <a:lnTo>
                        <a:pt x="1886" y="1201"/>
                      </a:lnTo>
                      <a:lnTo>
                        <a:pt x="1866" y="1238"/>
                      </a:lnTo>
                      <a:lnTo>
                        <a:pt x="1842" y="1271"/>
                      </a:lnTo>
                      <a:lnTo>
                        <a:pt x="1825" y="1334"/>
                      </a:lnTo>
                      <a:lnTo>
                        <a:pt x="1797" y="1397"/>
                      </a:lnTo>
                      <a:lnTo>
                        <a:pt x="1714" y="1545"/>
                      </a:lnTo>
                      <a:lnTo>
                        <a:pt x="1640" y="1650"/>
                      </a:lnTo>
                      <a:lnTo>
                        <a:pt x="1586" y="1723"/>
                      </a:lnTo>
                      <a:lnTo>
                        <a:pt x="1576" y="1765"/>
                      </a:lnTo>
                      <a:lnTo>
                        <a:pt x="1567" y="1807"/>
                      </a:lnTo>
                      <a:lnTo>
                        <a:pt x="1550" y="1854"/>
                      </a:lnTo>
                      <a:lnTo>
                        <a:pt x="1537" y="1913"/>
                      </a:lnTo>
                      <a:lnTo>
                        <a:pt x="1511" y="1976"/>
                      </a:lnTo>
                      <a:lnTo>
                        <a:pt x="1465" y="2060"/>
                      </a:lnTo>
                      <a:lnTo>
                        <a:pt x="1421" y="2123"/>
                      </a:lnTo>
                      <a:lnTo>
                        <a:pt x="1393" y="2164"/>
                      </a:lnTo>
                      <a:lnTo>
                        <a:pt x="1374" y="2228"/>
                      </a:lnTo>
                      <a:lnTo>
                        <a:pt x="1355" y="2270"/>
                      </a:lnTo>
                      <a:lnTo>
                        <a:pt x="1326" y="2364"/>
                      </a:lnTo>
                      <a:lnTo>
                        <a:pt x="593"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253" name="Group 1464">
                  <a:extLst>
                    <a:ext uri="{FF2B5EF4-FFF2-40B4-BE49-F238E27FC236}">
                      <a16:creationId xmlns:a16="http://schemas.microsoft.com/office/drawing/2014/main" id="{7A64A2D6-E452-430F-9398-5ABDBF64B988}"/>
                    </a:ext>
                  </a:extLst>
                </p:cNvPr>
                <p:cNvGrpSpPr>
                  <a:grpSpLocks/>
                </p:cNvGrpSpPr>
                <p:nvPr/>
              </p:nvGrpSpPr>
              <p:grpSpPr bwMode="auto">
                <a:xfrm>
                  <a:off x="2861" y="3965"/>
                  <a:ext cx="138" cy="45"/>
                  <a:chOff x="2861" y="3965"/>
                  <a:chExt cx="138" cy="45"/>
                </a:xfrm>
              </p:grpSpPr>
              <p:sp>
                <p:nvSpPr>
                  <p:cNvPr id="258" name="Freeform 1465">
                    <a:extLst>
                      <a:ext uri="{FF2B5EF4-FFF2-40B4-BE49-F238E27FC236}">
                        <a16:creationId xmlns:a16="http://schemas.microsoft.com/office/drawing/2014/main" id="{883D9661-8DB4-4889-A164-5CA75E48D106}"/>
                      </a:ext>
                    </a:extLst>
                  </p:cNvPr>
                  <p:cNvSpPr>
                    <a:spLocks/>
                  </p:cNvSpPr>
                  <p:nvPr/>
                </p:nvSpPr>
                <p:spPr bwMode="auto">
                  <a:xfrm>
                    <a:off x="2983" y="4002"/>
                    <a:ext cx="16" cy="8"/>
                  </a:xfrm>
                  <a:custGeom>
                    <a:avLst/>
                    <a:gdLst>
                      <a:gd name="T0" fmla="*/ 0 w 183"/>
                      <a:gd name="T1" fmla="*/ 0 h 96"/>
                      <a:gd name="T2" fmla="*/ 0 w 183"/>
                      <a:gd name="T3" fmla="*/ 0 h 96"/>
                      <a:gd name="T4" fmla="*/ 0 w 183"/>
                      <a:gd name="T5" fmla="*/ 0 h 96"/>
                      <a:gd name="T6" fmla="*/ 0 w 183"/>
                      <a:gd name="T7" fmla="*/ 0 h 96"/>
                      <a:gd name="T8" fmla="*/ 0 w 183"/>
                      <a:gd name="T9" fmla="*/ 0 h 96"/>
                      <a:gd name="T10" fmla="*/ 0 w 183"/>
                      <a:gd name="T11" fmla="*/ 0 h 96"/>
                      <a:gd name="T12" fmla="*/ 0 w 183"/>
                      <a:gd name="T13" fmla="*/ 0 h 96"/>
                      <a:gd name="T14" fmla="*/ 0 60000 65536"/>
                      <a:gd name="T15" fmla="*/ 0 60000 65536"/>
                      <a:gd name="T16" fmla="*/ 0 60000 65536"/>
                      <a:gd name="T17" fmla="*/ 0 60000 65536"/>
                      <a:gd name="T18" fmla="*/ 0 60000 65536"/>
                      <a:gd name="T19" fmla="*/ 0 60000 65536"/>
                      <a:gd name="T20" fmla="*/ 0 60000 65536"/>
                      <a:gd name="T21" fmla="*/ 0 w 183"/>
                      <a:gd name="T22" fmla="*/ 0 h 96"/>
                      <a:gd name="T23" fmla="*/ 183 w 183"/>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3" h="96">
                        <a:moveTo>
                          <a:pt x="0" y="0"/>
                        </a:moveTo>
                        <a:lnTo>
                          <a:pt x="37" y="22"/>
                        </a:lnTo>
                        <a:lnTo>
                          <a:pt x="65" y="53"/>
                        </a:lnTo>
                        <a:lnTo>
                          <a:pt x="100" y="86"/>
                        </a:lnTo>
                        <a:lnTo>
                          <a:pt x="128" y="96"/>
                        </a:lnTo>
                        <a:lnTo>
                          <a:pt x="138" y="96"/>
                        </a:lnTo>
                        <a:lnTo>
                          <a:pt x="183" y="86"/>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9" name="Freeform 1466">
                    <a:extLst>
                      <a:ext uri="{FF2B5EF4-FFF2-40B4-BE49-F238E27FC236}">
                        <a16:creationId xmlns:a16="http://schemas.microsoft.com/office/drawing/2014/main" id="{E66F70F3-4FCF-413B-8908-955EAD420F98}"/>
                      </a:ext>
                    </a:extLst>
                  </p:cNvPr>
                  <p:cNvSpPr>
                    <a:spLocks/>
                  </p:cNvSpPr>
                  <p:nvPr/>
                </p:nvSpPr>
                <p:spPr bwMode="auto">
                  <a:xfrm>
                    <a:off x="2861" y="3992"/>
                    <a:ext cx="7"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0" name="Freeform 1467">
                    <a:extLst>
                      <a:ext uri="{FF2B5EF4-FFF2-40B4-BE49-F238E27FC236}">
                        <a16:creationId xmlns:a16="http://schemas.microsoft.com/office/drawing/2014/main" id="{30CFF4BB-5A99-44B5-B15F-AD277133B653}"/>
                      </a:ext>
                    </a:extLst>
                  </p:cNvPr>
                  <p:cNvSpPr>
                    <a:spLocks/>
                  </p:cNvSpPr>
                  <p:nvPr/>
                </p:nvSpPr>
                <p:spPr bwMode="auto">
                  <a:xfrm>
                    <a:off x="2885" y="3967"/>
                    <a:ext cx="1" cy="4"/>
                  </a:xfrm>
                  <a:custGeom>
                    <a:avLst/>
                    <a:gdLst>
                      <a:gd name="T0" fmla="*/ 0 w 18"/>
                      <a:gd name="T1" fmla="*/ 0 h 43"/>
                      <a:gd name="T2" fmla="*/ 0 w 18"/>
                      <a:gd name="T3" fmla="*/ 0 h 43"/>
                      <a:gd name="T4" fmla="*/ 0 w 18"/>
                      <a:gd name="T5" fmla="*/ 0 h 43"/>
                      <a:gd name="T6" fmla="*/ 0 w 18"/>
                      <a:gd name="T7" fmla="*/ 0 h 43"/>
                      <a:gd name="T8" fmla="*/ 0 60000 65536"/>
                      <a:gd name="T9" fmla="*/ 0 60000 65536"/>
                      <a:gd name="T10" fmla="*/ 0 60000 65536"/>
                      <a:gd name="T11" fmla="*/ 0 60000 65536"/>
                      <a:gd name="T12" fmla="*/ 0 w 18"/>
                      <a:gd name="T13" fmla="*/ 0 h 43"/>
                      <a:gd name="T14" fmla="*/ 18 w 18"/>
                      <a:gd name="T15" fmla="*/ 43 h 43"/>
                    </a:gdLst>
                    <a:ahLst/>
                    <a:cxnLst>
                      <a:cxn ang="T8">
                        <a:pos x="T0" y="T1"/>
                      </a:cxn>
                      <a:cxn ang="T9">
                        <a:pos x="T2" y="T3"/>
                      </a:cxn>
                      <a:cxn ang="T10">
                        <a:pos x="T4" y="T5"/>
                      </a:cxn>
                      <a:cxn ang="T11">
                        <a:pos x="T6" y="T7"/>
                      </a:cxn>
                    </a:cxnLst>
                    <a:rect l="T12" t="T13" r="T14" b="T15"/>
                    <a:pathLst>
                      <a:path w="18" h="43">
                        <a:moveTo>
                          <a:pt x="0" y="0"/>
                        </a:moveTo>
                        <a:lnTo>
                          <a:pt x="18" y="18"/>
                        </a:lnTo>
                        <a:lnTo>
                          <a:pt x="16" y="28"/>
                        </a:lnTo>
                        <a:lnTo>
                          <a:pt x="18" y="4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1" name="Freeform 1468">
                    <a:extLst>
                      <a:ext uri="{FF2B5EF4-FFF2-40B4-BE49-F238E27FC236}">
                        <a16:creationId xmlns:a16="http://schemas.microsoft.com/office/drawing/2014/main" id="{2D550450-3924-4996-ABF2-53738D64B97F}"/>
                      </a:ext>
                    </a:extLst>
                  </p:cNvPr>
                  <p:cNvSpPr>
                    <a:spLocks/>
                  </p:cNvSpPr>
                  <p:nvPr/>
                </p:nvSpPr>
                <p:spPr bwMode="auto">
                  <a:xfrm>
                    <a:off x="2878" y="3965"/>
                    <a:ext cx="15" cy="2"/>
                  </a:xfrm>
                  <a:custGeom>
                    <a:avLst/>
                    <a:gdLst>
                      <a:gd name="T0" fmla="*/ 0 w 178"/>
                      <a:gd name="T1" fmla="*/ 0 h 23"/>
                      <a:gd name="T2" fmla="*/ 0 w 178"/>
                      <a:gd name="T3" fmla="*/ 0 h 23"/>
                      <a:gd name="T4" fmla="*/ 0 w 178"/>
                      <a:gd name="T5" fmla="*/ 0 h 23"/>
                      <a:gd name="T6" fmla="*/ 0 w 178"/>
                      <a:gd name="T7" fmla="*/ 0 h 23"/>
                      <a:gd name="T8" fmla="*/ 0 w 178"/>
                      <a:gd name="T9" fmla="*/ 0 h 23"/>
                      <a:gd name="T10" fmla="*/ 0 60000 65536"/>
                      <a:gd name="T11" fmla="*/ 0 60000 65536"/>
                      <a:gd name="T12" fmla="*/ 0 60000 65536"/>
                      <a:gd name="T13" fmla="*/ 0 60000 65536"/>
                      <a:gd name="T14" fmla="*/ 0 60000 65536"/>
                      <a:gd name="T15" fmla="*/ 0 w 178"/>
                      <a:gd name="T16" fmla="*/ 0 h 23"/>
                      <a:gd name="T17" fmla="*/ 178 w 178"/>
                      <a:gd name="T18" fmla="*/ 23 h 23"/>
                    </a:gdLst>
                    <a:ahLst/>
                    <a:cxnLst>
                      <a:cxn ang="T10">
                        <a:pos x="T0" y="T1"/>
                      </a:cxn>
                      <a:cxn ang="T11">
                        <a:pos x="T2" y="T3"/>
                      </a:cxn>
                      <a:cxn ang="T12">
                        <a:pos x="T4" y="T5"/>
                      </a:cxn>
                      <a:cxn ang="T13">
                        <a:pos x="T6" y="T7"/>
                      </a:cxn>
                      <a:cxn ang="T14">
                        <a:pos x="T8" y="T9"/>
                      </a:cxn>
                    </a:cxnLst>
                    <a:rect l="T15" t="T16" r="T17" b="T18"/>
                    <a:pathLst>
                      <a:path w="178" h="23">
                        <a:moveTo>
                          <a:pt x="178" y="12"/>
                        </a:moveTo>
                        <a:lnTo>
                          <a:pt x="150" y="23"/>
                        </a:lnTo>
                        <a:lnTo>
                          <a:pt x="40" y="23"/>
                        </a:lnTo>
                        <a:lnTo>
                          <a:pt x="18" y="11"/>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54" name="Group 1469">
                  <a:extLst>
                    <a:ext uri="{FF2B5EF4-FFF2-40B4-BE49-F238E27FC236}">
                      <a16:creationId xmlns:a16="http://schemas.microsoft.com/office/drawing/2014/main" id="{5265D300-A11D-4E2B-A6A9-03ED681A4AF4}"/>
                    </a:ext>
                  </a:extLst>
                </p:cNvPr>
                <p:cNvGrpSpPr>
                  <a:grpSpLocks/>
                </p:cNvGrpSpPr>
                <p:nvPr/>
              </p:nvGrpSpPr>
              <p:grpSpPr bwMode="auto">
                <a:xfrm>
                  <a:off x="2876" y="3956"/>
                  <a:ext cx="94" cy="91"/>
                  <a:chOff x="2876" y="3956"/>
                  <a:chExt cx="94" cy="91"/>
                </a:xfrm>
              </p:grpSpPr>
              <p:sp>
                <p:nvSpPr>
                  <p:cNvPr id="255" name="Freeform 1470">
                    <a:extLst>
                      <a:ext uri="{FF2B5EF4-FFF2-40B4-BE49-F238E27FC236}">
                        <a16:creationId xmlns:a16="http://schemas.microsoft.com/office/drawing/2014/main" id="{5D0DB428-3B8D-48FC-8325-74BDAA740037}"/>
                      </a:ext>
                    </a:extLst>
                  </p:cNvPr>
                  <p:cNvSpPr>
                    <a:spLocks/>
                  </p:cNvSpPr>
                  <p:nvPr/>
                </p:nvSpPr>
                <p:spPr bwMode="auto">
                  <a:xfrm>
                    <a:off x="2882" y="3973"/>
                    <a:ext cx="88" cy="74"/>
                  </a:xfrm>
                  <a:custGeom>
                    <a:avLst/>
                    <a:gdLst>
                      <a:gd name="T0" fmla="*/ 0 w 1055"/>
                      <a:gd name="T1" fmla="*/ 0 h 894"/>
                      <a:gd name="T2" fmla="*/ 0 w 1055"/>
                      <a:gd name="T3" fmla="*/ 0 h 894"/>
                      <a:gd name="T4" fmla="*/ 0 w 1055"/>
                      <a:gd name="T5" fmla="*/ 0 h 894"/>
                      <a:gd name="T6" fmla="*/ 0 w 1055"/>
                      <a:gd name="T7" fmla="*/ 0 h 894"/>
                      <a:gd name="T8" fmla="*/ 0 w 1055"/>
                      <a:gd name="T9" fmla="*/ 0 h 894"/>
                      <a:gd name="T10" fmla="*/ 0 w 1055"/>
                      <a:gd name="T11" fmla="*/ 0 h 894"/>
                      <a:gd name="T12" fmla="*/ 0 w 1055"/>
                      <a:gd name="T13" fmla="*/ 0 h 894"/>
                      <a:gd name="T14" fmla="*/ 0 w 1055"/>
                      <a:gd name="T15" fmla="*/ 0 h 894"/>
                      <a:gd name="T16" fmla="*/ 0 w 1055"/>
                      <a:gd name="T17" fmla="*/ 0 h 894"/>
                      <a:gd name="T18" fmla="*/ 0 w 1055"/>
                      <a:gd name="T19" fmla="*/ 0 h 894"/>
                      <a:gd name="T20" fmla="*/ 0 w 1055"/>
                      <a:gd name="T21" fmla="*/ 0 h 894"/>
                      <a:gd name="T22" fmla="*/ 0 w 1055"/>
                      <a:gd name="T23" fmla="*/ 0 h 894"/>
                      <a:gd name="T24" fmla="*/ 0 w 1055"/>
                      <a:gd name="T25" fmla="*/ 0 h 894"/>
                      <a:gd name="T26" fmla="*/ 0 w 1055"/>
                      <a:gd name="T27" fmla="*/ 0 h 894"/>
                      <a:gd name="T28" fmla="*/ 0 w 1055"/>
                      <a:gd name="T29" fmla="*/ 0 h 894"/>
                      <a:gd name="T30" fmla="*/ 0 w 1055"/>
                      <a:gd name="T31" fmla="*/ 0 h 894"/>
                      <a:gd name="T32" fmla="*/ 0 w 1055"/>
                      <a:gd name="T33" fmla="*/ 0 h 894"/>
                      <a:gd name="T34" fmla="*/ 0 w 1055"/>
                      <a:gd name="T35" fmla="*/ 0 h 894"/>
                      <a:gd name="T36" fmla="*/ 0 w 1055"/>
                      <a:gd name="T37" fmla="*/ 0 h 894"/>
                      <a:gd name="T38" fmla="*/ 0 w 1055"/>
                      <a:gd name="T39" fmla="*/ 0 h 894"/>
                      <a:gd name="T40" fmla="*/ 0 w 1055"/>
                      <a:gd name="T41" fmla="*/ 0 h 894"/>
                      <a:gd name="T42" fmla="*/ 0 w 1055"/>
                      <a:gd name="T43" fmla="*/ 0 h 894"/>
                      <a:gd name="T44" fmla="*/ 0 w 1055"/>
                      <a:gd name="T45" fmla="*/ 0 h 894"/>
                      <a:gd name="T46" fmla="*/ 0 w 1055"/>
                      <a:gd name="T47" fmla="*/ 0 h 894"/>
                      <a:gd name="T48" fmla="*/ 0 w 1055"/>
                      <a:gd name="T49" fmla="*/ 0 h 894"/>
                      <a:gd name="T50" fmla="*/ 0 w 1055"/>
                      <a:gd name="T51" fmla="*/ 0 h 894"/>
                      <a:gd name="T52" fmla="*/ 0 w 1055"/>
                      <a:gd name="T53" fmla="*/ 0 h 894"/>
                      <a:gd name="T54" fmla="*/ 0 w 1055"/>
                      <a:gd name="T55" fmla="*/ 0 h 894"/>
                      <a:gd name="T56" fmla="*/ 0 w 1055"/>
                      <a:gd name="T57" fmla="*/ 0 h 894"/>
                      <a:gd name="T58" fmla="*/ 0 w 1055"/>
                      <a:gd name="T59" fmla="*/ 0 h 894"/>
                      <a:gd name="T60" fmla="*/ 0 w 1055"/>
                      <a:gd name="T61" fmla="*/ 0 h 894"/>
                      <a:gd name="T62" fmla="*/ 0 w 1055"/>
                      <a:gd name="T63" fmla="*/ 0 h 894"/>
                      <a:gd name="T64" fmla="*/ 0 w 1055"/>
                      <a:gd name="T65" fmla="*/ 0 h 894"/>
                      <a:gd name="T66" fmla="*/ 0 w 1055"/>
                      <a:gd name="T67" fmla="*/ 0 h 894"/>
                      <a:gd name="T68" fmla="*/ 0 w 1055"/>
                      <a:gd name="T69" fmla="*/ 0 h 894"/>
                      <a:gd name="T70" fmla="*/ 0 w 1055"/>
                      <a:gd name="T71" fmla="*/ 0 h 894"/>
                      <a:gd name="T72" fmla="*/ 0 w 1055"/>
                      <a:gd name="T73" fmla="*/ 0 h 894"/>
                      <a:gd name="T74" fmla="*/ 0 w 1055"/>
                      <a:gd name="T75" fmla="*/ 0 h 894"/>
                      <a:gd name="T76" fmla="*/ 0 w 1055"/>
                      <a:gd name="T77" fmla="*/ 0 h 894"/>
                      <a:gd name="T78" fmla="*/ 0 w 1055"/>
                      <a:gd name="T79" fmla="*/ 0 h 894"/>
                      <a:gd name="T80" fmla="*/ 0 w 1055"/>
                      <a:gd name="T81" fmla="*/ 0 h 894"/>
                      <a:gd name="T82" fmla="*/ 0 w 1055"/>
                      <a:gd name="T83" fmla="*/ 0 h 894"/>
                      <a:gd name="T84" fmla="*/ 0 w 1055"/>
                      <a:gd name="T85" fmla="*/ 0 h 894"/>
                      <a:gd name="T86" fmla="*/ 0 w 1055"/>
                      <a:gd name="T87" fmla="*/ 0 h 894"/>
                      <a:gd name="T88" fmla="*/ 0 w 1055"/>
                      <a:gd name="T89" fmla="*/ 0 h 894"/>
                      <a:gd name="T90" fmla="*/ 0 w 1055"/>
                      <a:gd name="T91" fmla="*/ 0 h 894"/>
                      <a:gd name="T92" fmla="*/ 0 w 1055"/>
                      <a:gd name="T93" fmla="*/ 0 h 894"/>
                      <a:gd name="T94" fmla="*/ 0 w 1055"/>
                      <a:gd name="T95" fmla="*/ 0 h 894"/>
                      <a:gd name="T96" fmla="*/ 0 w 1055"/>
                      <a:gd name="T97" fmla="*/ 0 h 894"/>
                      <a:gd name="T98" fmla="*/ 0 w 1055"/>
                      <a:gd name="T99" fmla="*/ 0 h 894"/>
                      <a:gd name="T100" fmla="*/ 0 w 1055"/>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55"/>
                      <a:gd name="T154" fmla="*/ 0 h 894"/>
                      <a:gd name="T155" fmla="*/ 1055 w 1055"/>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55" h="894">
                        <a:moveTo>
                          <a:pt x="1055" y="487"/>
                        </a:moveTo>
                        <a:lnTo>
                          <a:pt x="977" y="517"/>
                        </a:lnTo>
                        <a:lnTo>
                          <a:pt x="881" y="555"/>
                        </a:lnTo>
                        <a:lnTo>
                          <a:pt x="823" y="593"/>
                        </a:lnTo>
                        <a:lnTo>
                          <a:pt x="775" y="652"/>
                        </a:lnTo>
                        <a:lnTo>
                          <a:pt x="746" y="739"/>
                        </a:lnTo>
                        <a:lnTo>
                          <a:pt x="727" y="806"/>
                        </a:lnTo>
                        <a:lnTo>
                          <a:pt x="668" y="875"/>
                        </a:lnTo>
                        <a:lnTo>
                          <a:pt x="571" y="894"/>
                        </a:lnTo>
                        <a:lnTo>
                          <a:pt x="504" y="865"/>
                        </a:lnTo>
                        <a:lnTo>
                          <a:pt x="455" y="826"/>
                        </a:lnTo>
                        <a:lnTo>
                          <a:pt x="451" y="784"/>
                        </a:lnTo>
                        <a:lnTo>
                          <a:pt x="445" y="749"/>
                        </a:lnTo>
                        <a:lnTo>
                          <a:pt x="407" y="690"/>
                        </a:lnTo>
                        <a:lnTo>
                          <a:pt x="319" y="661"/>
                        </a:lnTo>
                        <a:lnTo>
                          <a:pt x="387" y="617"/>
                        </a:lnTo>
                        <a:lnTo>
                          <a:pt x="458" y="603"/>
                        </a:lnTo>
                        <a:lnTo>
                          <a:pt x="491" y="584"/>
                        </a:lnTo>
                        <a:lnTo>
                          <a:pt x="429" y="580"/>
                        </a:lnTo>
                        <a:lnTo>
                          <a:pt x="359" y="603"/>
                        </a:lnTo>
                        <a:lnTo>
                          <a:pt x="281" y="633"/>
                        </a:lnTo>
                        <a:lnTo>
                          <a:pt x="246" y="603"/>
                        </a:lnTo>
                        <a:lnTo>
                          <a:pt x="239" y="564"/>
                        </a:lnTo>
                        <a:lnTo>
                          <a:pt x="236" y="520"/>
                        </a:lnTo>
                        <a:lnTo>
                          <a:pt x="223" y="477"/>
                        </a:lnTo>
                        <a:lnTo>
                          <a:pt x="174" y="468"/>
                        </a:lnTo>
                        <a:lnTo>
                          <a:pt x="136" y="484"/>
                        </a:lnTo>
                        <a:lnTo>
                          <a:pt x="104" y="513"/>
                        </a:lnTo>
                        <a:lnTo>
                          <a:pt x="58" y="542"/>
                        </a:lnTo>
                        <a:lnTo>
                          <a:pt x="0" y="593"/>
                        </a:lnTo>
                        <a:lnTo>
                          <a:pt x="58" y="507"/>
                        </a:lnTo>
                        <a:lnTo>
                          <a:pt x="165" y="420"/>
                        </a:lnTo>
                        <a:lnTo>
                          <a:pt x="233" y="380"/>
                        </a:lnTo>
                        <a:lnTo>
                          <a:pt x="294" y="364"/>
                        </a:lnTo>
                        <a:lnTo>
                          <a:pt x="346" y="367"/>
                        </a:lnTo>
                        <a:lnTo>
                          <a:pt x="400" y="355"/>
                        </a:lnTo>
                        <a:lnTo>
                          <a:pt x="485" y="332"/>
                        </a:lnTo>
                        <a:lnTo>
                          <a:pt x="590" y="287"/>
                        </a:lnTo>
                        <a:lnTo>
                          <a:pt x="690" y="238"/>
                        </a:lnTo>
                        <a:lnTo>
                          <a:pt x="749" y="210"/>
                        </a:lnTo>
                        <a:lnTo>
                          <a:pt x="781" y="168"/>
                        </a:lnTo>
                        <a:lnTo>
                          <a:pt x="797" y="116"/>
                        </a:lnTo>
                        <a:lnTo>
                          <a:pt x="794" y="62"/>
                        </a:lnTo>
                        <a:lnTo>
                          <a:pt x="781" y="0"/>
                        </a:lnTo>
                        <a:lnTo>
                          <a:pt x="842" y="68"/>
                        </a:lnTo>
                        <a:lnTo>
                          <a:pt x="891" y="145"/>
                        </a:lnTo>
                        <a:lnTo>
                          <a:pt x="949" y="245"/>
                        </a:lnTo>
                        <a:lnTo>
                          <a:pt x="974" y="300"/>
                        </a:lnTo>
                        <a:lnTo>
                          <a:pt x="1001" y="348"/>
                        </a:lnTo>
                        <a:lnTo>
                          <a:pt x="1036" y="400"/>
                        </a:lnTo>
                        <a:lnTo>
                          <a:pt x="1055"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 name="Freeform 1471">
                    <a:extLst>
                      <a:ext uri="{FF2B5EF4-FFF2-40B4-BE49-F238E27FC236}">
                        <a16:creationId xmlns:a16="http://schemas.microsoft.com/office/drawing/2014/main" id="{D31FE9C1-29FB-4F9F-8A73-F984A0343037}"/>
                      </a:ext>
                    </a:extLst>
                  </p:cNvPr>
                  <p:cNvSpPr>
                    <a:spLocks/>
                  </p:cNvSpPr>
                  <p:nvPr/>
                </p:nvSpPr>
                <p:spPr bwMode="auto">
                  <a:xfrm>
                    <a:off x="2876" y="3996"/>
                    <a:ext cx="24" cy="15"/>
                  </a:xfrm>
                  <a:custGeom>
                    <a:avLst/>
                    <a:gdLst>
                      <a:gd name="T0" fmla="*/ 0 w 287"/>
                      <a:gd name="T1" fmla="*/ 0 h 181"/>
                      <a:gd name="T2" fmla="*/ 0 w 287"/>
                      <a:gd name="T3" fmla="*/ 0 h 181"/>
                      <a:gd name="T4" fmla="*/ 0 w 287"/>
                      <a:gd name="T5" fmla="*/ 0 h 181"/>
                      <a:gd name="T6" fmla="*/ 0 w 287"/>
                      <a:gd name="T7" fmla="*/ 0 h 181"/>
                      <a:gd name="T8" fmla="*/ 0 w 287"/>
                      <a:gd name="T9" fmla="*/ 0 h 181"/>
                      <a:gd name="T10" fmla="*/ 0 w 287"/>
                      <a:gd name="T11" fmla="*/ 0 h 181"/>
                      <a:gd name="T12" fmla="*/ 0 w 287"/>
                      <a:gd name="T13" fmla="*/ 0 h 181"/>
                      <a:gd name="T14" fmla="*/ 0 w 287"/>
                      <a:gd name="T15" fmla="*/ 0 h 181"/>
                      <a:gd name="T16" fmla="*/ 0 w 287"/>
                      <a:gd name="T17" fmla="*/ 0 h 181"/>
                      <a:gd name="T18" fmla="*/ 0 w 287"/>
                      <a:gd name="T19" fmla="*/ 0 h 181"/>
                      <a:gd name="T20" fmla="*/ 0 w 287"/>
                      <a:gd name="T21" fmla="*/ 0 h 181"/>
                      <a:gd name="T22" fmla="*/ 0 w 287"/>
                      <a:gd name="T23" fmla="*/ 0 h 181"/>
                      <a:gd name="T24" fmla="*/ 0 w 287"/>
                      <a:gd name="T25" fmla="*/ 0 h 181"/>
                      <a:gd name="T26" fmla="*/ 0 w 287"/>
                      <a:gd name="T27" fmla="*/ 0 h 181"/>
                      <a:gd name="T28" fmla="*/ 0 w 287"/>
                      <a:gd name="T29" fmla="*/ 0 h 181"/>
                      <a:gd name="T30" fmla="*/ 0 w 287"/>
                      <a:gd name="T31" fmla="*/ 0 h 181"/>
                      <a:gd name="T32" fmla="*/ 0 w 287"/>
                      <a:gd name="T33" fmla="*/ 0 h 181"/>
                      <a:gd name="T34" fmla="*/ 0 w 287"/>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7"/>
                      <a:gd name="T55" fmla="*/ 0 h 181"/>
                      <a:gd name="T56" fmla="*/ 287 w 287"/>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7" h="181">
                        <a:moveTo>
                          <a:pt x="175" y="9"/>
                        </a:moveTo>
                        <a:lnTo>
                          <a:pt x="208" y="20"/>
                        </a:lnTo>
                        <a:lnTo>
                          <a:pt x="245" y="33"/>
                        </a:lnTo>
                        <a:lnTo>
                          <a:pt x="287" y="53"/>
                        </a:lnTo>
                        <a:lnTo>
                          <a:pt x="258" y="67"/>
                        </a:lnTo>
                        <a:lnTo>
                          <a:pt x="202" y="90"/>
                        </a:lnTo>
                        <a:lnTo>
                          <a:pt x="142" y="123"/>
                        </a:lnTo>
                        <a:lnTo>
                          <a:pt x="103" y="161"/>
                        </a:lnTo>
                        <a:lnTo>
                          <a:pt x="79" y="181"/>
                        </a:lnTo>
                        <a:lnTo>
                          <a:pt x="106" y="120"/>
                        </a:lnTo>
                        <a:lnTo>
                          <a:pt x="116" y="77"/>
                        </a:lnTo>
                        <a:lnTo>
                          <a:pt x="116" y="50"/>
                        </a:lnTo>
                        <a:lnTo>
                          <a:pt x="86" y="44"/>
                        </a:lnTo>
                        <a:lnTo>
                          <a:pt x="0" y="84"/>
                        </a:lnTo>
                        <a:lnTo>
                          <a:pt x="70" y="33"/>
                        </a:lnTo>
                        <a:lnTo>
                          <a:pt x="112" y="0"/>
                        </a:lnTo>
                        <a:lnTo>
                          <a:pt x="142" y="3"/>
                        </a:lnTo>
                        <a:lnTo>
                          <a:pt x="175" y="9"/>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 name="Freeform 1472">
                    <a:extLst>
                      <a:ext uri="{FF2B5EF4-FFF2-40B4-BE49-F238E27FC236}">
                        <a16:creationId xmlns:a16="http://schemas.microsoft.com/office/drawing/2014/main" id="{77B403C1-AD11-4A67-BBBC-FB0E17A8D283}"/>
                      </a:ext>
                    </a:extLst>
                  </p:cNvPr>
                  <p:cNvSpPr>
                    <a:spLocks/>
                  </p:cNvSpPr>
                  <p:nvPr/>
                </p:nvSpPr>
                <p:spPr bwMode="auto">
                  <a:xfrm>
                    <a:off x="2898" y="3956"/>
                    <a:ext cx="44" cy="37"/>
                  </a:xfrm>
                  <a:custGeom>
                    <a:avLst/>
                    <a:gdLst>
                      <a:gd name="T0" fmla="*/ 0 w 533"/>
                      <a:gd name="T1" fmla="*/ 0 h 433"/>
                      <a:gd name="T2" fmla="*/ 0 w 533"/>
                      <a:gd name="T3" fmla="*/ 0 h 433"/>
                      <a:gd name="T4" fmla="*/ 0 w 533"/>
                      <a:gd name="T5" fmla="*/ 0 h 433"/>
                      <a:gd name="T6" fmla="*/ 0 w 533"/>
                      <a:gd name="T7" fmla="*/ 0 h 433"/>
                      <a:gd name="T8" fmla="*/ 0 w 533"/>
                      <a:gd name="T9" fmla="*/ 0 h 433"/>
                      <a:gd name="T10" fmla="*/ 0 w 533"/>
                      <a:gd name="T11" fmla="*/ 0 h 433"/>
                      <a:gd name="T12" fmla="*/ 0 w 533"/>
                      <a:gd name="T13" fmla="*/ 0 h 433"/>
                      <a:gd name="T14" fmla="*/ 0 w 533"/>
                      <a:gd name="T15" fmla="*/ 0 h 433"/>
                      <a:gd name="T16" fmla="*/ 0 w 533"/>
                      <a:gd name="T17" fmla="*/ 0 h 433"/>
                      <a:gd name="T18" fmla="*/ 0 w 533"/>
                      <a:gd name="T19" fmla="*/ 0 h 433"/>
                      <a:gd name="T20" fmla="*/ 0 w 533"/>
                      <a:gd name="T21" fmla="*/ 0 h 433"/>
                      <a:gd name="T22" fmla="*/ 0 w 533"/>
                      <a:gd name="T23" fmla="*/ 0 h 433"/>
                      <a:gd name="T24" fmla="*/ 0 w 533"/>
                      <a:gd name="T25" fmla="*/ 0 h 433"/>
                      <a:gd name="T26" fmla="*/ 0 w 533"/>
                      <a:gd name="T27" fmla="*/ 0 h 433"/>
                      <a:gd name="T28" fmla="*/ 0 w 533"/>
                      <a:gd name="T29" fmla="*/ 0 h 433"/>
                      <a:gd name="T30" fmla="*/ 0 w 533"/>
                      <a:gd name="T31" fmla="*/ 0 h 433"/>
                      <a:gd name="T32" fmla="*/ 0 w 533"/>
                      <a:gd name="T33" fmla="*/ 0 h 433"/>
                      <a:gd name="T34" fmla="*/ 0 w 533"/>
                      <a:gd name="T35" fmla="*/ 0 h 433"/>
                      <a:gd name="T36" fmla="*/ 0 w 533"/>
                      <a:gd name="T37" fmla="*/ 0 h 433"/>
                      <a:gd name="T38" fmla="*/ 0 w 533"/>
                      <a:gd name="T39" fmla="*/ 0 h 433"/>
                      <a:gd name="T40" fmla="*/ 0 w 533"/>
                      <a:gd name="T41" fmla="*/ 0 h 433"/>
                      <a:gd name="T42" fmla="*/ 0 w 533"/>
                      <a:gd name="T43" fmla="*/ 0 h 433"/>
                      <a:gd name="T44" fmla="*/ 0 w 533"/>
                      <a:gd name="T45" fmla="*/ 0 h 433"/>
                      <a:gd name="T46" fmla="*/ 0 w 533"/>
                      <a:gd name="T47" fmla="*/ 0 h 433"/>
                      <a:gd name="T48" fmla="*/ 0 w 533"/>
                      <a:gd name="T49" fmla="*/ 0 h 433"/>
                      <a:gd name="T50" fmla="*/ 0 w 533"/>
                      <a:gd name="T51" fmla="*/ 0 h 433"/>
                      <a:gd name="T52" fmla="*/ 0 w 533"/>
                      <a:gd name="T53" fmla="*/ 0 h 433"/>
                      <a:gd name="T54" fmla="*/ 0 w 533"/>
                      <a:gd name="T55" fmla="*/ 0 h 433"/>
                      <a:gd name="T56" fmla="*/ 0 w 533"/>
                      <a:gd name="T57" fmla="*/ 0 h 433"/>
                      <a:gd name="T58" fmla="*/ 0 w 533"/>
                      <a:gd name="T59" fmla="*/ 0 h 433"/>
                      <a:gd name="T60" fmla="*/ 0 w 533"/>
                      <a:gd name="T61" fmla="*/ 0 h 43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3"/>
                      <a:gd name="T94" fmla="*/ 0 h 433"/>
                      <a:gd name="T95" fmla="*/ 533 w 533"/>
                      <a:gd name="T96" fmla="*/ 433 h 43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3" h="433">
                        <a:moveTo>
                          <a:pt x="533" y="137"/>
                        </a:moveTo>
                        <a:lnTo>
                          <a:pt x="471" y="147"/>
                        </a:lnTo>
                        <a:lnTo>
                          <a:pt x="422" y="166"/>
                        </a:lnTo>
                        <a:lnTo>
                          <a:pt x="363" y="205"/>
                        </a:lnTo>
                        <a:lnTo>
                          <a:pt x="312" y="254"/>
                        </a:lnTo>
                        <a:lnTo>
                          <a:pt x="263" y="332"/>
                        </a:lnTo>
                        <a:lnTo>
                          <a:pt x="241" y="384"/>
                        </a:lnTo>
                        <a:lnTo>
                          <a:pt x="257" y="433"/>
                        </a:lnTo>
                        <a:lnTo>
                          <a:pt x="192" y="387"/>
                        </a:lnTo>
                        <a:lnTo>
                          <a:pt x="130" y="365"/>
                        </a:lnTo>
                        <a:lnTo>
                          <a:pt x="81" y="345"/>
                        </a:lnTo>
                        <a:lnTo>
                          <a:pt x="32" y="329"/>
                        </a:lnTo>
                        <a:lnTo>
                          <a:pt x="0" y="313"/>
                        </a:lnTo>
                        <a:lnTo>
                          <a:pt x="42" y="254"/>
                        </a:lnTo>
                        <a:lnTo>
                          <a:pt x="81" y="283"/>
                        </a:lnTo>
                        <a:lnTo>
                          <a:pt x="143" y="313"/>
                        </a:lnTo>
                        <a:lnTo>
                          <a:pt x="195" y="313"/>
                        </a:lnTo>
                        <a:lnTo>
                          <a:pt x="244" y="303"/>
                        </a:lnTo>
                        <a:lnTo>
                          <a:pt x="273" y="293"/>
                        </a:lnTo>
                        <a:lnTo>
                          <a:pt x="303" y="273"/>
                        </a:lnTo>
                        <a:lnTo>
                          <a:pt x="312" y="212"/>
                        </a:lnTo>
                        <a:lnTo>
                          <a:pt x="303" y="166"/>
                        </a:lnTo>
                        <a:lnTo>
                          <a:pt x="273" y="107"/>
                        </a:lnTo>
                        <a:lnTo>
                          <a:pt x="263" y="77"/>
                        </a:lnTo>
                        <a:lnTo>
                          <a:pt x="306" y="68"/>
                        </a:lnTo>
                        <a:lnTo>
                          <a:pt x="360" y="52"/>
                        </a:lnTo>
                        <a:lnTo>
                          <a:pt x="396" y="9"/>
                        </a:lnTo>
                        <a:lnTo>
                          <a:pt x="428" y="0"/>
                        </a:lnTo>
                        <a:lnTo>
                          <a:pt x="465" y="55"/>
                        </a:lnTo>
                        <a:lnTo>
                          <a:pt x="497" y="101"/>
                        </a:lnTo>
                        <a:lnTo>
                          <a:pt x="533"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00" name="Group 1473">
                <a:extLst>
                  <a:ext uri="{FF2B5EF4-FFF2-40B4-BE49-F238E27FC236}">
                    <a16:creationId xmlns:a16="http://schemas.microsoft.com/office/drawing/2014/main" id="{F218C768-418F-4B0A-9B27-CE0FE1392FED}"/>
                  </a:ext>
                </a:extLst>
              </p:cNvPr>
              <p:cNvGrpSpPr>
                <a:grpSpLocks/>
              </p:cNvGrpSpPr>
              <p:nvPr/>
            </p:nvGrpSpPr>
            <p:grpSpPr bwMode="auto">
              <a:xfrm>
                <a:off x="2900" y="3854"/>
                <a:ext cx="139" cy="274"/>
                <a:chOff x="2900" y="3854"/>
                <a:chExt cx="139" cy="274"/>
              </a:xfrm>
            </p:grpSpPr>
            <p:sp>
              <p:nvSpPr>
                <p:cNvPr id="212" name="Freeform 1474">
                  <a:extLst>
                    <a:ext uri="{FF2B5EF4-FFF2-40B4-BE49-F238E27FC236}">
                      <a16:creationId xmlns:a16="http://schemas.microsoft.com/office/drawing/2014/main" id="{FDA9AC75-F58A-4372-A3B6-7227F8B7A4E5}"/>
                    </a:ext>
                  </a:extLst>
                </p:cNvPr>
                <p:cNvSpPr>
                  <a:spLocks/>
                </p:cNvSpPr>
                <p:nvPr/>
              </p:nvSpPr>
              <p:spPr bwMode="auto">
                <a:xfrm>
                  <a:off x="2909" y="4050"/>
                  <a:ext cx="128" cy="63"/>
                </a:xfrm>
                <a:custGeom>
                  <a:avLst/>
                  <a:gdLst>
                    <a:gd name="T0" fmla="*/ 0 w 1532"/>
                    <a:gd name="T1" fmla="*/ 0 h 757"/>
                    <a:gd name="T2" fmla="*/ 0 w 1532"/>
                    <a:gd name="T3" fmla="*/ 0 h 757"/>
                    <a:gd name="T4" fmla="*/ 0 w 1532"/>
                    <a:gd name="T5" fmla="*/ 0 h 757"/>
                    <a:gd name="T6" fmla="*/ 0 w 1532"/>
                    <a:gd name="T7" fmla="*/ 0 h 757"/>
                    <a:gd name="T8" fmla="*/ 0 w 1532"/>
                    <a:gd name="T9" fmla="*/ 0 h 757"/>
                    <a:gd name="T10" fmla="*/ 0 w 1532"/>
                    <a:gd name="T11" fmla="*/ 0 h 757"/>
                    <a:gd name="T12" fmla="*/ 0 60000 65536"/>
                    <a:gd name="T13" fmla="*/ 0 60000 65536"/>
                    <a:gd name="T14" fmla="*/ 0 60000 65536"/>
                    <a:gd name="T15" fmla="*/ 0 60000 65536"/>
                    <a:gd name="T16" fmla="*/ 0 60000 65536"/>
                    <a:gd name="T17" fmla="*/ 0 60000 65536"/>
                    <a:gd name="T18" fmla="*/ 0 w 1532"/>
                    <a:gd name="T19" fmla="*/ 0 h 757"/>
                    <a:gd name="T20" fmla="*/ 1532 w 1532"/>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32" h="757">
                      <a:moveTo>
                        <a:pt x="1532" y="757"/>
                      </a:moveTo>
                      <a:lnTo>
                        <a:pt x="751" y="276"/>
                      </a:lnTo>
                      <a:lnTo>
                        <a:pt x="0" y="0"/>
                      </a:lnTo>
                      <a:lnTo>
                        <a:pt x="77" y="219"/>
                      </a:lnTo>
                      <a:lnTo>
                        <a:pt x="734" y="570"/>
                      </a:lnTo>
                      <a:lnTo>
                        <a:pt x="1532" y="757"/>
                      </a:lnTo>
                      <a:close/>
                    </a:path>
                  </a:pathLst>
                </a:custGeom>
                <a:solidFill>
                  <a:srgbClr val="808080"/>
                </a:solidFill>
                <a:ln w="1588">
                  <a:solidFill>
                    <a:srgbClr val="000000"/>
                  </a:solidFill>
                  <a:prstDash val="solid"/>
                  <a:round/>
                  <a:headEnd/>
                  <a:tailEnd/>
                </a:ln>
              </p:spPr>
              <p:txBody>
                <a:bodyPr/>
                <a:lstStyle/>
                <a:p>
                  <a:endParaRPr lang="en-US"/>
                </a:p>
              </p:txBody>
            </p:sp>
            <p:sp>
              <p:nvSpPr>
                <p:cNvPr id="213" name="Freeform 1475">
                  <a:extLst>
                    <a:ext uri="{FF2B5EF4-FFF2-40B4-BE49-F238E27FC236}">
                      <a16:creationId xmlns:a16="http://schemas.microsoft.com/office/drawing/2014/main" id="{AD3293E9-2117-425F-A89B-1F68F75837F0}"/>
                    </a:ext>
                  </a:extLst>
                </p:cNvPr>
                <p:cNvSpPr>
                  <a:spLocks/>
                </p:cNvSpPr>
                <p:nvPr/>
              </p:nvSpPr>
              <p:spPr bwMode="auto">
                <a:xfrm>
                  <a:off x="2954" y="4084"/>
                  <a:ext cx="85" cy="44"/>
                </a:xfrm>
                <a:custGeom>
                  <a:avLst/>
                  <a:gdLst>
                    <a:gd name="T0" fmla="*/ 0 w 1022"/>
                    <a:gd name="T1" fmla="*/ 0 h 527"/>
                    <a:gd name="T2" fmla="*/ 0 w 1022"/>
                    <a:gd name="T3" fmla="*/ 0 h 527"/>
                    <a:gd name="T4" fmla="*/ 0 w 1022"/>
                    <a:gd name="T5" fmla="*/ 0 h 527"/>
                    <a:gd name="T6" fmla="*/ 0 w 1022"/>
                    <a:gd name="T7" fmla="*/ 0 h 527"/>
                    <a:gd name="T8" fmla="*/ 0 w 1022"/>
                    <a:gd name="T9" fmla="*/ 0 h 527"/>
                    <a:gd name="T10" fmla="*/ 0 w 1022"/>
                    <a:gd name="T11" fmla="*/ 0 h 527"/>
                    <a:gd name="T12" fmla="*/ 0 w 1022"/>
                    <a:gd name="T13" fmla="*/ 0 h 527"/>
                    <a:gd name="T14" fmla="*/ 0 w 1022"/>
                    <a:gd name="T15" fmla="*/ 0 h 527"/>
                    <a:gd name="T16" fmla="*/ 0 w 1022"/>
                    <a:gd name="T17" fmla="*/ 0 h 527"/>
                    <a:gd name="T18" fmla="*/ 0 w 1022"/>
                    <a:gd name="T19" fmla="*/ 0 h 527"/>
                    <a:gd name="T20" fmla="*/ 0 w 1022"/>
                    <a:gd name="T21" fmla="*/ 0 h 527"/>
                    <a:gd name="T22" fmla="*/ 0 w 1022"/>
                    <a:gd name="T23" fmla="*/ 0 h 527"/>
                    <a:gd name="T24" fmla="*/ 0 w 1022"/>
                    <a:gd name="T25" fmla="*/ 0 h 527"/>
                    <a:gd name="T26" fmla="*/ 0 w 1022"/>
                    <a:gd name="T27" fmla="*/ 0 h 5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2"/>
                    <a:gd name="T43" fmla="*/ 0 h 527"/>
                    <a:gd name="T44" fmla="*/ 1022 w 1022"/>
                    <a:gd name="T45" fmla="*/ 527 h 5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2" h="527">
                      <a:moveTo>
                        <a:pt x="119" y="0"/>
                      </a:moveTo>
                      <a:lnTo>
                        <a:pt x="0" y="11"/>
                      </a:lnTo>
                      <a:lnTo>
                        <a:pt x="0" y="83"/>
                      </a:lnTo>
                      <a:lnTo>
                        <a:pt x="65" y="179"/>
                      </a:lnTo>
                      <a:lnTo>
                        <a:pt x="939" y="523"/>
                      </a:lnTo>
                      <a:lnTo>
                        <a:pt x="958" y="527"/>
                      </a:lnTo>
                      <a:lnTo>
                        <a:pt x="975" y="523"/>
                      </a:lnTo>
                      <a:lnTo>
                        <a:pt x="990" y="505"/>
                      </a:lnTo>
                      <a:lnTo>
                        <a:pt x="1008" y="461"/>
                      </a:lnTo>
                      <a:lnTo>
                        <a:pt x="1017" y="428"/>
                      </a:lnTo>
                      <a:lnTo>
                        <a:pt x="1022" y="397"/>
                      </a:lnTo>
                      <a:lnTo>
                        <a:pt x="1013" y="365"/>
                      </a:lnTo>
                      <a:lnTo>
                        <a:pt x="993" y="345"/>
                      </a:lnTo>
                      <a:lnTo>
                        <a:pt x="119" y="0"/>
                      </a:lnTo>
                      <a:close/>
                    </a:path>
                  </a:pathLst>
                </a:custGeom>
                <a:solidFill>
                  <a:srgbClr val="606060"/>
                </a:solidFill>
                <a:ln w="1588">
                  <a:solidFill>
                    <a:srgbClr val="000000"/>
                  </a:solidFill>
                  <a:prstDash val="solid"/>
                  <a:round/>
                  <a:headEnd/>
                  <a:tailEnd/>
                </a:ln>
              </p:spPr>
              <p:txBody>
                <a:bodyPr/>
                <a:lstStyle/>
                <a:p>
                  <a:endParaRPr lang="en-US"/>
                </a:p>
              </p:txBody>
            </p:sp>
            <p:sp>
              <p:nvSpPr>
                <p:cNvPr id="214" name="Freeform 1476">
                  <a:extLst>
                    <a:ext uri="{FF2B5EF4-FFF2-40B4-BE49-F238E27FC236}">
                      <a16:creationId xmlns:a16="http://schemas.microsoft.com/office/drawing/2014/main" id="{D036857C-7FBC-45E9-92D9-D4921C7DBE73}"/>
                    </a:ext>
                  </a:extLst>
                </p:cNvPr>
                <p:cNvSpPr>
                  <a:spLocks/>
                </p:cNvSpPr>
                <p:nvPr/>
              </p:nvSpPr>
              <p:spPr bwMode="auto">
                <a:xfrm>
                  <a:off x="2900" y="3854"/>
                  <a:ext cx="122" cy="245"/>
                </a:xfrm>
                <a:custGeom>
                  <a:avLst/>
                  <a:gdLst>
                    <a:gd name="T0" fmla="*/ 0 w 1471"/>
                    <a:gd name="T1" fmla="*/ 0 h 2948"/>
                    <a:gd name="T2" fmla="*/ 0 w 1471"/>
                    <a:gd name="T3" fmla="*/ 0 h 2948"/>
                    <a:gd name="T4" fmla="*/ 0 w 1471"/>
                    <a:gd name="T5" fmla="*/ 0 h 2948"/>
                    <a:gd name="T6" fmla="*/ 0 w 1471"/>
                    <a:gd name="T7" fmla="*/ 0 h 2948"/>
                    <a:gd name="T8" fmla="*/ 0 w 1471"/>
                    <a:gd name="T9" fmla="*/ 0 h 2948"/>
                    <a:gd name="T10" fmla="*/ 0 w 1471"/>
                    <a:gd name="T11" fmla="*/ 0 h 2948"/>
                    <a:gd name="T12" fmla="*/ 0 w 1471"/>
                    <a:gd name="T13" fmla="*/ 0 h 2948"/>
                    <a:gd name="T14" fmla="*/ 0 w 1471"/>
                    <a:gd name="T15" fmla="*/ 0 h 2948"/>
                    <a:gd name="T16" fmla="*/ 0 w 1471"/>
                    <a:gd name="T17" fmla="*/ 0 h 2948"/>
                    <a:gd name="T18" fmla="*/ 0 w 1471"/>
                    <a:gd name="T19" fmla="*/ 0 h 2948"/>
                    <a:gd name="T20" fmla="*/ 0 w 1471"/>
                    <a:gd name="T21" fmla="*/ 0 h 2948"/>
                    <a:gd name="T22" fmla="*/ 0 w 1471"/>
                    <a:gd name="T23" fmla="*/ 0 h 2948"/>
                    <a:gd name="T24" fmla="*/ 0 w 1471"/>
                    <a:gd name="T25" fmla="*/ 0 h 2948"/>
                    <a:gd name="T26" fmla="*/ 0 w 1471"/>
                    <a:gd name="T27" fmla="*/ 0 h 2948"/>
                    <a:gd name="T28" fmla="*/ 0 w 1471"/>
                    <a:gd name="T29" fmla="*/ 0 h 2948"/>
                    <a:gd name="T30" fmla="*/ 0 w 1471"/>
                    <a:gd name="T31" fmla="*/ 0 h 2948"/>
                    <a:gd name="T32" fmla="*/ 0 w 1471"/>
                    <a:gd name="T33" fmla="*/ 0 h 2948"/>
                    <a:gd name="T34" fmla="*/ 0 w 1471"/>
                    <a:gd name="T35" fmla="*/ 0 h 2948"/>
                    <a:gd name="T36" fmla="*/ 0 w 1471"/>
                    <a:gd name="T37" fmla="*/ 0 h 2948"/>
                    <a:gd name="T38" fmla="*/ 0 w 1471"/>
                    <a:gd name="T39" fmla="*/ 0 h 2948"/>
                    <a:gd name="T40" fmla="*/ 0 w 1471"/>
                    <a:gd name="T41" fmla="*/ 0 h 2948"/>
                    <a:gd name="T42" fmla="*/ 0 w 1471"/>
                    <a:gd name="T43" fmla="*/ 0 h 2948"/>
                    <a:gd name="T44" fmla="*/ 0 w 1471"/>
                    <a:gd name="T45" fmla="*/ 0 h 2948"/>
                    <a:gd name="T46" fmla="*/ 0 w 1471"/>
                    <a:gd name="T47" fmla="*/ 0 h 2948"/>
                    <a:gd name="T48" fmla="*/ 0 w 1471"/>
                    <a:gd name="T49" fmla="*/ 0 h 2948"/>
                    <a:gd name="T50" fmla="*/ 0 w 1471"/>
                    <a:gd name="T51" fmla="*/ 0 h 2948"/>
                    <a:gd name="T52" fmla="*/ 0 w 1471"/>
                    <a:gd name="T53" fmla="*/ 0 h 2948"/>
                    <a:gd name="T54" fmla="*/ 0 w 1471"/>
                    <a:gd name="T55" fmla="*/ 0 h 2948"/>
                    <a:gd name="T56" fmla="*/ 0 w 1471"/>
                    <a:gd name="T57" fmla="*/ 0 h 2948"/>
                    <a:gd name="T58" fmla="*/ 0 w 1471"/>
                    <a:gd name="T59" fmla="*/ 0 h 2948"/>
                    <a:gd name="T60" fmla="*/ 0 w 1471"/>
                    <a:gd name="T61" fmla="*/ 0 h 2948"/>
                    <a:gd name="T62" fmla="*/ 0 w 1471"/>
                    <a:gd name="T63" fmla="*/ 0 h 2948"/>
                    <a:gd name="T64" fmla="*/ 0 w 1471"/>
                    <a:gd name="T65" fmla="*/ 0 h 2948"/>
                    <a:gd name="T66" fmla="*/ 0 w 1471"/>
                    <a:gd name="T67" fmla="*/ 0 h 2948"/>
                    <a:gd name="T68" fmla="*/ 0 w 1471"/>
                    <a:gd name="T69" fmla="*/ 0 h 2948"/>
                    <a:gd name="T70" fmla="*/ 0 w 1471"/>
                    <a:gd name="T71" fmla="*/ 0 h 2948"/>
                    <a:gd name="T72" fmla="*/ 0 w 1471"/>
                    <a:gd name="T73" fmla="*/ 0 h 2948"/>
                    <a:gd name="T74" fmla="*/ 0 w 1471"/>
                    <a:gd name="T75" fmla="*/ 0 h 2948"/>
                    <a:gd name="T76" fmla="*/ 0 w 1471"/>
                    <a:gd name="T77" fmla="*/ 0 h 2948"/>
                    <a:gd name="T78" fmla="*/ 0 w 1471"/>
                    <a:gd name="T79" fmla="*/ 0 h 2948"/>
                    <a:gd name="T80" fmla="*/ 0 w 1471"/>
                    <a:gd name="T81" fmla="*/ 0 h 2948"/>
                    <a:gd name="T82" fmla="*/ 0 w 1471"/>
                    <a:gd name="T83" fmla="*/ 0 h 2948"/>
                    <a:gd name="T84" fmla="*/ 0 w 1471"/>
                    <a:gd name="T85" fmla="*/ 0 h 2948"/>
                    <a:gd name="T86" fmla="*/ 0 w 1471"/>
                    <a:gd name="T87" fmla="*/ 0 h 2948"/>
                    <a:gd name="T88" fmla="*/ 0 w 1471"/>
                    <a:gd name="T89" fmla="*/ 0 h 2948"/>
                    <a:gd name="T90" fmla="*/ 0 w 1471"/>
                    <a:gd name="T91" fmla="*/ 0 h 2948"/>
                    <a:gd name="T92" fmla="*/ 0 w 1471"/>
                    <a:gd name="T93" fmla="*/ 0 h 2948"/>
                    <a:gd name="T94" fmla="*/ 0 w 1471"/>
                    <a:gd name="T95" fmla="*/ 0 h 2948"/>
                    <a:gd name="T96" fmla="*/ 0 w 1471"/>
                    <a:gd name="T97" fmla="*/ 0 h 2948"/>
                    <a:gd name="T98" fmla="*/ 0 w 1471"/>
                    <a:gd name="T99" fmla="*/ 0 h 2948"/>
                    <a:gd name="T100" fmla="*/ 0 w 1471"/>
                    <a:gd name="T101" fmla="*/ 0 h 2948"/>
                    <a:gd name="T102" fmla="*/ 0 w 1471"/>
                    <a:gd name="T103" fmla="*/ 0 h 2948"/>
                    <a:gd name="T104" fmla="*/ 0 w 1471"/>
                    <a:gd name="T105" fmla="*/ 0 h 2948"/>
                    <a:gd name="T106" fmla="*/ 0 w 1471"/>
                    <a:gd name="T107" fmla="*/ 0 h 2948"/>
                    <a:gd name="T108" fmla="*/ 0 w 1471"/>
                    <a:gd name="T109" fmla="*/ 0 h 2948"/>
                    <a:gd name="T110" fmla="*/ 0 w 1471"/>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1"/>
                    <a:gd name="T169" fmla="*/ 0 h 2948"/>
                    <a:gd name="T170" fmla="*/ 1471 w 1471"/>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1" h="2948">
                      <a:moveTo>
                        <a:pt x="1471" y="384"/>
                      </a:moveTo>
                      <a:lnTo>
                        <a:pt x="1468" y="353"/>
                      </a:lnTo>
                      <a:lnTo>
                        <a:pt x="1453" y="331"/>
                      </a:lnTo>
                      <a:lnTo>
                        <a:pt x="1431" y="306"/>
                      </a:lnTo>
                      <a:lnTo>
                        <a:pt x="1353" y="255"/>
                      </a:lnTo>
                      <a:lnTo>
                        <a:pt x="1003" y="61"/>
                      </a:lnTo>
                      <a:lnTo>
                        <a:pt x="953" y="37"/>
                      </a:lnTo>
                      <a:lnTo>
                        <a:pt x="921" y="22"/>
                      </a:lnTo>
                      <a:lnTo>
                        <a:pt x="881" y="10"/>
                      </a:lnTo>
                      <a:lnTo>
                        <a:pt x="857" y="3"/>
                      </a:lnTo>
                      <a:lnTo>
                        <a:pt x="821" y="0"/>
                      </a:lnTo>
                      <a:lnTo>
                        <a:pt x="787" y="3"/>
                      </a:lnTo>
                      <a:lnTo>
                        <a:pt x="763" y="5"/>
                      </a:lnTo>
                      <a:lnTo>
                        <a:pt x="727" y="16"/>
                      </a:lnTo>
                      <a:lnTo>
                        <a:pt x="691" y="32"/>
                      </a:lnTo>
                      <a:lnTo>
                        <a:pt x="659" y="53"/>
                      </a:lnTo>
                      <a:lnTo>
                        <a:pt x="626" y="74"/>
                      </a:lnTo>
                      <a:lnTo>
                        <a:pt x="594" y="95"/>
                      </a:lnTo>
                      <a:lnTo>
                        <a:pt x="559" y="120"/>
                      </a:lnTo>
                      <a:lnTo>
                        <a:pt x="525" y="153"/>
                      </a:lnTo>
                      <a:lnTo>
                        <a:pt x="506" y="175"/>
                      </a:lnTo>
                      <a:lnTo>
                        <a:pt x="490" y="200"/>
                      </a:lnTo>
                      <a:lnTo>
                        <a:pt x="478" y="238"/>
                      </a:lnTo>
                      <a:lnTo>
                        <a:pt x="10" y="2307"/>
                      </a:lnTo>
                      <a:lnTo>
                        <a:pt x="0" y="2349"/>
                      </a:lnTo>
                      <a:lnTo>
                        <a:pt x="0" y="2369"/>
                      </a:lnTo>
                      <a:lnTo>
                        <a:pt x="0" y="2396"/>
                      </a:lnTo>
                      <a:lnTo>
                        <a:pt x="1" y="2422"/>
                      </a:lnTo>
                      <a:lnTo>
                        <a:pt x="11" y="2465"/>
                      </a:lnTo>
                      <a:lnTo>
                        <a:pt x="18" y="2485"/>
                      </a:lnTo>
                      <a:lnTo>
                        <a:pt x="38" y="2518"/>
                      </a:lnTo>
                      <a:lnTo>
                        <a:pt x="50" y="2540"/>
                      </a:lnTo>
                      <a:lnTo>
                        <a:pt x="78" y="2571"/>
                      </a:lnTo>
                      <a:lnTo>
                        <a:pt x="110" y="2597"/>
                      </a:lnTo>
                      <a:lnTo>
                        <a:pt x="154" y="2627"/>
                      </a:lnTo>
                      <a:lnTo>
                        <a:pt x="189" y="2650"/>
                      </a:lnTo>
                      <a:lnTo>
                        <a:pt x="713" y="2948"/>
                      </a:lnTo>
                      <a:lnTo>
                        <a:pt x="704" y="2916"/>
                      </a:lnTo>
                      <a:lnTo>
                        <a:pt x="703" y="2885"/>
                      </a:lnTo>
                      <a:lnTo>
                        <a:pt x="709" y="2861"/>
                      </a:lnTo>
                      <a:lnTo>
                        <a:pt x="717" y="2833"/>
                      </a:lnTo>
                      <a:lnTo>
                        <a:pt x="731" y="2805"/>
                      </a:lnTo>
                      <a:lnTo>
                        <a:pt x="749" y="2783"/>
                      </a:lnTo>
                      <a:lnTo>
                        <a:pt x="774" y="2769"/>
                      </a:lnTo>
                      <a:lnTo>
                        <a:pt x="193" y="2432"/>
                      </a:lnTo>
                      <a:lnTo>
                        <a:pt x="174" y="2416"/>
                      </a:lnTo>
                      <a:lnTo>
                        <a:pt x="167" y="2407"/>
                      </a:lnTo>
                      <a:lnTo>
                        <a:pt x="161" y="2391"/>
                      </a:lnTo>
                      <a:lnTo>
                        <a:pt x="156" y="2359"/>
                      </a:lnTo>
                      <a:lnTo>
                        <a:pt x="156" y="2339"/>
                      </a:lnTo>
                      <a:lnTo>
                        <a:pt x="442" y="1110"/>
                      </a:lnTo>
                      <a:lnTo>
                        <a:pt x="471" y="1055"/>
                      </a:lnTo>
                      <a:lnTo>
                        <a:pt x="498" y="1024"/>
                      </a:lnTo>
                      <a:lnTo>
                        <a:pt x="544" y="976"/>
                      </a:lnTo>
                      <a:lnTo>
                        <a:pt x="579" y="941"/>
                      </a:lnTo>
                      <a:lnTo>
                        <a:pt x="1471" y="384"/>
                      </a:lnTo>
                      <a:close/>
                    </a:path>
                  </a:pathLst>
                </a:custGeom>
                <a:solidFill>
                  <a:srgbClr val="808080"/>
                </a:solidFill>
                <a:ln w="1588">
                  <a:solidFill>
                    <a:srgbClr val="000000"/>
                  </a:solidFill>
                  <a:prstDash val="solid"/>
                  <a:round/>
                  <a:headEnd/>
                  <a:tailEnd/>
                </a:ln>
              </p:spPr>
              <p:txBody>
                <a:bodyPr/>
                <a:lstStyle/>
                <a:p>
                  <a:endParaRPr lang="en-US"/>
                </a:p>
              </p:txBody>
            </p:sp>
            <p:sp>
              <p:nvSpPr>
                <p:cNvPr id="215" name="Freeform 1477">
                  <a:extLst>
                    <a:ext uri="{FF2B5EF4-FFF2-40B4-BE49-F238E27FC236}">
                      <a16:creationId xmlns:a16="http://schemas.microsoft.com/office/drawing/2014/main" id="{358067BF-C8FB-4EDC-952E-1A7BAD7E55C7}"/>
                    </a:ext>
                  </a:extLst>
                </p:cNvPr>
                <p:cNvSpPr>
                  <a:spLocks/>
                </p:cNvSpPr>
                <p:nvPr/>
              </p:nvSpPr>
              <p:spPr bwMode="auto">
                <a:xfrm>
                  <a:off x="2949" y="3858"/>
                  <a:ext cx="77" cy="109"/>
                </a:xfrm>
                <a:custGeom>
                  <a:avLst/>
                  <a:gdLst>
                    <a:gd name="T0" fmla="*/ 0 w 923"/>
                    <a:gd name="T1" fmla="*/ 0 h 1304"/>
                    <a:gd name="T2" fmla="*/ 0 w 923"/>
                    <a:gd name="T3" fmla="*/ 0 h 1304"/>
                    <a:gd name="T4" fmla="*/ 0 w 923"/>
                    <a:gd name="T5" fmla="*/ 0 h 1304"/>
                    <a:gd name="T6" fmla="*/ 0 w 923"/>
                    <a:gd name="T7" fmla="*/ 0 h 1304"/>
                    <a:gd name="T8" fmla="*/ 0 w 923"/>
                    <a:gd name="T9" fmla="*/ 0 h 1304"/>
                    <a:gd name="T10" fmla="*/ 0 w 923"/>
                    <a:gd name="T11" fmla="*/ 0 h 1304"/>
                    <a:gd name="T12" fmla="*/ 0 w 923"/>
                    <a:gd name="T13" fmla="*/ 0 h 1304"/>
                    <a:gd name="T14" fmla="*/ 0 w 923"/>
                    <a:gd name="T15" fmla="*/ 0 h 1304"/>
                    <a:gd name="T16" fmla="*/ 0 w 923"/>
                    <a:gd name="T17" fmla="*/ 0 h 1304"/>
                    <a:gd name="T18" fmla="*/ 0 w 923"/>
                    <a:gd name="T19" fmla="*/ 0 h 1304"/>
                    <a:gd name="T20" fmla="*/ 0 w 923"/>
                    <a:gd name="T21" fmla="*/ 0 h 1304"/>
                    <a:gd name="T22" fmla="*/ 0 w 923"/>
                    <a:gd name="T23" fmla="*/ 0 h 1304"/>
                    <a:gd name="T24" fmla="*/ 0 w 923"/>
                    <a:gd name="T25" fmla="*/ 0 h 1304"/>
                    <a:gd name="T26" fmla="*/ 0 w 923"/>
                    <a:gd name="T27" fmla="*/ 0 h 1304"/>
                    <a:gd name="T28" fmla="*/ 0 w 923"/>
                    <a:gd name="T29" fmla="*/ 0 h 1304"/>
                    <a:gd name="T30" fmla="*/ 0 w 923"/>
                    <a:gd name="T31" fmla="*/ 0 h 1304"/>
                    <a:gd name="T32" fmla="*/ 0 w 923"/>
                    <a:gd name="T33" fmla="*/ 0 h 1304"/>
                    <a:gd name="T34" fmla="*/ 0 w 923"/>
                    <a:gd name="T35" fmla="*/ 0 h 1304"/>
                    <a:gd name="T36" fmla="*/ 0 w 923"/>
                    <a:gd name="T37" fmla="*/ 0 h 1304"/>
                    <a:gd name="T38" fmla="*/ 0 w 923"/>
                    <a:gd name="T39" fmla="*/ 0 h 1304"/>
                    <a:gd name="T40" fmla="*/ 0 w 923"/>
                    <a:gd name="T41" fmla="*/ 0 h 1304"/>
                    <a:gd name="T42" fmla="*/ 0 w 923"/>
                    <a:gd name="T43" fmla="*/ 0 h 1304"/>
                    <a:gd name="T44" fmla="*/ 0 w 923"/>
                    <a:gd name="T45" fmla="*/ 0 h 1304"/>
                    <a:gd name="T46" fmla="*/ 0 w 923"/>
                    <a:gd name="T47" fmla="*/ 0 h 1304"/>
                    <a:gd name="T48" fmla="*/ 0 w 923"/>
                    <a:gd name="T49" fmla="*/ 0 h 1304"/>
                    <a:gd name="T50" fmla="*/ 0 w 923"/>
                    <a:gd name="T51" fmla="*/ 0 h 1304"/>
                    <a:gd name="T52" fmla="*/ 0 w 923"/>
                    <a:gd name="T53" fmla="*/ 0 h 1304"/>
                    <a:gd name="T54" fmla="*/ 0 w 923"/>
                    <a:gd name="T55" fmla="*/ 0 h 1304"/>
                    <a:gd name="T56" fmla="*/ 0 w 923"/>
                    <a:gd name="T57" fmla="*/ 0 h 1304"/>
                    <a:gd name="T58" fmla="*/ 0 w 923"/>
                    <a:gd name="T59" fmla="*/ 0 h 1304"/>
                    <a:gd name="T60" fmla="*/ 0 w 923"/>
                    <a:gd name="T61" fmla="*/ 0 h 1304"/>
                    <a:gd name="T62" fmla="*/ 0 w 923"/>
                    <a:gd name="T63" fmla="*/ 0 h 1304"/>
                    <a:gd name="T64" fmla="*/ 0 w 923"/>
                    <a:gd name="T65" fmla="*/ 0 h 1304"/>
                    <a:gd name="T66" fmla="*/ 0 w 923"/>
                    <a:gd name="T67" fmla="*/ 0 h 1304"/>
                    <a:gd name="T68" fmla="*/ 0 w 923"/>
                    <a:gd name="T69" fmla="*/ 0 h 1304"/>
                    <a:gd name="T70" fmla="*/ 0 w 923"/>
                    <a:gd name="T71" fmla="*/ 0 h 1304"/>
                    <a:gd name="T72" fmla="*/ 0 w 923"/>
                    <a:gd name="T73" fmla="*/ 0 h 1304"/>
                    <a:gd name="T74" fmla="*/ 0 w 923"/>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3"/>
                    <a:gd name="T115" fmla="*/ 0 h 1304"/>
                    <a:gd name="T116" fmla="*/ 923 w 923"/>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3" h="1304">
                      <a:moveTo>
                        <a:pt x="893" y="352"/>
                      </a:moveTo>
                      <a:lnTo>
                        <a:pt x="863" y="316"/>
                      </a:lnTo>
                      <a:lnTo>
                        <a:pt x="817" y="278"/>
                      </a:lnTo>
                      <a:lnTo>
                        <a:pt x="751" y="242"/>
                      </a:lnTo>
                      <a:lnTo>
                        <a:pt x="582" y="149"/>
                      </a:lnTo>
                      <a:lnTo>
                        <a:pt x="398" y="54"/>
                      </a:lnTo>
                      <a:lnTo>
                        <a:pt x="333" y="22"/>
                      </a:lnTo>
                      <a:lnTo>
                        <a:pt x="288" y="7"/>
                      </a:lnTo>
                      <a:lnTo>
                        <a:pt x="254" y="0"/>
                      </a:lnTo>
                      <a:lnTo>
                        <a:pt x="227" y="0"/>
                      </a:lnTo>
                      <a:lnTo>
                        <a:pt x="204" y="6"/>
                      </a:lnTo>
                      <a:lnTo>
                        <a:pt x="181" y="22"/>
                      </a:lnTo>
                      <a:lnTo>
                        <a:pt x="163" y="42"/>
                      </a:lnTo>
                      <a:lnTo>
                        <a:pt x="147" y="77"/>
                      </a:lnTo>
                      <a:lnTo>
                        <a:pt x="0" y="834"/>
                      </a:lnTo>
                      <a:lnTo>
                        <a:pt x="0" y="866"/>
                      </a:lnTo>
                      <a:lnTo>
                        <a:pt x="0" y="907"/>
                      </a:lnTo>
                      <a:lnTo>
                        <a:pt x="6" y="937"/>
                      </a:lnTo>
                      <a:lnTo>
                        <a:pt x="16" y="958"/>
                      </a:lnTo>
                      <a:lnTo>
                        <a:pt x="29" y="978"/>
                      </a:lnTo>
                      <a:lnTo>
                        <a:pt x="57" y="1005"/>
                      </a:lnTo>
                      <a:lnTo>
                        <a:pt x="84" y="1023"/>
                      </a:lnTo>
                      <a:lnTo>
                        <a:pt x="117" y="1041"/>
                      </a:lnTo>
                      <a:lnTo>
                        <a:pt x="555" y="1268"/>
                      </a:lnTo>
                      <a:lnTo>
                        <a:pt x="596" y="1285"/>
                      </a:lnTo>
                      <a:lnTo>
                        <a:pt x="633" y="1296"/>
                      </a:lnTo>
                      <a:lnTo>
                        <a:pt x="674" y="1304"/>
                      </a:lnTo>
                      <a:lnTo>
                        <a:pt x="702" y="1304"/>
                      </a:lnTo>
                      <a:lnTo>
                        <a:pt x="730" y="1296"/>
                      </a:lnTo>
                      <a:lnTo>
                        <a:pt x="751" y="1269"/>
                      </a:lnTo>
                      <a:lnTo>
                        <a:pt x="763" y="1222"/>
                      </a:lnTo>
                      <a:lnTo>
                        <a:pt x="780" y="1163"/>
                      </a:lnTo>
                      <a:lnTo>
                        <a:pt x="855" y="834"/>
                      </a:lnTo>
                      <a:lnTo>
                        <a:pt x="911" y="508"/>
                      </a:lnTo>
                      <a:lnTo>
                        <a:pt x="923" y="432"/>
                      </a:lnTo>
                      <a:lnTo>
                        <a:pt x="921" y="404"/>
                      </a:lnTo>
                      <a:lnTo>
                        <a:pt x="912" y="380"/>
                      </a:lnTo>
                      <a:lnTo>
                        <a:pt x="893" y="352"/>
                      </a:lnTo>
                      <a:close/>
                    </a:path>
                  </a:pathLst>
                </a:custGeom>
                <a:solidFill>
                  <a:srgbClr val="606060"/>
                </a:solidFill>
                <a:ln w="1588">
                  <a:solidFill>
                    <a:srgbClr val="000000"/>
                  </a:solidFill>
                  <a:prstDash val="solid"/>
                  <a:round/>
                  <a:headEnd/>
                  <a:tailEnd/>
                </a:ln>
              </p:spPr>
              <p:txBody>
                <a:bodyPr/>
                <a:lstStyle/>
                <a:p>
                  <a:endParaRPr lang="en-US"/>
                </a:p>
              </p:txBody>
            </p:sp>
            <p:sp>
              <p:nvSpPr>
                <p:cNvPr id="216" name="Freeform 1478">
                  <a:extLst>
                    <a:ext uri="{FF2B5EF4-FFF2-40B4-BE49-F238E27FC236}">
                      <a16:creationId xmlns:a16="http://schemas.microsoft.com/office/drawing/2014/main" id="{D8050CD5-E00C-4E63-A02F-DD62713EACF8}"/>
                    </a:ext>
                  </a:extLst>
                </p:cNvPr>
                <p:cNvSpPr>
                  <a:spLocks/>
                </p:cNvSpPr>
                <p:nvPr/>
              </p:nvSpPr>
              <p:spPr bwMode="auto">
                <a:xfrm>
                  <a:off x="2908" y="3931"/>
                  <a:ext cx="101" cy="142"/>
                </a:xfrm>
                <a:custGeom>
                  <a:avLst/>
                  <a:gdLst>
                    <a:gd name="T0" fmla="*/ 0 w 1208"/>
                    <a:gd name="T1" fmla="*/ 0 h 1702"/>
                    <a:gd name="T2" fmla="*/ 0 w 1208"/>
                    <a:gd name="T3" fmla="*/ 0 h 1702"/>
                    <a:gd name="T4" fmla="*/ 0 w 1208"/>
                    <a:gd name="T5" fmla="*/ 0 h 1702"/>
                    <a:gd name="T6" fmla="*/ 0 w 1208"/>
                    <a:gd name="T7" fmla="*/ 0 h 1702"/>
                    <a:gd name="T8" fmla="*/ 0 w 1208"/>
                    <a:gd name="T9" fmla="*/ 0 h 1702"/>
                    <a:gd name="T10" fmla="*/ 0 w 1208"/>
                    <a:gd name="T11" fmla="*/ 0 h 1702"/>
                    <a:gd name="T12" fmla="*/ 0 w 1208"/>
                    <a:gd name="T13" fmla="*/ 0 h 1702"/>
                    <a:gd name="T14" fmla="*/ 0 w 1208"/>
                    <a:gd name="T15" fmla="*/ 0 h 1702"/>
                    <a:gd name="T16" fmla="*/ 0 w 1208"/>
                    <a:gd name="T17" fmla="*/ 0 h 1702"/>
                    <a:gd name="T18" fmla="*/ 0 w 1208"/>
                    <a:gd name="T19" fmla="*/ 0 h 1702"/>
                    <a:gd name="T20" fmla="*/ 0 w 1208"/>
                    <a:gd name="T21" fmla="*/ 0 h 1702"/>
                    <a:gd name="T22" fmla="*/ 0 w 1208"/>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08"/>
                    <a:gd name="T37" fmla="*/ 0 h 1702"/>
                    <a:gd name="T38" fmla="*/ 1208 w 1208"/>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08" h="1702">
                      <a:moveTo>
                        <a:pt x="1203" y="431"/>
                      </a:moveTo>
                      <a:lnTo>
                        <a:pt x="1208" y="425"/>
                      </a:lnTo>
                      <a:lnTo>
                        <a:pt x="1150" y="451"/>
                      </a:lnTo>
                      <a:lnTo>
                        <a:pt x="1112" y="467"/>
                      </a:lnTo>
                      <a:lnTo>
                        <a:pt x="1094" y="478"/>
                      </a:lnTo>
                      <a:lnTo>
                        <a:pt x="1067" y="511"/>
                      </a:lnTo>
                      <a:lnTo>
                        <a:pt x="1047" y="552"/>
                      </a:lnTo>
                      <a:lnTo>
                        <a:pt x="768" y="1702"/>
                      </a:lnTo>
                      <a:lnTo>
                        <a:pt x="0" y="1429"/>
                      </a:lnTo>
                      <a:lnTo>
                        <a:pt x="312" y="31"/>
                      </a:lnTo>
                      <a:lnTo>
                        <a:pt x="478" y="0"/>
                      </a:lnTo>
                      <a:lnTo>
                        <a:pt x="1203"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217" name="Group 1479">
                  <a:extLst>
                    <a:ext uri="{FF2B5EF4-FFF2-40B4-BE49-F238E27FC236}">
                      <a16:creationId xmlns:a16="http://schemas.microsoft.com/office/drawing/2014/main" id="{A7AF172B-D9C6-44A4-90F2-60A8E75629F9}"/>
                    </a:ext>
                  </a:extLst>
                </p:cNvPr>
                <p:cNvGrpSpPr>
                  <a:grpSpLocks/>
                </p:cNvGrpSpPr>
                <p:nvPr/>
              </p:nvGrpSpPr>
              <p:grpSpPr bwMode="auto">
                <a:xfrm>
                  <a:off x="2965" y="3881"/>
                  <a:ext cx="52" cy="60"/>
                  <a:chOff x="2965" y="3881"/>
                  <a:chExt cx="52" cy="60"/>
                </a:xfrm>
              </p:grpSpPr>
              <p:sp>
                <p:nvSpPr>
                  <p:cNvPr id="237" name="Oval 1480">
                    <a:extLst>
                      <a:ext uri="{FF2B5EF4-FFF2-40B4-BE49-F238E27FC236}">
                        <a16:creationId xmlns:a16="http://schemas.microsoft.com/office/drawing/2014/main" id="{C7729E97-B0DE-45C0-BDA6-2430FCDDC90A}"/>
                      </a:ext>
                    </a:extLst>
                  </p:cNvPr>
                  <p:cNvSpPr>
                    <a:spLocks noChangeArrowheads="1"/>
                  </p:cNvSpPr>
                  <p:nvPr/>
                </p:nvSpPr>
                <p:spPr bwMode="auto">
                  <a:xfrm>
                    <a:off x="2965" y="3881"/>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238" name="Group 1481">
                    <a:extLst>
                      <a:ext uri="{FF2B5EF4-FFF2-40B4-BE49-F238E27FC236}">
                        <a16:creationId xmlns:a16="http://schemas.microsoft.com/office/drawing/2014/main" id="{43AA17B5-D6C2-47C2-8CE2-599B881AB3D0}"/>
                      </a:ext>
                    </a:extLst>
                  </p:cNvPr>
                  <p:cNvGrpSpPr>
                    <a:grpSpLocks/>
                  </p:cNvGrpSpPr>
                  <p:nvPr/>
                </p:nvGrpSpPr>
                <p:grpSpPr bwMode="auto">
                  <a:xfrm>
                    <a:off x="2978" y="3891"/>
                    <a:ext cx="28" cy="40"/>
                    <a:chOff x="2978" y="3891"/>
                    <a:chExt cx="28" cy="40"/>
                  </a:xfrm>
                </p:grpSpPr>
                <p:sp>
                  <p:nvSpPr>
                    <p:cNvPr id="239" name="Oval 1482">
                      <a:extLst>
                        <a:ext uri="{FF2B5EF4-FFF2-40B4-BE49-F238E27FC236}">
                          <a16:creationId xmlns:a16="http://schemas.microsoft.com/office/drawing/2014/main" id="{07AFCD4F-C399-4942-AA52-700033B38690}"/>
                        </a:ext>
                      </a:extLst>
                    </p:cNvPr>
                    <p:cNvSpPr>
                      <a:spLocks noChangeArrowheads="1"/>
                    </p:cNvSpPr>
                    <p:nvPr/>
                  </p:nvSpPr>
                  <p:spPr bwMode="auto">
                    <a:xfrm>
                      <a:off x="2991" y="3909"/>
                      <a:ext cx="2"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0" name="Oval 1483">
                      <a:extLst>
                        <a:ext uri="{FF2B5EF4-FFF2-40B4-BE49-F238E27FC236}">
                          <a16:creationId xmlns:a16="http://schemas.microsoft.com/office/drawing/2014/main" id="{6361DD21-A7A1-4C78-A77C-7B706E6C0ABC}"/>
                        </a:ext>
                      </a:extLst>
                    </p:cNvPr>
                    <p:cNvSpPr>
                      <a:spLocks noChangeArrowheads="1"/>
                    </p:cNvSpPr>
                    <p:nvPr/>
                  </p:nvSpPr>
                  <p:spPr bwMode="auto">
                    <a:xfrm>
                      <a:off x="3001" y="391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1" name="Oval 1484">
                      <a:extLst>
                        <a:ext uri="{FF2B5EF4-FFF2-40B4-BE49-F238E27FC236}">
                          <a16:creationId xmlns:a16="http://schemas.microsoft.com/office/drawing/2014/main" id="{7E8F275F-4196-44F0-9C86-E4BBD39E5F87}"/>
                        </a:ext>
                      </a:extLst>
                    </p:cNvPr>
                    <p:cNvSpPr>
                      <a:spLocks noChangeArrowheads="1"/>
                    </p:cNvSpPr>
                    <p:nvPr/>
                  </p:nvSpPr>
                  <p:spPr bwMode="auto">
                    <a:xfrm>
                      <a:off x="2978" y="3919"/>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2" name="Oval 1485">
                      <a:extLst>
                        <a:ext uri="{FF2B5EF4-FFF2-40B4-BE49-F238E27FC236}">
                          <a16:creationId xmlns:a16="http://schemas.microsoft.com/office/drawing/2014/main" id="{D9D30752-E7FD-44CA-B893-F28E641B0A27}"/>
                        </a:ext>
                      </a:extLst>
                    </p:cNvPr>
                    <p:cNvSpPr>
                      <a:spLocks noChangeArrowheads="1"/>
                    </p:cNvSpPr>
                    <p:nvPr/>
                  </p:nvSpPr>
                  <p:spPr bwMode="auto">
                    <a:xfrm>
                      <a:off x="2987" y="392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3" name="Oval 1486">
                      <a:extLst>
                        <a:ext uri="{FF2B5EF4-FFF2-40B4-BE49-F238E27FC236}">
                          <a16:creationId xmlns:a16="http://schemas.microsoft.com/office/drawing/2014/main" id="{10B15D8D-3D82-4124-8CA9-360C6AFD36FF}"/>
                        </a:ext>
                      </a:extLst>
                    </p:cNvPr>
                    <p:cNvSpPr>
                      <a:spLocks noChangeArrowheads="1"/>
                    </p:cNvSpPr>
                    <p:nvPr/>
                  </p:nvSpPr>
                  <p:spPr bwMode="auto">
                    <a:xfrm>
                      <a:off x="2998" y="3927"/>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4" name="Oval 1487">
                      <a:extLst>
                        <a:ext uri="{FF2B5EF4-FFF2-40B4-BE49-F238E27FC236}">
                          <a16:creationId xmlns:a16="http://schemas.microsoft.com/office/drawing/2014/main" id="{1DBE44DF-F42E-4E0F-9C6C-0DE201DE55F0}"/>
                        </a:ext>
                      </a:extLst>
                    </p:cNvPr>
                    <p:cNvSpPr>
                      <a:spLocks noChangeArrowheads="1"/>
                    </p:cNvSpPr>
                    <p:nvPr/>
                  </p:nvSpPr>
                  <p:spPr bwMode="auto">
                    <a:xfrm>
                      <a:off x="2984" y="3913"/>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5" name="Oval 1488">
                      <a:extLst>
                        <a:ext uri="{FF2B5EF4-FFF2-40B4-BE49-F238E27FC236}">
                          <a16:creationId xmlns:a16="http://schemas.microsoft.com/office/drawing/2014/main" id="{A763C9AA-80F7-4B5D-8579-641B9BC4155E}"/>
                        </a:ext>
                      </a:extLst>
                    </p:cNvPr>
                    <p:cNvSpPr>
                      <a:spLocks noChangeArrowheads="1"/>
                    </p:cNvSpPr>
                    <p:nvPr/>
                  </p:nvSpPr>
                  <p:spPr bwMode="auto">
                    <a:xfrm>
                      <a:off x="2993" y="391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6" name="Oval 1489">
                      <a:extLst>
                        <a:ext uri="{FF2B5EF4-FFF2-40B4-BE49-F238E27FC236}">
                          <a16:creationId xmlns:a16="http://schemas.microsoft.com/office/drawing/2014/main" id="{498826E7-4BFE-4CEC-B3D3-2F1A9CCA28E2}"/>
                        </a:ext>
                      </a:extLst>
                    </p:cNvPr>
                    <p:cNvSpPr>
                      <a:spLocks noChangeArrowheads="1"/>
                    </p:cNvSpPr>
                    <p:nvPr/>
                  </p:nvSpPr>
                  <p:spPr bwMode="auto">
                    <a:xfrm>
                      <a:off x="2983" y="3891"/>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7" name="Oval 1490">
                      <a:extLst>
                        <a:ext uri="{FF2B5EF4-FFF2-40B4-BE49-F238E27FC236}">
                          <a16:creationId xmlns:a16="http://schemas.microsoft.com/office/drawing/2014/main" id="{95C704EC-6C96-4DD5-BA3C-F36411102334}"/>
                        </a:ext>
                      </a:extLst>
                    </p:cNvPr>
                    <p:cNvSpPr>
                      <a:spLocks noChangeArrowheads="1"/>
                    </p:cNvSpPr>
                    <p:nvPr/>
                  </p:nvSpPr>
                  <p:spPr bwMode="auto">
                    <a:xfrm>
                      <a:off x="2993" y="3895"/>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8" name="Oval 1491">
                      <a:extLst>
                        <a:ext uri="{FF2B5EF4-FFF2-40B4-BE49-F238E27FC236}">
                          <a16:creationId xmlns:a16="http://schemas.microsoft.com/office/drawing/2014/main" id="{533C8ECC-85D5-4D3A-8131-1587239499A4}"/>
                        </a:ext>
                      </a:extLst>
                    </p:cNvPr>
                    <p:cNvSpPr>
                      <a:spLocks noChangeArrowheads="1"/>
                    </p:cNvSpPr>
                    <p:nvPr/>
                  </p:nvSpPr>
                  <p:spPr bwMode="auto">
                    <a:xfrm>
                      <a:off x="3003" y="3899"/>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49" name="Oval 1492">
                      <a:extLst>
                        <a:ext uri="{FF2B5EF4-FFF2-40B4-BE49-F238E27FC236}">
                          <a16:creationId xmlns:a16="http://schemas.microsoft.com/office/drawing/2014/main" id="{2FF32E1A-0843-4020-9B0B-8D249A06728F}"/>
                        </a:ext>
                      </a:extLst>
                    </p:cNvPr>
                    <p:cNvSpPr>
                      <a:spLocks noChangeArrowheads="1"/>
                    </p:cNvSpPr>
                    <p:nvPr/>
                  </p:nvSpPr>
                  <p:spPr bwMode="auto">
                    <a:xfrm>
                      <a:off x="2980" y="3905"/>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50" name="Oval 1493">
                      <a:extLst>
                        <a:ext uri="{FF2B5EF4-FFF2-40B4-BE49-F238E27FC236}">
                          <a16:creationId xmlns:a16="http://schemas.microsoft.com/office/drawing/2014/main" id="{CF72C40B-CE26-4D60-935B-D3B1921496FD}"/>
                        </a:ext>
                      </a:extLst>
                    </p:cNvPr>
                    <p:cNvSpPr>
                      <a:spLocks noChangeArrowheads="1"/>
                    </p:cNvSpPr>
                    <p:nvPr/>
                  </p:nvSpPr>
                  <p:spPr bwMode="auto">
                    <a:xfrm>
                      <a:off x="2986" y="3900"/>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51" name="Oval 1494">
                      <a:extLst>
                        <a:ext uri="{FF2B5EF4-FFF2-40B4-BE49-F238E27FC236}">
                          <a16:creationId xmlns:a16="http://schemas.microsoft.com/office/drawing/2014/main" id="{9381366D-0BA5-4AAA-AE97-4F2AA0A03D56}"/>
                        </a:ext>
                      </a:extLst>
                    </p:cNvPr>
                    <p:cNvSpPr>
                      <a:spLocks noChangeArrowheads="1"/>
                    </p:cNvSpPr>
                    <p:nvPr/>
                  </p:nvSpPr>
                  <p:spPr bwMode="auto">
                    <a:xfrm>
                      <a:off x="2997" y="3903"/>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218" name="Group 1495">
                  <a:extLst>
                    <a:ext uri="{FF2B5EF4-FFF2-40B4-BE49-F238E27FC236}">
                      <a16:creationId xmlns:a16="http://schemas.microsoft.com/office/drawing/2014/main" id="{46A491C6-D045-4573-8538-73181126895E}"/>
                    </a:ext>
                  </a:extLst>
                </p:cNvPr>
                <p:cNvGrpSpPr>
                  <a:grpSpLocks/>
                </p:cNvGrpSpPr>
                <p:nvPr/>
              </p:nvGrpSpPr>
              <p:grpSpPr bwMode="auto">
                <a:xfrm>
                  <a:off x="2925" y="3952"/>
                  <a:ext cx="67" cy="111"/>
                  <a:chOff x="2925" y="3952"/>
                  <a:chExt cx="67" cy="111"/>
                </a:xfrm>
              </p:grpSpPr>
              <p:sp>
                <p:nvSpPr>
                  <p:cNvPr id="219" name="Oval 1496">
                    <a:extLst>
                      <a:ext uri="{FF2B5EF4-FFF2-40B4-BE49-F238E27FC236}">
                        <a16:creationId xmlns:a16="http://schemas.microsoft.com/office/drawing/2014/main" id="{A2DFA44B-FEA9-47C3-AE57-AFA5C901CAA9}"/>
                      </a:ext>
                    </a:extLst>
                  </p:cNvPr>
                  <p:cNvSpPr>
                    <a:spLocks noChangeArrowheads="1"/>
                  </p:cNvSpPr>
                  <p:nvPr/>
                </p:nvSpPr>
                <p:spPr bwMode="auto">
                  <a:xfrm>
                    <a:off x="2959" y="404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0" name="Oval 1497">
                    <a:extLst>
                      <a:ext uri="{FF2B5EF4-FFF2-40B4-BE49-F238E27FC236}">
                        <a16:creationId xmlns:a16="http://schemas.microsoft.com/office/drawing/2014/main" id="{A119FC4C-BA79-4171-AC27-FCA4B83FF7E1}"/>
                      </a:ext>
                    </a:extLst>
                  </p:cNvPr>
                  <p:cNvSpPr>
                    <a:spLocks noChangeArrowheads="1"/>
                  </p:cNvSpPr>
                  <p:nvPr/>
                </p:nvSpPr>
                <p:spPr bwMode="auto">
                  <a:xfrm>
                    <a:off x="2945" y="395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1" name="Oval 1498">
                    <a:extLst>
                      <a:ext uri="{FF2B5EF4-FFF2-40B4-BE49-F238E27FC236}">
                        <a16:creationId xmlns:a16="http://schemas.microsoft.com/office/drawing/2014/main" id="{48420F62-536C-4842-A5A7-9918DC4E03CC}"/>
                      </a:ext>
                    </a:extLst>
                  </p:cNvPr>
                  <p:cNvSpPr>
                    <a:spLocks noChangeArrowheads="1"/>
                  </p:cNvSpPr>
                  <p:nvPr/>
                </p:nvSpPr>
                <p:spPr bwMode="auto">
                  <a:xfrm>
                    <a:off x="2962" y="3960"/>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2" name="Oval 1499">
                    <a:extLst>
                      <a:ext uri="{FF2B5EF4-FFF2-40B4-BE49-F238E27FC236}">
                        <a16:creationId xmlns:a16="http://schemas.microsoft.com/office/drawing/2014/main" id="{C8B803FB-47AA-4B8B-9F80-C02AA5064F04}"/>
                      </a:ext>
                    </a:extLst>
                  </p:cNvPr>
                  <p:cNvSpPr>
                    <a:spLocks noChangeArrowheads="1"/>
                  </p:cNvSpPr>
                  <p:nvPr/>
                </p:nvSpPr>
                <p:spPr bwMode="auto">
                  <a:xfrm>
                    <a:off x="2979" y="3967"/>
                    <a:ext cx="13"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3" name="Oval 1500">
                    <a:extLst>
                      <a:ext uri="{FF2B5EF4-FFF2-40B4-BE49-F238E27FC236}">
                        <a16:creationId xmlns:a16="http://schemas.microsoft.com/office/drawing/2014/main" id="{C692F467-331F-4CEC-A7C5-9097A67928FB}"/>
                      </a:ext>
                    </a:extLst>
                  </p:cNvPr>
                  <p:cNvSpPr>
                    <a:spLocks noChangeArrowheads="1"/>
                  </p:cNvSpPr>
                  <p:nvPr/>
                </p:nvSpPr>
                <p:spPr bwMode="auto">
                  <a:xfrm>
                    <a:off x="2941" y="3969"/>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4" name="Oval 1501">
                    <a:extLst>
                      <a:ext uri="{FF2B5EF4-FFF2-40B4-BE49-F238E27FC236}">
                        <a16:creationId xmlns:a16="http://schemas.microsoft.com/office/drawing/2014/main" id="{7706C87F-F7D9-4A3B-ABD3-455A211E8DEB}"/>
                      </a:ext>
                    </a:extLst>
                  </p:cNvPr>
                  <p:cNvSpPr>
                    <a:spLocks noChangeArrowheads="1"/>
                  </p:cNvSpPr>
                  <p:nvPr/>
                </p:nvSpPr>
                <p:spPr bwMode="auto">
                  <a:xfrm>
                    <a:off x="2958" y="3976"/>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5" name="Oval 1502">
                    <a:extLst>
                      <a:ext uri="{FF2B5EF4-FFF2-40B4-BE49-F238E27FC236}">
                        <a16:creationId xmlns:a16="http://schemas.microsoft.com/office/drawing/2014/main" id="{869CC569-FCA6-480E-89D5-DF8474D5E2E9}"/>
                      </a:ext>
                    </a:extLst>
                  </p:cNvPr>
                  <p:cNvSpPr>
                    <a:spLocks noChangeArrowheads="1"/>
                  </p:cNvSpPr>
                  <p:nvPr/>
                </p:nvSpPr>
                <p:spPr bwMode="auto">
                  <a:xfrm>
                    <a:off x="2975" y="3983"/>
                    <a:ext cx="13"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6" name="Oval 1503">
                    <a:extLst>
                      <a:ext uri="{FF2B5EF4-FFF2-40B4-BE49-F238E27FC236}">
                        <a16:creationId xmlns:a16="http://schemas.microsoft.com/office/drawing/2014/main" id="{76A375B6-67B8-4BB8-B2A0-3CC50C0A8FB0}"/>
                      </a:ext>
                    </a:extLst>
                  </p:cNvPr>
                  <p:cNvSpPr>
                    <a:spLocks noChangeArrowheads="1"/>
                  </p:cNvSpPr>
                  <p:nvPr/>
                </p:nvSpPr>
                <p:spPr bwMode="auto">
                  <a:xfrm>
                    <a:off x="2936" y="398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7" name="Oval 1504">
                    <a:extLst>
                      <a:ext uri="{FF2B5EF4-FFF2-40B4-BE49-F238E27FC236}">
                        <a16:creationId xmlns:a16="http://schemas.microsoft.com/office/drawing/2014/main" id="{FA0BC268-67CA-4A0E-8958-EAACE4D753C8}"/>
                      </a:ext>
                    </a:extLst>
                  </p:cNvPr>
                  <p:cNvSpPr>
                    <a:spLocks noChangeArrowheads="1"/>
                  </p:cNvSpPr>
                  <p:nvPr/>
                </p:nvSpPr>
                <p:spPr bwMode="auto">
                  <a:xfrm>
                    <a:off x="2954" y="399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8" name="Oval 1505">
                    <a:extLst>
                      <a:ext uri="{FF2B5EF4-FFF2-40B4-BE49-F238E27FC236}">
                        <a16:creationId xmlns:a16="http://schemas.microsoft.com/office/drawing/2014/main" id="{E51496C6-2D89-443C-B5E2-84FDDFE16F5A}"/>
                      </a:ext>
                    </a:extLst>
                  </p:cNvPr>
                  <p:cNvSpPr>
                    <a:spLocks noChangeArrowheads="1"/>
                  </p:cNvSpPr>
                  <p:nvPr/>
                </p:nvSpPr>
                <p:spPr bwMode="auto">
                  <a:xfrm>
                    <a:off x="2970" y="3999"/>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29" name="Oval 1506">
                    <a:extLst>
                      <a:ext uri="{FF2B5EF4-FFF2-40B4-BE49-F238E27FC236}">
                        <a16:creationId xmlns:a16="http://schemas.microsoft.com/office/drawing/2014/main" id="{D1D7779B-E46E-4A48-8B6F-A400AA68D225}"/>
                      </a:ext>
                    </a:extLst>
                  </p:cNvPr>
                  <p:cNvSpPr>
                    <a:spLocks noChangeArrowheads="1"/>
                  </p:cNvSpPr>
                  <p:nvPr/>
                </p:nvSpPr>
                <p:spPr bwMode="auto">
                  <a:xfrm>
                    <a:off x="2932" y="400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30" name="Oval 1507">
                    <a:extLst>
                      <a:ext uri="{FF2B5EF4-FFF2-40B4-BE49-F238E27FC236}">
                        <a16:creationId xmlns:a16="http://schemas.microsoft.com/office/drawing/2014/main" id="{FC236AC2-BB7E-4349-9EFE-220ED60993B5}"/>
                      </a:ext>
                    </a:extLst>
                  </p:cNvPr>
                  <p:cNvSpPr>
                    <a:spLocks noChangeArrowheads="1"/>
                  </p:cNvSpPr>
                  <p:nvPr/>
                </p:nvSpPr>
                <p:spPr bwMode="auto">
                  <a:xfrm>
                    <a:off x="2949" y="400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31" name="Oval 1508">
                    <a:extLst>
                      <a:ext uri="{FF2B5EF4-FFF2-40B4-BE49-F238E27FC236}">
                        <a16:creationId xmlns:a16="http://schemas.microsoft.com/office/drawing/2014/main" id="{E115C7A4-9B9B-4700-BABB-6DF60598FAC0}"/>
                      </a:ext>
                    </a:extLst>
                  </p:cNvPr>
                  <p:cNvSpPr>
                    <a:spLocks noChangeArrowheads="1"/>
                  </p:cNvSpPr>
                  <p:nvPr/>
                </p:nvSpPr>
                <p:spPr bwMode="auto">
                  <a:xfrm>
                    <a:off x="2966" y="401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32" name="Oval 1509">
                    <a:extLst>
                      <a:ext uri="{FF2B5EF4-FFF2-40B4-BE49-F238E27FC236}">
                        <a16:creationId xmlns:a16="http://schemas.microsoft.com/office/drawing/2014/main" id="{9126E99E-AEC7-46A6-A2D4-BA5EC55C3AFB}"/>
                      </a:ext>
                    </a:extLst>
                  </p:cNvPr>
                  <p:cNvSpPr>
                    <a:spLocks noChangeArrowheads="1"/>
                  </p:cNvSpPr>
                  <p:nvPr/>
                </p:nvSpPr>
                <p:spPr bwMode="auto">
                  <a:xfrm>
                    <a:off x="2928" y="401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33" name="Oval 1510">
                    <a:extLst>
                      <a:ext uri="{FF2B5EF4-FFF2-40B4-BE49-F238E27FC236}">
                        <a16:creationId xmlns:a16="http://schemas.microsoft.com/office/drawing/2014/main" id="{F8F92B55-1C51-41F9-A027-5E39F76C2500}"/>
                      </a:ext>
                    </a:extLst>
                  </p:cNvPr>
                  <p:cNvSpPr>
                    <a:spLocks noChangeArrowheads="1"/>
                  </p:cNvSpPr>
                  <p:nvPr/>
                </p:nvSpPr>
                <p:spPr bwMode="auto">
                  <a:xfrm>
                    <a:off x="2945" y="4024"/>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34" name="Oval 1511">
                    <a:extLst>
                      <a:ext uri="{FF2B5EF4-FFF2-40B4-BE49-F238E27FC236}">
                        <a16:creationId xmlns:a16="http://schemas.microsoft.com/office/drawing/2014/main" id="{5839C856-A756-42D2-8EED-9928B58460FD}"/>
                      </a:ext>
                    </a:extLst>
                  </p:cNvPr>
                  <p:cNvSpPr>
                    <a:spLocks noChangeArrowheads="1"/>
                  </p:cNvSpPr>
                  <p:nvPr/>
                </p:nvSpPr>
                <p:spPr bwMode="auto">
                  <a:xfrm>
                    <a:off x="2962" y="403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35" name="Oval 1512">
                    <a:extLst>
                      <a:ext uri="{FF2B5EF4-FFF2-40B4-BE49-F238E27FC236}">
                        <a16:creationId xmlns:a16="http://schemas.microsoft.com/office/drawing/2014/main" id="{D54A2021-17A2-48CB-A37A-066D9B92E501}"/>
                      </a:ext>
                    </a:extLst>
                  </p:cNvPr>
                  <p:cNvSpPr>
                    <a:spLocks noChangeArrowheads="1"/>
                  </p:cNvSpPr>
                  <p:nvPr/>
                </p:nvSpPr>
                <p:spPr bwMode="auto">
                  <a:xfrm>
                    <a:off x="2925" y="403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36" name="Oval 1513">
                    <a:extLst>
                      <a:ext uri="{FF2B5EF4-FFF2-40B4-BE49-F238E27FC236}">
                        <a16:creationId xmlns:a16="http://schemas.microsoft.com/office/drawing/2014/main" id="{49D0F8B7-CED7-4A0B-922B-EC92F729FD1C}"/>
                      </a:ext>
                    </a:extLst>
                  </p:cNvPr>
                  <p:cNvSpPr>
                    <a:spLocks noChangeArrowheads="1"/>
                  </p:cNvSpPr>
                  <p:nvPr/>
                </p:nvSpPr>
                <p:spPr bwMode="auto">
                  <a:xfrm>
                    <a:off x="2942" y="404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201" name="Group 1514">
                <a:extLst>
                  <a:ext uri="{FF2B5EF4-FFF2-40B4-BE49-F238E27FC236}">
                    <a16:creationId xmlns:a16="http://schemas.microsoft.com/office/drawing/2014/main" id="{BD52046A-C196-48F7-927E-AEB2FA2F5BAE}"/>
                  </a:ext>
                </a:extLst>
              </p:cNvPr>
              <p:cNvGrpSpPr>
                <a:grpSpLocks/>
              </p:cNvGrpSpPr>
              <p:nvPr/>
            </p:nvGrpSpPr>
            <p:grpSpPr bwMode="auto">
              <a:xfrm>
                <a:off x="2858" y="3911"/>
                <a:ext cx="80" cy="92"/>
                <a:chOff x="2858" y="3911"/>
                <a:chExt cx="80" cy="92"/>
              </a:xfrm>
            </p:grpSpPr>
            <p:grpSp>
              <p:nvGrpSpPr>
                <p:cNvPr id="202" name="Group 1515">
                  <a:extLst>
                    <a:ext uri="{FF2B5EF4-FFF2-40B4-BE49-F238E27FC236}">
                      <a16:creationId xmlns:a16="http://schemas.microsoft.com/office/drawing/2014/main" id="{E98DB496-AEED-4DFF-B2BF-C9BF77B9CAC1}"/>
                    </a:ext>
                  </a:extLst>
                </p:cNvPr>
                <p:cNvGrpSpPr>
                  <a:grpSpLocks/>
                </p:cNvGrpSpPr>
                <p:nvPr/>
              </p:nvGrpSpPr>
              <p:grpSpPr bwMode="auto">
                <a:xfrm>
                  <a:off x="2884" y="3940"/>
                  <a:ext cx="39" cy="42"/>
                  <a:chOff x="2884" y="3940"/>
                  <a:chExt cx="39" cy="42"/>
                </a:xfrm>
              </p:grpSpPr>
              <p:sp>
                <p:nvSpPr>
                  <p:cNvPr id="210" name="Freeform 1516">
                    <a:extLst>
                      <a:ext uri="{FF2B5EF4-FFF2-40B4-BE49-F238E27FC236}">
                        <a16:creationId xmlns:a16="http://schemas.microsoft.com/office/drawing/2014/main" id="{B743CBDA-A845-444F-9FBD-E14F43C8E4A6}"/>
                      </a:ext>
                    </a:extLst>
                  </p:cNvPr>
                  <p:cNvSpPr>
                    <a:spLocks/>
                  </p:cNvSpPr>
                  <p:nvPr/>
                </p:nvSpPr>
                <p:spPr bwMode="auto">
                  <a:xfrm>
                    <a:off x="2884" y="3940"/>
                    <a:ext cx="39" cy="42"/>
                  </a:xfrm>
                  <a:custGeom>
                    <a:avLst/>
                    <a:gdLst>
                      <a:gd name="T0" fmla="*/ 0 w 473"/>
                      <a:gd name="T1" fmla="*/ 0 h 496"/>
                      <a:gd name="T2" fmla="*/ 0 w 473"/>
                      <a:gd name="T3" fmla="*/ 0 h 496"/>
                      <a:gd name="T4" fmla="*/ 0 w 473"/>
                      <a:gd name="T5" fmla="*/ 0 h 496"/>
                      <a:gd name="T6" fmla="*/ 0 w 473"/>
                      <a:gd name="T7" fmla="*/ 0 h 496"/>
                      <a:gd name="T8" fmla="*/ 0 w 473"/>
                      <a:gd name="T9" fmla="*/ 0 h 496"/>
                      <a:gd name="T10" fmla="*/ 0 w 473"/>
                      <a:gd name="T11" fmla="*/ 0 h 496"/>
                      <a:gd name="T12" fmla="*/ 0 w 473"/>
                      <a:gd name="T13" fmla="*/ 0 h 496"/>
                      <a:gd name="T14" fmla="*/ 0 w 473"/>
                      <a:gd name="T15" fmla="*/ 0 h 496"/>
                      <a:gd name="T16" fmla="*/ 0 w 473"/>
                      <a:gd name="T17" fmla="*/ 0 h 496"/>
                      <a:gd name="T18" fmla="*/ 0 w 473"/>
                      <a:gd name="T19" fmla="*/ 0 h 496"/>
                      <a:gd name="T20" fmla="*/ 0 w 473"/>
                      <a:gd name="T21" fmla="*/ 0 h 496"/>
                      <a:gd name="T22" fmla="*/ 0 w 473"/>
                      <a:gd name="T23" fmla="*/ 0 h 496"/>
                      <a:gd name="T24" fmla="*/ 0 w 473"/>
                      <a:gd name="T25" fmla="*/ 0 h 496"/>
                      <a:gd name="T26" fmla="*/ 0 w 473"/>
                      <a:gd name="T27" fmla="*/ 0 h 496"/>
                      <a:gd name="T28" fmla="*/ 0 w 473"/>
                      <a:gd name="T29" fmla="*/ 0 h 496"/>
                      <a:gd name="T30" fmla="*/ 0 w 473"/>
                      <a:gd name="T31" fmla="*/ 0 h 496"/>
                      <a:gd name="T32" fmla="*/ 0 w 473"/>
                      <a:gd name="T33" fmla="*/ 0 h 496"/>
                      <a:gd name="T34" fmla="*/ 0 w 473"/>
                      <a:gd name="T35" fmla="*/ 0 h 496"/>
                      <a:gd name="T36" fmla="*/ 0 w 473"/>
                      <a:gd name="T37" fmla="*/ 0 h 496"/>
                      <a:gd name="T38" fmla="*/ 0 w 473"/>
                      <a:gd name="T39" fmla="*/ 0 h 496"/>
                      <a:gd name="T40" fmla="*/ 0 w 473"/>
                      <a:gd name="T41" fmla="*/ 0 h 496"/>
                      <a:gd name="T42" fmla="*/ 0 w 473"/>
                      <a:gd name="T43" fmla="*/ 0 h 496"/>
                      <a:gd name="T44" fmla="*/ 0 w 473"/>
                      <a:gd name="T45" fmla="*/ 0 h 496"/>
                      <a:gd name="T46" fmla="*/ 0 w 473"/>
                      <a:gd name="T47" fmla="*/ 0 h 496"/>
                      <a:gd name="T48" fmla="*/ 0 w 473"/>
                      <a:gd name="T49" fmla="*/ 0 h 496"/>
                      <a:gd name="T50" fmla="*/ 0 w 473"/>
                      <a:gd name="T51" fmla="*/ 0 h 496"/>
                      <a:gd name="T52" fmla="*/ 0 w 473"/>
                      <a:gd name="T53" fmla="*/ 0 h 496"/>
                      <a:gd name="T54" fmla="*/ 0 w 473"/>
                      <a:gd name="T55" fmla="*/ 0 h 496"/>
                      <a:gd name="T56" fmla="*/ 0 w 473"/>
                      <a:gd name="T57" fmla="*/ 0 h 49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3"/>
                      <a:gd name="T88" fmla="*/ 0 h 496"/>
                      <a:gd name="T89" fmla="*/ 473 w 473"/>
                      <a:gd name="T90" fmla="*/ 496 h 49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3" h="496">
                        <a:moveTo>
                          <a:pt x="0" y="0"/>
                        </a:moveTo>
                        <a:lnTo>
                          <a:pt x="91" y="25"/>
                        </a:lnTo>
                        <a:lnTo>
                          <a:pt x="174" y="52"/>
                        </a:lnTo>
                        <a:lnTo>
                          <a:pt x="243" y="73"/>
                        </a:lnTo>
                        <a:lnTo>
                          <a:pt x="334" y="134"/>
                        </a:lnTo>
                        <a:lnTo>
                          <a:pt x="361" y="166"/>
                        </a:lnTo>
                        <a:lnTo>
                          <a:pt x="388" y="218"/>
                        </a:lnTo>
                        <a:lnTo>
                          <a:pt x="424" y="278"/>
                        </a:lnTo>
                        <a:lnTo>
                          <a:pt x="455" y="341"/>
                        </a:lnTo>
                        <a:lnTo>
                          <a:pt x="469" y="378"/>
                        </a:lnTo>
                        <a:lnTo>
                          <a:pt x="473" y="404"/>
                        </a:lnTo>
                        <a:lnTo>
                          <a:pt x="473" y="427"/>
                        </a:lnTo>
                        <a:lnTo>
                          <a:pt x="465" y="445"/>
                        </a:lnTo>
                        <a:lnTo>
                          <a:pt x="445" y="466"/>
                        </a:lnTo>
                        <a:lnTo>
                          <a:pt x="427" y="482"/>
                        </a:lnTo>
                        <a:lnTo>
                          <a:pt x="385" y="493"/>
                        </a:lnTo>
                        <a:lnTo>
                          <a:pt x="355" y="496"/>
                        </a:lnTo>
                        <a:lnTo>
                          <a:pt x="317" y="496"/>
                        </a:lnTo>
                        <a:lnTo>
                          <a:pt x="289" y="488"/>
                        </a:lnTo>
                        <a:lnTo>
                          <a:pt x="260" y="471"/>
                        </a:lnTo>
                        <a:lnTo>
                          <a:pt x="241" y="460"/>
                        </a:lnTo>
                        <a:lnTo>
                          <a:pt x="220" y="441"/>
                        </a:lnTo>
                        <a:lnTo>
                          <a:pt x="205" y="419"/>
                        </a:lnTo>
                        <a:lnTo>
                          <a:pt x="186" y="387"/>
                        </a:lnTo>
                        <a:lnTo>
                          <a:pt x="168" y="356"/>
                        </a:lnTo>
                        <a:lnTo>
                          <a:pt x="161" y="341"/>
                        </a:lnTo>
                        <a:lnTo>
                          <a:pt x="147" y="321"/>
                        </a:lnTo>
                        <a:lnTo>
                          <a:pt x="133"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1" name="Freeform 1517">
                    <a:extLst>
                      <a:ext uri="{FF2B5EF4-FFF2-40B4-BE49-F238E27FC236}">
                        <a16:creationId xmlns:a16="http://schemas.microsoft.com/office/drawing/2014/main" id="{274D7DBD-9C95-4A50-B1BC-E2045FC2405B}"/>
                      </a:ext>
                    </a:extLst>
                  </p:cNvPr>
                  <p:cNvSpPr>
                    <a:spLocks/>
                  </p:cNvSpPr>
                  <p:nvPr/>
                </p:nvSpPr>
                <p:spPr bwMode="auto">
                  <a:xfrm>
                    <a:off x="2884" y="3940"/>
                    <a:ext cx="39" cy="42"/>
                  </a:xfrm>
                  <a:custGeom>
                    <a:avLst/>
                    <a:gdLst>
                      <a:gd name="T0" fmla="*/ 0 w 473"/>
                      <a:gd name="T1" fmla="*/ 0 h 496"/>
                      <a:gd name="T2" fmla="*/ 0 w 473"/>
                      <a:gd name="T3" fmla="*/ 0 h 496"/>
                      <a:gd name="T4" fmla="*/ 0 w 473"/>
                      <a:gd name="T5" fmla="*/ 0 h 496"/>
                      <a:gd name="T6" fmla="*/ 0 w 473"/>
                      <a:gd name="T7" fmla="*/ 0 h 496"/>
                      <a:gd name="T8" fmla="*/ 0 w 473"/>
                      <a:gd name="T9" fmla="*/ 0 h 496"/>
                      <a:gd name="T10" fmla="*/ 0 w 473"/>
                      <a:gd name="T11" fmla="*/ 0 h 496"/>
                      <a:gd name="T12" fmla="*/ 0 w 473"/>
                      <a:gd name="T13" fmla="*/ 0 h 496"/>
                      <a:gd name="T14" fmla="*/ 0 w 473"/>
                      <a:gd name="T15" fmla="*/ 0 h 496"/>
                      <a:gd name="T16" fmla="*/ 0 w 473"/>
                      <a:gd name="T17" fmla="*/ 0 h 496"/>
                      <a:gd name="T18" fmla="*/ 0 w 473"/>
                      <a:gd name="T19" fmla="*/ 0 h 496"/>
                      <a:gd name="T20" fmla="*/ 0 w 473"/>
                      <a:gd name="T21" fmla="*/ 0 h 496"/>
                      <a:gd name="T22" fmla="*/ 0 w 473"/>
                      <a:gd name="T23" fmla="*/ 0 h 496"/>
                      <a:gd name="T24" fmla="*/ 0 w 473"/>
                      <a:gd name="T25" fmla="*/ 0 h 496"/>
                      <a:gd name="T26" fmla="*/ 0 w 473"/>
                      <a:gd name="T27" fmla="*/ 0 h 496"/>
                      <a:gd name="T28" fmla="*/ 0 w 473"/>
                      <a:gd name="T29" fmla="*/ 0 h 496"/>
                      <a:gd name="T30" fmla="*/ 0 w 473"/>
                      <a:gd name="T31" fmla="*/ 0 h 496"/>
                      <a:gd name="T32" fmla="*/ 0 w 473"/>
                      <a:gd name="T33" fmla="*/ 0 h 496"/>
                      <a:gd name="T34" fmla="*/ 0 w 473"/>
                      <a:gd name="T35" fmla="*/ 0 h 496"/>
                      <a:gd name="T36" fmla="*/ 0 w 473"/>
                      <a:gd name="T37" fmla="*/ 0 h 496"/>
                      <a:gd name="T38" fmla="*/ 0 w 473"/>
                      <a:gd name="T39" fmla="*/ 0 h 496"/>
                      <a:gd name="T40" fmla="*/ 0 w 473"/>
                      <a:gd name="T41" fmla="*/ 0 h 496"/>
                      <a:gd name="T42" fmla="*/ 0 w 473"/>
                      <a:gd name="T43" fmla="*/ 0 h 496"/>
                      <a:gd name="T44" fmla="*/ 0 w 473"/>
                      <a:gd name="T45" fmla="*/ 0 h 496"/>
                      <a:gd name="T46" fmla="*/ 0 w 473"/>
                      <a:gd name="T47" fmla="*/ 0 h 496"/>
                      <a:gd name="T48" fmla="*/ 0 w 473"/>
                      <a:gd name="T49" fmla="*/ 0 h 496"/>
                      <a:gd name="T50" fmla="*/ 0 w 473"/>
                      <a:gd name="T51" fmla="*/ 0 h 496"/>
                      <a:gd name="T52" fmla="*/ 0 w 473"/>
                      <a:gd name="T53" fmla="*/ 0 h 496"/>
                      <a:gd name="T54" fmla="*/ 0 w 473"/>
                      <a:gd name="T55" fmla="*/ 0 h 49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3"/>
                      <a:gd name="T85" fmla="*/ 0 h 496"/>
                      <a:gd name="T86" fmla="*/ 473 w 473"/>
                      <a:gd name="T87" fmla="*/ 496 h 49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3" h="496">
                        <a:moveTo>
                          <a:pt x="0" y="0"/>
                        </a:moveTo>
                        <a:lnTo>
                          <a:pt x="91" y="25"/>
                        </a:lnTo>
                        <a:lnTo>
                          <a:pt x="174" y="52"/>
                        </a:lnTo>
                        <a:lnTo>
                          <a:pt x="243" y="73"/>
                        </a:lnTo>
                        <a:lnTo>
                          <a:pt x="334" y="134"/>
                        </a:lnTo>
                        <a:lnTo>
                          <a:pt x="361" y="166"/>
                        </a:lnTo>
                        <a:lnTo>
                          <a:pt x="388" y="218"/>
                        </a:lnTo>
                        <a:lnTo>
                          <a:pt x="424" y="278"/>
                        </a:lnTo>
                        <a:lnTo>
                          <a:pt x="455" y="341"/>
                        </a:lnTo>
                        <a:lnTo>
                          <a:pt x="469" y="378"/>
                        </a:lnTo>
                        <a:lnTo>
                          <a:pt x="473" y="404"/>
                        </a:lnTo>
                        <a:lnTo>
                          <a:pt x="473" y="427"/>
                        </a:lnTo>
                        <a:lnTo>
                          <a:pt x="465" y="445"/>
                        </a:lnTo>
                        <a:lnTo>
                          <a:pt x="445" y="466"/>
                        </a:lnTo>
                        <a:lnTo>
                          <a:pt x="427" y="482"/>
                        </a:lnTo>
                        <a:lnTo>
                          <a:pt x="385" y="493"/>
                        </a:lnTo>
                        <a:lnTo>
                          <a:pt x="355" y="496"/>
                        </a:lnTo>
                        <a:lnTo>
                          <a:pt x="317" y="496"/>
                        </a:lnTo>
                        <a:lnTo>
                          <a:pt x="289" y="488"/>
                        </a:lnTo>
                        <a:lnTo>
                          <a:pt x="260" y="471"/>
                        </a:lnTo>
                        <a:lnTo>
                          <a:pt x="241" y="460"/>
                        </a:lnTo>
                        <a:lnTo>
                          <a:pt x="220" y="441"/>
                        </a:lnTo>
                        <a:lnTo>
                          <a:pt x="205" y="419"/>
                        </a:lnTo>
                        <a:lnTo>
                          <a:pt x="186" y="387"/>
                        </a:lnTo>
                        <a:lnTo>
                          <a:pt x="168" y="356"/>
                        </a:lnTo>
                        <a:lnTo>
                          <a:pt x="161" y="341"/>
                        </a:lnTo>
                        <a:lnTo>
                          <a:pt x="147" y="321"/>
                        </a:lnTo>
                        <a:lnTo>
                          <a:pt x="133"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03" name="Group 1518">
                  <a:extLst>
                    <a:ext uri="{FF2B5EF4-FFF2-40B4-BE49-F238E27FC236}">
                      <a16:creationId xmlns:a16="http://schemas.microsoft.com/office/drawing/2014/main" id="{CD909227-FC57-4518-835D-CEE9CA8FCE91}"/>
                    </a:ext>
                  </a:extLst>
                </p:cNvPr>
                <p:cNvGrpSpPr>
                  <a:grpSpLocks/>
                </p:cNvGrpSpPr>
                <p:nvPr/>
              </p:nvGrpSpPr>
              <p:grpSpPr bwMode="auto">
                <a:xfrm>
                  <a:off x="2904" y="3922"/>
                  <a:ext cx="29" cy="32"/>
                  <a:chOff x="2904" y="3922"/>
                  <a:chExt cx="29" cy="32"/>
                </a:xfrm>
              </p:grpSpPr>
              <p:sp>
                <p:nvSpPr>
                  <p:cNvPr id="208" name="Freeform 1519">
                    <a:extLst>
                      <a:ext uri="{FF2B5EF4-FFF2-40B4-BE49-F238E27FC236}">
                        <a16:creationId xmlns:a16="http://schemas.microsoft.com/office/drawing/2014/main" id="{057A0877-E2C9-400A-974C-DF9E1C769E7F}"/>
                      </a:ext>
                    </a:extLst>
                  </p:cNvPr>
                  <p:cNvSpPr>
                    <a:spLocks/>
                  </p:cNvSpPr>
                  <p:nvPr/>
                </p:nvSpPr>
                <p:spPr bwMode="auto">
                  <a:xfrm>
                    <a:off x="2904" y="3922"/>
                    <a:ext cx="29" cy="32"/>
                  </a:xfrm>
                  <a:custGeom>
                    <a:avLst/>
                    <a:gdLst>
                      <a:gd name="T0" fmla="*/ 0 w 350"/>
                      <a:gd name="T1" fmla="*/ 0 h 390"/>
                      <a:gd name="T2" fmla="*/ 0 w 350"/>
                      <a:gd name="T3" fmla="*/ 0 h 390"/>
                      <a:gd name="T4" fmla="*/ 0 w 350"/>
                      <a:gd name="T5" fmla="*/ 0 h 390"/>
                      <a:gd name="T6" fmla="*/ 0 w 350"/>
                      <a:gd name="T7" fmla="*/ 0 h 390"/>
                      <a:gd name="T8" fmla="*/ 0 w 350"/>
                      <a:gd name="T9" fmla="*/ 0 h 390"/>
                      <a:gd name="T10" fmla="*/ 0 w 350"/>
                      <a:gd name="T11" fmla="*/ 0 h 390"/>
                      <a:gd name="T12" fmla="*/ 0 w 350"/>
                      <a:gd name="T13" fmla="*/ 0 h 390"/>
                      <a:gd name="T14" fmla="*/ 0 w 350"/>
                      <a:gd name="T15" fmla="*/ 0 h 390"/>
                      <a:gd name="T16" fmla="*/ 0 w 350"/>
                      <a:gd name="T17" fmla="*/ 0 h 390"/>
                      <a:gd name="T18" fmla="*/ 0 w 350"/>
                      <a:gd name="T19" fmla="*/ 0 h 390"/>
                      <a:gd name="T20" fmla="*/ 0 w 350"/>
                      <a:gd name="T21" fmla="*/ 0 h 390"/>
                      <a:gd name="T22" fmla="*/ 0 w 350"/>
                      <a:gd name="T23" fmla="*/ 0 h 390"/>
                      <a:gd name="T24" fmla="*/ 0 w 350"/>
                      <a:gd name="T25" fmla="*/ 0 h 390"/>
                      <a:gd name="T26" fmla="*/ 0 w 350"/>
                      <a:gd name="T27" fmla="*/ 0 h 390"/>
                      <a:gd name="T28" fmla="*/ 0 w 350"/>
                      <a:gd name="T29" fmla="*/ 0 h 390"/>
                      <a:gd name="T30" fmla="*/ 0 w 350"/>
                      <a:gd name="T31" fmla="*/ 0 h 390"/>
                      <a:gd name="T32" fmla="*/ 0 w 350"/>
                      <a:gd name="T33" fmla="*/ 0 h 390"/>
                      <a:gd name="T34" fmla="*/ 0 w 350"/>
                      <a:gd name="T35" fmla="*/ 0 h 390"/>
                      <a:gd name="T36" fmla="*/ 0 w 350"/>
                      <a:gd name="T37" fmla="*/ 0 h 390"/>
                      <a:gd name="T38" fmla="*/ 0 w 350"/>
                      <a:gd name="T39" fmla="*/ 0 h 390"/>
                      <a:gd name="T40" fmla="*/ 0 w 350"/>
                      <a:gd name="T41" fmla="*/ 0 h 390"/>
                      <a:gd name="T42" fmla="*/ 0 w 350"/>
                      <a:gd name="T43" fmla="*/ 0 h 390"/>
                      <a:gd name="T44" fmla="*/ 0 w 350"/>
                      <a:gd name="T45" fmla="*/ 0 h 390"/>
                      <a:gd name="T46" fmla="*/ 0 w 350"/>
                      <a:gd name="T47" fmla="*/ 0 h 390"/>
                      <a:gd name="T48" fmla="*/ 0 w 350"/>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0"/>
                      <a:gd name="T76" fmla="*/ 0 h 390"/>
                      <a:gd name="T77" fmla="*/ 350 w 350"/>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0" h="390">
                        <a:moveTo>
                          <a:pt x="0" y="0"/>
                        </a:moveTo>
                        <a:lnTo>
                          <a:pt x="82" y="9"/>
                        </a:lnTo>
                        <a:lnTo>
                          <a:pt x="134" y="25"/>
                        </a:lnTo>
                        <a:lnTo>
                          <a:pt x="176" y="51"/>
                        </a:lnTo>
                        <a:lnTo>
                          <a:pt x="217" y="77"/>
                        </a:lnTo>
                        <a:lnTo>
                          <a:pt x="239" y="104"/>
                        </a:lnTo>
                        <a:lnTo>
                          <a:pt x="267" y="130"/>
                        </a:lnTo>
                        <a:lnTo>
                          <a:pt x="296" y="178"/>
                        </a:lnTo>
                        <a:lnTo>
                          <a:pt x="319" y="223"/>
                        </a:lnTo>
                        <a:lnTo>
                          <a:pt x="335" y="257"/>
                        </a:lnTo>
                        <a:lnTo>
                          <a:pt x="350" y="287"/>
                        </a:lnTo>
                        <a:lnTo>
                          <a:pt x="350" y="323"/>
                        </a:lnTo>
                        <a:lnTo>
                          <a:pt x="331" y="355"/>
                        </a:lnTo>
                        <a:lnTo>
                          <a:pt x="292" y="373"/>
                        </a:lnTo>
                        <a:lnTo>
                          <a:pt x="245" y="386"/>
                        </a:lnTo>
                        <a:lnTo>
                          <a:pt x="207" y="390"/>
                        </a:lnTo>
                        <a:lnTo>
                          <a:pt x="165" y="376"/>
                        </a:lnTo>
                        <a:lnTo>
                          <a:pt x="125" y="360"/>
                        </a:lnTo>
                        <a:lnTo>
                          <a:pt x="87" y="327"/>
                        </a:lnTo>
                        <a:lnTo>
                          <a:pt x="59" y="311"/>
                        </a:lnTo>
                        <a:lnTo>
                          <a:pt x="29" y="291"/>
                        </a:lnTo>
                        <a:lnTo>
                          <a:pt x="13" y="265"/>
                        </a:lnTo>
                        <a:lnTo>
                          <a:pt x="1" y="235"/>
                        </a:lnTo>
                        <a:lnTo>
                          <a:pt x="0" y="199"/>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9" name="Freeform 1520">
                    <a:extLst>
                      <a:ext uri="{FF2B5EF4-FFF2-40B4-BE49-F238E27FC236}">
                        <a16:creationId xmlns:a16="http://schemas.microsoft.com/office/drawing/2014/main" id="{4A59A0D7-EF5A-42C3-8DF3-720A24368B4C}"/>
                      </a:ext>
                    </a:extLst>
                  </p:cNvPr>
                  <p:cNvSpPr>
                    <a:spLocks/>
                  </p:cNvSpPr>
                  <p:nvPr/>
                </p:nvSpPr>
                <p:spPr bwMode="auto">
                  <a:xfrm>
                    <a:off x="2904" y="3922"/>
                    <a:ext cx="29" cy="32"/>
                  </a:xfrm>
                  <a:custGeom>
                    <a:avLst/>
                    <a:gdLst>
                      <a:gd name="T0" fmla="*/ 0 w 350"/>
                      <a:gd name="T1" fmla="*/ 0 h 390"/>
                      <a:gd name="T2" fmla="*/ 0 w 350"/>
                      <a:gd name="T3" fmla="*/ 0 h 390"/>
                      <a:gd name="T4" fmla="*/ 0 w 350"/>
                      <a:gd name="T5" fmla="*/ 0 h 390"/>
                      <a:gd name="T6" fmla="*/ 0 w 350"/>
                      <a:gd name="T7" fmla="*/ 0 h 390"/>
                      <a:gd name="T8" fmla="*/ 0 w 350"/>
                      <a:gd name="T9" fmla="*/ 0 h 390"/>
                      <a:gd name="T10" fmla="*/ 0 w 350"/>
                      <a:gd name="T11" fmla="*/ 0 h 390"/>
                      <a:gd name="T12" fmla="*/ 0 w 350"/>
                      <a:gd name="T13" fmla="*/ 0 h 390"/>
                      <a:gd name="T14" fmla="*/ 0 w 350"/>
                      <a:gd name="T15" fmla="*/ 0 h 390"/>
                      <a:gd name="T16" fmla="*/ 0 w 350"/>
                      <a:gd name="T17" fmla="*/ 0 h 390"/>
                      <a:gd name="T18" fmla="*/ 0 w 350"/>
                      <a:gd name="T19" fmla="*/ 0 h 390"/>
                      <a:gd name="T20" fmla="*/ 0 w 350"/>
                      <a:gd name="T21" fmla="*/ 0 h 390"/>
                      <a:gd name="T22" fmla="*/ 0 w 350"/>
                      <a:gd name="T23" fmla="*/ 0 h 390"/>
                      <a:gd name="T24" fmla="*/ 0 w 350"/>
                      <a:gd name="T25" fmla="*/ 0 h 390"/>
                      <a:gd name="T26" fmla="*/ 0 w 350"/>
                      <a:gd name="T27" fmla="*/ 0 h 390"/>
                      <a:gd name="T28" fmla="*/ 0 w 350"/>
                      <a:gd name="T29" fmla="*/ 0 h 390"/>
                      <a:gd name="T30" fmla="*/ 0 w 350"/>
                      <a:gd name="T31" fmla="*/ 0 h 390"/>
                      <a:gd name="T32" fmla="*/ 0 w 350"/>
                      <a:gd name="T33" fmla="*/ 0 h 390"/>
                      <a:gd name="T34" fmla="*/ 0 w 350"/>
                      <a:gd name="T35" fmla="*/ 0 h 390"/>
                      <a:gd name="T36" fmla="*/ 0 w 350"/>
                      <a:gd name="T37" fmla="*/ 0 h 390"/>
                      <a:gd name="T38" fmla="*/ 0 w 350"/>
                      <a:gd name="T39" fmla="*/ 0 h 390"/>
                      <a:gd name="T40" fmla="*/ 0 w 350"/>
                      <a:gd name="T41" fmla="*/ 0 h 390"/>
                      <a:gd name="T42" fmla="*/ 0 w 350"/>
                      <a:gd name="T43" fmla="*/ 0 h 390"/>
                      <a:gd name="T44" fmla="*/ 0 w 350"/>
                      <a:gd name="T45" fmla="*/ 0 h 390"/>
                      <a:gd name="T46" fmla="*/ 0 w 350"/>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0"/>
                      <a:gd name="T73" fmla="*/ 0 h 390"/>
                      <a:gd name="T74" fmla="*/ 350 w 350"/>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0" h="390">
                        <a:moveTo>
                          <a:pt x="0" y="0"/>
                        </a:moveTo>
                        <a:lnTo>
                          <a:pt x="82" y="9"/>
                        </a:lnTo>
                        <a:lnTo>
                          <a:pt x="134" y="25"/>
                        </a:lnTo>
                        <a:lnTo>
                          <a:pt x="176" y="51"/>
                        </a:lnTo>
                        <a:lnTo>
                          <a:pt x="217" y="77"/>
                        </a:lnTo>
                        <a:lnTo>
                          <a:pt x="239" y="104"/>
                        </a:lnTo>
                        <a:lnTo>
                          <a:pt x="267" y="130"/>
                        </a:lnTo>
                        <a:lnTo>
                          <a:pt x="296" y="178"/>
                        </a:lnTo>
                        <a:lnTo>
                          <a:pt x="319" y="223"/>
                        </a:lnTo>
                        <a:lnTo>
                          <a:pt x="335" y="257"/>
                        </a:lnTo>
                        <a:lnTo>
                          <a:pt x="350" y="287"/>
                        </a:lnTo>
                        <a:lnTo>
                          <a:pt x="350" y="323"/>
                        </a:lnTo>
                        <a:lnTo>
                          <a:pt x="331" y="355"/>
                        </a:lnTo>
                        <a:lnTo>
                          <a:pt x="292" y="373"/>
                        </a:lnTo>
                        <a:lnTo>
                          <a:pt x="245" y="386"/>
                        </a:lnTo>
                        <a:lnTo>
                          <a:pt x="207" y="390"/>
                        </a:lnTo>
                        <a:lnTo>
                          <a:pt x="165" y="376"/>
                        </a:lnTo>
                        <a:lnTo>
                          <a:pt x="125" y="360"/>
                        </a:lnTo>
                        <a:lnTo>
                          <a:pt x="87" y="327"/>
                        </a:lnTo>
                        <a:lnTo>
                          <a:pt x="59" y="311"/>
                        </a:lnTo>
                        <a:lnTo>
                          <a:pt x="29" y="291"/>
                        </a:lnTo>
                        <a:lnTo>
                          <a:pt x="13" y="265"/>
                        </a:lnTo>
                        <a:lnTo>
                          <a:pt x="1" y="235"/>
                        </a:lnTo>
                        <a:lnTo>
                          <a:pt x="0" y="19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04" name="Group 1521">
                  <a:extLst>
                    <a:ext uri="{FF2B5EF4-FFF2-40B4-BE49-F238E27FC236}">
                      <a16:creationId xmlns:a16="http://schemas.microsoft.com/office/drawing/2014/main" id="{FBE89301-54DA-43DE-865F-A7113AF15FF7}"/>
                    </a:ext>
                  </a:extLst>
                </p:cNvPr>
                <p:cNvGrpSpPr>
                  <a:grpSpLocks/>
                </p:cNvGrpSpPr>
                <p:nvPr/>
              </p:nvGrpSpPr>
              <p:grpSpPr bwMode="auto">
                <a:xfrm>
                  <a:off x="2858" y="3967"/>
                  <a:ext cx="62" cy="36"/>
                  <a:chOff x="2858" y="3967"/>
                  <a:chExt cx="62" cy="36"/>
                </a:xfrm>
              </p:grpSpPr>
              <p:sp>
                <p:nvSpPr>
                  <p:cNvPr id="206" name="Freeform 1522">
                    <a:extLst>
                      <a:ext uri="{FF2B5EF4-FFF2-40B4-BE49-F238E27FC236}">
                        <a16:creationId xmlns:a16="http://schemas.microsoft.com/office/drawing/2014/main" id="{5CE75705-BD7D-4462-A85D-3A7118E24BB1}"/>
                      </a:ext>
                    </a:extLst>
                  </p:cNvPr>
                  <p:cNvSpPr>
                    <a:spLocks/>
                  </p:cNvSpPr>
                  <p:nvPr/>
                </p:nvSpPr>
                <p:spPr bwMode="auto">
                  <a:xfrm>
                    <a:off x="2858" y="3967"/>
                    <a:ext cx="62" cy="36"/>
                  </a:xfrm>
                  <a:custGeom>
                    <a:avLst/>
                    <a:gdLst>
                      <a:gd name="T0" fmla="*/ 0 w 738"/>
                      <a:gd name="T1" fmla="*/ 0 h 432"/>
                      <a:gd name="T2" fmla="*/ 0 w 738"/>
                      <a:gd name="T3" fmla="*/ 0 h 432"/>
                      <a:gd name="T4" fmla="*/ 0 w 738"/>
                      <a:gd name="T5" fmla="*/ 0 h 432"/>
                      <a:gd name="T6" fmla="*/ 0 w 738"/>
                      <a:gd name="T7" fmla="*/ 0 h 432"/>
                      <a:gd name="T8" fmla="*/ 0 w 738"/>
                      <a:gd name="T9" fmla="*/ 0 h 432"/>
                      <a:gd name="T10" fmla="*/ 0 w 738"/>
                      <a:gd name="T11" fmla="*/ 0 h 432"/>
                      <a:gd name="T12" fmla="*/ 0 w 738"/>
                      <a:gd name="T13" fmla="*/ 0 h 432"/>
                      <a:gd name="T14" fmla="*/ 0 w 738"/>
                      <a:gd name="T15" fmla="*/ 0 h 432"/>
                      <a:gd name="T16" fmla="*/ 0 w 738"/>
                      <a:gd name="T17" fmla="*/ 0 h 432"/>
                      <a:gd name="T18" fmla="*/ 0 w 738"/>
                      <a:gd name="T19" fmla="*/ 0 h 432"/>
                      <a:gd name="T20" fmla="*/ 0 w 738"/>
                      <a:gd name="T21" fmla="*/ 0 h 432"/>
                      <a:gd name="T22" fmla="*/ 0 w 738"/>
                      <a:gd name="T23" fmla="*/ 0 h 432"/>
                      <a:gd name="T24" fmla="*/ 0 w 738"/>
                      <a:gd name="T25" fmla="*/ 0 h 432"/>
                      <a:gd name="T26" fmla="*/ 0 w 738"/>
                      <a:gd name="T27" fmla="*/ 0 h 432"/>
                      <a:gd name="T28" fmla="*/ 0 w 738"/>
                      <a:gd name="T29" fmla="*/ 0 h 432"/>
                      <a:gd name="T30" fmla="*/ 0 w 738"/>
                      <a:gd name="T31" fmla="*/ 0 h 432"/>
                      <a:gd name="T32" fmla="*/ 0 w 738"/>
                      <a:gd name="T33" fmla="*/ 0 h 432"/>
                      <a:gd name="T34" fmla="*/ 0 w 738"/>
                      <a:gd name="T35" fmla="*/ 0 h 432"/>
                      <a:gd name="T36" fmla="*/ 0 w 738"/>
                      <a:gd name="T37" fmla="*/ 0 h 432"/>
                      <a:gd name="T38" fmla="*/ 0 w 738"/>
                      <a:gd name="T39" fmla="*/ 0 h 432"/>
                      <a:gd name="T40" fmla="*/ 0 w 738"/>
                      <a:gd name="T41" fmla="*/ 0 h 432"/>
                      <a:gd name="T42" fmla="*/ 0 w 738"/>
                      <a:gd name="T43" fmla="*/ 0 h 432"/>
                      <a:gd name="T44" fmla="*/ 0 w 738"/>
                      <a:gd name="T45" fmla="*/ 0 h 432"/>
                      <a:gd name="T46" fmla="*/ 0 w 738"/>
                      <a:gd name="T47" fmla="*/ 0 h 432"/>
                      <a:gd name="T48" fmla="*/ 0 w 738"/>
                      <a:gd name="T49" fmla="*/ 0 h 432"/>
                      <a:gd name="T50" fmla="*/ 0 w 738"/>
                      <a:gd name="T51" fmla="*/ 0 h 432"/>
                      <a:gd name="T52" fmla="*/ 0 w 738"/>
                      <a:gd name="T53" fmla="*/ 0 h 432"/>
                      <a:gd name="T54" fmla="*/ 0 w 738"/>
                      <a:gd name="T55" fmla="*/ 0 h 432"/>
                      <a:gd name="T56" fmla="*/ 0 w 738"/>
                      <a:gd name="T57" fmla="*/ 0 h 432"/>
                      <a:gd name="T58" fmla="*/ 0 w 738"/>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38"/>
                      <a:gd name="T91" fmla="*/ 0 h 432"/>
                      <a:gd name="T92" fmla="*/ 738 w 738"/>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38" h="432">
                        <a:moveTo>
                          <a:pt x="0" y="0"/>
                        </a:moveTo>
                        <a:lnTo>
                          <a:pt x="135" y="16"/>
                        </a:lnTo>
                        <a:lnTo>
                          <a:pt x="223" y="28"/>
                        </a:lnTo>
                        <a:lnTo>
                          <a:pt x="271" y="42"/>
                        </a:lnTo>
                        <a:lnTo>
                          <a:pt x="325" y="68"/>
                        </a:lnTo>
                        <a:lnTo>
                          <a:pt x="402" y="147"/>
                        </a:lnTo>
                        <a:lnTo>
                          <a:pt x="502" y="205"/>
                        </a:lnTo>
                        <a:lnTo>
                          <a:pt x="578" y="230"/>
                        </a:lnTo>
                        <a:lnTo>
                          <a:pt x="635" y="252"/>
                        </a:lnTo>
                        <a:lnTo>
                          <a:pt x="683" y="274"/>
                        </a:lnTo>
                        <a:lnTo>
                          <a:pt x="710" y="295"/>
                        </a:lnTo>
                        <a:lnTo>
                          <a:pt x="738" y="317"/>
                        </a:lnTo>
                        <a:lnTo>
                          <a:pt x="738" y="349"/>
                        </a:lnTo>
                        <a:lnTo>
                          <a:pt x="729" y="381"/>
                        </a:lnTo>
                        <a:lnTo>
                          <a:pt x="710" y="402"/>
                        </a:lnTo>
                        <a:lnTo>
                          <a:pt x="691" y="413"/>
                        </a:lnTo>
                        <a:lnTo>
                          <a:pt x="666" y="425"/>
                        </a:lnTo>
                        <a:lnTo>
                          <a:pt x="630" y="432"/>
                        </a:lnTo>
                        <a:lnTo>
                          <a:pt x="601" y="432"/>
                        </a:lnTo>
                        <a:lnTo>
                          <a:pt x="563" y="420"/>
                        </a:lnTo>
                        <a:lnTo>
                          <a:pt x="531" y="413"/>
                        </a:lnTo>
                        <a:lnTo>
                          <a:pt x="430" y="369"/>
                        </a:lnTo>
                        <a:lnTo>
                          <a:pt x="353" y="349"/>
                        </a:lnTo>
                        <a:lnTo>
                          <a:pt x="307" y="340"/>
                        </a:lnTo>
                        <a:lnTo>
                          <a:pt x="259" y="327"/>
                        </a:lnTo>
                        <a:lnTo>
                          <a:pt x="209" y="306"/>
                        </a:lnTo>
                        <a:lnTo>
                          <a:pt x="172" y="286"/>
                        </a:lnTo>
                        <a:lnTo>
                          <a:pt x="154" y="269"/>
                        </a:lnTo>
                        <a:lnTo>
                          <a:pt x="131"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7" name="Freeform 1523">
                    <a:extLst>
                      <a:ext uri="{FF2B5EF4-FFF2-40B4-BE49-F238E27FC236}">
                        <a16:creationId xmlns:a16="http://schemas.microsoft.com/office/drawing/2014/main" id="{24C5DE9B-8D43-48F0-BC42-01CC65A1A2E4}"/>
                      </a:ext>
                    </a:extLst>
                  </p:cNvPr>
                  <p:cNvSpPr>
                    <a:spLocks/>
                  </p:cNvSpPr>
                  <p:nvPr/>
                </p:nvSpPr>
                <p:spPr bwMode="auto">
                  <a:xfrm>
                    <a:off x="2858" y="3967"/>
                    <a:ext cx="62" cy="36"/>
                  </a:xfrm>
                  <a:custGeom>
                    <a:avLst/>
                    <a:gdLst>
                      <a:gd name="T0" fmla="*/ 0 w 738"/>
                      <a:gd name="T1" fmla="*/ 0 h 432"/>
                      <a:gd name="T2" fmla="*/ 0 w 738"/>
                      <a:gd name="T3" fmla="*/ 0 h 432"/>
                      <a:gd name="T4" fmla="*/ 0 w 738"/>
                      <a:gd name="T5" fmla="*/ 0 h 432"/>
                      <a:gd name="T6" fmla="*/ 0 w 738"/>
                      <a:gd name="T7" fmla="*/ 0 h 432"/>
                      <a:gd name="T8" fmla="*/ 0 w 738"/>
                      <a:gd name="T9" fmla="*/ 0 h 432"/>
                      <a:gd name="T10" fmla="*/ 0 w 738"/>
                      <a:gd name="T11" fmla="*/ 0 h 432"/>
                      <a:gd name="T12" fmla="*/ 0 w 738"/>
                      <a:gd name="T13" fmla="*/ 0 h 432"/>
                      <a:gd name="T14" fmla="*/ 0 w 738"/>
                      <a:gd name="T15" fmla="*/ 0 h 432"/>
                      <a:gd name="T16" fmla="*/ 0 w 738"/>
                      <a:gd name="T17" fmla="*/ 0 h 432"/>
                      <a:gd name="T18" fmla="*/ 0 w 738"/>
                      <a:gd name="T19" fmla="*/ 0 h 432"/>
                      <a:gd name="T20" fmla="*/ 0 w 738"/>
                      <a:gd name="T21" fmla="*/ 0 h 432"/>
                      <a:gd name="T22" fmla="*/ 0 w 738"/>
                      <a:gd name="T23" fmla="*/ 0 h 432"/>
                      <a:gd name="T24" fmla="*/ 0 w 738"/>
                      <a:gd name="T25" fmla="*/ 0 h 432"/>
                      <a:gd name="T26" fmla="*/ 0 w 738"/>
                      <a:gd name="T27" fmla="*/ 0 h 432"/>
                      <a:gd name="T28" fmla="*/ 0 w 738"/>
                      <a:gd name="T29" fmla="*/ 0 h 432"/>
                      <a:gd name="T30" fmla="*/ 0 w 738"/>
                      <a:gd name="T31" fmla="*/ 0 h 432"/>
                      <a:gd name="T32" fmla="*/ 0 w 738"/>
                      <a:gd name="T33" fmla="*/ 0 h 432"/>
                      <a:gd name="T34" fmla="*/ 0 w 738"/>
                      <a:gd name="T35" fmla="*/ 0 h 432"/>
                      <a:gd name="T36" fmla="*/ 0 w 738"/>
                      <a:gd name="T37" fmla="*/ 0 h 432"/>
                      <a:gd name="T38" fmla="*/ 0 w 738"/>
                      <a:gd name="T39" fmla="*/ 0 h 432"/>
                      <a:gd name="T40" fmla="*/ 0 w 738"/>
                      <a:gd name="T41" fmla="*/ 0 h 432"/>
                      <a:gd name="T42" fmla="*/ 0 w 738"/>
                      <a:gd name="T43" fmla="*/ 0 h 432"/>
                      <a:gd name="T44" fmla="*/ 0 w 738"/>
                      <a:gd name="T45" fmla="*/ 0 h 432"/>
                      <a:gd name="T46" fmla="*/ 0 w 738"/>
                      <a:gd name="T47" fmla="*/ 0 h 432"/>
                      <a:gd name="T48" fmla="*/ 0 w 738"/>
                      <a:gd name="T49" fmla="*/ 0 h 432"/>
                      <a:gd name="T50" fmla="*/ 0 w 738"/>
                      <a:gd name="T51" fmla="*/ 0 h 432"/>
                      <a:gd name="T52" fmla="*/ 0 w 738"/>
                      <a:gd name="T53" fmla="*/ 0 h 432"/>
                      <a:gd name="T54" fmla="*/ 0 w 738"/>
                      <a:gd name="T55" fmla="*/ 0 h 432"/>
                      <a:gd name="T56" fmla="*/ 0 w 738"/>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38"/>
                      <a:gd name="T88" fmla="*/ 0 h 432"/>
                      <a:gd name="T89" fmla="*/ 738 w 738"/>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38" h="432">
                        <a:moveTo>
                          <a:pt x="0" y="0"/>
                        </a:moveTo>
                        <a:lnTo>
                          <a:pt x="135" y="16"/>
                        </a:lnTo>
                        <a:lnTo>
                          <a:pt x="223" y="28"/>
                        </a:lnTo>
                        <a:lnTo>
                          <a:pt x="271" y="42"/>
                        </a:lnTo>
                        <a:lnTo>
                          <a:pt x="325" y="68"/>
                        </a:lnTo>
                        <a:lnTo>
                          <a:pt x="402" y="147"/>
                        </a:lnTo>
                        <a:lnTo>
                          <a:pt x="502" y="205"/>
                        </a:lnTo>
                        <a:lnTo>
                          <a:pt x="578" y="230"/>
                        </a:lnTo>
                        <a:lnTo>
                          <a:pt x="635" y="252"/>
                        </a:lnTo>
                        <a:lnTo>
                          <a:pt x="683" y="274"/>
                        </a:lnTo>
                        <a:lnTo>
                          <a:pt x="710" y="295"/>
                        </a:lnTo>
                        <a:lnTo>
                          <a:pt x="738" y="317"/>
                        </a:lnTo>
                        <a:lnTo>
                          <a:pt x="738" y="349"/>
                        </a:lnTo>
                        <a:lnTo>
                          <a:pt x="729" y="381"/>
                        </a:lnTo>
                        <a:lnTo>
                          <a:pt x="710" y="402"/>
                        </a:lnTo>
                        <a:lnTo>
                          <a:pt x="691" y="413"/>
                        </a:lnTo>
                        <a:lnTo>
                          <a:pt x="666" y="425"/>
                        </a:lnTo>
                        <a:lnTo>
                          <a:pt x="630" y="432"/>
                        </a:lnTo>
                        <a:lnTo>
                          <a:pt x="601" y="432"/>
                        </a:lnTo>
                        <a:lnTo>
                          <a:pt x="563" y="420"/>
                        </a:lnTo>
                        <a:lnTo>
                          <a:pt x="531" y="413"/>
                        </a:lnTo>
                        <a:lnTo>
                          <a:pt x="430" y="369"/>
                        </a:lnTo>
                        <a:lnTo>
                          <a:pt x="353" y="349"/>
                        </a:lnTo>
                        <a:lnTo>
                          <a:pt x="307" y="340"/>
                        </a:lnTo>
                        <a:lnTo>
                          <a:pt x="259" y="327"/>
                        </a:lnTo>
                        <a:lnTo>
                          <a:pt x="209" y="306"/>
                        </a:lnTo>
                        <a:lnTo>
                          <a:pt x="172" y="286"/>
                        </a:lnTo>
                        <a:lnTo>
                          <a:pt x="154" y="269"/>
                        </a:lnTo>
                        <a:lnTo>
                          <a:pt x="131"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05" name="Freeform 1524">
                  <a:extLst>
                    <a:ext uri="{FF2B5EF4-FFF2-40B4-BE49-F238E27FC236}">
                      <a16:creationId xmlns:a16="http://schemas.microsoft.com/office/drawing/2014/main" id="{F6C13EAA-264A-4DE2-AFC7-3A38BBED4135}"/>
                    </a:ext>
                  </a:extLst>
                </p:cNvPr>
                <p:cNvSpPr>
                  <a:spLocks/>
                </p:cNvSpPr>
                <p:nvPr/>
              </p:nvSpPr>
              <p:spPr bwMode="auto">
                <a:xfrm>
                  <a:off x="2904" y="3911"/>
                  <a:ext cx="34" cy="22"/>
                </a:xfrm>
                <a:custGeom>
                  <a:avLst/>
                  <a:gdLst>
                    <a:gd name="T0" fmla="*/ 0 w 412"/>
                    <a:gd name="T1" fmla="*/ 0 h 262"/>
                    <a:gd name="T2" fmla="*/ 0 w 412"/>
                    <a:gd name="T3" fmla="*/ 0 h 262"/>
                    <a:gd name="T4" fmla="*/ 0 w 412"/>
                    <a:gd name="T5" fmla="*/ 0 h 262"/>
                    <a:gd name="T6" fmla="*/ 0 w 412"/>
                    <a:gd name="T7" fmla="*/ 0 h 262"/>
                    <a:gd name="T8" fmla="*/ 0 w 412"/>
                    <a:gd name="T9" fmla="*/ 0 h 262"/>
                    <a:gd name="T10" fmla="*/ 0 w 412"/>
                    <a:gd name="T11" fmla="*/ 0 h 262"/>
                    <a:gd name="T12" fmla="*/ 0 w 412"/>
                    <a:gd name="T13" fmla="*/ 0 h 262"/>
                    <a:gd name="T14" fmla="*/ 0 w 412"/>
                    <a:gd name="T15" fmla="*/ 0 h 262"/>
                    <a:gd name="T16" fmla="*/ 0 w 412"/>
                    <a:gd name="T17" fmla="*/ 0 h 262"/>
                    <a:gd name="T18" fmla="*/ 0 w 412"/>
                    <a:gd name="T19" fmla="*/ 0 h 262"/>
                    <a:gd name="T20" fmla="*/ 0 w 412"/>
                    <a:gd name="T21" fmla="*/ 0 h 262"/>
                    <a:gd name="T22" fmla="*/ 0 w 412"/>
                    <a:gd name="T23" fmla="*/ 0 h 262"/>
                    <a:gd name="T24" fmla="*/ 0 w 412"/>
                    <a:gd name="T25" fmla="*/ 0 h 262"/>
                    <a:gd name="T26" fmla="*/ 0 w 412"/>
                    <a:gd name="T27" fmla="*/ 0 h 262"/>
                    <a:gd name="T28" fmla="*/ 0 w 412"/>
                    <a:gd name="T29" fmla="*/ 0 h 262"/>
                    <a:gd name="T30" fmla="*/ 0 w 412"/>
                    <a:gd name="T31" fmla="*/ 0 h 262"/>
                    <a:gd name="T32" fmla="*/ 0 w 412"/>
                    <a:gd name="T33" fmla="*/ 0 h 262"/>
                    <a:gd name="T34" fmla="*/ 0 w 412"/>
                    <a:gd name="T35" fmla="*/ 0 h 262"/>
                    <a:gd name="T36" fmla="*/ 0 w 412"/>
                    <a:gd name="T37" fmla="*/ 0 h 262"/>
                    <a:gd name="T38" fmla="*/ 0 w 412"/>
                    <a:gd name="T39" fmla="*/ 0 h 262"/>
                    <a:gd name="T40" fmla="*/ 0 w 412"/>
                    <a:gd name="T41" fmla="*/ 0 h 262"/>
                    <a:gd name="T42" fmla="*/ 0 w 412"/>
                    <a:gd name="T43" fmla="*/ 0 h 262"/>
                    <a:gd name="T44" fmla="*/ 0 w 412"/>
                    <a:gd name="T45" fmla="*/ 0 h 262"/>
                    <a:gd name="T46" fmla="*/ 0 w 412"/>
                    <a:gd name="T47" fmla="*/ 0 h 262"/>
                    <a:gd name="T48" fmla="*/ 0 w 412"/>
                    <a:gd name="T49" fmla="*/ 0 h 262"/>
                    <a:gd name="T50" fmla="*/ 0 w 412"/>
                    <a:gd name="T51" fmla="*/ 0 h 262"/>
                    <a:gd name="T52" fmla="*/ 0 w 412"/>
                    <a:gd name="T53" fmla="*/ 0 h 262"/>
                    <a:gd name="T54" fmla="*/ 0 w 412"/>
                    <a:gd name="T55" fmla="*/ 0 h 262"/>
                    <a:gd name="T56" fmla="*/ 0 w 412"/>
                    <a:gd name="T57" fmla="*/ 0 h 262"/>
                    <a:gd name="T58" fmla="*/ 0 w 412"/>
                    <a:gd name="T59" fmla="*/ 0 h 262"/>
                    <a:gd name="T60" fmla="*/ 0 w 412"/>
                    <a:gd name="T61" fmla="*/ 0 h 262"/>
                    <a:gd name="T62" fmla="*/ 0 w 412"/>
                    <a:gd name="T63" fmla="*/ 0 h 262"/>
                    <a:gd name="T64" fmla="*/ 0 w 412"/>
                    <a:gd name="T65" fmla="*/ 0 h 262"/>
                    <a:gd name="T66" fmla="*/ 0 w 412"/>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2"/>
                    <a:gd name="T103" fmla="*/ 0 h 262"/>
                    <a:gd name="T104" fmla="*/ 412 w 412"/>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2" h="262">
                      <a:moveTo>
                        <a:pt x="0" y="123"/>
                      </a:moveTo>
                      <a:lnTo>
                        <a:pt x="13" y="96"/>
                      </a:lnTo>
                      <a:lnTo>
                        <a:pt x="29" y="62"/>
                      </a:lnTo>
                      <a:lnTo>
                        <a:pt x="48" y="39"/>
                      </a:lnTo>
                      <a:lnTo>
                        <a:pt x="73" y="21"/>
                      </a:lnTo>
                      <a:lnTo>
                        <a:pt x="103" y="8"/>
                      </a:lnTo>
                      <a:lnTo>
                        <a:pt x="135" y="4"/>
                      </a:lnTo>
                      <a:lnTo>
                        <a:pt x="167" y="0"/>
                      </a:lnTo>
                      <a:lnTo>
                        <a:pt x="207" y="1"/>
                      </a:lnTo>
                      <a:lnTo>
                        <a:pt x="249" y="5"/>
                      </a:lnTo>
                      <a:lnTo>
                        <a:pt x="292" y="7"/>
                      </a:lnTo>
                      <a:lnTo>
                        <a:pt x="338" y="11"/>
                      </a:lnTo>
                      <a:lnTo>
                        <a:pt x="370" y="21"/>
                      </a:lnTo>
                      <a:lnTo>
                        <a:pt x="384" y="35"/>
                      </a:lnTo>
                      <a:lnTo>
                        <a:pt x="397" y="58"/>
                      </a:lnTo>
                      <a:lnTo>
                        <a:pt x="406" y="83"/>
                      </a:lnTo>
                      <a:lnTo>
                        <a:pt x="410" y="116"/>
                      </a:lnTo>
                      <a:lnTo>
                        <a:pt x="412" y="155"/>
                      </a:lnTo>
                      <a:lnTo>
                        <a:pt x="406" y="192"/>
                      </a:lnTo>
                      <a:lnTo>
                        <a:pt x="393" y="222"/>
                      </a:lnTo>
                      <a:lnTo>
                        <a:pt x="374" y="241"/>
                      </a:lnTo>
                      <a:lnTo>
                        <a:pt x="354" y="253"/>
                      </a:lnTo>
                      <a:lnTo>
                        <a:pt x="326" y="260"/>
                      </a:lnTo>
                      <a:lnTo>
                        <a:pt x="298" y="262"/>
                      </a:lnTo>
                      <a:lnTo>
                        <a:pt x="271" y="260"/>
                      </a:lnTo>
                      <a:lnTo>
                        <a:pt x="242" y="234"/>
                      </a:lnTo>
                      <a:lnTo>
                        <a:pt x="223" y="211"/>
                      </a:lnTo>
                      <a:lnTo>
                        <a:pt x="194" y="190"/>
                      </a:lnTo>
                      <a:lnTo>
                        <a:pt x="167" y="173"/>
                      </a:lnTo>
                      <a:lnTo>
                        <a:pt x="135" y="154"/>
                      </a:lnTo>
                      <a:lnTo>
                        <a:pt x="105" y="142"/>
                      </a:lnTo>
                      <a:lnTo>
                        <a:pt x="80" y="135"/>
                      </a:lnTo>
                      <a:lnTo>
                        <a:pt x="57" y="132"/>
                      </a:lnTo>
                      <a:lnTo>
                        <a:pt x="0" y="123"/>
                      </a:lnTo>
                      <a:close/>
                    </a:path>
                  </a:pathLst>
                </a:custGeom>
                <a:solidFill>
                  <a:srgbClr val="FFC0C0"/>
                </a:solidFill>
                <a:ln w="1588">
                  <a:solidFill>
                    <a:srgbClr val="000000"/>
                  </a:solidFill>
                  <a:prstDash val="solid"/>
                  <a:round/>
                  <a:headEnd/>
                  <a:tailEnd/>
                </a:ln>
              </p:spPr>
              <p:txBody>
                <a:bodyPr/>
                <a:lstStyle/>
                <a:p>
                  <a:endParaRPr lang="en-US"/>
                </a:p>
              </p:txBody>
            </p:sp>
          </p:grpSp>
        </p:grpSp>
      </p:grpSp>
      <p:sp>
        <p:nvSpPr>
          <p:cNvPr id="262" name="Rectangle 1526">
            <a:extLst>
              <a:ext uri="{FF2B5EF4-FFF2-40B4-BE49-F238E27FC236}">
                <a16:creationId xmlns:a16="http://schemas.microsoft.com/office/drawing/2014/main" id="{D4B81EF2-F614-4380-BDF0-66F184506469}"/>
              </a:ext>
            </a:extLst>
          </p:cNvPr>
          <p:cNvSpPr>
            <a:spLocks noChangeArrowheads="1"/>
          </p:cNvSpPr>
          <p:nvPr/>
        </p:nvSpPr>
        <p:spPr bwMode="auto">
          <a:xfrm>
            <a:off x="7040564" y="4449764"/>
            <a:ext cx="306387" cy="439737"/>
          </a:xfrm>
          <a:prstGeom prst="rect">
            <a:avLst/>
          </a:prstGeom>
          <a:solidFill>
            <a:srgbClr val="9933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263" name="Group 1527">
            <a:extLst>
              <a:ext uri="{FF2B5EF4-FFF2-40B4-BE49-F238E27FC236}">
                <a16:creationId xmlns:a16="http://schemas.microsoft.com/office/drawing/2014/main" id="{41B383C3-16D1-40F0-AB20-D7EF476C2AF2}"/>
              </a:ext>
            </a:extLst>
          </p:cNvPr>
          <p:cNvGrpSpPr>
            <a:grpSpLocks/>
          </p:cNvGrpSpPr>
          <p:nvPr/>
        </p:nvGrpSpPr>
        <p:grpSpPr bwMode="auto">
          <a:xfrm>
            <a:off x="7043738" y="4451351"/>
            <a:ext cx="303212" cy="434975"/>
            <a:chOff x="3392" y="3299"/>
            <a:chExt cx="191" cy="274"/>
          </a:xfrm>
        </p:grpSpPr>
        <p:grpSp>
          <p:nvGrpSpPr>
            <p:cNvPr id="264" name="Group 1528">
              <a:extLst>
                <a:ext uri="{FF2B5EF4-FFF2-40B4-BE49-F238E27FC236}">
                  <a16:creationId xmlns:a16="http://schemas.microsoft.com/office/drawing/2014/main" id="{801DC866-270E-4D2D-98DD-1352FB33664E}"/>
                </a:ext>
              </a:extLst>
            </p:cNvPr>
            <p:cNvGrpSpPr>
              <a:grpSpLocks/>
            </p:cNvGrpSpPr>
            <p:nvPr/>
          </p:nvGrpSpPr>
          <p:grpSpPr bwMode="auto">
            <a:xfrm>
              <a:off x="3392" y="3356"/>
              <a:ext cx="165" cy="197"/>
              <a:chOff x="3392" y="3356"/>
              <a:chExt cx="165" cy="197"/>
            </a:xfrm>
          </p:grpSpPr>
          <p:sp>
            <p:nvSpPr>
              <p:cNvPr id="317" name="Freeform 1529">
                <a:extLst>
                  <a:ext uri="{FF2B5EF4-FFF2-40B4-BE49-F238E27FC236}">
                    <a16:creationId xmlns:a16="http://schemas.microsoft.com/office/drawing/2014/main" id="{45DD3BEA-AC02-487C-A11F-A75B6EAA7A5E}"/>
                  </a:ext>
                </a:extLst>
              </p:cNvPr>
              <p:cNvSpPr>
                <a:spLocks/>
              </p:cNvSpPr>
              <p:nvPr/>
            </p:nvSpPr>
            <p:spPr bwMode="auto">
              <a:xfrm>
                <a:off x="3392" y="3356"/>
                <a:ext cx="165"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200" y="1522"/>
                    </a:lnTo>
                    <a:lnTo>
                      <a:pt x="162" y="1459"/>
                    </a:lnTo>
                    <a:lnTo>
                      <a:pt x="153" y="1439"/>
                    </a:lnTo>
                    <a:lnTo>
                      <a:pt x="126" y="1376"/>
                    </a:lnTo>
                    <a:lnTo>
                      <a:pt x="116" y="1333"/>
                    </a:lnTo>
                    <a:lnTo>
                      <a:pt x="106" y="1292"/>
                    </a:lnTo>
                    <a:lnTo>
                      <a:pt x="88" y="1229"/>
                    </a:lnTo>
                    <a:lnTo>
                      <a:pt x="70" y="1188"/>
                    </a:lnTo>
                    <a:lnTo>
                      <a:pt x="42" y="1124"/>
                    </a:lnTo>
                    <a:lnTo>
                      <a:pt x="23" y="1061"/>
                    </a:lnTo>
                    <a:lnTo>
                      <a:pt x="16" y="1022"/>
                    </a:lnTo>
                    <a:lnTo>
                      <a:pt x="4" y="935"/>
                    </a:lnTo>
                    <a:lnTo>
                      <a:pt x="1" y="872"/>
                    </a:lnTo>
                    <a:lnTo>
                      <a:pt x="0" y="792"/>
                    </a:lnTo>
                    <a:lnTo>
                      <a:pt x="14" y="724"/>
                    </a:lnTo>
                    <a:lnTo>
                      <a:pt x="32" y="693"/>
                    </a:lnTo>
                    <a:lnTo>
                      <a:pt x="50" y="677"/>
                    </a:lnTo>
                    <a:lnTo>
                      <a:pt x="68" y="669"/>
                    </a:lnTo>
                    <a:lnTo>
                      <a:pt x="88" y="661"/>
                    </a:lnTo>
                    <a:lnTo>
                      <a:pt x="106" y="661"/>
                    </a:lnTo>
                    <a:lnTo>
                      <a:pt x="106" y="613"/>
                    </a:lnTo>
                    <a:lnTo>
                      <a:pt x="101" y="591"/>
                    </a:lnTo>
                    <a:lnTo>
                      <a:pt x="98" y="555"/>
                    </a:lnTo>
                    <a:lnTo>
                      <a:pt x="105" y="534"/>
                    </a:lnTo>
                    <a:lnTo>
                      <a:pt x="106" y="515"/>
                    </a:lnTo>
                    <a:lnTo>
                      <a:pt x="120" y="477"/>
                    </a:lnTo>
                    <a:lnTo>
                      <a:pt x="134" y="451"/>
                    </a:lnTo>
                    <a:lnTo>
                      <a:pt x="156" y="419"/>
                    </a:lnTo>
                    <a:lnTo>
                      <a:pt x="184" y="388"/>
                    </a:lnTo>
                    <a:lnTo>
                      <a:pt x="217" y="361"/>
                    </a:lnTo>
                    <a:lnTo>
                      <a:pt x="245" y="336"/>
                    </a:lnTo>
                    <a:lnTo>
                      <a:pt x="279" y="326"/>
                    </a:lnTo>
                    <a:lnTo>
                      <a:pt x="312" y="320"/>
                    </a:lnTo>
                    <a:lnTo>
                      <a:pt x="344" y="326"/>
                    </a:lnTo>
                    <a:lnTo>
                      <a:pt x="374" y="336"/>
                    </a:lnTo>
                    <a:lnTo>
                      <a:pt x="411" y="346"/>
                    </a:lnTo>
                    <a:lnTo>
                      <a:pt x="420" y="326"/>
                    </a:lnTo>
                    <a:lnTo>
                      <a:pt x="427" y="268"/>
                    </a:lnTo>
                    <a:lnTo>
                      <a:pt x="439" y="220"/>
                    </a:lnTo>
                    <a:lnTo>
                      <a:pt x="461" y="184"/>
                    </a:lnTo>
                    <a:lnTo>
                      <a:pt x="487" y="160"/>
                    </a:lnTo>
                    <a:lnTo>
                      <a:pt x="522" y="148"/>
                    </a:lnTo>
                    <a:lnTo>
                      <a:pt x="560" y="136"/>
                    </a:lnTo>
                    <a:lnTo>
                      <a:pt x="616" y="125"/>
                    </a:lnTo>
                    <a:lnTo>
                      <a:pt x="651" y="125"/>
                    </a:lnTo>
                    <a:lnTo>
                      <a:pt x="661" y="104"/>
                    </a:lnTo>
                    <a:lnTo>
                      <a:pt x="679" y="62"/>
                    </a:lnTo>
                    <a:lnTo>
                      <a:pt x="707" y="31"/>
                    </a:lnTo>
                    <a:lnTo>
                      <a:pt x="744" y="10"/>
                    </a:lnTo>
                    <a:lnTo>
                      <a:pt x="800" y="0"/>
                    </a:lnTo>
                    <a:lnTo>
                      <a:pt x="855" y="0"/>
                    </a:lnTo>
                    <a:lnTo>
                      <a:pt x="928" y="4"/>
                    </a:lnTo>
                    <a:lnTo>
                      <a:pt x="967" y="6"/>
                    </a:lnTo>
                    <a:lnTo>
                      <a:pt x="994" y="10"/>
                    </a:lnTo>
                    <a:lnTo>
                      <a:pt x="1019" y="17"/>
                    </a:lnTo>
                    <a:lnTo>
                      <a:pt x="1039" y="35"/>
                    </a:lnTo>
                    <a:lnTo>
                      <a:pt x="1052" y="57"/>
                    </a:lnTo>
                    <a:lnTo>
                      <a:pt x="1062" y="86"/>
                    </a:lnTo>
                    <a:lnTo>
                      <a:pt x="1067" y="136"/>
                    </a:lnTo>
                    <a:lnTo>
                      <a:pt x="1063" y="180"/>
                    </a:lnTo>
                    <a:lnTo>
                      <a:pt x="1047" y="218"/>
                    </a:lnTo>
                    <a:lnTo>
                      <a:pt x="1027" y="239"/>
                    </a:lnTo>
                    <a:lnTo>
                      <a:pt x="1003" y="252"/>
                    </a:lnTo>
                    <a:lnTo>
                      <a:pt x="974" y="260"/>
                    </a:lnTo>
                    <a:lnTo>
                      <a:pt x="923" y="258"/>
                    </a:lnTo>
                    <a:lnTo>
                      <a:pt x="939" y="281"/>
                    </a:lnTo>
                    <a:lnTo>
                      <a:pt x="962" y="323"/>
                    </a:lnTo>
                    <a:lnTo>
                      <a:pt x="980" y="357"/>
                    </a:lnTo>
                    <a:lnTo>
                      <a:pt x="995" y="399"/>
                    </a:lnTo>
                    <a:lnTo>
                      <a:pt x="1005" y="434"/>
                    </a:lnTo>
                    <a:lnTo>
                      <a:pt x="1000" y="457"/>
                    </a:lnTo>
                    <a:lnTo>
                      <a:pt x="980" y="482"/>
                    </a:lnTo>
                    <a:lnTo>
                      <a:pt x="1003" y="526"/>
                    </a:lnTo>
                    <a:lnTo>
                      <a:pt x="1029" y="567"/>
                    </a:lnTo>
                    <a:lnTo>
                      <a:pt x="1060" y="619"/>
                    </a:lnTo>
                    <a:lnTo>
                      <a:pt x="1109" y="667"/>
                    </a:lnTo>
                    <a:lnTo>
                      <a:pt x="1183" y="739"/>
                    </a:lnTo>
                    <a:lnTo>
                      <a:pt x="1251" y="822"/>
                    </a:lnTo>
                    <a:lnTo>
                      <a:pt x="1317" y="930"/>
                    </a:lnTo>
                    <a:lnTo>
                      <a:pt x="1373" y="1029"/>
                    </a:lnTo>
                    <a:lnTo>
                      <a:pt x="1419" y="1113"/>
                    </a:lnTo>
                    <a:lnTo>
                      <a:pt x="1433" y="1144"/>
                    </a:lnTo>
                    <a:lnTo>
                      <a:pt x="1436" y="1198"/>
                    </a:lnTo>
                    <a:lnTo>
                      <a:pt x="1451" y="1240"/>
                    </a:lnTo>
                    <a:lnTo>
                      <a:pt x="1473" y="1203"/>
                    </a:lnTo>
                    <a:lnTo>
                      <a:pt x="1517" y="1147"/>
                    </a:lnTo>
                    <a:lnTo>
                      <a:pt x="1575" y="1061"/>
                    </a:lnTo>
                    <a:lnTo>
                      <a:pt x="1613" y="1009"/>
                    </a:lnTo>
                    <a:lnTo>
                      <a:pt x="1630" y="977"/>
                    </a:lnTo>
                    <a:lnTo>
                      <a:pt x="1649" y="924"/>
                    </a:lnTo>
                    <a:lnTo>
                      <a:pt x="1666" y="889"/>
                    </a:lnTo>
                    <a:lnTo>
                      <a:pt x="1681" y="862"/>
                    </a:lnTo>
                    <a:lnTo>
                      <a:pt x="1702" y="833"/>
                    </a:lnTo>
                    <a:lnTo>
                      <a:pt x="1723" y="808"/>
                    </a:lnTo>
                    <a:lnTo>
                      <a:pt x="1764" y="767"/>
                    </a:lnTo>
                    <a:lnTo>
                      <a:pt x="1808" y="734"/>
                    </a:lnTo>
                    <a:lnTo>
                      <a:pt x="1852" y="713"/>
                    </a:lnTo>
                    <a:lnTo>
                      <a:pt x="1889" y="713"/>
                    </a:lnTo>
                    <a:lnTo>
                      <a:pt x="1924" y="717"/>
                    </a:lnTo>
                    <a:lnTo>
                      <a:pt x="1954" y="735"/>
                    </a:lnTo>
                    <a:lnTo>
                      <a:pt x="1974" y="774"/>
                    </a:lnTo>
                    <a:lnTo>
                      <a:pt x="1973" y="819"/>
                    </a:lnTo>
                    <a:lnTo>
                      <a:pt x="1973" y="839"/>
                    </a:lnTo>
                    <a:lnTo>
                      <a:pt x="1963" y="883"/>
                    </a:lnTo>
                    <a:lnTo>
                      <a:pt x="1945" y="903"/>
                    </a:lnTo>
                    <a:lnTo>
                      <a:pt x="1935" y="946"/>
                    </a:lnTo>
                    <a:lnTo>
                      <a:pt x="1917" y="1009"/>
                    </a:lnTo>
                    <a:lnTo>
                      <a:pt x="1917" y="1071"/>
                    </a:lnTo>
                    <a:lnTo>
                      <a:pt x="1908" y="1134"/>
                    </a:lnTo>
                    <a:lnTo>
                      <a:pt x="1904" y="1167"/>
                    </a:lnTo>
                    <a:lnTo>
                      <a:pt x="1896" y="1200"/>
                    </a:lnTo>
                    <a:lnTo>
                      <a:pt x="1876" y="1238"/>
                    </a:lnTo>
                    <a:lnTo>
                      <a:pt x="1852" y="1271"/>
                    </a:lnTo>
                    <a:lnTo>
                      <a:pt x="1835" y="1333"/>
                    </a:lnTo>
                    <a:lnTo>
                      <a:pt x="1807" y="1396"/>
                    </a:lnTo>
                    <a:lnTo>
                      <a:pt x="1723" y="1544"/>
                    </a:lnTo>
                    <a:lnTo>
                      <a:pt x="1649" y="1649"/>
                    </a:lnTo>
                    <a:lnTo>
                      <a:pt x="1594" y="1722"/>
                    </a:lnTo>
                    <a:lnTo>
                      <a:pt x="1585" y="1764"/>
                    </a:lnTo>
                    <a:lnTo>
                      <a:pt x="1575" y="1807"/>
                    </a:lnTo>
                    <a:lnTo>
                      <a:pt x="1558" y="1853"/>
                    </a:lnTo>
                    <a:lnTo>
                      <a:pt x="1545" y="1912"/>
                    </a:lnTo>
                    <a:lnTo>
                      <a:pt x="1519" y="1975"/>
                    </a:lnTo>
                    <a:lnTo>
                      <a:pt x="1473" y="2059"/>
                    </a:lnTo>
                    <a:lnTo>
                      <a:pt x="1428" y="2122"/>
                    </a:lnTo>
                    <a:lnTo>
                      <a:pt x="1400" y="2163"/>
                    </a:lnTo>
                    <a:lnTo>
                      <a:pt x="1381" y="2227"/>
                    </a:lnTo>
                    <a:lnTo>
                      <a:pt x="1363" y="2269"/>
                    </a:lnTo>
                    <a:lnTo>
                      <a:pt x="1333"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318" name="Group 1530">
                <a:extLst>
                  <a:ext uri="{FF2B5EF4-FFF2-40B4-BE49-F238E27FC236}">
                    <a16:creationId xmlns:a16="http://schemas.microsoft.com/office/drawing/2014/main" id="{34F6BFA1-175D-4B57-BB17-F09A32EB87FE}"/>
                  </a:ext>
                </a:extLst>
              </p:cNvPr>
              <p:cNvGrpSpPr>
                <a:grpSpLocks/>
              </p:cNvGrpSpPr>
              <p:nvPr/>
            </p:nvGrpSpPr>
            <p:grpSpPr bwMode="auto">
              <a:xfrm>
                <a:off x="3404" y="3410"/>
                <a:ext cx="138" cy="45"/>
                <a:chOff x="3404" y="3410"/>
                <a:chExt cx="138" cy="45"/>
              </a:xfrm>
            </p:grpSpPr>
            <p:sp>
              <p:nvSpPr>
                <p:cNvPr id="323" name="Freeform 1531">
                  <a:extLst>
                    <a:ext uri="{FF2B5EF4-FFF2-40B4-BE49-F238E27FC236}">
                      <a16:creationId xmlns:a16="http://schemas.microsoft.com/office/drawing/2014/main" id="{7C0D567F-58C3-49C0-8ACC-6C0512416244}"/>
                    </a:ext>
                  </a:extLst>
                </p:cNvPr>
                <p:cNvSpPr>
                  <a:spLocks/>
                </p:cNvSpPr>
                <p:nvPr/>
              </p:nvSpPr>
              <p:spPr bwMode="auto">
                <a:xfrm>
                  <a:off x="3527" y="3447"/>
                  <a:ext cx="15" cy="8"/>
                </a:xfrm>
                <a:custGeom>
                  <a:avLst/>
                  <a:gdLst>
                    <a:gd name="T0" fmla="*/ 0 w 184"/>
                    <a:gd name="T1" fmla="*/ 0 h 96"/>
                    <a:gd name="T2" fmla="*/ 0 w 184"/>
                    <a:gd name="T3" fmla="*/ 0 h 96"/>
                    <a:gd name="T4" fmla="*/ 0 w 184"/>
                    <a:gd name="T5" fmla="*/ 0 h 96"/>
                    <a:gd name="T6" fmla="*/ 0 w 184"/>
                    <a:gd name="T7" fmla="*/ 0 h 96"/>
                    <a:gd name="T8" fmla="*/ 0 w 184"/>
                    <a:gd name="T9" fmla="*/ 0 h 96"/>
                    <a:gd name="T10" fmla="*/ 0 w 184"/>
                    <a:gd name="T11" fmla="*/ 0 h 96"/>
                    <a:gd name="T12" fmla="*/ 0 w 184"/>
                    <a:gd name="T13" fmla="*/ 0 h 96"/>
                    <a:gd name="T14" fmla="*/ 0 60000 65536"/>
                    <a:gd name="T15" fmla="*/ 0 60000 65536"/>
                    <a:gd name="T16" fmla="*/ 0 60000 65536"/>
                    <a:gd name="T17" fmla="*/ 0 60000 65536"/>
                    <a:gd name="T18" fmla="*/ 0 60000 65536"/>
                    <a:gd name="T19" fmla="*/ 0 60000 65536"/>
                    <a:gd name="T20" fmla="*/ 0 60000 65536"/>
                    <a:gd name="T21" fmla="*/ 0 w 184"/>
                    <a:gd name="T22" fmla="*/ 0 h 96"/>
                    <a:gd name="T23" fmla="*/ 184 w 184"/>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4" h="96">
                      <a:moveTo>
                        <a:pt x="0" y="0"/>
                      </a:moveTo>
                      <a:lnTo>
                        <a:pt x="37" y="21"/>
                      </a:lnTo>
                      <a:lnTo>
                        <a:pt x="65" y="52"/>
                      </a:lnTo>
                      <a:lnTo>
                        <a:pt x="100" y="85"/>
                      </a:lnTo>
                      <a:lnTo>
                        <a:pt x="128" y="96"/>
                      </a:lnTo>
                      <a:lnTo>
                        <a:pt x="138" y="96"/>
                      </a:lnTo>
                      <a:lnTo>
                        <a:pt x="184"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4" name="Freeform 1532">
                  <a:extLst>
                    <a:ext uri="{FF2B5EF4-FFF2-40B4-BE49-F238E27FC236}">
                      <a16:creationId xmlns:a16="http://schemas.microsoft.com/office/drawing/2014/main" id="{9462409D-BBB5-4B9C-B2B8-3F3E0632F16E}"/>
                    </a:ext>
                  </a:extLst>
                </p:cNvPr>
                <p:cNvSpPr>
                  <a:spLocks/>
                </p:cNvSpPr>
                <p:nvPr/>
              </p:nvSpPr>
              <p:spPr bwMode="auto">
                <a:xfrm>
                  <a:off x="3404" y="3437"/>
                  <a:ext cx="7"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5" name="Freeform 1533">
                  <a:extLst>
                    <a:ext uri="{FF2B5EF4-FFF2-40B4-BE49-F238E27FC236}">
                      <a16:creationId xmlns:a16="http://schemas.microsoft.com/office/drawing/2014/main" id="{7A53B2AB-1824-481E-BB6C-085DD216BD56}"/>
                    </a:ext>
                  </a:extLst>
                </p:cNvPr>
                <p:cNvSpPr>
                  <a:spLocks/>
                </p:cNvSpPr>
                <p:nvPr/>
              </p:nvSpPr>
              <p:spPr bwMode="auto">
                <a:xfrm>
                  <a:off x="3427" y="3412"/>
                  <a:ext cx="2" cy="4"/>
                </a:xfrm>
                <a:custGeom>
                  <a:avLst/>
                  <a:gdLst>
                    <a:gd name="T0" fmla="*/ 0 w 19"/>
                    <a:gd name="T1" fmla="*/ 0 h 44"/>
                    <a:gd name="T2" fmla="*/ 0 w 19"/>
                    <a:gd name="T3" fmla="*/ 0 h 44"/>
                    <a:gd name="T4" fmla="*/ 0 w 19"/>
                    <a:gd name="T5" fmla="*/ 0 h 44"/>
                    <a:gd name="T6" fmla="*/ 0 w 19"/>
                    <a:gd name="T7" fmla="*/ 0 h 44"/>
                    <a:gd name="T8" fmla="*/ 0 60000 65536"/>
                    <a:gd name="T9" fmla="*/ 0 60000 65536"/>
                    <a:gd name="T10" fmla="*/ 0 60000 65536"/>
                    <a:gd name="T11" fmla="*/ 0 60000 65536"/>
                    <a:gd name="T12" fmla="*/ 0 w 19"/>
                    <a:gd name="T13" fmla="*/ 0 h 44"/>
                    <a:gd name="T14" fmla="*/ 19 w 19"/>
                    <a:gd name="T15" fmla="*/ 44 h 44"/>
                  </a:gdLst>
                  <a:ahLst/>
                  <a:cxnLst>
                    <a:cxn ang="T8">
                      <a:pos x="T0" y="T1"/>
                    </a:cxn>
                    <a:cxn ang="T9">
                      <a:pos x="T2" y="T3"/>
                    </a:cxn>
                    <a:cxn ang="T10">
                      <a:pos x="T4" y="T5"/>
                    </a:cxn>
                    <a:cxn ang="T11">
                      <a:pos x="T6" y="T7"/>
                    </a:cxn>
                  </a:cxnLst>
                  <a:rect l="T12" t="T13" r="T14" b="T15"/>
                  <a:pathLst>
                    <a:path w="19" h="44">
                      <a:moveTo>
                        <a:pt x="0" y="0"/>
                      </a:moveTo>
                      <a:lnTo>
                        <a:pt x="19" y="18"/>
                      </a:lnTo>
                      <a:lnTo>
                        <a:pt x="17" y="29"/>
                      </a:lnTo>
                      <a:lnTo>
                        <a:pt x="19"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6" name="Freeform 1534">
                  <a:extLst>
                    <a:ext uri="{FF2B5EF4-FFF2-40B4-BE49-F238E27FC236}">
                      <a16:creationId xmlns:a16="http://schemas.microsoft.com/office/drawing/2014/main" id="{F1249A52-5E41-4324-A536-BD99EC71A119}"/>
                    </a:ext>
                  </a:extLst>
                </p:cNvPr>
                <p:cNvSpPr>
                  <a:spLocks/>
                </p:cNvSpPr>
                <p:nvPr/>
              </p:nvSpPr>
              <p:spPr bwMode="auto">
                <a:xfrm>
                  <a:off x="3421" y="3410"/>
                  <a:ext cx="15" cy="2"/>
                </a:xfrm>
                <a:custGeom>
                  <a:avLst/>
                  <a:gdLst>
                    <a:gd name="T0" fmla="*/ 0 w 179"/>
                    <a:gd name="T1" fmla="*/ 0 h 23"/>
                    <a:gd name="T2" fmla="*/ 0 w 179"/>
                    <a:gd name="T3" fmla="*/ 0 h 23"/>
                    <a:gd name="T4" fmla="*/ 0 w 179"/>
                    <a:gd name="T5" fmla="*/ 0 h 23"/>
                    <a:gd name="T6" fmla="*/ 0 w 179"/>
                    <a:gd name="T7" fmla="*/ 0 h 23"/>
                    <a:gd name="T8" fmla="*/ 0 w 179"/>
                    <a:gd name="T9" fmla="*/ 0 h 23"/>
                    <a:gd name="T10" fmla="*/ 0 60000 65536"/>
                    <a:gd name="T11" fmla="*/ 0 60000 65536"/>
                    <a:gd name="T12" fmla="*/ 0 60000 65536"/>
                    <a:gd name="T13" fmla="*/ 0 60000 65536"/>
                    <a:gd name="T14" fmla="*/ 0 60000 65536"/>
                    <a:gd name="T15" fmla="*/ 0 w 179"/>
                    <a:gd name="T16" fmla="*/ 0 h 23"/>
                    <a:gd name="T17" fmla="*/ 179 w 179"/>
                    <a:gd name="T18" fmla="*/ 23 h 23"/>
                  </a:gdLst>
                  <a:ahLst/>
                  <a:cxnLst>
                    <a:cxn ang="T10">
                      <a:pos x="T0" y="T1"/>
                    </a:cxn>
                    <a:cxn ang="T11">
                      <a:pos x="T2" y="T3"/>
                    </a:cxn>
                    <a:cxn ang="T12">
                      <a:pos x="T4" y="T5"/>
                    </a:cxn>
                    <a:cxn ang="T13">
                      <a:pos x="T6" y="T7"/>
                    </a:cxn>
                    <a:cxn ang="T14">
                      <a:pos x="T8" y="T9"/>
                    </a:cxn>
                  </a:cxnLst>
                  <a:rect l="T15" t="T16" r="T17" b="T18"/>
                  <a:pathLst>
                    <a:path w="179" h="23">
                      <a:moveTo>
                        <a:pt x="179" y="12"/>
                      </a:moveTo>
                      <a:lnTo>
                        <a:pt x="151" y="23"/>
                      </a:lnTo>
                      <a:lnTo>
                        <a:pt x="40" y="23"/>
                      </a:lnTo>
                      <a:lnTo>
                        <a:pt x="18" y="11"/>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19" name="Group 1535">
                <a:extLst>
                  <a:ext uri="{FF2B5EF4-FFF2-40B4-BE49-F238E27FC236}">
                    <a16:creationId xmlns:a16="http://schemas.microsoft.com/office/drawing/2014/main" id="{B4A291BD-3F37-4E5E-B0D2-AB360829E03F}"/>
                  </a:ext>
                </a:extLst>
              </p:cNvPr>
              <p:cNvGrpSpPr>
                <a:grpSpLocks/>
              </p:cNvGrpSpPr>
              <p:nvPr/>
            </p:nvGrpSpPr>
            <p:grpSpPr bwMode="auto">
              <a:xfrm>
                <a:off x="3419" y="3401"/>
                <a:ext cx="95" cy="91"/>
                <a:chOff x="3419" y="3401"/>
                <a:chExt cx="95" cy="91"/>
              </a:xfrm>
            </p:grpSpPr>
            <p:sp>
              <p:nvSpPr>
                <p:cNvPr id="320" name="Freeform 1536">
                  <a:extLst>
                    <a:ext uri="{FF2B5EF4-FFF2-40B4-BE49-F238E27FC236}">
                      <a16:creationId xmlns:a16="http://schemas.microsoft.com/office/drawing/2014/main" id="{A99B62BA-13F7-44FC-9D0A-BFA588FA0525}"/>
                    </a:ext>
                  </a:extLst>
                </p:cNvPr>
                <p:cNvSpPr>
                  <a:spLocks/>
                </p:cNvSpPr>
                <p:nvPr/>
              </p:nvSpPr>
              <p:spPr bwMode="auto">
                <a:xfrm>
                  <a:off x="3425" y="3418"/>
                  <a:ext cx="89" cy="74"/>
                </a:xfrm>
                <a:custGeom>
                  <a:avLst/>
                  <a:gdLst>
                    <a:gd name="T0" fmla="*/ 0 w 1060"/>
                    <a:gd name="T1" fmla="*/ 0 h 894"/>
                    <a:gd name="T2" fmla="*/ 0 w 1060"/>
                    <a:gd name="T3" fmla="*/ 0 h 894"/>
                    <a:gd name="T4" fmla="*/ 0 w 1060"/>
                    <a:gd name="T5" fmla="*/ 0 h 894"/>
                    <a:gd name="T6" fmla="*/ 0 w 1060"/>
                    <a:gd name="T7" fmla="*/ 0 h 894"/>
                    <a:gd name="T8" fmla="*/ 0 w 1060"/>
                    <a:gd name="T9" fmla="*/ 0 h 894"/>
                    <a:gd name="T10" fmla="*/ 0 w 1060"/>
                    <a:gd name="T11" fmla="*/ 0 h 894"/>
                    <a:gd name="T12" fmla="*/ 0 w 1060"/>
                    <a:gd name="T13" fmla="*/ 0 h 894"/>
                    <a:gd name="T14" fmla="*/ 0 w 1060"/>
                    <a:gd name="T15" fmla="*/ 0 h 894"/>
                    <a:gd name="T16" fmla="*/ 0 w 1060"/>
                    <a:gd name="T17" fmla="*/ 0 h 894"/>
                    <a:gd name="T18" fmla="*/ 0 w 1060"/>
                    <a:gd name="T19" fmla="*/ 0 h 894"/>
                    <a:gd name="T20" fmla="*/ 0 w 1060"/>
                    <a:gd name="T21" fmla="*/ 0 h 894"/>
                    <a:gd name="T22" fmla="*/ 0 w 1060"/>
                    <a:gd name="T23" fmla="*/ 0 h 894"/>
                    <a:gd name="T24" fmla="*/ 0 w 1060"/>
                    <a:gd name="T25" fmla="*/ 0 h 894"/>
                    <a:gd name="T26" fmla="*/ 0 w 1060"/>
                    <a:gd name="T27" fmla="*/ 0 h 894"/>
                    <a:gd name="T28" fmla="*/ 0 w 1060"/>
                    <a:gd name="T29" fmla="*/ 0 h 894"/>
                    <a:gd name="T30" fmla="*/ 0 w 1060"/>
                    <a:gd name="T31" fmla="*/ 0 h 894"/>
                    <a:gd name="T32" fmla="*/ 0 w 1060"/>
                    <a:gd name="T33" fmla="*/ 0 h 894"/>
                    <a:gd name="T34" fmla="*/ 0 w 1060"/>
                    <a:gd name="T35" fmla="*/ 0 h 894"/>
                    <a:gd name="T36" fmla="*/ 0 w 1060"/>
                    <a:gd name="T37" fmla="*/ 0 h 894"/>
                    <a:gd name="T38" fmla="*/ 0 w 1060"/>
                    <a:gd name="T39" fmla="*/ 0 h 894"/>
                    <a:gd name="T40" fmla="*/ 0 w 1060"/>
                    <a:gd name="T41" fmla="*/ 0 h 894"/>
                    <a:gd name="T42" fmla="*/ 0 w 1060"/>
                    <a:gd name="T43" fmla="*/ 0 h 894"/>
                    <a:gd name="T44" fmla="*/ 0 w 1060"/>
                    <a:gd name="T45" fmla="*/ 0 h 894"/>
                    <a:gd name="T46" fmla="*/ 0 w 1060"/>
                    <a:gd name="T47" fmla="*/ 0 h 894"/>
                    <a:gd name="T48" fmla="*/ 0 w 1060"/>
                    <a:gd name="T49" fmla="*/ 0 h 894"/>
                    <a:gd name="T50" fmla="*/ 0 w 1060"/>
                    <a:gd name="T51" fmla="*/ 0 h 894"/>
                    <a:gd name="T52" fmla="*/ 0 w 1060"/>
                    <a:gd name="T53" fmla="*/ 0 h 894"/>
                    <a:gd name="T54" fmla="*/ 0 w 1060"/>
                    <a:gd name="T55" fmla="*/ 0 h 894"/>
                    <a:gd name="T56" fmla="*/ 0 w 1060"/>
                    <a:gd name="T57" fmla="*/ 0 h 894"/>
                    <a:gd name="T58" fmla="*/ 0 w 1060"/>
                    <a:gd name="T59" fmla="*/ 0 h 894"/>
                    <a:gd name="T60" fmla="*/ 0 w 1060"/>
                    <a:gd name="T61" fmla="*/ 0 h 894"/>
                    <a:gd name="T62" fmla="*/ 0 w 1060"/>
                    <a:gd name="T63" fmla="*/ 0 h 894"/>
                    <a:gd name="T64" fmla="*/ 0 w 1060"/>
                    <a:gd name="T65" fmla="*/ 0 h 894"/>
                    <a:gd name="T66" fmla="*/ 0 w 1060"/>
                    <a:gd name="T67" fmla="*/ 0 h 894"/>
                    <a:gd name="T68" fmla="*/ 0 w 1060"/>
                    <a:gd name="T69" fmla="*/ 0 h 894"/>
                    <a:gd name="T70" fmla="*/ 0 w 1060"/>
                    <a:gd name="T71" fmla="*/ 0 h 894"/>
                    <a:gd name="T72" fmla="*/ 0 w 1060"/>
                    <a:gd name="T73" fmla="*/ 0 h 894"/>
                    <a:gd name="T74" fmla="*/ 0 w 1060"/>
                    <a:gd name="T75" fmla="*/ 0 h 894"/>
                    <a:gd name="T76" fmla="*/ 0 w 1060"/>
                    <a:gd name="T77" fmla="*/ 0 h 894"/>
                    <a:gd name="T78" fmla="*/ 0 w 1060"/>
                    <a:gd name="T79" fmla="*/ 0 h 894"/>
                    <a:gd name="T80" fmla="*/ 0 w 1060"/>
                    <a:gd name="T81" fmla="*/ 0 h 894"/>
                    <a:gd name="T82" fmla="*/ 0 w 1060"/>
                    <a:gd name="T83" fmla="*/ 0 h 894"/>
                    <a:gd name="T84" fmla="*/ 0 w 1060"/>
                    <a:gd name="T85" fmla="*/ 0 h 894"/>
                    <a:gd name="T86" fmla="*/ 0 w 1060"/>
                    <a:gd name="T87" fmla="*/ 0 h 894"/>
                    <a:gd name="T88" fmla="*/ 0 w 1060"/>
                    <a:gd name="T89" fmla="*/ 0 h 894"/>
                    <a:gd name="T90" fmla="*/ 0 w 1060"/>
                    <a:gd name="T91" fmla="*/ 0 h 894"/>
                    <a:gd name="T92" fmla="*/ 0 w 1060"/>
                    <a:gd name="T93" fmla="*/ 0 h 894"/>
                    <a:gd name="T94" fmla="*/ 0 w 1060"/>
                    <a:gd name="T95" fmla="*/ 0 h 894"/>
                    <a:gd name="T96" fmla="*/ 0 w 1060"/>
                    <a:gd name="T97" fmla="*/ 0 h 894"/>
                    <a:gd name="T98" fmla="*/ 0 w 1060"/>
                    <a:gd name="T99" fmla="*/ 0 h 894"/>
                    <a:gd name="T100" fmla="*/ 0 w 1060"/>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0"/>
                    <a:gd name="T154" fmla="*/ 0 h 894"/>
                    <a:gd name="T155" fmla="*/ 1060 w 1060"/>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0" h="894">
                      <a:moveTo>
                        <a:pt x="1060" y="487"/>
                      </a:moveTo>
                      <a:lnTo>
                        <a:pt x="982" y="517"/>
                      </a:lnTo>
                      <a:lnTo>
                        <a:pt x="885" y="555"/>
                      </a:lnTo>
                      <a:lnTo>
                        <a:pt x="826" y="593"/>
                      </a:lnTo>
                      <a:lnTo>
                        <a:pt x="778" y="652"/>
                      </a:lnTo>
                      <a:lnTo>
                        <a:pt x="749" y="739"/>
                      </a:lnTo>
                      <a:lnTo>
                        <a:pt x="730" y="807"/>
                      </a:lnTo>
                      <a:lnTo>
                        <a:pt x="671" y="875"/>
                      </a:lnTo>
                      <a:lnTo>
                        <a:pt x="573" y="894"/>
                      </a:lnTo>
                      <a:lnTo>
                        <a:pt x="506" y="865"/>
                      </a:lnTo>
                      <a:lnTo>
                        <a:pt x="456" y="826"/>
                      </a:lnTo>
                      <a:lnTo>
                        <a:pt x="453" y="784"/>
                      </a:lnTo>
                      <a:lnTo>
                        <a:pt x="447" y="749"/>
                      </a:lnTo>
                      <a:lnTo>
                        <a:pt x="408" y="690"/>
                      </a:lnTo>
                      <a:lnTo>
                        <a:pt x="320" y="662"/>
                      </a:lnTo>
                      <a:lnTo>
                        <a:pt x="389" y="617"/>
                      </a:lnTo>
                      <a:lnTo>
                        <a:pt x="460" y="603"/>
                      </a:lnTo>
                      <a:lnTo>
                        <a:pt x="493" y="584"/>
                      </a:lnTo>
                      <a:lnTo>
                        <a:pt x="431" y="581"/>
                      </a:lnTo>
                      <a:lnTo>
                        <a:pt x="360" y="603"/>
                      </a:lnTo>
                      <a:lnTo>
                        <a:pt x="282" y="633"/>
                      </a:lnTo>
                      <a:lnTo>
                        <a:pt x="246" y="603"/>
                      </a:lnTo>
                      <a:lnTo>
                        <a:pt x="240" y="565"/>
                      </a:lnTo>
                      <a:lnTo>
                        <a:pt x="237" y="520"/>
                      </a:lnTo>
                      <a:lnTo>
                        <a:pt x="224" y="477"/>
                      </a:lnTo>
                      <a:lnTo>
                        <a:pt x="174" y="468"/>
                      </a:lnTo>
                      <a:lnTo>
                        <a:pt x="136" y="484"/>
                      </a:lnTo>
                      <a:lnTo>
                        <a:pt x="104" y="514"/>
                      </a:lnTo>
                      <a:lnTo>
                        <a:pt x="58" y="542"/>
                      </a:lnTo>
                      <a:lnTo>
                        <a:pt x="0" y="593"/>
                      </a:lnTo>
                      <a:lnTo>
                        <a:pt x="58" y="507"/>
                      </a:lnTo>
                      <a:lnTo>
                        <a:pt x="165" y="420"/>
                      </a:lnTo>
                      <a:lnTo>
                        <a:pt x="233" y="380"/>
                      </a:lnTo>
                      <a:lnTo>
                        <a:pt x="295" y="364"/>
                      </a:lnTo>
                      <a:lnTo>
                        <a:pt x="347" y="368"/>
                      </a:lnTo>
                      <a:lnTo>
                        <a:pt x="402" y="355"/>
                      </a:lnTo>
                      <a:lnTo>
                        <a:pt x="486" y="332"/>
                      </a:lnTo>
                      <a:lnTo>
                        <a:pt x="593" y="288"/>
                      </a:lnTo>
                      <a:lnTo>
                        <a:pt x="693" y="239"/>
                      </a:lnTo>
                      <a:lnTo>
                        <a:pt x="752" y="210"/>
                      </a:lnTo>
                      <a:lnTo>
                        <a:pt x="785" y="168"/>
                      </a:lnTo>
                      <a:lnTo>
                        <a:pt x="801" y="116"/>
                      </a:lnTo>
                      <a:lnTo>
                        <a:pt x="797" y="62"/>
                      </a:lnTo>
                      <a:lnTo>
                        <a:pt x="785" y="0"/>
                      </a:lnTo>
                      <a:lnTo>
                        <a:pt x="846" y="68"/>
                      </a:lnTo>
                      <a:lnTo>
                        <a:pt x="895" y="145"/>
                      </a:lnTo>
                      <a:lnTo>
                        <a:pt x="953" y="245"/>
                      </a:lnTo>
                      <a:lnTo>
                        <a:pt x="979" y="300"/>
                      </a:lnTo>
                      <a:lnTo>
                        <a:pt x="1005" y="348"/>
                      </a:lnTo>
                      <a:lnTo>
                        <a:pt x="1041" y="401"/>
                      </a:lnTo>
                      <a:lnTo>
                        <a:pt x="1060"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1" name="Freeform 1537">
                  <a:extLst>
                    <a:ext uri="{FF2B5EF4-FFF2-40B4-BE49-F238E27FC236}">
                      <a16:creationId xmlns:a16="http://schemas.microsoft.com/office/drawing/2014/main" id="{F5406A13-D48C-417A-AB6C-9B5632DACC0B}"/>
                    </a:ext>
                  </a:extLst>
                </p:cNvPr>
                <p:cNvSpPr>
                  <a:spLocks/>
                </p:cNvSpPr>
                <p:nvPr/>
              </p:nvSpPr>
              <p:spPr bwMode="auto">
                <a:xfrm>
                  <a:off x="3419" y="3441"/>
                  <a:ext cx="24" cy="15"/>
                </a:xfrm>
                <a:custGeom>
                  <a:avLst/>
                  <a:gdLst>
                    <a:gd name="T0" fmla="*/ 0 w 289"/>
                    <a:gd name="T1" fmla="*/ 0 h 181"/>
                    <a:gd name="T2" fmla="*/ 0 w 289"/>
                    <a:gd name="T3" fmla="*/ 0 h 181"/>
                    <a:gd name="T4" fmla="*/ 0 w 289"/>
                    <a:gd name="T5" fmla="*/ 0 h 181"/>
                    <a:gd name="T6" fmla="*/ 0 w 289"/>
                    <a:gd name="T7" fmla="*/ 0 h 181"/>
                    <a:gd name="T8" fmla="*/ 0 w 289"/>
                    <a:gd name="T9" fmla="*/ 0 h 181"/>
                    <a:gd name="T10" fmla="*/ 0 w 289"/>
                    <a:gd name="T11" fmla="*/ 0 h 181"/>
                    <a:gd name="T12" fmla="*/ 0 w 289"/>
                    <a:gd name="T13" fmla="*/ 0 h 181"/>
                    <a:gd name="T14" fmla="*/ 0 w 289"/>
                    <a:gd name="T15" fmla="*/ 0 h 181"/>
                    <a:gd name="T16" fmla="*/ 0 w 289"/>
                    <a:gd name="T17" fmla="*/ 0 h 181"/>
                    <a:gd name="T18" fmla="*/ 0 w 289"/>
                    <a:gd name="T19" fmla="*/ 0 h 181"/>
                    <a:gd name="T20" fmla="*/ 0 w 289"/>
                    <a:gd name="T21" fmla="*/ 0 h 181"/>
                    <a:gd name="T22" fmla="*/ 0 w 289"/>
                    <a:gd name="T23" fmla="*/ 0 h 181"/>
                    <a:gd name="T24" fmla="*/ 0 w 289"/>
                    <a:gd name="T25" fmla="*/ 0 h 181"/>
                    <a:gd name="T26" fmla="*/ 0 w 289"/>
                    <a:gd name="T27" fmla="*/ 0 h 181"/>
                    <a:gd name="T28" fmla="*/ 0 w 289"/>
                    <a:gd name="T29" fmla="*/ 0 h 181"/>
                    <a:gd name="T30" fmla="*/ 0 w 289"/>
                    <a:gd name="T31" fmla="*/ 0 h 181"/>
                    <a:gd name="T32" fmla="*/ 0 w 289"/>
                    <a:gd name="T33" fmla="*/ 0 h 181"/>
                    <a:gd name="T34" fmla="*/ 0 w 289"/>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9"/>
                    <a:gd name="T55" fmla="*/ 0 h 181"/>
                    <a:gd name="T56" fmla="*/ 289 w 289"/>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9" h="181">
                      <a:moveTo>
                        <a:pt x="176" y="10"/>
                      </a:moveTo>
                      <a:lnTo>
                        <a:pt x="210" y="20"/>
                      </a:lnTo>
                      <a:lnTo>
                        <a:pt x="246" y="33"/>
                      </a:lnTo>
                      <a:lnTo>
                        <a:pt x="289" y="53"/>
                      </a:lnTo>
                      <a:lnTo>
                        <a:pt x="259" y="67"/>
                      </a:lnTo>
                      <a:lnTo>
                        <a:pt x="203" y="91"/>
                      </a:lnTo>
                      <a:lnTo>
                        <a:pt x="143" y="124"/>
                      </a:lnTo>
                      <a:lnTo>
                        <a:pt x="103" y="161"/>
                      </a:lnTo>
                      <a:lnTo>
                        <a:pt x="80" y="181"/>
                      </a:lnTo>
                      <a:lnTo>
                        <a:pt x="107"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2" name="Freeform 1538">
                  <a:extLst>
                    <a:ext uri="{FF2B5EF4-FFF2-40B4-BE49-F238E27FC236}">
                      <a16:creationId xmlns:a16="http://schemas.microsoft.com/office/drawing/2014/main" id="{E349BC31-B71D-4395-BE63-2F0A0BDC4013}"/>
                    </a:ext>
                  </a:extLst>
                </p:cNvPr>
                <p:cNvSpPr>
                  <a:spLocks/>
                </p:cNvSpPr>
                <p:nvPr/>
              </p:nvSpPr>
              <p:spPr bwMode="auto">
                <a:xfrm>
                  <a:off x="3440" y="3401"/>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5" y="166"/>
                      </a:lnTo>
                      <a:lnTo>
                        <a:pt x="366" y="206"/>
                      </a:lnTo>
                      <a:lnTo>
                        <a:pt x="314" y="255"/>
                      </a:lnTo>
                      <a:lnTo>
                        <a:pt x="265" y="332"/>
                      </a:lnTo>
                      <a:lnTo>
                        <a:pt x="242" y="384"/>
                      </a:lnTo>
                      <a:lnTo>
                        <a:pt x="258" y="434"/>
                      </a:lnTo>
                      <a:lnTo>
                        <a:pt x="193" y="388"/>
                      </a:lnTo>
                      <a:lnTo>
                        <a:pt x="131" y="365"/>
                      </a:lnTo>
                      <a:lnTo>
                        <a:pt x="81" y="345"/>
                      </a:lnTo>
                      <a:lnTo>
                        <a:pt x="32" y="329"/>
                      </a:lnTo>
                      <a:lnTo>
                        <a:pt x="0" y="313"/>
                      </a:lnTo>
                      <a:lnTo>
                        <a:pt x="43" y="255"/>
                      </a:lnTo>
                      <a:lnTo>
                        <a:pt x="81" y="283"/>
                      </a:lnTo>
                      <a:lnTo>
                        <a:pt x="144" y="313"/>
                      </a:lnTo>
                      <a:lnTo>
                        <a:pt x="196" y="313"/>
                      </a:lnTo>
                      <a:lnTo>
                        <a:pt x="246" y="304"/>
                      </a:lnTo>
                      <a:lnTo>
                        <a:pt x="274" y="293"/>
                      </a:lnTo>
                      <a:lnTo>
                        <a:pt x="305" y="274"/>
                      </a:lnTo>
                      <a:lnTo>
                        <a:pt x="314" y="212"/>
                      </a:lnTo>
                      <a:lnTo>
                        <a:pt x="305" y="166"/>
                      </a:lnTo>
                      <a:lnTo>
                        <a:pt x="274" y="107"/>
                      </a:lnTo>
                      <a:lnTo>
                        <a:pt x="265" y="78"/>
                      </a:lnTo>
                      <a:lnTo>
                        <a:pt x="308" y="68"/>
                      </a:lnTo>
                      <a:lnTo>
                        <a:pt x="362" y="52"/>
                      </a:lnTo>
                      <a:lnTo>
                        <a:pt x="399" y="9"/>
                      </a:lnTo>
                      <a:lnTo>
                        <a:pt x="431" y="0"/>
                      </a:lnTo>
                      <a:lnTo>
                        <a:pt x="467" y="55"/>
                      </a:lnTo>
                      <a:lnTo>
                        <a:pt x="500"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65" name="Group 1539">
              <a:extLst>
                <a:ext uri="{FF2B5EF4-FFF2-40B4-BE49-F238E27FC236}">
                  <a16:creationId xmlns:a16="http://schemas.microsoft.com/office/drawing/2014/main" id="{525E306F-D546-4AB0-84BD-50721FDB9EB2}"/>
                </a:ext>
              </a:extLst>
            </p:cNvPr>
            <p:cNvGrpSpPr>
              <a:grpSpLocks/>
            </p:cNvGrpSpPr>
            <p:nvPr/>
          </p:nvGrpSpPr>
          <p:grpSpPr bwMode="auto">
            <a:xfrm>
              <a:off x="3443" y="3299"/>
              <a:ext cx="140" cy="274"/>
              <a:chOff x="3443" y="3299"/>
              <a:chExt cx="140" cy="274"/>
            </a:xfrm>
          </p:grpSpPr>
          <p:sp>
            <p:nvSpPr>
              <p:cNvPr id="277" name="Freeform 1540">
                <a:extLst>
                  <a:ext uri="{FF2B5EF4-FFF2-40B4-BE49-F238E27FC236}">
                    <a16:creationId xmlns:a16="http://schemas.microsoft.com/office/drawing/2014/main" id="{CA6B170F-77AC-4089-82EC-E776871C5089}"/>
                  </a:ext>
                </a:extLst>
              </p:cNvPr>
              <p:cNvSpPr>
                <a:spLocks/>
              </p:cNvSpPr>
              <p:nvPr/>
            </p:nvSpPr>
            <p:spPr bwMode="auto">
              <a:xfrm>
                <a:off x="3452" y="3495"/>
                <a:ext cx="128"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8"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278" name="Freeform 1541">
                <a:extLst>
                  <a:ext uri="{FF2B5EF4-FFF2-40B4-BE49-F238E27FC236}">
                    <a16:creationId xmlns:a16="http://schemas.microsoft.com/office/drawing/2014/main" id="{F36E7A2A-8F16-4311-A83A-7B7477A51B35}"/>
                  </a:ext>
                </a:extLst>
              </p:cNvPr>
              <p:cNvSpPr>
                <a:spLocks/>
              </p:cNvSpPr>
              <p:nvPr/>
            </p:nvSpPr>
            <p:spPr bwMode="auto">
              <a:xfrm>
                <a:off x="3497" y="3529"/>
                <a:ext cx="86"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5" y="179"/>
                    </a:lnTo>
                    <a:lnTo>
                      <a:pt x="943" y="523"/>
                    </a:lnTo>
                    <a:lnTo>
                      <a:pt x="963" y="528"/>
                    </a:lnTo>
                    <a:lnTo>
                      <a:pt x="980" y="523"/>
                    </a:lnTo>
                    <a:lnTo>
                      <a:pt x="995" y="505"/>
                    </a:lnTo>
                    <a:lnTo>
                      <a:pt x="1013" y="461"/>
                    </a:lnTo>
                    <a:lnTo>
                      <a:pt x="1023" y="428"/>
                    </a:lnTo>
                    <a:lnTo>
                      <a:pt x="1027" y="398"/>
                    </a:lnTo>
                    <a:lnTo>
                      <a:pt x="1018" y="366"/>
                    </a:lnTo>
                    <a:lnTo>
                      <a:pt x="998"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279" name="Freeform 1542">
                <a:extLst>
                  <a:ext uri="{FF2B5EF4-FFF2-40B4-BE49-F238E27FC236}">
                    <a16:creationId xmlns:a16="http://schemas.microsoft.com/office/drawing/2014/main" id="{7880AF46-E605-49B7-9C4C-951EEB0A7E98}"/>
                  </a:ext>
                </a:extLst>
              </p:cNvPr>
              <p:cNvSpPr>
                <a:spLocks/>
              </p:cNvSpPr>
              <p:nvPr/>
            </p:nvSpPr>
            <p:spPr bwMode="auto">
              <a:xfrm>
                <a:off x="3443" y="3299"/>
                <a:ext cx="123" cy="245"/>
              </a:xfrm>
              <a:custGeom>
                <a:avLst/>
                <a:gdLst>
                  <a:gd name="T0" fmla="*/ 0 w 1478"/>
                  <a:gd name="T1" fmla="*/ 0 h 2948"/>
                  <a:gd name="T2" fmla="*/ 0 w 1478"/>
                  <a:gd name="T3" fmla="*/ 0 h 2948"/>
                  <a:gd name="T4" fmla="*/ 0 w 1478"/>
                  <a:gd name="T5" fmla="*/ 0 h 2948"/>
                  <a:gd name="T6" fmla="*/ 0 w 1478"/>
                  <a:gd name="T7" fmla="*/ 0 h 2948"/>
                  <a:gd name="T8" fmla="*/ 0 w 1478"/>
                  <a:gd name="T9" fmla="*/ 0 h 2948"/>
                  <a:gd name="T10" fmla="*/ 0 w 1478"/>
                  <a:gd name="T11" fmla="*/ 0 h 2948"/>
                  <a:gd name="T12" fmla="*/ 0 w 1478"/>
                  <a:gd name="T13" fmla="*/ 0 h 2948"/>
                  <a:gd name="T14" fmla="*/ 0 w 1478"/>
                  <a:gd name="T15" fmla="*/ 0 h 2948"/>
                  <a:gd name="T16" fmla="*/ 0 w 1478"/>
                  <a:gd name="T17" fmla="*/ 0 h 2948"/>
                  <a:gd name="T18" fmla="*/ 0 w 1478"/>
                  <a:gd name="T19" fmla="*/ 0 h 2948"/>
                  <a:gd name="T20" fmla="*/ 0 w 1478"/>
                  <a:gd name="T21" fmla="*/ 0 h 2948"/>
                  <a:gd name="T22" fmla="*/ 0 w 1478"/>
                  <a:gd name="T23" fmla="*/ 0 h 2948"/>
                  <a:gd name="T24" fmla="*/ 0 w 1478"/>
                  <a:gd name="T25" fmla="*/ 0 h 2948"/>
                  <a:gd name="T26" fmla="*/ 0 w 1478"/>
                  <a:gd name="T27" fmla="*/ 0 h 2948"/>
                  <a:gd name="T28" fmla="*/ 0 w 1478"/>
                  <a:gd name="T29" fmla="*/ 0 h 2948"/>
                  <a:gd name="T30" fmla="*/ 0 w 1478"/>
                  <a:gd name="T31" fmla="*/ 0 h 2948"/>
                  <a:gd name="T32" fmla="*/ 0 w 1478"/>
                  <a:gd name="T33" fmla="*/ 0 h 2948"/>
                  <a:gd name="T34" fmla="*/ 0 w 1478"/>
                  <a:gd name="T35" fmla="*/ 0 h 2948"/>
                  <a:gd name="T36" fmla="*/ 0 w 1478"/>
                  <a:gd name="T37" fmla="*/ 0 h 2948"/>
                  <a:gd name="T38" fmla="*/ 0 w 1478"/>
                  <a:gd name="T39" fmla="*/ 0 h 2948"/>
                  <a:gd name="T40" fmla="*/ 0 w 1478"/>
                  <a:gd name="T41" fmla="*/ 0 h 2948"/>
                  <a:gd name="T42" fmla="*/ 0 w 1478"/>
                  <a:gd name="T43" fmla="*/ 0 h 2948"/>
                  <a:gd name="T44" fmla="*/ 0 w 1478"/>
                  <a:gd name="T45" fmla="*/ 0 h 2948"/>
                  <a:gd name="T46" fmla="*/ 0 w 1478"/>
                  <a:gd name="T47" fmla="*/ 0 h 2948"/>
                  <a:gd name="T48" fmla="*/ 0 w 1478"/>
                  <a:gd name="T49" fmla="*/ 0 h 2948"/>
                  <a:gd name="T50" fmla="*/ 0 w 1478"/>
                  <a:gd name="T51" fmla="*/ 0 h 2948"/>
                  <a:gd name="T52" fmla="*/ 0 w 1478"/>
                  <a:gd name="T53" fmla="*/ 0 h 2948"/>
                  <a:gd name="T54" fmla="*/ 0 w 1478"/>
                  <a:gd name="T55" fmla="*/ 0 h 2948"/>
                  <a:gd name="T56" fmla="*/ 0 w 1478"/>
                  <a:gd name="T57" fmla="*/ 0 h 2948"/>
                  <a:gd name="T58" fmla="*/ 0 w 1478"/>
                  <a:gd name="T59" fmla="*/ 0 h 2948"/>
                  <a:gd name="T60" fmla="*/ 0 w 1478"/>
                  <a:gd name="T61" fmla="*/ 0 h 2948"/>
                  <a:gd name="T62" fmla="*/ 0 w 1478"/>
                  <a:gd name="T63" fmla="*/ 0 h 2948"/>
                  <a:gd name="T64" fmla="*/ 0 w 1478"/>
                  <a:gd name="T65" fmla="*/ 0 h 2948"/>
                  <a:gd name="T66" fmla="*/ 0 w 1478"/>
                  <a:gd name="T67" fmla="*/ 0 h 2948"/>
                  <a:gd name="T68" fmla="*/ 0 w 1478"/>
                  <a:gd name="T69" fmla="*/ 0 h 2948"/>
                  <a:gd name="T70" fmla="*/ 0 w 1478"/>
                  <a:gd name="T71" fmla="*/ 0 h 2948"/>
                  <a:gd name="T72" fmla="*/ 0 w 1478"/>
                  <a:gd name="T73" fmla="*/ 0 h 2948"/>
                  <a:gd name="T74" fmla="*/ 0 w 1478"/>
                  <a:gd name="T75" fmla="*/ 0 h 2948"/>
                  <a:gd name="T76" fmla="*/ 0 w 1478"/>
                  <a:gd name="T77" fmla="*/ 0 h 2948"/>
                  <a:gd name="T78" fmla="*/ 0 w 1478"/>
                  <a:gd name="T79" fmla="*/ 0 h 2948"/>
                  <a:gd name="T80" fmla="*/ 0 w 1478"/>
                  <a:gd name="T81" fmla="*/ 0 h 2948"/>
                  <a:gd name="T82" fmla="*/ 0 w 1478"/>
                  <a:gd name="T83" fmla="*/ 0 h 2948"/>
                  <a:gd name="T84" fmla="*/ 0 w 1478"/>
                  <a:gd name="T85" fmla="*/ 0 h 2948"/>
                  <a:gd name="T86" fmla="*/ 0 w 1478"/>
                  <a:gd name="T87" fmla="*/ 0 h 2948"/>
                  <a:gd name="T88" fmla="*/ 0 w 1478"/>
                  <a:gd name="T89" fmla="*/ 0 h 2948"/>
                  <a:gd name="T90" fmla="*/ 0 w 1478"/>
                  <a:gd name="T91" fmla="*/ 0 h 2948"/>
                  <a:gd name="T92" fmla="*/ 0 w 1478"/>
                  <a:gd name="T93" fmla="*/ 0 h 2948"/>
                  <a:gd name="T94" fmla="*/ 0 w 1478"/>
                  <a:gd name="T95" fmla="*/ 0 h 2948"/>
                  <a:gd name="T96" fmla="*/ 0 w 1478"/>
                  <a:gd name="T97" fmla="*/ 0 h 2948"/>
                  <a:gd name="T98" fmla="*/ 0 w 1478"/>
                  <a:gd name="T99" fmla="*/ 0 h 2948"/>
                  <a:gd name="T100" fmla="*/ 0 w 1478"/>
                  <a:gd name="T101" fmla="*/ 0 h 2948"/>
                  <a:gd name="T102" fmla="*/ 0 w 1478"/>
                  <a:gd name="T103" fmla="*/ 0 h 2948"/>
                  <a:gd name="T104" fmla="*/ 0 w 1478"/>
                  <a:gd name="T105" fmla="*/ 0 h 2948"/>
                  <a:gd name="T106" fmla="*/ 0 w 1478"/>
                  <a:gd name="T107" fmla="*/ 0 h 2948"/>
                  <a:gd name="T108" fmla="*/ 0 w 1478"/>
                  <a:gd name="T109" fmla="*/ 0 h 2948"/>
                  <a:gd name="T110" fmla="*/ 0 w 1478"/>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8"/>
                  <a:gd name="T169" fmla="*/ 0 h 2948"/>
                  <a:gd name="T170" fmla="*/ 1478 w 1478"/>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8" h="2948">
                    <a:moveTo>
                      <a:pt x="1478" y="384"/>
                    </a:moveTo>
                    <a:lnTo>
                      <a:pt x="1475" y="353"/>
                    </a:lnTo>
                    <a:lnTo>
                      <a:pt x="1460" y="332"/>
                    </a:lnTo>
                    <a:lnTo>
                      <a:pt x="1438" y="306"/>
                    </a:lnTo>
                    <a:lnTo>
                      <a:pt x="1359" y="255"/>
                    </a:lnTo>
                    <a:lnTo>
                      <a:pt x="1008" y="61"/>
                    </a:lnTo>
                    <a:lnTo>
                      <a:pt x="957" y="38"/>
                    </a:lnTo>
                    <a:lnTo>
                      <a:pt x="925" y="23"/>
                    </a:lnTo>
                    <a:lnTo>
                      <a:pt x="885" y="10"/>
                    </a:lnTo>
                    <a:lnTo>
                      <a:pt x="861" y="3"/>
                    </a:lnTo>
                    <a:lnTo>
                      <a:pt x="824" y="0"/>
                    </a:lnTo>
                    <a:lnTo>
                      <a:pt x="791" y="3"/>
                    </a:lnTo>
                    <a:lnTo>
                      <a:pt x="766" y="6"/>
                    </a:lnTo>
                    <a:lnTo>
                      <a:pt x="730" y="16"/>
                    </a:lnTo>
                    <a:lnTo>
                      <a:pt x="695" y="32"/>
                    </a:lnTo>
                    <a:lnTo>
                      <a:pt x="662" y="54"/>
                    </a:lnTo>
                    <a:lnTo>
                      <a:pt x="629" y="74"/>
                    </a:lnTo>
                    <a:lnTo>
                      <a:pt x="597" y="95"/>
                    </a:lnTo>
                    <a:lnTo>
                      <a:pt x="562" y="121"/>
                    </a:lnTo>
                    <a:lnTo>
                      <a:pt x="527" y="154"/>
                    </a:lnTo>
                    <a:lnTo>
                      <a:pt x="508" y="175"/>
                    </a:lnTo>
                    <a:lnTo>
                      <a:pt x="492" y="201"/>
                    </a:lnTo>
                    <a:lnTo>
                      <a:pt x="480" y="238"/>
                    </a:lnTo>
                    <a:lnTo>
                      <a:pt x="9" y="2307"/>
                    </a:lnTo>
                    <a:lnTo>
                      <a:pt x="0" y="2349"/>
                    </a:lnTo>
                    <a:lnTo>
                      <a:pt x="0" y="2370"/>
                    </a:lnTo>
                    <a:lnTo>
                      <a:pt x="0" y="2396"/>
                    </a:lnTo>
                    <a:lnTo>
                      <a:pt x="1" y="2422"/>
                    </a:lnTo>
                    <a:lnTo>
                      <a:pt x="10" y="2466"/>
                    </a:lnTo>
                    <a:lnTo>
                      <a:pt x="18" y="2485"/>
                    </a:lnTo>
                    <a:lnTo>
                      <a:pt x="37" y="2518"/>
                    </a:lnTo>
                    <a:lnTo>
                      <a:pt x="50" y="2540"/>
                    </a:lnTo>
                    <a:lnTo>
                      <a:pt x="78" y="2571"/>
                    </a:lnTo>
                    <a:lnTo>
                      <a:pt x="110" y="2598"/>
                    </a:lnTo>
                    <a:lnTo>
                      <a:pt x="154" y="2627"/>
                    </a:lnTo>
                    <a:lnTo>
                      <a:pt x="190" y="2650"/>
                    </a:lnTo>
                    <a:lnTo>
                      <a:pt x="716" y="2948"/>
                    </a:lnTo>
                    <a:lnTo>
                      <a:pt x="707" y="2916"/>
                    </a:lnTo>
                    <a:lnTo>
                      <a:pt x="706" y="2885"/>
                    </a:lnTo>
                    <a:lnTo>
                      <a:pt x="712" y="2861"/>
                    </a:lnTo>
                    <a:lnTo>
                      <a:pt x="720" y="2833"/>
                    </a:lnTo>
                    <a:lnTo>
                      <a:pt x="734" y="2805"/>
                    </a:lnTo>
                    <a:lnTo>
                      <a:pt x="752" y="2783"/>
                    </a:lnTo>
                    <a:lnTo>
                      <a:pt x="777" y="2769"/>
                    </a:lnTo>
                    <a:lnTo>
                      <a:pt x="194" y="2433"/>
                    </a:lnTo>
                    <a:lnTo>
                      <a:pt x="175" y="2417"/>
                    </a:lnTo>
                    <a:lnTo>
                      <a:pt x="167" y="2407"/>
                    </a:lnTo>
                    <a:lnTo>
                      <a:pt x="162" y="2391"/>
                    </a:lnTo>
                    <a:lnTo>
                      <a:pt x="156" y="2359"/>
                    </a:lnTo>
                    <a:lnTo>
                      <a:pt x="156" y="2339"/>
                    </a:lnTo>
                    <a:lnTo>
                      <a:pt x="444" y="1110"/>
                    </a:lnTo>
                    <a:lnTo>
                      <a:pt x="473" y="1055"/>
                    </a:lnTo>
                    <a:lnTo>
                      <a:pt x="500" y="1024"/>
                    </a:lnTo>
                    <a:lnTo>
                      <a:pt x="547" y="976"/>
                    </a:lnTo>
                    <a:lnTo>
                      <a:pt x="582" y="941"/>
                    </a:lnTo>
                    <a:lnTo>
                      <a:pt x="1478" y="384"/>
                    </a:lnTo>
                    <a:close/>
                  </a:path>
                </a:pathLst>
              </a:custGeom>
              <a:solidFill>
                <a:srgbClr val="808080"/>
              </a:solidFill>
              <a:ln w="1588">
                <a:solidFill>
                  <a:srgbClr val="000000"/>
                </a:solidFill>
                <a:prstDash val="solid"/>
                <a:round/>
                <a:headEnd/>
                <a:tailEnd/>
              </a:ln>
            </p:spPr>
            <p:txBody>
              <a:bodyPr/>
              <a:lstStyle/>
              <a:p>
                <a:endParaRPr lang="en-US"/>
              </a:p>
            </p:txBody>
          </p:sp>
          <p:sp>
            <p:nvSpPr>
              <p:cNvPr id="280" name="Freeform 1543">
                <a:extLst>
                  <a:ext uri="{FF2B5EF4-FFF2-40B4-BE49-F238E27FC236}">
                    <a16:creationId xmlns:a16="http://schemas.microsoft.com/office/drawing/2014/main" id="{A9C93C1B-5143-402F-962E-55001324637E}"/>
                  </a:ext>
                </a:extLst>
              </p:cNvPr>
              <p:cNvSpPr>
                <a:spLocks/>
              </p:cNvSpPr>
              <p:nvPr/>
            </p:nvSpPr>
            <p:spPr bwMode="auto">
              <a:xfrm>
                <a:off x="3492" y="3303"/>
                <a:ext cx="77" cy="109"/>
              </a:xfrm>
              <a:custGeom>
                <a:avLst/>
                <a:gdLst>
                  <a:gd name="T0" fmla="*/ 0 w 927"/>
                  <a:gd name="T1" fmla="*/ 0 h 1304"/>
                  <a:gd name="T2" fmla="*/ 0 w 927"/>
                  <a:gd name="T3" fmla="*/ 0 h 1304"/>
                  <a:gd name="T4" fmla="*/ 0 w 927"/>
                  <a:gd name="T5" fmla="*/ 0 h 1304"/>
                  <a:gd name="T6" fmla="*/ 0 w 927"/>
                  <a:gd name="T7" fmla="*/ 0 h 1304"/>
                  <a:gd name="T8" fmla="*/ 0 w 927"/>
                  <a:gd name="T9" fmla="*/ 0 h 1304"/>
                  <a:gd name="T10" fmla="*/ 0 w 927"/>
                  <a:gd name="T11" fmla="*/ 0 h 1304"/>
                  <a:gd name="T12" fmla="*/ 0 w 927"/>
                  <a:gd name="T13" fmla="*/ 0 h 1304"/>
                  <a:gd name="T14" fmla="*/ 0 w 927"/>
                  <a:gd name="T15" fmla="*/ 0 h 1304"/>
                  <a:gd name="T16" fmla="*/ 0 w 927"/>
                  <a:gd name="T17" fmla="*/ 0 h 1304"/>
                  <a:gd name="T18" fmla="*/ 0 w 927"/>
                  <a:gd name="T19" fmla="*/ 0 h 1304"/>
                  <a:gd name="T20" fmla="*/ 0 w 927"/>
                  <a:gd name="T21" fmla="*/ 0 h 1304"/>
                  <a:gd name="T22" fmla="*/ 0 w 927"/>
                  <a:gd name="T23" fmla="*/ 0 h 1304"/>
                  <a:gd name="T24" fmla="*/ 0 w 927"/>
                  <a:gd name="T25" fmla="*/ 0 h 1304"/>
                  <a:gd name="T26" fmla="*/ 0 w 927"/>
                  <a:gd name="T27" fmla="*/ 0 h 1304"/>
                  <a:gd name="T28" fmla="*/ 0 w 927"/>
                  <a:gd name="T29" fmla="*/ 0 h 1304"/>
                  <a:gd name="T30" fmla="*/ 0 w 927"/>
                  <a:gd name="T31" fmla="*/ 0 h 1304"/>
                  <a:gd name="T32" fmla="*/ 0 w 927"/>
                  <a:gd name="T33" fmla="*/ 0 h 1304"/>
                  <a:gd name="T34" fmla="*/ 0 w 927"/>
                  <a:gd name="T35" fmla="*/ 0 h 1304"/>
                  <a:gd name="T36" fmla="*/ 0 w 927"/>
                  <a:gd name="T37" fmla="*/ 0 h 1304"/>
                  <a:gd name="T38" fmla="*/ 0 w 927"/>
                  <a:gd name="T39" fmla="*/ 0 h 1304"/>
                  <a:gd name="T40" fmla="*/ 0 w 927"/>
                  <a:gd name="T41" fmla="*/ 0 h 1304"/>
                  <a:gd name="T42" fmla="*/ 0 w 927"/>
                  <a:gd name="T43" fmla="*/ 0 h 1304"/>
                  <a:gd name="T44" fmla="*/ 0 w 927"/>
                  <a:gd name="T45" fmla="*/ 0 h 1304"/>
                  <a:gd name="T46" fmla="*/ 0 w 927"/>
                  <a:gd name="T47" fmla="*/ 0 h 1304"/>
                  <a:gd name="T48" fmla="*/ 0 w 927"/>
                  <a:gd name="T49" fmla="*/ 0 h 1304"/>
                  <a:gd name="T50" fmla="*/ 0 w 927"/>
                  <a:gd name="T51" fmla="*/ 0 h 1304"/>
                  <a:gd name="T52" fmla="*/ 0 w 927"/>
                  <a:gd name="T53" fmla="*/ 0 h 1304"/>
                  <a:gd name="T54" fmla="*/ 0 w 927"/>
                  <a:gd name="T55" fmla="*/ 0 h 1304"/>
                  <a:gd name="T56" fmla="*/ 0 w 927"/>
                  <a:gd name="T57" fmla="*/ 0 h 1304"/>
                  <a:gd name="T58" fmla="*/ 0 w 927"/>
                  <a:gd name="T59" fmla="*/ 0 h 1304"/>
                  <a:gd name="T60" fmla="*/ 0 w 927"/>
                  <a:gd name="T61" fmla="*/ 0 h 1304"/>
                  <a:gd name="T62" fmla="*/ 0 w 927"/>
                  <a:gd name="T63" fmla="*/ 0 h 1304"/>
                  <a:gd name="T64" fmla="*/ 0 w 927"/>
                  <a:gd name="T65" fmla="*/ 0 h 1304"/>
                  <a:gd name="T66" fmla="*/ 0 w 927"/>
                  <a:gd name="T67" fmla="*/ 0 h 1304"/>
                  <a:gd name="T68" fmla="*/ 0 w 927"/>
                  <a:gd name="T69" fmla="*/ 0 h 1304"/>
                  <a:gd name="T70" fmla="*/ 0 w 927"/>
                  <a:gd name="T71" fmla="*/ 0 h 1304"/>
                  <a:gd name="T72" fmla="*/ 0 w 927"/>
                  <a:gd name="T73" fmla="*/ 0 h 1304"/>
                  <a:gd name="T74" fmla="*/ 0 w 927"/>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7"/>
                  <a:gd name="T115" fmla="*/ 0 h 1304"/>
                  <a:gd name="T116" fmla="*/ 927 w 927"/>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7" h="1304">
                    <a:moveTo>
                      <a:pt x="897" y="351"/>
                    </a:moveTo>
                    <a:lnTo>
                      <a:pt x="867" y="315"/>
                    </a:lnTo>
                    <a:lnTo>
                      <a:pt x="821" y="278"/>
                    </a:lnTo>
                    <a:lnTo>
                      <a:pt x="754" y="241"/>
                    </a:lnTo>
                    <a:lnTo>
                      <a:pt x="585" y="148"/>
                    </a:lnTo>
                    <a:lnTo>
                      <a:pt x="399" y="53"/>
                    </a:lnTo>
                    <a:lnTo>
                      <a:pt x="334" y="21"/>
                    </a:lnTo>
                    <a:lnTo>
                      <a:pt x="289" y="6"/>
                    </a:lnTo>
                    <a:lnTo>
                      <a:pt x="255" y="0"/>
                    </a:lnTo>
                    <a:lnTo>
                      <a:pt x="228" y="0"/>
                    </a:lnTo>
                    <a:lnTo>
                      <a:pt x="204" y="5"/>
                    </a:lnTo>
                    <a:lnTo>
                      <a:pt x="182" y="21"/>
                    </a:lnTo>
                    <a:lnTo>
                      <a:pt x="164" y="41"/>
                    </a:lnTo>
                    <a:lnTo>
                      <a:pt x="147" y="76"/>
                    </a:lnTo>
                    <a:lnTo>
                      <a:pt x="0" y="833"/>
                    </a:lnTo>
                    <a:lnTo>
                      <a:pt x="0" y="865"/>
                    </a:lnTo>
                    <a:lnTo>
                      <a:pt x="0" y="906"/>
                    </a:lnTo>
                    <a:lnTo>
                      <a:pt x="6" y="936"/>
                    </a:lnTo>
                    <a:lnTo>
                      <a:pt x="16" y="957"/>
                    </a:lnTo>
                    <a:lnTo>
                      <a:pt x="28" y="978"/>
                    </a:lnTo>
                    <a:lnTo>
                      <a:pt x="56" y="1004"/>
                    </a:lnTo>
                    <a:lnTo>
                      <a:pt x="84" y="1022"/>
                    </a:lnTo>
                    <a:lnTo>
                      <a:pt x="117" y="1041"/>
                    </a:lnTo>
                    <a:lnTo>
                      <a:pt x="557" y="1267"/>
                    </a:lnTo>
                    <a:lnTo>
                      <a:pt x="599" y="1284"/>
                    </a:lnTo>
                    <a:lnTo>
                      <a:pt x="635" y="1295"/>
                    </a:lnTo>
                    <a:lnTo>
                      <a:pt x="677" y="1304"/>
                    </a:lnTo>
                    <a:lnTo>
                      <a:pt x="705" y="1304"/>
                    </a:lnTo>
                    <a:lnTo>
                      <a:pt x="733" y="1295"/>
                    </a:lnTo>
                    <a:lnTo>
                      <a:pt x="754" y="1269"/>
                    </a:lnTo>
                    <a:lnTo>
                      <a:pt x="766" y="1222"/>
                    </a:lnTo>
                    <a:lnTo>
                      <a:pt x="783" y="1162"/>
                    </a:lnTo>
                    <a:lnTo>
                      <a:pt x="859" y="833"/>
                    </a:lnTo>
                    <a:lnTo>
                      <a:pt x="915" y="507"/>
                    </a:lnTo>
                    <a:lnTo>
                      <a:pt x="927" y="431"/>
                    </a:lnTo>
                    <a:lnTo>
                      <a:pt x="925" y="403"/>
                    </a:lnTo>
                    <a:lnTo>
                      <a:pt x="916" y="379"/>
                    </a:lnTo>
                    <a:lnTo>
                      <a:pt x="897" y="351"/>
                    </a:lnTo>
                    <a:close/>
                  </a:path>
                </a:pathLst>
              </a:custGeom>
              <a:solidFill>
                <a:srgbClr val="606060"/>
              </a:solidFill>
              <a:ln w="1588">
                <a:solidFill>
                  <a:srgbClr val="000000"/>
                </a:solidFill>
                <a:prstDash val="solid"/>
                <a:round/>
                <a:headEnd/>
                <a:tailEnd/>
              </a:ln>
            </p:spPr>
            <p:txBody>
              <a:bodyPr/>
              <a:lstStyle/>
              <a:p>
                <a:endParaRPr lang="en-US"/>
              </a:p>
            </p:txBody>
          </p:sp>
          <p:sp>
            <p:nvSpPr>
              <p:cNvPr id="281" name="Freeform 1544">
                <a:extLst>
                  <a:ext uri="{FF2B5EF4-FFF2-40B4-BE49-F238E27FC236}">
                    <a16:creationId xmlns:a16="http://schemas.microsoft.com/office/drawing/2014/main" id="{1532217B-3723-4F1D-89D9-3B292DFEBE07}"/>
                  </a:ext>
                </a:extLst>
              </p:cNvPr>
              <p:cNvSpPr>
                <a:spLocks/>
              </p:cNvSpPr>
              <p:nvPr/>
            </p:nvSpPr>
            <p:spPr bwMode="auto">
              <a:xfrm>
                <a:off x="3451" y="3376"/>
                <a:ext cx="102"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09" y="431"/>
                    </a:moveTo>
                    <a:lnTo>
                      <a:pt x="1215" y="426"/>
                    </a:lnTo>
                    <a:lnTo>
                      <a:pt x="1156" y="451"/>
                    </a:lnTo>
                    <a:lnTo>
                      <a:pt x="1118" y="467"/>
                    </a:lnTo>
                    <a:lnTo>
                      <a:pt x="1100" y="478"/>
                    </a:lnTo>
                    <a:lnTo>
                      <a:pt x="1072" y="511"/>
                    </a:lnTo>
                    <a:lnTo>
                      <a:pt x="1053" y="552"/>
                    </a:lnTo>
                    <a:lnTo>
                      <a:pt x="772" y="1702"/>
                    </a:lnTo>
                    <a:lnTo>
                      <a:pt x="0" y="1429"/>
                    </a:lnTo>
                    <a:lnTo>
                      <a:pt x="314" y="31"/>
                    </a:lnTo>
                    <a:lnTo>
                      <a:pt x="480" y="0"/>
                    </a:lnTo>
                    <a:lnTo>
                      <a:pt x="1209"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282" name="Group 1545">
                <a:extLst>
                  <a:ext uri="{FF2B5EF4-FFF2-40B4-BE49-F238E27FC236}">
                    <a16:creationId xmlns:a16="http://schemas.microsoft.com/office/drawing/2014/main" id="{74FF3F36-8D0D-4F7E-8F13-B233343EA79B}"/>
                  </a:ext>
                </a:extLst>
              </p:cNvPr>
              <p:cNvGrpSpPr>
                <a:grpSpLocks/>
              </p:cNvGrpSpPr>
              <p:nvPr/>
            </p:nvGrpSpPr>
            <p:grpSpPr bwMode="auto">
              <a:xfrm>
                <a:off x="3508" y="3326"/>
                <a:ext cx="53" cy="60"/>
                <a:chOff x="3508" y="3326"/>
                <a:chExt cx="53" cy="60"/>
              </a:xfrm>
            </p:grpSpPr>
            <p:sp>
              <p:nvSpPr>
                <p:cNvPr id="302" name="Oval 1546">
                  <a:extLst>
                    <a:ext uri="{FF2B5EF4-FFF2-40B4-BE49-F238E27FC236}">
                      <a16:creationId xmlns:a16="http://schemas.microsoft.com/office/drawing/2014/main" id="{C2034240-2AF2-42B6-82D6-E51EFF92703C}"/>
                    </a:ext>
                  </a:extLst>
                </p:cNvPr>
                <p:cNvSpPr>
                  <a:spLocks noChangeArrowheads="1"/>
                </p:cNvSpPr>
                <p:nvPr/>
              </p:nvSpPr>
              <p:spPr bwMode="auto">
                <a:xfrm>
                  <a:off x="3508" y="3326"/>
                  <a:ext cx="53"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303" name="Group 1547">
                  <a:extLst>
                    <a:ext uri="{FF2B5EF4-FFF2-40B4-BE49-F238E27FC236}">
                      <a16:creationId xmlns:a16="http://schemas.microsoft.com/office/drawing/2014/main" id="{601A1B97-96FD-4ACA-83A7-AFC7DDB7FAA5}"/>
                    </a:ext>
                  </a:extLst>
                </p:cNvPr>
                <p:cNvGrpSpPr>
                  <a:grpSpLocks/>
                </p:cNvGrpSpPr>
                <p:nvPr/>
              </p:nvGrpSpPr>
              <p:grpSpPr bwMode="auto">
                <a:xfrm>
                  <a:off x="3521" y="3336"/>
                  <a:ext cx="29" cy="40"/>
                  <a:chOff x="3521" y="3336"/>
                  <a:chExt cx="29" cy="40"/>
                </a:xfrm>
              </p:grpSpPr>
              <p:sp>
                <p:nvSpPr>
                  <p:cNvPr id="304" name="Oval 1548">
                    <a:extLst>
                      <a:ext uri="{FF2B5EF4-FFF2-40B4-BE49-F238E27FC236}">
                        <a16:creationId xmlns:a16="http://schemas.microsoft.com/office/drawing/2014/main" id="{747B0CDC-4759-45B9-8447-796432EF28EA}"/>
                      </a:ext>
                    </a:extLst>
                  </p:cNvPr>
                  <p:cNvSpPr>
                    <a:spLocks noChangeArrowheads="1"/>
                  </p:cNvSpPr>
                  <p:nvPr/>
                </p:nvSpPr>
                <p:spPr bwMode="auto">
                  <a:xfrm>
                    <a:off x="3534" y="3354"/>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05" name="Oval 1549">
                    <a:extLst>
                      <a:ext uri="{FF2B5EF4-FFF2-40B4-BE49-F238E27FC236}">
                        <a16:creationId xmlns:a16="http://schemas.microsoft.com/office/drawing/2014/main" id="{6696C764-14AF-4275-9706-5A0A0A66F1E4}"/>
                      </a:ext>
                    </a:extLst>
                  </p:cNvPr>
                  <p:cNvSpPr>
                    <a:spLocks noChangeArrowheads="1"/>
                  </p:cNvSpPr>
                  <p:nvPr/>
                </p:nvSpPr>
                <p:spPr bwMode="auto">
                  <a:xfrm>
                    <a:off x="3544" y="335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06" name="Oval 1550">
                    <a:extLst>
                      <a:ext uri="{FF2B5EF4-FFF2-40B4-BE49-F238E27FC236}">
                        <a16:creationId xmlns:a16="http://schemas.microsoft.com/office/drawing/2014/main" id="{90C07489-5751-4D46-92E4-80E6CA050394}"/>
                      </a:ext>
                    </a:extLst>
                  </p:cNvPr>
                  <p:cNvSpPr>
                    <a:spLocks noChangeArrowheads="1"/>
                  </p:cNvSpPr>
                  <p:nvPr/>
                </p:nvSpPr>
                <p:spPr bwMode="auto">
                  <a:xfrm>
                    <a:off x="3521" y="3364"/>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07" name="Oval 1551">
                    <a:extLst>
                      <a:ext uri="{FF2B5EF4-FFF2-40B4-BE49-F238E27FC236}">
                        <a16:creationId xmlns:a16="http://schemas.microsoft.com/office/drawing/2014/main" id="{777719AC-C8C1-4320-8C02-37C16482BEE0}"/>
                      </a:ext>
                    </a:extLst>
                  </p:cNvPr>
                  <p:cNvSpPr>
                    <a:spLocks noChangeArrowheads="1"/>
                  </p:cNvSpPr>
                  <p:nvPr/>
                </p:nvSpPr>
                <p:spPr bwMode="auto">
                  <a:xfrm>
                    <a:off x="3531" y="336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08" name="Oval 1552">
                    <a:extLst>
                      <a:ext uri="{FF2B5EF4-FFF2-40B4-BE49-F238E27FC236}">
                        <a16:creationId xmlns:a16="http://schemas.microsoft.com/office/drawing/2014/main" id="{45E07BCA-5E4B-472B-A57F-F611F2EB47B2}"/>
                      </a:ext>
                    </a:extLst>
                  </p:cNvPr>
                  <p:cNvSpPr>
                    <a:spLocks noChangeArrowheads="1"/>
                  </p:cNvSpPr>
                  <p:nvPr/>
                </p:nvSpPr>
                <p:spPr bwMode="auto">
                  <a:xfrm>
                    <a:off x="3541" y="337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09" name="Oval 1553">
                    <a:extLst>
                      <a:ext uri="{FF2B5EF4-FFF2-40B4-BE49-F238E27FC236}">
                        <a16:creationId xmlns:a16="http://schemas.microsoft.com/office/drawing/2014/main" id="{78AEC19D-F7D8-4BBC-89B1-6DB6C2724668}"/>
                      </a:ext>
                    </a:extLst>
                  </p:cNvPr>
                  <p:cNvSpPr>
                    <a:spLocks noChangeArrowheads="1"/>
                  </p:cNvSpPr>
                  <p:nvPr/>
                </p:nvSpPr>
                <p:spPr bwMode="auto">
                  <a:xfrm>
                    <a:off x="3527" y="3358"/>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0" name="Oval 1554">
                    <a:extLst>
                      <a:ext uri="{FF2B5EF4-FFF2-40B4-BE49-F238E27FC236}">
                        <a16:creationId xmlns:a16="http://schemas.microsoft.com/office/drawing/2014/main" id="{F88819AE-B5BD-4EDC-92BD-9EA96840F24D}"/>
                      </a:ext>
                    </a:extLst>
                  </p:cNvPr>
                  <p:cNvSpPr>
                    <a:spLocks noChangeArrowheads="1"/>
                  </p:cNvSpPr>
                  <p:nvPr/>
                </p:nvSpPr>
                <p:spPr bwMode="auto">
                  <a:xfrm>
                    <a:off x="3537" y="336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1" name="Oval 1555">
                    <a:extLst>
                      <a:ext uri="{FF2B5EF4-FFF2-40B4-BE49-F238E27FC236}">
                        <a16:creationId xmlns:a16="http://schemas.microsoft.com/office/drawing/2014/main" id="{A72B1A40-9E5F-4FD8-9F48-4EAB970C1E2B}"/>
                      </a:ext>
                    </a:extLst>
                  </p:cNvPr>
                  <p:cNvSpPr>
                    <a:spLocks noChangeArrowheads="1"/>
                  </p:cNvSpPr>
                  <p:nvPr/>
                </p:nvSpPr>
                <p:spPr bwMode="auto">
                  <a:xfrm>
                    <a:off x="3526" y="3336"/>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2" name="Oval 1556">
                    <a:extLst>
                      <a:ext uri="{FF2B5EF4-FFF2-40B4-BE49-F238E27FC236}">
                        <a16:creationId xmlns:a16="http://schemas.microsoft.com/office/drawing/2014/main" id="{20EF1D0D-50BB-45D8-8AA7-59F90B8A9C00}"/>
                      </a:ext>
                    </a:extLst>
                  </p:cNvPr>
                  <p:cNvSpPr>
                    <a:spLocks noChangeArrowheads="1"/>
                  </p:cNvSpPr>
                  <p:nvPr/>
                </p:nvSpPr>
                <p:spPr bwMode="auto">
                  <a:xfrm>
                    <a:off x="3536" y="3340"/>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3" name="Oval 1557">
                    <a:extLst>
                      <a:ext uri="{FF2B5EF4-FFF2-40B4-BE49-F238E27FC236}">
                        <a16:creationId xmlns:a16="http://schemas.microsoft.com/office/drawing/2014/main" id="{B876B7B7-D151-4CF3-8F4E-4D4F3E6BC964}"/>
                      </a:ext>
                    </a:extLst>
                  </p:cNvPr>
                  <p:cNvSpPr>
                    <a:spLocks noChangeArrowheads="1"/>
                  </p:cNvSpPr>
                  <p:nvPr/>
                </p:nvSpPr>
                <p:spPr bwMode="auto">
                  <a:xfrm>
                    <a:off x="3547" y="334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4" name="Oval 1558">
                    <a:extLst>
                      <a:ext uri="{FF2B5EF4-FFF2-40B4-BE49-F238E27FC236}">
                        <a16:creationId xmlns:a16="http://schemas.microsoft.com/office/drawing/2014/main" id="{F90BA5CD-BD45-4AD8-B7C0-F4BA8D61F6D1}"/>
                      </a:ext>
                    </a:extLst>
                  </p:cNvPr>
                  <p:cNvSpPr>
                    <a:spLocks noChangeArrowheads="1"/>
                  </p:cNvSpPr>
                  <p:nvPr/>
                </p:nvSpPr>
                <p:spPr bwMode="auto">
                  <a:xfrm>
                    <a:off x="3523" y="3350"/>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5" name="Oval 1559">
                    <a:extLst>
                      <a:ext uri="{FF2B5EF4-FFF2-40B4-BE49-F238E27FC236}">
                        <a16:creationId xmlns:a16="http://schemas.microsoft.com/office/drawing/2014/main" id="{DFC1B050-4651-4957-B74F-D4C1E79DB232}"/>
                      </a:ext>
                    </a:extLst>
                  </p:cNvPr>
                  <p:cNvSpPr>
                    <a:spLocks noChangeArrowheads="1"/>
                  </p:cNvSpPr>
                  <p:nvPr/>
                </p:nvSpPr>
                <p:spPr bwMode="auto">
                  <a:xfrm>
                    <a:off x="3530" y="3345"/>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16" name="Oval 1560">
                    <a:extLst>
                      <a:ext uri="{FF2B5EF4-FFF2-40B4-BE49-F238E27FC236}">
                        <a16:creationId xmlns:a16="http://schemas.microsoft.com/office/drawing/2014/main" id="{0F4DFFD0-7FBC-42BC-8630-274BFDD44D29}"/>
                      </a:ext>
                    </a:extLst>
                  </p:cNvPr>
                  <p:cNvSpPr>
                    <a:spLocks noChangeArrowheads="1"/>
                  </p:cNvSpPr>
                  <p:nvPr/>
                </p:nvSpPr>
                <p:spPr bwMode="auto">
                  <a:xfrm>
                    <a:off x="3540" y="3348"/>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283" name="Group 1561">
                <a:extLst>
                  <a:ext uri="{FF2B5EF4-FFF2-40B4-BE49-F238E27FC236}">
                    <a16:creationId xmlns:a16="http://schemas.microsoft.com/office/drawing/2014/main" id="{36318091-60AA-4E8E-8E78-06555786B9D8}"/>
                  </a:ext>
                </a:extLst>
              </p:cNvPr>
              <p:cNvGrpSpPr>
                <a:grpSpLocks/>
              </p:cNvGrpSpPr>
              <p:nvPr/>
            </p:nvGrpSpPr>
            <p:grpSpPr bwMode="auto">
              <a:xfrm>
                <a:off x="3468" y="3397"/>
                <a:ext cx="68" cy="111"/>
                <a:chOff x="3468" y="3397"/>
                <a:chExt cx="68" cy="111"/>
              </a:xfrm>
            </p:grpSpPr>
            <p:sp>
              <p:nvSpPr>
                <p:cNvPr id="284" name="Oval 1562">
                  <a:extLst>
                    <a:ext uri="{FF2B5EF4-FFF2-40B4-BE49-F238E27FC236}">
                      <a16:creationId xmlns:a16="http://schemas.microsoft.com/office/drawing/2014/main" id="{E595569E-CF23-4557-936B-CB8785E4B187}"/>
                    </a:ext>
                  </a:extLst>
                </p:cNvPr>
                <p:cNvSpPr>
                  <a:spLocks noChangeArrowheads="1"/>
                </p:cNvSpPr>
                <p:nvPr/>
              </p:nvSpPr>
              <p:spPr bwMode="auto">
                <a:xfrm>
                  <a:off x="3502" y="349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5" name="Oval 1563">
                  <a:extLst>
                    <a:ext uri="{FF2B5EF4-FFF2-40B4-BE49-F238E27FC236}">
                      <a16:creationId xmlns:a16="http://schemas.microsoft.com/office/drawing/2014/main" id="{B4275BE0-FF42-4034-AAFA-38D234C793E1}"/>
                    </a:ext>
                  </a:extLst>
                </p:cNvPr>
                <p:cNvSpPr>
                  <a:spLocks noChangeArrowheads="1"/>
                </p:cNvSpPr>
                <p:nvPr/>
              </p:nvSpPr>
              <p:spPr bwMode="auto">
                <a:xfrm>
                  <a:off x="3488" y="339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6" name="Oval 1564">
                  <a:extLst>
                    <a:ext uri="{FF2B5EF4-FFF2-40B4-BE49-F238E27FC236}">
                      <a16:creationId xmlns:a16="http://schemas.microsoft.com/office/drawing/2014/main" id="{334D38A1-C761-43EC-9429-8E80624532F8}"/>
                    </a:ext>
                  </a:extLst>
                </p:cNvPr>
                <p:cNvSpPr>
                  <a:spLocks noChangeArrowheads="1"/>
                </p:cNvSpPr>
                <p:nvPr/>
              </p:nvSpPr>
              <p:spPr bwMode="auto">
                <a:xfrm>
                  <a:off x="3505" y="340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7" name="Oval 1565">
                  <a:extLst>
                    <a:ext uri="{FF2B5EF4-FFF2-40B4-BE49-F238E27FC236}">
                      <a16:creationId xmlns:a16="http://schemas.microsoft.com/office/drawing/2014/main" id="{5E34A2A4-FBAD-435A-AC16-B205C35EAF33}"/>
                    </a:ext>
                  </a:extLst>
                </p:cNvPr>
                <p:cNvSpPr>
                  <a:spLocks noChangeArrowheads="1"/>
                </p:cNvSpPr>
                <p:nvPr/>
              </p:nvSpPr>
              <p:spPr bwMode="auto">
                <a:xfrm>
                  <a:off x="3522" y="341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8" name="Oval 1566">
                  <a:extLst>
                    <a:ext uri="{FF2B5EF4-FFF2-40B4-BE49-F238E27FC236}">
                      <a16:creationId xmlns:a16="http://schemas.microsoft.com/office/drawing/2014/main" id="{402FFF67-A68B-4859-A618-A080938F2FBE}"/>
                    </a:ext>
                  </a:extLst>
                </p:cNvPr>
                <p:cNvSpPr>
                  <a:spLocks noChangeArrowheads="1"/>
                </p:cNvSpPr>
                <p:nvPr/>
              </p:nvSpPr>
              <p:spPr bwMode="auto">
                <a:xfrm>
                  <a:off x="3484" y="3414"/>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89" name="Oval 1567">
                  <a:extLst>
                    <a:ext uri="{FF2B5EF4-FFF2-40B4-BE49-F238E27FC236}">
                      <a16:creationId xmlns:a16="http://schemas.microsoft.com/office/drawing/2014/main" id="{FD31DB4A-C6EF-42A2-9100-9C2E81AD5696}"/>
                    </a:ext>
                  </a:extLst>
                </p:cNvPr>
                <p:cNvSpPr>
                  <a:spLocks noChangeArrowheads="1"/>
                </p:cNvSpPr>
                <p:nvPr/>
              </p:nvSpPr>
              <p:spPr bwMode="auto">
                <a:xfrm>
                  <a:off x="3501" y="3421"/>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0" name="Oval 1568">
                  <a:extLst>
                    <a:ext uri="{FF2B5EF4-FFF2-40B4-BE49-F238E27FC236}">
                      <a16:creationId xmlns:a16="http://schemas.microsoft.com/office/drawing/2014/main" id="{F7AF5B39-452D-42FE-98CF-1F6619FBED8D}"/>
                    </a:ext>
                  </a:extLst>
                </p:cNvPr>
                <p:cNvSpPr>
                  <a:spLocks noChangeArrowheads="1"/>
                </p:cNvSpPr>
                <p:nvPr/>
              </p:nvSpPr>
              <p:spPr bwMode="auto">
                <a:xfrm>
                  <a:off x="3518" y="342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1" name="Oval 1569">
                  <a:extLst>
                    <a:ext uri="{FF2B5EF4-FFF2-40B4-BE49-F238E27FC236}">
                      <a16:creationId xmlns:a16="http://schemas.microsoft.com/office/drawing/2014/main" id="{0FF47FA9-4EBD-4507-9CAB-DBC6FBBCB15D}"/>
                    </a:ext>
                  </a:extLst>
                </p:cNvPr>
                <p:cNvSpPr>
                  <a:spLocks noChangeArrowheads="1"/>
                </p:cNvSpPr>
                <p:nvPr/>
              </p:nvSpPr>
              <p:spPr bwMode="auto">
                <a:xfrm>
                  <a:off x="3479" y="3430"/>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2" name="Oval 1570">
                  <a:extLst>
                    <a:ext uri="{FF2B5EF4-FFF2-40B4-BE49-F238E27FC236}">
                      <a16:creationId xmlns:a16="http://schemas.microsoft.com/office/drawing/2014/main" id="{F8B46681-63E6-418B-9A13-9339B80C3DED}"/>
                    </a:ext>
                  </a:extLst>
                </p:cNvPr>
                <p:cNvSpPr>
                  <a:spLocks noChangeArrowheads="1"/>
                </p:cNvSpPr>
                <p:nvPr/>
              </p:nvSpPr>
              <p:spPr bwMode="auto">
                <a:xfrm>
                  <a:off x="3497" y="3437"/>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3" name="Oval 1571">
                  <a:extLst>
                    <a:ext uri="{FF2B5EF4-FFF2-40B4-BE49-F238E27FC236}">
                      <a16:creationId xmlns:a16="http://schemas.microsoft.com/office/drawing/2014/main" id="{D6E50465-1B81-4D7C-B922-02A656C27157}"/>
                    </a:ext>
                  </a:extLst>
                </p:cNvPr>
                <p:cNvSpPr>
                  <a:spLocks noChangeArrowheads="1"/>
                </p:cNvSpPr>
                <p:nvPr/>
              </p:nvSpPr>
              <p:spPr bwMode="auto">
                <a:xfrm>
                  <a:off x="3513" y="3444"/>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4" name="Oval 1572">
                  <a:extLst>
                    <a:ext uri="{FF2B5EF4-FFF2-40B4-BE49-F238E27FC236}">
                      <a16:creationId xmlns:a16="http://schemas.microsoft.com/office/drawing/2014/main" id="{CB6703E6-0211-4D5E-B038-686F93760768}"/>
                    </a:ext>
                  </a:extLst>
                </p:cNvPr>
                <p:cNvSpPr>
                  <a:spLocks noChangeArrowheads="1"/>
                </p:cNvSpPr>
                <p:nvPr/>
              </p:nvSpPr>
              <p:spPr bwMode="auto">
                <a:xfrm>
                  <a:off x="3475" y="344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5" name="Oval 1573">
                  <a:extLst>
                    <a:ext uri="{FF2B5EF4-FFF2-40B4-BE49-F238E27FC236}">
                      <a16:creationId xmlns:a16="http://schemas.microsoft.com/office/drawing/2014/main" id="{B17282E0-77BE-44C9-B30C-9A2087E37B2B}"/>
                    </a:ext>
                  </a:extLst>
                </p:cNvPr>
                <p:cNvSpPr>
                  <a:spLocks noChangeArrowheads="1"/>
                </p:cNvSpPr>
                <p:nvPr/>
              </p:nvSpPr>
              <p:spPr bwMode="auto">
                <a:xfrm>
                  <a:off x="3493" y="345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6" name="Oval 1574">
                  <a:extLst>
                    <a:ext uri="{FF2B5EF4-FFF2-40B4-BE49-F238E27FC236}">
                      <a16:creationId xmlns:a16="http://schemas.microsoft.com/office/drawing/2014/main" id="{36F86977-A699-45E3-93FE-69B4B8D4672A}"/>
                    </a:ext>
                  </a:extLst>
                </p:cNvPr>
                <p:cNvSpPr>
                  <a:spLocks noChangeArrowheads="1"/>
                </p:cNvSpPr>
                <p:nvPr/>
              </p:nvSpPr>
              <p:spPr bwMode="auto">
                <a:xfrm>
                  <a:off x="3509" y="346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7" name="Oval 1575">
                  <a:extLst>
                    <a:ext uri="{FF2B5EF4-FFF2-40B4-BE49-F238E27FC236}">
                      <a16:creationId xmlns:a16="http://schemas.microsoft.com/office/drawing/2014/main" id="{1516CC47-A086-4CA4-9038-BCB55EE7FEE5}"/>
                    </a:ext>
                  </a:extLst>
                </p:cNvPr>
                <p:cNvSpPr>
                  <a:spLocks noChangeArrowheads="1"/>
                </p:cNvSpPr>
                <p:nvPr/>
              </p:nvSpPr>
              <p:spPr bwMode="auto">
                <a:xfrm>
                  <a:off x="3471" y="3462"/>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8" name="Oval 1576">
                  <a:extLst>
                    <a:ext uri="{FF2B5EF4-FFF2-40B4-BE49-F238E27FC236}">
                      <a16:creationId xmlns:a16="http://schemas.microsoft.com/office/drawing/2014/main" id="{BCD48850-E809-4207-94C9-9A60E729BC05}"/>
                    </a:ext>
                  </a:extLst>
                </p:cNvPr>
                <p:cNvSpPr>
                  <a:spLocks noChangeArrowheads="1"/>
                </p:cNvSpPr>
                <p:nvPr/>
              </p:nvSpPr>
              <p:spPr bwMode="auto">
                <a:xfrm>
                  <a:off x="3489" y="3469"/>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299" name="Oval 1577">
                  <a:extLst>
                    <a:ext uri="{FF2B5EF4-FFF2-40B4-BE49-F238E27FC236}">
                      <a16:creationId xmlns:a16="http://schemas.microsoft.com/office/drawing/2014/main" id="{EDEC91A5-002F-459A-B523-84205F475AC2}"/>
                    </a:ext>
                  </a:extLst>
                </p:cNvPr>
                <p:cNvSpPr>
                  <a:spLocks noChangeArrowheads="1"/>
                </p:cNvSpPr>
                <p:nvPr/>
              </p:nvSpPr>
              <p:spPr bwMode="auto">
                <a:xfrm>
                  <a:off x="3505" y="347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00" name="Oval 1578">
                  <a:extLst>
                    <a:ext uri="{FF2B5EF4-FFF2-40B4-BE49-F238E27FC236}">
                      <a16:creationId xmlns:a16="http://schemas.microsoft.com/office/drawing/2014/main" id="{87DEF8CE-F82C-4EE6-8C71-CC7FC6EB9A8A}"/>
                    </a:ext>
                  </a:extLst>
                </p:cNvPr>
                <p:cNvSpPr>
                  <a:spLocks noChangeArrowheads="1"/>
                </p:cNvSpPr>
                <p:nvPr/>
              </p:nvSpPr>
              <p:spPr bwMode="auto">
                <a:xfrm>
                  <a:off x="3468" y="347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01" name="Oval 1579">
                  <a:extLst>
                    <a:ext uri="{FF2B5EF4-FFF2-40B4-BE49-F238E27FC236}">
                      <a16:creationId xmlns:a16="http://schemas.microsoft.com/office/drawing/2014/main" id="{909F4CF2-4152-4E6A-89E4-F92B19C80AC8}"/>
                    </a:ext>
                  </a:extLst>
                </p:cNvPr>
                <p:cNvSpPr>
                  <a:spLocks noChangeArrowheads="1"/>
                </p:cNvSpPr>
                <p:nvPr/>
              </p:nvSpPr>
              <p:spPr bwMode="auto">
                <a:xfrm>
                  <a:off x="3485" y="348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266" name="Group 1580">
              <a:extLst>
                <a:ext uri="{FF2B5EF4-FFF2-40B4-BE49-F238E27FC236}">
                  <a16:creationId xmlns:a16="http://schemas.microsoft.com/office/drawing/2014/main" id="{1A886655-148B-4D53-BCB6-F3E79BFF6F62}"/>
                </a:ext>
              </a:extLst>
            </p:cNvPr>
            <p:cNvGrpSpPr>
              <a:grpSpLocks/>
            </p:cNvGrpSpPr>
            <p:nvPr/>
          </p:nvGrpSpPr>
          <p:grpSpPr bwMode="auto">
            <a:xfrm>
              <a:off x="3401" y="3356"/>
              <a:ext cx="80" cy="92"/>
              <a:chOff x="3401" y="3356"/>
              <a:chExt cx="80" cy="92"/>
            </a:xfrm>
          </p:grpSpPr>
          <p:grpSp>
            <p:nvGrpSpPr>
              <p:cNvPr id="267" name="Group 1581">
                <a:extLst>
                  <a:ext uri="{FF2B5EF4-FFF2-40B4-BE49-F238E27FC236}">
                    <a16:creationId xmlns:a16="http://schemas.microsoft.com/office/drawing/2014/main" id="{089D719C-7AFE-418A-B2CD-5A17D64F7FE7}"/>
                  </a:ext>
                </a:extLst>
              </p:cNvPr>
              <p:cNvGrpSpPr>
                <a:grpSpLocks/>
              </p:cNvGrpSpPr>
              <p:nvPr/>
            </p:nvGrpSpPr>
            <p:grpSpPr bwMode="auto">
              <a:xfrm>
                <a:off x="3426" y="3385"/>
                <a:ext cx="40" cy="42"/>
                <a:chOff x="3426" y="3385"/>
                <a:chExt cx="40" cy="42"/>
              </a:xfrm>
            </p:grpSpPr>
            <p:sp>
              <p:nvSpPr>
                <p:cNvPr id="275" name="Freeform 1582">
                  <a:extLst>
                    <a:ext uri="{FF2B5EF4-FFF2-40B4-BE49-F238E27FC236}">
                      <a16:creationId xmlns:a16="http://schemas.microsoft.com/office/drawing/2014/main" id="{955BD227-5D03-4F6D-B870-D0BC022DDD8C}"/>
                    </a:ext>
                  </a:extLst>
                </p:cNvPr>
                <p:cNvSpPr>
                  <a:spLocks/>
                </p:cNvSpPr>
                <p:nvPr/>
              </p:nvSpPr>
              <p:spPr bwMode="auto">
                <a:xfrm>
                  <a:off x="3426" y="3385"/>
                  <a:ext cx="40"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4" y="52"/>
                      </a:lnTo>
                      <a:lnTo>
                        <a:pt x="244" y="74"/>
                      </a:lnTo>
                      <a:lnTo>
                        <a:pt x="335" y="134"/>
                      </a:lnTo>
                      <a:lnTo>
                        <a:pt x="362" y="166"/>
                      </a:lnTo>
                      <a:lnTo>
                        <a:pt x="390" y="218"/>
                      </a:lnTo>
                      <a:lnTo>
                        <a:pt x="425" y="278"/>
                      </a:lnTo>
                      <a:lnTo>
                        <a:pt x="456" y="341"/>
                      </a:lnTo>
                      <a:lnTo>
                        <a:pt x="471" y="378"/>
                      </a:lnTo>
                      <a:lnTo>
                        <a:pt x="475" y="404"/>
                      </a:lnTo>
                      <a:lnTo>
                        <a:pt x="475" y="427"/>
                      </a:lnTo>
                      <a:lnTo>
                        <a:pt x="467" y="445"/>
                      </a:lnTo>
                      <a:lnTo>
                        <a:pt x="447" y="467"/>
                      </a:lnTo>
                      <a:lnTo>
                        <a:pt x="428" y="483"/>
                      </a:lnTo>
                      <a:lnTo>
                        <a:pt x="387" y="493"/>
                      </a:lnTo>
                      <a:lnTo>
                        <a:pt x="357" y="497"/>
                      </a:lnTo>
                      <a:lnTo>
                        <a:pt x="318" y="497"/>
                      </a:lnTo>
                      <a:lnTo>
                        <a:pt x="290" y="488"/>
                      </a:lnTo>
                      <a:lnTo>
                        <a:pt x="261" y="471"/>
                      </a:lnTo>
                      <a:lnTo>
                        <a:pt x="242" y="460"/>
                      </a:lnTo>
                      <a:lnTo>
                        <a:pt x="220" y="441"/>
                      </a:lnTo>
                      <a:lnTo>
                        <a:pt x="205" y="419"/>
                      </a:lnTo>
                      <a:lnTo>
                        <a:pt x="186" y="387"/>
                      </a:lnTo>
                      <a:lnTo>
                        <a:pt x="168" y="356"/>
                      </a:lnTo>
                      <a:lnTo>
                        <a:pt x="161"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 name="Freeform 1583">
                  <a:extLst>
                    <a:ext uri="{FF2B5EF4-FFF2-40B4-BE49-F238E27FC236}">
                      <a16:creationId xmlns:a16="http://schemas.microsoft.com/office/drawing/2014/main" id="{1D918315-87FA-4122-A23A-3346C6A1F821}"/>
                    </a:ext>
                  </a:extLst>
                </p:cNvPr>
                <p:cNvSpPr>
                  <a:spLocks/>
                </p:cNvSpPr>
                <p:nvPr/>
              </p:nvSpPr>
              <p:spPr bwMode="auto">
                <a:xfrm>
                  <a:off x="3426" y="3385"/>
                  <a:ext cx="40"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4" y="52"/>
                      </a:lnTo>
                      <a:lnTo>
                        <a:pt x="244" y="74"/>
                      </a:lnTo>
                      <a:lnTo>
                        <a:pt x="335" y="134"/>
                      </a:lnTo>
                      <a:lnTo>
                        <a:pt x="362" y="166"/>
                      </a:lnTo>
                      <a:lnTo>
                        <a:pt x="390" y="218"/>
                      </a:lnTo>
                      <a:lnTo>
                        <a:pt x="425" y="278"/>
                      </a:lnTo>
                      <a:lnTo>
                        <a:pt x="456" y="341"/>
                      </a:lnTo>
                      <a:lnTo>
                        <a:pt x="471" y="378"/>
                      </a:lnTo>
                      <a:lnTo>
                        <a:pt x="475" y="404"/>
                      </a:lnTo>
                      <a:lnTo>
                        <a:pt x="475" y="427"/>
                      </a:lnTo>
                      <a:lnTo>
                        <a:pt x="467" y="445"/>
                      </a:lnTo>
                      <a:lnTo>
                        <a:pt x="447" y="467"/>
                      </a:lnTo>
                      <a:lnTo>
                        <a:pt x="428" y="483"/>
                      </a:lnTo>
                      <a:lnTo>
                        <a:pt x="387" y="493"/>
                      </a:lnTo>
                      <a:lnTo>
                        <a:pt x="357" y="497"/>
                      </a:lnTo>
                      <a:lnTo>
                        <a:pt x="318" y="497"/>
                      </a:lnTo>
                      <a:lnTo>
                        <a:pt x="290" y="488"/>
                      </a:lnTo>
                      <a:lnTo>
                        <a:pt x="261" y="471"/>
                      </a:lnTo>
                      <a:lnTo>
                        <a:pt x="242" y="460"/>
                      </a:lnTo>
                      <a:lnTo>
                        <a:pt x="220" y="441"/>
                      </a:lnTo>
                      <a:lnTo>
                        <a:pt x="205" y="419"/>
                      </a:lnTo>
                      <a:lnTo>
                        <a:pt x="186" y="387"/>
                      </a:lnTo>
                      <a:lnTo>
                        <a:pt x="168" y="356"/>
                      </a:lnTo>
                      <a:lnTo>
                        <a:pt x="161"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68" name="Group 1584">
                <a:extLst>
                  <a:ext uri="{FF2B5EF4-FFF2-40B4-BE49-F238E27FC236}">
                    <a16:creationId xmlns:a16="http://schemas.microsoft.com/office/drawing/2014/main" id="{D6F1B477-0C67-4899-954D-AA9D11C0ACB5}"/>
                  </a:ext>
                </a:extLst>
              </p:cNvPr>
              <p:cNvGrpSpPr>
                <a:grpSpLocks/>
              </p:cNvGrpSpPr>
              <p:nvPr/>
            </p:nvGrpSpPr>
            <p:grpSpPr bwMode="auto">
              <a:xfrm>
                <a:off x="3447" y="3367"/>
                <a:ext cx="29" cy="32"/>
                <a:chOff x="3447" y="3367"/>
                <a:chExt cx="29" cy="32"/>
              </a:xfrm>
            </p:grpSpPr>
            <p:sp>
              <p:nvSpPr>
                <p:cNvPr id="273" name="Freeform 1585">
                  <a:extLst>
                    <a:ext uri="{FF2B5EF4-FFF2-40B4-BE49-F238E27FC236}">
                      <a16:creationId xmlns:a16="http://schemas.microsoft.com/office/drawing/2014/main" id="{E6841C12-4DBF-43D5-9D6D-DFC13CEED694}"/>
                    </a:ext>
                  </a:extLst>
                </p:cNvPr>
                <p:cNvSpPr>
                  <a:spLocks/>
                </p:cNvSpPr>
                <p:nvPr/>
              </p:nvSpPr>
              <p:spPr bwMode="auto">
                <a:xfrm>
                  <a:off x="3447" y="3367"/>
                  <a:ext cx="29" cy="32"/>
                </a:xfrm>
                <a:custGeom>
                  <a:avLst/>
                  <a:gdLst>
                    <a:gd name="T0" fmla="*/ 0 w 352"/>
                    <a:gd name="T1" fmla="*/ 0 h 390"/>
                    <a:gd name="T2" fmla="*/ 0 w 352"/>
                    <a:gd name="T3" fmla="*/ 0 h 390"/>
                    <a:gd name="T4" fmla="*/ 0 w 352"/>
                    <a:gd name="T5" fmla="*/ 0 h 390"/>
                    <a:gd name="T6" fmla="*/ 0 w 352"/>
                    <a:gd name="T7" fmla="*/ 0 h 390"/>
                    <a:gd name="T8" fmla="*/ 0 w 352"/>
                    <a:gd name="T9" fmla="*/ 0 h 390"/>
                    <a:gd name="T10" fmla="*/ 0 w 352"/>
                    <a:gd name="T11" fmla="*/ 0 h 390"/>
                    <a:gd name="T12" fmla="*/ 0 w 352"/>
                    <a:gd name="T13" fmla="*/ 0 h 390"/>
                    <a:gd name="T14" fmla="*/ 0 w 352"/>
                    <a:gd name="T15" fmla="*/ 0 h 390"/>
                    <a:gd name="T16" fmla="*/ 0 w 352"/>
                    <a:gd name="T17" fmla="*/ 0 h 390"/>
                    <a:gd name="T18" fmla="*/ 0 w 352"/>
                    <a:gd name="T19" fmla="*/ 0 h 390"/>
                    <a:gd name="T20" fmla="*/ 0 w 352"/>
                    <a:gd name="T21" fmla="*/ 0 h 390"/>
                    <a:gd name="T22" fmla="*/ 0 w 352"/>
                    <a:gd name="T23" fmla="*/ 0 h 390"/>
                    <a:gd name="T24" fmla="*/ 0 w 352"/>
                    <a:gd name="T25" fmla="*/ 0 h 390"/>
                    <a:gd name="T26" fmla="*/ 0 w 352"/>
                    <a:gd name="T27" fmla="*/ 0 h 390"/>
                    <a:gd name="T28" fmla="*/ 0 w 352"/>
                    <a:gd name="T29" fmla="*/ 0 h 390"/>
                    <a:gd name="T30" fmla="*/ 0 w 352"/>
                    <a:gd name="T31" fmla="*/ 0 h 390"/>
                    <a:gd name="T32" fmla="*/ 0 w 352"/>
                    <a:gd name="T33" fmla="*/ 0 h 390"/>
                    <a:gd name="T34" fmla="*/ 0 w 352"/>
                    <a:gd name="T35" fmla="*/ 0 h 390"/>
                    <a:gd name="T36" fmla="*/ 0 w 352"/>
                    <a:gd name="T37" fmla="*/ 0 h 390"/>
                    <a:gd name="T38" fmla="*/ 0 w 352"/>
                    <a:gd name="T39" fmla="*/ 0 h 390"/>
                    <a:gd name="T40" fmla="*/ 0 w 352"/>
                    <a:gd name="T41" fmla="*/ 0 h 390"/>
                    <a:gd name="T42" fmla="*/ 0 w 352"/>
                    <a:gd name="T43" fmla="*/ 0 h 390"/>
                    <a:gd name="T44" fmla="*/ 0 w 352"/>
                    <a:gd name="T45" fmla="*/ 0 h 390"/>
                    <a:gd name="T46" fmla="*/ 0 w 352"/>
                    <a:gd name="T47" fmla="*/ 0 h 390"/>
                    <a:gd name="T48" fmla="*/ 0 w 352"/>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2"/>
                    <a:gd name="T76" fmla="*/ 0 h 390"/>
                    <a:gd name="T77" fmla="*/ 352 w 352"/>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2" h="390">
                      <a:moveTo>
                        <a:pt x="0" y="0"/>
                      </a:moveTo>
                      <a:lnTo>
                        <a:pt x="83" y="9"/>
                      </a:lnTo>
                      <a:lnTo>
                        <a:pt x="134" y="25"/>
                      </a:lnTo>
                      <a:lnTo>
                        <a:pt x="177" y="52"/>
                      </a:lnTo>
                      <a:lnTo>
                        <a:pt x="218" y="77"/>
                      </a:lnTo>
                      <a:lnTo>
                        <a:pt x="240" y="104"/>
                      </a:lnTo>
                      <a:lnTo>
                        <a:pt x="268" y="130"/>
                      </a:lnTo>
                      <a:lnTo>
                        <a:pt x="297" y="178"/>
                      </a:lnTo>
                      <a:lnTo>
                        <a:pt x="321" y="223"/>
                      </a:lnTo>
                      <a:lnTo>
                        <a:pt x="337" y="257"/>
                      </a:lnTo>
                      <a:lnTo>
                        <a:pt x="352" y="287"/>
                      </a:lnTo>
                      <a:lnTo>
                        <a:pt x="352" y="323"/>
                      </a:lnTo>
                      <a:lnTo>
                        <a:pt x="332" y="355"/>
                      </a:lnTo>
                      <a:lnTo>
                        <a:pt x="293" y="373"/>
                      </a:lnTo>
                      <a:lnTo>
                        <a:pt x="246" y="386"/>
                      </a:lnTo>
                      <a:lnTo>
                        <a:pt x="208" y="390"/>
                      </a:lnTo>
                      <a:lnTo>
                        <a:pt x="165" y="376"/>
                      </a:lnTo>
                      <a:lnTo>
                        <a:pt x="126" y="360"/>
                      </a:lnTo>
                      <a:lnTo>
                        <a:pt x="87"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4" name="Freeform 1586">
                  <a:extLst>
                    <a:ext uri="{FF2B5EF4-FFF2-40B4-BE49-F238E27FC236}">
                      <a16:creationId xmlns:a16="http://schemas.microsoft.com/office/drawing/2014/main" id="{AADF0551-74F4-4429-9249-DC87C52CF525}"/>
                    </a:ext>
                  </a:extLst>
                </p:cNvPr>
                <p:cNvSpPr>
                  <a:spLocks/>
                </p:cNvSpPr>
                <p:nvPr/>
              </p:nvSpPr>
              <p:spPr bwMode="auto">
                <a:xfrm>
                  <a:off x="3447" y="3367"/>
                  <a:ext cx="29" cy="32"/>
                </a:xfrm>
                <a:custGeom>
                  <a:avLst/>
                  <a:gdLst>
                    <a:gd name="T0" fmla="*/ 0 w 352"/>
                    <a:gd name="T1" fmla="*/ 0 h 390"/>
                    <a:gd name="T2" fmla="*/ 0 w 352"/>
                    <a:gd name="T3" fmla="*/ 0 h 390"/>
                    <a:gd name="T4" fmla="*/ 0 w 352"/>
                    <a:gd name="T5" fmla="*/ 0 h 390"/>
                    <a:gd name="T6" fmla="*/ 0 w 352"/>
                    <a:gd name="T7" fmla="*/ 0 h 390"/>
                    <a:gd name="T8" fmla="*/ 0 w 352"/>
                    <a:gd name="T9" fmla="*/ 0 h 390"/>
                    <a:gd name="T10" fmla="*/ 0 w 352"/>
                    <a:gd name="T11" fmla="*/ 0 h 390"/>
                    <a:gd name="T12" fmla="*/ 0 w 352"/>
                    <a:gd name="T13" fmla="*/ 0 h 390"/>
                    <a:gd name="T14" fmla="*/ 0 w 352"/>
                    <a:gd name="T15" fmla="*/ 0 h 390"/>
                    <a:gd name="T16" fmla="*/ 0 w 352"/>
                    <a:gd name="T17" fmla="*/ 0 h 390"/>
                    <a:gd name="T18" fmla="*/ 0 w 352"/>
                    <a:gd name="T19" fmla="*/ 0 h 390"/>
                    <a:gd name="T20" fmla="*/ 0 w 352"/>
                    <a:gd name="T21" fmla="*/ 0 h 390"/>
                    <a:gd name="T22" fmla="*/ 0 w 352"/>
                    <a:gd name="T23" fmla="*/ 0 h 390"/>
                    <a:gd name="T24" fmla="*/ 0 w 352"/>
                    <a:gd name="T25" fmla="*/ 0 h 390"/>
                    <a:gd name="T26" fmla="*/ 0 w 352"/>
                    <a:gd name="T27" fmla="*/ 0 h 390"/>
                    <a:gd name="T28" fmla="*/ 0 w 352"/>
                    <a:gd name="T29" fmla="*/ 0 h 390"/>
                    <a:gd name="T30" fmla="*/ 0 w 352"/>
                    <a:gd name="T31" fmla="*/ 0 h 390"/>
                    <a:gd name="T32" fmla="*/ 0 w 352"/>
                    <a:gd name="T33" fmla="*/ 0 h 390"/>
                    <a:gd name="T34" fmla="*/ 0 w 352"/>
                    <a:gd name="T35" fmla="*/ 0 h 390"/>
                    <a:gd name="T36" fmla="*/ 0 w 352"/>
                    <a:gd name="T37" fmla="*/ 0 h 390"/>
                    <a:gd name="T38" fmla="*/ 0 w 352"/>
                    <a:gd name="T39" fmla="*/ 0 h 390"/>
                    <a:gd name="T40" fmla="*/ 0 w 352"/>
                    <a:gd name="T41" fmla="*/ 0 h 390"/>
                    <a:gd name="T42" fmla="*/ 0 w 352"/>
                    <a:gd name="T43" fmla="*/ 0 h 390"/>
                    <a:gd name="T44" fmla="*/ 0 w 352"/>
                    <a:gd name="T45" fmla="*/ 0 h 390"/>
                    <a:gd name="T46" fmla="*/ 0 w 352"/>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2"/>
                    <a:gd name="T73" fmla="*/ 0 h 390"/>
                    <a:gd name="T74" fmla="*/ 352 w 352"/>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2" h="390">
                      <a:moveTo>
                        <a:pt x="0" y="0"/>
                      </a:moveTo>
                      <a:lnTo>
                        <a:pt x="83" y="9"/>
                      </a:lnTo>
                      <a:lnTo>
                        <a:pt x="134" y="25"/>
                      </a:lnTo>
                      <a:lnTo>
                        <a:pt x="177" y="52"/>
                      </a:lnTo>
                      <a:lnTo>
                        <a:pt x="218" y="77"/>
                      </a:lnTo>
                      <a:lnTo>
                        <a:pt x="240" y="104"/>
                      </a:lnTo>
                      <a:lnTo>
                        <a:pt x="268" y="130"/>
                      </a:lnTo>
                      <a:lnTo>
                        <a:pt x="297" y="178"/>
                      </a:lnTo>
                      <a:lnTo>
                        <a:pt x="321" y="223"/>
                      </a:lnTo>
                      <a:lnTo>
                        <a:pt x="337" y="257"/>
                      </a:lnTo>
                      <a:lnTo>
                        <a:pt x="352" y="287"/>
                      </a:lnTo>
                      <a:lnTo>
                        <a:pt x="352" y="323"/>
                      </a:lnTo>
                      <a:lnTo>
                        <a:pt x="332" y="355"/>
                      </a:lnTo>
                      <a:lnTo>
                        <a:pt x="293" y="373"/>
                      </a:lnTo>
                      <a:lnTo>
                        <a:pt x="246" y="386"/>
                      </a:lnTo>
                      <a:lnTo>
                        <a:pt x="208" y="390"/>
                      </a:lnTo>
                      <a:lnTo>
                        <a:pt x="165" y="376"/>
                      </a:lnTo>
                      <a:lnTo>
                        <a:pt x="126" y="360"/>
                      </a:lnTo>
                      <a:lnTo>
                        <a:pt x="87"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69" name="Group 1587">
                <a:extLst>
                  <a:ext uri="{FF2B5EF4-FFF2-40B4-BE49-F238E27FC236}">
                    <a16:creationId xmlns:a16="http://schemas.microsoft.com/office/drawing/2014/main" id="{743DF2EA-1A84-4388-ADE4-EC271482CE41}"/>
                  </a:ext>
                </a:extLst>
              </p:cNvPr>
              <p:cNvGrpSpPr>
                <a:grpSpLocks/>
              </p:cNvGrpSpPr>
              <p:nvPr/>
            </p:nvGrpSpPr>
            <p:grpSpPr bwMode="auto">
              <a:xfrm>
                <a:off x="3401" y="3412"/>
                <a:ext cx="62" cy="36"/>
                <a:chOff x="3401" y="3412"/>
                <a:chExt cx="62" cy="36"/>
              </a:xfrm>
            </p:grpSpPr>
            <p:sp>
              <p:nvSpPr>
                <p:cNvPr id="271" name="Freeform 1588">
                  <a:extLst>
                    <a:ext uri="{FF2B5EF4-FFF2-40B4-BE49-F238E27FC236}">
                      <a16:creationId xmlns:a16="http://schemas.microsoft.com/office/drawing/2014/main" id="{87A10AAD-32D8-41A8-9342-8363565165D9}"/>
                    </a:ext>
                  </a:extLst>
                </p:cNvPr>
                <p:cNvSpPr>
                  <a:spLocks/>
                </p:cNvSpPr>
                <p:nvPr/>
              </p:nvSpPr>
              <p:spPr bwMode="auto">
                <a:xfrm>
                  <a:off x="3401" y="3412"/>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6" y="16"/>
                      </a:lnTo>
                      <a:lnTo>
                        <a:pt x="224" y="28"/>
                      </a:lnTo>
                      <a:lnTo>
                        <a:pt x="272" y="42"/>
                      </a:lnTo>
                      <a:lnTo>
                        <a:pt x="327" y="69"/>
                      </a:lnTo>
                      <a:lnTo>
                        <a:pt x="404" y="147"/>
                      </a:lnTo>
                      <a:lnTo>
                        <a:pt x="505" y="205"/>
                      </a:lnTo>
                      <a:lnTo>
                        <a:pt x="581" y="231"/>
                      </a:lnTo>
                      <a:lnTo>
                        <a:pt x="638" y="252"/>
                      </a:lnTo>
                      <a:lnTo>
                        <a:pt x="686" y="274"/>
                      </a:lnTo>
                      <a:lnTo>
                        <a:pt x="714" y="296"/>
                      </a:lnTo>
                      <a:lnTo>
                        <a:pt x="742" y="317"/>
                      </a:lnTo>
                      <a:lnTo>
                        <a:pt x="742" y="349"/>
                      </a:lnTo>
                      <a:lnTo>
                        <a:pt x="732" y="381"/>
                      </a:lnTo>
                      <a:lnTo>
                        <a:pt x="714" y="402"/>
                      </a:lnTo>
                      <a:lnTo>
                        <a:pt x="695" y="413"/>
                      </a:lnTo>
                      <a:lnTo>
                        <a:pt x="669" y="426"/>
                      </a:lnTo>
                      <a:lnTo>
                        <a:pt x="634" y="432"/>
                      </a:lnTo>
                      <a:lnTo>
                        <a:pt x="604" y="432"/>
                      </a:lnTo>
                      <a:lnTo>
                        <a:pt x="566" y="420"/>
                      </a:lnTo>
                      <a:lnTo>
                        <a:pt x="534" y="413"/>
                      </a:lnTo>
                      <a:lnTo>
                        <a:pt x="432" y="369"/>
                      </a:lnTo>
                      <a:lnTo>
                        <a:pt x="355" y="349"/>
                      </a:lnTo>
                      <a:lnTo>
                        <a:pt x="309" y="340"/>
                      </a:lnTo>
                      <a:lnTo>
                        <a:pt x="260" y="328"/>
                      </a:lnTo>
                      <a:lnTo>
                        <a:pt x="210" y="306"/>
                      </a:lnTo>
                      <a:lnTo>
                        <a:pt x="172" y="286"/>
                      </a:lnTo>
                      <a:lnTo>
                        <a:pt x="154"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2" name="Freeform 1589">
                  <a:extLst>
                    <a:ext uri="{FF2B5EF4-FFF2-40B4-BE49-F238E27FC236}">
                      <a16:creationId xmlns:a16="http://schemas.microsoft.com/office/drawing/2014/main" id="{C7C96206-85EA-4FEB-8266-F5537621D142}"/>
                    </a:ext>
                  </a:extLst>
                </p:cNvPr>
                <p:cNvSpPr>
                  <a:spLocks/>
                </p:cNvSpPr>
                <p:nvPr/>
              </p:nvSpPr>
              <p:spPr bwMode="auto">
                <a:xfrm>
                  <a:off x="3401" y="3412"/>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6" y="16"/>
                      </a:lnTo>
                      <a:lnTo>
                        <a:pt x="224" y="28"/>
                      </a:lnTo>
                      <a:lnTo>
                        <a:pt x="272" y="42"/>
                      </a:lnTo>
                      <a:lnTo>
                        <a:pt x="327" y="69"/>
                      </a:lnTo>
                      <a:lnTo>
                        <a:pt x="404" y="147"/>
                      </a:lnTo>
                      <a:lnTo>
                        <a:pt x="505" y="205"/>
                      </a:lnTo>
                      <a:lnTo>
                        <a:pt x="581" y="231"/>
                      </a:lnTo>
                      <a:lnTo>
                        <a:pt x="638" y="252"/>
                      </a:lnTo>
                      <a:lnTo>
                        <a:pt x="686" y="274"/>
                      </a:lnTo>
                      <a:lnTo>
                        <a:pt x="714" y="296"/>
                      </a:lnTo>
                      <a:lnTo>
                        <a:pt x="742" y="317"/>
                      </a:lnTo>
                      <a:lnTo>
                        <a:pt x="742" y="349"/>
                      </a:lnTo>
                      <a:lnTo>
                        <a:pt x="732" y="381"/>
                      </a:lnTo>
                      <a:lnTo>
                        <a:pt x="714" y="402"/>
                      </a:lnTo>
                      <a:lnTo>
                        <a:pt x="695" y="413"/>
                      </a:lnTo>
                      <a:lnTo>
                        <a:pt x="669" y="426"/>
                      </a:lnTo>
                      <a:lnTo>
                        <a:pt x="634" y="432"/>
                      </a:lnTo>
                      <a:lnTo>
                        <a:pt x="604" y="432"/>
                      </a:lnTo>
                      <a:lnTo>
                        <a:pt x="566" y="420"/>
                      </a:lnTo>
                      <a:lnTo>
                        <a:pt x="534" y="413"/>
                      </a:lnTo>
                      <a:lnTo>
                        <a:pt x="432" y="369"/>
                      </a:lnTo>
                      <a:lnTo>
                        <a:pt x="355" y="349"/>
                      </a:lnTo>
                      <a:lnTo>
                        <a:pt x="309" y="340"/>
                      </a:lnTo>
                      <a:lnTo>
                        <a:pt x="260" y="328"/>
                      </a:lnTo>
                      <a:lnTo>
                        <a:pt x="210" y="306"/>
                      </a:lnTo>
                      <a:lnTo>
                        <a:pt x="172" y="286"/>
                      </a:lnTo>
                      <a:lnTo>
                        <a:pt x="154"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0" name="Freeform 1590">
                <a:extLst>
                  <a:ext uri="{FF2B5EF4-FFF2-40B4-BE49-F238E27FC236}">
                    <a16:creationId xmlns:a16="http://schemas.microsoft.com/office/drawing/2014/main" id="{E337B2EB-1BE8-464F-948C-D47682DBB2FD}"/>
                  </a:ext>
                </a:extLst>
              </p:cNvPr>
              <p:cNvSpPr>
                <a:spLocks/>
              </p:cNvSpPr>
              <p:nvPr/>
            </p:nvSpPr>
            <p:spPr bwMode="auto">
              <a:xfrm>
                <a:off x="3447" y="3356"/>
                <a:ext cx="34"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50" y="4"/>
                    </a:lnTo>
                    <a:lnTo>
                      <a:pt x="293" y="6"/>
                    </a:lnTo>
                    <a:lnTo>
                      <a:pt x="340" y="10"/>
                    </a:lnTo>
                    <a:lnTo>
                      <a:pt x="372" y="20"/>
                    </a:lnTo>
                    <a:lnTo>
                      <a:pt x="386" y="35"/>
                    </a:lnTo>
                    <a:lnTo>
                      <a:pt x="399" y="57"/>
                    </a:lnTo>
                    <a:lnTo>
                      <a:pt x="407" y="83"/>
                    </a:lnTo>
                    <a:lnTo>
                      <a:pt x="412" y="116"/>
                    </a:lnTo>
                    <a:lnTo>
                      <a:pt x="414" y="154"/>
                    </a:lnTo>
                    <a:lnTo>
                      <a:pt x="407" y="191"/>
                    </a:lnTo>
                    <a:lnTo>
                      <a:pt x="395" y="221"/>
                    </a:lnTo>
                    <a:lnTo>
                      <a:pt x="375" y="240"/>
                    </a:lnTo>
                    <a:lnTo>
                      <a:pt x="356" y="252"/>
                    </a:lnTo>
                    <a:lnTo>
                      <a:pt x="327" y="259"/>
                    </a:lnTo>
                    <a:lnTo>
                      <a:pt x="299" y="262"/>
                    </a:lnTo>
                    <a:lnTo>
                      <a:pt x="272" y="259"/>
                    </a:lnTo>
                    <a:lnTo>
                      <a:pt x="243" y="233"/>
                    </a:lnTo>
                    <a:lnTo>
                      <a:pt x="224" y="210"/>
                    </a:lnTo>
                    <a:lnTo>
                      <a:pt x="195" y="189"/>
                    </a:lnTo>
                    <a:lnTo>
                      <a:pt x="167" y="172"/>
                    </a:lnTo>
                    <a:lnTo>
                      <a:pt x="135" y="153"/>
                    </a:lnTo>
                    <a:lnTo>
                      <a:pt x="105" y="141"/>
                    </a:lnTo>
                    <a:lnTo>
                      <a:pt x="80" y="134"/>
                    </a:lnTo>
                    <a:lnTo>
                      <a:pt x="57"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grpSp>
        <p:nvGrpSpPr>
          <p:cNvPr id="327" name="Group 1591">
            <a:extLst>
              <a:ext uri="{FF2B5EF4-FFF2-40B4-BE49-F238E27FC236}">
                <a16:creationId xmlns:a16="http://schemas.microsoft.com/office/drawing/2014/main" id="{D3D619F7-59EE-4F63-BF30-02B43C8B3883}"/>
              </a:ext>
            </a:extLst>
          </p:cNvPr>
          <p:cNvGrpSpPr>
            <a:grpSpLocks/>
          </p:cNvGrpSpPr>
          <p:nvPr/>
        </p:nvGrpSpPr>
        <p:grpSpPr bwMode="auto">
          <a:xfrm>
            <a:off x="5197475" y="4303714"/>
            <a:ext cx="528638" cy="439737"/>
            <a:chOff x="2331" y="3212"/>
            <a:chExt cx="333" cy="277"/>
          </a:xfrm>
        </p:grpSpPr>
        <p:sp>
          <p:nvSpPr>
            <p:cNvPr id="328" name="Line 1592">
              <a:extLst>
                <a:ext uri="{FF2B5EF4-FFF2-40B4-BE49-F238E27FC236}">
                  <a16:creationId xmlns:a16="http://schemas.microsoft.com/office/drawing/2014/main" id="{C75C1FDB-D636-4F61-B336-93222B575EF0}"/>
                </a:ext>
              </a:extLst>
            </p:cNvPr>
            <p:cNvSpPr>
              <a:spLocks noChangeShapeType="1"/>
            </p:cNvSpPr>
            <p:nvPr/>
          </p:nvSpPr>
          <p:spPr bwMode="auto">
            <a:xfrm flipV="1">
              <a:off x="2331" y="3212"/>
              <a:ext cx="331" cy="2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 name="Freeform 1593">
              <a:extLst>
                <a:ext uri="{FF2B5EF4-FFF2-40B4-BE49-F238E27FC236}">
                  <a16:creationId xmlns:a16="http://schemas.microsoft.com/office/drawing/2014/main" id="{2C09F986-6FB2-4059-9CA4-68594D5C8B2E}"/>
                </a:ext>
              </a:extLst>
            </p:cNvPr>
            <p:cNvSpPr>
              <a:spLocks/>
            </p:cNvSpPr>
            <p:nvPr/>
          </p:nvSpPr>
          <p:spPr bwMode="auto">
            <a:xfrm>
              <a:off x="2587" y="3212"/>
              <a:ext cx="77" cy="72"/>
            </a:xfrm>
            <a:custGeom>
              <a:avLst/>
              <a:gdLst>
                <a:gd name="T0" fmla="*/ 45 w 77"/>
                <a:gd name="T1" fmla="*/ 72 h 72"/>
                <a:gd name="T2" fmla="*/ 77 w 77"/>
                <a:gd name="T3" fmla="*/ 0 h 72"/>
                <a:gd name="T4" fmla="*/ 0 w 77"/>
                <a:gd name="T5" fmla="*/ 19 h 72"/>
                <a:gd name="T6" fmla="*/ 0 60000 65536"/>
                <a:gd name="T7" fmla="*/ 0 60000 65536"/>
                <a:gd name="T8" fmla="*/ 0 60000 65536"/>
                <a:gd name="T9" fmla="*/ 0 w 77"/>
                <a:gd name="T10" fmla="*/ 0 h 72"/>
                <a:gd name="T11" fmla="*/ 77 w 77"/>
                <a:gd name="T12" fmla="*/ 72 h 72"/>
              </a:gdLst>
              <a:ahLst/>
              <a:cxnLst>
                <a:cxn ang="T6">
                  <a:pos x="T0" y="T1"/>
                </a:cxn>
                <a:cxn ang="T7">
                  <a:pos x="T2" y="T3"/>
                </a:cxn>
                <a:cxn ang="T8">
                  <a:pos x="T4" y="T5"/>
                </a:cxn>
              </a:cxnLst>
              <a:rect l="T9" t="T10" r="T11" b="T12"/>
              <a:pathLst>
                <a:path w="77" h="72">
                  <a:moveTo>
                    <a:pt x="45" y="72"/>
                  </a:moveTo>
                  <a:lnTo>
                    <a:pt x="77" y="0"/>
                  </a:lnTo>
                  <a:lnTo>
                    <a:pt x="0" y="19"/>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30" name="Group 1594">
            <a:extLst>
              <a:ext uri="{FF2B5EF4-FFF2-40B4-BE49-F238E27FC236}">
                <a16:creationId xmlns:a16="http://schemas.microsoft.com/office/drawing/2014/main" id="{0104320F-7772-4DEC-9358-86A00D5EC41C}"/>
              </a:ext>
            </a:extLst>
          </p:cNvPr>
          <p:cNvGrpSpPr>
            <a:grpSpLocks/>
          </p:cNvGrpSpPr>
          <p:nvPr/>
        </p:nvGrpSpPr>
        <p:grpSpPr bwMode="auto">
          <a:xfrm>
            <a:off x="6042025" y="4449763"/>
            <a:ext cx="153988" cy="787400"/>
            <a:chOff x="2863" y="3304"/>
            <a:chExt cx="97" cy="496"/>
          </a:xfrm>
        </p:grpSpPr>
        <p:sp>
          <p:nvSpPr>
            <p:cNvPr id="331" name="Line 1595">
              <a:extLst>
                <a:ext uri="{FF2B5EF4-FFF2-40B4-BE49-F238E27FC236}">
                  <a16:creationId xmlns:a16="http://schemas.microsoft.com/office/drawing/2014/main" id="{AE3A278F-29E2-4396-AA7E-1D41854566EC}"/>
                </a:ext>
              </a:extLst>
            </p:cNvPr>
            <p:cNvSpPr>
              <a:spLocks noChangeShapeType="1"/>
            </p:cNvSpPr>
            <p:nvPr/>
          </p:nvSpPr>
          <p:spPr bwMode="auto">
            <a:xfrm flipH="1" flipV="1">
              <a:off x="2887" y="3304"/>
              <a:ext cx="73" cy="4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2" name="Freeform 1596">
              <a:extLst>
                <a:ext uri="{FF2B5EF4-FFF2-40B4-BE49-F238E27FC236}">
                  <a16:creationId xmlns:a16="http://schemas.microsoft.com/office/drawing/2014/main" id="{D435B5AC-228B-410D-8F5F-9FBED3CA5E93}"/>
                </a:ext>
              </a:extLst>
            </p:cNvPr>
            <p:cNvSpPr>
              <a:spLocks/>
            </p:cNvSpPr>
            <p:nvPr/>
          </p:nvSpPr>
          <p:spPr bwMode="auto">
            <a:xfrm>
              <a:off x="2863" y="3305"/>
              <a:ext cx="69" cy="73"/>
            </a:xfrm>
            <a:custGeom>
              <a:avLst/>
              <a:gdLst>
                <a:gd name="T0" fmla="*/ 69 w 69"/>
                <a:gd name="T1" fmla="*/ 64 h 73"/>
                <a:gd name="T2" fmla="*/ 25 w 69"/>
                <a:gd name="T3" fmla="*/ 0 h 73"/>
                <a:gd name="T4" fmla="*/ 0 w 69"/>
                <a:gd name="T5" fmla="*/ 73 h 73"/>
                <a:gd name="T6" fmla="*/ 0 60000 65536"/>
                <a:gd name="T7" fmla="*/ 0 60000 65536"/>
                <a:gd name="T8" fmla="*/ 0 60000 65536"/>
                <a:gd name="T9" fmla="*/ 0 w 69"/>
                <a:gd name="T10" fmla="*/ 0 h 73"/>
                <a:gd name="T11" fmla="*/ 69 w 69"/>
                <a:gd name="T12" fmla="*/ 73 h 73"/>
              </a:gdLst>
              <a:ahLst/>
              <a:cxnLst>
                <a:cxn ang="T6">
                  <a:pos x="T0" y="T1"/>
                </a:cxn>
                <a:cxn ang="T7">
                  <a:pos x="T2" y="T3"/>
                </a:cxn>
                <a:cxn ang="T8">
                  <a:pos x="T4" y="T5"/>
                </a:cxn>
              </a:cxnLst>
              <a:rect l="T9" t="T10" r="T11" b="T12"/>
              <a:pathLst>
                <a:path w="69" h="73">
                  <a:moveTo>
                    <a:pt x="69" y="64"/>
                  </a:moveTo>
                  <a:lnTo>
                    <a:pt x="25" y="0"/>
                  </a:lnTo>
                  <a:lnTo>
                    <a:pt x="0" y="73"/>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33" name="Group 1597">
            <a:extLst>
              <a:ext uri="{FF2B5EF4-FFF2-40B4-BE49-F238E27FC236}">
                <a16:creationId xmlns:a16="http://schemas.microsoft.com/office/drawing/2014/main" id="{CB5CB569-AD08-4F9F-BADC-76614751BBCD}"/>
              </a:ext>
            </a:extLst>
          </p:cNvPr>
          <p:cNvGrpSpPr>
            <a:grpSpLocks/>
          </p:cNvGrpSpPr>
          <p:nvPr/>
        </p:nvGrpSpPr>
        <p:grpSpPr bwMode="auto">
          <a:xfrm>
            <a:off x="6143625" y="4198939"/>
            <a:ext cx="598488" cy="325437"/>
            <a:chOff x="2927" y="3146"/>
            <a:chExt cx="377" cy="205"/>
          </a:xfrm>
        </p:grpSpPr>
        <p:sp>
          <p:nvSpPr>
            <p:cNvPr id="334" name="Line 1598">
              <a:extLst>
                <a:ext uri="{FF2B5EF4-FFF2-40B4-BE49-F238E27FC236}">
                  <a16:creationId xmlns:a16="http://schemas.microsoft.com/office/drawing/2014/main" id="{53D5EBAB-BD19-4053-AE46-52EE537A4C2C}"/>
                </a:ext>
              </a:extLst>
            </p:cNvPr>
            <p:cNvSpPr>
              <a:spLocks noChangeShapeType="1"/>
            </p:cNvSpPr>
            <p:nvPr/>
          </p:nvSpPr>
          <p:spPr bwMode="auto">
            <a:xfrm flipH="1" flipV="1">
              <a:off x="2927" y="3146"/>
              <a:ext cx="377" cy="2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5" name="Freeform 1599">
              <a:extLst>
                <a:ext uri="{FF2B5EF4-FFF2-40B4-BE49-F238E27FC236}">
                  <a16:creationId xmlns:a16="http://schemas.microsoft.com/office/drawing/2014/main" id="{000257EE-5E39-479F-B2A5-F3BC876DE368}"/>
                </a:ext>
              </a:extLst>
            </p:cNvPr>
            <p:cNvSpPr>
              <a:spLocks/>
            </p:cNvSpPr>
            <p:nvPr/>
          </p:nvSpPr>
          <p:spPr bwMode="auto">
            <a:xfrm>
              <a:off x="2928" y="3147"/>
              <a:ext cx="78" cy="63"/>
            </a:xfrm>
            <a:custGeom>
              <a:avLst/>
              <a:gdLst>
                <a:gd name="T0" fmla="*/ 78 w 78"/>
                <a:gd name="T1" fmla="*/ 2 h 63"/>
                <a:gd name="T2" fmla="*/ 0 w 78"/>
                <a:gd name="T3" fmla="*/ 0 h 63"/>
                <a:gd name="T4" fmla="*/ 44 w 78"/>
                <a:gd name="T5" fmla="*/ 63 h 63"/>
                <a:gd name="T6" fmla="*/ 0 60000 65536"/>
                <a:gd name="T7" fmla="*/ 0 60000 65536"/>
                <a:gd name="T8" fmla="*/ 0 60000 65536"/>
                <a:gd name="T9" fmla="*/ 0 w 78"/>
                <a:gd name="T10" fmla="*/ 0 h 63"/>
                <a:gd name="T11" fmla="*/ 78 w 78"/>
                <a:gd name="T12" fmla="*/ 63 h 63"/>
              </a:gdLst>
              <a:ahLst/>
              <a:cxnLst>
                <a:cxn ang="T6">
                  <a:pos x="T0" y="T1"/>
                </a:cxn>
                <a:cxn ang="T7">
                  <a:pos x="T2" y="T3"/>
                </a:cxn>
                <a:cxn ang="T8">
                  <a:pos x="T4" y="T5"/>
                </a:cxn>
              </a:cxnLst>
              <a:rect l="T9" t="T10" r="T11" b="T12"/>
              <a:pathLst>
                <a:path w="78" h="63">
                  <a:moveTo>
                    <a:pt x="78" y="2"/>
                  </a:moveTo>
                  <a:lnTo>
                    <a:pt x="0" y="0"/>
                  </a:lnTo>
                  <a:lnTo>
                    <a:pt x="44" y="63"/>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36" name="Rectangle 1600">
            <a:extLst>
              <a:ext uri="{FF2B5EF4-FFF2-40B4-BE49-F238E27FC236}">
                <a16:creationId xmlns:a16="http://schemas.microsoft.com/office/drawing/2014/main" id="{49216535-BE11-4C6E-9C5C-010A3CE91DAA}"/>
              </a:ext>
            </a:extLst>
          </p:cNvPr>
          <p:cNvSpPr>
            <a:spLocks noChangeArrowheads="1"/>
          </p:cNvSpPr>
          <p:nvPr/>
        </p:nvSpPr>
        <p:spPr bwMode="auto">
          <a:xfrm>
            <a:off x="5167313" y="4208463"/>
            <a:ext cx="315912"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37" name="Rectangle 1601">
            <a:extLst>
              <a:ext uri="{FF2B5EF4-FFF2-40B4-BE49-F238E27FC236}">
                <a16:creationId xmlns:a16="http://schemas.microsoft.com/office/drawing/2014/main" id="{FD0EAFA7-80BC-48BB-8714-03AD6315BB9E}"/>
              </a:ext>
            </a:extLst>
          </p:cNvPr>
          <p:cNvSpPr>
            <a:spLocks noChangeArrowheads="1"/>
          </p:cNvSpPr>
          <p:nvPr/>
        </p:nvSpPr>
        <p:spPr bwMode="auto">
          <a:xfrm>
            <a:off x="5356225" y="4330700"/>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338" name="Rectangle 1604">
            <a:extLst>
              <a:ext uri="{FF2B5EF4-FFF2-40B4-BE49-F238E27FC236}">
                <a16:creationId xmlns:a16="http://schemas.microsoft.com/office/drawing/2014/main" id="{E0189E16-268B-4F71-98DE-4837D2925C6F}"/>
              </a:ext>
            </a:extLst>
          </p:cNvPr>
          <p:cNvSpPr>
            <a:spLocks noChangeArrowheads="1"/>
          </p:cNvSpPr>
          <p:nvPr/>
        </p:nvSpPr>
        <p:spPr bwMode="auto">
          <a:xfrm>
            <a:off x="5999163" y="4918075"/>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339" name="Rectangle 1605">
            <a:extLst>
              <a:ext uri="{FF2B5EF4-FFF2-40B4-BE49-F238E27FC236}">
                <a16:creationId xmlns:a16="http://schemas.microsoft.com/office/drawing/2014/main" id="{A0EB62E4-E1FF-4D5B-A739-44D817D01C95}"/>
              </a:ext>
            </a:extLst>
          </p:cNvPr>
          <p:cNvSpPr>
            <a:spLocks noChangeArrowheads="1"/>
          </p:cNvSpPr>
          <p:nvPr/>
        </p:nvSpPr>
        <p:spPr bwMode="auto">
          <a:xfrm>
            <a:off x="6457950" y="4021139"/>
            <a:ext cx="319088"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40" name="Rectangle 1608">
            <a:extLst>
              <a:ext uri="{FF2B5EF4-FFF2-40B4-BE49-F238E27FC236}">
                <a16:creationId xmlns:a16="http://schemas.microsoft.com/office/drawing/2014/main" id="{92B88C5F-0264-42EB-937A-D6B8E83B2449}"/>
              </a:ext>
            </a:extLst>
          </p:cNvPr>
          <p:cNvSpPr>
            <a:spLocks noChangeArrowheads="1"/>
          </p:cNvSpPr>
          <p:nvPr/>
        </p:nvSpPr>
        <p:spPr bwMode="auto">
          <a:xfrm>
            <a:off x="6650038" y="4141788"/>
            <a:ext cx="2244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sz="700">
                <a:solidFill>
                  <a:srgbClr val="000000"/>
                </a:solidFill>
              </a:rPr>
              <a:t> </a:t>
            </a:r>
            <a:endParaRPr lang="en-US" altLang="en-US" sz="1400">
              <a:latin typeface="Arial" panose="020B0604020202020204" pitchFamily="34" charset="0"/>
            </a:endParaRPr>
          </a:p>
        </p:txBody>
      </p:sp>
      <p:sp>
        <p:nvSpPr>
          <p:cNvPr id="341" name="Rectangle 1612">
            <a:extLst>
              <a:ext uri="{FF2B5EF4-FFF2-40B4-BE49-F238E27FC236}">
                <a16:creationId xmlns:a16="http://schemas.microsoft.com/office/drawing/2014/main" id="{4A5BEFCE-E8A8-43F0-8B0B-B66F2D3875BF}"/>
              </a:ext>
            </a:extLst>
          </p:cNvPr>
          <p:cNvSpPr>
            <a:spLocks noChangeArrowheads="1"/>
          </p:cNvSpPr>
          <p:nvPr/>
        </p:nvSpPr>
        <p:spPr bwMode="auto">
          <a:xfrm>
            <a:off x="4062414" y="4459289"/>
            <a:ext cx="306387" cy="439737"/>
          </a:xfrm>
          <a:prstGeom prst="rect">
            <a:avLst/>
          </a:prstGeom>
          <a:solidFill>
            <a:srgbClr val="0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342" name="Group 1613">
            <a:extLst>
              <a:ext uri="{FF2B5EF4-FFF2-40B4-BE49-F238E27FC236}">
                <a16:creationId xmlns:a16="http://schemas.microsoft.com/office/drawing/2014/main" id="{3CF6AB75-8A03-42DC-B4C5-C914C9CB9F04}"/>
              </a:ext>
            </a:extLst>
          </p:cNvPr>
          <p:cNvGrpSpPr>
            <a:grpSpLocks/>
          </p:cNvGrpSpPr>
          <p:nvPr/>
        </p:nvGrpSpPr>
        <p:grpSpPr bwMode="auto">
          <a:xfrm>
            <a:off x="4064001" y="4460876"/>
            <a:ext cx="301625" cy="434975"/>
            <a:chOff x="2067" y="3557"/>
            <a:chExt cx="190" cy="274"/>
          </a:xfrm>
        </p:grpSpPr>
        <p:grpSp>
          <p:nvGrpSpPr>
            <p:cNvPr id="343" name="Group 1614">
              <a:extLst>
                <a:ext uri="{FF2B5EF4-FFF2-40B4-BE49-F238E27FC236}">
                  <a16:creationId xmlns:a16="http://schemas.microsoft.com/office/drawing/2014/main" id="{39A1E5B5-54DE-4B25-AC08-DAE674DF4B03}"/>
                </a:ext>
              </a:extLst>
            </p:cNvPr>
            <p:cNvGrpSpPr>
              <a:grpSpLocks/>
            </p:cNvGrpSpPr>
            <p:nvPr/>
          </p:nvGrpSpPr>
          <p:grpSpPr bwMode="auto">
            <a:xfrm>
              <a:off x="2067" y="3614"/>
              <a:ext cx="164" cy="197"/>
              <a:chOff x="2067" y="3614"/>
              <a:chExt cx="164" cy="197"/>
            </a:xfrm>
          </p:grpSpPr>
          <p:sp>
            <p:nvSpPr>
              <p:cNvPr id="396" name="Freeform 1615">
                <a:extLst>
                  <a:ext uri="{FF2B5EF4-FFF2-40B4-BE49-F238E27FC236}">
                    <a16:creationId xmlns:a16="http://schemas.microsoft.com/office/drawing/2014/main" id="{65F70EC9-697C-43F0-B062-92AFF3751FCE}"/>
                  </a:ext>
                </a:extLst>
              </p:cNvPr>
              <p:cNvSpPr>
                <a:spLocks/>
              </p:cNvSpPr>
              <p:nvPr/>
            </p:nvSpPr>
            <p:spPr bwMode="auto">
              <a:xfrm>
                <a:off x="2067" y="3614"/>
                <a:ext cx="164"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199" y="1522"/>
                    </a:lnTo>
                    <a:lnTo>
                      <a:pt x="162" y="1459"/>
                    </a:lnTo>
                    <a:lnTo>
                      <a:pt x="153" y="1439"/>
                    </a:lnTo>
                    <a:lnTo>
                      <a:pt x="125" y="1376"/>
                    </a:lnTo>
                    <a:lnTo>
                      <a:pt x="115" y="1333"/>
                    </a:lnTo>
                    <a:lnTo>
                      <a:pt x="106" y="1292"/>
                    </a:lnTo>
                    <a:lnTo>
                      <a:pt x="88" y="1229"/>
                    </a:lnTo>
                    <a:lnTo>
                      <a:pt x="69" y="1188"/>
                    </a:lnTo>
                    <a:lnTo>
                      <a:pt x="41" y="1124"/>
                    </a:lnTo>
                    <a:lnTo>
                      <a:pt x="22" y="1061"/>
                    </a:lnTo>
                    <a:lnTo>
                      <a:pt x="16" y="1022"/>
                    </a:lnTo>
                    <a:lnTo>
                      <a:pt x="4" y="935"/>
                    </a:lnTo>
                    <a:lnTo>
                      <a:pt x="1" y="872"/>
                    </a:lnTo>
                    <a:lnTo>
                      <a:pt x="0" y="792"/>
                    </a:lnTo>
                    <a:lnTo>
                      <a:pt x="14" y="724"/>
                    </a:lnTo>
                    <a:lnTo>
                      <a:pt x="32" y="693"/>
                    </a:lnTo>
                    <a:lnTo>
                      <a:pt x="50" y="677"/>
                    </a:lnTo>
                    <a:lnTo>
                      <a:pt x="67" y="669"/>
                    </a:lnTo>
                    <a:lnTo>
                      <a:pt x="88" y="661"/>
                    </a:lnTo>
                    <a:lnTo>
                      <a:pt x="106" y="661"/>
                    </a:lnTo>
                    <a:lnTo>
                      <a:pt x="106" y="613"/>
                    </a:lnTo>
                    <a:lnTo>
                      <a:pt x="100" y="591"/>
                    </a:lnTo>
                    <a:lnTo>
                      <a:pt x="97" y="555"/>
                    </a:lnTo>
                    <a:lnTo>
                      <a:pt x="105" y="534"/>
                    </a:lnTo>
                    <a:lnTo>
                      <a:pt x="106" y="515"/>
                    </a:lnTo>
                    <a:lnTo>
                      <a:pt x="120" y="477"/>
                    </a:lnTo>
                    <a:lnTo>
                      <a:pt x="134" y="451"/>
                    </a:lnTo>
                    <a:lnTo>
                      <a:pt x="155" y="419"/>
                    </a:lnTo>
                    <a:lnTo>
                      <a:pt x="184" y="388"/>
                    </a:lnTo>
                    <a:lnTo>
                      <a:pt x="216" y="361"/>
                    </a:lnTo>
                    <a:lnTo>
                      <a:pt x="244" y="336"/>
                    </a:lnTo>
                    <a:lnTo>
                      <a:pt x="278" y="326"/>
                    </a:lnTo>
                    <a:lnTo>
                      <a:pt x="312" y="320"/>
                    </a:lnTo>
                    <a:lnTo>
                      <a:pt x="344" y="326"/>
                    </a:lnTo>
                    <a:lnTo>
                      <a:pt x="374" y="336"/>
                    </a:lnTo>
                    <a:lnTo>
                      <a:pt x="410" y="346"/>
                    </a:lnTo>
                    <a:lnTo>
                      <a:pt x="420" y="326"/>
                    </a:lnTo>
                    <a:lnTo>
                      <a:pt x="426" y="268"/>
                    </a:lnTo>
                    <a:lnTo>
                      <a:pt x="438" y="220"/>
                    </a:lnTo>
                    <a:lnTo>
                      <a:pt x="461" y="184"/>
                    </a:lnTo>
                    <a:lnTo>
                      <a:pt x="486" y="160"/>
                    </a:lnTo>
                    <a:lnTo>
                      <a:pt x="522" y="148"/>
                    </a:lnTo>
                    <a:lnTo>
                      <a:pt x="559" y="136"/>
                    </a:lnTo>
                    <a:lnTo>
                      <a:pt x="615" y="125"/>
                    </a:lnTo>
                    <a:lnTo>
                      <a:pt x="650" y="125"/>
                    </a:lnTo>
                    <a:lnTo>
                      <a:pt x="660" y="104"/>
                    </a:lnTo>
                    <a:lnTo>
                      <a:pt x="678" y="62"/>
                    </a:lnTo>
                    <a:lnTo>
                      <a:pt x="706" y="31"/>
                    </a:lnTo>
                    <a:lnTo>
                      <a:pt x="744" y="10"/>
                    </a:lnTo>
                    <a:lnTo>
                      <a:pt x="800" y="0"/>
                    </a:lnTo>
                    <a:lnTo>
                      <a:pt x="854" y="0"/>
                    </a:lnTo>
                    <a:lnTo>
                      <a:pt x="927" y="4"/>
                    </a:lnTo>
                    <a:lnTo>
                      <a:pt x="967" y="6"/>
                    </a:lnTo>
                    <a:lnTo>
                      <a:pt x="994" y="10"/>
                    </a:lnTo>
                    <a:lnTo>
                      <a:pt x="1018" y="17"/>
                    </a:lnTo>
                    <a:lnTo>
                      <a:pt x="1039" y="35"/>
                    </a:lnTo>
                    <a:lnTo>
                      <a:pt x="1052" y="57"/>
                    </a:lnTo>
                    <a:lnTo>
                      <a:pt x="1061" y="86"/>
                    </a:lnTo>
                    <a:lnTo>
                      <a:pt x="1067" y="136"/>
                    </a:lnTo>
                    <a:lnTo>
                      <a:pt x="1062" y="180"/>
                    </a:lnTo>
                    <a:lnTo>
                      <a:pt x="1046" y="218"/>
                    </a:lnTo>
                    <a:lnTo>
                      <a:pt x="1027" y="239"/>
                    </a:lnTo>
                    <a:lnTo>
                      <a:pt x="1002" y="252"/>
                    </a:lnTo>
                    <a:lnTo>
                      <a:pt x="973" y="260"/>
                    </a:lnTo>
                    <a:lnTo>
                      <a:pt x="923" y="259"/>
                    </a:lnTo>
                    <a:lnTo>
                      <a:pt x="939" y="281"/>
                    </a:lnTo>
                    <a:lnTo>
                      <a:pt x="961" y="323"/>
                    </a:lnTo>
                    <a:lnTo>
                      <a:pt x="980" y="357"/>
                    </a:lnTo>
                    <a:lnTo>
                      <a:pt x="995" y="399"/>
                    </a:lnTo>
                    <a:lnTo>
                      <a:pt x="1004" y="434"/>
                    </a:lnTo>
                    <a:lnTo>
                      <a:pt x="1000" y="457"/>
                    </a:lnTo>
                    <a:lnTo>
                      <a:pt x="980" y="482"/>
                    </a:lnTo>
                    <a:lnTo>
                      <a:pt x="1002" y="526"/>
                    </a:lnTo>
                    <a:lnTo>
                      <a:pt x="1029" y="567"/>
                    </a:lnTo>
                    <a:lnTo>
                      <a:pt x="1060" y="619"/>
                    </a:lnTo>
                    <a:lnTo>
                      <a:pt x="1108" y="667"/>
                    </a:lnTo>
                    <a:lnTo>
                      <a:pt x="1182" y="739"/>
                    </a:lnTo>
                    <a:lnTo>
                      <a:pt x="1251" y="822"/>
                    </a:lnTo>
                    <a:lnTo>
                      <a:pt x="1316" y="930"/>
                    </a:lnTo>
                    <a:lnTo>
                      <a:pt x="1372" y="1029"/>
                    </a:lnTo>
                    <a:lnTo>
                      <a:pt x="1418" y="1113"/>
                    </a:lnTo>
                    <a:lnTo>
                      <a:pt x="1432" y="1144"/>
                    </a:lnTo>
                    <a:lnTo>
                      <a:pt x="1435" y="1198"/>
                    </a:lnTo>
                    <a:lnTo>
                      <a:pt x="1450" y="1240"/>
                    </a:lnTo>
                    <a:lnTo>
                      <a:pt x="1473" y="1204"/>
                    </a:lnTo>
                    <a:lnTo>
                      <a:pt x="1517" y="1147"/>
                    </a:lnTo>
                    <a:lnTo>
                      <a:pt x="1575" y="1061"/>
                    </a:lnTo>
                    <a:lnTo>
                      <a:pt x="1612" y="1009"/>
                    </a:lnTo>
                    <a:lnTo>
                      <a:pt x="1629" y="977"/>
                    </a:lnTo>
                    <a:lnTo>
                      <a:pt x="1649" y="924"/>
                    </a:lnTo>
                    <a:lnTo>
                      <a:pt x="1666" y="889"/>
                    </a:lnTo>
                    <a:lnTo>
                      <a:pt x="1681" y="862"/>
                    </a:lnTo>
                    <a:lnTo>
                      <a:pt x="1701" y="833"/>
                    </a:lnTo>
                    <a:lnTo>
                      <a:pt x="1723" y="808"/>
                    </a:lnTo>
                    <a:lnTo>
                      <a:pt x="1763" y="767"/>
                    </a:lnTo>
                    <a:lnTo>
                      <a:pt x="1807" y="734"/>
                    </a:lnTo>
                    <a:lnTo>
                      <a:pt x="1851" y="713"/>
                    </a:lnTo>
                    <a:lnTo>
                      <a:pt x="1889" y="713"/>
                    </a:lnTo>
                    <a:lnTo>
                      <a:pt x="1923" y="717"/>
                    </a:lnTo>
                    <a:lnTo>
                      <a:pt x="1953" y="735"/>
                    </a:lnTo>
                    <a:lnTo>
                      <a:pt x="1974" y="774"/>
                    </a:lnTo>
                    <a:lnTo>
                      <a:pt x="1973" y="819"/>
                    </a:lnTo>
                    <a:lnTo>
                      <a:pt x="1973" y="839"/>
                    </a:lnTo>
                    <a:lnTo>
                      <a:pt x="1963" y="883"/>
                    </a:lnTo>
                    <a:lnTo>
                      <a:pt x="1945" y="903"/>
                    </a:lnTo>
                    <a:lnTo>
                      <a:pt x="1935" y="946"/>
                    </a:lnTo>
                    <a:lnTo>
                      <a:pt x="1917" y="1009"/>
                    </a:lnTo>
                    <a:lnTo>
                      <a:pt x="1917" y="1071"/>
                    </a:lnTo>
                    <a:lnTo>
                      <a:pt x="1907" y="1134"/>
                    </a:lnTo>
                    <a:lnTo>
                      <a:pt x="1904" y="1167"/>
                    </a:lnTo>
                    <a:lnTo>
                      <a:pt x="1895" y="1200"/>
                    </a:lnTo>
                    <a:lnTo>
                      <a:pt x="1876" y="1238"/>
                    </a:lnTo>
                    <a:lnTo>
                      <a:pt x="1851" y="1271"/>
                    </a:lnTo>
                    <a:lnTo>
                      <a:pt x="1834" y="1333"/>
                    </a:lnTo>
                    <a:lnTo>
                      <a:pt x="1806" y="1396"/>
                    </a:lnTo>
                    <a:lnTo>
                      <a:pt x="1723" y="1544"/>
                    </a:lnTo>
                    <a:lnTo>
                      <a:pt x="1649" y="1649"/>
                    </a:lnTo>
                    <a:lnTo>
                      <a:pt x="1594" y="1722"/>
                    </a:lnTo>
                    <a:lnTo>
                      <a:pt x="1584" y="1764"/>
                    </a:lnTo>
                    <a:lnTo>
                      <a:pt x="1575" y="1807"/>
                    </a:lnTo>
                    <a:lnTo>
                      <a:pt x="1558" y="1853"/>
                    </a:lnTo>
                    <a:lnTo>
                      <a:pt x="1545" y="1912"/>
                    </a:lnTo>
                    <a:lnTo>
                      <a:pt x="1519" y="1975"/>
                    </a:lnTo>
                    <a:lnTo>
                      <a:pt x="1473" y="2059"/>
                    </a:lnTo>
                    <a:lnTo>
                      <a:pt x="1428" y="2122"/>
                    </a:lnTo>
                    <a:lnTo>
                      <a:pt x="1400" y="2163"/>
                    </a:lnTo>
                    <a:lnTo>
                      <a:pt x="1381" y="2227"/>
                    </a:lnTo>
                    <a:lnTo>
                      <a:pt x="1362" y="2269"/>
                    </a:lnTo>
                    <a:lnTo>
                      <a:pt x="1332"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397" name="Group 1616">
                <a:extLst>
                  <a:ext uri="{FF2B5EF4-FFF2-40B4-BE49-F238E27FC236}">
                    <a16:creationId xmlns:a16="http://schemas.microsoft.com/office/drawing/2014/main" id="{0735A1C9-FDCD-4221-BBCB-B492745D8993}"/>
                  </a:ext>
                </a:extLst>
              </p:cNvPr>
              <p:cNvGrpSpPr>
                <a:grpSpLocks/>
              </p:cNvGrpSpPr>
              <p:nvPr/>
            </p:nvGrpSpPr>
            <p:grpSpPr bwMode="auto">
              <a:xfrm>
                <a:off x="2078" y="3668"/>
                <a:ext cx="139" cy="45"/>
                <a:chOff x="2078" y="3668"/>
                <a:chExt cx="139" cy="45"/>
              </a:xfrm>
            </p:grpSpPr>
            <p:sp>
              <p:nvSpPr>
                <p:cNvPr id="402" name="Freeform 1617">
                  <a:extLst>
                    <a:ext uri="{FF2B5EF4-FFF2-40B4-BE49-F238E27FC236}">
                      <a16:creationId xmlns:a16="http://schemas.microsoft.com/office/drawing/2014/main" id="{49EBA91A-B415-40C9-94BE-92648A3B6A83}"/>
                    </a:ext>
                  </a:extLst>
                </p:cNvPr>
                <p:cNvSpPr>
                  <a:spLocks/>
                </p:cNvSpPr>
                <p:nvPr/>
              </p:nvSpPr>
              <p:spPr bwMode="auto">
                <a:xfrm>
                  <a:off x="2201" y="3705"/>
                  <a:ext cx="16" cy="8"/>
                </a:xfrm>
                <a:custGeom>
                  <a:avLst/>
                  <a:gdLst>
                    <a:gd name="T0" fmla="*/ 0 w 185"/>
                    <a:gd name="T1" fmla="*/ 0 h 96"/>
                    <a:gd name="T2" fmla="*/ 0 w 185"/>
                    <a:gd name="T3" fmla="*/ 0 h 96"/>
                    <a:gd name="T4" fmla="*/ 0 w 185"/>
                    <a:gd name="T5" fmla="*/ 0 h 96"/>
                    <a:gd name="T6" fmla="*/ 0 w 185"/>
                    <a:gd name="T7" fmla="*/ 0 h 96"/>
                    <a:gd name="T8" fmla="*/ 0 w 185"/>
                    <a:gd name="T9" fmla="*/ 0 h 96"/>
                    <a:gd name="T10" fmla="*/ 0 w 185"/>
                    <a:gd name="T11" fmla="*/ 0 h 96"/>
                    <a:gd name="T12" fmla="*/ 0 w 185"/>
                    <a:gd name="T13" fmla="*/ 0 h 96"/>
                    <a:gd name="T14" fmla="*/ 0 60000 65536"/>
                    <a:gd name="T15" fmla="*/ 0 60000 65536"/>
                    <a:gd name="T16" fmla="*/ 0 60000 65536"/>
                    <a:gd name="T17" fmla="*/ 0 60000 65536"/>
                    <a:gd name="T18" fmla="*/ 0 60000 65536"/>
                    <a:gd name="T19" fmla="*/ 0 60000 65536"/>
                    <a:gd name="T20" fmla="*/ 0 60000 65536"/>
                    <a:gd name="T21" fmla="*/ 0 w 185"/>
                    <a:gd name="T22" fmla="*/ 0 h 96"/>
                    <a:gd name="T23" fmla="*/ 185 w 185"/>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96">
                      <a:moveTo>
                        <a:pt x="0" y="0"/>
                      </a:moveTo>
                      <a:lnTo>
                        <a:pt x="38" y="21"/>
                      </a:lnTo>
                      <a:lnTo>
                        <a:pt x="66" y="52"/>
                      </a:lnTo>
                      <a:lnTo>
                        <a:pt x="101" y="85"/>
                      </a:lnTo>
                      <a:lnTo>
                        <a:pt x="129" y="96"/>
                      </a:lnTo>
                      <a:lnTo>
                        <a:pt x="139" y="96"/>
                      </a:lnTo>
                      <a:lnTo>
                        <a:pt x="185"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3" name="Freeform 1618">
                  <a:extLst>
                    <a:ext uri="{FF2B5EF4-FFF2-40B4-BE49-F238E27FC236}">
                      <a16:creationId xmlns:a16="http://schemas.microsoft.com/office/drawing/2014/main" id="{FD4E3A23-89AF-4327-AB1C-626FE05FD538}"/>
                    </a:ext>
                  </a:extLst>
                </p:cNvPr>
                <p:cNvSpPr>
                  <a:spLocks/>
                </p:cNvSpPr>
                <p:nvPr/>
              </p:nvSpPr>
              <p:spPr bwMode="auto">
                <a:xfrm>
                  <a:off x="2078" y="3695"/>
                  <a:ext cx="8"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4" name="Freeform 1619">
                  <a:extLst>
                    <a:ext uri="{FF2B5EF4-FFF2-40B4-BE49-F238E27FC236}">
                      <a16:creationId xmlns:a16="http://schemas.microsoft.com/office/drawing/2014/main" id="{A125BFAF-BAEC-499F-B5CB-50BF821108FD}"/>
                    </a:ext>
                  </a:extLst>
                </p:cNvPr>
                <p:cNvSpPr>
                  <a:spLocks/>
                </p:cNvSpPr>
                <p:nvPr/>
              </p:nvSpPr>
              <p:spPr bwMode="auto">
                <a:xfrm>
                  <a:off x="2102" y="3670"/>
                  <a:ext cx="1" cy="4"/>
                </a:xfrm>
                <a:custGeom>
                  <a:avLst/>
                  <a:gdLst>
                    <a:gd name="T0" fmla="*/ 0 w 18"/>
                    <a:gd name="T1" fmla="*/ 0 h 44"/>
                    <a:gd name="T2" fmla="*/ 0 w 18"/>
                    <a:gd name="T3" fmla="*/ 0 h 44"/>
                    <a:gd name="T4" fmla="*/ 0 w 18"/>
                    <a:gd name="T5" fmla="*/ 0 h 44"/>
                    <a:gd name="T6" fmla="*/ 0 w 18"/>
                    <a:gd name="T7" fmla="*/ 0 h 44"/>
                    <a:gd name="T8" fmla="*/ 0 60000 65536"/>
                    <a:gd name="T9" fmla="*/ 0 60000 65536"/>
                    <a:gd name="T10" fmla="*/ 0 60000 65536"/>
                    <a:gd name="T11" fmla="*/ 0 60000 65536"/>
                    <a:gd name="T12" fmla="*/ 0 w 18"/>
                    <a:gd name="T13" fmla="*/ 0 h 44"/>
                    <a:gd name="T14" fmla="*/ 18 w 18"/>
                    <a:gd name="T15" fmla="*/ 44 h 44"/>
                  </a:gdLst>
                  <a:ahLst/>
                  <a:cxnLst>
                    <a:cxn ang="T8">
                      <a:pos x="T0" y="T1"/>
                    </a:cxn>
                    <a:cxn ang="T9">
                      <a:pos x="T2" y="T3"/>
                    </a:cxn>
                    <a:cxn ang="T10">
                      <a:pos x="T4" y="T5"/>
                    </a:cxn>
                    <a:cxn ang="T11">
                      <a:pos x="T6" y="T7"/>
                    </a:cxn>
                  </a:cxnLst>
                  <a:rect l="T12" t="T13" r="T14" b="T15"/>
                  <a:pathLst>
                    <a:path w="18" h="44">
                      <a:moveTo>
                        <a:pt x="0" y="0"/>
                      </a:moveTo>
                      <a:lnTo>
                        <a:pt x="18" y="18"/>
                      </a:lnTo>
                      <a:lnTo>
                        <a:pt x="16" y="29"/>
                      </a:lnTo>
                      <a:lnTo>
                        <a:pt x="18"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5" name="Freeform 1620">
                  <a:extLst>
                    <a:ext uri="{FF2B5EF4-FFF2-40B4-BE49-F238E27FC236}">
                      <a16:creationId xmlns:a16="http://schemas.microsoft.com/office/drawing/2014/main" id="{23FF39D1-0782-4346-80D2-A2FFAD976166}"/>
                    </a:ext>
                  </a:extLst>
                </p:cNvPr>
                <p:cNvSpPr>
                  <a:spLocks/>
                </p:cNvSpPr>
                <p:nvPr/>
              </p:nvSpPr>
              <p:spPr bwMode="auto">
                <a:xfrm>
                  <a:off x="2095" y="3668"/>
                  <a:ext cx="15" cy="2"/>
                </a:xfrm>
                <a:custGeom>
                  <a:avLst/>
                  <a:gdLst>
                    <a:gd name="T0" fmla="*/ 0 w 179"/>
                    <a:gd name="T1" fmla="*/ 0 h 22"/>
                    <a:gd name="T2" fmla="*/ 0 w 179"/>
                    <a:gd name="T3" fmla="*/ 0 h 22"/>
                    <a:gd name="T4" fmla="*/ 0 w 179"/>
                    <a:gd name="T5" fmla="*/ 0 h 22"/>
                    <a:gd name="T6" fmla="*/ 0 w 179"/>
                    <a:gd name="T7" fmla="*/ 0 h 22"/>
                    <a:gd name="T8" fmla="*/ 0 w 179"/>
                    <a:gd name="T9" fmla="*/ 0 h 22"/>
                    <a:gd name="T10" fmla="*/ 0 60000 65536"/>
                    <a:gd name="T11" fmla="*/ 0 60000 65536"/>
                    <a:gd name="T12" fmla="*/ 0 60000 65536"/>
                    <a:gd name="T13" fmla="*/ 0 60000 65536"/>
                    <a:gd name="T14" fmla="*/ 0 60000 65536"/>
                    <a:gd name="T15" fmla="*/ 0 w 179"/>
                    <a:gd name="T16" fmla="*/ 0 h 22"/>
                    <a:gd name="T17" fmla="*/ 179 w 179"/>
                    <a:gd name="T18" fmla="*/ 22 h 22"/>
                  </a:gdLst>
                  <a:ahLst/>
                  <a:cxnLst>
                    <a:cxn ang="T10">
                      <a:pos x="T0" y="T1"/>
                    </a:cxn>
                    <a:cxn ang="T11">
                      <a:pos x="T2" y="T3"/>
                    </a:cxn>
                    <a:cxn ang="T12">
                      <a:pos x="T4" y="T5"/>
                    </a:cxn>
                    <a:cxn ang="T13">
                      <a:pos x="T6" y="T7"/>
                    </a:cxn>
                    <a:cxn ang="T14">
                      <a:pos x="T8" y="T9"/>
                    </a:cxn>
                  </a:cxnLst>
                  <a:rect l="T15" t="T16" r="T17" b="T18"/>
                  <a:pathLst>
                    <a:path w="179" h="22">
                      <a:moveTo>
                        <a:pt x="179" y="11"/>
                      </a:moveTo>
                      <a:lnTo>
                        <a:pt x="151" y="22"/>
                      </a:lnTo>
                      <a:lnTo>
                        <a:pt x="39" y="22"/>
                      </a:lnTo>
                      <a:lnTo>
                        <a:pt x="18" y="10"/>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98" name="Group 1621">
                <a:extLst>
                  <a:ext uri="{FF2B5EF4-FFF2-40B4-BE49-F238E27FC236}">
                    <a16:creationId xmlns:a16="http://schemas.microsoft.com/office/drawing/2014/main" id="{E68ED4B7-9039-4BDC-8AC0-52E69439588A}"/>
                  </a:ext>
                </a:extLst>
              </p:cNvPr>
              <p:cNvGrpSpPr>
                <a:grpSpLocks/>
              </p:cNvGrpSpPr>
              <p:nvPr/>
            </p:nvGrpSpPr>
            <p:grpSpPr bwMode="auto">
              <a:xfrm>
                <a:off x="2093" y="3659"/>
                <a:ext cx="95" cy="91"/>
                <a:chOff x="2093" y="3659"/>
                <a:chExt cx="95" cy="91"/>
              </a:xfrm>
            </p:grpSpPr>
            <p:sp>
              <p:nvSpPr>
                <p:cNvPr id="399" name="Freeform 1622">
                  <a:extLst>
                    <a:ext uri="{FF2B5EF4-FFF2-40B4-BE49-F238E27FC236}">
                      <a16:creationId xmlns:a16="http://schemas.microsoft.com/office/drawing/2014/main" id="{DB32C83C-EEBC-4091-9740-67FA109A31CC}"/>
                    </a:ext>
                  </a:extLst>
                </p:cNvPr>
                <p:cNvSpPr>
                  <a:spLocks/>
                </p:cNvSpPr>
                <p:nvPr/>
              </p:nvSpPr>
              <p:spPr bwMode="auto">
                <a:xfrm>
                  <a:off x="2100" y="3676"/>
                  <a:ext cx="88" cy="74"/>
                </a:xfrm>
                <a:custGeom>
                  <a:avLst/>
                  <a:gdLst>
                    <a:gd name="T0" fmla="*/ 0 w 1061"/>
                    <a:gd name="T1" fmla="*/ 0 h 894"/>
                    <a:gd name="T2" fmla="*/ 0 w 1061"/>
                    <a:gd name="T3" fmla="*/ 0 h 894"/>
                    <a:gd name="T4" fmla="*/ 0 w 1061"/>
                    <a:gd name="T5" fmla="*/ 0 h 894"/>
                    <a:gd name="T6" fmla="*/ 0 w 1061"/>
                    <a:gd name="T7" fmla="*/ 0 h 894"/>
                    <a:gd name="T8" fmla="*/ 0 w 1061"/>
                    <a:gd name="T9" fmla="*/ 0 h 894"/>
                    <a:gd name="T10" fmla="*/ 0 w 1061"/>
                    <a:gd name="T11" fmla="*/ 0 h 894"/>
                    <a:gd name="T12" fmla="*/ 0 w 1061"/>
                    <a:gd name="T13" fmla="*/ 0 h 894"/>
                    <a:gd name="T14" fmla="*/ 0 w 1061"/>
                    <a:gd name="T15" fmla="*/ 0 h 894"/>
                    <a:gd name="T16" fmla="*/ 0 w 1061"/>
                    <a:gd name="T17" fmla="*/ 0 h 894"/>
                    <a:gd name="T18" fmla="*/ 0 w 1061"/>
                    <a:gd name="T19" fmla="*/ 0 h 894"/>
                    <a:gd name="T20" fmla="*/ 0 w 1061"/>
                    <a:gd name="T21" fmla="*/ 0 h 894"/>
                    <a:gd name="T22" fmla="*/ 0 w 1061"/>
                    <a:gd name="T23" fmla="*/ 0 h 894"/>
                    <a:gd name="T24" fmla="*/ 0 w 1061"/>
                    <a:gd name="T25" fmla="*/ 0 h 894"/>
                    <a:gd name="T26" fmla="*/ 0 w 1061"/>
                    <a:gd name="T27" fmla="*/ 0 h 894"/>
                    <a:gd name="T28" fmla="*/ 0 w 1061"/>
                    <a:gd name="T29" fmla="*/ 0 h 894"/>
                    <a:gd name="T30" fmla="*/ 0 w 1061"/>
                    <a:gd name="T31" fmla="*/ 0 h 894"/>
                    <a:gd name="T32" fmla="*/ 0 w 1061"/>
                    <a:gd name="T33" fmla="*/ 0 h 894"/>
                    <a:gd name="T34" fmla="*/ 0 w 1061"/>
                    <a:gd name="T35" fmla="*/ 0 h 894"/>
                    <a:gd name="T36" fmla="*/ 0 w 1061"/>
                    <a:gd name="T37" fmla="*/ 0 h 894"/>
                    <a:gd name="T38" fmla="*/ 0 w 1061"/>
                    <a:gd name="T39" fmla="*/ 0 h 894"/>
                    <a:gd name="T40" fmla="*/ 0 w 1061"/>
                    <a:gd name="T41" fmla="*/ 0 h 894"/>
                    <a:gd name="T42" fmla="*/ 0 w 1061"/>
                    <a:gd name="T43" fmla="*/ 0 h 894"/>
                    <a:gd name="T44" fmla="*/ 0 w 1061"/>
                    <a:gd name="T45" fmla="*/ 0 h 894"/>
                    <a:gd name="T46" fmla="*/ 0 w 1061"/>
                    <a:gd name="T47" fmla="*/ 0 h 894"/>
                    <a:gd name="T48" fmla="*/ 0 w 1061"/>
                    <a:gd name="T49" fmla="*/ 0 h 894"/>
                    <a:gd name="T50" fmla="*/ 0 w 1061"/>
                    <a:gd name="T51" fmla="*/ 0 h 894"/>
                    <a:gd name="T52" fmla="*/ 0 w 1061"/>
                    <a:gd name="T53" fmla="*/ 0 h 894"/>
                    <a:gd name="T54" fmla="*/ 0 w 1061"/>
                    <a:gd name="T55" fmla="*/ 0 h 894"/>
                    <a:gd name="T56" fmla="*/ 0 w 1061"/>
                    <a:gd name="T57" fmla="*/ 0 h 894"/>
                    <a:gd name="T58" fmla="*/ 0 w 1061"/>
                    <a:gd name="T59" fmla="*/ 0 h 894"/>
                    <a:gd name="T60" fmla="*/ 0 w 1061"/>
                    <a:gd name="T61" fmla="*/ 0 h 894"/>
                    <a:gd name="T62" fmla="*/ 0 w 1061"/>
                    <a:gd name="T63" fmla="*/ 0 h 894"/>
                    <a:gd name="T64" fmla="*/ 0 w 1061"/>
                    <a:gd name="T65" fmla="*/ 0 h 894"/>
                    <a:gd name="T66" fmla="*/ 0 w 1061"/>
                    <a:gd name="T67" fmla="*/ 0 h 894"/>
                    <a:gd name="T68" fmla="*/ 0 w 1061"/>
                    <a:gd name="T69" fmla="*/ 0 h 894"/>
                    <a:gd name="T70" fmla="*/ 0 w 1061"/>
                    <a:gd name="T71" fmla="*/ 0 h 894"/>
                    <a:gd name="T72" fmla="*/ 0 w 1061"/>
                    <a:gd name="T73" fmla="*/ 0 h 894"/>
                    <a:gd name="T74" fmla="*/ 0 w 1061"/>
                    <a:gd name="T75" fmla="*/ 0 h 894"/>
                    <a:gd name="T76" fmla="*/ 0 w 1061"/>
                    <a:gd name="T77" fmla="*/ 0 h 894"/>
                    <a:gd name="T78" fmla="*/ 0 w 1061"/>
                    <a:gd name="T79" fmla="*/ 0 h 894"/>
                    <a:gd name="T80" fmla="*/ 0 w 1061"/>
                    <a:gd name="T81" fmla="*/ 0 h 894"/>
                    <a:gd name="T82" fmla="*/ 0 w 1061"/>
                    <a:gd name="T83" fmla="*/ 0 h 894"/>
                    <a:gd name="T84" fmla="*/ 0 w 1061"/>
                    <a:gd name="T85" fmla="*/ 0 h 894"/>
                    <a:gd name="T86" fmla="*/ 0 w 1061"/>
                    <a:gd name="T87" fmla="*/ 0 h 894"/>
                    <a:gd name="T88" fmla="*/ 0 w 1061"/>
                    <a:gd name="T89" fmla="*/ 0 h 894"/>
                    <a:gd name="T90" fmla="*/ 0 w 1061"/>
                    <a:gd name="T91" fmla="*/ 0 h 894"/>
                    <a:gd name="T92" fmla="*/ 0 w 1061"/>
                    <a:gd name="T93" fmla="*/ 0 h 894"/>
                    <a:gd name="T94" fmla="*/ 0 w 1061"/>
                    <a:gd name="T95" fmla="*/ 0 h 894"/>
                    <a:gd name="T96" fmla="*/ 0 w 1061"/>
                    <a:gd name="T97" fmla="*/ 0 h 894"/>
                    <a:gd name="T98" fmla="*/ 0 w 1061"/>
                    <a:gd name="T99" fmla="*/ 0 h 894"/>
                    <a:gd name="T100" fmla="*/ 0 w 1061"/>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1"/>
                    <a:gd name="T154" fmla="*/ 0 h 894"/>
                    <a:gd name="T155" fmla="*/ 1061 w 1061"/>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1" h="894">
                      <a:moveTo>
                        <a:pt x="1061" y="487"/>
                      </a:moveTo>
                      <a:lnTo>
                        <a:pt x="982" y="517"/>
                      </a:lnTo>
                      <a:lnTo>
                        <a:pt x="886" y="555"/>
                      </a:lnTo>
                      <a:lnTo>
                        <a:pt x="827" y="593"/>
                      </a:lnTo>
                      <a:lnTo>
                        <a:pt x="779" y="652"/>
                      </a:lnTo>
                      <a:lnTo>
                        <a:pt x="750" y="739"/>
                      </a:lnTo>
                      <a:lnTo>
                        <a:pt x="730" y="807"/>
                      </a:lnTo>
                      <a:lnTo>
                        <a:pt x="671" y="875"/>
                      </a:lnTo>
                      <a:lnTo>
                        <a:pt x="574" y="894"/>
                      </a:lnTo>
                      <a:lnTo>
                        <a:pt x="506" y="865"/>
                      </a:lnTo>
                      <a:lnTo>
                        <a:pt x="457" y="826"/>
                      </a:lnTo>
                      <a:lnTo>
                        <a:pt x="454" y="784"/>
                      </a:lnTo>
                      <a:lnTo>
                        <a:pt x="447" y="749"/>
                      </a:lnTo>
                      <a:lnTo>
                        <a:pt x="409" y="690"/>
                      </a:lnTo>
                      <a:lnTo>
                        <a:pt x="321" y="662"/>
                      </a:lnTo>
                      <a:lnTo>
                        <a:pt x="389" y="617"/>
                      </a:lnTo>
                      <a:lnTo>
                        <a:pt x="460" y="603"/>
                      </a:lnTo>
                      <a:lnTo>
                        <a:pt x="493" y="584"/>
                      </a:lnTo>
                      <a:lnTo>
                        <a:pt x="431" y="581"/>
                      </a:lnTo>
                      <a:lnTo>
                        <a:pt x="360" y="603"/>
                      </a:lnTo>
                      <a:lnTo>
                        <a:pt x="282" y="633"/>
                      </a:lnTo>
                      <a:lnTo>
                        <a:pt x="247" y="603"/>
                      </a:lnTo>
                      <a:lnTo>
                        <a:pt x="240" y="565"/>
                      </a:lnTo>
                      <a:lnTo>
                        <a:pt x="237" y="520"/>
                      </a:lnTo>
                      <a:lnTo>
                        <a:pt x="224" y="477"/>
                      </a:lnTo>
                      <a:lnTo>
                        <a:pt x="175" y="468"/>
                      </a:lnTo>
                      <a:lnTo>
                        <a:pt x="136" y="484"/>
                      </a:lnTo>
                      <a:lnTo>
                        <a:pt x="104" y="514"/>
                      </a:lnTo>
                      <a:lnTo>
                        <a:pt x="58" y="542"/>
                      </a:lnTo>
                      <a:lnTo>
                        <a:pt x="0" y="593"/>
                      </a:lnTo>
                      <a:lnTo>
                        <a:pt x="58" y="507"/>
                      </a:lnTo>
                      <a:lnTo>
                        <a:pt x="165" y="420"/>
                      </a:lnTo>
                      <a:lnTo>
                        <a:pt x="234" y="380"/>
                      </a:lnTo>
                      <a:lnTo>
                        <a:pt x="295" y="364"/>
                      </a:lnTo>
                      <a:lnTo>
                        <a:pt x="348" y="368"/>
                      </a:lnTo>
                      <a:lnTo>
                        <a:pt x="402" y="355"/>
                      </a:lnTo>
                      <a:lnTo>
                        <a:pt x="487" y="332"/>
                      </a:lnTo>
                      <a:lnTo>
                        <a:pt x="593" y="288"/>
                      </a:lnTo>
                      <a:lnTo>
                        <a:pt x="694" y="239"/>
                      </a:lnTo>
                      <a:lnTo>
                        <a:pt x="753" y="210"/>
                      </a:lnTo>
                      <a:lnTo>
                        <a:pt x="785" y="168"/>
                      </a:lnTo>
                      <a:lnTo>
                        <a:pt x="801" y="116"/>
                      </a:lnTo>
                      <a:lnTo>
                        <a:pt x="798" y="62"/>
                      </a:lnTo>
                      <a:lnTo>
                        <a:pt x="785" y="0"/>
                      </a:lnTo>
                      <a:lnTo>
                        <a:pt x="846" y="68"/>
                      </a:lnTo>
                      <a:lnTo>
                        <a:pt x="896" y="145"/>
                      </a:lnTo>
                      <a:lnTo>
                        <a:pt x="953" y="245"/>
                      </a:lnTo>
                      <a:lnTo>
                        <a:pt x="979" y="300"/>
                      </a:lnTo>
                      <a:lnTo>
                        <a:pt x="1006" y="348"/>
                      </a:lnTo>
                      <a:lnTo>
                        <a:pt x="1041" y="401"/>
                      </a:lnTo>
                      <a:lnTo>
                        <a:pt x="1061"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0" name="Freeform 1623">
                  <a:extLst>
                    <a:ext uri="{FF2B5EF4-FFF2-40B4-BE49-F238E27FC236}">
                      <a16:creationId xmlns:a16="http://schemas.microsoft.com/office/drawing/2014/main" id="{B2FC560E-5B0E-4865-8950-0D3890F8967F}"/>
                    </a:ext>
                  </a:extLst>
                </p:cNvPr>
                <p:cNvSpPr>
                  <a:spLocks/>
                </p:cNvSpPr>
                <p:nvPr/>
              </p:nvSpPr>
              <p:spPr bwMode="auto">
                <a:xfrm>
                  <a:off x="2093" y="3699"/>
                  <a:ext cx="24" cy="15"/>
                </a:xfrm>
                <a:custGeom>
                  <a:avLst/>
                  <a:gdLst>
                    <a:gd name="T0" fmla="*/ 0 w 288"/>
                    <a:gd name="T1" fmla="*/ 0 h 181"/>
                    <a:gd name="T2" fmla="*/ 0 w 288"/>
                    <a:gd name="T3" fmla="*/ 0 h 181"/>
                    <a:gd name="T4" fmla="*/ 0 w 288"/>
                    <a:gd name="T5" fmla="*/ 0 h 181"/>
                    <a:gd name="T6" fmla="*/ 0 w 288"/>
                    <a:gd name="T7" fmla="*/ 0 h 181"/>
                    <a:gd name="T8" fmla="*/ 0 w 288"/>
                    <a:gd name="T9" fmla="*/ 0 h 181"/>
                    <a:gd name="T10" fmla="*/ 0 w 288"/>
                    <a:gd name="T11" fmla="*/ 0 h 181"/>
                    <a:gd name="T12" fmla="*/ 0 w 288"/>
                    <a:gd name="T13" fmla="*/ 0 h 181"/>
                    <a:gd name="T14" fmla="*/ 0 w 288"/>
                    <a:gd name="T15" fmla="*/ 0 h 181"/>
                    <a:gd name="T16" fmla="*/ 0 w 288"/>
                    <a:gd name="T17" fmla="*/ 0 h 181"/>
                    <a:gd name="T18" fmla="*/ 0 w 288"/>
                    <a:gd name="T19" fmla="*/ 0 h 181"/>
                    <a:gd name="T20" fmla="*/ 0 w 288"/>
                    <a:gd name="T21" fmla="*/ 0 h 181"/>
                    <a:gd name="T22" fmla="*/ 0 w 288"/>
                    <a:gd name="T23" fmla="*/ 0 h 181"/>
                    <a:gd name="T24" fmla="*/ 0 w 288"/>
                    <a:gd name="T25" fmla="*/ 0 h 181"/>
                    <a:gd name="T26" fmla="*/ 0 w 288"/>
                    <a:gd name="T27" fmla="*/ 0 h 181"/>
                    <a:gd name="T28" fmla="*/ 0 w 288"/>
                    <a:gd name="T29" fmla="*/ 0 h 181"/>
                    <a:gd name="T30" fmla="*/ 0 w 288"/>
                    <a:gd name="T31" fmla="*/ 0 h 181"/>
                    <a:gd name="T32" fmla="*/ 0 w 288"/>
                    <a:gd name="T33" fmla="*/ 0 h 181"/>
                    <a:gd name="T34" fmla="*/ 0 w 288"/>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8"/>
                    <a:gd name="T55" fmla="*/ 0 h 181"/>
                    <a:gd name="T56" fmla="*/ 288 w 288"/>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8" h="181">
                      <a:moveTo>
                        <a:pt x="176" y="10"/>
                      </a:moveTo>
                      <a:lnTo>
                        <a:pt x="209" y="20"/>
                      </a:lnTo>
                      <a:lnTo>
                        <a:pt x="246" y="33"/>
                      </a:lnTo>
                      <a:lnTo>
                        <a:pt x="288" y="53"/>
                      </a:lnTo>
                      <a:lnTo>
                        <a:pt x="258" y="67"/>
                      </a:lnTo>
                      <a:lnTo>
                        <a:pt x="203" y="91"/>
                      </a:lnTo>
                      <a:lnTo>
                        <a:pt x="143" y="124"/>
                      </a:lnTo>
                      <a:lnTo>
                        <a:pt x="103" y="161"/>
                      </a:lnTo>
                      <a:lnTo>
                        <a:pt x="79" y="181"/>
                      </a:lnTo>
                      <a:lnTo>
                        <a:pt x="106"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1" name="Freeform 1624">
                  <a:extLst>
                    <a:ext uri="{FF2B5EF4-FFF2-40B4-BE49-F238E27FC236}">
                      <a16:creationId xmlns:a16="http://schemas.microsoft.com/office/drawing/2014/main" id="{0D41D2D6-9908-4E0B-8259-7A77E761F96B}"/>
                    </a:ext>
                  </a:extLst>
                </p:cNvPr>
                <p:cNvSpPr>
                  <a:spLocks/>
                </p:cNvSpPr>
                <p:nvPr/>
              </p:nvSpPr>
              <p:spPr bwMode="auto">
                <a:xfrm>
                  <a:off x="2115" y="3659"/>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4" y="166"/>
                      </a:lnTo>
                      <a:lnTo>
                        <a:pt x="365" y="206"/>
                      </a:lnTo>
                      <a:lnTo>
                        <a:pt x="314" y="255"/>
                      </a:lnTo>
                      <a:lnTo>
                        <a:pt x="264" y="332"/>
                      </a:lnTo>
                      <a:lnTo>
                        <a:pt x="242" y="385"/>
                      </a:lnTo>
                      <a:lnTo>
                        <a:pt x="258" y="434"/>
                      </a:lnTo>
                      <a:lnTo>
                        <a:pt x="193" y="388"/>
                      </a:lnTo>
                      <a:lnTo>
                        <a:pt x="130" y="365"/>
                      </a:lnTo>
                      <a:lnTo>
                        <a:pt x="81" y="345"/>
                      </a:lnTo>
                      <a:lnTo>
                        <a:pt x="32" y="329"/>
                      </a:lnTo>
                      <a:lnTo>
                        <a:pt x="0" y="313"/>
                      </a:lnTo>
                      <a:lnTo>
                        <a:pt x="42" y="255"/>
                      </a:lnTo>
                      <a:lnTo>
                        <a:pt x="81" y="283"/>
                      </a:lnTo>
                      <a:lnTo>
                        <a:pt x="143" y="313"/>
                      </a:lnTo>
                      <a:lnTo>
                        <a:pt x="196" y="313"/>
                      </a:lnTo>
                      <a:lnTo>
                        <a:pt x="245" y="304"/>
                      </a:lnTo>
                      <a:lnTo>
                        <a:pt x="274" y="293"/>
                      </a:lnTo>
                      <a:lnTo>
                        <a:pt x="304" y="274"/>
                      </a:lnTo>
                      <a:lnTo>
                        <a:pt x="314" y="212"/>
                      </a:lnTo>
                      <a:lnTo>
                        <a:pt x="304" y="166"/>
                      </a:lnTo>
                      <a:lnTo>
                        <a:pt x="274" y="108"/>
                      </a:lnTo>
                      <a:lnTo>
                        <a:pt x="264" y="78"/>
                      </a:lnTo>
                      <a:lnTo>
                        <a:pt x="307" y="68"/>
                      </a:lnTo>
                      <a:lnTo>
                        <a:pt x="362" y="52"/>
                      </a:lnTo>
                      <a:lnTo>
                        <a:pt x="398" y="9"/>
                      </a:lnTo>
                      <a:lnTo>
                        <a:pt x="431" y="0"/>
                      </a:lnTo>
                      <a:lnTo>
                        <a:pt x="467" y="55"/>
                      </a:lnTo>
                      <a:lnTo>
                        <a:pt x="499"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344" name="Group 1625">
              <a:extLst>
                <a:ext uri="{FF2B5EF4-FFF2-40B4-BE49-F238E27FC236}">
                  <a16:creationId xmlns:a16="http://schemas.microsoft.com/office/drawing/2014/main" id="{574BE34B-3F6A-4812-B147-CA96A4FCE066}"/>
                </a:ext>
              </a:extLst>
            </p:cNvPr>
            <p:cNvGrpSpPr>
              <a:grpSpLocks/>
            </p:cNvGrpSpPr>
            <p:nvPr/>
          </p:nvGrpSpPr>
          <p:grpSpPr bwMode="auto">
            <a:xfrm>
              <a:off x="2117" y="3557"/>
              <a:ext cx="140" cy="274"/>
              <a:chOff x="2117" y="3557"/>
              <a:chExt cx="140" cy="274"/>
            </a:xfrm>
          </p:grpSpPr>
          <p:sp>
            <p:nvSpPr>
              <p:cNvPr id="356" name="Freeform 1626">
                <a:extLst>
                  <a:ext uri="{FF2B5EF4-FFF2-40B4-BE49-F238E27FC236}">
                    <a16:creationId xmlns:a16="http://schemas.microsoft.com/office/drawing/2014/main" id="{DB9B4620-1C97-49F6-AB64-C212DB3E8ECC}"/>
                  </a:ext>
                </a:extLst>
              </p:cNvPr>
              <p:cNvSpPr>
                <a:spLocks/>
              </p:cNvSpPr>
              <p:nvPr/>
            </p:nvSpPr>
            <p:spPr bwMode="auto">
              <a:xfrm>
                <a:off x="2126" y="3753"/>
                <a:ext cx="129"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7"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357" name="Freeform 1627">
                <a:extLst>
                  <a:ext uri="{FF2B5EF4-FFF2-40B4-BE49-F238E27FC236}">
                    <a16:creationId xmlns:a16="http://schemas.microsoft.com/office/drawing/2014/main" id="{2C1F34FE-7894-4D4C-A937-DA9CD887C153}"/>
                  </a:ext>
                </a:extLst>
              </p:cNvPr>
              <p:cNvSpPr>
                <a:spLocks/>
              </p:cNvSpPr>
              <p:nvPr/>
            </p:nvSpPr>
            <p:spPr bwMode="auto">
              <a:xfrm>
                <a:off x="2172" y="3787"/>
                <a:ext cx="85"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6" y="179"/>
                    </a:lnTo>
                    <a:lnTo>
                      <a:pt x="944" y="523"/>
                    </a:lnTo>
                    <a:lnTo>
                      <a:pt x="963" y="528"/>
                    </a:lnTo>
                    <a:lnTo>
                      <a:pt x="980" y="523"/>
                    </a:lnTo>
                    <a:lnTo>
                      <a:pt x="995" y="505"/>
                    </a:lnTo>
                    <a:lnTo>
                      <a:pt x="1014" y="461"/>
                    </a:lnTo>
                    <a:lnTo>
                      <a:pt x="1023" y="428"/>
                    </a:lnTo>
                    <a:lnTo>
                      <a:pt x="1027" y="398"/>
                    </a:lnTo>
                    <a:lnTo>
                      <a:pt x="1019" y="366"/>
                    </a:lnTo>
                    <a:lnTo>
                      <a:pt x="999"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358" name="Freeform 1628">
                <a:extLst>
                  <a:ext uri="{FF2B5EF4-FFF2-40B4-BE49-F238E27FC236}">
                    <a16:creationId xmlns:a16="http://schemas.microsoft.com/office/drawing/2014/main" id="{E9417F7D-D667-4601-8839-EC0BEB5E72F5}"/>
                  </a:ext>
                </a:extLst>
              </p:cNvPr>
              <p:cNvSpPr>
                <a:spLocks/>
              </p:cNvSpPr>
              <p:nvPr/>
            </p:nvSpPr>
            <p:spPr bwMode="auto">
              <a:xfrm>
                <a:off x="2117" y="3557"/>
                <a:ext cx="123" cy="245"/>
              </a:xfrm>
              <a:custGeom>
                <a:avLst/>
                <a:gdLst>
                  <a:gd name="T0" fmla="*/ 0 w 1479"/>
                  <a:gd name="T1" fmla="*/ 0 h 2948"/>
                  <a:gd name="T2" fmla="*/ 0 w 1479"/>
                  <a:gd name="T3" fmla="*/ 0 h 2948"/>
                  <a:gd name="T4" fmla="*/ 0 w 1479"/>
                  <a:gd name="T5" fmla="*/ 0 h 2948"/>
                  <a:gd name="T6" fmla="*/ 0 w 1479"/>
                  <a:gd name="T7" fmla="*/ 0 h 2948"/>
                  <a:gd name="T8" fmla="*/ 0 w 1479"/>
                  <a:gd name="T9" fmla="*/ 0 h 2948"/>
                  <a:gd name="T10" fmla="*/ 0 w 1479"/>
                  <a:gd name="T11" fmla="*/ 0 h 2948"/>
                  <a:gd name="T12" fmla="*/ 0 w 1479"/>
                  <a:gd name="T13" fmla="*/ 0 h 2948"/>
                  <a:gd name="T14" fmla="*/ 0 w 1479"/>
                  <a:gd name="T15" fmla="*/ 0 h 2948"/>
                  <a:gd name="T16" fmla="*/ 0 w 1479"/>
                  <a:gd name="T17" fmla="*/ 0 h 2948"/>
                  <a:gd name="T18" fmla="*/ 0 w 1479"/>
                  <a:gd name="T19" fmla="*/ 0 h 2948"/>
                  <a:gd name="T20" fmla="*/ 0 w 1479"/>
                  <a:gd name="T21" fmla="*/ 0 h 2948"/>
                  <a:gd name="T22" fmla="*/ 0 w 1479"/>
                  <a:gd name="T23" fmla="*/ 0 h 2948"/>
                  <a:gd name="T24" fmla="*/ 0 w 1479"/>
                  <a:gd name="T25" fmla="*/ 0 h 2948"/>
                  <a:gd name="T26" fmla="*/ 0 w 1479"/>
                  <a:gd name="T27" fmla="*/ 0 h 2948"/>
                  <a:gd name="T28" fmla="*/ 0 w 1479"/>
                  <a:gd name="T29" fmla="*/ 0 h 2948"/>
                  <a:gd name="T30" fmla="*/ 0 w 1479"/>
                  <a:gd name="T31" fmla="*/ 0 h 2948"/>
                  <a:gd name="T32" fmla="*/ 0 w 1479"/>
                  <a:gd name="T33" fmla="*/ 0 h 2948"/>
                  <a:gd name="T34" fmla="*/ 0 w 1479"/>
                  <a:gd name="T35" fmla="*/ 0 h 2948"/>
                  <a:gd name="T36" fmla="*/ 0 w 1479"/>
                  <a:gd name="T37" fmla="*/ 0 h 2948"/>
                  <a:gd name="T38" fmla="*/ 0 w 1479"/>
                  <a:gd name="T39" fmla="*/ 0 h 2948"/>
                  <a:gd name="T40" fmla="*/ 0 w 1479"/>
                  <a:gd name="T41" fmla="*/ 0 h 2948"/>
                  <a:gd name="T42" fmla="*/ 0 w 1479"/>
                  <a:gd name="T43" fmla="*/ 0 h 2948"/>
                  <a:gd name="T44" fmla="*/ 0 w 1479"/>
                  <a:gd name="T45" fmla="*/ 0 h 2948"/>
                  <a:gd name="T46" fmla="*/ 0 w 1479"/>
                  <a:gd name="T47" fmla="*/ 0 h 2948"/>
                  <a:gd name="T48" fmla="*/ 0 w 1479"/>
                  <a:gd name="T49" fmla="*/ 0 h 2948"/>
                  <a:gd name="T50" fmla="*/ 0 w 1479"/>
                  <a:gd name="T51" fmla="*/ 0 h 2948"/>
                  <a:gd name="T52" fmla="*/ 0 w 1479"/>
                  <a:gd name="T53" fmla="*/ 0 h 2948"/>
                  <a:gd name="T54" fmla="*/ 0 w 1479"/>
                  <a:gd name="T55" fmla="*/ 0 h 2948"/>
                  <a:gd name="T56" fmla="*/ 0 w 1479"/>
                  <a:gd name="T57" fmla="*/ 0 h 2948"/>
                  <a:gd name="T58" fmla="*/ 0 w 1479"/>
                  <a:gd name="T59" fmla="*/ 0 h 2948"/>
                  <a:gd name="T60" fmla="*/ 0 w 1479"/>
                  <a:gd name="T61" fmla="*/ 0 h 2948"/>
                  <a:gd name="T62" fmla="*/ 0 w 1479"/>
                  <a:gd name="T63" fmla="*/ 0 h 2948"/>
                  <a:gd name="T64" fmla="*/ 0 w 1479"/>
                  <a:gd name="T65" fmla="*/ 0 h 2948"/>
                  <a:gd name="T66" fmla="*/ 0 w 1479"/>
                  <a:gd name="T67" fmla="*/ 0 h 2948"/>
                  <a:gd name="T68" fmla="*/ 0 w 1479"/>
                  <a:gd name="T69" fmla="*/ 0 h 2948"/>
                  <a:gd name="T70" fmla="*/ 0 w 1479"/>
                  <a:gd name="T71" fmla="*/ 0 h 2948"/>
                  <a:gd name="T72" fmla="*/ 0 w 1479"/>
                  <a:gd name="T73" fmla="*/ 0 h 2948"/>
                  <a:gd name="T74" fmla="*/ 0 w 1479"/>
                  <a:gd name="T75" fmla="*/ 0 h 2948"/>
                  <a:gd name="T76" fmla="*/ 0 w 1479"/>
                  <a:gd name="T77" fmla="*/ 0 h 2948"/>
                  <a:gd name="T78" fmla="*/ 0 w 1479"/>
                  <a:gd name="T79" fmla="*/ 0 h 2948"/>
                  <a:gd name="T80" fmla="*/ 0 w 1479"/>
                  <a:gd name="T81" fmla="*/ 0 h 2948"/>
                  <a:gd name="T82" fmla="*/ 0 w 1479"/>
                  <a:gd name="T83" fmla="*/ 0 h 2948"/>
                  <a:gd name="T84" fmla="*/ 0 w 1479"/>
                  <a:gd name="T85" fmla="*/ 0 h 2948"/>
                  <a:gd name="T86" fmla="*/ 0 w 1479"/>
                  <a:gd name="T87" fmla="*/ 0 h 2948"/>
                  <a:gd name="T88" fmla="*/ 0 w 1479"/>
                  <a:gd name="T89" fmla="*/ 0 h 2948"/>
                  <a:gd name="T90" fmla="*/ 0 w 1479"/>
                  <a:gd name="T91" fmla="*/ 0 h 2948"/>
                  <a:gd name="T92" fmla="*/ 0 w 1479"/>
                  <a:gd name="T93" fmla="*/ 0 h 2948"/>
                  <a:gd name="T94" fmla="*/ 0 w 1479"/>
                  <a:gd name="T95" fmla="*/ 0 h 2948"/>
                  <a:gd name="T96" fmla="*/ 0 w 1479"/>
                  <a:gd name="T97" fmla="*/ 0 h 2948"/>
                  <a:gd name="T98" fmla="*/ 0 w 1479"/>
                  <a:gd name="T99" fmla="*/ 0 h 2948"/>
                  <a:gd name="T100" fmla="*/ 0 w 1479"/>
                  <a:gd name="T101" fmla="*/ 0 h 2948"/>
                  <a:gd name="T102" fmla="*/ 0 w 1479"/>
                  <a:gd name="T103" fmla="*/ 0 h 2948"/>
                  <a:gd name="T104" fmla="*/ 0 w 1479"/>
                  <a:gd name="T105" fmla="*/ 0 h 2948"/>
                  <a:gd name="T106" fmla="*/ 0 w 1479"/>
                  <a:gd name="T107" fmla="*/ 0 h 2948"/>
                  <a:gd name="T108" fmla="*/ 0 w 1479"/>
                  <a:gd name="T109" fmla="*/ 0 h 2948"/>
                  <a:gd name="T110" fmla="*/ 0 w 1479"/>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9"/>
                  <a:gd name="T169" fmla="*/ 0 h 2948"/>
                  <a:gd name="T170" fmla="*/ 1479 w 1479"/>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9" h="2948">
                    <a:moveTo>
                      <a:pt x="1479" y="384"/>
                    </a:moveTo>
                    <a:lnTo>
                      <a:pt x="1476" y="353"/>
                    </a:lnTo>
                    <a:lnTo>
                      <a:pt x="1461" y="332"/>
                    </a:lnTo>
                    <a:lnTo>
                      <a:pt x="1438" y="306"/>
                    </a:lnTo>
                    <a:lnTo>
                      <a:pt x="1360" y="255"/>
                    </a:lnTo>
                    <a:lnTo>
                      <a:pt x="1008" y="61"/>
                    </a:lnTo>
                    <a:lnTo>
                      <a:pt x="958" y="38"/>
                    </a:lnTo>
                    <a:lnTo>
                      <a:pt x="926" y="23"/>
                    </a:lnTo>
                    <a:lnTo>
                      <a:pt x="886" y="10"/>
                    </a:lnTo>
                    <a:lnTo>
                      <a:pt x="861" y="3"/>
                    </a:lnTo>
                    <a:lnTo>
                      <a:pt x="825" y="0"/>
                    </a:lnTo>
                    <a:lnTo>
                      <a:pt x="792" y="3"/>
                    </a:lnTo>
                    <a:lnTo>
                      <a:pt x="767" y="6"/>
                    </a:lnTo>
                    <a:lnTo>
                      <a:pt x="730" y="16"/>
                    </a:lnTo>
                    <a:lnTo>
                      <a:pt x="695" y="32"/>
                    </a:lnTo>
                    <a:lnTo>
                      <a:pt x="663" y="54"/>
                    </a:lnTo>
                    <a:lnTo>
                      <a:pt x="630" y="74"/>
                    </a:lnTo>
                    <a:lnTo>
                      <a:pt x="598" y="95"/>
                    </a:lnTo>
                    <a:lnTo>
                      <a:pt x="562" y="121"/>
                    </a:lnTo>
                    <a:lnTo>
                      <a:pt x="528" y="154"/>
                    </a:lnTo>
                    <a:lnTo>
                      <a:pt x="509" y="175"/>
                    </a:lnTo>
                    <a:lnTo>
                      <a:pt x="492" y="201"/>
                    </a:lnTo>
                    <a:lnTo>
                      <a:pt x="481" y="238"/>
                    </a:lnTo>
                    <a:lnTo>
                      <a:pt x="10" y="2307"/>
                    </a:lnTo>
                    <a:lnTo>
                      <a:pt x="0" y="2349"/>
                    </a:lnTo>
                    <a:lnTo>
                      <a:pt x="0" y="2370"/>
                    </a:lnTo>
                    <a:lnTo>
                      <a:pt x="0" y="2396"/>
                    </a:lnTo>
                    <a:lnTo>
                      <a:pt x="1" y="2422"/>
                    </a:lnTo>
                    <a:lnTo>
                      <a:pt x="11" y="2466"/>
                    </a:lnTo>
                    <a:lnTo>
                      <a:pt x="19" y="2485"/>
                    </a:lnTo>
                    <a:lnTo>
                      <a:pt x="38" y="2518"/>
                    </a:lnTo>
                    <a:lnTo>
                      <a:pt x="51" y="2540"/>
                    </a:lnTo>
                    <a:lnTo>
                      <a:pt x="79" y="2571"/>
                    </a:lnTo>
                    <a:lnTo>
                      <a:pt x="111" y="2598"/>
                    </a:lnTo>
                    <a:lnTo>
                      <a:pt x="155" y="2627"/>
                    </a:lnTo>
                    <a:lnTo>
                      <a:pt x="190" y="2650"/>
                    </a:lnTo>
                    <a:lnTo>
                      <a:pt x="717" y="2948"/>
                    </a:lnTo>
                    <a:lnTo>
                      <a:pt x="708" y="2916"/>
                    </a:lnTo>
                    <a:lnTo>
                      <a:pt x="707" y="2885"/>
                    </a:lnTo>
                    <a:lnTo>
                      <a:pt x="712" y="2861"/>
                    </a:lnTo>
                    <a:lnTo>
                      <a:pt x="721" y="2833"/>
                    </a:lnTo>
                    <a:lnTo>
                      <a:pt x="735" y="2805"/>
                    </a:lnTo>
                    <a:lnTo>
                      <a:pt x="753" y="2783"/>
                    </a:lnTo>
                    <a:lnTo>
                      <a:pt x="778" y="2769"/>
                    </a:lnTo>
                    <a:lnTo>
                      <a:pt x="194" y="2433"/>
                    </a:lnTo>
                    <a:lnTo>
                      <a:pt x="175" y="2417"/>
                    </a:lnTo>
                    <a:lnTo>
                      <a:pt x="168" y="2407"/>
                    </a:lnTo>
                    <a:lnTo>
                      <a:pt x="162" y="2391"/>
                    </a:lnTo>
                    <a:lnTo>
                      <a:pt x="157" y="2359"/>
                    </a:lnTo>
                    <a:lnTo>
                      <a:pt x="157" y="2339"/>
                    </a:lnTo>
                    <a:lnTo>
                      <a:pt x="444" y="1110"/>
                    </a:lnTo>
                    <a:lnTo>
                      <a:pt x="473" y="1055"/>
                    </a:lnTo>
                    <a:lnTo>
                      <a:pt x="501" y="1024"/>
                    </a:lnTo>
                    <a:lnTo>
                      <a:pt x="547" y="976"/>
                    </a:lnTo>
                    <a:lnTo>
                      <a:pt x="583" y="941"/>
                    </a:lnTo>
                    <a:lnTo>
                      <a:pt x="1479" y="384"/>
                    </a:lnTo>
                    <a:close/>
                  </a:path>
                </a:pathLst>
              </a:custGeom>
              <a:solidFill>
                <a:srgbClr val="808080"/>
              </a:solidFill>
              <a:ln w="1588">
                <a:solidFill>
                  <a:srgbClr val="000000"/>
                </a:solidFill>
                <a:prstDash val="solid"/>
                <a:round/>
                <a:headEnd/>
                <a:tailEnd/>
              </a:ln>
            </p:spPr>
            <p:txBody>
              <a:bodyPr/>
              <a:lstStyle/>
              <a:p>
                <a:endParaRPr lang="en-US"/>
              </a:p>
            </p:txBody>
          </p:sp>
          <p:sp>
            <p:nvSpPr>
              <p:cNvPr id="359" name="Freeform 1629">
                <a:extLst>
                  <a:ext uri="{FF2B5EF4-FFF2-40B4-BE49-F238E27FC236}">
                    <a16:creationId xmlns:a16="http://schemas.microsoft.com/office/drawing/2014/main" id="{45344F5B-A933-4681-A663-9177ABF10101}"/>
                  </a:ext>
                </a:extLst>
              </p:cNvPr>
              <p:cNvSpPr>
                <a:spLocks/>
              </p:cNvSpPr>
              <p:nvPr/>
            </p:nvSpPr>
            <p:spPr bwMode="auto">
              <a:xfrm>
                <a:off x="2166" y="3561"/>
                <a:ext cx="78" cy="109"/>
              </a:xfrm>
              <a:custGeom>
                <a:avLst/>
                <a:gdLst>
                  <a:gd name="T0" fmla="*/ 0 w 928"/>
                  <a:gd name="T1" fmla="*/ 0 h 1304"/>
                  <a:gd name="T2" fmla="*/ 0 w 928"/>
                  <a:gd name="T3" fmla="*/ 0 h 1304"/>
                  <a:gd name="T4" fmla="*/ 0 w 928"/>
                  <a:gd name="T5" fmla="*/ 0 h 1304"/>
                  <a:gd name="T6" fmla="*/ 0 w 928"/>
                  <a:gd name="T7" fmla="*/ 0 h 1304"/>
                  <a:gd name="T8" fmla="*/ 0 w 928"/>
                  <a:gd name="T9" fmla="*/ 0 h 1304"/>
                  <a:gd name="T10" fmla="*/ 0 w 928"/>
                  <a:gd name="T11" fmla="*/ 0 h 1304"/>
                  <a:gd name="T12" fmla="*/ 0 w 928"/>
                  <a:gd name="T13" fmla="*/ 0 h 1304"/>
                  <a:gd name="T14" fmla="*/ 0 w 928"/>
                  <a:gd name="T15" fmla="*/ 0 h 1304"/>
                  <a:gd name="T16" fmla="*/ 0 w 928"/>
                  <a:gd name="T17" fmla="*/ 0 h 1304"/>
                  <a:gd name="T18" fmla="*/ 0 w 928"/>
                  <a:gd name="T19" fmla="*/ 0 h 1304"/>
                  <a:gd name="T20" fmla="*/ 0 w 928"/>
                  <a:gd name="T21" fmla="*/ 0 h 1304"/>
                  <a:gd name="T22" fmla="*/ 0 w 928"/>
                  <a:gd name="T23" fmla="*/ 0 h 1304"/>
                  <a:gd name="T24" fmla="*/ 0 w 928"/>
                  <a:gd name="T25" fmla="*/ 0 h 1304"/>
                  <a:gd name="T26" fmla="*/ 0 w 928"/>
                  <a:gd name="T27" fmla="*/ 0 h 1304"/>
                  <a:gd name="T28" fmla="*/ 0 w 928"/>
                  <a:gd name="T29" fmla="*/ 0 h 1304"/>
                  <a:gd name="T30" fmla="*/ 0 w 928"/>
                  <a:gd name="T31" fmla="*/ 0 h 1304"/>
                  <a:gd name="T32" fmla="*/ 0 w 928"/>
                  <a:gd name="T33" fmla="*/ 0 h 1304"/>
                  <a:gd name="T34" fmla="*/ 0 w 928"/>
                  <a:gd name="T35" fmla="*/ 0 h 1304"/>
                  <a:gd name="T36" fmla="*/ 0 w 928"/>
                  <a:gd name="T37" fmla="*/ 0 h 1304"/>
                  <a:gd name="T38" fmla="*/ 0 w 928"/>
                  <a:gd name="T39" fmla="*/ 0 h 1304"/>
                  <a:gd name="T40" fmla="*/ 0 w 928"/>
                  <a:gd name="T41" fmla="*/ 0 h 1304"/>
                  <a:gd name="T42" fmla="*/ 0 w 928"/>
                  <a:gd name="T43" fmla="*/ 0 h 1304"/>
                  <a:gd name="T44" fmla="*/ 0 w 928"/>
                  <a:gd name="T45" fmla="*/ 0 h 1304"/>
                  <a:gd name="T46" fmla="*/ 0 w 928"/>
                  <a:gd name="T47" fmla="*/ 0 h 1304"/>
                  <a:gd name="T48" fmla="*/ 0 w 928"/>
                  <a:gd name="T49" fmla="*/ 0 h 1304"/>
                  <a:gd name="T50" fmla="*/ 0 w 928"/>
                  <a:gd name="T51" fmla="*/ 0 h 1304"/>
                  <a:gd name="T52" fmla="*/ 0 w 928"/>
                  <a:gd name="T53" fmla="*/ 0 h 1304"/>
                  <a:gd name="T54" fmla="*/ 0 w 928"/>
                  <a:gd name="T55" fmla="*/ 0 h 1304"/>
                  <a:gd name="T56" fmla="*/ 0 w 928"/>
                  <a:gd name="T57" fmla="*/ 0 h 1304"/>
                  <a:gd name="T58" fmla="*/ 0 w 928"/>
                  <a:gd name="T59" fmla="*/ 0 h 1304"/>
                  <a:gd name="T60" fmla="*/ 0 w 928"/>
                  <a:gd name="T61" fmla="*/ 0 h 1304"/>
                  <a:gd name="T62" fmla="*/ 0 w 928"/>
                  <a:gd name="T63" fmla="*/ 0 h 1304"/>
                  <a:gd name="T64" fmla="*/ 0 w 928"/>
                  <a:gd name="T65" fmla="*/ 0 h 1304"/>
                  <a:gd name="T66" fmla="*/ 0 w 928"/>
                  <a:gd name="T67" fmla="*/ 0 h 1304"/>
                  <a:gd name="T68" fmla="*/ 0 w 928"/>
                  <a:gd name="T69" fmla="*/ 0 h 1304"/>
                  <a:gd name="T70" fmla="*/ 0 w 928"/>
                  <a:gd name="T71" fmla="*/ 0 h 1304"/>
                  <a:gd name="T72" fmla="*/ 0 w 928"/>
                  <a:gd name="T73" fmla="*/ 0 h 1304"/>
                  <a:gd name="T74" fmla="*/ 0 w 928"/>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8"/>
                  <a:gd name="T115" fmla="*/ 0 h 1304"/>
                  <a:gd name="T116" fmla="*/ 928 w 928"/>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8" h="1304">
                    <a:moveTo>
                      <a:pt x="898" y="351"/>
                    </a:moveTo>
                    <a:lnTo>
                      <a:pt x="868" y="315"/>
                    </a:lnTo>
                    <a:lnTo>
                      <a:pt x="821" y="278"/>
                    </a:lnTo>
                    <a:lnTo>
                      <a:pt x="755" y="241"/>
                    </a:lnTo>
                    <a:lnTo>
                      <a:pt x="586" y="148"/>
                    </a:lnTo>
                    <a:lnTo>
                      <a:pt x="400" y="53"/>
                    </a:lnTo>
                    <a:lnTo>
                      <a:pt x="335" y="21"/>
                    </a:lnTo>
                    <a:lnTo>
                      <a:pt x="290" y="6"/>
                    </a:lnTo>
                    <a:lnTo>
                      <a:pt x="255" y="0"/>
                    </a:lnTo>
                    <a:lnTo>
                      <a:pt x="228" y="0"/>
                    </a:lnTo>
                    <a:lnTo>
                      <a:pt x="205" y="5"/>
                    </a:lnTo>
                    <a:lnTo>
                      <a:pt x="182" y="21"/>
                    </a:lnTo>
                    <a:lnTo>
                      <a:pt x="164" y="41"/>
                    </a:lnTo>
                    <a:lnTo>
                      <a:pt x="148" y="76"/>
                    </a:lnTo>
                    <a:lnTo>
                      <a:pt x="0" y="833"/>
                    </a:lnTo>
                    <a:lnTo>
                      <a:pt x="0" y="865"/>
                    </a:lnTo>
                    <a:lnTo>
                      <a:pt x="0" y="906"/>
                    </a:lnTo>
                    <a:lnTo>
                      <a:pt x="7" y="936"/>
                    </a:lnTo>
                    <a:lnTo>
                      <a:pt x="16" y="957"/>
                    </a:lnTo>
                    <a:lnTo>
                      <a:pt x="29" y="978"/>
                    </a:lnTo>
                    <a:lnTo>
                      <a:pt x="57" y="1004"/>
                    </a:lnTo>
                    <a:lnTo>
                      <a:pt x="85" y="1022"/>
                    </a:lnTo>
                    <a:lnTo>
                      <a:pt x="118" y="1041"/>
                    </a:lnTo>
                    <a:lnTo>
                      <a:pt x="558" y="1267"/>
                    </a:lnTo>
                    <a:lnTo>
                      <a:pt x="599" y="1285"/>
                    </a:lnTo>
                    <a:lnTo>
                      <a:pt x="636" y="1295"/>
                    </a:lnTo>
                    <a:lnTo>
                      <a:pt x="678" y="1304"/>
                    </a:lnTo>
                    <a:lnTo>
                      <a:pt x="706" y="1304"/>
                    </a:lnTo>
                    <a:lnTo>
                      <a:pt x="734" y="1295"/>
                    </a:lnTo>
                    <a:lnTo>
                      <a:pt x="755" y="1269"/>
                    </a:lnTo>
                    <a:lnTo>
                      <a:pt x="767" y="1222"/>
                    </a:lnTo>
                    <a:lnTo>
                      <a:pt x="784" y="1162"/>
                    </a:lnTo>
                    <a:lnTo>
                      <a:pt x="860" y="833"/>
                    </a:lnTo>
                    <a:lnTo>
                      <a:pt x="916" y="507"/>
                    </a:lnTo>
                    <a:lnTo>
                      <a:pt x="928" y="431"/>
                    </a:lnTo>
                    <a:lnTo>
                      <a:pt x="925" y="403"/>
                    </a:lnTo>
                    <a:lnTo>
                      <a:pt x="917" y="379"/>
                    </a:lnTo>
                    <a:lnTo>
                      <a:pt x="898" y="351"/>
                    </a:lnTo>
                    <a:close/>
                  </a:path>
                </a:pathLst>
              </a:custGeom>
              <a:solidFill>
                <a:srgbClr val="606060"/>
              </a:solidFill>
              <a:ln w="1588">
                <a:solidFill>
                  <a:srgbClr val="000000"/>
                </a:solidFill>
                <a:prstDash val="solid"/>
                <a:round/>
                <a:headEnd/>
                <a:tailEnd/>
              </a:ln>
            </p:spPr>
            <p:txBody>
              <a:bodyPr/>
              <a:lstStyle/>
              <a:p>
                <a:endParaRPr lang="en-US"/>
              </a:p>
            </p:txBody>
          </p:sp>
          <p:sp>
            <p:nvSpPr>
              <p:cNvPr id="360" name="Freeform 1630">
                <a:extLst>
                  <a:ext uri="{FF2B5EF4-FFF2-40B4-BE49-F238E27FC236}">
                    <a16:creationId xmlns:a16="http://schemas.microsoft.com/office/drawing/2014/main" id="{91ECF4C5-5ED3-44AF-A6CF-B29DD9F45CA4}"/>
                  </a:ext>
                </a:extLst>
              </p:cNvPr>
              <p:cNvSpPr>
                <a:spLocks/>
              </p:cNvSpPr>
              <p:nvPr/>
            </p:nvSpPr>
            <p:spPr bwMode="auto">
              <a:xfrm>
                <a:off x="2126" y="3634"/>
                <a:ext cx="101"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10" y="431"/>
                    </a:moveTo>
                    <a:lnTo>
                      <a:pt x="1215" y="426"/>
                    </a:lnTo>
                    <a:lnTo>
                      <a:pt x="1156" y="451"/>
                    </a:lnTo>
                    <a:lnTo>
                      <a:pt x="1119" y="467"/>
                    </a:lnTo>
                    <a:lnTo>
                      <a:pt x="1101" y="478"/>
                    </a:lnTo>
                    <a:lnTo>
                      <a:pt x="1073" y="511"/>
                    </a:lnTo>
                    <a:lnTo>
                      <a:pt x="1053" y="552"/>
                    </a:lnTo>
                    <a:lnTo>
                      <a:pt x="772" y="1702"/>
                    </a:lnTo>
                    <a:lnTo>
                      <a:pt x="0" y="1429"/>
                    </a:lnTo>
                    <a:lnTo>
                      <a:pt x="315" y="31"/>
                    </a:lnTo>
                    <a:lnTo>
                      <a:pt x="481" y="0"/>
                    </a:lnTo>
                    <a:lnTo>
                      <a:pt x="1210"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361" name="Group 1631">
                <a:extLst>
                  <a:ext uri="{FF2B5EF4-FFF2-40B4-BE49-F238E27FC236}">
                    <a16:creationId xmlns:a16="http://schemas.microsoft.com/office/drawing/2014/main" id="{A2848DEE-9C14-4155-9AA2-490D916D5DDE}"/>
                  </a:ext>
                </a:extLst>
              </p:cNvPr>
              <p:cNvGrpSpPr>
                <a:grpSpLocks/>
              </p:cNvGrpSpPr>
              <p:nvPr/>
            </p:nvGrpSpPr>
            <p:grpSpPr bwMode="auto">
              <a:xfrm>
                <a:off x="2183" y="3584"/>
                <a:ext cx="52" cy="60"/>
                <a:chOff x="2183" y="3584"/>
                <a:chExt cx="52" cy="60"/>
              </a:xfrm>
            </p:grpSpPr>
            <p:sp>
              <p:nvSpPr>
                <p:cNvPr id="381" name="Oval 1632">
                  <a:extLst>
                    <a:ext uri="{FF2B5EF4-FFF2-40B4-BE49-F238E27FC236}">
                      <a16:creationId xmlns:a16="http://schemas.microsoft.com/office/drawing/2014/main" id="{E52C6387-D848-4B94-86C4-D4DE5807825B}"/>
                    </a:ext>
                  </a:extLst>
                </p:cNvPr>
                <p:cNvSpPr>
                  <a:spLocks noChangeArrowheads="1"/>
                </p:cNvSpPr>
                <p:nvPr/>
              </p:nvSpPr>
              <p:spPr bwMode="auto">
                <a:xfrm>
                  <a:off x="2183" y="3584"/>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382" name="Group 1633">
                  <a:extLst>
                    <a:ext uri="{FF2B5EF4-FFF2-40B4-BE49-F238E27FC236}">
                      <a16:creationId xmlns:a16="http://schemas.microsoft.com/office/drawing/2014/main" id="{2F616A76-93BC-4B21-B292-9D20660C1A8B}"/>
                    </a:ext>
                  </a:extLst>
                </p:cNvPr>
                <p:cNvGrpSpPr>
                  <a:grpSpLocks/>
                </p:cNvGrpSpPr>
                <p:nvPr/>
              </p:nvGrpSpPr>
              <p:grpSpPr bwMode="auto">
                <a:xfrm>
                  <a:off x="2196" y="3594"/>
                  <a:ext cx="28" cy="40"/>
                  <a:chOff x="2196" y="3594"/>
                  <a:chExt cx="28" cy="40"/>
                </a:xfrm>
              </p:grpSpPr>
              <p:sp>
                <p:nvSpPr>
                  <p:cNvPr id="383" name="Oval 1634">
                    <a:extLst>
                      <a:ext uri="{FF2B5EF4-FFF2-40B4-BE49-F238E27FC236}">
                        <a16:creationId xmlns:a16="http://schemas.microsoft.com/office/drawing/2014/main" id="{2C787BC7-96DA-4C00-AACF-53B856090151}"/>
                      </a:ext>
                    </a:extLst>
                  </p:cNvPr>
                  <p:cNvSpPr>
                    <a:spLocks noChangeArrowheads="1"/>
                  </p:cNvSpPr>
                  <p:nvPr/>
                </p:nvSpPr>
                <p:spPr bwMode="auto">
                  <a:xfrm>
                    <a:off x="2208" y="361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84" name="Oval 1635">
                    <a:extLst>
                      <a:ext uri="{FF2B5EF4-FFF2-40B4-BE49-F238E27FC236}">
                        <a16:creationId xmlns:a16="http://schemas.microsoft.com/office/drawing/2014/main" id="{71748D84-479D-4C85-971E-9242B9F6708B}"/>
                      </a:ext>
                    </a:extLst>
                  </p:cNvPr>
                  <p:cNvSpPr>
                    <a:spLocks noChangeArrowheads="1"/>
                  </p:cNvSpPr>
                  <p:nvPr/>
                </p:nvSpPr>
                <p:spPr bwMode="auto">
                  <a:xfrm>
                    <a:off x="2219" y="361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85" name="Oval 1636">
                    <a:extLst>
                      <a:ext uri="{FF2B5EF4-FFF2-40B4-BE49-F238E27FC236}">
                        <a16:creationId xmlns:a16="http://schemas.microsoft.com/office/drawing/2014/main" id="{56C50F38-B969-4F42-9852-58D25C66878D}"/>
                      </a:ext>
                    </a:extLst>
                  </p:cNvPr>
                  <p:cNvSpPr>
                    <a:spLocks noChangeArrowheads="1"/>
                  </p:cNvSpPr>
                  <p:nvPr/>
                </p:nvSpPr>
                <p:spPr bwMode="auto">
                  <a:xfrm>
                    <a:off x="2196" y="362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86" name="Oval 1637">
                    <a:extLst>
                      <a:ext uri="{FF2B5EF4-FFF2-40B4-BE49-F238E27FC236}">
                        <a16:creationId xmlns:a16="http://schemas.microsoft.com/office/drawing/2014/main" id="{E03F6566-94A5-44A9-AEB0-6B95E5243B26}"/>
                      </a:ext>
                    </a:extLst>
                  </p:cNvPr>
                  <p:cNvSpPr>
                    <a:spLocks noChangeArrowheads="1"/>
                  </p:cNvSpPr>
                  <p:nvPr/>
                </p:nvSpPr>
                <p:spPr bwMode="auto">
                  <a:xfrm>
                    <a:off x="2205" y="362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87" name="Oval 1638">
                    <a:extLst>
                      <a:ext uri="{FF2B5EF4-FFF2-40B4-BE49-F238E27FC236}">
                        <a16:creationId xmlns:a16="http://schemas.microsoft.com/office/drawing/2014/main" id="{1AF28C0A-861B-4896-84B7-8948A43B4266}"/>
                      </a:ext>
                    </a:extLst>
                  </p:cNvPr>
                  <p:cNvSpPr>
                    <a:spLocks noChangeArrowheads="1"/>
                  </p:cNvSpPr>
                  <p:nvPr/>
                </p:nvSpPr>
                <p:spPr bwMode="auto">
                  <a:xfrm>
                    <a:off x="2215" y="3630"/>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88" name="Oval 1639">
                    <a:extLst>
                      <a:ext uri="{FF2B5EF4-FFF2-40B4-BE49-F238E27FC236}">
                        <a16:creationId xmlns:a16="http://schemas.microsoft.com/office/drawing/2014/main" id="{FB3BABE3-368B-4F55-BE97-E1461B1D59F2}"/>
                      </a:ext>
                    </a:extLst>
                  </p:cNvPr>
                  <p:cNvSpPr>
                    <a:spLocks noChangeArrowheads="1"/>
                  </p:cNvSpPr>
                  <p:nvPr/>
                </p:nvSpPr>
                <p:spPr bwMode="auto">
                  <a:xfrm>
                    <a:off x="2202" y="361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89" name="Oval 1640">
                    <a:extLst>
                      <a:ext uri="{FF2B5EF4-FFF2-40B4-BE49-F238E27FC236}">
                        <a16:creationId xmlns:a16="http://schemas.microsoft.com/office/drawing/2014/main" id="{BAECF35B-E3F0-4457-B015-F3BBD8E70D22}"/>
                      </a:ext>
                    </a:extLst>
                  </p:cNvPr>
                  <p:cNvSpPr>
                    <a:spLocks noChangeArrowheads="1"/>
                  </p:cNvSpPr>
                  <p:nvPr/>
                </p:nvSpPr>
                <p:spPr bwMode="auto">
                  <a:xfrm>
                    <a:off x="2211" y="3621"/>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90" name="Oval 1641">
                    <a:extLst>
                      <a:ext uri="{FF2B5EF4-FFF2-40B4-BE49-F238E27FC236}">
                        <a16:creationId xmlns:a16="http://schemas.microsoft.com/office/drawing/2014/main" id="{A02F09BA-8A74-458C-9BC0-031E81311469}"/>
                      </a:ext>
                    </a:extLst>
                  </p:cNvPr>
                  <p:cNvSpPr>
                    <a:spLocks noChangeArrowheads="1"/>
                  </p:cNvSpPr>
                  <p:nvPr/>
                </p:nvSpPr>
                <p:spPr bwMode="auto">
                  <a:xfrm>
                    <a:off x="2201" y="359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91" name="Oval 1642">
                    <a:extLst>
                      <a:ext uri="{FF2B5EF4-FFF2-40B4-BE49-F238E27FC236}">
                        <a16:creationId xmlns:a16="http://schemas.microsoft.com/office/drawing/2014/main" id="{55D81A9E-13F5-4E82-A0A8-6E7CB3562839}"/>
                      </a:ext>
                    </a:extLst>
                  </p:cNvPr>
                  <p:cNvSpPr>
                    <a:spLocks noChangeArrowheads="1"/>
                  </p:cNvSpPr>
                  <p:nvPr/>
                </p:nvSpPr>
                <p:spPr bwMode="auto">
                  <a:xfrm>
                    <a:off x="2211" y="359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92" name="Oval 1643">
                    <a:extLst>
                      <a:ext uri="{FF2B5EF4-FFF2-40B4-BE49-F238E27FC236}">
                        <a16:creationId xmlns:a16="http://schemas.microsoft.com/office/drawing/2014/main" id="{86F3D5F6-2360-4923-90AF-C27C03BB5FFE}"/>
                      </a:ext>
                    </a:extLst>
                  </p:cNvPr>
                  <p:cNvSpPr>
                    <a:spLocks noChangeArrowheads="1"/>
                  </p:cNvSpPr>
                  <p:nvPr/>
                </p:nvSpPr>
                <p:spPr bwMode="auto">
                  <a:xfrm>
                    <a:off x="2221" y="360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93" name="Oval 1644">
                    <a:extLst>
                      <a:ext uri="{FF2B5EF4-FFF2-40B4-BE49-F238E27FC236}">
                        <a16:creationId xmlns:a16="http://schemas.microsoft.com/office/drawing/2014/main" id="{4C1D5C59-BB56-47EC-8283-401BF7DED801}"/>
                      </a:ext>
                    </a:extLst>
                  </p:cNvPr>
                  <p:cNvSpPr>
                    <a:spLocks noChangeArrowheads="1"/>
                  </p:cNvSpPr>
                  <p:nvPr/>
                </p:nvSpPr>
                <p:spPr bwMode="auto">
                  <a:xfrm>
                    <a:off x="2198" y="360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94" name="Oval 1645">
                    <a:extLst>
                      <a:ext uri="{FF2B5EF4-FFF2-40B4-BE49-F238E27FC236}">
                        <a16:creationId xmlns:a16="http://schemas.microsoft.com/office/drawing/2014/main" id="{924CF5BA-634A-4BD1-9674-EBD2DCD07099}"/>
                      </a:ext>
                    </a:extLst>
                  </p:cNvPr>
                  <p:cNvSpPr>
                    <a:spLocks noChangeArrowheads="1"/>
                  </p:cNvSpPr>
                  <p:nvPr/>
                </p:nvSpPr>
                <p:spPr bwMode="auto">
                  <a:xfrm>
                    <a:off x="2204" y="360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95" name="Oval 1646">
                    <a:extLst>
                      <a:ext uri="{FF2B5EF4-FFF2-40B4-BE49-F238E27FC236}">
                        <a16:creationId xmlns:a16="http://schemas.microsoft.com/office/drawing/2014/main" id="{983D0709-9B08-4C36-AEE6-2A5BAFAA9C95}"/>
                      </a:ext>
                    </a:extLst>
                  </p:cNvPr>
                  <p:cNvSpPr>
                    <a:spLocks noChangeArrowheads="1"/>
                  </p:cNvSpPr>
                  <p:nvPr/>
                </p:nvSpPr>
                <p:spPr bwMode="auto">
                  <a:xfrm>
                    <a:off x="2215" y="360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362" name="Group 1647">
                <a:extLst>
                  <a:ext uri="{FF2B5EF4-FFF2-40B4-BE49-F238E27FC236}">
                    <a16:creationId xmlns:a16="http://schemas.microsoft.com/office/drawing/2014/main" id="{029324DC-5406-40E1-BC84-9A63EE00F1B6}"/>
                  </a:ext>
                </a:extLst>
              </p:cNvPr>
              <p:cNvGrpSpPr>
                <a:grpSpLocks/>
              </p:cNvGrpSpPr>
              <p:nvPr/>
            </p:nvGrpSpPr>
            <p:grpSpPr bwMode="auto">
              <a:xfrm>
                <a:off x="2142" y="3655"/>
                <a:ext cx="68" cy="111"/>
                <a:chOff x="2142" y="3655"/>
                <a:chExt cx="68" cy="111"/>
              </a:xfrm>
            </p:grpSpPr>
            <p:sp>
              <p:nvSpPr>
                <p:cNvPr id="363" name="Oval 1648">
                  <a:extLst>
                    <a:ext uri="{FF2B5EF4-FFF2-40B4-BE49-F238E27FC236}">
                      <a16:creationId xmlns:a16="http://schemas.microsoft.com/office/drawing/2014/main" id="{DA81E46D-2533-4D92-9D02-AD3AC4025B16}"/>
                    </a:ext>
                  </a:extLst>
                </p:cNvPr>
                <p:cNvSpPr>
                  <a:spLocks noChangeArrowheads="1"/>
                </p:cNvSpPr>
                <p:nvPr/>
              </p:nvSpPr>
              <p:spPr bwMode="auto">
                <a:xfrm>
                  <a:off x="2176" y="375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64" name="Oval 1649">
                  <a:extLst>
                    <a:ext uri="{FF2B5EF4-FFF2-40B4-BE49-F238E27FC236}">
                      <a16:creationId xmlns:a16="http://schemas.microsoft.com/office/drawing/2014/main" id="{231D58EC-A587-4D86-AC6E-7FF306E91A9A}"/>
                    </a:ext>
                  </a:extLst>
                </p:cNvPr>
                <p:cNvSpPr>
                  <a:spLocks noChangeArrowheads="1"/>
                </p:cNvSpPr>
                <p:nvPr/>
              </p:nvSpPr>
              <p:spPr bwMode="auto">
                <a:xfrm>
                  <a:off x="2163" y="365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65" name="Oval 1650">
                  <a:extLst>
                    <a:ext uri="{FF2B5EF4-FFF2-40B4-BE49-F238E27FC236}">
                      <a16:creationId xmlns:a16="http://schemas.microsoft.com/office/drawing/2014/main" id="{81B81818-1C95-48A6-A6E3-D6E3A882D751}"/>
                    </a:ext>
                  </a:extLst>
                </p:cNvPr>
                <p:cNvSpPr>
                  <a:spLocks noChangeArrowheads="1"/>
                </p:cNvSpPr>
                <p:nvPr/>
              </p:nvSpPr>
              <p:spPr bwMode="auto">
                <a:xfrm>
                  <a:off x="2180" y="3663"/>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66" name="Oval 1651">
                  <a:extLst>
                    <a:ext uri="{FF2B5EF4-FFF2-40B4-BE49-F238E27FC236}">
                      <a16:creationId xmlns:a16="http://schemas.microsoft.com/office/drawing/2014/main" id="{48B613DA-58D4-464B-8B42-5C7F3589FD95}"/>
                    </a:ext>
                  </a:extLst>
                </p:cNvPr>
                <p:cNvSpPr>
                  <a:spLocks noChangeArrowheads="1"/>
                </p:cNvSpPr>
                <p:nvPr/>
              </p:nvSpPr>
              <p:spPr bwMode="auto">
                <a:xfrm>
                  <a:off x="2196" y="367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67" name="Oval 1652">
                  <a:extLst>
                    <a:ext uri="{FF2B5EF4-FFF2-40B4-BE49-F238E27FC236}">
                      <a16:creationId xmlns:a16="http://schemas.microsoft.com/office/drawing/2014/main" id="{9C982C44-B35E-4190-B4FC-D3244A3AB100}"/>
                    </a:ext>
                  </a:extLst>
                </p:cNvPr>
                <p:cNvSpPr>
                  <a:spLocks noChangeArrowheads="1"/>
                </p:cNvSpPr>
                <p:nvPr/>
              </p:nvSpPr>
              <p:spPr bwMode="auto">
                <a:xfrm>
                  <a:off x="2158" y="3672"/>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68" name="Oval 1653">
                  <a:extLst>
                    <a:ext uri="{FF2B5EF4-FFF2-40B4-BE49-F238E27FC236}">
                      <a16:creationId xmlns:a16="http://schemas.microsoft.com/office/drawing/2014/main" id="{7A3DE090-BF0B-4D0D-AE57-335F4C8C309C}"/>
                    </a:ext>
                  </a:extLst>
                </p:cNvPr>
                <p:cNvSpPr>
                  <a:spLocks noChangeArrowheads="1"/>
                </p:cNvSpPr>
                <p:nvPr/>
              </p:nvSpPr>
              <p:spPr bwMode="auto">
                <a:xfrm>
                  <a:off x="2176" y="3679"/>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69" name="Oval 1654">
                  <a:extLst>
                    <a:ext uri="{FF2B5EF4-FFF2-40B4-BE49-F238E27FC236}">
                      <a16:creationId xmlns:a16="http://schemas.microsoft.com/office/drawing/2014/main" id="{73B71017-3E06-41C2-8CB6-5997A2463CA0}"/>
                    </a:ext>
                  </a:extLst>
                </p:cNvPr>
                <p:cNvSpPr>
                  <a:spLocks noChangeArrowheads="1"/>
                </p:cNvSpPr>
                <p:nvPr/>
              </p:nvSpPr>
              <p:spPr bwMode="auto">
                <a:xfrm>
                  <a:off x="2192" y="368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0" name="Oval 1655">
                  <a:extLst>
                    <a:ext uri="{FF2B5EF4-FFF2-40B4-BE49-F238E27FC236}">
                      <a16:creationId xmlns:a16="http://schemas.microsoft.com/office/drawing/2014/main" id="{F903D1C5-5E99-4258-A8BE-7E081F3244B6}"/>
                    </a:ext>
                  </a:extLst>
                </p:cNvPr>
                <p:cNvSpPr>
                  <a:spLocks noChangeArrowheads="1"/>
                </p:cNvSpPr>
                <p:nvPr/>
              </p:nvSpPr>
              <p:spPr bwMode="auto">
                <a:xfrm>
                  <a:off x="2154" y="3688"/>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1" name="Oval 1656">
                  <a:extLst>
                    <a:ext uri="{FF2B5EF4-FFF2-40B4-BE49-F238E27FC236}">
                      <a16:creationId xmlns:a16="http://schemas.microsoft.com/office/drawing/2014/main" id="{F84E758E-F3D8-42CA-A6FF-E30E613CA9A0}"/>
                    </a:ext>
                  </a:extLst>
                </p:cNvPr>
                <p:cNvSpPr>
                  <a:spLocks noChangeArrowheads="1"/>
                </p:cNvSpPr>
                <p:nvPr/>
              </p:nvSpPr>
              <p:spPr bwMode="auto">
                <a:xfrm>
                  <a:off x="2171" y="369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2" name="Oval 1657">
                  <a:extLst>
                    <a:ext uri="{FF2B5EF4-FFF2-40B4-BE49-F238E27FC236}">
                      <a16:creationId xmlns:a16="http://schemas.microsoft.com/office/drawing/2014/main" id="{5C42C60B-95B7-4127-998E-86AC2BAF7F8A}"/>
                    </a:ext>
                  </a:extLst>
                </p:cNvPr>
                <p:cNvSpPr>
                  <a:spLocks noChangeArrowheads="1"/>
                </p:cNvSpPr>
                <p:nvPr/>
              </p:nvSpPr>
              <p:spPr bwMode="auto">
                <a:xfrm>
                  <a:off x="2188" y="370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3" name="Oval 1658">
                  <a:extLst>
                    <a:ext uri="{FF2B5EF4-FFF2-40B4-BE49-F238E27FC236}">
                      <a16:creationId xmlns:a16="http://schemas.microsoft.com/office/drawing/2014/main" id="{15B9502B-C3EF-45A5-A918-65A4843DB953}"/>
                    </a:ext>
                  </a:extLst>
                </p:cNvPr>
                <p:cNvSpPr>
                  <a:spLocks noChangeArrowheads="1"/>
                </p:cNvSpPr>
                <p:nvPr/>
              </p:nvSpPr>
              <p:spPr bwMode="auto">
                <a:xfrm>
                  <a:off x="2150" y="370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4" name="Oval 1659">
                  <a:extLst>
                    <a:ext uri="{FF2B5EF4-FFF2-40B4-BE49-F238E27FC236}">
                      <a16:creationId xmlns:a16="http://schemas.microsoft.com/office/drawing/2014/main" id="{15FB0A5C-377B-4951-81E9-15E1BD9A8C3E}"/>
                    </a:ext>
                  </a:extLst>
                </p:cNvPr>
                <p:cNvSpPr>
                  <a:spLocks noChangeArrowheads="1"/>
                </p:cNvSpPr>
                <p:nvPr/>
              </p:nvSpPr>
              <p:spPr bwMode="auto">
                <a:xfrm>
                  <a:off x="2167" y="371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5" name="Oval 1660">
                  <a:extLst>
                    <a:ext uri="{FF2B5EF4-FFF2-40B4-BE49-F238E27FC236}">
                      <a16:creationId xmlns:a16="http://schemas.microsoft.com/office/drawing/2014/main" id="{2571DE28-509A-4B85-BCBF-35E2DA3A82A9}"/>
                    </a:ext>
                  </a:extLst>
                </p:cNvPr>
                <p:cNvSpPr>
                  <a:spLocks noChangeArrowheads="1"/>
                </p:cNvSpPr>
                <p:nvPr/>
              </p:nvSpPr>
              <p:spPr bwMode="auto">
                <a:xfrm>
                  <a:off x="2184" y="371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6" name="Oval 1661">
                  <a:extLst>
                    <a:ext uri="{FF2B5EF4-FFF2-40B4-BE49-F238E27FC236}">
                      <a16:creationId xmlns:a16="http://schemas.microsoft.com/office/drawing/2014/main" id="{1E687175-F4A6-4D42-BD86-5A27F988ACFC}"/>
                    </a:ext>
                  </a:extLst>
                </p:cNvPr>
                <p:cNvSpPr>
                  <a:spLocks noChangeArrowheads="1"/>
                </p:cNvSpPr>
                <p:nvPr/>
              </p:nvSpPr>
              <p:spPr bwMode="auto">
                <a:xfrm>
                  <a:off x="2146" y="372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7" name="Oval 1662">
                  <a:extLst>
                    <a:ext uri="{FF2B5EF4-FFF2-40B4-BE49-F238E27FC236}">
                      <a16:creationId xmlns:a16="http://schemas.microsoft.com/office/drawing/2014/main" id="{EF977A1E-5A8E-4BD0-A89D-8DEBDD679F49}"/>
                    </a:ext>
                  </a:extLst>
                </p:cNvPr>
                <p:cNvSpPr>
                  <a:spLocks noChangeArrowheads="1"/>
                </p:cNvSpPr>
                <p:nvPr/>
              </p:nvSpPr>
              <p:spPr bwMode="auto">
                <a:xfrm>
                  <a:off x="2163" y="372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8" name="Oval 1663">
                  <a:extLst>
                    <a:ext uri="{FF2B5EF4-FFF2-40B4-BE49-F238E27FC236}">
                      <a16:creationId xmlns:a16="http://schemas.microsoft.com/office/drawing/2014/main" id="{0C76BD2A-16DC-4C6E-9554-BB6A1658EE89}"/>
                    </a:ext>
                  </a:extLst>
                </p:cNvPr>
                <p:cNvSpPr>
                  <a:spLocks noChangeArrowheads="1"/>
                </p:cNvSpPr>
                <p:nvPr/>
              </p:nvSpPr>
              <p:spPr bwMode="auto">
                <a:xfrm>
                  <a:off x="2180" y="373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79" name="Oval 1664">
                  <a:extLst>
                    <a:ext uri="{FF2B5EF4-FFF2-40B4-BE49-F238E27FC236}">
                      <a16:creationId xmlns:a16="http://schemas.microsoft.com/office/drawing/2014/main" id="{BBF002EA-A356-40FA-A456-8AB518915613}"/>
                    </a:ext>
                  </a:extLst>
                </p:cNvPr>
                <p:cNvSpPr>
                  <a:spLocks noChangeArrowheads="1"/>
                </p:cNvSpPr>
                <p:nvPr/>
              </p:nvSpPr>
              <p:spPr bwMode="auto">
                <a:xfrm>
                  <a:off x="2142" y="3736"/>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380" name="Oval 1665">
                  <a:extLst>
                    <a:ext uri="{FF2B5EF4-FFF2-40B4-BE49-F238E27FC236}">
                      <a16:creationId xmlns:a16="http://schemas.microsoft.com/office/drawing/2014/main" id="{A2015058-3206-4345-9ECB-D09DB0E59F1D}"/>
                    </a:ext>
                  </a:extLst>
                </p:cNvPr>
                <p:cNvSpPr>
                  <a:spLocks noChangeArrowheads="1"/>
                </p:cNvSpPr>
                <p:nvPr/>
              </p:nvSpPr>
              <p:spPr bwMode="auto">
                <a:xfrm>
                  <a:off x="2160" y="374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345" name="Group 1666">
              <a:extLst>
                <a:ext uri="{FF2B5EF4-FFF2-40B4-BE49-F238E27FC236}">
                  <a16:creationId xmlns:a16="http://schemas.microsoft.com/office/drawing/2014/main" id="{AA0347ED-DE12-4266-B36D-853FF0EF1AD1}"/>
                </a:ext>
              </a:extLst>
            </p:cNvPr>
            <p:cNvGrpSpPr>
              <a:grpSpLocks/>
            </p:cNvGrpSpPr>
            <p:nvPr/>
          </p:nvGrpSpPr>
          <p:grpSpPr bwMode="auto">
            <a:xfrm>
              <a:off x="2075" y="3614"/>
              <a:ext cx="81" cy="92"/>
              <a:chOff x="2075" y="3614"/>
              <a:chExt cx="81" cy="92"/>
            </a:xfrm>
          </p:grpSpPr>
          <p:grpSp>
            <p:nvGrpSpPr>
              <p:cNvPr id="346" name="Group 1667">
                <a:extLst>
                  <a:ext uri="{FF2B5EF4-FFF2-40B4-BE49-F238E27FC236}">
                    <a16:creationId xmlns:a16="http://schemas.microsoft.com/office/drawing/2014/main" id="{85C0B35A-6704-48A4-B4DE-457799BD73E0}"/>
                  </a:ext>
                </a:extLst>
              </p:cNvPr>
              <p:cNvGrpSpPr>
                <a:grpSpLocks/>
              </p:cNvGrpSpPr>
              <p:nvPr/>
            </p:nvGrpSpPr>
            <p:grpSpPr bwMode="auto">
              <a:xfrm>
                <a:off x="2101" y="3643"/>
                <a:ext cx="39" cy="42"/>
                <a:chOff x="2101" y="3643"/>
                <a:chExt cx="39" cy="42"/>
              </a:xfrm>
            </p:grpSpPr>
            <p:sp>
              <p:nvSpPr>
                <p:cNvPr id="354" name="Freeform 1668">
                  <a:extLst>
                    <a:ext uri="{FF2B5EF4-FFF2-40B4-BE49-F238E27FC236}">
                      <a16:creationId xmlns:a16="http://schemas.microsoft.com/office/drawing/2014/main" id="{11FBECE4-8127-4FD9-A8F7-C25423C8257E}"/>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5" name="Freeform 1669">
                  <a:extLst>
                    <a:ext uri="{FF2B5EF4-FFF2-40B4-BE49-F238E27FC236}">
                      <a16:creationId xmlns:a16="http://schemas.microsoft.com/office/drawing/2014/main" id="{A942589F-6918-4ADE-AE7E-C1D18CFA103F}"/>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47" name="Group 1670">
                <a:extLst>
                  <a:ext uri="{FF2B5EF4-FFF2-40B4-BE49-F238E27FC236}">
                    <a16:creationId xmlns:a16="http://schemas.microsoft.com/office/drawing/2014/main" id="{DCF6D7D3-2429-4163-8A11-6174C3EDBE0A}"/>
                  </a:ext>
                </a:extLst>
              </p:cNvPr>
              <p:cNvGrpSpPr>
                <a:grpSpLocks/>
              </p:cNvGrpSpPr>
              <p:nvPr/>
            </p:nvGrpSpPr>
            <p:grpSpPr bwMode="auto">
              <a:xfrm>
                <a:off x="2121" y="3625"/>
                <a:ext cx="30" cy="32"/>
                <a:chOff x="2121" y="3625"/>
                <a:chExt cx="30" cy="32"/>
              </a:xfrm>
            </p:grpSpPr>
            <p:sp>
              <p:nvSpPr>
                <p:cNvPr id="352" name="Freeform 1671">
                  <a:extLst>
                    <a:ext uri="{FF2B5EF4-FFF2-40B4-BE49-F238E27FC236}">
                      <a16:creationId xmlns:a16="http://schemas.microsoft.com/office/drawing/2014/main" id="{B87611CE-B749-4CE5-8F41-22C5766704C8}"/>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w 351"/>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1"/>
                    <a:gd name="T76" fmla="*/ 0 h 390"/>
                    <a:gd name="T77" fmla="*/ 351 w 351"/>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3" name="Freeform 1672">
                  <a:extLst>
                    <a:ext uri="{FF2B5EF4-FFF2-40B4-BE49-F238E27FC236}">
                      <a16:creationId xmlns:a16="http://schemas.microsoft.com/office/drawing/2014/main" id="{80427CA1-9E39-4745-BA4B-004B767C343F}"/>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1"/>
                    <a:gd name="T73" fmla="*/ 0 h 390"/>
                    <a:gd name="T74" fmla="*/ 351 w 351"/>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48" name="Group 1673">
                <a:extLst>
                  <a:ext uri="{FF2B5EF4-FFF2-40B4-BE49-F238E27FC236}">
                    <a16:creationId xmlns:a16="http://schemas.microsoft.com/office/drawing/2014/main" id="{0E8A501B-DEF1-414D-8610-2B3FA83778CD}"/>
                  </a:ext>
                </a:extLst>
              </p:cNvPr>
              <p:cNvGrpSpPr>
                <a:grpSpLocks/>
              </p:cNvGrpSpPr>
              <p:nvPr/>
            </p:nvGrpSpPr>
            <p:grpSpPr bwMode="auto">
              <a:xfrm>
                <a:off x="2075" y="3670"/>
                <a:ext cx="62" cy="36"/>
                <a:chOff x="2075" y="3670"/>
                <a:chExt cx="62" cy="36"/>
              </a:xfrm>
            </p:grpSpPr>
            <p:sp>
              <p:nvSpPr>
                <p:cNvPr id="350" name="Freeform 1674">
                  <a:extLst>
                    <a:ext uri="{FF2B5EF4-FFF2-40B4-BE49-F238E27FC236}">
                      <a16:creationId xmlns:a16="http://schemas.microsoft.com/office/drawing/2014/main" id="{A65DAA44-6EBB-4E27-B1AE-66106A74BD5D}"/>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1" name="Freeform 1675">
                  <a:extLst>
                    <a:ext uri="{FF2B5EF4-FFF2-40B4-BE49-F238E27FC236}">
                      <a16:creationId xmlns:a16="http://schemas.microsoft.com/office/drawing/2014/main" id="{51C6263B-3E44-4F64-BC06-56FC861A4AD9}"/>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49" name="Freeform 1676">
                <a:extLst>
                  <a:ext uri="{FF2B5EF4-FFF2-40B4-BE49-F238E27FC236}">
                    <a16:creationId xmlns:a16="http://schemas.microsoft.com/office/drawing/2014/main" id="{06A6C883-8935-4FD8-9F6B-4587B5BF7DFE}"/>
                  </a:ext>
                </a:extLst>
              </p:cNvPr>
              <p:cNvSpPr>
                <a:spLocks/>
              </p:cNvSpPr>
              <p:nvPr/>
            </p:nvSpPr>
            <p:spPr bwMode="auto">
              <a:xfrm>
                <a:off x="2121" y="3614"/>
                <a:ext cx="35"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49" y="4"/>
                    </a:lnTo>
                    <a:lnTo>
                      <a:pt x="292" y="6"/>
                    </a:lnTo>
                    <a:lnTo>
                      <a:pt x="340" y="10"/>
                    </a:lnTo>
                    <a:lnTo>
                      <a:pt x="372" y="20"/>
                    </a:lnTo>
                    <a:lnTo>
                      <a:pt x="386" y="35"/>
                    </a:lnTo>
                    <a:lnTo>
                      <a:pt x="399" y="57"/>
                    </a:lnTo>
                    <a:lnTo>
                      <a:pt x="407" y="83"/>
                    </a:lnTo>
                    <a:lnTo>
                      <a:pt x="411" y="116"/>
                    </a:lnTo>
                    <a:lnTo>
                      <a:pt x="414" y="154"/>
                    </a:lnTo>
                    <a:lnTo>
                      <a:pt x="407" y="191"/>
                    </a:lnTo>
                    <a:lnTo>
                      <a:pt x="394" y="221"/>
                    </a:lnTo>
                    <a:lnTo>
                      <a:pt x="375" y="240"/>
                    </a:lnTo>
                    <a:lnTo>
                      <a:pt x="356" y="252"/>
                    </a:lnTo>
                    <a:lnTo>
                      <a:pt x="327" y="260"/>
                    </a:lnTo>
                    <a:lnTo>
                      <a:pt x="299" y="262"/>
                    </a:lnTo>
                    <a:lnTo>
                      <a:pt x="272" y="260"/>
                    </a:lnTo>
                    <a:lnTo>
                      <a:pt x="243" y="233"/>
                    </a:lnTo>
                    <a:lnTo>
                      <a:pt x="224" y="210"/>
                    </a:lnTo>
                    <a:lnTo>
                      <a:pt x="195" y="189"/>
                    </a:lnTo>
                    <a:lnTo>
                      <a:pt x="167" y="172"/>
                    </a:lnTo>
                    <a:lnTo>
                      <a:pt x="135" y="153"/>
                    </a:lnTo>
                    <a:lnTo>
                      <a:pt x="105" y="141"/>
                    </a:lnTo>
                    <a:lnTo>
                      <a:pt x="80" y="134"/>
                    </a:lnTo>
                    <a:lnTo>
                      <a:pt x="56"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sp>
        <p:nvSpPr>
          <p:cNvPr id="406" name="Rectangle 1678">
            <a:extLst>
              <a:ext uri="{FF2B5EF4-FFF2-40B4-BE49-F238E27FC236}">
                <a16:creationId xmlns:a16="http://schemas.microsoft.com/office/drawing/2014/main" id="{0193F6DF-1BDF-4B16-B4B8-56FEA317E992}"/>
              </a:ext>
            </a:extLst>
          </p:cNvPr>
          <p:cNvSpPr>
            <a:spLocks noChangeArrowheads="1"/>
          </p:cNvSpPr>
          <p:nvPr/>
        </p:nvSpPr>
        <p:spPr bwMode="auto">
          <a:xfrm>
            <a:off x="4652964" y="3954464"/>
            <a:ext cx="306387" cy="43973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407" name="Group 1679">
            <a:extLst>
              <a:ext uri="{FF2B5EF4-FFF2-40B4-BE49-F238E27FC236}">
                <a16:creationId xmlns:a16="http://schemas.microsoft.com/office/drawing/2014/main" id="{4FC78C48-FBDC-4F7E-B756-D2AAC2B9A34A}"/>
              </a:ext>
            </a:extLst>
          </p:cNvPr>
          <p:cNvGrpSpPr>
            <a:grpSpLocks/>
          </p:cNvGrpSpPr>
          <p:nvPr/>
        </p:nvGrpSpPr>
        <p:grpSpPr bwMode="auto">
          <a:xfrm>
            <a:off x="4654551" y="3956051"/>
            <a:ext cx="301625" cy="434975"/>
            <a:chOff x="2067" y="3557"/>
            <a:chExt cx="190" cy="274"/>
          </a:xfrm>
        </p:grpSpPr>
        <p:grpSp>
          <p:nvGrpSpPr>
            <p:cNvPr id="408" name="Group 1680">
              <a:extLst>
                <a:ext uri="{FF2B5EF4-FFF2-40B4-BE49-F238E27FC236}">
                  <a16:creationId xmlns:a16="http://schemas.microsoft.com/office/drawing/2014/main" id="{A6F2EA79-2BE1-4F11-9527-6BAB0A3CFAF4}"/>
                </a:ext>
              </a:extLst>
            </p:cNvPr>
            <p:cNvGrpSpPr>
              <a:grpSpLocks/>
            </p:cNvGrpSpPr>
            <p:nvPr/>
          </p:nvGrpSpPr>
          <p:grpSpPr bwMode="auto">
            <a:xfrm>
              <a:off x="2067" y="3614"/>
              <a:ext cx="164" cy="197"/>
              <a:chOff x="2067" y="3614"/>
              <a:chExt cx="164" cy="197"/>
            </a:xfrm>
          </p:grpSpPr>
          <p:sp>
            <p:nvSpPr>
              <p:cNvPr id="461" name="Freeform 1681">
                <a:extLst>
                  <a:ext uri="{FF2B5EF4-FFF2-40B4-BE49-F238E27FC236}">
                    <a16:creationId xmlns:a16="http://schemas.microsoft.com/office/drawing/2014/main" id="{4906BD16-EC78-4F95-AC46-71619305760C}"/>
                  </a:ext>
                </a:extLst>
              </p:cNvPr>
              <p:cNvSpPr>
                <a:spLocks/>
              </p:cNvSpPr>
              <p:nvPr/>
            </p:nvSpPr>
            <p:spPr bwMode="auto">
              <a:xfrm>
                <a:off x="2067" y="3614"/>
                <a:ext cx="164"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199" y="1522"/>
                    </a:lnTo>
                    <a:lnTo>
                      <a:pt x="162" y="1459"/>
                    </a:lnTo>
                    <a:lnTo>
                      <a:pt x="153" y="1439"/>
                    </a:lnTo>
                    <a:lnTo>
                      <a:pt x="125" y="1376"/>
                    </a:lnTo>
                    <a:lnTo>
                      <a:pt x="115" y="1333"/>
                    </a:lnTo>
                    <a:lnTo>
                      <a:pt x="106" y="1292"/>
                    </a:lnTo>
                    <a:lnTo>
                      <a:pt x="88" y="1229"/>
                    </a:lnTo>
                    <a:lnTo>
                      <a:pt x="69" y="1188"/>
                    </a:lnTo>
                    <a:lnTo>
                      <a:pt x="41" y="1124"/>
                    </a:lnTo>
                    <a:lnTo>
                      <a:pt x="22" y="1061"/>
                    </a:lnTo>
                    <a:lnTo>
                      <a:pt x="16" y="1022"/>
                    </a:lnTo>
                    <a:lnTo>
                      <a:pt x="4" y="935"/>
                    </a:lnTo>
                    <a:lnTo>
                      <a:pt x="1" y="872"/>
                    </a:lnTo>
                    <a:lnTo>
                      <a:pt x="0" y="792"/>
                    </a:lnTo>
                    <a:lnTo>
                      <a:pt x="14" y="724"/>
                    </a:lnTo>
                    <a:lnTo>
                      <a:pt x="32" y="693"/>
                    </a:lnTo>
                    <a:lnTo>
                      <a:pt x="50" y="677"/>
                    </a:lnTo>
                    <a:lnTo>
                      <a:pt x="67" y="669"/>
                    </a:lnTo>
                    <a:lnTo>
                      <a:pt x="88" y="661"/>
                    </a:lnTo>
                    <a:lnTo>
                      <a:pt x="106" y="661"/>
                    </a:lnTo>
                    <a:lnTo>
                      <a:pt x="106" y="613"/>
                    </a:lnTo>
                    <a:lnTo>
                      <a:pt x="100" y="591"/>
                    </a:lnTo>
                    <a:lnTo>
                      <a:pt x="97" y="555"/>
                    </a:lnTo>
                    <a:lnTo>
                      <a:pt x="105" y="534"/>
                    </a:lnTo>
                    <a:lnTo>
                      <a:pt x="106" y="515"/>
                    </a:lnTo>
                    <a:lnTo>
                      <a:pt x="120" y="477"/>
                    </a:lnTo>
                    <a:lnTo>
                      <a:pt x="134" y="451"/>
                    </a:lnTo>
                    <a:lnTo>
                      <a:pt x="155" y="419"/>
                    </a:lnTo>
                    <a:lnTo>
                      <a:pt x="184" y="388"/>
                    </a:lnTo>
                    <a:lnTo>
                      <a:pt x="216" y="361"/>
                    </a:lnTo>
                    <a:lnTo>
                      <a:pt x="244" y="336"/>
                    </a:lnTo>
                    <a:lnTo>
                      <a:pt x="278" y="326"/>
                    </a:lnTo>
                    <a:lnTo>
                      <a:pt x="312" y="320"/>
                    </a:lnTo>
                    <a:lnTo>
                      <a:pt x="344" y="326"/>
                    </a:lnTo>
                    <a:lnTo>
                      <a:pt x="374" y="336"/>
                    </a:lnTo>
                    <a:lnTo>
                      <a:pt x="410" y="346"/>
                    </a:lnTo>
                    <a:lnTo>
                      <a:pt x="420" y="326"/>
                    </a:lnTo>
                    <a:lnTo>
                      <a:pt x="426" y="268"/>
                    </a:lnTo>
                    <a:lnTo>
                      <a:pt x="438" y="220"/>
                    </a:lnTo>
                    <a:lnTo>
                      <a:pt x="461" y="184"/>
                    </a:lnTo>
                    <a:lnTo>
                      <a:pt x="486" y="160"/>
                    </a:lnTo>
                    <a:lnTo>
                      <a:pt x="522" y="148"/>
                    </a:lnTo>
                    <a:lnTo>
                      <a:pt x="559" y="136"/>
                    </a:lnTo>
                    <a:lnTo>
                      <a:pt x="615" y="125"/>
                    </a:lnTo>
                    <a:lnTo>
                      <a:pt x="650" y="125"/>
                    </a:lnTo>
                    <a:lnTo>
                      <a:pt x="660" y="104"/>
                    </a:lnTo>
                    <a:lnTo>
                      <a:pt x="678" y="62"/>
                    </a:lnTo>
                    <a:lnTo>
                      <a:pt x="706" y="31"/>
                    </a:lnTo>
                    <a:lnTo>
                      <a:pt x="744" y="10"/>
                    </a:lnTo>
                    <a:lnTo>
                      <a:pt x="800" y="0"/>
                    </a:lnTo>
                    <a:lnTo>
                      <a:pt x="854" y="0"/>
                    </a:lnTo>
                    <a:lnTo>
                      <a:pt x="927" y="4"/>
                    </a:lnTo>
                    <a:lnTo>
                      <a:pt x="967" y="6"/>
                    </a:lnTo>
                    <a:lnTo>
                      <a:pt x="994" y="10"/>
                    </a:lnTo>
                    <a:lnTo>
                      <a:pt x="1018" y="17"/>
                    </a:lnTo>
                    <a:lnTo>
                      <a:pt x="1039" y="35"/>
                    </a:lnTo>
                    <a:lnTo>
                      <a:pt x="1052" y="57"/>
                    </a:lnTo>
                    <a:lnTo>
                      <a:pt x="1061" y="86"/>
                    </a:lnTo>
                    <a:lnTo>
                      <a:pt x="1067" y="136"/>
                    </a:lnTo>
                    <a:lnTo>
                      <a:pt x="1062" y="180"/>
                    </a:lnTo>
                    <a:lnTo>
                      <a:pt x="1046" y="218"/>
                    </a:lnTo>
                    <a:lnTo>
                      <a:pt x="1027" y="239"/>
                    </a:lnTo>
                    <a:lnTo>
                      <a:pt x="1002" y="252"/>
                    </a:lnTo>
                    <a:lnTo>
                      <a:pt x="973" y="260"/>
                    </a:lnTo>
                    <a:lnTo>
                      <a:pt x="923" y="259"/>
                    </a:lnTo>
                    <a:lnTo>
                      <a:pt x="939" y="281"/>
                    </a:lnTo>
                    <a:lnTo>
                      <a:pt x="961" y="323"/>
                    </a:lnTo>
                    <a:lnTo>
                      <a:pt x="980" y="357"/>
                    </a:lnTo>
                    <a:lnTo>
                      <a:pt x="995" y="399"/>
                    </a:lnTo>
                    <a:lnTo>
                      <a:pt x="1004" y="434"/>
                    </a:lnTo>
                    <a:lnTo>
                      <a:pt x="1000" y="457"/>
                    </a:lnTo>
                    <a:lnTo>
                      <a:pt x="980" y="482"/>
                    </a:lnTo>
                    <a:lnTo>
                      <a:pt x="1002" y="526"/>
                    </a:lnTo>
                    <a:lnTo>
                      <a:pt x="1029" y="567"/>
                    </a:lnTo>
                    <a:lnTo>
                      <a:pt x="1060" y="619"/>
                    </a:lnTo>
                    <a:lnTo>
                      <a:pt x="1108" y="667"/>
                    </a:lnTo>
                    <a:lnTo>
                      <a:pt x="1182" y="739"/>
                    </a:lnTo>
                    <a:lnTo>
                      <a:pt x="1251" y="822"/>
                    </a:lnTo>
                    <a:lnTo>
                      <a:pt x="1316" y="930"/>
                    </a:lnTo>
                    <a:lnTo>
                      <a:pt x="1372" y="1029"/>
                    </a:lnTo>
                    <a:lnTo>
                      <a:pt x="1418" y="1113"/>
                    </a:lnTo>
                    <a:lnTo>
                      <a:pt x="1432" y="1144"/>
                    </a:lnTo>
                    <a:lnTo>
                      <a:pt x="1435" y="1198"/>
                    </a:lnTo>
                    <a:lnTo>
                      <a:pt x="1450" y="1240"/>
                    </a:lnTo>
                    <a:lnTo>
                      <a:pt x="1473" y="1204"/>
                    </a:lnTo>
                    <a:lnTo>
                      <a:pt x="1517" y="1147"/>
                    </a:lnTo>
                    <a:lnTo>
                      <a:pt x="1575" y="1061"/>
                    </a:lnTo>
                    <a:lnTo>
                      <a:pt x="1612" y="1009"/>
                    </a:lnTo>
                    <a:lnTo>
                      <a:pt x="1629" y="977"/>
                    </a:lnTo>
                    <a:lnTo>
                      <a:pt x="1649" y="924"/>
                    </a:lnTo>
                    <a:lnTo>
                      <a:pt x="1666" y="889"/>
                    </a:lnTo>
                    <a:lnTo>
                      <a:pt x="1681" y="862"/>
                    </a:lnTo>
                    <a:lnTo>
                      <a:pt x="1701" y="833"/>
                    </a:lnTo>
                    <a:lnTo>
                      <a:pt x="1723" y="808"/>
                    </a:lnTo>
                    <a:lnTo>
                      <a:pt x="1763" y="767"/>
                    </a:lnTo>
                    <a:lnTo>
                      <a:pt x="1807" y="734"/>
                    </a:lnTo>
                    <a:lnTo>
                      <a:pt x="1851" y="713"/>
                    </a:lnTo>
                    <a:lnTo>
                      <a:pt x="1889" y="713"/>
                    </a:lnTo>
                    <a:lnTo>
                      <a:pt x="1923" y="717"/>
                    </a:lnTo>
                    <a:lnTo>
                      <a:pt x="1953" y="735"/>
                    </a:lnTo>
                    <a:lnTo>
                      <a:pt x="1974" y="774"/>
                    </a:lnTo>
                    <a:lnTo>
                      <a:pt x="1973" y="819"/>
                    </a:lnTo>
                    <a:lnTo>
                      <a:pt x="1973" y="839"/>
                    </a:lnTo>
                    <a:lnTo>
                      <a:pt x="1963" y="883"/>
                    </a:lnTo>
                    <a:lnTo>
                      <a:pt x="1945" y="903"/>
                    </a:lnTo>
                    <a:lnTo>
                      <a:pt x="1935" y="946"/>
                    </a:lnTo>
                    <a:lnTo>
                      <a:pt x="1917" y="1009"/>
                    </a:lnTo>
                    <a:lnTo>
                      <a:pt x="1917" y="1071"/>
                    </a:lnTo>
                    <a:lnTo>
                      <a:pt x="1907" y="1134"/>
                    </a:lnTo>
                    <a:lnTo>
                      <a:pt x="1904" y="1167"/>
                    </a:lnTo>
                    <a:lnTo>
                      <a:pt x="1895" y="1200"/>
                    </a:lnTo>
                    <a:lnTo>
                      <a:pt x="1876" y="1238"/>
                    </a:lnTo>
                    <a:lnTo>
                      <a:pt x="1851" y="1271"/>
                    </a:lnTo>
                    <a:lnTo>
                      <a:pt x="1834" y="1333"/>
                    </a:lnTo>
                    <a:lnTo>
                      <a:pt x="1806" y="1396"/>
                    </a:lnTo>
                    <a:lnTo>
                      <a:pt x="1723" y="1544"/>
                    </a:lnTo>
                    <a:lnTo>
                      <a:pt x="1649" y="1649"/>
                    </a:lnTo>
                    <a:lnTo>
                      <a:pt x="1594" y="1722"/>
                    </a:lnTo>
                    <a:lnTo>
                      <a:pt x="1584" y="1764"/>
                    </a:lnTo>
                    <a:lnTo>
                      <a:pt x="1575" y="1807"/>
                    </a:lnTo>
                    <a:lnTo>
                      <a:pt x="1558" y="1853"/>
                    </a:lnTo>
                    <a:lnTo>
                      <a:pt x="1545" y="1912"/>
                    </a:lnTo>
                    <a:lnTo>
                      <a:pt x="1519" y="1975"/>
                    </a:lnTo>
                    <a:lnTo>
                      <a:pt x="1473" y="2059"/>
                    </a:lnTo>
                    <a:lnTo>
                      <a:pt x="1428" y="2122"/>
                    </a:lnTo>
                    <a:lnTo>
                      <a:pt x="1400" y="2163"/>
                    </a:lnTo>
                    <a:lnTo>
                      <a:pt x="1381" y="2227"/>
                    </a:lnTo>
                    <a:lnTo>
                      <a:pt x="1362" y="2269"/>
                    </a:lnTo>
                    <a:lnTo>
                      <a:pt x="1332"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462" name="Group 1682">
                <a:extLst>
                  <a:ext uri="{FF2B5EF4-FFF2-40B4-BE49-F238E27FC236}">
                    <a16:creationId xmlns:a16="http://schemas.microsoft.com/office/drawing/2014/main" id="{E516173B-2C13-4AD9-BB1A-72E541897B02}"/>
                  </a:ext>
                </a:extLst>
              </p:cNvPr>
              <p:cNvGrpSpPr>
                <a:grpSpLocks/>
              </p:cNvGrpSpPr>
              <p:nvPr/>
            </p:nvGrpSpPr>
            <p:grpSpPr bwMode="auto">
              <a:xfrm>
                <a:off x="2078" y="3668"/>
                <a:ext cx="139" cy="45"/>
                <a:chOff x="2078" y="3668"/>
                <a:chExt cx="139" cy="45"/>
              </a:xfrm>
            </p:grpSpPr>
            <p:sp>
              <p:nvSpPr>
                <p:cNvPr id="467" name="Freeform 1683">
                  <a:extLst>
                    <a:ext uri="{FF2B5EF4-FFF2-40B4-BE49-F238E27FC236}">
                      <a16:creationId xmlns:a16="http://schemas.microsoft.com/office/drawing/2014/main" id="{94B37343-DB86-429E-A1C2-FBC7332AC05C}"/>
                    </a:ext>
                  </a:extLst>
                </p:cNvPr>
                <p:cNvSpPr>
                  <a:spLocks/>
                </p:cNvSpPr>
                <p:nvPr/>
              </p:nvSpPr>
              <p:spPr bwMode="auto">
                <a:xfrm>
                  <a:off x="2201" y="3705"/>
                  <a:ext cx="16" cy="8"/>
                </a:xfrm>
                <a:custGeom>
                  <a:avLst/>
                  <a:gdLst>
                    <a:gd name="T0" fmla="*/ 0 w 185"/>
                    <a:gd name="T1" fmla="*/ 0 h 96"/>
                    <a:gd name="T2" fmla="*/ 0 w 185"/>
                    <a:gd name="T3" fmla="*/ 0 h 96"/>
                    <a:gd name="T4" fmla="*/ 0 w 185"/>
                    <a:gd name="T5" fmla="*/ 0 h 96"/>
                    <a:gd name="T6" fmla="*/ 0 w 185"/>
                    <a:gd name="T7" fmla="*/ 0 h 96"/>
                    <a:gd name="T8" fmla="*/ 0 w 185"/>
                    <a:gd name="T9" fmla="*/ 0 h 96"/>
                    <a:gd name="T10" fmla="*/ 0 w 185"/>
                    <a:gd name="T11" fmla="*/ 0 h 96"/>
                    <a:gd name="T12" fmla="*/ 0 w 185"/>
                    <a:gd name="T13" fmla="*/ 0 h 96"/>
                    <a:gd name="T14" fmla="*/ 0 60000 65536"/>
                    <a:gd name="T15" fmla="*/ 0 60000 65536"/>
                    <a:gd name="T16" fmla="*/ 0 60000 65536"/>
                    <a:gd name="T17" fmla="*/ 0 60000 65536"/>
                    <a:gd name="T18" fmla="*/ 0 60000 65536"/>
                    <a:gd name="T19" fmla="*/ 0 60000 65536"/>
                    <a:gd name="T20" fmla="*/ 0 60000 65536"/>
                    <a:gd name="T21" fmla="*/ 0 w 185"/>
                    <a:gd name="T22" fmla="*/ 0 h 96"/>
                    <a:gd name="T23" fmla="*/ 185 w 185"/>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96">
                      <a:moveTo>
                        <a:pt x="0" y="0"/>
                      </a:moveTo>
                      <a:lnTo>
                        <a:pt x="38" y="21"/>
                      </a:lnTo>
                      <a:lnTo>
                        <a:pt x="66" y="52"/>
                      </a:lnTo>
                      <a:lnTo>
                        <a:pt x="101" y="85"/>
                      </a:lnTo>
                      <a:lnTo>
                        <a:pt x="129" y="96"/>
                      </a:lnTo>
                      <a:lnTo>
                        <a:pt x="139" y="96"/>
                      </a:lnTo>
                      <a:lnTo>
                        <a:pt x="185"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8" name="Freeform 1684">
                  <a:extLst>
                    <a:ext uri="{FF2B5EF4-FFF2-40B4-BE49-F238E27FC236}">
                      <a16:creationId xmlns:a16="http://schemas.microsoft.com/office/drawing/2014/main" id="{0A9B6585-C0D4-47E8-AFC6-597E0F9CE40C}"/>
                    </a:ext>
                  </a:extLst>
                </p:cNvPr>
                <p:cNvSpPr>
                  <a:spLocks/>
                </p:cNvSpPr>
                <p:nvPr/>
              </p:nvSpPr>
              <p:spPr bwMode="auto">
                <a:xfrm>
                  <a:off x="2078" y="3695"/>
                  <a:ext cx="8"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9" name="Freeform 1685">
                  <a:extLst>
                    <a:ext uri="{FF2B5EF4-FFF2-40B4-BE49-F238E27FC236}">
                      <a16:creationId xmlns:a16="http://schemas.microsoft.com/office/drawing/2014/main" id="{CC576EFB-18B9-43B3-AD84-A638A4EE107E}"/>
                    </a:ext>
                  </a:extLst>
                </p:cNvPr>
                <p:cNvSpPr>
                  <a:spLocks/>
                </p:cNvSpPr>
                <p:nvPr/>
              </p:nvSpPr>
              <p:spPr bwMode="auto">
                <a:xfrm>
                  <a:off x="2102" y="3670"/>
                  <a:ext cx="1" cy="4"/>
                </a:xfrm>
                <a:custGeom>
                  <a:avLst/>
                  <a:gdLst>
                    <a:gd name="T0" fmla="*/ 0 w 18"/>
                    <a:gd name="T1" fmla="*/ 0 h 44"/>
                    <a:gd name="T2" fmla="*/ 0 w 18"/>
                    <a:gd name="T3" fmla="*/ 0 h 44"/>
                    <a:gd name="T4" fmla="*/ 0 w 18"/>
                    <a:gd name="T5" fmla="*/ 0 h 44"/>
                    <a:gd name="T6" fmla="*/ 0 w 18"/>
                    <a:gd name="T7" fmla="*/ 0 h 44"/>
                    <a:gd name="T8" fmla="*/ 0 60000 65536"/>
                    <a:gd name="T9" fmla="*/ 0 60000 65536"/>
                    <a:gd name="T10" fmla="*/ 0 60000 65536"/>
                    <a:gd name="T11" fmla="*/ 0 60000 65536"/>
                    <a:gd name="T12" fmla="*/ 0 w 18"/>
                    <a:gd name="T13" fmla="*/ 0 h 44"/>
                    <a:gd name="T14" fmla="*/ 18 w 18"/>
                    <a:gd name="T15" fmla="*/ 44 h 44"/>
                  </a:gdLst>
                  <a:ahLst/>
                  <a:cxnLst>
                    <a:cxn ang="T8">
                      <a:pos x="T0" y="T1"/>
                    </a:cxn>
                    <a:cxn ang="T9">
                      <a:pos x="T2" y="T3"/>
                    </a:cxn>
                    <a:cxn ang="T10">
                      <a:pos x="T4" y="T5"/>
                    </a:cxn>
                    <a:cxn ang="T11">
                      <a:pos x="T6" y="T7"/>
                    </a:cxn>
                  </a:cxnLst>
                  <a:rect l="T12" t="T13" r="T14" b="T15"/>
                  <a:pathLst>
                    <a:path w="18" h="44">
                      <a:moveTo>
                        <a:pt x="0" y="0"/>
                      </a:moveTo>
                      <a:lnTo>
                        <a:pt x="18" y="18"/>
                      </a:lnTo>
                      <a:lnTo>
                        <a:pt x="16" y="29"/>
                      </a:lnTo>
                      <a:lnTo>
                        <a:pt x="18"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0" name="Freeform 1686">
                  <a:extLst>
                    <a:ext uri="{FF2B5EF4-FFF2-40B4-BE49-F238E27FC236}">
                      <a16:creationId xmlns:a16="http://schemas.microsoft.com/office/drawing/2014/main" id="{B715A3FC-2508-4C45-80E2-EBEBC1DFABEB}"/>
                    </a:ext>
                  </a:extLst>
                </p:cNvPr>
                <p:cNvSpPr>
                  <a:spLocks/>
                </p:cNvSpPr>
                <p:nvPr/>
              </p:nvSpPr>
              <p:spPr bwMode="auto">
                <a:xfrm>
                  <a:off x="2095" y="3668"/>
                  <a:ext cx="15" cy="2"/>
                </a:xfrm>
                <a:custGeom>
                  <a:avLst/>
                  <a:gdLst>
                    <a:gd name="T0" fmla="*/ 0 w 179"/>
                    <a:gd name="T1" fmla="*/ 0 h 22"/>
                    <a:gd name="T2" fmla="*/ 0 w 179"/>
                    <a:gd name="T3" fmla="*/ 0 h 22"/>
                    <a:gd name="T4" fmla="*/ 0 w 179"/>
                    <a:gd name="T5" fmla="*/ 0 h 22"/>
                    <a:gd name="T6" fmla="*/ 0 w 179"/>
                    <a:gd name="T7" fmla="*/ 0 h 22"/>
                    <a:gd name="T8" fmla="*/ 0 w 179"/>
                    <a:gd name="T9" fmla="*/ 0 h 22"/>
                    <a:gd name="T10" fmla="*/ 0 60000 65536"/>
                    <a:gd name="T11" fmla="*/ 0 60000 65536"/>
                    <a:gd name="T12" fmla="*/ 0 60000 65536"/>
                    <a:gd name="T13" fmla="*/ 0 60000 65536"/>
                    <a:gd name="T14" fmla="*/ 0 60000 65536"/>
                    <a:gd name="T15" fmla="*/ 0 w 179"/>
                    <a:gd name="T16" fmla="*/ 0 h 22"/>
                    <a:gd name="T17" fmla="*/ 179 w 179"/>
                    <a:gd name="T18" fmla="*/ 22 h 22"/>
                  </a:gdLst>
                  <a:ahLst/>
                  <a:cxnLst>
                    <a:cxn ang="T10">
                      <a:pos x="T0" y="T1"/>
                    </a:cxn>
                    <a:cxn ang="T11">
                      <a:pos x="T2" y="T3"/>
                    </a:cxn>
                    <a:cxn ang="T12">
                      <a:pos x="T4" y="T5"/>
                    </a:cxn>
                    <a:cxn ang="T13">
                      <a:pos x="T6" y="T7"/>
                    </a:cxn>
                    <a:cxn ang="T14">
                      <a:pos x="T8" y="T9"/>
                    </a:cxn>
                  </a:cxnLst>
                  <a:rect l="T15" t="T16" r="T17" b="T18"/>
                  <a:pathLst>
                    <a:path w="179" h="22">
                      <a:moveTo>
                        <a:pt x="179" y="11"/>
                      </a:moveTo>
                      <a:lnTo>
                        <a:pt x="151" y="22"/>
                      </a:lnTo>
                      <a:lnTo>
                        <a:pt x="39" y="22"/>
                      </a:lnTo>
                      <a:lnTo>
                        <a:pt x="18" y="10"/>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63" name="Group 1687">
                <a:extLst>
                  <a:ext uri="{FF2B5EF4-FFF2-40B4-BE49-F238E27FC236}">
                    <a16:creationId xmlns:a16="http://schemas.microsoft.com/office/drawing/2014/main" id="{550A66C7-67A5-4CFF-93F1-6A7403876F71}"/>
                  </a:ext>
                </a:extLst>
              </p:cNvPr>
              <p:cNvGrpSpPr>
                <a:grpSpLocks/>
              </p:cNvGrpSpPr>
              <p:nvPr/>
            </p:nvGrpSpPr>
            <p:grpSpPr bwMode="auto">
              <a:xfrm>
                <a:off x="2093" y="3659"/>
                <a:ext cx="95" cy="91"/>
                <a:chOff x="2093" y="3659"/>
                <a:chExt cx="95" cy="91"/>
              </a:xfrm>
            </p:grpSpPr>
            <p:sp>
              <p:nvSpPr>
                <p:cNvPr id="464" name="Freeform 1688">
                  <a:extLst>
                    <a:ext uri="{FF2B5EF4-FFF2-40B4-BE49-F238E27FC236}">
                      <a16:creationId xmlns:a16="http://schemas.microsoft.com/office/drawing/2014/main" id="{C6A1FDCB-2382-46C8-B38A-B1E0783A91F2}"/>
                    </a:ext>
                  </a:extLst>
                </p:cNvPr>
                <p:cNvSpPr>
                  <a:spLocks/>
                </p:cNvSpPr>
                <p:nvPr/>
              </p:nvSpPr>
              <p:spPr bwMode="auto">
                <a:xfrm>
                  <a:off x="2100" y="3676"/>
                  <a:ext cx="88" cy="74"/>
                </a:xfrm>
                <a:custGeom>
                  <a:avLst/>
                  <a:gdLst>
                    <a:gd name="T0" fmla="*/ 0 w 1061"/>
                    <a:gd name="T1" fmla="*/ 0 h 894"/>
                    <a:gd name="T2" fmla="*/ 0 w 1061"/>
                    <a:gd name="T3" fmla="*/ 0 h 894"/>
                    <a:gd name="T4" fmla="*/ 0 w 1061"/>
                    <a:gd name="T5" fmla="*/ 0 h 894"/>
                    <a:gd name="T6" fmla="*/ 0 w 1061"/>
                    <a:gd name="T7" fmla="*/ 0 h 894"/>
                    <a:gd name="T8" fmla="*/ 0 w 1061"/>
                    <a:gd name="T9" fmla="*/ 0 h 894"/>
                    <a:gd name="T10" fmla="*/ 0 w 1061"/>
                    <a:gd name="T11" fmla="*/ 0 h 894"/>
                    <a:gd name="T12" fmla="*/ 0 w 1061"/>
                    <a:gd name="T13" fmla="*/ 0 h 894"/>
                    <a:gd name="T14" fmla="*/ 0 w 1061"/>
                    <a:gd name="T15" fmla="*/ 0 h 894"/>
                    <a:gd name="T16" fmla="*/ 0 w 1061"/>
                    <a:gd name="T17" fmla="*/ 0 h 894"/>
                    <a:gd name="T18" fmla="*/ 0 w 1061"/>
                    <a:gd name="T19" fmla="*/ 0 h 894"/>
                    <a:gd name="T20" fmla="*/ 0 w 1061"/>
                    <a:gd name="T21" fmla="*/ 0 h 894"/>
                    <a:gd name="T22" fmla="*/ 0 w 1061"/>
                    <a:gd name="T23" fmla="*/ 0 h 894"/>
                    <a:gd name="T24" fmla="*/ 0 w 1061"/>
                    <a:gd name="T25" fmla="*/ 0 h 894"/>
                    <a:gd name="T26" fmla="*/ 0 w 1061"/>
                    <a:gd name="T27" fmla="*/ 0 h 894"/>
                    <a:gd name="T28" fmla="*/ 0 w 1061"/>
                    <a:gd name="T29" fmla="*/ 0 h 894"/>
                    <a:gd name="T30" fmla="*/ 0 w 1061"/>
                    <a:gd name="T31" fmla="*/ 0 h 894"/>
                    <a:gd name="T32" fmla="*/ 0 w 1061"/>
                    <a:gd name="T33" fmla="*/ 0 h 894"/>
                    <a:gd name="T34" fmla="*/ 0 w 1061"/>
                    <a:gd name="T35" fmla="*/ 0 h 894"/>
                    <a:gd name="T36" fmla="*/ 0 w 1061"/>
                    <a:gd name="T37" fmla="*/ 0 h 894"/>
                    <a:gd name="T38" fmla="*/ 0 w 1061"/>
                    <a:gd name="T39" fmla="*/ 0 h 894"/>
                    <a:gd name="T40" fmla="*/ 0 w 1061"/>
                    <a:gd name="T41" fmla="*/ 0 h 894"/>
                    <a:gd name="T42" fmla="*/ 0 w 1061"/>
                    <a:gd name="T43" fmla="*/ 0 h 894"/>
                    <a:gd name="T44" fmla="*/ 0 w 1061"/>
                    <a:gd name="T45" fmla="*/ 0 h 894"/>
                    <a:gd name="T46" fmla="*/ 0 w 1061"/>
                    <a:gd name="T47" fmla="*/ 0 h 894"/>
                    <a:gd name="T48" fmla="*/ 0 w 1061"/>
                    <a:gd name="T49" fmla="*/ 0 h 894"/>
                    <a:gd name="T50" fmla="*/ 0 w 1061"/>
                    <a:gd name="T51" fmla="*/ 0 h 894"/>
                    <a:gd name="T52" fmla="*/ 0 w 1061"/>
                    <a:gd name="T53" fmla="*/ 0 h 894"/>
                    <a:gd name="T54" fmla="*/ 0 w 1061"/>
                    <a:gd name="T55" fmla="*/ 0 h 894"/>
                    <a:gd name="T56" fmla="*/ 0 w 1061"/>
                    <a:gd name="T57" fmla="*/ 0 h 894"/>
                    <a:gd name="T58" fmla="*/ 0 w 1061"/>
                    <a:gd name="T59" fmla="*/ 0 h 894"/>
                    <a:gd name="T60" fmla="*/ 0 w 1061"/>
                    <a:gd name="T61" fmla="*/ 0 h 894"/>
                    <a:gd name="T62" fmla="*/ 0 w 1061"/>
                    <a:gd name="T63" fmla="*/ 0 h 894"/>
                    <a:gd name="T64" fmla="*/ 0 w 1061"/>
                    <a:gd name="T65" fmla="*/ 0 h 894"/>
                    <a:gd name="T66" fmla="*/ 0 w 1061"/>
                    <a:gd name="T67" fmla="*/ 0 h 894"/>
                    <a:gd name="T68" fmla="*/ 0 w 1061"/>
                    <a:gd name="T69" fmla="*/ 0 h 894"/>
                    <a:gd name="T70" fmla="*/ 0 w 1061"/>
                    <a:gd name="T71" fmla="*/ 0 h 894"/>
                    <a:gd name="T72" fmla="*/ 0 w 1061"/>
                    <a:gd name="T73" fmla="*/ 0 h 894"/>
                    <a:gd name="T74" fmla="*/ 0 w 1061"/>
                    <a:gd name="T75" fmla="*/ 0 h 894"/>
                    <a:gd name="T76" fmla="*/ 0 w 1061"/>
                    <a:gd name="T77" fmla="*/ 0 h 894"/>
                    <a:gd name="T78" fmla="*/ 0 w 1061"/>
                    <a:gd name="T79" fmla="*/ 0 h 894"/>
                    <a:gd name="T80" fmla="*/ 0 w 1061"/>
                    <a:gd name="T81" fmla="*/ 0 h 894"/>
                    <a:gd name="T82" fmla="*/ 0 w 1061"/>
                    <a:gd name="T83" fmla="*/ 0 h 894"/>
                    <a:gd name="T84" fmla="*/ 0 w 1061"/>
                    <a:gd name="T85" fmla="*/ 0 h 894"/>
                    <a:gd name="T86" fmla="*/ 0 w 1061"/>
                    <a:gd name="T87" fmla="*/ 0 h 894"/>
                    <a:gd name="T88" fmla="*/ 0 w 1061"/>
                    <a:gd name="T89" fmla="*/ 0 h 894"/>
                    <a:gd name="T90" fmla="*/ 0 w 1061"/>
                    <a:gd name="T91" fmla="*/ 0 h 894"/>
                    <a:gd name="T92" fmla="*/ 0 w 1061"/>
                    <a:gd name="T93" fmla="*/ 0 h 894"/>
                    <a:gd name="T94" fmla="*/ 0 w 1061"/>
                    <a:gd name="T95" fmla="*/ 0 h 894"/>
                    <a:gd name="T96" fmla="*/ 0 w 1061"/>
                    <a:gd name="T97" fmla="*/ 0 h 894"/>
                    <a:gd name="T98" fmla="*/ 0 w 1061"/>
                    <a:gd name="T99" fmla="*/ 0 h 894"/>
                    <a:gd name="T100" fmla="*/ 0 w 1061"/>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1"/>
                    <a:gd name="T154" fmla="*/ 0 h 894"/>
                    <a:gd name="T155" fmla="*/ 1061 w 1061"/>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1" h="894">
                      <a:moveTo>
                        <a:pt x="1061" y="487"/>
                      </a:moveTo>
                      <a:lnTo>
                        <a:pt x="982" y="517"/>
                      </a:lnTo>
                      <a:lnTo>
                        <a:pt x="886" y="555"/>
                      </a:lnTo>
                      <a:lnTo>
                        <a:pt x="827" y="593"/>
                      </a:lnTo>
                      <a:lnTo>
                        <a:pt x="779" y="652"/>
                      </a:lnTo>
                      <a:lnTo>
                        <a:pt x="750" y="739"/>
                      </a:lnTo>
                      <a:lnTo>
                        <a:pt x="730" y="807"/>
                      </a:lnTo>
                      <a:lnTo>
                        <a:pt x="671" y="875"/>
                      </a:lnTo>
                      <a:lnTo>
                        <a:pt x="574" y="894"/>
                      </a:lnTo>
                      <a:lnTo>
                        <a:pt x="506" y="865"/>
                      </a:lnTo>
                      <a:lnTo>
                        <a:pt x="457" y="826"/>
                      </a:lnTo>
                      <a:lnTo>
                        <a:pt x="454" y="784"/>
                      </a:lnTo>
                      <a:lnTo>
                        <a:pt x="447" y="749"/>
                      </a:lnTo>
                      <a:lnTo>
                        <a:pt x="409" y="690"/>
                      </a:lnTo>
                      <a:lnTo>
                        <a:pt x="321" y="662"/>
                      </a:lnTo>
                      <a:lnTo>
                        <a:pt x="389" y="617"/>
                      </a:lnTo>
                      <a:lnTo>
                        <a:pt x="460" y="603"/>
                      </a:lnTo>
                      <a:lnTo>
                        <a:pt x="493" y="584"/>
                      </a:lnTo>
                      <a:lnTo>
                        <a:pt x="431" y="581"/>
                      </a:lnTo>
                      <a:lnTo>
                        <a:pt x="360" y="603"/>
                      </a:lnTo>
                      <a:lnTo>
                        <a:pt x="282" y="633"/>
                      </a:lnTo>
                      <a:lnTo>
                        <a:pt x="247" y="603"/>
                      </a:lnTo>
                      <a:lnTo>
                        <a:pt x="240" y="565"/>
                      </a:lnTo>
                      <a:lnTo>
                        <a:pt x="237" y="520"/>
                      </a:lnTo>
                      <a:lnTo>
                        <a:pt x="224" y="477"/>
                      </a:lnTo>
                      <a:lnTo>
                        <a:pt x="175" y="468"/>
                      </a:lnTo>
                      <a:lnTo>
                        <a:pt x="136" y="484"/>
                      </a:lnTo>
                      <a:lnTo>
                        <a:pt x="104" y="514"/>
                      </a:lnTo>
                      <a:lnTo>
                        <a:pt x="58" y="542"/>
                      </a:lnTo>
                      <a:lnTo>
                        <a:pt x="0" y="593"/>
                      </a:lnTo>
                      <a:lnTo>
                        <a:pt x="58" y="507"/>
                      </a:lnTo>
                      <a:lnTo>
                        <a:pt x="165" y="420"/>
                      </a:lnTo>
                      <a:lnTo>
                        <a:pt x="234" y="380"/>
                      </a:lnTo>
                      <a:lnTo>
                        <a:pt x="295" y="364"/>
                      </a:lnTo>
                      <a:lnTo>
                        <a:pt x="348" y="368"/>
                      </a:lnTo>
                      <a:lnTo>
                        <a:pt x="402" y="355"/>
                      </a:lnTo>
                      <a:lnTo>
                        <a:pt x="487" y="332"/>
                      </a:lnTo>
                      <a:lnTo>
                        <a:pt x="593" y="288"/>
                      </a:lnTo>
                      <a:lnTo>
                        <a:pt x="694" y="239"/>
                      </a:lnTo>
                      <a:lnTo>
                        <a:pt x="753" y="210"/>
                      </a:lnTo>
                      <a:lnTo>
                        <a:pt x="785" y="168"/>
                      </a:lnTo>
                      <a:lnTo>
                        <a:pt x="801" y="116"/>
                      </a:lnTo>
                      <a:lnTo>
                        <a:pt x="798" y="62"/>
                      </a:lnTo>
                      <a:lnTo>
                        <a:pt x="785" y="0"/>
                      </a:lnTo>
                      <a:lnTo>
                        <a:pt x="846" y="68"/>
                      </a:lnTo>
                      <a:lnTo>
                        <a:pt x="896" y="145"/>
                      </a:lnTo>
                      <a:lnTo>
                        <a:pt x="953" y="245"/>
                      </a:lnTo>
                      <a:lnTo>
                        <a:pt x="979" y="300"/>
                      </a:lnTo>
                      <a:lnTo>
                        <a:pt x="1006" y="348"/>
                      </a:lnTo>
                      <a:lnTo>
                        <a:pt x="1041" y="401"/>
                      </a:lnTo>
                      <a:lnTo>
                        <a:pt x="1061"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5" name="Freeform 1689">
                  <a:extLst>
                    <a:ext uri="{FF2B5EF4-FFF2-40B4-BE49-F238E27FC236}">
                      <a16:creationId xmlns:a16="http://schemas.microsoft.com/office/drawing/2014/main" id="{73F7C3C1-2EED-48D8-AD43-74AC1AF02A40}"/>
                    </a:ext>
                  </a:extLst>
                </p:cNvPr>
                <p:cNvSpPr>
                  <a:spLocks/>
                </p:cNvSpPr>
                <p:nvPr/>
              </p:nvSpPr>
              <p:spPr bwMode="auto">
                <a:xfrm>
                  <a:off x="2093" y="3699"/>
                  <a:ext cx="24" cy="15"/>
                </a:xfrm>
                <a:custGeom>
                  <a:avLst/>
                  <a:gdLst>
                    <a:gd name="T0" fmla="*/ 0 w 288"/>
                    <a:gd name="T1" fmla="*/ 0 h 181"/>
                    <a:gd name="T2" fmla="*/ 0 w 288"/>
                    <a:gd name="T3" fmla="*/ 0 h 181"/>
                    <a:gd name="T4" fmla="*/ 0 w 288"/>
                    <a:gd name="T5" fmla="*/ 0 h 181"/>
                    <a:gd name="T6" fmla="*/ 0 w 288"/>
                    <a:gd name="T7" fmla="*/ 0 h 181"/>
                    <a:gd name="T8" fmla="*/ 0 w 288"/>
                    <a:gd name="T9" fmla="*/ 0 h 181"/>
                    <a:gd name="T10" fmla="*/ 0 w 288"/>
                    <a:gd name="T11" fmla="*/ 0 h 181"/>
                    <a:gd name="T12" fmla="*/ 0 w 288"/>
                    <a:gd name="T13" fmla="*/ 0 h 181"/>
                    <a:gd name="T14" fmla="*/ 0 w 288"/>
                    <a:gd name="T15" fmla="*/ 0 h 181"/>
                    <a:gd name="T16" fmla="*/ 0 w 288"/>
                    <a:gd name="T17" fmla="*/ 0 h 181"/>
                    <a:gd name="T18" fmla="*/ 0 w 288"/>
                    <a:gd name="T19" fmla="*/ 0 h 181"/>
                    <a:gd name="T20" fmla="*/ 0 w 288"/>
                    <a:gd name="T21" fmla="*/ 0 h 181"/>
                    <a:gd name="T22" fmla="*/ 0 w 288"/>
                    <a:gd name="T23" fmla="*/ 0 h 181"/>
                    <a:gd name="T24" fmla="*/ 0 w 288"/>
                    <a:gd name="T25" fmla="*/ 0 h 181"/>
                    <a:gd name="T26" fmla="*/ 0 w 288"/>
                    <a:gd name="T27" fmla="*/ 0 h 181"/>
                    <a:gd name="T28" fmla="*/ 0 w 288"/>
                    <a:gd name="T29" fmla="*/ 0 h 181"/>
                    <a:gd name="T30" fmla="*/ 0 w 288"/>
                    <a:gd name="T31" fmla="*/ 0 h 181"/>
                    <a:gd name="T32" fmla="*/ 0 w 288"/>
                    <a:gd name="T33" fmla="*/ 0 h 181"/>
                    <a:gd name="T34" fmla="*/ 0 w 288"/>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8"/>
                    <a:gd name="T55" fmla="*/ 0 h 181"/>
                    <a:gd name="T56" fmla="*/ 288 w 288"/>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8" h="181">
                      <a:moveTo>
                        <a:pt x="176" y="10"/>
                      </a:moveTo>
                      <a:lnTo>
                        <a:pt x="209" y="20"/>
                      </a:lnTo>
                      <a:lnTo>
                        <a:pt x="246" y="33"/>
                      </a:lnTo>
                      <a:lnTo>
                        <a:pt x="288" y="53"/>
                      </a:lnTo>
                      <a:lnTo>
                        <a:pt x="258" y="67"/>
                      </a:lnTo>
                      <a:lnTo>
                        <a:pt x="203" y="91"/>
                      </a:lnTo>
                      <a:lnTo>
                        <a:pt x="143" y="124"/>
                      </a:lnTo>
                      <a:lnTo>
                        <a:pt x="103" y="161"/>
                      </a:lnTo>
                      <a:lnTo>
                        <a:pt x="79" y="181"/>
                      </a:lnTo>
                      <a:lnTo>
                        <a:pt x="106"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6" name="Freeform 1690">
                  <a:extLst>
                    <a:ext uri="{FF2B5EF4-FFF2-40B4-BE49-F238E27FC236}">
                      <a16:creationId xmlns:a16="http://schemas.microsoft.com/office/drawing/2014/main" id="{3EEB22F7-D676-4130-B649-243250AA7639}"/>
                    </a:ext>
                  </a:extLst>
                </p:cNvPr>
                <p:cNvSpPr>
                  <a:spLocks/>
                </p:cNvSpPr>
                <p:nvPr/>
              </p:nvSpPr>
              <p:spPr bwMode="auto">
                <a:xfrm>
                  <a:off x="2115" y="3659"/>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4" y="166"/>
                      </a:lnTo>
                      <a:lnTo>
                        <a:pt x="365" y="206"/>
                      </a:lnTo>
                      <a:lnTo>
                        <a:pt x="314" y="255"/>
                      </a:lnTo>
                      <a:lnTo>
                        <a:pt x="264" y="332"/>
                      </a:lnTo>
                      <a:lnTo>
                        <a:pt x="242" y="385"/>
                      </a:lnTo>
                      <a:lnTo>
                        <a:pt x="258" y="434"/>
                      </a:lnTo>
                      <a:lnTo>
                        <a:pt x="193" y="388"/>
                      </a:lnTo>
                      <a:lnTo>
                        <a:pt x="130" y="365"/>
                      </a:lnTo>
                      <a:lnTo>
                        <a:pt x="81" y="345"/>
                      </a:lnTo>
                      <a:lnTo>
                        <a:pt x="32" y="329"/>
                      </a:lnTo>
                      <a:lnTo>
                        <a:pt x="0" y="313"/>
                      </a:lnTo>
                      <a:lnTo>
                        <a:pt x="42" y="255"/>
                      </a:lnTo>
                      <a:lnTo>
                        <a:pt x="81" y="283"/>
                      </a:lnTo>
                      <a:lnTo>
                        <a:pt x="143" y="313"/>
                      </a:lnTo>
                      <a:lnTo>
                        <a:pt x="196" y="313"/>
                      </a:lnTo>
                      <a:lnTo>
                        <a:pt x="245" y="304"/>
                      </a:lnTo>
                      <a:lnTo>
                        <a:pt x="274" y="293"/>
                      </a:lnTo>
                      <a:lnTo>
                        <a:pt x="304" y="274"/>
                      </a:lnTo>
                      <a:lnTo>
                        <a:pt x="314" y="212"/>
                      </a:lnTo>
                      <a:lnTo>
                        <a:pt x="304" y="166"/>
                      </a:lnTo>
                      <a:lnTo>
                        <a:pt x="274" y="108"/>
                      </a:lnTo>
                      <a:lnTo>
                        <a:pt x="264" y="78"/>
                      </a:lnTo>
                      <a:lnTo>
                        <a:pt x="307" y="68"/>
                      </a:lnTo>
                      <a:lnTo>
                        <a:pt x="362" y="52"/>
                      </a:lnTo>
                      <a:lnTo>
                        <a:pt x="398" y="9"/>
                      </a:lnTo>
                      <a:lnTo>
                        <a:pt x="431" y="0"/>
                      </a:lnTo>
                      <a:lnTo>
                        <a:pt x="467" y="55"/>
                      </a:lnTo>
                      <a:lnTo>
                        <a:pt x="499"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09" name="Group 1691">
              <a:extLst>
                <a:ext uri="{FF2B5EF4-FFF2-40B4-BE49-F238E27FC236}">
                  <a16:creationId xmlns:a16="http://schemas.microsoft.com/office/drawing/2014/main" id="{F1098DFB-6F09-4618-A4FE-F84F1339FBFB}"/>
                </a:ext>
              </a:extLst>
            </p:cNvPr>
            <p:cNvGrpSpPr>
              <a:grpSpLocks/>
            </p:cNvGrpSpPr>
            <p:nvPr/>
          </p:nvGrpSpPr>
          <p:grpSpPr bwMode="auto">
            <a:xfrm>
              <a:off x="2117" y="3557"/>
              <a:ext cx="140" cy="274"/>
              <a:chOff x="2117" y="3557"/>
              <a:chExt cx="140" cy="274"/>
            </a:xfrm>
          </p:grpSpPr>
          <p:sp>
            <p:nvSpPr>
              <p:cNvPr id="421" name="Freeform 1692">
                <a:extLst>
                  <a:ext uri="{FF2B5EF4-FFF2-40B4-BE49-F238E27FC236}">
                    <a16:creationId xmlns:a16="http://schemas.microsoft.com/office/drawing/2014/main" id="{858DE19F-84F9-4496-8EDC-71A84A6194A4}"/>
                  </a:ext>
                </a:extLst>
              </p:cNvPr>
              <p:cNvSpPr>
                <a:spLocks/>
              </p:cNvSpPr>
              <p:nvPr/>
            </p:nvSpPr>
            <p:spPr bwMode="auto">
              <a:xfrm>
                <a:off x="2126" y="3753"/>
                <a:ext cx="129"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7"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422" name="Freeform 1693">
                <a:extLst>
                  <a:ext uri="{FF2B5EF4-FFF2-40B4-BE49-F238E27FC236}">
                    <a16:creationId xmlns:a16="http://schemas.microsoft.com/office/drawing/2014/main" id="{9A85A285-CAC7-4E57-8678-5B6F6B130F5D}"/>
                  </a:ext>
                </a:extLst>
              </p:cNvPr>
              <p:cNvSpPr>
                <a:spLocks/>
              </p:cNvSpPr>
              <p:nvPr/>
            </p:nvSpPr>
            <p:spPr bwMode="auto">
              <a:xfrm>
                <a:off x="2172" y="3787"/>
                <a:ext cx="85"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6" y="179"/>
                    </a:lnTo>
                    <a:lnTo>
                      <a:pt x="944" y="523"/>
                    </a:lnTo>
                    <a:lnTo>
                      <a:pt x="963" y="528"/>
                    </a:lnTo>
                    <a:lnTo>
                      <a:pt x="980" y="523"/>
                    </a:lnTo>
                    <a:lnTo>
                      <a:pt x="995" y="505"/>
                    </a:lnTo>
                    <a:lnTo>
                      <a:pt x="1014" y="461"/>
                    </a:lnTo>
                    <a:lnTo>
                      <a:pt x="1023" y="428"/>
                    </a:lnTo>
                    <a:lnTo>
                      <a:pt x="1027" y="398"/>
                    </a:lnTo>
                    <a:lnTo>
                      <a:pt x="1019" y="366"/>
                    </a:lnTo>
                    <a:lnTo>
                      <a:pt x="999"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423" name="Freeform 1694">
                <a:extLst>
                  <a:ext uri="{FF2B5EF4-FFF2-40B4-BE49-F238E27FC236}">
                    <a16:creationId xmlns:a16="http://schemas.microsoft.com/office/drawing/2014/main" id="{A7F9FD6E-2D27-4517-BC67-553E6CD575D6}"/>
                  </a:ext>
                </a:extLst>
              </p:cNvPr>
              <p:cNvSpPr>
                <a:spLocks/>
              </p:cNvSpPr>
              <p:nvPr/>
            </p:nvSpPr>
            <p:spPr bwMode="auto">
              <a:xfrm>
                <a:off x="2117" y="3557"/>
                <a:ext cx="123" cy="245"/>
              </a:xfrm>
              <a:custGeom>
                <a:avLst/>
                <a:gdLst>
                  <a:gd name="T0" fmla="*/ 0 w 1479"/>
                  <a:gd name="T1" fmla="*/ 0 h 2948"/>
                  <a:gd name="T2" fmla="*/ 0 w 1479"/>
                  <a:gd name="T3" fmla="*/ 0 h 2948"/>
                  <a:gd name="T4" fmla="*/ 0 w 1479"/>
                  <a:gd name="T5" fmla="*/ 0 h 2948"/>
                  <a:gd name="T6" fmla="*/ 0 w 1479"/>
                  <a:gd name="T7" fmla="*/ 0 h 2948"/>
                  <a:gd name="T8" fmla="*/ 0 w 1479"/>
                  <a:gd name="T9" fmla="*/ 0 h 2948"/>
                  <a:gd name="T10" fmla="*/ 0 w 1479"/>
                  <a:gd name="T11" fmla="*/ 0 h 2948"/>
                  <a:gd name="T12" fmla="*/ 0 w 1479"/>
                  <a:gd name="T13" fmla="*/ 0 h 2948"/>
                  <a:gd name="T14" fmla="*/ 0 w 1479"/>
                  <a:gd name="T15" fmla="*/ 0 h 2948"/>
                  <a:gd name="T16" fmla="*/ 0 w 1479"/>
                  <a:gd name="T17" fmla="*/ 0 h 2948"/>
                  <a:gd name="T18" fmla="*/ 0 w 1479"/>
                  <a:gd name="T19" fmla="*/ 0 h 2948"/>
                  <a:gd name="T20" fmla="*/ 0 w 1479"/>
                  <a:gd name="T21" fmla="*/ 0 h 2948"/>
                  <a:gd name="T22" fmla="*/ 0 w 1479"/>
                  <a:gd name="T23" fmla="*/ 0 h 2948"/>
                  <a:gd name="T24" fmla="*/ 0 w 1479"/>
                  <a:gd name="T25" fmla="*/ 0 h 2948"/>
                  <a:gd name="T26" fmla="*/ 0 w 1479"/>
                  <a:gd name="T27" fmla="*/ 0 h 2948"/>
                  <a:gd name="T28" fmla="*/ 0 w 1479"/>
                  <a:gd name="T29" fmla="*/ 0 h 2948"/>
                  <a:gd name="T30" fmla="*/ 0 w 1479"/>
                  <a:gd name="T31" fmla="*/ 0 h 2948"/>
                  <a:gd name="T32" fmla="*/ 0 w 1479"/>
                  <a:gd name="T33" fmla="*/ 0 h 2948"/>
                  <a:gd name="T34" fmla="*/ 0 w 1479"/>
                  <a:gd name="T35" fmla="*/ 0 h 2948"/>
                  <a:gd name="T36" fmla="*/ 0 w 1479"/>
                  <a:gd name="T37" fmla="*/ 0 h 2948"/>
                  <a:gd name="T38" fmla="*/ 0 w 1479"/>
                  <a:gd name="T39" fmla="*/ 0 h 2948"/>
                  <a:gd name="T40" fmla="*/ 0 w 1479"/>
                  <a:gd name="T41" fmla="*/ 0 h 2948"/>
                  <a:gd name="T42" fmla="*/ 0 w 1479"/>
                  <a:gd name="T43" fmla="*/ 0 h 2948"/>
                  <a:gd name="T44" fmla="*/ 0 w 1479"/>
                  <a:gd name="T45" fmla="*/ 0 h 2948"/>
                  <a:gd name="T46" fmla="*/ 0 w 1479"/>
                  <a:gd name="T47" fmla="*/ 0 h 2948"/>
                  <a:gd name="T48" fmla="*/ 0 w 1479"/>
                  <a:gd name="T49" fmla="*/ 0 h 2948"/>
                  <a:gd name="T50" fmla="*/ 0 w 1479"/>
                  <a:gd name="T51" fmla="*/ 0 h 2948"/>
                  <a:gd name="T52" fmla="*/ 0 w 1479"/>
                  <a:gd name="T53" fmla="*/ 0 h 2948"/>
                  <a:gd name="T54" fmla="*/ 0 w 1479"/>
                  <a:gd name="T55" fmla="*/ 0 h 2948"/>
                  <a:gd name="T56" fmla="*/ 0 w 1479"/>
                  <a:gd name="T57" fmla="*/ 0 h 2948"/>
                  <a:gd name="T58" fmla="*/ 0 w 1479"/>
                  <a:gd name="T59" fmla="*/ 0 h 2948"/>
                  <a:gd name="T60" fmla="*/ 0 w 1479"/>
                  <a:gd name="T61" fmla="*/ 0 h 2948"/>
                  <a:gd name="T62" fmla="*/ 0 w 1479"/>
                  <a:gd name="T63" fmla="*/ 0 h 2948"/>
                  <a:gd name="T64" fmla="*/ 0 w 1479"/>
                  <a:gd name="T65" fmla="*/ 0 h 2948"/>
                  <a:gd name="T66" fmla="*/ 0 w 1479"/>
                  <a:gd name="T67" fmla="*/ 0 h 2948"/>
                  <a:gd name="T68" fmla="*/ 0 w 1479"/>
                  <a:gd name="T69" fmla="*/ 0 h 2948"/>
                  <a:gd name="T70" fmla="*/ 0 w 1479"/>
                  <a:gd name="T71" fmla="*/ 0 h 2948"/>
                  <a:gd name="T72" fmla="*/ 0 w 1479"/>
                  <a:gd name="T73" fmla="*/ 0 h 2948"/>
                  <a:gd name="T74" fmla="*/ 0 w 1479"/>
                  <a:gd name="T75" fmla="*/ 0 h 2948"/>
                  <a:gd name="T76" fmla="*/ 0 w 1479"/>
                  <a:gd name="T77" fmla="*/ 0 h 2948"/>
                  <a:gd name="T78" fmla="*/ 0 w 1479"/>
                  <a:gd name="T79" fmla="*/ 0 h 2948"/>
                  <a:gd name="T80" fmla="*/ 0 w 1479"/>
                  <a:gd name="T81" fmla="*/ 0 h 2948"/>
                  <a:gd name="T82" fmla="*/ 0 w 1479"/>
                  <a:gd name="T83" fmla="*/ 0 h 2948"/>
                  <a:gd name="T84" fmla="*/ 0 w 1479"/>
                  <a:gd name="T85" fmla="*/ 0 h 2948"/>
                  <a:gd name="T86" fmla="*/ 0 w 1479"/>
                  <a:gd name="T87" fmla="*/ 0 h 2948"/>
                  <a:gd name="T88" fmla="*/ 0 w 1479"/>
                  <a:gd name="T89" fmla="*/ 0 h 2948"/>
                  <a:gd name="T90" fmla="*/ 0 w 1479"/>
                  <a:gd name="T91" fmla="*/ 0 h 2948"/>
                  <a:gd name="T92" fmla="*/ 0 w 1479"/>
                  <a:gd name="T93" fmla="*/ 0 h 2948"/>
                  <a:gd name="T94" fmla="*/ 0 w 1479"/>
                  <a:gd name="T95" fmla="*/ 0 h 2948"/>
                  <a:gd name="T96" fmla="*/ 0 w 1479"/>
                  <a:gd name="T97" fmla="*/ 0 h 2948"/>
                  <a:gd name="T98" fmla="*/ 0 w 1479"/>
                  <a:gd name="T99" fmla="*/ 0 h 2948"/>
                  <a:gd name="T100" fmla="*/ 0 w 1479"/>
                  <a:gd name="T101" fmla="*/ 0 h 2948"/>
                  <a:gd name="T102" fmla="*/ 0 w 1479"/>
                  <a:gd name="T103" fmla="*/ 0 h 2948"/>
                  <a:gd name="T104" fmla="*/ 0 w 1479"/>
                  <a:gd name="T105" fmla="*/ 0 h 2948"/>
                  <a:gd name="T106" fmla="*/ 0 w 1479"/>
                  <a:gd name="T107" fmla="*/ 0 h 2948"/>
                  <a:gd name="T108" fmla="*/ 0 w 1479"/>
                  <a:gd name="T109" fmla="*/ 0 h 2948"/>
                  <a:gd name="T110" fmla="*/ 0 w 1479"/>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9"/>
                  <a:gd name="T169" fmla="*/ 0 h 2948"/>
                  <a:gd name="T170" fmla="*/ 1479 w 1479"/>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9" h="2948">
                    <a:moveTo>
                      <a:pt x="1479" y="384"/>
                    </a:moveTo>
                    <a:lnTo>
                      <a:pt x="1476" y="353"/>
                    </a:lnTo>
                    <a:lnTo>
                      <a:pt x="1461" y="332"/>
                    </a:lnTo>
                    <a:lnTo>
                      <a:pt x="1438" y="306"/>
                    </a:lnTo>
                    <a:lnTo>
                      <a:pt x="1360" y="255"/>
                    </a:lnTo>
                    <a:lnTo>
                      <a:pt x="1008" y="61"/>
                    </a:lnTo>
                    <a:lnTo>
                      <a:pt x="958" y="38"/>
                    </a:lnTo>
                    <a:lnTo>
                      <a:pt x="926" y="23"/>
                    </a:lnTo>
                    <a:lnTo>
                      <a:pt x="886" y="10"/>
                    </a:lnTo>
                    <a:lnTo>
                      <a:pt x="861" y="3"/>
                    </a:lnTo>
                    <a:lnTo>
                      <a:pt x="825" y="0"/>
                    </a:lnTo>
                    <a:lnTo>
                      <a:pt x="792" y="3"/>
                    </a:lnTo>
                    <a:lnTo>
                      <a:pt x="767" y="6"/>
                    </a:lnTo>
                    <a:lnTo>
                      <a:pt x="730" y="16"/>
                    </a:lnTo>
                    <a:lnTo>
                      <a:pt x="695" y="32"/>
                    </a:lnTo>
                    <a:lnTo>
                      <a:pt x="663" y="54"/>
                    </a:lnTo>
                    <a:lnTo>
                      <a:pt x="630" y="74"/>
                    </a:lnTo>
                    <a:lnTo>
                      <a:pt x="598" y="95"/>
                    </a:lnTo>
                    <a:lnTo>
                      <a:pt x="562" y="121"/>
                    </a:lnTo>
                    <a:lnTo>
                      <a:pt x="528" y="154"/>
                    </a:lnTo>
                    <a:lnTo>
                      <a:pt x="509" y="175"/>
                    </a:lnTo>
                    <a:lnTo>
                      <a:pt x="492" y="201"/>
                    </a:lnTo>
                    <a:lnTo>
                      <a:pt x="481" y="238"/>
                    </a:lnTo>
                    <a:lnTo>
                      <a:pt x="10" y="2307"/>
                    </a:lnTo>
                    <a:lnTo>
                      <a:pt x="0" y="2349"/>
                    </a:lnTo>
                    <a:lnTo>
                      <a:pt x="0" y="2370"/>
                    </a:lnTo>
                    <a:lnTo>
                      <a:pt x="0" y="2396"/>
                    </a:lnTo>
                    <a:lnTo>
                      <a:pt x="1" y="2422"/>
                    </a:lnTo>
                    <a:lnTo>
                      <a:pt x="11" y="2466"/>
                    </a:lnTo>
                    <a:lnTo>
                      <a:pt x="19" y="2485"/>
                    </a:lnTo>
                    <a:lnTo>
                      <a:pt x="38" y="2518"/>
                    </a:lnTo>
                    <a:lnTo>
                      <a:pt x="51" y="2540"/>
                    </a:lnTo>
                    <a:lnTo>
                      <a:pt x="79" y="2571"/>
                    </a:lnTo>
                    <a:lnTo>
                      <a:pt x="111" y="2598"/>
                    </a:lnTo>
                    <a:lnTo>
                      <a:pt x="155" y="2627"/>
                    </a:lnTo>
                    <a:lnTo>
                      <a:pt x="190" y="2650"/>
                    </a:lnTo>
                    <a:lnTo>
                      <a:pt x="717" y="2948"/>
                    </a:lnTo>
                    <a:lnTo>
                      <a:pt x="708" y="2916"/>
                    </a:lnTo>
                    <a:lnTo>
                      <a:pt x="707" y="2885"/>
                    </a:lnTo>
                    <a:lnTo>
                      <a:pt x="712" y="2861"/>
                    </a:lnTo>
                    <a:lnTo>
                      <a:pt x="721" y="2833"/>
                    </a:lnTo>
                    <a:lnTo>
                      <a:pt x="735" y="2805"/>
                    </a:lnTo>
                    <a:lnTo>
                      <a:pt x="753" y="2783"/>
                    </a:lnTo>
                    <a:lnTo>
                      <a:pt x="778" y="2769"/>
                    </a:lnTo>
                    <a:lnTo>
                      <a:pt x="194" y="2433"/>
                    </a:lnTo>
                    <a:lnTo>
                      <a:pt x="175" y="2417"/>
                    </a:lnTo>
                    <a:lnTo>
                      <a:pt x="168" y="2407"/>
                    </a:lnTo>
                    <a:lnTo>
                      <a:pt x="162" y="2391"/>
                    </a:lnTo>
                    <a:lnTo>
                      <a:pt x="157" y="2359"/>
                    </a:lnTo>
                    <a:lnTo>
                      <a:pt x="157" y="2339"/>
                    </a:lnTo>
                    <a:lnTo>
                      <a:pt x="444" y="1110"/>
                    </a:lnTo>
                    <a:lnTo>
                      <a:pt x="473" y="1055"/>
                    </a:lnTo>
                    <a:lnTo>
                      <a:pt x="501" y="1024"/>
                    </a:lnTo>
                    <a:lnTo>
                      <a:pt x="547" y="976"/>
                    </a:lnTo>
                    <a:lnTo>
                      <a:pt x="583" y="941"/>
                    </a:lnTo>
                    <a:lnTo>
                      <a:pt x="1479" y="384"/>
                    </a:lnTo>
                    <a:close/>
                  </a:path>
                </a:pathLst>
              </a:custGeom>
              <a:solidFill>
                <a:srgbClr val="808080"/>
              </a:solidFill>
              <a:ln w="1588">
                <a:solidFill>
                  <a:srgbClr val="000000"/>
                </a:solidFill>
                <a:prstDash val="solid"/>
                <a:round/>
                <a:headEnd/>
                <a:tailEnd/>
              </a:ln>
            </p:spPr>
            <p:txBody>
              <a:bodyPr/>
              <a:lstStyle/>
              <a:p>
                <a:endParaRPr lang="en-US"/>
              </a:p>
            </p:txBody>
          </p:sp>
          <p:sp>
            <p:nvSpPr>
              <p:cNvPr id="424" name="Freeform 1695">
                <a:extLst>
                  <a:ext uri="{FF2B5EF4-FFF2-40B4-BE49-F238E27FC236}">
                    <a16:creationId xmlns:a16="http://schemas.microsoft.com/office/drawing/2014/main" id="{B04170A7-FC14-43D0-A41E-BEF91BD1800E}"/>
                  </a:ext>
                </a:extLst>
              </p:cNvPr>
              <p:cNvSpPr>
                <a:spLocks/>
              </p:cNvSpPr>
              <p:nvPr/>
            </p:nvSpPr>
            <p:spPr bwMode="auto">
              <a:xfrm>
                <a:off x="2166" y="3561"/>
                <a:ext cx="78" cy="109"/>
              </a:xfrm>
              <a:custGeom>
                <a:avLst/>
                <a:gdLst>
                  <a:gd name="T0" fmla="*/ 0 w 928"/>
                  <a:gd name="T1" fmla="*/ 0 h 1304"/>
                  <a:gd name="T2" fmla="*/ 0 w 928"/>
                  <a:gd name="T3" fmla="*/ 0 h 1304"/>
                  <a:gd name="T4" fmla="*/ 0 w 928"/>
                  <a:gd name="T5" fmla="*/ 0 h 1304"/>
                  <a:gd name="T6" fmla="*/ 0 w 928"/>
                  <a:gd name="T7" fmla="*/ 0 h 1304"/>
                  <a:gd name="T8" fmla="*/ 0 w 928"/>
                  <a:gd name="T9" fmla="*/ 0 h 1304"/>
                  <a:gd name="T10" fmla="*/ 0 w 928"/>
                  <a:gd name="T11" fmla="*/ 0 h 1304"/>
                  <a:gd name="T12" fmla="*/ 0 w 928"/>
                  <a:gd name="T13" fmla="*/ 0 h 1304"/>
                  <a:gd name="T14" fmla="*/ 0 w 928"/>
                  <a:gd name="T15" fmla="*/ 0 h 1304"/>
                  <a:gd name="T16" fmla="*/ 0 w 928"/>
                  <a:gd name="T17" fmla="*/ 0 h 1304"/>
                  <a:gd name="T18" fmla="*/ 0 w 928"/>
                  <a:gd name="T19" fmla="*/ 0 h 1304"/>
                  <a:gd name="T20" fmla="*/ 0 w 928"/>
                  <a:gd name="T21" fmla="*/ 0 h 1304"/>
                  <a:gd name="T22" fmla="*/ 0 w 928"/>
                  <a:gd name="T23" fmla="*/ 0 h 1304"/>
                  <a:gd name="T24" fmla="*/ 0 w 928"/>
                  <a:gd name="T25" fmla="*/ 0 h 1304"/>
                  <a:gd name="T26" fmla="*/ 0 w 928"/>
                  <a:gd name="T27" fmla="*/ 0 h 1304"/>
                  <a:gd name="T28" fmla="*/ 0 w 928"/>
                  <a:gd name="T29" fmla="*/ 0 h 1304"/>
                  <a:gd name="T30" fmla="*/ 0 w 928"/>
                  <a:gd name="T31" fmla="*/ 0 h 1304"/>
                  <a:gd name="T32" fmla="*/ 0 w 928"/>
                  <a:gd name="T33" fmla="*/ 0 h 1304"/>
                  <a:gd name="T34" fmla="*/ 0 w 928"/>
                  <a:gd name="T35" fmla="*/ 0 h 1304"/>
                  <a:gd name="T36" fmla="*/ 0 w 928"/>
                  <a:gd name="T37" fmla="*/ 0 h 1304"/>
                  <a:gd name="T38" fmla="*/ 0 w 928"/>
                  <a:gd name="T39" fmla="*/ 0 h 1304"/>
                  <a:gd name="T40" fmla="*/ 0 w 928"/>
                  <a:gd name="T41" fmla="*/ 0 h 1304"/>
                  <a:gd name="T42" fmla="*/ 0 w 928"/>
                  <a:gd name="T43" fmla="*/ 0 h 1304"/>
                  <a:gd name="T44" fmla="*/ 0 w 928"/>
                  <a:gd name="T45" fmla="*/ 0 h 1304"/>
                  <a:gd name="T46" fmla="*/ 0 w 928"/>
                  <a:gd name="T47" fmla="*/ 0 h 1304"/>
                  <a:gd name="T48" fmla="*/ 0 w 928"/>
                  <a:gd name="T49" fmla="*/ 0 h 1304"/>
                  <a:gd name="T50" fmla="*/ 0 w 928"/>
                  <a:gd name="T51" fmla="*/ 0 h 1304"/>
                  <a:gd name="T52" fmla="*/ 0 w 928"/>
                  <a:gd name="T53" fmla="*/ 0 h 1304"/>
                  <a:gd name="T54" fmla="*/ 0 w 928"/>
                  <a:gd name="T55" fmla="*/ 0 h 1304"/>
                  <a:gd name="T56" fmla="*/ 0 w 928"/>
                  <a:gd name="T57" fmla="*/ 0 h 1304"/>
                  <a:gd name="T58" fmla="*/ 0 w 928"/>
                  <a:gd name="T59" fmla="*/ 0 h 1304"/>
                  <a:gd name="T60" fmla="*/ 0 w 928"/>
                  <a:gd name="T61" fmla="*/ 0 h 1304"/>
                  <a:gd name="T62" fmla="*/ 0 w 928"/>
                  <a:gd name="T63" fmla="*/ 0 h 1304"/>
                  <a:gd name="T64" fmla="*/ 0 w 928"/>
                  <a:gd name="T65" fmla="*/ 0 h 1304"/>
                  <a:gd name="T66" fmla="*/ 0 w 928"/>
                  <a:gd name="T67" fmla="*/ 0 h 1304"/>
                  <a:gd name="T68" fmla="*/ 0 w 928"/>
                  <a:gd name="T69" fmla="*/ 0 h 1304"/>
                  <a:gd name="T70" fmla="*/ 0 w 928"/>
                  <a:gd name="T71" fmla="*/ 0 h 1304"/>
                  <a:gd name="T72" fmla="*/ 0 w 928"/>
                  <a:gd name="T73" fmla="*/ 0 h 1304"/>
                  <a:gd name="T74" fmla="*/ 0 w 928"/>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8"/>
                  <a:gd name="T115" fmla="*/ 0 h 1304"/>
                  <a:gd name="T116" fmla="*/ 928 w 928"/>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8" h="1304">
                    <a:moveTo>
                      <a:pt x="898" y="351"/>
                    </a:moveTo>
                    <a:lnTo>
                      <a:pt x="868" y="315"/>
                    </a:lnTo>
                    <a:lnTo>
                      <a:pt x="821" y="278"/>
                    </a:lnTo>
                    <a:lnTo>
                      <a:pt x="755" y="241"/>
                    </a:lnTo>
                    <a:lnTo>
                      <a:pt x="586" y="148"/>
                    </a:lnTo>
                    <a:lnTo>
                      <a:pt x="400" y="53"/>
                    </a:lnTo>
                    <a:lnTo>
                      <a:pt x="335" y="21"/>
                    </a:lnTo>
                    <a:lnTo>
                      <a:pt x="290" y="6"/>
                    </a:lnTo>
                    <a:lnTo>
                      <a:pt x="255" y="0"/>
                    </a:lnTo>
                    <a:lnTo>
                      <a:pt x="228" y="0"/>
                    </a:lnTo>
                    <a:lnTo>
                      <a:pt x="205" y="5"/>
                    </a:lnTo>
                    <a:lnTo>
                      <a:pt x="182" y="21"/>
                    </a:lnTo>
                    <a:lnTo>
                      <a:pt x="164" y="41"/>
                    </a:lnTo>
                    <a:lnTo>
                      <a:pt x="148" y="76"/>
                    </a:lnTo>
                    <a:lnTo>
                      <a:pt x="0" y="833"/>
                    </a:lnTo>
                    <a:lnTo>
                      <a:pt x="0" y="865"/>
                    </a:lnTo>
                    <a:lnTo>
                      <a:pt x="0" y="906"/>
                    </a:lnTo>
                    <a:lnTo>
                      <a:pt x="7" y="936"/>
                    </a:lnTo>
                    <a:lnTo>
                      <a:pt x="16" y="957"/>
                    </a:lnTo>
                    <a:lnTo>
                      <a:pt x="29" y="978"/>
                    </a:lnTo>
                    <a:lnTo>
                      <a:pt x="57" y="1004"/>
                    </a:lnTo>
                    <a:lnTo>
                      <a:pt x="85" y="1022"/>
                    </a:lnTo>
                    <a:lnTo>
                      <a:pt x="118" y="1041"/>
                    </a:lnTo>
                    <a:lnTo>
                      <a:pt x="558" y="1267"/>
                    </a:lnTo>
                    <a:lnTo>
                      <a:pt x="599" y="1285"/>
                    </a:lnTo>
                    <a:lnTo>
                      <a:pt x="636" y="1295"/>
                    </a:lnTo>
                    <a:lnTo>
                      <a:pt x="678" y="1304"/>
                    </a:lnTo>
                    <a:lnTo>
                      <a:pt x="706" y="1304"/>
                    </a:lnTo>
                    <a:lnTo>
                      <a:pt x="734" y="1295"/>
                    </a:lnTo>
                    <a:lnTo>
                      <a:pt x="755" y="1269"/>
                    </a:lnTo>
                    <a:lnTo>
                      <a:pt x="767" y="1222"/>
                    </a:lnTo>
                    <a:lnTo>
                      <a:pt x="784" y="1162"/>
                    </a:lnTo>
                    <a:lnTo>
                      <a:pt x="860" y="833"/>
                    </a:lnTo>
                    <a:lnTo>
                      <a:pt x="916" y="507"/>
                    </a:lnTo>
                    <a:lnTo>
                      <a:pt x="928" y="431"/>
                    </a:lnTo>
                    <a:lnTo>
                      <a:pt x="925" y="403"/>
                    </a:lnTo>
                    <a:lnTo>
                      <a:pt x="917" y="379"/>
                    </a:lnTo>
                    <a:lnTo>
                      <a:pt x="898" y="351"/>
                    </a:lnTo>
                    <a:close/>
                  </a:path>
                </a:pathLst>
              </a:custGeom>
              <a:solidFill>
                <a:srgbClr val="606060"/>
              </a:solidFill>
              <a:ln w="1588">
                <a:solidFill>
                  <a:srgbClr val="000000"/>
                </a:solidFill>
                <a:prstDash val="solid"/>
                <a:round/>
                <a:headEnd/>
                <a:tailEnd/>
              </a:ln>
            </p:spPr>
            <p:txBody>
              <a:bodyPr/>
              <a:lstStyle/>
              <a:p>
                <a:endParaRPr lang="en-US"/>
              </a:p>
            </p:txBody>
          </p:sp>
          <p:sp>
            <p:nvSpPr>
              <p:cNvPr id="425" name="Freeform 1696">
                <a:extLst>
                  <a:ext uri="{FF2B5EF4-FFF2-40B4-BE49-F238E27FC236}">
                    <a16:creationId xmlns:a16="http://schemas.microsoft.com/office/drawing/2014/main" id="{3C5D43DF-4ED1-4351-9E09-6FA5F8D036E7}"/>
                  </a:ext>
                </a:extLst>
              </p:cNvPr>
              <p:cNvSpPr>
                <a:spLocks/>
              </p:cNvSpPr>
              <p:nvPr/>
            </p:nvSpPr>
            <p:spPr bwMode="auto">
              <a:xfrm>
                <a:off x="2126" y="3634"/>
                <a:ext cx="101"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10" y="431"/>
                    </a:moveTo>
                    <a:lnTo>
                      <a:pt x="1215" y="426"/>
                    </a:lnTo>
                    <a:lnTo>
                      <a:pt x="1156" y="451"/>
                    </a:lnTo>
                    <a:lnTo>
                      <a:pt x="1119" y="467"/>
                    </a:lnTo>
                    <a:lnTo>
                      <a:pt x="1101" y="478"/>
                    </a:lnTo>
                    <a:lnTo>
                      <a:pt x="1073" y="511"/>
                    </a:lnTo>
                    <a:lnTo>
                      <a:pt x="1053" y="552"/>
                    </a:lnTo>
                    <a:lnTo>
                      <a:pt x="772" y="1702"/>
                    </a:lnTo>
                    <a:lnTo>
                      <a:pt x="0" y="1429"/>
                    </a:lnTo>
                    <a:lnTo>
                      <a:pt x="315" y="31"/>
                    </a:lnTo>
                    <a:lnTo>
                      <a:pt x="481" y="0"/>
                    </a:lnTo>
                    <a:lnTo>
                      <a:pt x="1210"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426" name="Group 1697">
                <a:extLst>
                  <a:ext uri="{FF2B5EF4-FFF2-40B4-BE49-F238E27FC236}">
                    <a16:creationId xmlns:a16="http://schemas.microsoft.com/office/drawing/2014/main" id="{E56B7B16-92F3-4735-8D83-5BA784127A6B}"/>
                  </a:ext>
                </a:extLst>
              </p:cNvPr>
              <p:cNvGrpSpPr>
                <a:grpSpLocks/>
              </p:cNvGrpSpPr>
              <p:nvPr/>
            </p:nvGrpSpPr>
            <p:grpSpPr bwMode="auto">
              <a:xfrm>
                <a:off x="2183" y="3584"/>
                <a:ext cx="52" cy="60"/>
                <a:chOff x="2183" y="3584"/>
                <a:chExt cx="52" cy="60"/>
              </a:xfrm>
            </p:grpSpPr>
            <p:sp>
              <p:nvSpPr>
                <p:cNvPr id="446" name="Oval 1698">
                  <a:extLst>
                    <a:ext uri="{FF2B5EF4-FFF2-40B4-BE49-F238E27FC236}">
                      <a16:creationId xmlns:a16="http://schemas.microsoft.com/office/drawing/2014/main" id="{D3697767-83DD-4B15-A6C9-E91F4E292A6A}"/>
                    </a:ext>
                  </a:extLst>
                </p:cNvPr>
                <p:cNvSpPr>
                  <a:spLocks noChangeArrowheads="1"/>
                </p:cNvSpPr>
                <p:nvPr/>
              </p:nvSpPr>
              <p:spPr bwMode="auto">
                <a:xfrm>
                  <a:off x="2183" y="3584"/>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447" name="Group 1699">
                  <a:extLst>
                    <a:ext uri="{FF2B5EF4-FFF2-40B4-BE49-F238E27FC236}">
                      <a16:creationId xmlns:a16="http://schemas.microsoft.com/office/drawing/2014/main" id="{9145FA3D-393C-47E6-9E4D-A832209C1D95}"/>
                    </a:ext>
                  </a:extLst>
                </p:cNvPr>
                <p:cNvGrpSpPr>
                  <a:grpSpLocks/>
                </p:cNvGrpSpPr>
                <p:nvPr/>
              </p:nvGrpSpPr>
              <p:grpSpPr bwMode="auto">
                <a:xfrm>
                  <a:off x="2196" y="3594"/>
                  <a:ext cx="28" cy="40"/>
                  <a:chOff x="2196" y="3594"/>
                  <a:chExt cx="28" cy="40"/>
                </a:xfrm>
              </p:grpSpPr>
              <p:sp>
                <p:nvSpPr>
                  <p:cNvPr id="448" name="Oval 1700">
                    <a:extLst>
                      <a:ext uri="{FF2B5EF4-FFF2-40B4-BE49-F238E27FC236}">
                        <a16:creationId xmlns:a16="http://schemas.microsoft.com/office/drawing/2014/main" id="{4E2B1B42-465A-4CA4-AA1C-BAD25F6BD591}"/>
                      </a:ext>
                    </a:extLst>
                  </p:cNvPr>
                  <p:cNvSpPr>
                    <a:spLocks noChangeArrowheads="1"/>
                  </p:cNvSpPr>
                  <p:nvPr/>
                </p:nvSpPr>
                <p:spPr bwMode="auto">
                  <a:xfrm>
                    <a:off x="2208" y="361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49" name="Oval 1701">
                    <a:extLst>
                      <a:ext uri="{FF2B5EF4-FFF2-40B4-BE49-F238E27FC236}">
                        <a16:creationId xmlns:a16="http://schemas.microsoft.com/office/drawing/2014/main" id="{0698A7BF-059C-4D07-9914-9B257F586D95}"/>
                      </a:ext>
                    </a:extLst>
                  </p:cNvPr>
                  <p:cNvSpPr>
                    <a:spLocks noChangeArrowheads="1"/>
                  </p:cNvSpPr>
                  <p:nvPr/>
                </p:nvSpPr>
                <p:spPr bwMode="auto">
                  <a:xfrm>
                    <a:off x="2219" y="361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0" name="Oval 1702">
                    <a:extLst>
                      <a:ext uri="{FF2B5EF4-FFF2-40B4-BE49-F238E27FC236}">
                        <a16:creationId xmlns:a16="http://schemas.microsoft.com/office/drawing/2014/main" id="{D7B3EDBB-18C0-4DE8-94D0-CF759BA3F6E2}"/>
                      </a:ext>
                    </a:extLst>
                  </p:cNvPr>
                  <p:cNvSpPr>
                    <a:spLocks noChangeArrowheads="1"/>
                  </p:cNvSpPr>
                  <p:nvPr/>
                </p:nvSpPr>
                <p:spPr bwMode="auto">
                  <a:xfrm>
                    <a:off x="2196" y="362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1" name="Oval 1703">
                    <a:extLst>
                      <a:ext uri="{FF2B5EF4-FFF2-40B4-BE49-F238E27FC236}">
                        <a16:creationId xmlns:a16="http://schemas.microsoft.com/office/drawing/2014/main" id="{7D208CE4-1495-4E44-A03C-B2E32BB917F0}"/>
                      </a:ext>
                    </a:extLst>
                  </p:cNvPr>
                  <p:cNvSpPr>
                    <a:spLocks noChangeArrowheads="1"/>
                  </p:cNvSpPr>
                  <p:nvPr/>
                </p:nvSpPr>
                <p:spPr bwMode="auto">
                  <a:xfrm>
                    <a:off x="2205" y="362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2" name="Oval 1704">
                    <a:extLst>
                      <a:ext uri="{FF2B5EF4-FFF2-40B4-BE49-F238E27FC236}">
                        <a16:creationId xmlns:a16="http://schemas.microsoft.com/office/drawing/2014/main" id="{CD8249B9-3069-431B-8D76-9D3458EA4EBD}"/>
                      </a:ext>
                    </a:extLst>
                  </p:cNvPr>
                  <p:cNvSpPr>
                    <a:spLocks noChangeArrowheads="1"/>
                  </p:cNvSpPr>
                  <p:nvPr/>
                </p:nvSpPr>
                <p:spPr bwMode="auto">
                  <a:xfrm>
                    <a:off x="2215" y="3630"/>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3" name="Oval 1705">
                    <a:extLst>
                      <a:ext uri="{FF2B5EF4-FFF2-40B4-BE49-F238E27FC236}">
                        <a16:creationId xmlns:a16="http://schemas.microsoft.com/office/drawing/2014/main" id="{710091B1-42CC-4B1C-A903-A69646295C7F}"/>
                      </a:ext>
                    </a:extLst>
                  </p:cNvPr>
                  <p:cNvSpPr>
                    <a:spLocks noChangeArrowheads="1"/>
                  </p:cNvSpPr>
                  <p:nvPr/>
                </p:nvSpPr>
                <p:spPr bwMode="auto">
                  <a:xfrm>
                    <a:off x="2202" y="361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4" name="Oval 1706">
                    <a:extLst>
                      <a:ext uri="{FF2B5EF4-FFF2-40B4-BE49-F238E27FC236}">
                        <a16:creationId xmlns:a16="http://schemas.microsoft.com/office/drawing/2014/main" id="{42FFDF10-78FC-4BA9-8D67-CCD062B57435}"/>
                      </a:ext>
                    </a:extLst>
                  </p:cNvPr>
                  <p:cNvSpPr>
                    <a:spLocks noChangeArrowheads="1"/>
                  </p:cNvSpPr>
                  <p:nvPr/>
                </p:nvSpPr>
                <p:spPr bwMode="auto">
                  <a:xfrm>
                    <a:off x="2211" y="3621"/>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5" name="Oval 1707">
                    <a:extLst>
                      <a:ext uri="{FF2B5EF4-FFF2-40B4-BE49-F238E27FC236}">
                        <a16:creationId xmlns:a16="http://schemas.microsoft.com/office/drawing/2014/main" id="{1AF947C0-7036-4F16-9E77-2A11CC131220}"/>
                      </a:ext>
                    </a:extLst>
                  </p:cNvPr>
                  <p:cNvSpPr>
                    <a:spLocks noChangeArrowheads="1"/>
                  </p:cNvSpPr>
                  <p:nvPr/>
                </p:nvSpPr>
                <p:spPr bwMode="auto">
                  <a:xfrm>
                    <a:off x="2201" y="359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6" name="Oval 1708">
                    <a:extLst>
                      <a:ext uri="{FF2B5EF4-FFF2-40B4-BE49-F238E27FC236}">
                        <a16:creationId xmlns:a16="http://schemas.microsoft.com/office/drawing/2014/main" id="{9698BDE9-1F78-4D9C-9186-F7F9562E423E}"/>
                      </a:ext>
                    </a:extLst>
                  </p:cNvPr>
                  <p:cNvSpPr>
                    <a:spLocks noChangeArrowheads="1"/>
                  </p:cNvSpPr>
                  <p:nvPr/>
                </p:nvSpPr>
                <p:spPr bwMode="auto">
                  <a:xfrm>
                    <a:off x="2211" y="359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7" name="Oval 1709">
                    <a:extLst>
                      <a:ext uri="{FF2B5EF4-FFF2-40B4-BE49-F238E27FC236}">
                        <a16:creationId xmlns:a16="http://schemas.microsoft.com/office/drawing/2014/main" id="{F46B30C5-2099-4910-8BA5-DBD033C42FFC}"/>
                      </a:ext>
                    </a:extLst>
                  </p:cNvPr>
                  <p:cNvSpPr>
                    <a:spLocks noChangeArrowheads="1"/>
                  </p:cNvSpPr>
                  <p:nvPr/>
                </p:nvSpPr>
                <p:spPr bwMode="auto">
                  <a:xfrm>
                    <a:off x="2221" y="360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8" name="Oval 1710">
                    <a:extLst>
                      <a:ext uri="{FF2B5EF4-FFF2-40B4-BE49-F238E27FC236}">
                        <a16:creationId xmlns:a16="http://schemas.microsoft.com/office/drawing/2014/main" id="{1C9009D8-D2FE-4B02-9E6D-E24B87FDB90E}"/>
                      </a:ext>
                    </a:extLst>
                  </p:cNvPr>
                  <p:cNvSpPr>
                    <a:spLocks noChangeArrowheads="1"/>
                  </p:cNvSpPr>
                  <p:nvPr/>
                </p:nvSpPr>
                <p:spPr bwMode="auto">
                  <a:xfrm>
                    <a:off x="2198" y="360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59" name="Oval 1711">
                    <a:extLst>
                      <a:ext uri="{FF2B5EF4-FFF2-40B4-BE49-F238E27FC236}">
                        <a16:creationId xmlns:a16="http://schemas.microsoft.com/office/drawing/2014/main" id="{D03F15BF-A50A-4D95-A589-EEC6DE382655}"/>
                      </a:ext>
                    </a:extLst>
                  </p:cNvPr>
                  <p:cNvSpPr>
                    <a:spLocks noChangeArrowheads="1"/>
                  </p:cNvSpPr>
                  <p:nvPr/>
                </p:nvSpPr>
                <p:spPr bwMode="auto">
                  <a:xfrm>
                    <a:off x="2204" y="360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60" name="Oval 1712">
                    <a:extLst>
                      <a:ext uri="{FF2B5EF4-FFF2-40B4-BE49-F238E27FC236}">
                        <a16:creationId xmlns:a16="http://schemas.microsoft.com/office/drawing/2014/main" id="{32BA6598-3EBE-495E-8BB7-012A4A194804}"/>
                      </a:ext>
                    </a:extLst>
                  </p:cNvPr>
                  <p:cNvSpPr>
                    <a:spLocks noChangeArrowheads="1"/>
                  </p:cNvSpPr>
                  <p:nvPr/>
                </p:nvSpPr>
                <p:spPr bwMode="auto">
                  <a:xfrm>
                    <a:off x="2215" y="360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427" name="Group 1713">
                <a:extLst>
                  <a:ext uri="{FF2B5EF4-FFF2-40B4-BE49-F238E27FC236}">
                    <a16:creationId xmlns:a16="http://schemas.microsoft.com/office/drawing/2014/main" id="{5573DC46-E197-4E89-A626-B45AFBE13B4B}"/>
                  </a:ext>
                </a:extLst>
              </p:cNvPr>
              <p:cNvGrpSpPr>
                <a:grpSpLocks/>
              </p:cNvGrpSpPr>
              <p:nvPr/>
            </p:nvGrpSpPr>
            <p:grpSpPr bwMode="auto">
              <a:xfrm>
                <a:off x="2142" y="3655"/>
                <a:ext cx="68" cy="111"/>
                <a:chOff x="2142" y="3655"/>
                <a:chExt cx="68" cy="111"/>
              </a:xfrm>
            </p:grpSpPr>
            <p:sp>
              <p:nvSpPr>
                <p:cNvPr id="428" name="Oval 1714">
                  <a:extLst>
                    <a:ext uri="{FF2B5EF4-FFF2-40B4-BE49-F238E27FC236}">
                      <a16:creationId xmlns:a16="http://schemas.microsoft.com/office/drawing/2014/main" id="{7C52370E-0EC2-4F7B-BBD5-BE7A6D9E4BDB}"/>
                    </a:ext>
                  </a:extLst>
                </p:cNvPr>
                <p:cNvSpPr>
                  <a:spLocks noChangeArrowheads="1"/>
                </p:cNvSpPr>
                <p:nvPr/>
              </p:nvSpPr>
              <p:spPr bwMode="auto">
                <a:xfrm>
                  <a:off x="2176" y="375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29" name="Oval 1715">
                  <a:extLst>
                    <a:ext uri="{FF2B5EF4-FFF2-40B4-BE49-F238E27FC236}">
                      <a16:creationId xmlns:a16="http://schemas.microsoft.com/office/drawing/2014/main" id="{1AFBF660-AA6F-44DF-AB04-F010E13B52D6}"/>
                    </a:ext>
                  </a:extLst>
                </p:cNvPr>
                <p:cNvSpPr>
                  <a:spLocks noChangeArrowheads="1"/>
                </p:cNvSpPr>
                <p:nvPr/>
              </p:nvSpPr>
              <p:spPr bwMode="auto">
                <a:xfrm>
                  <a:off x="2163" y="365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0" name="Oval 1716">
                  <a:extLst>
                    <a:ext uri="{FF2B5EF4-FFF2-40B4-BE49-F238E27FC236}">
                      <a16:creationId xmlns:a16="http://schemas.microsoft.com/office/drawing/2014/main" id="{6FD8B7F7-9075-4D98-894D-C4143FD9F62D}"/>
                    </a:ext>
                  </a:extLst>
                </p:cNvPr>
                <p:cNvSpPr>
                  <a:spLocks noChangeArrowheads="1"/>
                </p:cNvSpPr>
                <p:nvPr/>
              </p:nvSpPr>
              <p:spPr bwMode="auto">
                <a:xfrm>
                  <a:off x="2180" y="3663"/>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1" name="Oval 1717">
                  <a:extLst>
                    <a:ext uri="{FF2B5EF4-FFF2-40B4-BE49-F238E27FC236}">
                      <a16:creationId xmlns:a16="http://schemas.microsoft.com/office/drawing/2014/main" id="{3D7ABD03-19BF-40C0-9CAE-5D2CDC95156E}"/>
                    </a:ext>
                  </a:extLst>
                </p:cNvPr>
                <p:cNvSpPr>
                  <a:spLocks noChangeArrowheads="1"/>
                </p:cNvSpPr>
                <p:nvPr/>
              </p:nvSpPr>
              <p:spPr bwMode="auto">
                <a:xfrm>
                  <a:off x="2196" y="367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2" name="Oval 1718">
                  <a:extLst>
                    <a:ext uri="{FF2B5EF4-FFF2-40B4-BE49-F238E27FC236}">
                      <a16:creationId xmlns:a16="http://schemas.microsoft.com/office/drawing/2014/main" id="{3D9E4899-393B-473C-A888-92370B079648}"/>
                    </a:ext>
                  </a:extLst>
                </p:cNvPr>
                <p:cNvSpPr>
                  <a:spLocks noChangeArrowheads="1"/>
                </p:cNvSpPr>
                <p:nvPr/>
              </p:nvSpPr>
              <p:spPr bwMode="auto">
                <a:xfrm>
                  <a:off x="2158" y="3672"/>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3" name="Oval 1719">
                  <a:extLst>
                    <a:ext uri="{FF2B5EF4-FFF2-40B4-BE49-F238E27FC236}">
                      <a16:creationId xmlns:a16="http://schemas.microsoft.com/office/drawing/2014/main" id="{D911FB66-4E70-404E-9265-98F6BAD543A4}"/>
                    </a:ext>
                  </a:extLst>
                </p:cNvPr>
                <p:cNvSpPr>
                  <a:spLocks noChangeArrowheads="1"/>
                </p:cNvSpPr>
                <p:nvPr/>
              </p:nvSpPr>
              <p:spPr bwMode="auto">
                <a:xfrm>
                  <a:off x="2176" y="3679"/>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4" name="Oval 1720">
                  <a:extLst>
                    <a:ext uri="{FF2B5EF4-FFF2-40B4-BE49-F238E27FC236}">
                      <a16:creationId xmlns:a16="http://schemas.microsoft.com/office/drawing/2014/main" id="{BF885205-34A2-43D8-85A2-525419996B57}"/>
                    </a:ext>
                  </a:extLst>
                </p:cNvPr>
                <p:cNvSpPr>
                  <a:spLocks noChangeArrowheads="1"/>
                </p:cNvSpPr>
                <p:nvPr/>
              </p:nvSpPr>
              <p:spPr bwMode="auto">
                <a:xfrm>
                  <a:off x="2192" y="368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5" name="Oval 1721">
                  <a:extLst>
                    <a:ext uri="{FF2B5EF4-FFF2-40B4-BE49-F238E27FC236}">
                      <a16:creationId xmlns:a16="http://schemas.microsoft.com/office/drawing/2014/main" id="{BFE4FEA2-C8B2-4859-9792-2E62BB08AE91}"/>
                    </a:ext>
                  </a:extLst>
                </p:cNvPr>
                <p:cNvSpPr>
                  <a:spLocks noChangeArrowheads="1"/>
                </p:cNvSpPr>
                <p:nvPr/>
              </p:nvSpPr>
              <p:spPr bwMode="auto">
                <a:xfrm>
                  <a:off x="2154" y="3688"/>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6" name="Oval 1722">
                  <a:extLst>
                    <a:ext uri="{FF2B5EF4-FFF2-40B4-BE49-F238E27FC236}">
                      <a16:creationId xmlns:a16="http://schemas.microsoft.com/office/drawing/2014/main" id="{8135801B-962C-4B1C-9206-F0C5C568E7A4}"/>
                    </a:ext>
                  </a:extLst>
                </p:cNvPr>
                <p:cNvSpPr>
                  <a:spLocks noChangeArrowheads="1"/>
                </p:cNvSpPr>
                <p:nvPr/>
              </p:nvSpPr>
              <p:spPr bwMode="auto">
                <a:xfrm>
                  <a:off x="2171" y="369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7" name="Oval 1723">
                  <a:extLst>
                    <a:ext uri="{FF2B5EF4-FFF2-40B4-BE49-F238E27FC236}">
                      <a16:creationId xmlns:a16="http://schemas.microsoft.com/office/drawing/2014/main" id="{10DEDDF1-299F-4674-B37A-089097CEE037}"/>
                    </a:ext>
                  </a:extLst>
                </p:cNvPr>
                <p:cNvSpPr>
                  <a:spLocks noChangeArrowheads="1"/>
                </p:cNvSpPr>
                <p:nvPr/>
              </p:nvSpPr>
              <p:spPr bwMode="auto">
                <a:xfrm>
                  <a:off x="2188" y="370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8" name="Oval 1724">
                  <a:extLst>
                    <a:ext uri="{FF2B5EF4-FFF2-40B4-BE49-F238E27FC236}">
                      <a16:creationId xmlns:a16="http://schemas.microsoft.com/office/drawing/2014/main" id="{613572C1-AE90-4CA5-A6A0-DFDDA0591EAC}"/>
                    </a:ext>
                  </a:extLst>
                </p:cNvPr>
                <p:cNvSpPr>
                  <a:spLocks noChangeArrowheads="1"/>
                </p:cNvSpPr>
                <p:nvPr/>
              </p:nvSpPr>
              <p:spPr bwMode="auto">
                <a:xfrm>
                  <a:off x="2150" y="370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39" name="Oval 1725">
                  <a:extLst>
                    <a:ext uri="{FF2B5EF4-FFF2-40B4-BE49-F238E27FC236}">
                      <a16:creationId xmlns:a16="http://schemas.microsoft.com/office/drawing/2014/main" id="{68355454-EEDF-4D5A-9FFE-FA835985FB9E}"/>
                    </a:ext>
                  </a:extLst>
                </p:cNvPr>
                <p:cNvSpPr>
                  <a:spLocks noChangeArrowheads="1"/>
                </p:cNvSpPr>
                <p:nvPr/>
              </p:nvSpPr>
              <p:spPr bwMode="auto">
                <a:xfrm>
                  <a:off x="2167" y="371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40" name="Oval 1726">
                  <a:extLst>
                    <a:ext uri="{FF2B5EF4-FFF2-40B4-BE49-F238E27FC236}">
                      <a16:creationId xmlns:a16="http://schemas.microsoft.com/office/drawing/2014/main" id="{C4BD93A1-7A82-4B54-9BE6-C686ED4CA68A}"/>
                    </a:ext>
                  </a:extLst>
                </p:cNvPr>
                <p:cNvSpPr>
                  <a:spLocks noChangeArrowheads="1"/>
                </p:cNvSpPr>
                <p:nvPr/>
              </p:nvSpPr>
              <p:spPr bwMode="auto">
                <a:xfrm>
                  <a:off x="2184" y="371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41" name="Oval 1727">
                  <a:extLst>
                    <a:ext uri="{FF2B5EF4-FFF2-40B4-BE49-F238E27FC236}">
                      <a16:creationId xmlns:a16="http://schemas.microsoft.com/office/drawing/2014/main" id="{86D3A742-98A5-4D7B-A8B3-CF78DDA4846E}"/>
                    </a:ext>
                  </a:extLst>
                </p:cNvPr>
                <p:cNvSpPr>
                  <a:spLocks noChangeArrowheads="1"/>
                </p:cNvSpPr>
                <p:nvPr/>
              </p:nvSpPr>
              <p:spPr bwMode="auto">
                <a:xfrm>
                  <a:off x="2146" y="372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42" name="Oval 1728">
                  <a:extLst>
                    <a:ext uri="{FF2B5EF4-FFF2-40B4-BE49-F238E27FC236}">
                      <a16:creationId xmlns:a16="http://schemas.microsoft.com/office/drawing/2014/main" id="{DC88374F-B6A8-4294-B237-ECDD550BE5C8}"/>
                    </a:ext>
                  </a:extLst>
                </p:cNvPr>
                <p:cNvSpPr>
                  <a:spLocks noChangeArrowheads="1"/>
                </p:cNvSpPr>
                <p:nvPr/>
              </p:nvSpPr>
              <p:spPr bwMode="auto">
                <a:xfrm>
                  <a:off x="2163" y="372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43" name="Oval 1729">
                  <a:extLst>
                    <a:ext uri="{FF2B5EF4-FFF2-40B4-BE49-F238E27FC236}">
                      <a16:creationId xmlns:a16="http://schemas.microsoft.com/office/drawing/2014/main" id="{23577F4F-C2E1-4ACF-92D6-A5FF660EAADA}"/>
                    </a:ext>
                  </a:extLst>
                </p:cNvPr>
                <p:cNvSpPr>
                  <a:spLocks noChangeArrowheads="1"/>
                </p:cNvSpPr>
                <p:nvPr/>
              </p:nvSpPr>
              <p:spPr bwMode="auto">
                <a:xfrm>
                  <a:off x="2180" y="373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44" name="Oval 1730">
                  <a:extLst>
                    <a:ext uri="{FF2B5EF4-FFF2-40B4-BE49-F238E27FC236}">
                      <a16:creationId xmlns:a16="http://schemas.microsoft.com/office/drawing/2014/main" id="{66B04353-66B9-40B2-994D-FB43E2E8AEE8}"/>
                    </a:ext>
                  </a:extLst>
                </p:cNvPr>
                <p:cNvSpPr>
                  <a:spLocks noChangeArrowheads="1"/>
                </p:cNvSpPr>
                <p:nvPr/>
              </p:nvSpPr>
              <p:spPr bwMode="auto">
                <a:xfrm>
                  <a:off x="2142" y="3736"/>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45" name="Oval 1731">
                  <a:extLst>
                    <a:ext uri="{FF2B5EF4-FFF2-40B4-BE49-F238E27FC236}">
                      <a16:creationId xmlns:a16="http://schemas.microsoft.com/office/drawing/2014/main" id="{5C26F360-629C-4DE9-91AD-BF75862461D8}"/>
                    </a:ext>
                  </a:extLst>
                </p:cNvPr>
                <p:cNvSpPr>
                  <a:spLocks noChangeArrowheads="1"/>
                </p:cNvSpPr>
                <p:nvPr/>
              </p:nvSpPr>
              <p:spPr bwMode="auto">
                <a:xfrm>
                  <a:off x="2160" y="374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410" name="Group 1732">
              <a:extLst>
                <a:ext uri="{FF2B5EF4-FFF2-40B4-BE49-F238E27FC236}">
                  <a16:creationId xmlns:a16="http://schemas.microsoft.com/office/drawing/2014/main" id="{CBB23D72-2380-4055-B0E8-12BF7929461D}"/>
                </a:ext>
              </a:extLst>
            </p:cNvPr>
            <p:cNvGrpSpPr>
              <a:grpSpLocks/>
            </p:cNvGrpSpPr>
            <p:nvPr/>
          </p:nvGrpSpPr>
          <p:grpSpPr bwMode="auto">
            <a:xfrm>
              <a:off x="2075" y="3614"/>
              <a:ext cx="81" cy="92"/>
              <a:chOff x="2075" y="3614"/>
              <a:chExt cx="81" cy="92"/>
            </a:xfrm>
          </p:grpSpPr>
          <p:grpSp>
            <p:nvGrpSpPr>
              <p:cNvPr id="411" name="Group 1733">
                <a:extLst>
                  <a:ext uri="{FF2B5EF4-FFF2-40B4-BE49-F238E27FC236}">
                    <a16:creationId xmlns:a16="http://schemas.microsoft.com/office/drawing/2014/main" id="{F8FCEFEF-4BEF-48F2-BC04-088DFCC1C7A8}"/>
                  </a:ext>
                </a:extLst>
              </p:cNvPr>
              <p:cNvGrpSpPr>
                <a:grpSpLocks/>
              </p:cNvGrpSpPr>
              <p:nvPr/>
            </p:nvGrpSpPr>
            <p:grpSpPr bwMode="auto">
              <a:xfrm>
                <a:off x="2101" y="3643"/>
                <a:ext cx="39" cy="42"/>
                <a:chOff x="2101" y="3643"/>
                <a:chExt cx="39" cy="42"/>
              </a:xfrm>
            </p:grpSpPr>
            <p:sp>
              <p:nvSpPr>
                <p:cNvPr id="419" name="Freeform 1734">
                  <a:extLst>
                    <a:ext uri="{FF2B5EF4-FFF2-40B4-BE49-F238E27FC236}">
                      <a16:creationId xmlns:a16="http://schemas.microsoft.com/office/drawing/2014/main" id="{EB7B0092-637D-4E90-B41C-598A4324ECB4}"/>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0" name="Freeform 1735">
                  <a:extLst>
                    <a:ext uri="{FF2B5EF4-FFF2-40B4-BE49-F238E27FC236}">
                      <a16:creationId xmlns:a16="http://schemas.microsoft.com/office/drawing/2014/main" id="{33A645E0-2DF7-4E60-B097-4B0916DC7C82}"/>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12" name="Group 1736">
                <a:extLst>
                  <a:ext uri="{FF2B5EF4-FFF2-40B4-BE49-F238E27FC236}">
                    <a16:creationId xmlns:a16="http://schemas.microsoft.com/office/drawing/2014/main" id="{9D741823-EEF8-47F4-A288-54B249696EB1}"/>
                  </a:ext>
                </a:extLst>
              </p:cNvPr>
              <p:cNvGrpSpPr>
                <a:grpSpLocks/>
              </p:cNvGrpSpPr>
              <p:nvPr/>
            </p:nvGrpSpPr>
            <p:grpSpPr bwMode="auto">
              <a:xfrm>
                <a:off x="2121" y="3625"/>
                <a:ext cx="30" cy="32"/>
                <a:chOff x="2121" y="3625"/>
                <a:chExt cx="30" cy="32"/>
              </a:xfrm>
            </p:grpSpPr>
            <p:sp>
              <p:nvSpPr>
                <p:cNvPr id="417" name="Freeform 1737">
                  <a:extLst>
                    <a:ext uri="{FF2B5EF4-FFF2-40B4-BE49-F238E27FC236}">
                      <a16:creationId xmlns:a16="http://schemas.microsoft.com/office/drawing/2014/main" id="{650D0939-B464-4AD0-ACB3-189457E247FC}"/>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w 351"/>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1"/>
                    <a:gd name="T76" fmla="*/ 0 h 390"/>
                    <a:gd name="T77" fmla="*/ 351 w 351"/>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8" name="Freeform 1738">
                  <a:extLst>
                    <a:ext uri="{FF2B5EF4-FFF2-40B4-BE49-F238E27FC236}">
                      <a16:creationId xmlns:a16="http://schemas.microsoft.com/office/drawing/2014/main" id="{2B3B4428-3F29-41B5-A3FC-D008A9141209}"/>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1"/>
                    <a:gd name="T73" fmla="*/ 0 h 390"/>
                    <a:gd name="T74" fmla="*/ 351 w 351"/>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13" name="Group 1739">
                <a:extLst>
                  <a:ext uri="{FF2B5EF4-FFF2-40B4-BE49-F238E27FC236}">
                    <a16:creationId xmlns:a16="http://schemas.microsoft.com/office/drawing/2014/main" id="{6E4450D9-7160-4724-A2AE-ADD9D2964305}"/>
                  </a:ext>
                </a:extLst>
              </p:cNvPr>
              <p:cNvGrpSpPr>
                <a:grpSpLocks/>
              </p:cNvGrpSpPr>
              <p:nvPr/>
            </p:nvGrpSpPr>
            <p:grpSpPr bwMode="auto">
              <a:xfrm>
                <a:off x="2075" y="3670"/>
                <a:ext cx="62" cy="36"/>
                <a:chOff x="2075" y="3670"/>
                <a:chExt cx="62" cy="36"/>
              </a:xfrm>
            </p:grpSpPr>
            <p:sp>
              <p:nvSpPr>
                <p:cNvPr id="415" name="Freeform 1740">
                  <a:extLst>
                    <a:ext uri="{FF2B5EF4-FFF2-40B4-BE49-F238E27FC236}">
                      <a16:creationId xmlns:a16="http://schemas.microsoft.com/office/drawing/2014/main" id="{AC8A7C2A-9219-4941-A5B4-F67897EC6D50}"/>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6" name="Freeform 1741">
                  <a:extLst>
                    <a:ext uri="{FF2B5EF4-FFF2-40B4-BE49-F238E27FC236}">
                      <a16:creationId xmlns:a16="http://schemas.microsoft.com/office/drawing/2014/main" id="{FC2AB211-555F-40C8-AD24-FB467EF6CF82}"/>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14" name="Freeform 1742">
                <a:extLst>
                  <a:ext uri="{FF2B5EF4-FFF2-40B4-BE49-F238E27FC236}">
                    <a16:creationId xmlns:a16="http://schemas.microsoft.com/office/drawing/2014/main" id="{C64DB0D7-FFD8-47EA-97C9-8F5518B8F2CC}"/>
                  </a:ext>
                </a:extLst>
              </p:cNvPr>
              <p:cNvSpPr>
                <a:spLocks/>
              </p:cNvSpPr>
              <p:nvPr/>
            </p:nvSpPr>
            <p:spPr bwMode="auto">
              <a:xfrm>
                <a:off x="2121" y="3614"/>
                <a:ext cx="35"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49" y="4"/>
                    </a:lnTo>
                    <a:lnTo>
                      <a:pt x="292" y="6"/>
                    </a:lnTo>
                    <a:lnTo>
                      <a:pt x="340" y="10"/>
                    </a:lnTo>
                    <a:lnTo>
                      <a:pt x="372" y="20"/>
                    </a:lnTo>
                    <a:lnTo>
                      <a:pt x="386" y="35"/>
                    </a:lnTo>
                    <a:lnTo>
                      <a:pt x="399" y="57"/>
                    </a:lnTo>
                    <a:lnTo>
                      <a:pt x="407" y="83"/>
                    </a:lnTo>
                    <a:lnTo>
                      <a:pt x="411" y="116"/>
                    </a:lnTo>
                    <a:lnTo>
                      <a:pt x="414" y="154"/>
                    </a:lnTo>
                    <a:lnTo>
                      <a:pt x="407" y="191"/>
                    </a:lnTo>
                    <a:lnTo>
                      <a:pt x="394" y="221"/>
                    </a:lnTo>
                    <a:lnTo>
                      <a:pt x="375" y="240"/>
                    </a:lnTo>
                    <a:lnTo>
                      <a:pt x="356" y="252"/>
                    </a:lnTo>
                    <a:lnTo>
                      <a:pt x="327" y="260"/>
                    </a:lnTo>
                    <a:lnTo>
                      <a:pt x="299" y="262"/>
                    </a:lnTo>
                    <a:lnTo>
                      <a:pt x="272" y="260"/>
                    </a:lnTo>
                    <a:lnTo>
                      <a:pt x="243" y="233"/>
                    </a:lnTo>
                    <a:lnTo>
                      <a:pt x="224" y="210"/>
                    </a:lnTo>
                    <a:lnTo>
                      <a:pt x="195" y="189"/>
                    </a:lnTo>
                    <a:lnTo>
                      <a:pt x="167" y="172"/>
                    </a:lnTo>
                    <a:lnTo>
                      <a:pt x="135" y="153"/>
                    </a:lnTo>
                    <a:lnTo>
                      <a:pt x="105" y="141"/>
                    </a:lnTo>
                    <a:lnTo>
                      <a:pt x="80" y="134"/>
                    </a:lnTo>
                    <a:lnTo>
                      <a:pt x="56"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sp>
        <p:nvSpPr>
          <p:cNvPr id="471" name="Rectangle 1744">
            <a:extLst>
              <a:ext uri="{FF2B5EF4-FFF2-40B4-BE49-F238E27FC236}">
                <a16:creationId xmlns:a16="http://schemas.microsoft.com/office/drawing/2014/main" id="{BB0C4611-B452-4954-85D8-31B7A30AFCC6}"/>
              </a:ext>
            </a:extLst>
          </p:cNvPr>
          <p:cNvSpPr>
            <a:spLocks noChangeArrowheads="1"/>
          </p:cNvSpPr>
          <p:nvPr/>
        </p:nvSpPr>
        <p:spPr bwMode="auto">
          <a:xfrm>
            <a:off x="6148389" y="5402264"/>
            <a:ext cx="306387" cy="439737"/>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472" name="Group 1745">
            <a:extLst>
              <a:ext uri="{FF2B5EF4-FFF2-40B4-BE49-F238E27FC236}">
                <a16:creationId xmlns:a16="http://schemas.microsoft.com/office/drawing/2014/main" id="{0B348FCD-6CA1-4D2C-AB9D-01C3E490E67E}"/>
              </a:ext>
            </a:extLst>
          </p:cNvPr>
          <p:cNvGrpSpPr>
            <a:grpSpLocks/>
          </p:cNvGrpSpPr>
          <p:nvPr/>
        </p:nvGrpSpPr>
        <p:grpSpPr bwMode="auto">
          <a:xfrm>
            <a:off x="6149976" y="5403851"/>
            <a:ext cx="301625" cy="434975"/>
            <a:chOff x="2067" y="3557"/>
            <a:chExt cx="190" cy="274"/>
          </a:xfrm>
        </p:grpSpPr>
        <p:grpSp>
          <p:nvGrpSpPr>
            <p:cNvPr id="473" name="Group 1746">
              <a:extLst>
                <a:ext uri="{FF2B5EF4-FFF2-40B4-BE49-F238E27FC236}">
                  <a16:creationId xmlns:a16="http://schemas.microsoft.com/office/drawing/2014/main" id="{FFF52D7E-3C50-4685-B997-235FBCA1CABE}"/>
                </a:ext>
              </a:extLst>
            </p:cNvPr>
            <p:cNvGrpSpPr>
              <a:grpSpLocks/>
            </p:cNvGrpSpPr>
            <p:nvPr/>
          </p:nvGrpSpPr>
          <p:grpSpPr bwMode="auto">
            <a:xfrm>
              <a:off x="2067" y="3614"/>
              <a:ext cx="164" cy="197"/>
              <a:chOff x="2067" y="3614"/>
              <a:chExt cx="164" cy="197"/>
            </a:xfrm>
          </p:grpSpPr>
          <p:sp>
            <p:nvSpPr>
              <p:cNvPr id="526" name="Freeform 1747">
                <a:extLst>
                  <a:ext uri="{FF2B5EF4-FFF2-40B4-BE49-F238E27FC236}">
                    <a16:creationId xmlns:a16="http://schemas.microsoft.com/office/drawing/2014/main" id="{CCFD7EA1-6F1B-4B51-83CB-CEADCF9C7EE4}"/>
                  </a:ext>
                </a:extLst>
              </p:cNvPr>
              <p:cNvSpPr>
                <a:spLocks/>
              </p:cNvSpPr>
              <p:nvPr/>
            </p:nvSpPr>
            <p:spPr bwMode="auto">
              <a:xfrm>
                <a:off x="2067" y="3614"/>
                <a:ext cx="164"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199" y="1522"/>
                    </a:lnTo>
                    <a:lnTo>
                      <a:pt x="162" y="1459"/>
                    </a:lnTo>
                    <a:lnTo>
                      <a:pt x="153" y="1439"/>
                    </a:lnTo>
                    <a:lnTo>
                      <a:pt x="125" y="1376"/>
                    </a:lnTo>
                    <a:lnTo>
                      <a:pt x="115" y="1333"/>
                    </a:lnTo>
                    <a:lnTo>
                      <a:pt x="106" y="1292"/>
                    </a:lnTo>
                    <a:lnTo>
                      <a:pt x="88" y="1229"/>
                    </a:lnTo>
                    <a:lnTo>
                      <a:pt x="69" y="1188"/>
                    </a:lnTo>
                    <a:lnTo>
                      <a:pt x="41" y="1124"/>
                    </a:lnTo>
                    <a:lnTo>
                      <a:pt x="22" y="1061"/>
                    </a:lnTo>
                    <a:lnTo>
                      <a:pt x="16" y="1022"/>
                    </a:lnTo>
                    <a:lnTo>
                      <a:pt x="4" y="935"/>
                    </a:lnTo>
                    <a:lnTo>
                      <a:pt x="1" y="872"/>
                    </a:lnTo>
                    <a:lnTo>
                      <a:pt x="0" y="792"/>
                    </a:lnTo>
                    <a:lnTo>
                      <a:pt x="14" y="724"/>
                    </a:lnTo>
                    <a:lnTo>
                      <a:pt x="32" y="693"/>
                    </a:lnTo>
                    <a:lnTo>
                      <a:pt x="50" y="677"/>
                    </a:lnTo>
                    <a:lnTo>
                      <a:pt x="67" y="669"/>
                    </a:lnTo>
                    <a:lnTo>
                      <a:pt x="88" y="661"/>
                    </a:lnTo>
                    <a:lnTo>
                      <a:pt x="106" y="661"/>
                    </a:lnTo>
                    <a:lnTo>
                      <a:pt x="106" y="613"/>
                    </a:lnTo>
                    <a:lnTo>
                      <a:pt x="100" y="591"/>
                    </a:lnTo>
                    <a:lnTo>
                      <a:pt x="97" y="555"/>
                    </a:lnTo>
                    <a:lnTo>
                      <a:pt x="105" y="534"/>
                    </a:lnTo>
                    <a:lnTo>
                      <a:pt x="106" y="515"/>
                    </a:lnTo>
                    <a:lnTo>
                      <a:pt x="120" y="477"/>
                    </a:lnTo>
                    <a:lnTo>
                      <a:pt x="134" y="451"/>
                    </a:lnTo>
                    <a:lnTo>
                      <a:pt x="155" y="419"/>
                    </a:lnTo>
                    <a:lnTo>
                      <a:pt x="184" y="388"/>
                    </a:lnTo>
                    <a:lnTo>
                      <a:pt x="216" y="361"/>
                    </a:lnTo>
                    <a:lnTo>
                      <a:pt x="244" y="336"/>
                    </a:lnTo>
                    <a:lnTo>
                      <a:pt x="278" y="326"/>
                    </a:lnTo>
                    <a:lnTo>
                      <a:pt x="312" y="320"/>
                    </a:lnTo>
                    <a:lnTo>
                      <a:pt x="344" y="326"/>
                    </a:lnTo>
                    <a:lnTo>
                      <a:pt x="374" y="336"/>
                    </a:lnTo>
                    <a:lnTo>
                      <a:pt x="410" y="346"/>
                    </a:lnTo>
                    <a:lnTo>
                      <a:pt x="420" y="326"/>
                    </a:lnTo>
                    <a:lnTo>
                      <a:pt x="426" y="268"/>
                    </a:lnTo>
                    <a:lnTo>
                      <a:pt x="438" y="220"/>
                    </a:lnTo>
                    <a:lnTo>
                      <a:pt x="461" y="184"/>
                    </a:lnTo>
                    <a:lnTo>
                      <a:pt x="486" y="160"/>
                    </a:lnTo>
                    <a:lnTo>
                      <a:pt x="522" y="148"/>
                    </a:lnTo>
                    <a:lnTo>
                      <a:pt x="559" y="136"/>
                    </a:lnTo>
                    <a:lnTo>
                      <a:pt x="615" y="125"/>
                    </a:lnTo>
                    <a:lnTo>
                      <a:pt x="650" y="125"/>
                    </a:lnTo>
                    <a:lnTo>
                      <a:pt x="660" y="104"/>
                    </a:lnTo>
                    <a:lnTo>
                      <a:pt x="678" y="62"/>
                    </a:lnTo>
                    <a:lnTo>
                      <a:pt x="706" y="31"/>
                    </a:lnTo>
                    <a:lnTo>
                      <a:pt x="744" y="10"/>
                    </a:lnTo>
                    <a:lnTo>
                      <a:pt x="800" y="0"/>
                    </a:lnTo>
                    <a:lnTo>
                      <a:pt x="854" y="0"/>
                    </a:lnTo>
                    <a:lnTo>
                      <a:pt x="927" y="4"/>
                    </a:lnTo>
                    <a:lnTo>
                      <a:pt x="967" y="6"/>
                    </a:lnTo>
                    <a:lnTo>
                      <a:pt x="994" y="10"/>
                    </a:lnTo>
                    <a:lnTo>
                      <a:pt x="1018" y="17"/>
                    </a:lnTo>
                    <a:lnTo>
                      <a:pt x="1039" y="35"/>
                    </a:lnTo>
                    <a:lnTo>
                      <a:pt x="1052" y="57"/>
                    </a:lnTo>
                    <a:lnTo>
                      <a:pt x="1061" y="86"/>
                    </a:lnTo>
                    <a:lnTo>
                      <a:pt x="1067" y="136"/>
                    </a:lnTo>
                    <a:lnTo>
                      <a:pt x="1062" y="180"/>
                    </a:lnTo>
                    <a:lnTo>
                      <a:pt x="1046" y="218"/>
                    </a:lnTo>
                    <a:lnTo>
                      <a:pt x="1027" y="239"/>
                    </a:lnTo>
                    <a:lnTo>
                      <a:pt x="1002" y="252"/>
                    </a:lnTo>
                    <a:lnTo>
                      <a:pt x="973" y="260"/>
                    </a:lnTo>
                    <a:lnTo>
                      <a:pt x="923" y="259"/>
                    </a:lnTo>
                    <a:lnTo>
                      <a:pt x="939" y="281"/>
                    </a:lnTo>
                    <a:lnTo>
                      <a:pt x="961" y="323"/>
                    </a:lnTo>
                    <a:lnTo>
                      <a:pt x="980" y="357"/>
                    </a:lnTo>
                    <a:lnTo>
                      <a:pt x="995" y="399"/>
                    </a:lnTo>
                    <a:lnTo>
                      <a:pt x="1004" y="434"/>
                    </a:lnTo>
                    <a:lnTo>
                      <a:pt x="1000" y="457"/>
                    </a:lnTo>
                    <a:lnTo>
                      <a:pt x="980" y="482"/>
                    </a:lnTo>
                    <a:lnTo>
                      <a:pt x="1002" y="526"/>
                    </a:lnTo>
                    <a:lnTo>
                      <a:pt x="1029" y="567"/>
                    </a:lnTo>
                    <a:lnTo>
                      <a:pt x="1060" y="619"/>
                    </a:lnTo>
                    <a:lnTo>
                      <a:pt x="1108" y="667"/>
                    </a:lnTo>
                    <a:lnTo>
                      <a:pt x="1182" y="739"/>
                    </a:lnTo>
                    <a:lnTo>
                      <a:pt x="1251" y="822"/>
                    </a:lnTo>
                    <a:lnTo>
                      <a:pt x="1316" y="930"/>
                    </a:lnTo>
                    <a:lnTo>
                      <a:pt x="1372" y="1029"/>
                    </a:lnTo>
                    <a:lnTo>
                      <a:pt x="1418" y="1113"/>
                    </a:lnTo>
                    <a:lnTo>
                      <a:pt x="1432" y="1144"/>
                    </a:lnTo>
                    <a:lnTo>
                      <a:pt x="1435" y="1198"/>
                    </a:lnTo>
                    <a:lnTo>
                      <a:pt x="1450" y="1240"/>
                    </a:lnTo>
                    <a:lnTo>
                      <a:pt x="1473" y="1204"/>
                    </a:lnTo>
                    <a:lnTo>
                      <a:pt x="1517" y="1147"/>
                    </a:lnTo>
                    <a:lnTo>
                      <a:pt x="1575" y="1061"/>
                    </a:lnTo>
                    <a:lnTo>
                      <a:pt x="1612" y="1009"/>
                    </a:lnTo>
                    <a:lnTo>
                      <a:pt x="1629" y="977"/>
                    </a:lnTo>
                    <a:lnTo>
                      <a:pt x="1649" y="924"/>
                    </a:lnTo>
                    <a:lnTo>
                      <a:pt x="1666" y="889"/>
                    </a:lnTo>
                    <a:lnTo>
                      <a:pt x="1681" y="862"/>
                    </a:lnTo>
                    <a:lnTo>
                      <a:pt x="1701" y="833"/>
                    </a:lnTo>
                    <a:lnTo>
                      <a:pt x="1723" y="808"/>
                    </a:lnTo>
                    <a:lnTo>
                      <a:pt x="1763" y="767"/>
                    </a:lnTo>
                    <a:lnTo>
                      <a:pt x="1807" y="734"/>
                    </a:lnTo>
                    <a:lnTo>
                      <a:pt x="1851" y="713"/>
                    </a:lnTo>
                    <a:lnTo>
                      <a:pt x="1889" y="713"/>
                    </a:lnTo>
                    <a:lnTo>
                      <a:pt x="1923" y="717"/>
                    </a:lnTo>
                    <a:lnTo>
                      <a:pt x="1953" y="735"/>
                    </a:lnTo>
                    <a:lnTo>
                      <a:pt x="1974" y="774"/>
                    </a:lnTo>
                    <a:lnTo>
                      <a:pt x="1973" y="819"/>
                    </a:lnTo>
                    <a:lnTo>
                      <a:pt x="1973" y="839"/>
                    </a:lnTo>
                    <a:lnTo>
                      <a:pt x="1963" y="883"/>
                    </a:lnTo>
                    <a:lnTo>
                      <a:pt x="1945" y="903"/>
                    </a:lnTo>
                    <a:lnTo>
                      <a:pt x="1935" y="946"/>
                    </a:lnTo>
                    <a:lnTo>
                      <a:pt x="1917" y="1009"/>
                    </a:lnTo>
                    <a:lnTo>
                      <a:pt x="1917" y="1071"/>
                    </a:lnTo>
                    <a:lnTo>
                      <a:pt x="1907" y="1134"/>
                    </a:lnTo>
                    <a:lnTo>
                      <a:pt x="1904" y="1167"/>
                    </a:lnTo>
                    <a:lnTo>
                      <a:pt x="1895" y="1200"/>
                    </a:lnTo>
                    <a:lnTo>
                      <a:pt x="1876" y="1238"/>
                    </a:lnTo>
                    <a:lnTo>
                      <a:pt x="1851" y="1271"/>
                    </a:lnTo>
                    <a:lnTo>
                      <a:pt x="1834" y="1333"/>
                    </a:lnTo>
                    <a:lnTo>
                      <a:pt x="1806" y="1396"/>
                    </a:lnTo>
                    <a:lnTo>
                      <a:pt x="1723" y="1544"/>
                    </a:lnTo>
                    <a:lnTo>
                      <a:pt x="1649" y="1649"/>
                    </a:lnTo>
                    <a:lnTo>
                      <a:pt x="1594" y="1722"/>
                    </a:lnTo>
                    <a:lnTo>
                      <a:pt x="1584" y="1764"/>
                    </a:lnTo>
                    <a:lnTo>
                      <a:pt x="1575" y="1807"/>
                    </a:lnTo>
                    <a:lnTo>
                      <a:pt x="1558" y="1853"/>
                    </a:lnTo>
                    <a:lnTo>
                      <a:pt x="1545" y="1912"/>
                    </a:lnTo>
                    <a:lnTo>
                      <a:pt x="1519" y="1975"/>
                    </a:lnTo>
                    <a:lnTo>
                      <a:pt x="1473" y="2059"/>
                    </a:lnTo>
                    <a:lnTo>
                      <a:pt x="1428" y="2122"/>
                    </a:lnTo>
                    <a:lnTo>
                      <a:pt x="1400" y="2163"/>
                    </a:lnTo>
                    <a:lnTo>
                      <a:pt x="1381" y="2227"/>
                    </a:lnTo>
                    <a:lnTo>
                      <a:pt x="1362" y="2269"/>
                    </a:lnTo>
                    <a:lnTo>
                      <a:pt x="1332"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527" name="Group 1748">
                <a:extLst>
                  <a:ext uri="{FF2B5EF4-FFF2-40B4-BE49-F238E27FC236}">
                    <a16:creationId xmlns:a16="http://schemas.microsoft.com/office/drawing/2014/main" id="{DCDA2F26-E28C-4DD7-BE0C-1269A5D6C84E}"/>
                  </a:ext>
                </a:extLst>
              </p:cNvPr>
              <p:cNvGrpSpPr>
                <a:grpSpLocks/>
              </p:cNvGrpSpPr>
              <p:nvPr/>
            </p:nvGrpSpPr>
            <p:grpSpPr bwMode="auto">
              <a:xfrm>
                <a:off x="2078" y="3668"/>
                <a:ext cx="139" cy="45"/>
                <a:chOff x="2078" y="3668"/>
                <a:chExt cx="139" cy="45"/>
              </a:xfrm>
            </p:grpSpPr>
            <p:sp>
              <p:nvSpPr>
                <p:cNvPr id="532" name="Freeform 1749">
                  <a:extLst>
                    <a:ext uri="{FF2B5EF4-FFF2-40B4-BE49-F238E27FC236}">
                      <a16:creationId xmlns:a16="http://schemas.microsoft.com/office/drawing/2014/main" id="{EEE1EAE2-501D-4A81-A832-84D9169B695F}"/>
                    </a:ext>
                  </a:extLst>
                </p:cNvPr>
                <p:cNvSpPr>
                  <a:spLocks/>
                </p:cNvSpPr>
                <p:nvPr/>
              </p:nvSpPr>
              <p:spPr bwMode="auto">
                <a:xfrm>
                  <a:off x="2201" y="3705"/>
                  <a:ext cx="16" cy="8"/>
                </a:xfrm>
                <a:custGeom>
                  <a:avLst/>
                  <a:gdLst>
                    <a:gd name="T0" fmla="*/ 0 w 185"/>
                    <a:gd name="T1" fmla="*/ 0 h 96"/>
                    <a:gd name="T2" fmla="*/ 0 w 185"/>
                    <a:gd name="T3" fmla="*/ 0 h 96"/>
                    <a:gd name="T4" fmla="*/ 0 w 185"/>
                    <a:gd name="T5" fmla="*/ 0 h 96"/>
                    <a:gd name="T6" fmla="*/ 0 w 185"/>
                    <a:gd name="T7" fmla="*/ 0 h 96"/>
                    <a:gd name="T8" fmla="*/ 0 w 185"/>
                    <a:gd name="T9" fmla="*/ 0 h 96"/>
                    <a:gd name="T10" fmla="*/ 0 w 185"/>
                    <a:gd name="T11" fmla="*/ 0 h 96"/>
                    <a:gd name="T12" fmla="*/ 0 w 185"/>
                    <a:gd name="T13" fmla="*/ 0 h 96"/>
                    <a:gd name="T14" fmla="*/ 0 60000 65536"/>
                    <a:gd name="T15" fmla="*/ 0 60000 65536"/>
                    <a:gd name="T16" fmla="*/ 0 60000 65536"/>
                    <a:gd name="T17" fmla="*/ 0 60000 65536"/>
                    <a:gd name="T18" fmla="*/ 0 60000 65536"/>
                    <a:gd name="T19" fmla="*/ 0 60000 65536"/>
                    <a:gd name="T20" fmla="*/ 0 60000 65536"/>
                    <a:gd name="T21" fmla="*/ 0 w 185"/>
                    <a:gd name="T22" fmla="*/ 0 h 96"/>
                    <a:gd name="T23" fmla="*/ 185 w 185"/>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96">
                      <a:moveTo>
                        <a:pt x="0" y="0"/>
                      </a:moveTo>
                      <a:lnTo>
                        <a:pt x="38" y="21"/>
                      </a:lnTo>
                      <a:lnTo>
                        <a:pt x="66" y="52"/>
                      </a:lnTo>
                      <a:lnTo>
                        <a:pt x="101" y="85"/>
                      </a:lnTo>
                      <a:lnTo>
                        <a:pt x="129" y="96"/>
                      </a:lnTo>
                      <a:lnTo>
                        <a:pt x="139" y="96"/>
                      </a:lnTo>
                      <a:lnTo>
                        <a:pt x="185"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 name="Freeform 1750">
                  <a:extLst>
                    <a:ext uri="{FF2B5EF4-FFF2-40B4-BE49-F238E27FC236}">
                      <a16:creationId xmlns:a16="http://schemas.microsoft.com/office/drawing/2014/main" id="{62F44A06-C955-4EBE-80AE-AF0532839917}"/>
                    </a:ext>
                  </a:extLst>
                </p:cNvPr>
                <p:cNvSpPr>
                  <a:spLocks/>
                </p:cNvSpPr>
                <p:nvPr/>
              </p:nvSpPr>
              <p:spPr bwMode="auto">
                <a:xfrm>
                  <a:off x="2078" y="3695"/>
                  <a:ext cx="8"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4" name="Freeform 1751">
                  <a:extLst>
                    <a:ext uri="{FF2B5EF4-FFF2-40B4-BE49-F238E27FC236}">
                      <a16:creationId xmlns:a16="http://schemas.microsoft.com/office/drawing/2014/main" id="{3638A024-801A-4284-B364-82C0BDFD11E7}"/>
                    </a:ext>
                  </a:extLst>
                </p:cNvPr>
                <p:cNvSpPr>
                  <a:spLocks/>
                </p:cNvSpPr>
                <p:nvPr/>
              </p:nvSpPr>
              <p:spPr bwMode="auto">
                <a:xfrm>
                  <a:off x="2102" y="3670"/>
                  <a:ext cx="1" cy="4"/>
                </a:xfrm>
                <a:custGeom>
                  <a:avLst/>
                  <a:gdLst>
                    <a:gd name="T0" fmla="*/ 0 w 18"/>
                    <a:gd name="T1" fmla="*/ 0 h 44"/>
                    <a:gd name="T2" fmla="*/ 0 w 18"/>
                    <a:gd name="T3" fmla="*/ 0 h 44"/>
                    <a:gd name="T4" fmla="*/ 0 w 18"/>
                    <a:gd name="T5" fmla="*/ 0 h 44"/>
                    <a:gd name="T6" fmla="*/ 0 w 18"/>
                    <a:gd name="T7" fmla="*/ 0 h 44"/>
                    <a:gd name="T8" fmla="*/ 0 60000 65536"/>
                    <a:gd name="T9" fmla="*/ 0 60000 65536"/>
                    <a:gd name="T10" fmla="*/ 0 60000 65536"/>
                    <a:gd name="T11" fmla="*/ 0 60000 65536"/>
                    <a:gd name="T12" fmla="*/ 0 w 18"/>
                    <a:gd name="T13" fmla="*/ 0 h 44"/>
                    <a:gd name="T14" fmla="*/ 18 w 18"/>
                    <a:gd name="T15" fmla="*/ 44 h 44"/>
                  </a:gdLst>
                  <a:ahLst/>
                  <a:cxnLst>
                    <a:cxn ang="T8">
                      <a:pos x="T0" y="T1"/>
                    </a:cxn>
                    <a:cxn ang="T9">
                      <a:pos x="T2" y="T3"/>
                    </a:cxn>
                    <a:cxn ang="T10">
                      <a:pos x="T4" y="T5"/>
                    </a:cxn>
                    <a:cxn ang="T11">
                      <a:pos x="T6" y="T7"/>
                    </a:cxn>
                  </a:cxnLst>
                  <a:rect l="T12" t="T13" r="T14" b="T15"/>
                  <a:pathLst>
                    <a:path w="18" h="44">
                      <a:moveTo>
                        <a:pt x="0" y="0"/>
                      </a:moveTo>
                      <a:lnTo>
                        <a:pt x="18" y="18"/>
                      </a:lnTo>
                      <a:lnTo>
                        <a:pt x="16" y="29"/>
                      </a:lnTo>
                      <a:lnTo>
                        <a:pt x="18"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5" name="Freeform 1752">
                  <a:extLst>
                    <a:ext uri="{FF2B5EF4-FFF2-40B4-BE49-F238E27FC236}">
                      <a16:creationId xmlns:a16="http://schemas.microsoft.com/office/drawing/2014/main" id="{16CB34C9-199C-4B7D-BE75-084E287D6D39}"/>
                    </a:ext>
                  </a:extLst>
                </p:cNvPr>
                <p:cNvSpPr>
                  <a:spLocks/>
                </p:cNvSpPr>
                <p:nvPr/>
              </p:nvSpPr>
              <p:spPr bwMode="auto">
                <a:xfrm>
                  <a:off x="2095" y="3668"/>
                  <a:ext cx="15" cy="2"/>
                </a:xfrm>
                <a:custGeom>
                  <a:avLst/>
                  <a:gdLst>
                    <a:gd name="T0" fmla="*/ 0 w 179"/>
                    <a:gd name="T1" fmla="*/ 0 h 22"/>
                    <a:gd name="T2" fmla="*/ 0 w 179"/>
                    <a:gd name="T3" fmla="*/ 0 h 22"/>
                    <a:gd name="T4" fmla="*/ 0 w 179"/>
                    <a:gd name="T5" fmla="*/ 0 h 22"/>
                    <a:gd name="T6" fmla="*/ 0 w 179"/>
                    <a:gd name="T7" fmla="*/ 0 h 22"/>
                    <a:gd name="T8" fmla="*/ 0 w 179"/>
                    <a:gd name="T9" fmla="*/ 0 h 22"/>
                    <a:gd name="T10" fmla="*/ 0 60000 65536"/>
                    <a:gd name="T11" fmla="*/ 0 60000 65536"/>
                    <a:gd name="T12" fmla="*/ 0 60000 65536"/>
                    <a:gd name="T13" fmla="*/ 0 60000 65536"/>
                    <a:gd name="T14" fmla="*/ 0 60000 65536"/>
                    <a:gd name="T15" fmla="*/ 0 w 179"/>
                    <a:gd name="T16" fmla="*/ 0 h 22"/>
                    <a:gd name="T17" fmla="*/ 179 w 179"/>
                    <a:gd name="T18" fmla="*/ 22 h 22"/>
                  </a:gdLst>
                  <a:ahLst/>
                  <a:cxnLst>
                    <a:cxn ang="T10">
                      <a:pos x="T0" y="T1"/>
                    </a:cxn>
                    <a:cxn ang="T11">
                      <a:pos x="T2" y="T3"/>
                    </a:cxn>
                    <a:cxn ang="T12">
                      <a:pos x="T4" y="T5"/>
                    </a:cxn>
                    <a:cxn ang="T13">
                      <a:pos x="T6" y="T7"/>
                    </a:cxn>
                    <a:cxn ang="T14">
                      <a:pos x="T8" y="T9"/>
                    </a:cxn>
                  </a:cxnLst>
                  <a:rect l="T15" t="T16" r="T17" b="T18"/>
                  <a:pathLst>
                    <a:path w="179" h="22">
                      <a:moveTo>
                        <a:pt x="179" y="11"/>
                      </a:moveTo>
                      <a:lnTo>
                        <a:pt x="151" y="22"/>
                      </a:lnTo>
                      <a:lnTo>
                        <a:pt x="39" y="22"/>
                      </a:lnTo>
                      <a:lnTo>
                        <a:pt x="18" y="10"/>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28" name="Group 1753">
                <a:extLst>
                  <a:ext uri="{FF2B5EF4-FFF2-40B4-BE49-F238E27FC236}">
                    <a16:creationId xmlns:a16="http://schemas.microsoft.com/office/drawing/2014/main" id="{98BCF9FB-CBC5-4631-A2F9-FD39EC08B3D3}"/>
                  </a:ext>
                </a:extLst>
              </p:cNvPr>
              <p:cNvGrpSpPr>
                <a:grpSpLocks/>
              </p:cNvGrpSpPr>
              <p:nvPr/>
            </p:nvGrpSpPr>
            <p:grpSpPr bwMode="auto">
              <a:xfrm>
                <a:off x="2093" y="3659"/>
                <a:ext cx="95" cy="91"/>
                <a:chOff x="2093" y="3659"/>
                <a:chExt cx="95" cy="91"/>
              </a:xfrm>
            </p:grpSpPr>
            <p:sp>
              <p:nvSpPr>
                <p:cNvPr id="529" name="Freeform 1754">
                  <a:extLst>
                    <a:ext uri="{FF2B5EF4-FFF2-40B4-BE49-F238E27FC236}">
                      <a16:creationId xmlns:a16="http://schemas.microsoft.com/office/drawing/2014/main" id="{1C9E83E8-2568-4923-AB75-85CAC7FAEADF}"/>
                    </a:ext>
                  </a:extLst>
                </p:cNvPr>
                <p:cNvSpPr>
                  <a:spLocks/>
                </p:cNvSpPr>
                <p:nvPr/>
              </p:nvSpPr>
              <p:spPr bwMode="auto">
                <a:xfrm>
                  <a:off x="2100" y="3676"/>
                  <a:ext cx="88" cy="74"/>
                </a:xfrm>
                <a:custGeom>
                  <a:avLst/>
                  <a:gdLst>
                    <a:gd name="T0" fmla="*/ 0 w 1061"/>
                    <a:gd name="T1" fmla="*/ 0 h 894"/>
                    <a:gd name="T2" fmla="*/ 0 w 1061"/>
                    <a:gd name="T3" fmla="*/ 0 h 894"/>
                    <a:gd name="T4" fmla="*/ 0 w 1061"/>
                    <a:gd name="T5" fmla="*/ 0 h 894"/>
                    <a:gd name="T6" fmla="*/ 0 w 1061"/>
                    <a:gd name="T7" fmla="*/ 0 h 894"/>
                    <a:gd name="T8" fmla="*/ 0 w 1061"/>
                    <a:gd name="T9" fmla="*/ 0 h 894"/>
                    <a:gd name="T10" fmla="*/ 0 w 1061"/>
                    <a:gd name="T11" fmla="*/ 0 h 894"/>
                    <a:gd name="T12" fmla="*/ 0 w 1061"/>
                    <a:gd name="T13" fmla="*/ 0 h 894"/>
                    <a:gd name="T14" fmla="*/ 0 w 1061"/>
                    <a:gd name="T15" fmla="*/ 0 h 894"/>
                    <a:gd name="T16" fmla="*/ 0 w 1061"/>
                    <a:gd name="T17" fmla="*/ 0 h 894"/>
                    <a:gd name="T18" fmla="*/ 0 w 1061"/>
                    <a:gd name="T19" fmla="*/ 0 h 894"/>
                    <a:gd name="T20" fmla="*/ 0 w 1061"/>
                    <a:gd name="T21" fmla="*/ 0 h 894"/>
                    <a:gd name="T22" fmla="*/ 0 w 1061"/>
                    <a:gd name="T23" fmla="*/ 0 h 894"/>
                    <a:gd name="T24" fmla="*/ 0 w 1061"/>
                    <a:gd name="T25" fmla="*/ 0 h 894"/>
                    <a:gd name="T26" fmla="*/ 0 w 1061"/>
                    <a:gd name="T27" fmla="*/ 0 h 894"/>
                    <a:gd name="T28" fmla="*/ 0 w 1061"/>
                    <a:gd name="T29" fmla="*/ 0 h 894"/>
                    <a:gd name="T30" fmla="*/ 0 w 1061"/>
                    <a:gd name="T31" fmla="*/ 0 h 894"/>
                    <a:gd name="T32" fmla="*/ 0 w 1061"/>
                    <a:gd name="T33" fmla="*/ 0 h 894"/>
                    <a:gd name="T34" fmla="*/ 0 w 1061"/>
                    <a:gd name="T35" fmla="*/ 0 h 894"/>
                    <a:gd name="T36" fmla="*/ 0 w 1061"/>
                    <a:gd name="T37" fmla="*/ 0 h 894"/>
                    <a:gd name="T38" fmla="*/ 0 w 1061"/>
                    <a:gd name="T39" fmla="*/ 0 h 894"/>
                    <a:gd name="T40" fmla="*/ 0 w 1061"/>
                    <a:gd name="T41" fmla="*/ 0 h 894"/>
                    <a:gd name="T42" fmla="*/ 0 w 1061"/>
                    <a:gd name="T43" fmla="*/ 0 h 894"/>
                    <a:gd name="T44" fmla="*/ 0 w 1061"/>
                    <a:gd name="T45" fmla="*/ 0 h 894"/>
                    <a:gd name="T46" fmla="*/ 0 w 1061"/>
                    <a:gd name="T47" fmla="*/ 0 h 894"/>
                    <a:gd name="T48" fmla="*/ 0 w 1061"/>
                    <a:gd name="T49" fmla="*/ 0 h 894"/>
                    <a:gd name="T50" fmla="*/ 0 w 1061"/>
                    <a:gd name="T51" fmla="*/ 0 h 894"/>
                    <a:gd name="T52" fmla="*/ 0 w 1061"/>
                    <a:gd name="T53" fmla="*/ 0 h 894"/>
                    <a:gd name="T54" fmla="*/ 0 w 1061"/>
                    <a:gd name="T55" fmla="*/ 0 h 894"/>
                    <a:gd name="T56" fmla="*/ 0 w 1061"/>
                    <a:gd name="T57" fmla="*/ 0 h 894"/>
                    <a:gd name="T58" fmla="*/ 0 w 1061"/>
                    <a:gd name="T59" fmla="*/ 0 h 894"/>
                    <a:gd name="T60" fmla="*/ 0 w 1061"/>
                    <a:gd name="T61" fmla="*/ 0 h 894"/>
                    <a:gd name="T62" fmla="*/ 0 w 1061"/>
                    <a:gd name="T63" fmla="*/ 0 h 894"/>
                    <a:gd name="T64" fmla="*/ 0 w 1061"/>
                    <a:gd name="T65" fmla="*/ 0 h 894"/>
                    <a:gd name="T66" fmla="*/ 0 w 1061"/>
                    <a:gd name="T67" fmla="*/ 0 h 894"/>
                    <a:gd name="T68" fmla="*/ 0 w 1061"/>
                    <a:gd name="T69" fmla="*/ 0 h 894"/>
                    <a:gd name="T70" fmla="*/ 0 w 1061"/>
                    <a:gd name="T71" fmla="*/ 0 h 894"/>
                    <a:gd name="T72" fmla="*/ 0 w 1061"/>
                    <a:gd name="T73" fmla="*/ 0 h 894"/>
                    <a:gd name="T74" fmla="*/ 0 w 1061"/>
                    <a:gd name="T75" fmla="*/ 0 h 894"/>
                    <a:gd name="T76" fmla="*/ 0 w 1061"/>
                    <a:gd name="T77" fmla="*/ 0 h 894"/>
                    <a:gd name="T78" fmla="*/ 0 w 1061"/>
                    <a:gd name="T79" fmla="*/ 0 h 894"/>
                    <a:gd name="T80" fmla="*/ 0 w 1061"/>
                    <a:gd name="T81" fmla="*/ 0 h 894"/>
                    <a:gd name="T82" fmla="*/ 0 w 1061"/>
                    <a:gd name="T83" fmla="*/ 0 h 894"/>
                    <a:gd name="T84" fmla="*/ 0 w 1061"/>
                    <a:gd name="T85" fmla="*/ 0 h 894"/>
                    <a:gd name="T86" fmla="*/ 0 w 1061"/>
                    <a:gd name="T87" fmla="*/ 0 h 894"/>
                    <a:gd name="T88" fmla="*/ 0 w 1061"/>
                    <a:gd name="T89" fmla="*/ 0 h 894"/>
                    <a:gd name="T90" fmla="*/ 0 w 1061"/>
                    <a:gd name="T91" fmla="*/ 0 h 894"/>
                    <a:gd name="T92" fmla="*/ 0 w 1061"/>
                    <a:gd name="T93" fmla="*/ 0 h 894"/>
                    <a:gd name="T94" fmla="*/ 0 w 1061"/>
                    <a:gd name="T95" fmla="*/ 0 h 894"/>
                    <a:gd name="T96" fmla="*/ 0 w 1061"/>
                    <a:gd name="T97" fmla="*/ 0 h 894"/>
                    <a:gd name="T98" fmla="*/ 0 w 1061"/>
                    <a:gd name="T99" fmla="*/ 0 h 894"/>
                    <a:gd name="T100" fmla="*/ 0 w 1061"/>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1"/>
                    <a:gd name="T154" fmla="*/ 0 h 894"/>
                    <a:gd name="T155" fmla="*/ 1061 w 1061"/>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1" h="894">
                      <a:moveTo>
                        <a:pt x="1061" y="487"/>
                      </a:moveTo>
                      <a:lnTo>
                        <a:pt x="982" y="517"/>
                      </a:lnTo>
                      <a:lnTo>
                        <a:pt x="886" y="555"/>
                      </a:lnTo>
                      <a:lnTo>
                        <a:pt x="827" y="593"/>
                      </a:lnTo>
                      <a:lnTo>
                        <a:pt x="779" y="652"/>
                      </a:lnTo>
                      <a:lnTo>
                        <a:pt x="750" y="739"/>
                      </a:lnTo>
                      <a:lnTo>
                        <a:pt x="730" y="807"/>
                      </a:lnTo>
                      <a:lnTo>
                        <a:pt x="671" y="875"/>
                      </a:lnTo>
                      <a:lnTo>
                        <a:pt x="574" y="894"/>
                      </a:lnTo>
                      <a:lnTo>
                        <a:pt x="506" y="865"/>
                      </a:lnTo>
                      <a:lnTo>
                        <a:pt x="457" y="826"/>
                      </a:lnTo>
                      <a:lnTo>
                        <a:pt x="454" y="784"/>
                      </a:lnTo>
                      <a:lnTo>
                        <a:pt x="447" y="749"/>
                      </a:lnTo>
                      <a:lnTo>
                        <a:pt x="409" y="690"/>
                      </a:lnTo>
                      <a:lnTo>
                        <a:pt x="321" y="662"/>
                      </a:lnTo>
                      <a:lnTo>
                        <a:pt x="389" y="617"/>
                      </a:lnTo>
                      <a:lnTo>
                        <a:pt x="460" y="603"/>
                      </a:lnTo>
                      <a:lnTo>
                        <a:pt x="493" y="584"/>
                      </a:lnTo>
                      <a:lnTo>
                        <a:pt x="431" y="581"/>
                      </a:lnTo>
                      <a:lnTo>
                        <a:pt x="360" y="603"/>
                      </a:lnTo>
                      <a:lnTo>
                        <a:pt x="282" y="633"/>
                      </a:lnTo>
                      <a:lnTo>
                        <a:pt x="247" y="603"/>
                      </a:lnTo>
                      <a:lnTo>
                        <a:pt x="240" y="565"/>
                      </a:lnTo>
                      <a:lnTo>
                        <a:pt x="237" y="520"/>
                      </a:lnTo>
                      <a:lnTo>
                        <a:pt x="224" y="477"/>
                      </a:lnTo>
                      <a:lnTo>
                        <a:pt x="175" y="468"/>
                      </a:lnTo>
                      <a:lnTo>
                        <a:pt x="136" y="484"/>
                      </a:lnTo>
                      <a:lnTo>
                        <a:pt x="104" y="514"/>
                      </a:lnTo>
                      <a:lnTo>
                        <a:pt x="58" y="542"/>
                      </a:lnTo>
                      <a:lnTo>
                        <a:pt x="0" y="593"/>
                      </a:lnTo>
                      <a:lnTo>
                        <a:pt x="58" y="507"/>
                      </a:lnTo>
                      <a:lnTo>
                        <a:pt x="165" y="420"/>
                      </a:lnTo>
                      <a:lnTo>
                        <a:pt x="234" y="380"/>
                      </a:lnTo>
                      <a:lnTo>
                        <a:pt x="295" y="364"/>
                      </a:lnTo>
                      <a:lnTo>
                        <a:pt x="348" y="368"/>
                      </a:lnTo>
                      <a:lnTo>
                        <a:pt x="402" y="355"/>
                      </a:lnTo>
                      <a:lnTo>
                        <a:pt x="487" y="332"/>
                      </a:lnTo>
                      <a:lnTo>
                        <a:pt x="593" y="288"/>
                      </a:lnTo>
                      <a:lnTo>
                        <a:pt x="694" y="239"/>
                      </a:lnTo>
                      <a:lnTo>
                        <a:pt x="753" y="210"/>
                      </a:lnTo>
                      <a:lnTo>
                        <a:pt x="785" y="168"/>
                      </a:lnTo>
                      <a:lnTo>
                        <a:pt x="801" y="116"/>
                      </a:lnTo>
                      <a:lnTo>
                        <a:pt x="798" y="62"/>
                      </a:lnTo>
                      <a:lnTo>
                        <a:pt x="785" y="0"/>
                      </a:lnTo>
                      <a:lnTo>
                        <a:pt x="846" y="68"/>
                      </a:lnTo>
                      <a:lnTo>
                        <a:pt x="896" y="145"/>
                      </a:lnTo>
                      <a:lnTo>
                        <a:pt x="953" y="245"/>
                      </a:lnTo>
                      <a:lnTo>
                        <a:pt x="979" y="300"/>
                      </a:lnTo>
                      <a:lnTo>
                        <a:pt x="1006" y="348"/>
                      </a:lnTo>
                      <a:lnTo>
                        <a:pt x="1041" y="401"/>
                      </a:lnTo>
                      <a:lnTo>
                        <a:pt x="1061"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0" name="Freeform 1755">
                  <a:extLst>
                    <a:ext uri="{FF2B5EF4-FFF2-40B4-BE49-F238E27FC236}">
                      <a16:creationId xmlns:a16="http://schemas.microsoft.com/office/drawing/2014/main" id="{F9FFCA1C-B724-4E4E-948C-349CFB22C9DE}"/>
                    </a:ext>
                  </a:extLst>
                </p:cNvPr>
                <p:cNvSpPr>
                  <a:spLocks/>
                </p:cNvSpPr>
                <p:nvPr/>
              </p:nvSpPr>
              <p:spPr bwMode="auto">
                <a:xfrm>
                  <a:off x="2093" y="3699"/>
                  <a:ext cx="24" cy="15"/>
                </a:xfrm>
                <a:custGeom>
                  <a:avLst/>
                  <a:gdLst>
                    <a:gd name="T0" fmla="*/ 0 w 288"/>
                    <a:gd name="T1" fmla="*/ 0 h 181"/>
                    <a:gd name="T2" fmla="*/ 0 w 288"/>
                    <a:gd name="T3" fmla="*/ 0 h 181"/>
                    <a:gd name="T4" fmla="*/ 0 w 288"/>
                    <a:gd name="T5" fmla="*/ 0 h 181"/>
                    <a:gd name="T6" fmla="*/ 0 w 288"/>
                    <a:gd name="T7" fmla="*/ 0 h 181"/>
                    <a:gd name="T8" fmla="*/ 0 w 288"/>
                    <a:gd name="T9" fmla="*/ 0 h 181"/>
                    <a:gd name="T10" fmla="*/ 0 w 288"/>
                    <a:gd name="T11" fmla="*/ 0 h 181"/>
                    <a:gd name="T12" fmla="*/ 0 w 288"/>
                    <a:gd name="T13" fmla="*/ 0 h 181"/>
                    <a:gd name="T14" fmla="*/ 0 w 288"/>
                    <a:gd name="T15" fmla="*/ 0 h 181"/>
                    <a:gd name="T16" fmla="*/ 0 w 288"/>
                    <a:gd name="T17" fmla="*/ 0 h 181"/>
                    <a:gd name="T18" fmla="*/ 0 w 288"/>
                    <a:gd name="T19" fmla="*/ 0 h 181"/>
                    <a:gd name="T20" fmla="*/ 0 w 288"/>
                    <a:gd name="T21" fmla="*/ 0 h 181"/>
                    <a:gd name="T22" fmla="*/ 0 w 288"/>
                    <a:gd name="T23" fmla="*/ 0 h 181"/>
                    <a:gd name="T24" fmla="*/ 0 w 288"/>
                    <a:gd name="T25" fmla="*/ 0 h 181"/>
                    <a:gd name="T26" fmla="*/ 0 w 288"/>
                    <a:gd name="T27" fmla="*/ 0 h 181"/>
                    <a:gd name="T28" fmla="*/ 0 w 288"/>
                    <a:gd name="T29" fmla="*/ 0 h 181"/>
                    <a:gd name="T30" fmla="*/ 0 w 288"/>
                    <a:gd name="T31" fmla="*/ 0 h 181"/>
                    <a:gd name="T32" fmla="*/ 0 w 288"/>
                    <a:gd name="T33" fmla="*/ 0 h 181"/>
                    <a:gd name="T34" fmla="*/ 0 w 288"/>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8"/>
                    <a:gd name="T55" fmla="*/ 0 h 181"/>
                    <a:gd name="T56" fmla="*/ 288 w 288"/>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8" h="181">
                      <a:moveTo>
                        <a:pt x="176" y="10"/>
                      </a:moveTo>
                      <a:lnTo>
                        <a:pt x="209" y="20"/>
                      </a:lnTo>
                      <a:lnTo>
                        <a:pt x="246" y="33"/>
                      </a:lnTo>
                      <a:lnTo>
                        <a:pt x="288" y="53"/>
                      </a:lnTo>
                      <a:lnTo>
                        <a:pt x="258" y="67"/>
                      </a:lnTo>
                      <a:lnTo>
                        <a:pt x="203" y="91"/>
                      </a:lnTo>
                      <a:lnTo>
                        <a:pt x="143" y="124"/>
                      </a:lnTo>
                      <a:lnTo>
                        <a:pt x="103" y="161"/>
                      </a:lnTo>
                      <a:lnTo>
                        <a:pt x="79" y="181"/>
                      </a:lnTo>
                      <a:lnTo>
                        <a:pt x="106"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1" name="Freeform 1756">
                  <a:extLst>
                    <a:ext uri="{FF2B5EF4-FFF2-40B4-BE49-F238E27FC236}">
                      <a16:creationId xmlns:a16="http://schemas.microsoft.com/office/drawing/2014/main" id="{8E077DD7-0E7A-4658-A4E6-72D67F8857BD}"/>
                    </a:ext>
                  </a:extLst>
                </p:cNvPr>
                <p:cNvSpPr>
                  <a:spLocks/>
                </p:cNvSpPr>
                <p:nvPr/>
              </p:nvSpPr>
              <p:spPr bwMode="auto">
                <a:xfrm>
                  <a:off x="2115" y="3659"/>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4" y="166"/>
                      </a:lnTo>
                      <a:lnTo>
                        <a:pt x="365" y="206"/>
                      </a:lnTo>
                      <a:lnTo>
                        <a:pt x="314" y="255"/>
                      </a:lnTo>
                      <a:lnTo>
                        <a:pt x="264" y="332"/>
                      </a:lnTo>
                      <a:lnTo>
                        <a:pt x="242" y="385"/>
                      </a:lnTo>
                      <a:lnTo>
                        <a:pt x="258" y="434"/>
                      </a:lnTo>
                      <a:lnTo>
                        <a:pt x="193" y="388"/>
                      </a:lnTo>
                      <a:lnTo>
                        <a:pt x="130" y="365"/>
                      </a:lnTo>
                      <a:lnTo>
                        <a:pt x="81" y="345"/>
                      </a:lnTo>
                      <a:lnTo>
                        <a:pt x="32" y="329"/>
                      </a:lnTo>
                      <a:lnTo>
                        <a:pt x="0" y="313"/>
                      </a:lnTo>
                      <a:lnTo>
                        <a:pt x="42" y="255"/>
                      </a:lnTo>
                      <a:lnTo>
                        <a:pt x="81" y="283"/>
                      </a:lnTo>
                      <a:lnTo>
                        <a:pt x="143" y="313"/>
                      </a:lnTo>
                      <a:lnTo>
                        <a:pt x="196" y="313"/>
                      </a:lnTo>
                      <a:lnTo>
                        <a:pt x="245" y="304"/>
                      </a:lnTo>
                      <a:lnTo>
                        <a:pt x="274" y="293"/>
                      </a:lnTo>
                      <a:lnTo>
                        <a:pt x="304" y="274"/>
                      </a:lnTo>
                      <a:lnTo>
                        <a:pt x="314" y="212"/>
                      </a:lnTo>
                      <a:lnTo>
                        <a:pt x="304" y="166"/>
                      </a:lnTo>
                      <a:lnTo>
                        <a:pt x="274" y="108"/>
                      </a:lnTo>
                      <a:lnTo>
                        <a:pt x="264" y="78"/>
                      </a:lnTo>
                      <a:lnTo>
                        <a:pt x="307" y="68"/>
                      </a:lnTo>
                      <a:lnTo>
                        <a:pt x="362" y="52"/>
                      </a:lnTo>
                      <a:lnTo>
                        <a:pt x="398" y="9"/>
                      </a:lnTo>
                      <a:lnTo>
                        <a:pt x="431" y="0"/>
                      </a:lnTo>
                      <a:lnTo>
                        <a:pt x="467" y="55"/>
                      </a:lnTo>
                      <a:lnTo>
                        <a:pt x="499"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74" name="Group 1757">
              <a:extLst>
                <a:ext uri="{FF2B5EF4-FFF2-40B4-BE49-F238E27FC236}">
                  <a16:creationId xmlns:a16="http://schemas.microsoft.com/office/drawing/2014/main" id="{1896219A-A40A-4BE3-9FD7-8D5AF11305C3}"/>
                </a:ext>
              </a:extLst>
            </p:cNvPr>
            <p:cNvGrpSpPr>
              <a:grpSpLocks/>
            </p:cNvGrpSpPr>
            <p:nvPr/>
          </p:nvGrpSpPr>
          <p:grpSpPr bwMode="auto">
            <a:xfrm>
              <a:off x="2117" y="3557"/>
              <a:ext cx="140" cy="274"/>
              <a:chOff x="2117" y="3557"/>
              <a:chExt cx="140" cy="274"/>
            </a:xfrm>
          </p:grpSpPr>
          <p:sp>
            <p:nvSpPr>
              <p:cNvPr id="486" name="Freeform 1758">
                <a:extLst>
                  <a:ext uri="{FF2B5EF4-FFF2-40B4-BE49-F238E27FC236}">
                    <a16:creationId xmlns:a16="http://schemas.microsoft.com/office/drawing/2014/main" id="{18A38CD6-C3D1-45E8-9B78-D1AE8C8EE461}"/>
                  </a:ext>
                </a:extLst>
              </p:cNvPr>
              <p:cNvSpPr>
                <a:spLocks/>
              </p:cNvSpPr>
              <p:nvPr/>
            </p:nvSpPr>
            <p:spPr bwMode="auto">
              <a:xfrm>
                <a:off x="2126" y="3753"/>
                <a:ext cx="129"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7"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487" name="Freeform 1759">
                <a:extLst>
                  <a:ext uri="{FF2B5EF4-FFF2-40B4-BE49-F238E27FC236}">
                    <a16:creationId xmlns:a16="http://schemas.microsoft.com/office/drawing/2014/main" id="{764694D8-891F-4841-AC83-E6E65F6C5FB4}"/>
                  </a:ext>
                </a:extLst>
              </p:cNvPr>
              <p:cNvSpPr>
                <a:spLocks/>
              </p:cNvSpPr>
              <p:nvPr/>
            </p:nvSpPr>
            <p:spPr bwMode="auto">
              <a:xfrm>
                <a:off x="2172" y="3787"/>
                <a:ext cx="85"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6" y="179"/>
                    </a:lnTo>
                    <a:lnTo>
                      <a:pt x="944" y="523"/>
                    </a:lnTo>
                    <a:lnTo>
                      <a:pt x="963" y="528"/>
                    </a:lnTo>
                    <a:lnTo>
                      <a:pt x="980" y="523"/>
                    </a:lnTo>
                    <a:lnTo>
                      <a:pt x="995" y="505"/>
                    </a:lnTo>
                    <a:lnTo>
                      <a:pt x="1014" y="461"/>
                    </a:lnTo>
                    <a:lnTo>
                      <a:pt x="1023" y="428"/>
                    </a:lnTo>
                    <a:lnTo>
                      <a:pt x="1027" y="398"/>
                    </a:lnTo>
                    <a:lnTo>
                      <a:pt x="1019" y="366"/>
                    </a:lnTo>
                    <a:lnTo>
                      <a:pt x="999"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488" name="Freeform 1760">
                <a:extLst>
                  <a:ext uri="{FF2B5EF4-FFF2-40B4-BE49-F238E27FC236}">
                    <a16:creationId xmlns:a16="http://schemas.microsoft.com/office/drawing/2014/main" id="{97C3D52E-ACB6-4C43-84D7-32BC0259257D}"/>
                  </a:ext>
                </a:extLst>
              </p:cNvPr>
              <p:cNvSpPr>
                <a:spLocks/>
              </p:cNvSpPr>
              <p:nvPr/>
            </p:nvSpPr>
            <p:spPr bwMode="auto">
              <a:xfrm>
                <a:off x="2117" y="3557"/>
                <a:ext cx="123" cy="245"/>
              </a:xfrm>
              <a:custGeom>
                <a:avLst/>
                <a:gdLst>
                  <a:gd name="T0" fmla="*/ 0 w 1479"/>
                  <a:gd name="T1" fmla="*/ 0 h 2948"/>
                  <a:gd name="T2" fmla="*/ 0 w 1479"/>
                  <a:gd name="T3" fmla="*/ 0 h 2948"/>
                  <a:gd name="T4" fmla="*/ 0 w 1479"/>
                  <a:gd name="T5" fmla="*/ 0 h 2948"/>
                  <a:gd name="T6" fmla="*/ 0 w 1479"/>
                  <a:gd name="T7" fmla="*/ 0 h 2948"/>
                  <a:gd name="T8" fmla="*/ 0 w 1479"/>
                  <a:gd name="T9" fmla="*/ 0 h 2948"/>
                  <a:gd name="T10" fmla="*/ 0 w 1479"/>
                  <a:gd name="T11" fmla="*/ 0 h 2948"/>
                  <a:gd name="T12" fmla="*/ 0 w 1479"/>
                  <a:gd name="T13" fmla="*/ 0 h 2948"/>
                  <a:gd name="T14" fmla="*/ 0 w 1479"/>
                  <a:gd name="T15" fmla="*/ 0 h 2948"/>
                  <a:gd name="T16" fmla="*/ 0 w 1479"/>
                  <a:gd name="T17" fmla="*/ 0 h 2948"/>
                  <a:gd name="T18" fmla="*/ 0 w 1479"/>
                  <a:gd name="T19" fmla="*/ 0 h 2948"/>
                  <a:gd name="T20" fmla="*/ 0 w 1479"/>
                  <a:gd name="T21" fmla="*/ 0 h 2948"/>
                  <a:gd name="T22" fmla="*/ 0 w 1479"/>
                  <a:gd name="T23" fmla="*/ 0 h 2948"/>
                  <a:gd name="T24" fmla="*/ 0 w 1479"/>
                  <a:gd name="T25" fmla="*/ 0 h 2948"/>
                  <a:gd name="T26" fmla="*/ 0 w 1479"/>
                  <a:gd name="T27" fmla="*/ 0 h 2948"/>
                  <a:gd name="T28" fmla="*/ 0 w 1479"/>
                  <a:gd name="T29" fmla="*/ 0 h 2948"/>
                  <a:gd name="T30" fmla="*/ 0 w 1479"/>
                  <a:gd name="T31" fmla="*/ 0 h 2948"/>
                  <a:gd name="T32" fmla="*/ 0 w 1479"/>
                  <a:gd name="T33" fmla="*/ 0 h 2948"/>
                  <a:gd name="T34" fmla="*/ 0 w 1479"/>
                  <a:gd name="T35" fmla="*/ 0 h 2948"/>
                  <a:gd name="T36" fmla="*/ 0 w 1479"/>
                  <a:gd name="T37" fmla="*/ 0 h 2948"/>
                  <a:gd name="T38" fmla="*/ 0 w 1479"/>
                  <a:gd name="T39" fmla="*/ 0 h 2948"/>
                  <a:gd name="T40" fmla="*/ 0 w 1479"/>
                  <a:gd name="T41" fmla="*/ 0 h 2948"/>
                  <a:gd name="T42" fmla="*/ 0 w 1479"/>
                  <a:gd name="T43" fmla="*/ 0 h 2948"/>
                  <a:gd name="T44" fmla="*/ 0 w 1479"/>
                  <a:gd name="T45" fmla="*/ 0 h 2948"/>
                  <a:gd name="T46" fmla="*/ 0 w 1479"/>
                  <a:gd name="T47" fmla="*/ 0 h 2948"/>
                  <a:gd name="T48" fmla="*/ 0 w 1479"/>
                  <a:gd name="T49" fmla="*/ 0 h 2948"/>
                  <a:gd name="T50" fmla="*/ 0 w 1479"/>
                  <a:gd name="T51" fmla="*/ 0 h 2948"/>
                  <a:gd name="T52" fmla="*/ 0 w 1479"/>
                  <a:gd name="T53" fmla="*/ 0 h 2948"/>
                  <a:gd name="T54" fmla="*/ 0 w 1479"/>
                  <a:gd name="T55" fmla="*/ 0 h 2948"/>
                  <a:gd name="T56" fmla="*/ 0 w 1479"/>
                  <a:gd name="T57" fmla="*/ 0 h 2948"/>
                  <a:gd name="T58" fmla="*/ 0 w 1479"/>
                  <a:gd name="T59" fmla="*/ 0 h 2948"/>
                  <a:gd name="T60" fmla="*/ 0 w 1479"/>
                  <a:gd name="T61" fmla="*/ 0 h 2948"/>
                  <a:gd name="T62" fmla="*/ 0 w 1479"/>
                  <a:gd name="T63" fmla="*/ 0 h 2948"/>
                  <a:gd name="T64" fmla="*/ 0 w 1479"/>
                  <a:gd name="T65" fmla="*/ 0 h 2948"/>
                  <a:gd name="T66" fmla="*/ 0 w 1479"/>
                  <a:gd name="T67" fmla="*/ 0 h 2948"/>
                  <a:gd name="T68" fmla="*/ 0 w 1479"/>
                  <a:gd name="T69" fmla="*/ 0 h 2948"/>
                  <a:gd name="T70" fmla="*/ 0 w 1479"/>
                  <a:gd name="T71" fmla="*/ 0 h 2948"/>
                  <a:gd name="T72" fmla="*/ 0 w 1479"/>
                  <a:gd name="T73" fmla="*/ 0 h 2948"/>
                  <a:gd name="T74" fmla="*/ 0 w 1479"/>
                  <a:gd name="T75" fmla="*/ 0 h 2948"/>
                  <a:gd name="T76" fmla="*/ 0 w 1479"/>
                  <a:gd name="T77" fmla="*/ 0 h 2948"/>
                  <a:gd name="T78" fmla="*/ 0 w 1479"/>
                  <a:gd name="T79" fmla="*/ 0 h 2948"/>
                  <a:gd name="T80" fmla="*/ 0 w 1479"/>
                  <a:gd name="T81" fmla="*/ 0 h 2948"/>
                  <a:gd name="T82" fmla="*/ 0 w 1479"/>
                  <a:gd name="T83" fmla="*/ 0 h 2948"/>
                  <a:gd name="T84" fmla="*/ 0 w 1479"/>
                  <a:gd name="T85" fmla="*/ 0 h 2948"/>
                  <a:gd name="T86" fmla="*/ 0 w 1479"/>
                  <a:gd name="T87" fmla="*/ 0 h 2948"/>
                  <a:gd name="T88" fmla="*/ 0 w 1479"/>
                  <a:gd name="T89" fmla="*/ 0 h 2948"/>
                  <a:gd name="T90" fmla="*/ 0 w 1479"/>
                  <a:gd name="T91" fmla="*/ 0 h 2948"/>
                  <a:gd name="T92" fmla="*/ 0 w 1479"/>
                  <a:gd name="T93" fmla="*/ 0 h 2948"/>
                  <a:gd name="T94" fmla="*/ 0 w 1479"/>
                  <a:gd name="T95" fmla="*/ 0 h 2948"/>
                  <a:gd name="T96" fmla="*/ 0 w 1479"/>
                  <a:gd name="T97" fmla="*/ 0 h 2948"/>
                  <a:gd name="T98" fmla="*/ 0 w 1479"/>
                  <a:gd name="T99" fmla="*/ 0 h 2948"/>
                  <a:gd name="T100" fmla="*/ 0 w 1479"/>
                  <a:gd name="T101" fmla="*/ 0 h 2948"/>
                  <a:gd name="T102" fmla="*/ 0 w 1479"/>
                  <a:gd name="T103" fmla="*/ 0 h 2948"/>
                  <a:gd name="T104" fmla="*/ 0 w 1479"/>
                  <a:gd name="T105" fmla="*/ 0 h 2948"/>
                  <a:gd name="T106" fmla="*/ 0 w 1479"/>
                  <a:gd name="T107" fmla="*/ 0 h 2948"/>
                  <a:gd name="T108" fmla="*/ 0 w 1479"/>
                  <a:gd name="T109" fmla="*/ 0 h 2948"/>
                  <a:gd name="T110" fmla="*/ 0 w 1479"/>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9"/>
                  <a:gd name="T169" fmla="*/ 0 h 2948"/>
                  <a:gd name="T170" fmla="*/ 1479 w 1479"/>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9" h="2948">
                    <a:moveTo>
                      <a:pt x="1479" y="384"/>
                    </a:moveTo>
                    <a:lnTo>
                      <a:pt x="1476" y="353"/>
                    </a:lnTo>
                    <a:lnTo>
                      <a:pt x="1461" y="332"/>
                    </a:lnTo>
                    <a:lnTo>
                      <a:pt x="1438" y="306"/>
                    </a:lnTo>
                    <a:lnTo>
                      <a:pt x="1360" y="255"/>
                    </a:lnTo>
                    <a:lnTo>
                      <a:pt x="1008" y="61"/>
                    </a:lnTo>
                    <a:lnTo>
                      <a:pt x="958" y="38"/>
                    </a:lnTo>
                    <a:lnTo>
                      <a:pt x="926" y="23"/>
                    </a:lnTo>
                    <a:lnTo>
                      <a:pt x="886" y="10"/>
                    </a:lnTo>
                    <a:lnTo>
                      <a:pt x="861" y="3"/>
                    </a:lnTo>
                    <a:lnTo>
                      <a:pt x="825" y="0"/>
                    </a:lnTo>
                    <a:lnTo>
                      <a:pt x="792" y="3"/>
                    </a:lnTo>
                    <a:lnTo>
                      <a:pt x="767" y="6"/>
                    </a:lnTo>
                    <a:lnTo>
                      <a:pt x="730" y="16"/>
                    </a:lnTo>
                    <a:lnTo>
                      <a:pt x="695" y="32"/>
                    </a:lnTo>
                    <a:lnTo>
                      <a:pt x="663" y="54"/>
                    </a:lnTo>
                    <a:lnTo>
                      <a:pt x="630" y="74"/>
                    </a:lnTo>
                    <a:lnTo>
                      <a:pt x="598" y="95"/>
                    </a:lnTo>
                    <a:lnTo>
                      <a:pt x="562" y="121"/>
                    </a:lnTo>
                    <a:lnTo>
                      <a:pt x="528" y="154"/>
                    </a:lnTo>
                    <a:lnTo>
                      <a:pt x="509" y="175"/>
                    </a:lnTo>
                    <a:lnTo>
                      <a:pt x="492" y="201"/>
                    </a:lnTo>
                    <a:lnTo>
                      <a:pt x="481" y="238"/>
                    </a:lnTo>
                    <a:lnTo>
                      <a:pt x="10" y="2307"/>
                    </a:lnTo>
                    <a:lnTo>
                      <a:pt x="0" y="2349"/>
                    </a:lnTo>
                    <a:lnTo>
                      <a:pt x="0" y="2370"/>
                    </a:lnTo>
                    <a:lnTo>
                      <a:pt x="0" y="2396"/>
                    </a:lnTo>
                    <a:lnTo>
                      <a:pt x="1" y="2422"/>
                    </a:lnTo>
                    <a:lnTo>
                      <a:pt x="11" y="2466"/>
                    </a:lnTo>
                    <a:lnTo>
                      <a:pt x="19" y="2485"/>
                    </a:lnTo>
                    <a:lnTo>
                      <a:pt x="38" y="2518"/>
                    </a:lnTo>
                    <a:lnTo>
                      <a:pt x="51" y="2540"/>
                    </a:lnTo>
                    <a:lnTo>
                      <a:pt x="79" y="2571"/>
                    </a:lnTo>
                    <a:lnTo>
                      <a:pt x="111" y="2598"/>
                    </a:lnTo>
                    <a:lnTo>
                      <a:pt x="155" y="2627"/>
                    </a:lnTo>
                    <a:lnTo>
                      <a:pt x="190" y="2650"/>
                    </a:lnTo>
                    <a:lnTo>
                      <a:pt x="717" y="2948"/>
                    </a:lnTo>
                    <a:lnTo>
                      <a:pt x="708" y="2916"/>
                    </a:lnTo>
                    <a:lnTo>
                      <a:pt x="707" y="2885"/>
                    </a:lnTo>
                    <a:lnTo>
                      <a:pt x="712" y="2861"/>
                    </a:lnTo>
                    <a:lnTo>
                      <a:pt x="721" y="2833"/>
                    </a:lnTo>
                    <a:lnTo>
                      <a:pt x="735" y="2805"/>
                    </a:lnTo>
                    <a:lnTo>
                      <a:pt x="753" y="2783"/>
                    </a:lnTo>
                    <a:lnTo>
                      <a:pt x="778" y="2769"/>
                    </a:lnTo>
                    <a:lnTo>
                      <a:pt x="194" y="2433"/>
                    </a:lnTo>
                    <a:lnTo>
                      <a:pt x="175" y="2417"/>
                    </a:lnTo>
                    <a:lnTo>
                      <a:pt x="168" y="2407"/>
                    </a:lnTo>
                    <a:lnTo>
                      <a:pt x="162" y="2391"/>
                    </a:lnTo>
                    <a:lnTo>
                      <a:pt x="157" y="2359"/>
                    </a:lnTo>
                    <a:lnTo>
                      <a:pt x="157" y="2339"/>
                    </a:lnTo>
                    <a:lnTo>
                      <a:pt x="444" y="1110"/>
                    </a:lnTo>
                    <a:lnTo>
                      <a:pt x="473" y="1055"/>
                    </a:lnTo>
                    <a:lnTo>
                      <a:pt x="501" y="1024"/>
                    </a:lnTo>
                    <a:lnTo>
                      <a:pt x="547" y="976"/>
                    </a:lnTo>
                    <a:lnTo>
                      <a:pt x="583" y="941"/>
                    </a:lnTo>
                    <a:lnTo>
                      <a:pt x="1479" y="384"/>
                    </a:lnTo>
                    <a:close/>
                  </a:path>
                </a:pathLst>
              </a:custGeom>
              <a:solidFill>
                <a:srgbClr val="808080"/>
              </a:solidFill>
              <a:ln w="1588">
                <a:solidFill>
                  <a:srgbClr val="000000"/>
                </a:solidFill>
                <a:prstDash val="solid"/>
                <a:round/>
                <a:headEnd/>
                <a:tailEnd/>
              </a:ln>
            </p:spPr>
            <p:txBody>
              <a:bodyPr/>
              <a:lstStyle/>
              <a:p>
                <a:endParaRPr lang="en-US"/>
              </a:p>
            </p:txBody>
          </p:sp>
          <p:sp>
            <p:nvSpPr>
              <p:cNvPr id="489" name="Freeform 1761">
                <a:extLst>
                  <a:ext uri="{FF2B5EF4-FFF2-40B4-BE49-F238E27FC236}">
                    <a16:creationId xmlns:a16="http://schemas.microsoft.com/office/drawing/2014/main" id="{0AD52F70-E62A-473D-9DD8-9D0955F89DAC}"/>
                  </a:ext>
                </a:extLst>
              </p:cNvPr>
              <p:cNvSpPr>
                <a:spLocks/>
              </p:cNvSpPr>
              <p:nvPr/>
            </p:nvSpPr>
            <p:spPr bwMode="auto">
              <a:xfrm>
                <a:off x="2166" y="3561"/>
                <a:ext cx="78" cy="109"/>
              </a:xfrm>
              <a:custGeom>
                <a:avLst/>
                <a:gdLst>
                  <a:gd name="T0" fmla="*/ 0 w 928"/>
                  <a:gd name="T1" fmla="*/ 0 h 1304"/>
                  <a:gd name="T2" fmla="*/ 0 w 928"/>
                  <a:gd name="T3" fmla="*/ 0 h 1304"/>
                  <a:gd name="T4" fmla="*/ 0 w 928"/>
                  <a:gd name="T5" fmla="*/ 0 h 1304"/>
                  <a:gd name="T6" fmla="*/ 0 w 928"/>
                  <a:gd name="T7" fmla="*/ 0 h 1304"/>
                  <a:gd name="T8" fmla="*/ 0 w 928"/>
                  <a:gd name="T9" fmla="*/ 0 h 1304"/>
                  <a:gd name="T10" fmla="*/ 0 w 928"/>
                  <a:gd name="T11" fmla="*/ 0 h 1304"/>
                  <a:gd name="T12" fmla="*/ 0 w 928"/>
                  <a:gd name="T13" fmla="*/ 0 h 1304"/>
                  <a:gd name="T14" fmla="*/ 0 w 928"/>
                  <a:gd name="T15" fmla="*/ 0 h 1304"/>
                  <a:gd name="T16" fmla="*/ 0 w 928"/>
                  <a:gd name="T17" fmla="*/ 0 h 1304"/>
                  <a:gd name="T18" fmla="*/ 0 w 928"/>
                  <a:gd name="T19" fmla="*/ 0 h 1304"/>
                  <a:gd name="T20" fmla="*/ 0 w 928"/>
                  <a:gd name="T21" fmla="*/ 0 h 1304"/>
                  <a:gd name="T22" fmla="*/ 0 w 928"/>
                  <a:gd name="T23" fmla="*/ 0 h 1304"/>
                  <a:gd name="T24" fmla="*/ 0 w 928"/>
                  <a:gd name="T25" fmla="*/ 0 h 1304"/>
                  <a:gd name="T26" fmla="*/ 0 w 928"/>
                  <a:gd name="T27" fmla="*/ 0 h 1304"/>
                  <a:gd name="T28" fmla="*/ 0 w 928"/>
                  <a:gd name="T29" fmla="*/ 0 h 1304"/>
                  <a:gd name="T30" fmla="*/ 0 w 928"/>
                  <a:gd name="T31" fmla="*/ 0 h 1304"/>
                  <a:gd name="T32" fmla="*/ 0 w 928"/>
                  <a:gd name="T33" fmla="*/ 0 h 1304"/>
                  <a:gd name="T34" fmla="*/ 0 w 928"/>
                  <a:gd name="T35" fmla="*/ 0 h 1304"/>
                  <a:gd name="T36" fmla="*/ 0 w 928"/>
                  <a:gd name="T37" fmla="*/ 0 h 1304"/>
                  <a:gd name="T38" fmla="*/ 0 w 928"/>
                  <a:gd name="T39" fmla="*/ 0 h 1304"/>
                  <a:gd name="T40" fmla="*/ 0 w 928"/>
                  <a:gd name="T41" fmla="*/ 0 h 1304"/>
                  <a:gd name="T42" fmla="*/ 0 w 928"/>
                  <a:gd name="T43" fmla="*/ 0 h 1304"/>
                  <a:gd name="T44" fmla="*/ 0 w 928"/>
                  <a:gd name="T45" fmla="*/ 0 h 1304"/>
                  <a:gd name="T46" fmla="*/ 0 w 928"/>
                  <a:gd name="T47" fmla="*/ 0 h 1304"/>
                  <a:gd name="T48" fmla="*/ 0 w 928"/>
                  <a:gd name="T49" fmla="*/ 0 h 1304"/>
                  <a:gd name="T50" fmla="*/ 0 w 928"/>
                  <a:gd name="T51" fmla="*/ 0 h 1304"/>
                  <a:gd name="T52" fmla="*/ 0 w 928"/>
                  <a:gd name="T53" fmla="*/ 0 h 1304"/>
                  <a:gd name="T54" fmla="*/ 0 w 928"/>
                  <a:gd name="T55" fmla="*/ 0 h 1304"/>
                  <a:gd name="T56" fmla="*/ 0 w 928"/>
                  <a:gd name="T57" fmla="*/ 0 h 1304"/>
                  <a:gd name="T58" fmla="*/ 0 w 928"/>
                  <a:gd name="T59" fmla="*/ 0 h 1304"/>
                  <a:gd name="T60" fmla="*/ 0 w 928"/>
                  <a:gd name="T61" fmla="*/ 0 h 1304"/>
                  <a:gd name="T62" fmla="*/ 0 w 928"/>
                  <a:gd name="T63" fmla="*/ 0 h 1304"/>
                  <a:gd name="T64" fmla="*/ 0 w 928"/>
                  <a:gd name="T65" fmla="*/ 0 h 1304"/>
                  <a:gd name="T66" fmla="*/ 0 w 928"/>
                  <a:gd name="T67" fmla="*/ 0 h 1304"/>
                  <a:gd name="T68" fmla="*/ 0 w 928"/>
                  <a:gd name="T69" fmla="*/ 0 h 1304"/>
                  <a:gd name="T70" fmla="*/ 0 w 928"/>
                  <a:gd name="T71" fmla="*/ 0 h 1304"/>
                  <a:gd name="T72" fmla="*/ 0 w 928"/>
                  <a:gd name="T73" fmla="*/ 0 h 1304"/>
                  <a:gd name="T74" fmla="*/ 0 w 928"/>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8"/>
                  <a:gd name="T115" fmla="*/ 0 h 1304"/>
                  <a:gd name="T116" fmla="*/ 928 w 928"/>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8" h="1304">
                    <a:moveTo>
                      <a:pt x="898" y="351"/>
                    </a:moveTo>
                    <a:lnTo>
                      <a:pt x="868" y="315"/>
                    </a:lnTo>
                    <a:lnTo>
                      <a:pt x="821" y="278"/>
                    </a:lnTo>
                    <a:lnTo>
                      <a:pt x="755" y="241"/>
                    </a:lnTo>
                    <a:lnTo>
                      <a:pt x="586" y="148"/>
                    </a:lnTo>
                    <a:lnTo>
                      <a:pt x="400" y="53"/>
                    </a:lnTo>
                    <a:lnTo>
                      <a:pt x="335" y="21"/>
                    </a:lnTo>
                    <a:lnTo>
                      <a:pt x="290" y="6"/>
                    </a:lnTo>
                    <a:lnTo>
                      <a:pt x="255" y="0"/>
                    </a:lnTo>
                    <a:lnTo>
                      <a:pt x="228" y="0"/>
                    </a:lnTo>
                    <a:lnTo>
                      <a:pt x="205" y="5"/>
                    </a:lnTo>
                    <a:lnTo>
                      <a:pt x="182" y="21"/>
                    </a:lnTo>
                    <a:lnTo>
                      <a:pt x="164" y="41"/>
                    </a:lnTo>
                    <a:lnTo>
                      <a:pt x="148" y="76"/>
                    </a:lnTo>
                    <a:lnTo>
                      <a:pt x="0" y="833"/>
                    </a:lnTo>
                    <a:lnTo>
                      <a:pt x="0" y="865"/>
                    </a:lnTo>
                    <a:lnTo>
                      <a:pt x="0" y="906"/>
                    </a:lnTo>
                    <a:lnTo>
                      <a:pt x="7" y="936"/>
                    </a:lnTo>
                    <a:lnTo>
                      <a:pt x="16" y="957"/>
                    </a:lnTo>
                    <a:lnTo>
                      <a:pt x="29" y="978"/>
                    </a:lnTo>
                    <a:lnTo>
                      <a:pt x="57" y="1004"/>
                    </a:lnTo>
                    <a:lnTo>
                      <a:pt x="85" y="1022"/>
                    </a:lnTo>
                    <a:lnTo>
                      <a:pt x="118" y="1041"/>
                    </a:lnTo>
                    <a:lnTo>
                      <a:pt x="558" y="1267"/>
                    </a:lnTo>
                    <a:lnTo>
                      <a:pt x="599" y="1285"/>
                    </a:lnTo>
                    <a:lnTo>
                      <a:pt x="636" y="1295"/>
                    </a:lnTo>
                    <a:lnTo>
                      <a:pt x="678" y="1304"/>
                    </a:lnTo>
                    <a:lnTo>
                      <a:pt x="706" y="1304"/>
                    </a:lnTo>
                    <a:lnTo>
                      <a:pt x="734" y="1295"/>
                    </a:lnTo>
                    <a:lnTo>
                      <a:pt x="755" y="1269"/>
                    </a:lnTo>
                    <a:lnTo>
                      <a:pt x="767" y="1222"/>
                    </a:lnTo>
                    <a:lnTo>
                      <a:pt x="784" y="1162"/>
                    </a:lnTo>
                    <a:lnTo>
                      <a:pt x="860" y="833"/>
                    </a:lnTo>
                    <a:lnTo>
                      <a:pt x="916" y="507"/>
                    </a:lnTo>
                    <a:lnTo>
                      <a:pt x="928" y="431"/>
                    </a:lnTo>
                    <a:lnTo>
                      <a:pt x="925" y="403"/>
                    </a:lnTo>
                    <a:lnTo>
                      <a:pt x="917" y="379"/>
                    </a:lnTo>
                    <a:lnTo>
                      <a:pt x="898" y="351"/>
                    </a:lnTo>
                    <a:close/>
                  </a:path>
                </a:pathLst>
              </a:custGeom>
              <a:solidFill>
                <a:srgbClr val="606060"/>
              </a:solidFill>
              <a:ln w="1588">
                <a:solidFill>
                  <a:srgbClr val="000000"/>
                </a:solidFill>
                <a:prstDash val="solid"/>
                <a:round/>
                <a:headEnd/>
                <a:tailEnd/>
              </a:ln>
            </p:spPr>
            <p:txBody>
              <a:bodyPr/>
              <a:lstStyle/>
              <a:p>
                <a:endParaRPr lang="en-US"/>
              </a:p>
            </p:txBody>
          </p:sp>
          <p:sp>
            <p:nvSpPr>
              <p:cNvPr id="490" name="Freeform 1762">
                <a:extLst>
                  <a:ext uri="{FF2B5EF4-FFF2-40B4-BE49-F238E27FC236}">
                    <a16:creationId xmlns:a16="http://schemas.microsoft.com/office/drawing/2014/main" id="{874AEDFF-A3DF-4F65-B654-B55DFE75C6F8}"/>
                  </a:ext>
                </a:extLst>
              </p:cNvPr>
              <p:cNvSpPr>
                <a:spLocks/>
              </p:cNvSpPr>
              <p:nvPr/>
            </p:nvSpPr>
            <p:spPr bwMode="auto">
              <a:xfrm>
                <a:off x="2126" y="3634"/>
                <a:ext cx="101"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10" y="431"/>
                    </a:moveTo>
                    <a:lnTo>
                      <a:pt x="1215" y="426"/>
                    </a:lnTo>
                    <a:lnTo>
                      <a:pt x="1156" y="451"/>
                    </a:lnTo>
                    <a:lnTo>
                      <a:pt x="1119" y="467"/>
                    </a:lnTo>
                    <a:lnTo>
                      <a:pt x="1101" y="478"/>
                    </a:lnTo>
                    <a:lnTo>
                      <a:pt x="1073" y="511"/>
                    </a:lnTo>
                    <a:lnTo>
                      <a:pt x="1053" y="552"/>
                    </a:lnTo>
                    <a:lnTo>
                      <a:pt x="772" y="1702"/>
                    </a:lnTo>
                    <a:lnTo>
                      <a:pt x="0" y="1429"/>
                    </a:lnTo>
                    <a:lnTo>
                      <a:pt x="315" y="31"/>
                    </a:lnTo>
                    <a:lnTo>
                      <a:pt x="481" y="0"/>
                    </a:lnTo>
                    <a:lnTo>
                      <a:pt x="1210"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491" name="Group 1763">
                <a:extLst>
                  <a:ext uri="{FF2B5EF4-FFF2-40B4-BE49-F238E27FC236}">
                    <a16:creationId xmlns:a16="http://schemas.microsoft.com/office/drawing/2014/main" id="{48BE27AF-8A45-4CB2-B423-A2CBC5E26DF7}"/>
                  </a:ext>
                </a:extLst>
              </p:cNvPr>
              <p:cNvGrpSpPr>
                <a:grpSpLocks/>
              </p:cNvGrpSpPr>
              <p:nvPr/>
            </p:nvGrpSpPr>
            <p:grpSpPr bwMode="auto">
              <a:xfrm>
                <a:off x="2183" y="3584"/>
                <a:ext cx="52" cy="60"/>
                <a:chOff x="2183" y="3584"/>
                <a:chExt cx="52" cy="60"/>
              </a:xfrm>
            </p:grpSpPr>
            <p:sp>
              <p:nvSpPr>
                <p:cNvPr id="511" name="Oval 1764">
                  <a:extLst>
                    <a:ext uri="{FF2B5EF4-FFF2-40B4-BE49-F238E27FC236}">
                      <a16:creationId xmlns:a16="http://schemas.microsoft.com/office/drawing/2014/main" id="{EBED0732-A39E-40BE-A2AA-F616D73E5E20}"/>
                    </a:ext>
                  </a:extLst>
                </p:cNvPr>
                <p:cNvSpPr>
                  <a:spLocks noChangeArrowheads="1"/>
                </p:cNvSpPr>
                <p:nvPr/>
              </p:nvSpPr>
              <p:spPr bwMode="auto">
                <a:xfrm>
                  <a:off x="2183" y="3584"/>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512" name="Group 1765">
                  <a:extLst>
                    <a:ext uri="{FF2B5EF4-FFF2-40B4-BE49-F238E27FC236}">
                      <a16:creationId xmlns:a16="http://schemas.microsoft.com/office/drawing/2014/main" id="{2321E683-B9BE-4672-9DC1-98EC07FF931D}"/>
                    </a:ext>
                  </a:extLst>
                </p:cNvPr>
                <p:cNvGrpSpPr>
                  <a:grpSpLocks/>
                </p:cNvGrpSpPr>
                <p:nvPr/>
              </p:nvGrpSpPr>
              <p:grpSpPr bwMode="auto">
                <a:xfrm>
                  <a:off x="2196" y="3594"/>
                  <a:ext cx="28" cy="40"/>
                  <a:chOff x="2196" y="3594"/>
                  <a:chExt cx="28" cy="40"/>
                </a:xfrm>
              </p:grpSpPr>
              <p:sp>
                <p:nvSpPr>
                  <p:cNvPr id="513" name="Oval 1766">
                    <a:extLst>
                      <a:ext uri="{FF2B5EF4-FFF2-40B4-BE49-F238E27FC236}">
                        <a16:creationId xmlns:a16="http://schemas.microsoft.com/office/drawing/2014/main" id="{E7743B0B-95A9-4E64-91A9-EF052E50EA1B}"/>
                      </a:ext>
                    </a:extLst>
                  </p:cNvPr>
                  <p:cNvSpPr>
                    <a:spLocks noChangeArrowheads="1"/>
                  </p:cNvSpPr>
                  <p:nvPr/>
                </p:nvSpPr>
                <p:spPr bwMode="auto">
                  <a:xfrm>
                    <a:off x="2208" y="361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14" name="Oval 1767">
                    <a:extLst>
                      <a:ext uri="{FF2B5EF4-FFF2-40B4-BE49-F238E27FC236}">
                        <a16:creationId xmlns:a16="http://schemas.microsoft.com/office/drawing/2014/main" id="{FE770744-94C2-42BE-9A87-48D35D7D6BA0}"/>
                      </a:ext>
                    </a:extLst>
                  </p:cNvPr>
                  <p:cNvSpPr>
                    <a:spLocks noChangeArrowheads="1"/>
                  </p:cNvSpPr>
                  <p:nvPr/>
                </p:nvSpPr>
                <p:spPr bwMode="auto">
                  <a:xfrm>
                    <a:off x="2219" y="361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15" name="Oval 1768">
                    <a:extLst>
                      <a:ext uri="{FF2B5EF4-FFF2-40B4-BE49-F238E27FC236}">
                        <a16:creationId xmlns:a16="http://schemas.microsoft.com/office/drawing/2014/main" id="{62E59880-FFED-4CDF-A1AE-E52AB50F2E58}"/>
                      </a:ext>
                    </a:extLst>
                  </p:cNvPr>
                  <p:cNvSpPr>
                    <a:spLocks noChangeArrowheads="1"/>
                  </p:cNvSpPr>
                  <p:nvPr/>
                </p:nvSpPr>
                <p:spPr bwMode="auto">
                  <a:xfrm>
                    <a:off x="2196" y="362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16" name="Oval 1769">
                    <a:extLst>
                      <a:ext uri="{FF2B5EF4-FFF2-40B4-BE49-F238E27FC236}">
                        <a16:creationId xmlns:a16="http://schemas.microsoft.com/office/drawing/2014/main" id="{75BE58A9-30D0-4452-8B5B-2906256FB471}"/>
                      </a:ext>
                    </a:extLst>
                  </p:cNvPr>
                  <p:cNvSpPr>
                    <a:spLocks noChangeArrowheads="1"/>
                  </p:cNvSpPr>
                  <p:nvPr/>
                </p:nvSpPr>
                <p:spPr bwMode="auto">
                  <a:xfrm>
                    <a:off x="2205" y="362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17" name="Oval 1770">
                    <a:extLst>
                      <a:ext uri="{FF2B5EF4-FFF2-40B4-BE49-F238E27FC236}">
                        <a16:creationId xmlns:a16="http://schemas.microsoft.com/office/drawing/2014/main" id="{679F1142-8908-4B50-B949-B60154ECFCF4}"/>
                      </a:ext>
                    </a:extLst>
                  </p:cNvPr>
                  <p:cNvSpPr>
                    <a:spLocks noChangeArrowheads="1"/>
                  </p:cNvSpPr>
                  <p:nvPr/>
                </p:nvSpPr>
                <p:spPr bwMode="auto">
                  <a:xfrm>
                    <a:off x="2215" y="3630"/>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18" name="Oval 1771">
                    <a:extLst>
                      <a:ext uri="{FF2B5EF4-FFF2-40B4-BE49-F238E27FC236}">
                        <a16:creationId xmlns:a16="http://schemas.microsoft.com/office/drawing/2014/main" id="{07E19A1A-47DF-4CB0-BC82-85F328131DAA}"/>
                      </a:ext>
                    </a:extLst>
                  </p:cNvPr>
                  <p:cNvSpPr>
                    <a:spLocks noChangeArrowheads="1"/>
                  </p:cNvSpPr>
                  <p:nvPr/>
                </p:nvSpPr>
                <p:spPr bwMode="auto">
                  <a:xfrm>
                    <a:off x="2202" y="361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19" name="Oval 1772">
                    <a:extLst>
                      <a:ext uri="{FF2B5EF4-FFF2-40B4-BE49-F238E27FC236}">
                        <a16:creationId xmlns:a16="http://schemas.microsoft.com/office/drawing/2014/main" id="{33A49588-75F9-4497-906E-CBADAE17BED3}"/>
                      </a:ext>
                    </a:extLst>
                  </p:cNvPr>
                  <p:cNvSpPr>
                    <a:spLocks noChangeArrowheads="1"/>
                  </p:cNvSpPr>
                  <p:nvPr/>
                </p:nvSpPr>
                <p:spPr bwMode="auto">
                  <a:xfrm>
                    <a:off x="2211" y="3621"/>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20" name="Oval 1773">
                    <a:extLst>
                      <a:ext uri="{FF2B5EF4-FFF2-40B4-BE49-F238E27FC236}">
                        <a16:creationId xmlns:a16="http://schemas.microsoft.com/office/drawing/2014/main" id="{D5D17AAD-49D6-4B87-A50E-9F408CE8E0A9}"/>
                      </a:ext>
                    </a:extLst>
                  </p:cNvPr>
                  <p:cNvSpPr>
                    <a:spLocks noChangeArrowheads="1"/>
                  </p:cNvSpPr>
                  <p:nvPr/>
                </p:nvSpPr>
                <p:spPr bwMode="auto">
                  <a:xfrm>
                    <a:off x="2201" y="359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21" name="Oval 1774">
                    <a:extLst>
                      <a:ext uri="{FF2B5EF4-FFF2-40B4-BE49-F238E27FC236}">
                        <a16:creationId xmlns:a16="http://schemas.microsoft.com/office/drawing/2014/main" id="{D26FB994-7665-43F3-A660-08C7E66ED0A9}"/>
                      </a:ext>
                    </a:extLst>
                  </p:cNvPr>
                  <p:cNvSpPr>
                    <a:spLocks noChangeArrowheads="1"/>
                  </p:cNvSpPr>
                  <p:nvPr/>
                </p:nvSpPr>
                <p:spPr bwMode="auto">
                  <a:xfrm>
                    <a:off x="2211" y="359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22" name="Oval 1775">
                    <a:extLst>
                      <a:ext uri="{FF2B5EF4-FFF2-40B4-BE49-F238E27FC236}">
                        <a16:creationId xmlns:a16="http://schemas.microsoft.com/office/drawing/2014/main" id="{2D0F4A64-2501-40E0-8720-9E0DAE2265ED}"/>
                      </a:ext>
                    </a:extLst>
                  </p:cNvPr>
                  <p:cNvSpPr>
                    <a:spLocks noChangeArrowheads="1"/>
                  </p:cNvSpPr>
                  <p:nvPr/>
                </p:nvSpPr>
                <p:spPr bwMode="auto">
                  <a:xfrm>
                    <a:off x="2221" y="360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23" name="Oval 1776">
                    <a:extLst>
                      <a:ext uri="{FF2B5EF4-FFF2-40B4-BE49-F238E27FC236}">
                        <a16:creationId xmlns:a16="http://schemas.microsoft.com/office/drawing/2014/main" id="{4D3536BF-C55E-4037-90D4-10EB502EC483}"/>
                      </a:ext>
                    </a:extLst>
                  </p:cNvPr>
                  <p:cNvSpPr>
                    <a:spLocks noChangeArrowheads="1"/>
                  </p:cNvSpPr>
                  <p:nvPr/>
                </p:nvSpPr>
                <p:spPr bwMode="auto">
                  <a:xfrm>
                    <a:off x="2198" y="360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24" name="Oval 1777">
                    <a:extLst>
                      <a:ext uri="{FF2B5EF4-FFF2-40B4-BE49-F238E27FC236}">
                        <a16:creationId xmlns:a16="http://schemas.microsoft.com/office/drawing/2014/main" id="{EEAA4AF0-3B83-4ED4-93CD-3C28A756B669}"/>
                      </a:ext>
                    </a:extLst>
                  </p:cNvPr>
                  <p:cNvSpPr>
                    <a:spLocks noChangeArrowheads="1"/>
                  </p:cNvSpPr>
                  <p:nvPr/>
                </p:nvSpPr>
                <p:spPr bwMode="auto">
                  <a:xfrm>
                    <a:off x="2204" y="360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25" name="Oval 1778">
                    <a:extLst>
                      <a:ext uri="{FF2B5EF4-FFF2-40B4-BE49-F238E27FC236}">
                        <a16:creationId xmlns:a16="http://schemas.microsoft.com/office/drawing/2014/main" id="{8D98EB2A-6DF2-463D-8F11-193BFE64CA00}"/>
                      </a:ext>
                    </a:extLst>
                  </p:cNvPr>
                  <p:cNvSpPr>
                    <a:spLocks noChangeArrowheads="1"/>
                  </p:cNvSpPr>
                  <p:nvPr/>
                </p:nvSpPr>
                <p:spPr bwMode="auto">
                  <a:xfrm>
                    <a:off x="2215" y="360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492" name="Group 1779">
                <a:extLst>
                  <a:ext uri="{FF2B5EF4-FFF2-40B4-BE49-F238E27FC236}">
                    <a16:creationId xmlns:a16="http://schemas.microsoft.com/office/drawing/2014/main" id="{44764C6D-ECE5-4C86-9007-BCD9EDF38939}"/>
                  </a:ext>
                </a:extLst>
              </p:cNvPr>
              <p:cNvGrpSpPr>
                <a:grpSpLocks/>
              </p:cNvGrpSpPr>
              <p:nvPr/>
            </p:nvGrpSpPr>
            <p:grpSpPr bwMode="auto">
              <a:xfrm>
                <a:off x="2142" y="3655"/>
                <a:ext cx="68" cy="111"/>
                <a:chOff x="2142" y="3655"/>
                <a:chExt cx="68" cy="111"/>
              </a:xfrm>
            </p:grpSpPr>
            <p:sp>
              <p:nvSpPr>
                <p:cNvPr id="493" name="Oval 1780">
                  <a:extLst>
                    <a:ext uri="{FF2B5EF4-FFF2-40B4-BE49-F238E27FC236}">
                      <a16:creationId xmlns:a16="http://schemas.microsoft.com/office/drawing/2014/main" id="{57D692C0-4575-4376-B6D6-242BE72A3D4B}"/>
                    </a:ext>
                  </a:extLst>
                </p:cNvPr>
                <p:cNvSpPr>
                  <a:spLocks noChangeArrowheads="1"/>
                </p:cNvSpPr>
                <p:nvPr/>
              </p:nvSpPr>
              <p:spPr bwMode="auto">
                <a:xfrm>
                  <a:off x="2176" y="375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94" name="Oval 1781">
                  <a:extLst>
                    <a:ext uri="{FF2B5EF4-FFF2-40B4-BE49-F238E27FC236}">
                      <a16:creationId xmlns:a16="http://schemas.microsoft.com/office/drawing/2014/main" id="{4AB18A70-2ED5-4320-8670-71340DFAD612}"/>
                    </a:ext>
                  </a:extLst>
                </p:cNvPr>
                <p:cNvSpPr>
                  <a:spLocks noChangeArrowheads="1"/>
                </p:cNvSpPr>
                <p:nvPr/>
              </p:nvSpPr>
              <p:spPr bwMode="auto">
                <a:xfrm>
                  <a:off x="2163" y="365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95" name="Oval 1782">
                  <a:extLst>
                    <a:ext uri="{FF2B5EF4-FFF2-40B4-BE49-F238E27FC236}">
                      <a16:creationId xmlns:a16="http://schemas.microsoft.com/office/drawing/2014/main" id="{F4625569-6929-48AE-947C-0E012F1EE791}"/>
                    </a:ext>
                  </a:extLst>
                </p:cNvPr>
                <p:cNvSpPr>
                  <a:spLocks noChangeArrowheads="1"/>
                </p:cNvSpPr>
                <p:nvPr/>
              </p:nvSpPr>
              <p:spPr bwMode="auto">
                <a:xfrm>
                  <a:off x="2180" y="3663"/>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96" name="Oval 1783">
                  <a:extLst>
                    <a:ext uri="{FF2B5EF4-FFF2-40B4-BE49-F238E27FC236}">
                      <a16:creationId xmlns:a16="http://schemas.microsoft.com/office/drawing/2014/main" id="{00E4288A-8C00-4AAA-BF7F-A9504D505423}"/>
                    </a:ext>
                  </a:extLst>
                </p:cNvPr>
                <p:cNvSpPr>
                  <a:spLocks noChangeArrowheads="1"/>
                </p:cNvSpPr>
                <p:nvPr/>
              </p:nvSpPr>
              <p:spPr bwMode="auto">
                <a:xfrm>
                  <a:off x="2196" y="367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97" name="Oval 1784">
                  <a:extLst>
                    <a:ext uri="{FF2B5EF4-FFF2-40B4-BE49-F238E27FC236}">
                      <a16:creationId xmlns:a16="http://schemas.microsoft.com/office/drawing/2014/main" id="{FE462BC3-A251-487D-8A6A-19C0E512B522}"/>
                    </a:ext>
                  </a:extLst>
                </p:cNvPr>
                <p:cNvSpPr>
                  <a:spLocks noChangeArrowheads="1"/>
                </p:cNvSpPr>
                <p:nvPr/>
              </p:nvSpPr>
              <p:spPr bwMode="auto">
                <a:xfrm>
                  <a:off x="2158" y="3672"/>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98" name="Oval 1785">
                  <a:extLst>
                    <a:ext uri="{FF2B5EF4-FFF2-40B4-BE49-F238E27FC236}">
                      <a16:creationId xmlns:a16="http://schemas.microsoft.com/office/drawing/2014/main" id="{4DAA7CFD-5C47-4698-9038-F7A2720285B3}"/>
                    </a:ext>
                  </a:extLst>
                </p:cNvPr>
                <p:cNvSpPr>
                  <a:spLocks noChangeArrowheads="1"/>
                </p:cNvSpPr>
                <p:nvPr/>
              </p:nvSpPr>
              <p:spPr bwMode="auto">
                <a:xfrm>
                  <a:off x="2176" y="3679"/>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499" name="Oval 1786">
                  <a:extLst>
                    <a:ext uri="{FF2B5EF4-FFF2-40B4-BE49-F238E27FC236}">
                      <a16:creationId xmlns:a16="http://schemas.microsoft.com/office/drawing/2014/main" id="{FEF670A2-134F-41AA-BD8E-CCA1532FC319}"/>
                    </a:ext>
                  </a:extLst>
                </p:cNvPr>
                <p:cNvSpPr>
                  <a:spLocks noChangeArrowheads="1"/>
                </p:cNvSpPr>
                <p:nvPr/>
              </p:nvSpPr>
              <p:spPr bwMode="auto">
                <a:xfrm>
                  <a:off x="2192" y="368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0" name="Oval 1787">
                  <a:extLst>
                    <a:ext uri="{FF2B5EF4-FFF2-40B4-BE49-F238E27FC236}">
                      <a16:creationId xmlns:a16="http://schemas.microsoft.com/office/drawing/2014/main" id="{2CBE01BD-0508-4175-97CE-332F0CD34302}"/>
                    </a:ext>
                  </a:extLst>
                </p:cNvPr>
                <p:cNvSpPr>
                  <a:spLocks noChangeArrowheads="1"/>
                </p:cNvSpPr>
                <p:nvPr/>
              </p:nvSpPr>
              <p:spPr bwMode="auto">
                <a:xfrm>
                  <a:off x="2154" y="3688"/>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1" name="Oval 1788">
                  <a:extLst>
                    <a:ext uri="{FF2B5EF4-FFF2-40B4-BE49-F238E27FC236}">
                      <a16:creationId xmlns:a16="http://schemas.microsoft.com/office/drawing/2014/main" id="{AD554839-1607-4333-8507-E125D34B1AE1}"/>
                    </a:ext>
                  </a:extLst>
                </p:cNvPr>
                <p:cNvSpPr>
                  <a:spLocks noChangeArrowheads="1"/>
                </p:cNvSpPr>
                <p:nvPr/>
              </p:nvSpPr>
              <p:spPr bwMode="auto">
                <a:xfrm>
                  <a:off x="2171" y="369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2" name="Oval 1789">
                  <a:extLst>
                    <a:ext uri="{FF2B5EF4-FFF2-40B4-BE49-F238E27FC236}">
                      <a16:creationId xmlns:a16="http://schemas.microsoft.com/office/drawing/2014/main" id="{B6ABE2D4-9084-4653-B704-413CD34CC7C0}"/>
                    </a:ext>
                  </a:extLst>
                </p:cNvPr>
                <p:cNvSpPr>
                  <a:spLocks noChangeArrowheads="1"/>
                </p:cNvSpPr>
                <p:nvPr/>
              </p:nvSpPr>
              <p:spPr bwMode="auto">
                <a:xfrm>
                  <a:off x="2188" y="370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3" name="Oval 1790">
                  <a:extLst>
                    <a:ext uri="{FF2B5EF4-FFF2-40B4-BE49-F238E27FC236}">
                      <a16:creationId xmlns:a16="http://schemas.microsoft.com/office/drawing/2014/main" id="{FD37A690-F533-4262-8EAC-6092374B920F}"/>
                    </a:ext>
                  </a:extLst>
                </p:cNvPr>
                <p:cNvSpPr>
                  <a:spLocks noChangeArrowheads="1"/>
                </p:cNvSpPr>
                <p:nvPr/>
              </p:nvSpPr>
              <p:spPr bwMode="auto">
                <a:xfrm>
                  <a:off x="2150" y="370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4" name="Oval 1791">
                  <a:extLst>
                    <a:ext uri="{FF2B5EF4-FFF2-40B4-BE49-F238E27FC236}">
                      <a16:creationId xmlns:a16="http://schemas.microsoft.com/office/drawing/2014/main" id="{2376DC00-5F67-4FC2-943D-55494E2B290A}"/>
                    </a:ext>
                  </a:extLst>
                </p:cNvPr>
                <p:cNvSpPr>
                  <a:spLocks noChangeArrowheads="1"/>
                </p:cNvSpPr>
                <p:nvPr/>
              </p:nvSpPr>
              <p:spPr bwMode="auto">
                <a:xfrm>
                  <a:off x="2167" y="371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5" name="Oval 1792">
                  <a:extLst>
                    <a:ext uri="{FF2B5EF4-FFF2-40B4-BE49-F238E27FC236}">
                      <a16:creationId xmlns:a16="http://schemas.microsoft.com/office/drawing/2014/main" id="{2AB6E2F9-651D-49E7-A183-9F3D963368F2}"/>
                    </a:ext>
                  </a:extLst>
                </p:cNvPr>
                <p:cNvSpPr>
                  <a:spLocks noChangeArrowheads="1"/>
                </p:cNvSpPr>
                <p:nvPr/>
              </p:nvSpPr>
              <p:spPr bwMode="auto">
                <a:xfrm>
                  <a:off x="2184" y="371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6" name="Oval 1793">
                  <a:extLst>
                    <a:ext uri="{FF2B5EF4-FFF2-40B4-BE49-F238E27FC236}">
                      <a16:creationId xmlns:a16="http://schemas.microsoft.com/office/drawing/2014/main" id="{107C222E-98A2-4DBE-BCA3-B8ABA31FE4C5}"/>
                    </a:ext>
                  </a:extLst>
                </p:cNvPr>
                <p:cNvSpPr>
                  <a:spLocks noChangeArrowheads="1"/>
                </p:cNvSpPr>
                <p:nvPr/>
              </p:nvSpPr>
              <p:spPr bwMode="auto">
                <a:xfrm>
                  <a:off x="2146" y="372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7" name="Oval 1794">
                  <a:extLst>
                    <a:ext uri="{FF2B5EF4-FFF2-40B4-BE49-F238E27FC236}">
                      <a16:creationId xmlns:a16="http://schemas.microsoft.com/office/drawing/2014/main" id="{332F1C2E-1E59-4BDE-90B2-C0EAE8504E06}"/>
                    </a:ext>
                  </a:extLst>
                </p:cNvPr>
                <p:cNvSpPr>
                  <a:spLocks noChangeArrowheads="1"/>
                </p:cNvSpPr>
                <p:nvPr/>
              </p:nvSpPr>
              <p:spPr bwMode="auto">
                <a:xfrm>
                  <a:off x="2163" y="372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8" name="Oval 1795">
                  <a:extLst>
                    <a:ext uri="{FF2B5EF4-FFF2-40B4-BE49-F238E27FC236}">
                      <a16:creationId xmlns:a16="http://schemas.microsoft.com/office/drawing/2014/main" id="{7DFF9764-0834-4B4E-BAE4-41E4896D6D8E}"/>
                    </a:ext>
                  </a:extLst>
                </p:cNvPr>
                <p:cNvSpPr>
                  <a:spLocks noChangeArrowheads="1"/>
                </p:cNvSpPr>
                <p:nvPr/>
              </p:nvSpPr>
              <p:spPr bwMode="auto">
                <a:xfrm>
                  <a:off x="2180" y="373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09" name="Oval 1796">
                  <a:extLst>
                    <a:ext uri="{FF2B5EF4-FFF2-40B4-BE49-F238E27FC236}">
                      <a16:creationId xmlns:a16="http://schemas.microsoft.com/office/drawing/2014/main" id="{D56D9D43-90E7-4E8C-A8B2-5BE190CD5906}"/>
                    </a:ext>
                  </a:extLst>
                </p:cNvPr>
                <p:cNvSpPr>
                  <a:spLocks noChangeArrowheads="1"/>
                </p:cNvSpPr>
                <p:nvPr/>
              </p:nvSpPr>
              <p:spPr bwMode="auto">
                <a:xfrm>
                  <a:off x="2142" y="3736"/>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10" name="Oval 1797">
                  <a:extLst>
                    <a:ext uri="{FF2B5EF4-FFF2-40B4-BE49-F238E27FC236}">
                      <a16:creationId xmlns:a16="http://schemas.microsoft.com/office/drawing/2014/main" id="{B15F9040-AD5B-45AD-AAD0-B1BB8AFE6908}"/>
                    </a:ext>
                  </a:extLst>
                </p:cNvPr>
                <p:cNvSpPr>
                  <a:spLocks noChangeArrowheads="1"/>
                </p:cNvSpPr>
                <p:nvPr/>
              </p:nvSpPr>
              <p:spPr bwMode="auto">
                <a:xfrm>
                  <a:off x="2160" y="374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475" name="Group 1798">
              <a:extLst>
                <a:ext uri="{FF2B5EF4-FFF2-40B4-BE49-F238E27FC236}">
                  <a16:creationId xmlns:a16="http://schemas.microsoft.com/office/drawing/2014/main" id="{3A7A1463-4B0C-4E78-8AA0-E29B637A07F5}"/>
                </a:ext>
              </a:extLst>
            </p:cNvPr>
            <p:cNvGrpSpPr>
              <a:grpSpLocks/>
            </p:cNvGrpSpPr>
            <p:nvPr/>
          </p:nvGrpSpPr>
          <p:grpSpPr bwMode="auto">
            <a:xfrm>
              <a:off x="2075" y="3614"/>
              <a:ext cx="81" cy="92"/>
              <a:chOff x="2075" y="3614"/>
              <a:chExt cx="81" cy="92"/>
            </a:xfrm>
          </p:grpSpPr>
          <p:grpSp>
            <p:nvGrpSpPr>
              <p:cNvPr id="476" name="Group 1799">
                <a:extLst>
                  <a:ext uri="{FF2B5EF4-FFF2-40B4-BE49-F238E27FC236}">
                    <a16:creationId xmlns:a16="http://schemas.microsoft.com/office/drawing/2014/main" id="{56C8DCC4-CBE1-49A1-8999-206DFA3F6FA5}"/>
                  </a:ext>
                </a:extLst>
              </p:cNvPr>
              <p:cNvGrpSpPr>
                <a:grpSpLocks/>
              </p:cNvGrpSpPr>
              <p:nvPr/>
            </p:nvGrpSpPr>
            <p:grpSpPr bwMode="auto">
              <a:xfrm>
                <a:off x="2101" y="3643"/>
                <a:ext cx="39" cy="42"/>
                <a:chOff x="2101" y="3643"/>
                <a:chExt cx="39" cy="42"/>
              </a:xfrm>
            </p:grpSpPr>
            <p:sp>
              <p:nvSpPr>
                <p:cNvPr id="484" name="Freeform 1800">
                  <a:extLst>
                    <a:ext uri="{FF2B5EF4-FFF2-40B4-BE49-F238E27FC236}">
                      <a16:creationId xmlns:a16="http://schemas.microsoft.com/office/drawing/2014/main" id="{7F7D9587-A9A9-40E9-886D-CBA83DBBF684}"/>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 name="Freeform 1801">
                  <a:extLst>
                    <a:ext uri="{FF2B5EF4-FFF2-40B4-BE49-F238E27FC236}">
                      <a16:creationId xmlns:a16="http://schemas.microsoft.com/office/drawing/2014/main" id="{9134EA9B-543B-44AA-9666-2CE8C9524E5A}"/>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77" name="Group 1802">
                <a:extLst>
                  <a:ext uri="{FF2B5EF4-FFF2-40B4-BE49-F238E27FC236}">
                    <a16:creationId xmlns:a16="http://schemas.microsoft.com/office/drawing/2014/main" id="{E3EDCDD8-C977-4D28-A967-81A418FC3D30}"/>
                  </a:ext>
                </a:extLst>
              </p:cNvPr>
              <p:cNvGrpSpPr>
                <a:grpSpLocks/>
              </p:cNvGrpSpPr>
              <p:nvPr/>
            </p:nvGrpSpPr>
            <p:grpSpPr bwMode="auto">
              <a:xfrm>
                <a:off x="2121" y="3625"/>
                <a:ext cx="30" cy="32"/>
                <a:chOff x="2121" y="3625"/>
                <a:chExt cx="30" cy="32"/>
              </a:xfrm>
            </p:grpSpPr>
            <p:sp>
              <p:nvSpPr>
                <p:cNvPr id="482" name="Freeform 1803">
                  <a:extLst>
                    <a:ext uri="{FF2B5EF4-FFF2-40B4-BE49-F238E27FC236}">
                      <a16:creationId xmlns:a16="http://schemas.microsoft.com/office/drawing/2014/main" id="{F0754D19-C218-4B1E-9853-0C8CDAEA835D}"/>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w 351"/>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1"/>
                    <a:gd name="T76" fmla="*/ 0 h 390"/>
                    <a:gd name="T77" fmla="*/ 351 w 351"/>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3" name="Freeform 1804">
                  <a:extLst>
                    <a:ext uri="{FF2B5EF4-FFF2-40B4-BE49-F238E27FC236}">
                      <a16:creationId xmlns:a16="http://schemas.microsoft.com/office/drawing/2014/main" id="{7193D7ED-F754-42E6-A490-95EDB8443ADF}"/>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1"/>
                    <a:gd name="T73" fmla="*/ 0 h 390"/>
                    <a:gd name="T74" fmla="*/ 351 w 351"/>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78" name="Group 1805">
                <a:extLst>
                  <a:ext uri="{FF2B5EF4-FFF2-40B4-BE49-F238E27FC236}">
                    <a16:creationId xmlns:a16="http://schemas.microsoft.com/office/drawing/2014/main" id="{800C8D06-9434-4949-AA4F-A316101A977D}"/>
                  </a:ext>
                </a:extLst>
              </p:cNvPr>
              <p:cNvGrpSpPr>
                <a:grpSpLocks/>
              </p:cNvGrpSpPr>
              <p:nvPr/>
            </p:nvGrpSpPr>
            <p:grpSpPr bwMode="auto">
              <a:xfrm>
                <a:off x="2075" y="3670"/>
                <a:ext cx="62" cy="36"/>
                <a:chOff x="2075" y="3670"/>
                <a:chExt cx="62" cy="36"/>
              </a:xfrm>
            </p:grpSpPr>
            <p:sp>
              <p:nvSpPr>
                <p:cNvPr id="480" name="Freeform 1806">
                  <a:extLst>
                    <a:ext uri="{FF2B5EF4-FFF2-40B4-BE49-F238E27FC236}">
                      <a16:creationId xmlns:a16="http://schemas.microsoft.com/office/drawing/2014/main" id="{80C2E901-E6A1-4524-BB80-CB3FB630EBAA}"/>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 name="Freeform 1807">
                  <a:extLst>
                    <a:ext uri="{FF2B5EF4-FFF2-40B4-BE49-F238E27FC236}">
                      <a16:creationId xmlns:a16="http://schemas.microsoft.com/office/drawing/2014/main" id="{F6085DD3-0DCB-4B94-9D04-D24C7CFE06E9}"/>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79" name="Freeform 1808">
                <a:extLst>
                  <a:ext uri="{FF2B5EF4-FFF2-40B4-BE49-F238E27FC236}">
                    <a16:creationId xmlns:a16="http://schemas.microsoft.com/office/drawing/2014/main" id="{184352C1-8F95-447D-84E0-B38499132301}"/>
                  </a:ext>
                </a:extLst>
              </p:cNvPr>
              <p:cNvSpPr>
                <a:spLocks/>
              </p:cNvSpPr>
              <p:nvPr/>
            </p:nvSpPr>
            <p:spPr bwMode="auto">
              <a:xfrm>
                <a:off x="2121" y="3614"/>
                <a:ext cx="35"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49" y="4"/>
                    </a:lnTo>
                    <a:lnTo>
                      <a:pt x="292" y="6"/>
                    </a:lnTo>
                    <a:lnTo>
                      <a:pt x="340" y="10"/>
                    </a:lnTo>
                    <a:lnTo>
                      <a:pt x="372" y="20"/>
                    </a:lnTo>
                    <a:lnTo>
                      <a:pt x="386" y="35"/>
                    </a:lnTo>
                    <a:lnTo>
                      <a:pt x="399" y="57"/>
                    </a:lnTo>
                    <a:lnTo>
                      <a:pt x="407" y="83"/>
                    </a:lnTo>
                    <a:lnTo>
                      <a:pt x="411" y="116"/>
                    </a:lnTo>
                    <a:lnTo>
                      <a:pt x="414" y="154"/>
                    </a:lnTo>
                    <a:lnTo>
                      <a:pt x="407" y="191"/>
                    </a:lnTo>
                    <a:lnTo>
                      <a:pt x="394" y="221"/>
                    </a:lnTo>
                    <a:lnTo>
                      <a:pt x="375" y="240"/>
                    </a:lnTo>
                    <a:lnTo>
                      <a:pt x="356" y="252"/>
                    </a:lnTo>
                    <a:lnTo>
                      <a:pt x="327" y="260"/>
                    </a:lnTo>
                    <a:lnTo>
                      <a:pt x="299" y="262"/>
                    </a:lnTo>
                    <a:lnTo>
                      <a:pt x="272" y="260"/>
                    </a:lnTo>
                    <a:lnTo>
                      <a:pt x="243" y="233"/>
                    </a:lnTo>
                    <a:lnTo>
                      <a:pt x="224" y="210"/>
                    </a:lnTo>
                    <a:lnTo>
                      <a:pt x="195" y="189"/>
                    </a:lnTo>
                    <a:lnTo>
                      <a:pt x="167" y="172"/>
                    </a:lnTo>
                    <a:lnTo>
                      <a:pt x="135" y="153"/>
                    </a:lnTo>
                    <a:lnTo>
                      <a:pt x="105" y="141"/>
                    </a:lnTo>
                    <a:lnTo>
                      <a:pt x="80" y="134"/>
                    </a:lnTo>
                    <a:lnTo>
                      <a:pt x="56"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sp>
        <p:nvSpPr>
          <p:cNvPr id="536" name="Rectangle 1810">
            <a:extLst>
              <a:ext uri="{FF2B5EF4-FFF2-40B4-BE49-F238E27FC236}">
                <a16:creationId xmlns:a16="http://schemas.microsoft.com/office/drawing/2014/main" id="{B6307B76-B8EA-49AE-8637-17077A002FF3}"/>
              </a:ext>
            </a:extLst>
          </p:cNvPr>
          <p:cNvSpPr>
            <a:spLocks noChangeArrowheads="1"/>
          </p:cNvSpPr>
          <p:nvPr/>
        </p:nvSpPr>
        <p:spPr bwMode="auto">
          <a:xfrm>
            <a:off x="6777039" y="5059364"/>
            <a:ext cx="306387" cy="439737"/>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537" name="Group 1811">
            <a:extLst>
              <a:ext uri="{FF2B5EF4-FFF2-40B4-BE49-F238E27FC236}">
                <a16:creationId xmlns:a16="http://schemas.microsoft.com/office/drawing/2014/main" id="{DAC187D9-CACB-4A88-9C85-4E7D157C281B}"/>
              </a:ext>
            </a:extLst>
          </p:cNvPr>
          <p:cNvGrpSpPr>
            <a:grpSpLocks/>
          </p:cNvGrpSpPr>
          <p:nvPr/>
        </p:nvGrpSpPr>
        <p:grpSpPr bwMode="auto">
          <a:xfrm>
            <a:off x="6778626" y="5060951"/>
            <a:ext cx="301625" cy="434975"/>
            <a:chOff x="2067" y="3557"/>
            <a:chExt cx="190" cy="274"/>
          </a:xfrm>
        </p:grpSpPr>
        <p:grpSp>
          <p:nvGrpSpPr>
            <p:cNvPr id="538" name="Group 1812">
              <a:extLst>
                <a:ext uri="{FF2B5EF4-FFF2-40B4-BE49-F238E27FC236}">
                  <a16:creationId xmlns:a16="http://schemas.microsoft.com/office/drawing/2014/main" id="{EE5E039C-67B8-4CD2-9272-C97DCA8B39B2}"/>
                </a:ext>
              </a:extLst>
            </p:cNvPr>
            <p:cNvGrpSpPr>
              <a:grpSpLocks/>
            </p:cNvGrpSpPr>
            <p:nvPr/>
          </p:nvGrpSpPr>
          <p:grpSpPr bwMode="auto">
            <a:xfrm>
              <a:off x="2067" y="3614"/>
              <a:ext cx="164" cy="197"/>
              <a:chOff x="2067" y="3614"/>
              <a:chExt cx="164" cy="197"/>
            </a:xfrm>
          </p:grpSpPr>
          <p:sp>
            <p:nvSpPr>
              <p:cNvPr id="591" name="Freeform 1813">
                <a:extLst>
                  <a:ext uri="{FF2B5EF4-FFF2-40B4-BE49-F238E27FC236}">
                    <a16:creationId xmlns:a16="http://schemas.microsoft.com/office/drawing/2014/main" id="{4A2F4031-E525-4B7B-9AAF-F39A4A98F75E}"/>
                  </a:ext>
                </a:extLst>
              </p:cNvPr>
              <p:cNvSpPr>
                <a:spLocks/>
              </p:cNvSpPr>
              <p:nvPr/>
            </p:nvSpPr>
            <p:spPr bwMode="auto">
              <a:xfrm>
                <a:off x="2067" y="3614"/>
                <a:ext cx="164"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199" y="1522"/>
                    </a:lnTo>
                    <a:lnTo>
                      <a:pt x="162" y="1459"/>
                    </a:lnTo>
                    <a:lnTo>
                      <a:pt x="153" y="1439"/>
                    </a:lnTo>
                    <a:lnTo>
                      <a:pt x="125" y="1376"/>
                    </a:lnTo>
                    <a:lnTo>
                      <a:pt x="115" y="1333"/>
                    </a:lnTo>
                    <a:lnTo>
                      <a:pt x="106" y="1292"/>
                    </a:lnTo>
                    <a:lnTo>
                      <a:pt x="88" y="1229"/>
                    </a:lnTo>
                    <a:lnTo>
                      <a:pt x="69" y="1188"/>
                    </a:lnTo>
                    <a:lnTo>
                      <a:pt x="41" y="1124"/>
                    </a:lnTo>
                    <a:lnTo>
                      <a:pt x="22" y="1061"/>
                    </a:lnTo>
                    <a:lnTo>
                      <a:pt x="16" y="1022"/>
                    </a:lnTo>
                    <a:lnTo>
                      <a:pt x="4" y="935"/>
                    </a:lnTo>
                    <a:lnTo>
                      <a:pt x="1" y="872"/>
                    </a:lnTo>
                    <a:lnTo>
                      <a:pt x="0" y="792"/>
                    </a:lnTo>
                    <a:lnTo>
                      <a:pt x="14" y="724"/>
                    </a:lnTo>
                    <a:lnTo>
                      <a:pt x="32" y="693"/>
                    </a:lnTo>
                    <a:lnTo>
                      <a:pt x="50" y="677"/>
                    </a:lnTo>
                    <a:lnTo>
                      <a:pt x="67" y="669"/>
                    </a:lnTo>
                    <a:lnTo>
                      <a:pt x="88" y="661"/>
                    </a:lnTo>
                    <a:lnTo>
                      <a:pt x="106" y="661"/>
                    </a:lnTo>
                    <a:lnTo>
                      <a:pt x="106" y="613"/>
                    </a:lnTo>
                    <a:lnTo>
                      <a:pt x="100" y="591"/>
                    </a:lnTo>
                    <a:lnTo>
                      <a:pt x="97" y="555"/>
                    </a:lnTo>
                    <a:lnTo>
                      <a:pt x="105" y="534"/>
                    </a:lnTo>
                    <a:lnTo>
                      <a:pt x="106" y="515"/>
                    </a:lnTo>
                    <a:lnTo>
                      <a:pt x="120" y="477"/>
                    </a:lnTo>
                    <a:lnTo>
                      <a:pt x="134" y="451"/>
                    </a:lnTo>
                    <a:lnTo>
                      <a:pt x="155" y="419"/>
                    </a:lnTo>
                    <a:lnTo>
                      <a:pt x="184" y="388"/>
                    </a:lnTo>
                    <a:lnTo>
                      <a:pt x="216" y="361"/>
                    </a:lnTo>
                    <a:lnTo>
                      <a:pt x="244" y="336"/>
                    </a:lnTo>
                    <a:lnTo>
                      <a:pt x="278" y="326"/>
                    </a:lnTo>
                    <a:lnTo>
                      <a:pt x="312" y="320"/>
                    </a:lnTo>
                    <a:lnTo>
                      <a:pt x="344" y="326"/>
                    </a:lnTo>
                    <a:lnTo>
                      <a:pt x="374" y="336"/>
                    </a:lnTo>
                    <a:lnTo>
                      <a:pt x="410" y="346"/>
                    </a:lnTo>
                    <a:lnTo>
                      <a:pt x="420" y="326"/>
                    </a:lnTo>
                    <a:lnTo>
                      <a:pt x="426" y="268"/>
                    </a:lnTo>
                    <a:lnTo>
                      <a:pt x="438" y="220"/>
                    </a:lnTo>
                    <a:lnTo>
                      <a:pt x="461" y="184"/>
                    </a:lnTo>
                    <a:lnTo>
                      <a:pt x="486" y="160"/>
                    </a:lnTo>
                    <a:lnTo>
                      <a:pt x="522" y="148"/>
                    </a:lnTo>
                    <a:lnTo>
                      <a:pt x="559" y="136"/>
                    </a:lnTo>
                    <a:lnTo>
                      <a:pt x="615" y="125"/>
                    </a:lnTo>
                    <a:lnTo>
                      <a:pt x="650" y="125"/>
                    </a:lnTo>
                    <a:lnTo>
                      <a:pt x="660" y="104"/>
                    </a:lnTo>
                    <a:lnTo>
                      <a:pt x="678" y="62"/>
                    </a:lnTo>
                    <a:lnTo>
                      <a:pt x="706" y="31"/>
                    </a:lnTo>
                    <a:lnTo>
                      <a:pt x="744" y="10"/>
                    </a:lnTo>
                    <a:lnTo>
                      <a:pt x="800" y="0"/>
                    </a:lnTo>
                    <a:lnTo>
                      <a:pt x="854" y="0"/>
                    </a:lnTo>
                    <a:lnTo>
                      <a:pt x="927" y="4"/>
                    </a:lnTo>
                    <a:lnTo>
                      <a:pt x="967" y="6"/>
                    </a:lnTo>
                    <a:lnTo>
                      <a:pt x="994" y="10"/>
                    </a:lnTo>
                    <a:lnTo>
                      <a:pt x="1018" y="17"/>
                    </a:lnTo>
                    <a:lnTo>
                      <a:pt x="1039" y="35"/>
                    </a:lnTo>
                    <a:lnTo>
                      <a:pt x="1052" y="57"/>
                    </a:lnTo>
                    <a:lnTo>
                      <a:pt x="1061" y="86"/>
                    </a:lnTo>
                    <a:lnTo>
                      <a:pt x="1067" y="136"/>
                    </a:lnTo>
                    <a:lnTo>
                      <a:pt x="1062" y="180"/>
                    </a:lnTo>
                    <a:lnTo>
                      <a:pt x="1046" y="218"/>
                    </a:lnTo>
                    <a:lnTo>
                      <a:pt x="1027" y="239"/>
                    </a:lnTo>
                    <a:lnTo>
                      <a:pt x="1002" y="252"/>
                    </a:lnTo>
                    <a:lnTo>
                      <a:pt x="973" y="260"/>
                    </a:lnTo>
                    <a:lnTo>
                      <a:pt x="923" y="259"/>
                    </a:lnTo>
                    <a:lnTo>
                      <a:pt x="939" y="281"/>
                    </a:lnTo>
                    <a:lnTo>
                      <a:pt x="961" y="323"/>
                    </a:lnTo>
                    <a:lnTo>
                      <a:pt x="980" y="357"/>
                    </a:lnTo>
                    <a:lnTo>
                      <a:pt x="995" y="399"/>
                    </a:lnTo>
                    <a:lnTo>
                      <a:pt x="1004" y="434"/>
                    </a:lnTo>
                    <a:lnTo>
                      <a:pt x="1000" y="457"/>
                    </a:lnTo>
                    <a:lnTo>
                      <a:pt x="980" y="482"/>
                    </a:lnTo>
                    <a:lnTo>
                      <a:pt x="1002" y="526"/>
                    </a:lnTo>
                    <a:lnTo>
                      <a:pt x="1029" y="567"/>
                    </a:lnTo>
                    <a:lnTo>
                      <a:pt x="1060" y="619"/>
                    </a:lnTo>
                    <a:lnTo>
                      <a:pt x="1108" y="667"/>
                    </a:lnTo>
                    <a:lnTo>
                      <a:pt x="1182" y="739"/>
                    </a:lnTo>
                    <a:lnTo>
                      <a:pt x="1251" y="822"/>
                    </a:lnTo>
                    <a:lnTo>
                      <a:pt x="1316" y="930"/>
                    </a:lnTo>
                    <a:lnTo>
                      <a:pt x="1372" y="1029"/>
                    </a:lnTo>
                    <a:lnTo>
                      <a:pt x="1418" y="1113"/>
                    </a:lnTo>
                    <a:lnTo>
                      <a:pt x="1432" y="1144"/>
                    </a:lnTo>
                    <a:lnTo>
                      <a:pt x="1435" y="1198"/>
                    </a:lnTo>
                    <a:lnTo>
                      <a:pt x="1450" y="1240"/>
                    </a:lnTo>
                    <a:lnTo>
                      <a:pt x="1473" y="1204"/>
                    </a:lnTo>
                    <a:lnTo>
                      <a:pt x="1517" y="1147"/>
                    </a:lnTo>
                    <a:lnTo>
                      <a:pt x="1575" y="1061"/>
                    </a:lnTo>
                    <a:lnTo>
                      <a:pt x="1612" y="1009"/>
                    </a:lnTo>
                    <a:lnTo>
                      <a:pt x="1629" y="977"/>
                    </a:lnTo>
                    <a:lnTo>
                      <a:pt x="1649" y="924"/>
                    </a:lnTo>
                    <a:lnTo>
                      <a:pt x="1666" y="889"/>
                    </a:lnTo>
                    <a:lnTo>
                      <a:pt x="1681" y="862"/>
                    </a:lnTo>
                    <a:lnTo>
                      <a:pt x="1701" y="833"/>
                    </a:lnTo>
                    <a:lnTo>
                      <a:pt x="1723" y="808"/>
                    </a:lnTo>
                    <a:lnTo>
                      <a:pt x="1763" y="767"/>
                    </a:lnTo>
                    <a:lnTo>
                      <a:pt x="1807" y="734"/>
                    </a:lnTo>
                    <a:lnTo>
                      <a:pt x="1851" y="713"/>
                    </a:lnTo>
                    <a:lnTo>
                      <a:pt x="1889" y="713"/>
                    </a:lnTo>
                    <a:lnTo>
                      <a:pt x="1923" y="717"/>
                    </a:lnTo>
                    <a:lnTo>
                      <a:pt x="1953" y="735"/>
                    </a:lnTo>
                    <a:lnTo>
                      <a:pt x="1974" y="774"/>
                    </a:lnTo>
                    <a:lnTo>
                      <a:pt x="1973" y="819"/>
                    </a:lnTo>
                    <a:lnTo>
                      <a:pt x="1973" y="839"/>
                    </a:lnTo>
                    <a:lnTo>
                      <a:pt x="1963" y="883"/>
                    </a:lnTo>
                    <a:lnTo>
                      <a:pt x="1945" y="903"/>
                    </a:lnTo>
                    <a:lnTo>
                      <a:pt x="1935" y="946"/>
                    </a:lnTo>
                    <a:lnTo>
                      <a:pt x="1917" y="1009"/>
                    </a:lnTo>
                    <a:lnTo>
                      <a:pt x="1917" y="1071"/>
                    </a:lnTo>
                    <a:lnTo>
                      <a:pt x="1907" y="1134"/>
                    </a:lnTo>
                    <a:lnTo>
                      <a:pt x="1904" y="1167"/>
                    </a:lnTo>
                    <a:lnTo>
                      <a:pt x="1895" y="1200"/>
                    </a:lnTo>
                    <a:lnTo>
                      <a:pt x="1876" y="1238"/>
                    </a:lnTo>
                    <a:lnTo>
                      <a:pt x="1851" y="1271"/>
                    </a:lnTo>
                    <a:lnTo>
                      <a:pt x="1834" y="1333"/>
                    </a:lnTo>
                    <a:lnTo>
                      <a:pt x="1806" y="1396"/>
                    </a:lnTo>
                    <a:lnTo>
                      <a:pt x="1723" y="1544"/>
                    </a:lnTo>
                    <a:lnTo>
                      <a:pt x="1649" y="1649"/>
                    </a:lnTo>
                    <a:lnTo>
                      <a:pt x="1594" y="1722"/>
                    </a:lnTo>
                    <a:lnTo>
                      <a:pt x="1584" y="1764"/>
                    </a:lnTo>
                    <a:lnTo>
                      <a:pt x="1575" y="1807"/>
                    </a:lnTo>
                    <a:lnTo>
                      <a:pt x="1558" y="1853"/>
                    </a:lnTo>
                    <a:lnTo>
                      <a:pt x="1545" y="1912"/>
                    </a:lnTo>
                    <a:lnTo>
                      <a:pt x="1519" y="1975"/>
                    </a:lnTo>
                    <a:lnTo>
                      <a:pt x="1473" y="2059"/>
                    </a:lnTo>
                    <a:lnTo>
                      <a:pt x="1428" y="2122"/>
                    </a:lnTo>
                    <a:lnTo>
                      <a:pt x="1400" y="2163"/>
                    </a:lnTo>
                    <a:lnTo>
                      <a:pt x="1381" y="2227"/>
                    </a:lnTo>
                    <a:lnTo>
                      <a:pt x="1362" y="2269"/>
                    </a:lnTo>
                    <a:lnTo>
                      <a:pt x="1332"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592" name="Group 1814">
                <a:extLst>
                  <a:ext uri="{FF2B5EF4-FFF2-40B4-BE49-F238E27FC236}">
                    <a16:creationId xmlns:a16="http://schemas.microsoft.com/office/drawing/2014/main" id="{95CCB07A-37E7-4E71-A444-F4A91161B4DC}"/>
                  </a:ext>
                </a:extLst>
              </p:cNvPr>
              <p:cNvGrpSpPr>
                <a:grpSpLocks/>
              </p:cNvGrpSpPr>
              <p:nvPr/>
            </p:nvGrpSpPr>
            <p:grpSpPr bwMode="auto">
              <a:xfrm>
                <a:off x="2078" y="3668"/>
                <a:ext cx="139" cy="45"/>
                <a:chOff x="2078" y="3668"/>
                <a:chExt cx="139" cy="45"/>
              </a:xfrm>
            </p:grpSpPr>
            <p:sp>
              <p:nvSpPr>
                <p:cNvPr id="597" name="Freeform 1815">
                  <a:extLst>
                    <a:ext uri="{FF2B5EF4-FFF2-40B4-BE49-F238E27FC236}">
                      <a16:creationId xmlns:a16="http://schemas.microsoft.com/office/drawing/2014/main" id="{9F7CCA71-DC52-4F3B-984D-023A8F51D67F}"/>
                    </a:ext>
                  </a:extLst>
                </p:cNvPr>
                <p:cNvSpPr>
                  <a:spLocks/>
                </p:cNvSpPr>
                <p:nvPr/>
              </p:nvSpPr>
              <p:spPr bwMode="auto">
                <a:xfrm>
                  <a:off x="2201" y="3705"/>
                  <a:ext cx="16" cy="8"/>
                </a:xfrm>
                <a:custGeom>
                  <a:avLst/>
                  <a:gdLst>
                    <a:gd name="T0" fmla="*/ 0 w 185"/>
                    <a:gd name="T1" fmla="*/ 0 h 96"/>
                    <a:gd name="T2" fmla="*/ 0 w 185"/>
                    <a:gd name="T3" fmla="*/ 0 h 96"/>
                    <a:gd name="T4" fmla="*/ 0 w 185"/>
                    <a:gd name="T5" fmla="*/ 0 h 96"/>
                    <a:gd name="T6" fmla="*/ 0 w 185"/>
                    <a:gd name="T7" fmla="*/ 0 h 96"/>
                    <a:gd name="T8" fmla="*/ 0 w 185"/>
                    <a:gd name="T9" fmla="*/ 0 h 96"/>
                    <a:gd name="T10" fmla="*/ 0 w 185"/>
                    <a:gd name="T11" fmla="*/ 0 h 96"/>
                    <a:gd name="T12" fmla="*/ 0 w 185"/>
                    <a:gd name="T13" fmla="*/ 0 h 96"/>
                    <a:gd name="T14" fmla="*/ 0 60000 65536"/>
                    <a:gd name="T15" fmla="*/ 0 60000 65536"/>
                    <a:gd name="T16" fmla="*/ 0 60000 65536"/>
                    <a:gd name="T17" fmla="*/ 0 60000 65536"/>
                    <a:gd name="T18" fmla="*/ 0 60000 65536"/>
                    <a:gd name="T19" fmla="*/ 0 60000 65536"/>
                    <a:gd name="T20" fmla="*/ 0 60000 65536"/>
                    <a:gd name="T21" fmla="*/ 0 w 185"/>
                    <a:gd name="T22" fmla="*/ 0 h 96"/>
                    <a:gd name="T23" fmla="*/ 185 w 185"/>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96">
                      <a:moveTo>
                        <a:pt x="0" y="0"/>
                      </a:moveTo>
                      <a:lnTo>
                        <a:pt x="38" y="21"/>
                      </a:lnTo>
                      <a:lnTo>
                        <a:pt x="66" y="52"/>
                      </a:lnTo>
                      <a:lnTo>
                        <a:pt x="101" y="85"/>
                      </a:lnTo>
                      <a:lnTo>
                        <a:pt x="129" y="96"/>
                      </a:lnTo>
                      <a:lnTo>
                        <a:pt x="139" y="96"/>
                      </a:lnTo>
                      <a:lnTo>
                        <a:pt x="185"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 name="Freeform 1816">
                  <a:extLst>
                    <a:ext uri="{FF2B5EF4-FFF2-40B4-BE49-F238E27FC236}">
                      <a16:creationId xmlns:a16="http://schemas.microsoft.com/office/drawing/2014/main" id="{7BFFB501-F7B5-422B-A980-3511AC5FF7FD}"/>
                    </a:ext>
                  </a:extLst>
                </p:cNvPr>
                <p:cNvSpPr>
                  <a:spLocks/>
                </p:cNvSpPr>
                <p:nvPr/>
              </p:nvSpPr>
              <p:spPr bwMode="auto">
                <a:xfrm>
                  <a:off x="2078" y="3695"/>
                  <a:ext cx="8"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9" name="Freeform 1817">
                  <a:extLst>
                    <a:ext uri="{FF2B5EF4-FFF2-40B4-BE49-F238E27FC236}">
                      <a16:creationId xmlns:a16="http://schemas.microsoft.com/office/drawing/2014/main" id="{552164C0-8F9D-4534-9D69-E5609EA46B4F}"/>
                    </a:ext>
                  </a:extLst>
                </p:cNvPr>
                <p:cNvSpPr>
                  <a:spLocks/>
                </p:cNvSpPr>
                <p:nvPr/>
              </p:nvSpPr>
              <p:spPr bwMode="auto">
                <a:xfrm>
                  <a:off x="2102" y="3670"/>
                  <a:ext cx="1" cy="4"/>
                </a:xfrm>
                <a:custGeom>
                  <a:avLst/>
                  <a:gdLst>
                    <a:gd name="T0" fmla="*/ 0 w 18"/>
                    <a:gd name="T1" fmla="*/ 0 h 44"/>
                    <a:gd name="T2" fmla="*/ 0 w 18"/>
                    <a:gd name="T3" fmla="*/ 0 h 44"/>
                    <a:gd name="T4" fmla="*/ 0 w 18"/>
                    <a:gd name="T5" fmla="*/ 0 h 44"/>
                    <a:gd name="T6" fmla="*/ 0 w 18"/>
                    <a:gd name="T7" fmla="*/ 0 h 44"/>
                    <a:gd name="T8" fmla="*/ 0 60000 65536"/>
                    <a:gd name="T9" fmla="*/ 0 60000 65536"/>
                    <a:gd name="T10" fmla="*/ 0 60000 65536"/>
                    <a:gd name="T11" fmla="*/ 0 60000 65536"/>
                    <a:gd name="T12" fmla="*/ 0 w 18"/>
                    <a:gd name="T13" fmla="*/ 0 h 44"/>
                    <a:gd name="T14" fmla="*/ 18 w 18"/>
                    <a:gd name="T15" fmla="*/ 44 h 44"/>
                  </a:gdLst>
                  <a:ahLst/>
                  <a:cxnLst>
                    <a:cxn ang="T8">
                      <a:pos x="T0" y="T1"/>
                    </a:cxn>
                    <a:cxn ang="T9">
                      <a:pos x="T2" y="T3"/>
                    </a:cxn>
                    <a:cxn ang="T10">
                      <a:pos x="T4" y="T5"/>
                    </a:cxn>
                    <a:cxn ang="T11">
                      <a:pos x="T6" y="T7"/>
                    </a:cxn>
                  </a:cxnLst>
                  <a:rect l="T12" t="T13" r="T14" b="T15"/>
                  <a:pathLst>
                    <a:path w="18" h="44">
                      <a:moveTo>
                        <a:pt x="0" y="0"/>
                      </a:moveTo>
                      <a:lnTo>
                        <a:pt x="18" y="18"/>
                      </a:lnTo>
                      <a:lnTo>
                        <a:pt x="16" y="29"/>
                      </a:lnTo>
                      <a:lnTo>
                        <a:pt x="18"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 name="Freeform 1818">
                  <a:extLst>
                    <a:ext uri="{FF2B5EF4-FFF2-40B4-BE49-F238E27FC236}">
                      <a16:creationId xmlns:a16="http://schemas.microsoft.com/office/drawing/2014/main" id="{9A0B5B78-8CBF-4F58-A4B4-6A29636940BF}"/>
                    </a:ext>
                  </a:extLst>
                </p:cNvPr>
                <p:cNvSpPr>
                  <a:spLocks/>
                </p:cNvSpPr>
                <p:nvPr/>
              </p:nvSpPr>
              <p:spPr bwMode="auto">
                <a:xfrm>
                  <a:off x="2095" y="3668"/>
                  <a:ext cx="15" cy="2"/>
                </a:xfrm>
                <a:custGeom>
                  <a:avLst/>
                  <a:gdLst>
                    <a:gd name="T0" fmla="*/ 0 w 179"/>
                    <a:gd name="T1" fmla="*/ 0 h 22"/>
                    <a:gd name="T2" fmla="*/ 0 w 179"/>
                    <a:gd name="T3" fmla="*/ 0 h 22"/>
                    <a:gd name="T4" fmla="*/ 0 w 179"/>
                    <a:gd name="T5" fmla="*/ 0 h 22"/>
                    <a:gd name="T6" fmla="*/ 0 w 179"/>
                    <a:gd name="T7" fmla="*/ 0 h 22"/>
                    <a:gd name="T8" fmla="*/ 0 w 179"/>
                    <a:gd name="T9" fmla="*/ 0 h 22"/>
                    <a:gd name="T10" fmla="*/ 0 60000 65536"/>
                    <a:gd name="T11" fmla="*/ 0 60000 65536"/>
                    <a:gd name="T12" fmla="*/ 0 60000 65536"/>
                    <a:gd name="T13" fmla="*/ 0 60000 65536"/>
                    <a:gd name="T14" fmla="*/ 0 60000 65536"/>
                    <a:gd name="T15" fmla="*/ 0 w 179"/>
                    <a:gd name="T16" fmla="*/ 0 h 22"/>
                    <a:gd name="T17" fmla="*/ 179 w 179"/>
                    <a:gd name="T18" fmla="*/ 22 h 22"/>
                  </a:gdLst>
                  <a:ahLst/>
                  <a:cxnLst>
                    <a:cxn ang="T10">
                      <a:pos x="T0" y="T1"/>
                    </a:cxn>
                    <a:cxn ang="T11">
                      <a:pos x="T2" y="T3"/>
                    </a:cxn>
                    <a:cxn ang="T12">
                      <a:pos x="T4" y="T5"/>
                    </a:cxn>
                    <a:cxn ang="T13">
                      <a:pos x="T6" y="T7"/>
                    </a:cxn>
                    <a:cxn ang="T14">
                      <a:pos x="T8" y="T9"/>
                    </a:cxn>
                  </a:cxnLst>
                  <a:rect l="T15" t="T16" r="T17" b="T18"/>
                  <a:pathLst>
                    <a:path w="179" h="22">
                      <a:moveTo>
                        <a:pt x="179" y="11"/>
                      </a:moveTo>
                      <a:lnTo>
                        <a:pt x="151" y="22"/>
                      </a:lnTo>
                      <a:lnTo>
                        <a:pt x="39" y="22"/>
                      </a:lnTo>
                      <a:lnTo>
                        <a:pt x="18" y="10"/>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3" name="Group 1819">
                <a:extLst>
                  <a:ext uri="{FF2B5EF4-FFF2-40B4-BE49-F238E27FC236}">
                    <a16:creationId xmlns:a16="http://schemas.microsoft.com/office/drawing/2014/main" id="{E1145284-C34F-4D37-AC4B-BDF5CE25D4E6}"/>
                  </a:ext>
                </a:extLst>
              </p:cNvPr>
              <p:cNvGrpSpPr>
                <a:grpSpLocks/>
              </p:cNvGrpSpPr>
              <p:nvPr/>
            </p:nvGrpSpPr>
            <p:grpSpPr bwMode="auto">
              <a:xfrm>
                <a:off x="2093" y="3659"/>
                <a:ext cx="95" cy="91"/>
                <a:chOff x="2093" y="3659"/>
                <a:chExt cx="95" cy="91"/>
              </a:xfrm>
            </p:grpSpPr>
            <p:sp>
              <p:nvSpPr>
                <p:cNvPr id="594" name="Freeform 1820">
                  <a:extLst>
                    <a:ext uri="{FF2B5EF4-FFF2-40B4-BE49-F238E27FC236}">
                      <a16:creationId xmlns:a16="http://schemas.microsoft.com/office/drawing/2014/main" id="{BFEDF9CF-6539-467C-AF9B-28170C6935CF}"/>
                    </a:ext>
                  </a:extLst>
                </p:cNvPr>
                <p:cNvSpPr>
                  <a:spLocks/>
                </p:cNvSpPr>
                <p:nvPr/>
              </p:nvSpPr>
              <p:spPr bwMode="auto">
                <a:xfrm>
                  <a:off x="2100" y="3676"/>
                  <a:ext cx="88" cy="74"/>
                </a:xfrm>
                <a:custGeom>
                  <a:avLst/>
                  <a:gdLst>
                    <a:gd name="T0" fmla="*/ 0 w 1061"/>
                    <a:gd name="T1" fmla="*/ 0 h 894"/>
                    <a:gd name="T2" fmla="*/ 0 w 1061"/>
                    <a:gd name="T3" fmla="*/ 0 h 894"/>
                    <a:gd name="T4" fmla="*/ 0 w 1061"/>
                    <a:gd name="T5" fmla="*/ 0 h 894"/>
                    <a:gd name="T6" fmla="*/ 0 w 1061"/>
                    <a:gd name="T7" fmla="*/ 0 h 894"/>
                    <a:gd name="T8" fmla="*/ 0 w 1061"/>
                    <a:gd name="T9" fmla="*/ 0 h 894"/>
                    <a:gd name="T10" fmla="*/ 0 w 1061"/>
                    <a:gd name="T11" fmla="*/ 0 h 894"/>
                    <a:gd name="T12" fmla="*/ 0 w 1061"/>
                    <a:gd name="T13" fmla="*/ 0 h 894"/>
                    <a:gd name="T14" fmla="*/ 0 w 1061"/>
                    <a:gd name="T15" fmla="*/ 0 h 894"/>
                    <a:gd name="T16" fmla="*/ 0 w 1061"/>
                    <a:gd name="T17" fmla="*/ 0 h 894"/>
                    <a:gd name="T18" fmla="*/ 0 w 1061"/>
                    <a:gd name="T19" fmla="*/ 0 h 894"/>
                    <a:gd name="T20" fmla="*/ 0 w 1061"/>
                    <a:gd name="T21" fmla="*/ 0 h 894"/>
                    <a:gd name="T22" fmla="*/ 0 w 1061"/>
                    <a:gd name="T23" fmla="*/ 0 h 894"/>
                    <a:gd name="T24" fmla="*/ 0 w 1061"/>
                    <a:gd name="T25" fmla="*/ 0 h 894"/>
                    <a:gd name="T26" fmla="*/ 0 w 1061"/>
                    <a:gd name="T27" fmla="*/ 0 h 894"/>
                    <a:gd name="T28" fmla="*/ 0 w 1061"/>
                    <a:gd name="T29" fmla="*/ 0 h 894"/>
                    <a:gd name="T30" fmla="*/ 0 w 1061"/>
                    <a:gd name="T31" fmla="*/ 0 h 894"/>
                    <a:gd name="T32" fmla="*/ 0 w 1061"/>
                    <a:gd name="T33" fmla="*/ 0 h 894"/>
                    <a:gd name="T34" fmla="*/ 0 w 1061"/>
                    <a:gd name="T35" fmla="*/ 0 h 894"/>
                    <a:gd name="T36" fmla="*/ 0 w 1061"/>
                    <a:gd name="T37" fmla="*/ 0 h 894"/>
                    <a:gd name="T38" fmla="*/ 0 w 1061"/>
                    <a:gd name="T39" fmla="*/ 0 h 894"/>
                    <a:gd name="T40" fmla="*/ 0 w 1061"/>
                    <a:gd name="T41" fmla="*/ 0 h 894"/>
                    <a:gd name="T42" fmla="*/ 0 w 1061"/>
                    <a:gd name="T43" fmla="*/ 0 h 894"/>
                    <a:gd name="T44" fmla="*/ 0 w 1061"/>
                    <a:gd name="T45" fmla="*/ 0 h 894"/>
                    <a:gd name="T46" fmla="*/ 0 w 1061"/>
                    <a:gd name="T47" fmla="*/ 0 h 894"/>
                    <a:gd name="T48" fmla="*/ 0 w 1061"/>
                    <a:gd name="T49" fmla="*/ 0 h 894"/>
                    <a:gd name="T50" fmla="*/ 0 w 1061"/>
                    <a:gd name="T51" fmla="*/ 0 h 894"/>
                    <a:gd name="T52" fmla="*/ 0 w 1061"/>
                    <a:gd name="T53" fmla="*/ 0 h 894"/>
                    <a:gd name="T54" fmla="*/ 0 w 1061"/>
                    <a:gd name="T55" fmla="*/ 0 h 894"/>
                    <a:gd name="T56" fmla="*/ 0 w 1061"/>
                    <a:gd name="T57" fmla="*/ 0 h 894"/>
                    <a:gd name="T58" fmla="*/ 0 w 1061"/>
                    <a:gd name="T59" fmla="*/ 0 h 894"/>
                    <a:gd name="T60" fmla="*/ 0 w 1061"/>
                    <a:gd name="T61" fmla="*/ 0 h 894"/>
                    <a:gd name="T62" fmla="*/ 0 w 1061"/>
                    <a:gd name="T63" fmla="*/ 0 h 894"/>
                    <a:gd name="T64" fmla="*/ 0 w 1061"/>
                    <a:gd name="T65" fmla="*/ 0 h 894"/>
                    <a:gd name="T66" fmla="*/ 0 w 1061"/>
                    <a:gd name="T67" fmla="*/ 0 h 894"/>
                    <a:gd name="T68" fmla="*/ 0 w 1061"/>
                    <a:gd name="T69" fmla="*/ 0 h 894"/>
                    <a:gd name="T70" fmla="*/ 0 w 1061"/>
                    <a:gd name="T71" fmla="*/ 0 h 894"/>
                    <a:gd name="T72" fmla="*/ 0 w 1061"/>
                    <a:gd name="T73" fmla="*/ 0 h 894"/>
                    <a:gd name="T74" fmla="*/ 0 w 1061"/>
                    <a:gd name="T75" fmla="*/ 0 h 894"/>
                    <a:gd name="T76" fmla="*/ 0 w 1061"/>
                    <a:gd name="T77" fmla="*/ 0 h 894"/>
                    <a:gd name="T78" fmla="*/ 0 w 1061"/>
                    <a:gd name="T79" fmla="*/ 0 h 894"/>
                    <a:gd name="T80" fmla="*/ 0 w 1061"/>
                    <a:gd name="T81" fmla="*/ 0 h 894"/>
                    <a:gd name="T82" fmla="*/ 0 w 1061"/>
                    <a:gd name="T83" fmla="*/ 0 h 894"/>
                    <a:gd name="T84" fmla="*/ 0 w 1061"/>
                    <a:gd name="T85" fmla="*/ 0 h 894"/>
                    <a:gd name="T86" fmla="*/ 0 w 1061"/>
                    <a:gd name="T87" fmla="*/ 0 h 894"/>
                    <a:gd name="T88" fmla="*/ 0 w 1061"/>
                    <a:gd name="T89" fmla="*/ 0 h 894"/>
                    <a:gd name="T90" fmla="*/ 0 w 1061"/>
                    <a:gd name="T91" fmla="*/ 0 h 894"/>
                    <a:gd name="T92" fmla="*/ 0 w 1061"/>
                    <a:gd name="T93" fmla="*/ 0 h 894"/>
                    <a:gd name="T94" fmla="*/ 0 w 1061"/>
                    <a:gd name="T95" fmla="*/ 0 h 894"/>
                    <a:gd name="T96" fmla="*/ 0 w 1061"/>
                    <a:gd name="T97" fmla="*/ 0 h 894"/>
                    <a:gd name="T98" fmla="*/ 0 w 1061"/>
                    <a:gd name="T99" fmla="*/ 0 h 894"/>
                    <a:gd name="T100" fmla="*/ 0 w 1061"/>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1"/>
                    <a:gd name="T154" fmla="*/ 0 h 894"/>
                    <a:gd name="T155" fmla="*/ 1061 w 1061"/>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1" h="894">
                      <a:moveTo>
                        <a:pt x="1061" y="487"/>
                      </a:moveTo>
                      <a:lnTo>
                        <a:pt x="982" y="517"/>
                      </a:lnTo>
                      <a:lnTo>
                        <a:pt x="886" y="555"/>
                      </a:lnTo>
                      <a:lnTo>
                        <a:pt x="827" y="593"/>
                      </a:lnTo>
                      <a:lnTo>
                        <a:pt x="779" y="652"/>
                      </a:lnTo>
                      <a:lnTo>
                        <a:pt x="750" y="739"/>
                      </a:lnTo>
                      <a:lnTo>
                        <a:pt x="730" y="807"/>
                      </a:lnTo>
                      <a:lnTo>
                        <a:pt x="671" y="875"/>
                      </a:lnTo>
                      <a:lnTo>
                        <a:pt x="574" y="894"/>
                      </a:lnTo>
                      <a:lnTo>
                        <a:pt x="506" y="865"/>
                      </a:lnTo>
                      <a:lnTo>
                        <a:pt x="457" y="826"/>
                      </a:lnTo>
                      <a:lnTo>
                        <a:pt x="454" y="784"/>
                      </a:lnTo>
                      <a:lnTo>
                        <a:pt x="447" y="749"/>
                      </a:lnTo>
                      <a:lnTo>
                        <a:pt x="409" y="690"/>
                      </a:lnTo>
                      <a:lnTo>
                        <a:pt x="321" y="662"/>
                      </a:lnTo>
                      <a:lnTo>
                        <a:pt x="389" y="617"/>
                      </a:lnTo>
                      <a:lnTo>
                        <a:pt x="460" y="603"/>
                      </a:lnTo>
                      <a:lnTo>
                        <a:pt x="493" y="584"/>
                      </a:lnTo>
                      <a:lnTo>
                        <a:pt x="431" y="581"/>
                      </a:lnTo>
                      <a:lnTo>
                        <a:pt x="360" y="603"/>
                      </a:lnTo>
                      <a:lnTo>
                        <a:pt x="282" y="633"/>
                      </a:lnTo>
                      <a:lnTo>
                        <a:pt x="247" y="603"/>
                      </a:lnTo>
                      <a:lnTo>
                        <a:pt x="240" y="565"/>
                      </a:lnTo>
                      <a:lnTo>
                        <a:pt x="237" y="520"/>
                      </a:lnTo>
                      <a:lnTo>
                        <a:pt x="224" y="477"/>
                      </a:lnTo>
                      <a:lnTo>
                        <a:pt x="175" y="468"/>
                      </a:lnTo>
                      <a:lnTo>
                        <a:pt x="136" y="484"/>
                      </a:lnTo>
                      <a:lnTo>
                        <a:pt x="104" y="514"/>
                      </a:lnTo>
                      <a:lnTo>
                        <a:pt x="58" y="542"/>
                      </a:lnTo>
                      <a:lnTo>
                        <a:pt x="0" y="593"/>
                      </a:lnTo>
                      <a:lnTo>
                        <a:pt x="58" y="507"/>
                      </a:lnTo>
                      <a:lnTo>
                        <a:pt x="165" y="420"/>
                      </a:lnTo>
                      <a:lnTo>
                        <a:pt x="234" y="380"/>
                      </a:lnTo>
                      <a:lnTo>
                        <a:pt x="295" y="364"/>
                      </a:lnTo>
                      <a:lnTo>
                        <a:pt x="348" y="368"/>
                      </a:lnTo>
                      <a:lnTo>
                        <a:pt x="402" y="355"/>
                      </a:lnTo>
                      <a:lnTo>
                        <a:pt x="487" y="332"/>
                      </a:lnTo>
                      <a:lnTo>
                        <a:pt x="593" y="288"/>
                      </a:lnTo>
                      <a:lnTo>
                        <a:pt x="694" y="239"/>
                      </a:lnTo>
                      <a:lnTo>
                        <a:pt x="753" y="210"/>
                      </a:lnTo>
                      <a:lnTo>
                        <a:pt x="785" y="168"/>
                      </a:lnTo>
                      <a:lnTo>
                        <a:pt x="801" y="116"/>
                      </a:lnTo>
                      <a:lnTo>
                        <a:pt x="798" y="62"/>
                      </a:lnTo>
                      <a:lnTo>
                        <a:pt x="785" y="0"/>
                      </a:lnTo>
                      <a:lnTo>
                        <a:pt x="846" y="68"/>
                      </a:lnTo>
                      <a:lnTo>
                        <a:pt x="896" y="145"/>
                      </a:lnTo>
                      <a:lnTo>
                        <a:pt x="953" y="245"/>
                      </a:lnTo>
                      <a:lnTo>
                        <a:pt x="979" y="300"/>
                      </a:lnTo>
                      <a:lnTo>
                        <a:pt x="1006" y="348"/>
                      </a:lnTo>
                      <a:lnTo>
                        <a:pt x="1041" y="401"/>
                      </a:lnTo>
                      <a:lnTo>
                        <a:pt x="1061"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 name="Freeform 1821">
                  <a:extLst>
                    <a:ext uri="{FF2B5EF4-FFF2-40B4-BE49-F238E27FC236}">
                      <a16:creationId xmlns:a16="http://schemas.microsoft.com/office/drawing/2014/main" id="{CF9D122F-4F65-4760-B326-FB77D1A7E68D}"/>
                    </a:ext>
                  </a:extLst>
                </p:cNvPr>
                <p:cNvSpPr>
                  <a:spLocks/>
                </p:cNvSpPr>
                <p:nvPr/>
              </p:nvSpPr>
              <p:spPr bwMode="auto">
                <a:xfrm>
                  <a:off x="2093" y="3699"/>
                  <a:ext cx="24" cy="15"/>
                </a:xfrm>
                <a:custGeom>
                  <a:avLst/>
                  <a:gdLst>
                    <a:gd name="T0" fmla="*/ 0 w 288"/>
                    <a:gd name="T1" fmla="*/ 0 h 181"/>
                    <a:gd name="T2" fmla="*/ 0 w 288"/>
                    <a:gd name="T3" fmla="*/ 0 h 181"/>
                    <a:gd name="T4" fmla="*/ 0 w 288"/>
                    <a:gd name="T5" fmla="*/ 0 h 181"/>
                    <a:gd name="T6" fmla="*/ 0 w 288"/>
                    <a:gd name="T7" fmla="*/ 0 h 181"/>
                    <a:gd name="T8" fmla="*/ 0 w 288"/>
                    <a:gd name="T9" fmla="*/ 0 h 181"/>
                    <a:gd name="T10" fmla="*/ 0 w 288"/>
                    <a:gd name="T11" fmla="*/ 0 h 181"/>
                    <a:gd name="T12" fmla="*/ 0 w 288"/>
                    <a:gd name="T13" fmla="*/ 0 h 181"/>
                    <a:gd name="T14" fmla="*/ 0 w 288"/>
                    <a:gd name="T15" fmla="*/ 0 h 181"/>
                    <a:gd name="T16" fmla="*/ 0 w 288"/>
                    <a:gd name="T17" fmla="*/ 0 h 181"/>
                    <a:gd name="T18" fmla="*/ 0 w 288"/>
                    <a:gd name="T19" fmla="*/ 0 h 181"/>
                    <a:gd name="T20" fmla="*/ 0 w 288"/>
                    <a:gd name="T21" fmla="*/ 0 h 181"/>
                    <a:gd name="T22" fmla="*/ 0 w 288"/>
                    <a:gd name="T23" fmla="*/ 0 h 181"/>
                    <a:gd name="T24" fmla="*/ 0 w 288"/>
                    <a:gd name="T25" fmla="*/ 0 h 181"/>
                    <a:gd name="T26" fmla="*/ 0 w 288"/>
                    <a:gd name="T27" fmla="*/ 0 h 181"/>
                    <a:gd name="T28" fmla="*/ 0 w 288"/>
                    <a:gd name="T29" fmla="*/ 0 h 181"/>
                    <a:gd name="T30" fmla="*/ 0 w 288"/>
                    <a:gd name="T31" fmla="*/ 0 h 181"/>
                    <a:gd name="T32" fmla="*/ 0 w 288"/>
                    <a:gd name="T33" fmla="*/ 0 h 181"/>
                    <a:gd name="T34" fmla="*/ 0 w 288"/>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8"/>
                    <a:gd name="T55" fmla="*/ 0 h 181"/>
                    <a:gd name="T56" fmla="*/ 288 w 288"/>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8" h="181">
                      <a:moveTo>
                        <a:pt x="176" y="10"/>
                      </a:moveTo>
                      <a:lnTo>
                        <a:pt x="209" y="20"/>
                      </a:lnTo>
                      <a:lnTo>
                        <a:pt x="246" y="33"/>
                      </a:lnTo>
                      <a:lnTo>
                        <a:pt x="288" y="53"/>
                      </a:lnTo>
                      <a:lnTo>
                        <a:pt x="258" y="67"/>
                      </a:lnTo>
                      <a:lnTo>
                        <a:pt x="203" y="91"/>
                      </a:lnTo>
                      <a:lnTo>
                        <a:pt x="143" y="124"/>
                      </a:lnTo>
                      <a:lnTo>
                        <a:pt x="103" y="161"/>
                      </a:lnTo>
                      <a:lnTo>
                        <a:pt x="79" y="181"/>
                      </a:lnTo>
                      <a:lnTo>
                        <a:pt x="106"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6" name="Freeform 1822">
                  <a:extLst>
                    <a:ext uri="{FF2B5EF4-FFF2-40B4-BE49-F238E27FC236}">
                      <a16:creationId xmlns:a16="http://schemas.microsoft.com/office/drawing/2014/main" id="{CFB46BEA-17B0-4CDC-969D-6DBC4D3C5D85}"/>
                    </a:ext>
                  </a:extLst>
                </p:cNvPr>
                <p:cNvSpPr>
                  <a:spLocks/>
                </p:cNvSpPr>
                <p:nvPr/>
              </p:nvSpPr>
              <p:spPr bwMode="auto">
                <a:xfrm>
                  <a:off x="2115" y="3659"/>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4" y="166"/>
                      </a:lnTo>
                      <a:lnTo>
                        <a:pt x="365" y="206"/>
                      </a:lnTo>
                      <a:lnTo>
                        <a:pt x="314" y="255"/>
                      </a:lnTo>
                      <a:lnTo>
                        <a:pt x="264" y="332"/>
                      </a:lnTo>
                      <a:lnTo>
                        <a:pt x="242" y="385"/>
                      </a:lnTo>
                      <a:lnTo>
                        <a:pt x="258" y="434"/>
                      </a:lnTo>
                      <a:lnTo>
                        <a:pt x="193" y="388"/>
                      </a:lnTo>
                      <a:lnTo>
                        <a:pt x="130" y="365"/>
                      </a:lnTo>
                      <a:lnTo>
                        <a:pt x="81" y="345"/>
                      </a:lnTo>
                      <a:lnTo>
                        <a:pt x="32" y="329"/>
                      </a:lnTo>
                      <a:lnTo>
                        <a:pt x="0" y="313"/>
                      </a:lnTo>
                      <a:lnTo>
                        <a:pt x="42" y="255"/>
                      </a:lnTo>
                      <a:lnTo>
                        <a:pt x="81" y="283"/>
                      </a:lnTo>
                      <a:lnTo>
                        <a:pt x="143" y="313"/>
                      </a:lnTo>
                      <a:lnTo>
                        <a:pt x="196" y="313"/>
                      </a:lnTo>
                      <a:lnTo>
                        <a:pt x="245" y="304"/>
                      </a:lnTo>
                      <a:lnTo>
                        <a:pt x="274" y="293"/>
                      </a:lnTo>
                      <a:lnTo>
                        <a:pt x="304" y="274"/>
                      </a:lnTo>
                      <a:lnTo>
                        <a:pt x="314" y="212"/>
                      </a:lnTo>
                      <a:lnTo>
                        <a:pt x="304" y="166"/>
                      </a:lnTo>
                      <a:lnTo>
                        <a:pt x="274" y="108"/>
                      </a:lnTo>
                      <a:lnTo>
                        <a:pt x="264" y="78"/>
                      </a:lnTo>
                      <a:lnTo>
                        <a:pt x="307" y="68"/>
                      </a:lnTo>
                      <a:lnTo>
                        <a:pt x="362" y="52"/>
                      </a:lnTo>
                      <a:lnTo>
                        <a:pt x="398" y="9"/>
                      </a:lnTo>
                      <a:lnTo>
                        <a:pt x="431" y="0"/>
                      </a:lnTo>
                      <a:lnTo>
                        <a:pt x="467" y="55"/>
                      </a:lnTo>
                      <a:lnTo>
                        <a:pt x="499"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539" name="Group 1823">
              <a:extLst>
                <a:ext uri="{FF2B5EF4-FFF2-40B4-BE49-F238E27FC236}">
                  <a16:creationId xmlns:a16="http://schemas.microsoft.com/office/drawing/2014/main" id="{15382A40-0719-474B-B221-6C3050002EF2}"/>
                </a:ext>
              </a:extLst>
            </p:cNvPr>
            <p:cNvGrpSpPr>
              <a:grpSpLocks/>
            </p:cNvGrpSpPr>
            <p:nvPr/>
          </p:nvGrpSpPr>
          <p:grpSpPr bwMode="auto">
            <a:xfrm>
              <a:off x="2117" y="3557"/>
              <a:ext cx="140" cy="274"/>
              <a:chOff x="2117" y="3557"/>
              <a:chExt cx="140" cy="274"/>
            </a:xfrm>
          </p:grpSpPr>
          <p:sp>
            <p:nvSpPr>
              <p:cNvPr id="551" name="Freeform 1824">
                <a:extLst>
                  <a:ext uri="{FF2B5EF4-FFF2-40B4-BE49-F238E27FC236}">
                    <a16:creationId xmlns:a16="http://schemas.microsoft.com/office/drawing/2014/main" id="{9F67E07F-B829-4B5F-AE8F-56606BC9284E}"/>
                  </a:ext>
                </a:extLst>
              </p:cNvPr>
              <p:cNvSpPr>
                <a:spLocks/>
              </p:cNvSpPr>
              <p:nvPr/>
            </p:nvSpPr>
            <p:spPr bwMode="auto">
              <a:xfrm>
                <a:off x="2126" y="3753"/>
                <a:ext cx="129"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7"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552" name="Freeform 1825">
                <a:extLst>
                  <a:ext uri="{FF2B5EF4-FFF2-40B4-BE49-F238E27FC236}">
                    <a16:creationId xmlns:a16="http://schemas.microsoft.com/office/drawing/2014/main" id="{E0972015-BCE1-4C45-9A1C-77A6304C3FD8}"/>
                  </a:ext>
                </a:extLst>
              </p:cNvPr>
              <p:cNvSpPr>
                <a:spLocks/>
              </p:cNvSpPr>
              <p:nvPr/>
            </p:nvSpPr>
            <p:spPr bwMode="auto">
              <a:xfrm>
                <a:off x="2172" y="3787"/>
                <a:ext cx="85"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6" y="179"/>
                    </a:lnTo>
                    <a:lnTo>
                      <a:pt x="944" y="523"/>
                    </a:lnTo>
                    <a:lnTo>
                      <a:pt x="963" y="528"/>
                    </a:lnTo>
                    <a:lnTo>
                      <a:pt x="980" y="523"/>
                    </a:lnTo>
                    <a:lnTo>
                      <a:pt x="995" y="505"/>
                    </a:lnTo>
                    <a:lnTo>
                      <a:pt x="1014" y="461"/>
                    </a:lnTo>
                    <a:lnTo>
                      <a:pt x="1023" y="428"/>
                    </a:lnTo>
                    <a:lnTo>
                      <a:pt x="1027" y="398"/>
                    </a:lnTo>
                    <a:lnTo>
                      <a:pt x="1019" y="366"/>
                    </a:lnTo>
                    <a:lnTo>
                      <a:pt x="999"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553" name="Freeform 1826">
                <a:extLst>
                  <a:ext uri="{FF2B5EF4-FFF2-40B4-BE49-F238E27FC236}">
                    <a16:creationId xmlns:a16="http://schemas.microsoft.com/office/drawing/2014/main" id="{F0EC0C9C-A2E1-4123-B67C-CD16559B9D36}"/>
                  </a:ext>
                </a:extLst>
              </p:cNvPr>
              <p:cNvSpPr>
                <a:spLocks/>
              </p:cNvSpPr>
              <p:nvPr/>
            </p:nvSpPr>
            <p:spPr bwMode="auto">
              <a:xfrm>
                <a:off x="2117" y="3557"/>
                <a:ext cx="123" cy="245"/>
              </a:xfrm>
              <a:custGeom>
                <a:avLst/>
                <a:gdLst>
                  <a:gd name="T0" fmla="*/ 0 w 1479"/>
                  <a:gd name="T1" fmla="*/ 0 h 2948"/>
                  <a:gd name="T2" fmla="*/ 0 w 1479"/>
                  <a:gd name="T3" fmla="*/ 0 h 2948"/>
                  <a:gd name="T4" fmla="*/ 0 w 1479"/>
                  <a:gd name="T5" fmla="*/ 0 h 2948"/>
                  <a:gd name="T6" fmla="*/ 0 w 1479"/>
                  <a:gd name="T7" fmla="*/ 0 h 2948"/>
                  <a:gd name="T8" fmla="*/ 0 w 1479"/>
                  <a:gd name="T9" fmla="*/ 0 h 2948"/>
                  <a:gd name="T10" fmla="*/ 0 w 1479"/>
                  <a:gd name="T11" fmla="*/ 0 h 2948"/>
                  <a:gd name="T12" fmla="*/ 0 w 1479"/>
                  <a:gd name="T13" fmla="*/ 0 h 2948"/>
                  <a:gd name="T14" fmla="*/ 0 w 1479"/>
                  <a:gd name="T15" fmla="*/ 0 h 2948"/>
                  <a:gd name="T16" fmla="*/ 0 w 1479"/>
                  <a:gd name="T17" fmla="*/ 0 h 2948"/>
                  <a:gd name="T18" fmla="*/ 0 w 1479"/>
                  <a:gd name="T19" fmla="*/ 0 h 2948"/>
                  <a:gd name="T20" fmla="*/ 0 w 1479"/>
                  <a:gd name="T21" fmla="*/ 0 h 2948"/>
                  <a:gd name="T22" fmla="*/ 0 w 1479"/>
                  <a:gd name="T23" fmla="*/ 0 h 2948"/>
                  <a:gd name="T24" fmla="*/ 0 w 1479"/>
                  <a:gd name="T25" fmla="*/ 0 h 2948"/>
                  <a:gd name="T26" fmla="*/ 0 w 1479"/>
                  <a:gd name="T27" fmla="*/ 0 h 2948"/>
                  <a:gd name="T28" fmla="*/ 0 w 1479"/>
                  <a:gd name="T29" fmla="*/ 0 h 2948"/>
                  <a:gd name="T30" fmla="*/ 0 w 1479"/>
                  <a:gd name="T31" fmla="*/ 0 h 2948"/>
                  <a:gd name="T32" fmla="*/ 0 w 1479"/>
                  <a:gd name="T33" fmla="*/ 0 h 2948"/>
                  <a:gd name="T34" fmla="*/ 0 w 1479"/>
                  <a:gd name="T35" fmla="*/ 0 h 2948"/>
                  <a:gd name="T36" fmla="*/ 0 w 1479"/>
                  <a:gd name="T37" fmla="*/ 0 h 2948"/>
                  <a:gd name="T38" fmla="*/ 0 w 1479"/>
                  <a:gd name="T39" fmla="*/ 0 h 2948"/>
                  <a:gd name="T40" fmla="*/ 0 w 1479"/>
                  <a:gd name="T41" fmla="*/ 0 h 2948"/>
                  <a:gd name="T42" fmla="*/ 0 w 1479"/>
                  <a:gd name="T43" fmla="*/ 0 h 2948"/>
                  <a:gd name="T44" fmla="*/ 0 w 1479"/>
                  <a:gd name="T45" fmla="*/ 0 h 2948"/>
                  <a:gd name="T46" fmla="*/ 0 w 1479"/>
                  <a:gd name="T47" fmla="*/ 0 h 2948"/>
                  <a:gd name="T48" fmla="*/ 0 w 1479"/>
                  <a:gd name="T49" fmla="*/ 0 h 2948"/>
                  <a:gd name="T50" fmla="*/ 0 w 1479"/>
                  <a:gd name="T51" fmla="*/ 0 h 2948"/>
                  <a:gd name="T52" fmla="*/ 0 w 1479"/>
                  <a:gd name="T53" fmla="*/ 0 h 2948"/>
                  <a:gd name="T54" fmla="*/ 0 w 1479"/>
                  <a:gd name="T55" fmla="*/ 0 h 2948"/>
                  <a:gd name="T56" fmla="*/ 0 w 1479"/>
                  <a:gd name="T57" fmla="*/ 0 h 2948"/>
                  <a:gd name="T58" fmla="*/ 0 w 1479"/>
                  <a:gd name="T59" fmla="*/ 0 h 2948"/>
                  <a:gd name="T60" fmla="*/ 0 w 1479"/>
                  <a:gd name="T61" fmla="*/ 0 h 2948"/>
                  <a:gd name="T62" fmla="*/ 0 w 1479"/>
                  <a:gd name="T63" fmla="*/ 0 h 2948"/>
                  <a:gd name="T64" fmla="*/ 0 w 1479"/>
                  <a:gd name="T65" fmla="*/ 0 h 2948"/>
                  <a:gd name="T66" fmla="*/ 0 w 1479"/>
                  <a:gd name="T67" fmla="*/ 0 h 2948"/>
                  <a:gd name="T68" fmla="*/ 0 w 1479"/>
                  <a:gd name="T69" fmla="*/ 0 h 2948"/>
                  <a:gd name="T70" fmla="*/ 0 w 1479"/>
                  <a:gd name="T71" fmla="*/ 0 h 2948"/>
                  <a:gd name="T72" fmla="*/ 0 w 1479"/>
                  <a:gd name="T73" fmla="*/ 0 h 2948"/>
                  <a:gd name="T74" fmla="*/ 0 w 1479"/>
                  <a:gd name="T75" fmla="*/ 0 h 2948"/>
                  <a:gd name="T76" fmla="*/ 0 w 1479"/>
                  <a:gd name="T77" fmla="*/ 0 h 2948"/>
                  <a:gd name="T78" fmla="*/ 0 w 1479"/>
                  <a:gd name="T79" fmla="*/ 0 h 2948"/>
                  <a:gd name="T80" fmla="*/ 0 w 1479"/>
                  <a:gd name="T81" fmla="*/ 0 h 2948"/>
                  <a:gd name="T82" fmla="*/ 0 w 1479"/>
                  <a:gd name="T83" fmla="*/ 0 h 2948"/>
                  <a:gd name="T84" fmla="*/ 0 w 1479"/>
                  <a:gd name="T85" fmla="*/ 0 h 2948"/>
                  <a:gd name="T86" fmla="*/ 0 w 1479"/>
                  <a:gd name="T87" fmla="*/ 0 h 2948"/>
                  <a:gd name="T88" fmla="*/ 0 w 1479"/>
                  <a:gd name="T89" fmla="*/ 0 h 2948"/>
                  <a:gd name="T90" fmla="*/ 0 w 1479"/>
                  <a:gd name="T91" fmla="*/ 0 h 2948"/>
                  <a:gd name="T92" fmla="*/ 0 w 1479"/>
                  <a:gd name="T93" fmla="*/ 0 h 2948"/>
                  <a:gd name="T94" fmla="*/ 0 w 1479"/>
                  <a:gd name="T95" fmla="*/ 0 h 2948"/>
                  <a:gd name="T96" fmla="*/ 0 w 1479"/>
                  <a:gd name="T97" fmla="*/ 0 h 2948"/>
                  <a:gd name="T98" fmla="*/ 0 w 1479"/>
                  <a:gd name="T99" fmla="*/ 0 h 2948"/>
                  <a:gd name="T100" fmla="*/ 0 w 1479"/>
                  <a:gd name="T101" fmla="*/ 0 h 2948"/>
                  <a:gd name="T102" fmla="*/ 0 w 1479"/>
                  <a:gd name="T103" fmla="*/ 0 h 2948"/>
                  <a:gd name="T104" fmla="*/ 0 w 1479"/>
                  <a:gd name="T105" fmla="*/ 0 h 2948"/>
                  <a:gd name="T106" fmla="*/ 0 w 1479"/>
                  <a:gd name="T107" fmla="*/ 0 h 2948"/>
                  <a:gd name="T108" fmla="*/ 0 w 1479"/>
                  <a:gd name="T109" fmla="*/ 0 h 2948"/>
                  <a:gd name="T110" fmla="*/ 0 w 1479"/>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9"/>
                  <a:gd name="T169" fmla="*/ 0 h 2948"/>
                  <a:gd name="T170" fmla="*/ 1479 w 1479"/>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9" h="2948">
                    <a:moveTo>
                      <a:pt x="1479" y="384"/>
                    </a:moveTo>
                    <a:lnTo>
                      <a:pt x="1476" y="353"/>
                    </a:lnTo>
                    <a:lnTo>
                      <a:pt x="1461" y="332"/>
                    </a:lnTo>
                    <a:lnTo>
                      <a:pt x="1438" y="306"/>
                    </a:lnTo>
                    <a:lnTo>
                      <a:pt x="1360" y="255"/>
                    </a:lnTo>
                    <a:lnTo>
                      <a:pt x="1008" y="61"/>
                    </a:lnTo>
                    <a:lnTo>
                      <a:pt x="958" y="38"/>
                    </a:lnTo>
                    <a:lnTo>
                      <a:pt x="926" y="23"/>
                    </a:lnTo>
                    <a:lnTo>
                      <a:pt x="886" y="10"/>
                    </a:lnTo>
                    <a:lnTo>
                      <a:pt x="861" y="3"/>
                    </a:lnTo>
                    <a:lnTo>
                      <a:pt x="825" y="0"/>
                    </a:lnTo>
                    <a:lnTo>
                      <a:pt x="792" y="3"/>
                    </a:lnTo>
                    <a:lnTo>
                      <a:pt x="767" y="6"/>
                    </a:lnTo>
                    <a:lnTo>
                      <a:pt x="730" y="16"/>
                    </a:lnTo>
                    <a:lnTo>
                      <a:pt x="695" y="32"/>
                    </a:lnTo>
                    <a:lnTo>
                      <a:pt x="663" y="54"/>
                    </a:lnTo>
                    <a:lnTo>
                      <a:pt x="630" y="74"/>
                    </a:lnTo>
                    <a:lnTo>
                      <a:pt x="598" y="95"/>
                    </a:lnTo>
                    <a:lnTo>
                      <a:pt x="562" y="121"/>
                    </a:lnTo>
                    <a:lnTo>
                      <a:pt x="528" y="154"/>
                    </a:lnTo>
                    <a:lnTo>
                      <a:pt x="509" y="175"/>
                    </a:lnTo>
                    <a:lnTo>
                      <a:pt x="492" y="201"/>
                    </a:lnTo>
                    <a:lnTo>
                      <a:pt x="481" y="238"/>
                    </a:lnTo>
                    <a:lnTo>
                      <a:pt x="10" y="2307"/>
                    </a:lnTo>
                    <a:lnTo>
                      <a:pt x="0" y="2349"/>
                    </a:lnTo>
                    <a:lnTo>
                      <a:pt x="0" y="2370"/>
                    </a:lnTo>
                    <a:lnTo>
                      <a:pt x="0" y="2396"/>
                    </a:lnTo>
                    <a:lnTo>
                      <a:pt x="1" y="2422"/>
                    </a:lnTo>
                    <a:lnTo>
                      <a:pt x="11" y="2466"/>
                    </a:lnTo>
                    <a:lnTo>
                      <a:pt x="19" y="2485"/>
                    </a:lnTo>
                    <a:lnTo>
                      <a:pt x="38" y="2518"/>
                    </a:lnTo>
                    <a:lnTo>
                      <a:pt x="51" y="2540"/>
                    </a:lnTo>
                    <a:lnTo>
                      <a:pt x="79" y="2571"/>
                    </a:lnTo>
                    <a:lnTo>
                      <a:pt x="111" y="2598"/>
                    </a:lnTo>
                    <a:lnTo>
                      <a:pt x="155" y="2627"/>
                    </a:lnTo>
                    <a:lnTo>
                      <a:pt x="190" y="2650"/>
                    </a:lnTo>
                    <a:lnTo>
                      <a:pt x="717" y="2948"/>
                    </a:lnTo>
                    <a:lnTo>
                      <a:pt x="708" y="2916"/>
                    </a:lnTo>
                    <a:lnTo>
                      <a:pt x="707" y="2885"/>
                    </a:lnTo>
                    <a:lnTo>
                      <a:pt x="712" y="2861"/>
                    </a:lnTo>
                    <a:lnTo>
                      <a:pt x="721" y="2833"/>
                    </a:lnTo>
                    <a:lnTo>
                      <a:pt x="735" y="2805"/>
                    </a:lnTo>
                    <a:lnTo>
                      <a:pt x="753" y="2783"/>
                    </a:lnTo>
                    <a:lnTo>
                      <a:pt x="778" y="2769"/>
                    </a:lnTo>
                    <a:lnTo>
                      <a:pt x="194" y="2433"/>
                    </a:lnTo>
                    <a:lnTo>
                      <a:pt x="175" y="2417"/>
                    </a:lnTo>
                    <a:lnTo>
                      <a:pt x="168" y="2407"/>
                    </a:lnTo>
                    <a:lnTo>
                      <a:pt x="162" y="2391"/>
                    </a:lnTo>
                    <a:lnTo>
                      <a:pt x="157" y="2359"/>
                    </a:lnTo>
                    <a:lnTo>
                      <a:pt x="157" y="2339"/>
                    </a:lnTo>
                    <a:lnTo>
                      <a:pt x="444" y="1110"/>
                    </a:lnTo>
                    <a:lnTo>
                      <a:pt x="473" y="1055"/>
                    </a:lnTo>
                    <a:lnTo>
                      <a:pt x="501" y="1024"/>
                    </a:lnTo>
                    <a:lnTo>
                      <a:pt x="547" y="976"/>
                    </a:lnTo>
                    <a:lnTo>
                      <a:pt x="583" y="941"/>
                    </a:lnTo>
                    <a:lnTo>
                      <a:pt x="1479" y="384"/>
                    </a:lnTo>
                    <a:close/>
                  </a:path>
                </a:pathLst>
              </a:custGeom>
              <a:solidFill>
                <a:srgbClr val="808080"/>
              </a:solidFill>
              <a:ln w="1588">
                <a:solidFill>
                  <a:srgbClr val="000000"/>
                </a:solidFill>
                <a:prstDash val="solid"/>
                <a:round/>
                <a:headEnd/>
                <a:tailEnd/>
              </a:ln>
            </p:spPr>
            <p:txBody>
              <a:bodyPr/>
              <a:lstStyle/>
              <a:p>
                <a:endParaRPr lang="en-US"/>
              </a:p>
            </p:txBody>
          </p:sp>
          <p:sp>
            <p:nvSpPr>
              <p:cNvPr id="554" name="Freeform 1827">
                <a:extLst>
                  <a:ext uri="{FF2B5EF4-FFF2-40B4-BE49-F238E27FC236}">
                    <a16:creationId xmlns:a16="http://schemas.microsoft.com/office/drawing/2014/main" id="{87C9E77E-B73B-4601-B097-0422397B679B}"/>
                  </a:ext>
                </a:extLst>
              </p:cNvPr>
              <p:cNvSpPr>
                <a:spLocks/>
              </p:cNvSpPr>
              <p:nvPr/>
            </p:nvSpPr>
            <p:spPr bwMode="auto">
              <a:xfrm>
                <a:off x="2166" y="3561"/>
                <a:ext cx="78" cy="109"/>
              </a:xfrm>
              <a:custGeom>
                <a:avLst/>
                <a:gdLst>
                  <a:gd name="T0" fmla="*/ 0 w 928"/>
                  <a:gd name="T1" fmla="*/ 0 h 1304"/>
                  <a:gd name="T2" fmla="*/ 0 w 928"/>
                  <a:gd name="T3" fmla="*/ 0 h 1304"/>
                  <a:gd name="T4" fmla="*/ 0 w 928"/>
                  <a:gd name="T5" fmla="*/ 0 h 1304"/>
                  <a:gd name="T6" fmla="*/ 0 w 928"/>
                  <a:gd name="T7" fmla="*/ 0 h 1304"/>
                  <a:gd name="T8" fmla="*/ 0 w 928"/>
                  <a:gd name="T9" fmla="*/ 0 h 1304"/>
                  <a:gd name="T10" fmla="*/ 0 w 928"/>
                  <a:gd name="T11" fmla="*/ 0 h 1304"/>
                  <a:gd name="T12" fmla="*/ 0 w 928"/>
                  <a:gd name="T13" fmla="*/ 0 h 1304"/>
                  <a:gd name="T14" fmla="*/ 0 w 928"/>
                  <a:gd name="T15" fmla="*/ 0 h 1304"/>
                  <a:gd name="T16" fmla="*/ 0 w 928"/>
                  <a:gd name="T17" fmla="*/ 0 h 1304"/>
                  <a:gd name="T18" fmla="*/ 0 w 928"/>
                  <a:gd name="T19" fmla="*/ 0 h 1304"/>
                  <a:gd name="T20" fmla="*/ 0 w 928"/>
                  <a:gd name="T21" fmla="*/ 0 h 1304"/>
                  <a:gd name="T22" fmla="*/ 0 w 928"/>
                  <a:gd name="T23" fmla="*/ 0 h 1304"/>
                  <a:gd name="T24" fmla="*/ 0 w 928"/>
                  <a:gd name="T25" fmla="*/ 0 h 1304"/>
                  <a:gd name="T26" fmla="*/ 0 w 928"/>
                  <a:gd name="T27" fmla="*/ 0 h 1304"/>
                  <a:gd name="T28" fmla="*/ 0 w 928"/>
                  <a:gd name="T29" fmla="*/ 0 h 1304"/>
                  <a:gd name="T30" fmla="*/ 0 w 928"/>
                  <a:gd name="T31" fmla="*/ 0 h 1304"/>
                  <a:gd name="T32" fmla="*/ 0 w 928"/>
                  <a:gd name="T33" fmla="*/ 0 h 1304"/>
                  <a:gd name="T34" fmla="*/ 0 w 928"/>
                  <a:gd name="T35" fmla="*/ 0 h 1304"/>
                  <a:gd name="T36" fmla="*/ 0 w 928"/>
                  <a:gd name="T37" fmla="*/ 0 h 1304"/>
                  <a:gd name="T38" fmla="*/ 0 w 928"/>
                  <a:gd name="T39" fmla="*/ 0 h 1304"/>
                  <a:gd name="T40" fmla="*/ 0 w 928"/>
                  <a:gd name="T41" fmla="*/ 0 h 1304"/>
                  <a:gd name="T42" fmla="*/ 0 w 928"/>
                  <a:gd name="T43" fmla="*/ 0 h 1304"/>
                  <a:gd name="T44" fmla="*/ 0 w 928"/>
                  <a:gd name="T45" fmla="*/ 0 h 1304"/>
                  <a:gd name="T46" fmla="*/ 0 w 928"/>
                  <a:gd name="T47" fmla="*/ 0 h 1304"/>
                  <a:gd name="T48" fmla="*/ 0 w 928"/>
                  <a:gd name="T49" fmla="*/ 0 h 1304"/>
                  <a:gd name="T50" fmla="*/ 0 w 928"/>
                  <a:gd name="T51" fmla="*/ 0 h 1304"/>
                  <a:gd name="T52" fmla="*/ 0 w 928"/>
                  <a:gd name="T53" fmla="*/ 0 h 1304"/>
                  <a:gd name="T54" fmla="*/ 0 w 928"/>
                  <a:gd name="T55" fmla="*/ 0 h 1304"/>
                  <a:gd name="T56" fmla="*/ 0 w 928"/>
                  <a:gd name="T57" fmla="*/ 0 h 1304"/>
                  <a:gd name="T58" fmla="*/ 0 w 928"/>
                  <a:gd name="T59" fmla="*/ 0 h 1304"/>
                  <a:gd name="T60" fmla="*/ 0 w 928"/>
                  <a:gd name="T61" fmla="*/ 0 h 1304"/>
                  <a:gd name="T62" fmla="*/ 0 w 928"/>
                  <a:gd name="T63" fmla="*/ 0 h 1304"/>
                  <a:gd name="T64" fmla="*/ 0 w 928"/>
                  <a:gd name="T65" fmla="*/ 0 h 1304"/>
                  <a:gd name="T66" fmla="*/ 0 w 928"/>
                  <a:gd name="T67" fmla="*/ 0 h 1304"/>
                  <a:gd name="T68" fmla="*/ 0 w 928"/>
                  <a:gd name="T69" fmla="*/ 0 h 1304"/>
                  <a:gd name="T70" fmla="*/ 0 w 928"/>
                  <a:gd name="T71" fmla="*/ 0 h 1304"/>
                  <a:gd name="T72" fmla="*/ 0 w 928"/>
                  <a:gd name="T73" fmla="*/ 0 h 1304"/>
                  <a:gd name="T74" fmla="*/ 0 w 928"/>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8"/>
                  <a:gd name="T115" fmla="*/ 0 h 1304"/>
                  <a:gd name="T116" fmla="*/ 928 w 928"/>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8" h="1304">
                    <a:moveTo>
                      <a:pt x="898" y="351"/>
                    </a:moveTo>
                    <a:lnTo>
                      <a:pt x="868" y="315"/>
                    </a:lnTo>
                    <a:lnTo>
                      <a:pt x="821" y="278"/>
                    </a:lnTo>
                    <a:lnTo>
                      <a:pt x="755" y="241"/>
                    </a:lnTo>
                    <a:lnTo>
                      <a:pt x="586" y="148"/>
                    </a:lnTo>
                    <a:lnTo>
                      <a:pt x="400" y="53"/>
                    </a:lnTo>
                    <a:lnTo>
                      <a:pt x="335" y="21"/>
                    </a:lnTo>
                    <a:lnTo>
                      <a:pt x="290" y="6"/>
                    </a:lnTo>
                    <a:lnTo>
                      <a:pt x="255" y="0"/>
                    </a:lnTo>
                    <a:lnTo>
                      <a:pt x="228" y="0"/>
                    </a:lnTo>
                    <a:lnTo>
                      <a:pt x="205" y="5"/>
                    </a:lnTo>
                    <a:lnTo>
                      <a:pt x="182" y="21"/>
                    </a:lnTo>
                    <a:lnTo>
                      <a:pt x="164" y="41"/>
                    </a:lnTo>
                    <a:lnTo>
                      <a:pt x="148" y="76"/>
                    </a:lnTo>
                    <a:lnTo>
                      <a:pt x="0" y="833"/>
                    </a:lnTo>
                    <a:lnTo>
                      <a:pt x="0" y="865"/>
                    </a:lnTo>
                    <a:lnTo>
                      <a:pt x="0" y="906"/>
                    </a:lnTo>
                    <a:lnTo>
                      <a:pt x="7" y="936"/>
                    </a:lnTo>
                    <a:lnTo>
                      <a:pt x="16" y="957"/>
                    </a:lnTo>
                    <a:lnTo>
                      <a:pt x="29" y="978"/>
                    </a:lnTo>
                    <a:lnTo>
                      <a:pt x="57" y="1004"/>
                    </a:lnTo>
                    <a:lnTo>
                      <a:pt x="85" y="1022"/>
                    </a:lnTo>
                    <a:lnTo>
                      <a:pt x="118" y="1041"/>
                    </a:lnTo>
                    <a:lnTo>
                      <a:pt x="558" y="1267"/>
                    </a:lnTo>
                    <a:lnTo>
                      <a:pt x="599" y="1285"/>
                    </a:lnTo>
                    <a:lnTo>
                      <a:pt x="636" y="1295"/>
                    </a:lnTo>
                    <a:lnTo>
                      <a:pt x="678" y="1304"/>
                    </a:lnTo>
                    <a:lnTo>
                      <a:pt x="706" y="1304"/>
                    </a:lnTo>
                    <a:lnTo>
                      <a:pt x="734" y="1295"/>
                    </a:lnTo>
                    <a:lnTo>
                      <a:pt x="755" y="1269"/>
                    </a:lnTo>
                    <a:lnTo>
                      <a:pt x="767" y="1222"/>
                    </a:lnTo>
                    <a:lnTo>
                      <a:pt x="784" y="1162"/>
                    </a:lnTo>
                    <a:lnTo>
                      <a:pt x="860" y="833"/>
                    </a:lnTo>
                    <a:lnTo>
                      <a:pt x="916" y="507"/>
                    </a:lnTo>
                    <a:lnTo>
                      <a:pt x="928" y="431"/>
                    </a:lnTo>
                    <a:lnTo>
                      <a:pt x="925" y="403"/>
                    </a:lnTo>
                    <a:lnTo>
                      <a:pt x="917" y="379"/>
                    </a:lnTo>
                    <a:lnTo>
                      <a:pt x="898" y="351"/>
                    </a:lnTo>
                    <a:close/>
                  </a:path>
                </a:pathLst>
              </a:custGeom>
              <a:solidFill>
                <a:srgbClr val="606060"/>
              </a:solidFill>
              <a:ln w="1588">
                <a:solidFill>
                  <a:srgbClr val="000000"/>
                </a:solidFill>
                <a:prstDash val="solid"/>
                <a:round/>
                <a:headEnd/>
                <a:tailEnd/>
              </a:ln>
            </p:spPr>
            <p:txBody>
              <a:bodyPr/>
              <a:lstStyle/>
              <a:p>
                <a:endParaRPr lang="en-US"/>
              </a:p>
            </p:txBody>
          </p:sp>
          <p:sp>
            <p:nvSpPr>
              <p:cNvPr id="555" name="Freeform 1828">
                <a:extLst>
                  <a:ext uri="{FF2B5EF4-FFF2-40B4-BE49-F238E27FC236}">
                    <a16:creationId xmlns:a16="http://schemas.microsoft.com/office/drawing/2014/main" id="{E3902DA7-3A16-4808-B663-D02855B3370F}"/>
                  </a:ext>
                </a:extLst>
              </p:cNvPr>
              <p:cNvSpPr>
                <a:spLocks/>
              </p:cNvSpPr>
              <p:nvPr/>
            </p:nvSpPr>
            <p:spPr bwMode="auto">
              <a:xfrm>
                <a:off x="2126" y="3634"/>
                <a:ext cx="101"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10" y="431"/>
                    </a:moveTo>
                    <a:lnTo>
                      <a:pt x="1215" y="426"/>
                    </a:lnTo>
                    <a:lnTo>
                      <a:pt x="1156" y="451"/>
                    </a:lnTo>
                    <a:lnTo>
                      <a:pt x="1119" y="467"/>
                    </a:lnTo>
                    <a:lnTo>
                      <a:pt x="1101" y="478"/>
                    </a:lnTo>
                    <a:lnTo>
                      <a:pt x="1073" y="511"/>
                    </a:lnTo>
                    <a:lnTo>
                      <a:pt x="1053" y="552"/>
                    </a:lnTo>
                    <a:lnTo>
                      <a:pt x="772" y="1702"/>
                    </a:lnTo>
                    <a:lnTo>
                      <a:pt x="0" y="1429"/>
                    </a:lnTo>
                    <a:lnTo>
                      <a:pt x="315" y="31"/>
                    </a:lnTo>
                    <a:lnTo>
                      <a:pt x="481" y="0"/>
                    </a:lnTo>
                    <a:lnTo>
                      <a:pt x="1210"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556" name="Group 1829">
                <a:extLst>
                  <a:ext uri="{FF2B5EF4-FFF2-40B4-BE49-F238E27FC236}">
                    <a16:creationId xmlns:a16="http://schemas.microsoft.com/office/drawing/2014/main" id="{19602692-FA06-449C-B650-F80173954035}"/>
                  </a:ext>
                </a:extLst>
              </p:cNvPr>
              <p:cNvGrpSpPr>
                <a:grpSpLocks/>
              </p:cNvGrpSpPr>
              <p:nvPr/>
            </p:nvGrpSpPr>
            <p:grpSpPr bwMode="auto">
              <a:xfrm>
                <a:off x="2183" y="3584"/>
                <a:ext cx="52" cy="60"/>
                <a:chOff x="2183" y="3584"/>
                <a:chExt cx="52" cy="60"/>
              </a:xfrm>
            </p:grpSpPr>
            <p:sp>
              <p:nvSpPr>
                <p:cNvPr id="576" name="Oval 1830">
                  <a:extLst>
                    <a:ext uri="{FF2B5EF4-FFF2-40B4-BE49-F238E27FC236}">
                      <a16:creationId xmlns:a16="http://schemas.microsoft.com/office/drawing/2014/main" id="{BFD96C61-0A3A-4FA5-9B57-FA41363B7106}"/>
                    </a:ext>
                  </a:extLst>
                </p:cNvPr>
                <p:cNvSpPr>
                  <a:spLocks noChangeArrowheads="1"/>
                </p:cNvSpPr>
                <p:nvPr/>
              </p:nvSpPr>
              <p:spPr bwMode="auto">
                <a:xfrm>
                  <a:off x="2183" y="3584"/>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577" name="Group 1831">
                  <a:extLst>
                    <a:ext uri="{FF2B5EF4-FFF2-40B4-BE49-F238E27FC236}">
                      <a16:creationId xmlns:a16="http://schemas.microsoft.com/office/drawing/2014/main" id="{52329BC5-D28E-4657-BA12-BDF8B5E46A46}"/>
                    </a:ext>
                  </a:extLst>
                </p:cNvPr>
                <p:cNvGrpSpPr>
                  <a:grpSpLocks/>
                </p:cNvGrpSpPr>
                <p:nvPr/>
              </p:nvGrpSpPr>
              <p:grpSpPr bwMode="auto">
                <a:xfrm>
                  <a:off x="2196" y="3594"/>
                  <a:ext cx="28" cy="40"/>
                  <a:chOff x="2196" y="3594"/>
                  <a:chExt cx="28" cy="40"/>
                </a:xfrm>
              </p:grpSpPr>
              <p:sp>
                <p:nvSpPr>
                  <p:cNvPr id="578" name="Oval 1832">
                    <a:extLst>
                      <a:ext uri="{FF2B5EF4-FFF2-40B4-BE49-F238E27FC236}">
                        <a16:creationId xmlns:a16="http://schemas.microsoft.com/office/drawing/2014/main" id="{3D496360-D3C4-4B45-A2CE-A6EA88B239FF}"/>
                      </a:ext>
                    </a:extLst>
                  </p:cNvPr>
                  <p:cNvSpPr>
                    <a:spLocks noChangeArrowheads="1"/>
                  </p:cNvSpPr>
                  <p:nvPr/>
                </p:nvSpPr>
                <p:spPr bwMode="auto">
                  <a:xfrm>
                    <a:off x="2208" y="361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79" name="Oval 1833">
                    <a:extLst>
                      <a:ext uri="{FF2B5EF4-FFF2-40B4-BE49-F238E27FC236}">
                        <a16:creationId xmlns:a16="http://schemas.microsoft.com/office/drawing/2014/main" id="{19A6B555-C844-4B80-8E28-C469EC6F56D9}"/>
                      </a:ext>
                    </a:extLst>
                  </p:cNvPr>
                  <p:cNvSpPr>
                    <a:spLocks noChangeArrowheads="1"/>
                  </p:cNvSpPr>
                  <p:nvPr/>
                </p:nvSpPr>
                <p:spPr bwMode="auto">
                  <a:xfrm>
                    <a:off x="2219" y="361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0" name="Oval 1834">
                    <a:extLst>
                      <a:ext uri="{FF2B5EF4-FFF2-40B4-BE49-F238E27FC236}">
                        <a16:creationId xmlns:a16="http://schemas.microsoft.com/office/drawing/2014/main" id="{EFB72697-C969-4B3B-BC0A-3478CBC80C1B}"/>
                      </a:ext>
                    </a:extLst>
                  </p:cNvPr>
                  <p:cNvSpPr>
                    <a:spLocks noChangeArrowheads="1"/>
                  </p:cNvSpPr>
                  <p:nvPr/>
                </p:nvSpPr>
                <p:spPr bwMode="auto">
                  <a:xfrm>
                    <a:off x="2196" y="362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1" name="Oval 1835">
                    <a:extLst>
                      <a:ext uri="{FF2B5EF4-FFF2-40B4-BE49-F238E27FC236}">
                        <a16:creationId xmlns:a16="http://schemas.microsoft.com/office/drawing/2014/main" id="{3D737CA2-3408-4FAE-AA94-EB4586B95826}"/>
                      </a:ext>
                    </a:extLst>
                  </p:cNvPr>
                  <p:cNvSpPr>
                    <a:spLocks noChangeArrowheads="1"/>
                  </p:cNvSpPr>
                  <p:nvPr/>
                </p:nvSpPr>
                <p:spPr bwMode="auto">
                  <a:xfrm>
                    <a:off x="2205" y="362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2" name="Oval 1836">
                    <a:extLst>
                      <a:ext uri="{FF2B5EF4-FFF2-40B4-BE49-F238E27FC236}">
                        <a16:creationId xmlns:a16="http://schemas.microsoft.com/office/drawing/2014/main" id="{7919A516-10DB-43EF-AD38-0EE3D7D16FAE}"/>
                      </a:ext>
                    </a:extLst>
                  </p:cNvPr>
                  <p:cNvSpPr>
                    <a:spLocks noChangeArrowheads="1"/>
                  </p:cNvSpPr>
                  <p:nvPr/>
                </p:nvSpPr>
                <p:spPr bwMode="auto">
                  <a:xfrm>
                    <a:off x="2215" y="3630"/>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3" name="Oval 1837">
                    <a:extLst>
                      <a:ext uri="{FF2B5EF4-FFF2-40B4-BE49-F238E27FC236}">
                        <a16:creationId xmlns:a16="http://schemas.microsoft.com/office/drawing/2014/main" id="{3D9972CF-433A-4554-A6CA-97FFB9E92AD1}"/>
                      </a:ext>
                    </a:extLst>
                  </p:cNvPr>
                  <p:cNvSpPr>
                    <a:spLocks noChangeArrowheads="1"/>
                  </p:cNvSpPr>
                  <p:nvPr/>
                </p:nvSpPr>
                <p:spPr bwMode="auto">
                  <a:xfrm>
                    <a:off x="2202" y="361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4" name="Oval 1838">
                    <a:extLst>
                      <a:ext uri="{FF2B5EF4-FFF2-40B4-BE49-F238E27FC236}">
                        <a16:creationId xmlns:a16="http://schemas.microsoft.com/office/drawing/2014/main" id="{DFDE943F-6795-49E9-B41C-B4502B8FC59C}"/>
                      </a:ext>
                    </a:extLst>
                  </p:cNvPr>
                  <p:cNvSpPr>
                    <a:spLocks noChangeArrowheads="1"/>
                  </p:cNvSpPr>
                  <p:nvPr/>
                </p:nvSpPr>
                <p:spPr bwMode="auto">
                  <a:xfrm>
                    <a:off x="2211" y="3621"/>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5" name="Oval 1839">
                    <a:extLst>
                      <a:ext uri="{FF2B5EF4-FFF2-40B4-BE49-F238E27FC236}">
                        <a16:creationId xmlns:a16="http://schemas.microsoft.com/office/drawing/2014/main" id="{27812DD0-C5D5-4B43-B9EC-948A2801D54C}"/>
                      </a:ext>
                    </a:extLst>
                  </p:cNvPr>
                  <p:cNvSpPr>
                    <a:spLocks noChangeArrowheads="1"/>
                  </p:cNvSpPr>
                  <p:nvPr/>
                </p:nvSpPr>
                <p:spPr bwMode="auto">
                  <a:xfrm>
                    <a:off x="2201" y="359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6" name="Oval 1840">
                    <a:extLst>
                      <a:ext uri="{FF2B5EF4-FFF2-40B4-BE49-F238E27FC236}">
                        <a16:creationId xmlns:a16="http://schemas.microsoft.com/office/drawing/2014/main" id="{16556030-E381-400F-8F9E-9EE18669C54F}"/>
                      </a:ext>
                    </a:extLst>
                  </p:cNvPr>
                  <p:cNvSpPr>
                    <a:spLocks noChangeArrowheads="1"/>
                  </p:cNvSpPr>
                  <p:nvPr/>
                </p:nvSpPr>
                <p:spPr bwMode="auto">
                  <a:xfrm>
                    <a:off x="2211" y="359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7" name="Oval 1841">
                    <a:extLst>
                      <a:ext uri="{FF2B5EF4-FFF2-40B4-BE49-F238E27FC236}">
                        <a16:creationId xmlns:a16="http://schemas.microsoft.com/office/drawing/2014/main" id="{648FA984-28DE-4D39-B2C5-0AD59D9103C6}"/>
                      </a:ext>
                    </a:extLst>
                  </p:cNvPr>
                  <p:cNvSpPr>
                    <a:spLocks noChangeArrowheads="1"/>
                  </p:cNvSpPr>
                  <p:nvPr/>
                </p:nvSpPr>
                <p:spPr bwMode="auto">
                  <a:xfrm>
                    <a:off x="2221" y="360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8" name="Oval 1842">
                    <a:extLst>
                      <a:ext uri="{FF2B5EF4-FFF2-40B4-BE49-F238E27FC236}">
                        <a16:creationId xmlns:a16="http://schemas.microsoft.com/office/drawing/2014/main" id="{B8B50F8A-B119-4181-A104-B47BF8DEF35E}"/>
                      </a:ext>
                    </a:extLst>
                  </p:cNvPr>
                  <p:cNvSpPr>
                    <a:spLocks noChangeArrowheads="1"/>
                  </p:cNvSpPr>
                  <p:nvPr/>
                </p:nvSpPr>
                <p:spPr bwMode="auto">
                  <a:xfrm>
                    <a:off x="2198" y="360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89" name="Oval 1843">
                    <a:extLst>
                      <a:ext uri="{FF2B5EF4-FFF2-40B4-BE49-F238E27FC236}">
                        <a16:creationId xmlns:a16="http://schemas.microsoft.com/office/drawing/2014/main" id="{406790D5-B168-4F8E-BB4A-456512A69A01}"/>
                      </a:ext>
                    </a:extLst>
                  </p:cNvPr>
                  <p:cNvSpPr>
                    <a:spLocks noChangeArrowheads="1"/>
                  </p:cNvSpPr>
                  <p:nvPr/>
                </p:nvSpPr>
                <p:spPr bwMode="auto">
                  <a:xfrm>
                    <a:off x="2204" y="360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90" name="Oval 1844">
                    <a:extLst>
                      <a:ext uri="{FF2B5EF4-FFF2-40B4-BE49-F238E27FC236}">
                        <a16:creationId xmlns:a16="http://schemas.microsoft.com/office/drawing/2014/main" id="{F6F2CA70-1174-45CC-B42B-FD8C69117368}"/>
                      </a:ext>
                    </a:extLst>
                  </p:cNvPr>
                  <p:cNvSpPr>
                    <a:spLocks noChangeArrowheads="1"/>
                  </p:cNvSpPr>
                  <p:nvPr/>
                </p:nvSpPr>
                <p:spPr bwMode="auto">
                  <a:xfrm>
                    <a:off x="2215" y="360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557" name="Group 1845">
                <a:extLst>
                  <a:ext uri="{FF2B5EF4-FFF2-40B4-BE49-F238E27FC236}">
                    <a16:creationId xmlns:a16="http://schemas.microsoft.com/office/drawing/2014/main" id="{AEB2C506-5A7F-4057-BB2F-A95D864176E0}"/>
                  </a:ext>
                </a:extLst>
              </p:cNvPr>
              <p:cNvGrpSpPr>
                <a:grpSpLocks/>
              </p:cNvGrpSpPr>
              <p:nvPr/>
            </p:nvGrpSpPr>
            <p:grpSpPr bwMode="auto">
              <a:xfrm>
                <a:off x="2142" y="3655"/>
                <a:ext cx="68" cy="111"/>
                <a:chOff x="2142" y="3655"/>
                <a:chExt cx="68" cy="111"/>
              </a:xfrm>
            </p:grpSpPr>
            <p:sp>
              <p:nvSpPr>
                <p:cNvPr id="558" name="Oval 1846">
                  <a:extLst>
                    <a:ext uri="{FF2B5EF4-FFF2-40B4-BE49-F238E27FC236}">
                      <a16:creationId xmlns:a16="http://schemas.microsoft.com/office/drawing/2014/main" id="{68CA8953-A584-499B-9F3D-2685BE8451AD}"/>
                    </a:ext>
                  </a:extLst>
                </p:cNvPr>
                <p:cNvSpPr>
                  <a:spLocks noChangeArrowheads="1"/>
                </p:cNvSpPr>
                <p:nvPr/>
              </p:nvSpPr>
              <p:spPr bwMode="auto">
                <a:xfrm>
                  <a:off x="2176" y="375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59" name="Oval 1847">
                  <a:extLst>
                    <a:ext uri="{FF2B5EF4-FFF2-40B4-BE49-F238E27FC236}">
                      <a16:creationId xmlns:a16="http://schemas.microsoft.com/office/drawing/2014/main" id="{787E90B0-49D4-4F2E-A1DC-66898EFB4E6F}"/>
                    </a:ext>
                  </a:extLst>
                </p:cNvPr>
                <p:cNvSpPr>
                  <a:spLocks noChangeArrowheads="1"/>
                </p:cNvSpPr>
                <p:nvPr/>
              </p:nvSpPr>
              <p:spPr bwMode="auto">
                <a:xfrm>
                  <a:off x="2163" y="365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0" name="Oval 1848">
                  <a:extLst>
                    <a:ext uri="{FF2B5EF4-FFF2-40B4-BE49-F238E27FC236}">
                      <a16:creationId xmlns:a16="http://schemas.microsoft.com/office/drawing/2014/main" id="{1F9D6685-4457-49C6-920F-EBF9656F0507}"/>
                    </a:ext>
                  </a:extLst>
                </p:cNvPr>
                <p:cNvSpPr>
                  <a:spLocks noChangeArrowheads="1"/>
                </p:cNvSpPr>
                <p:nvPr/>
              </p:nvSpPr>
              <p:spPr bwMode="auto">
                <a:xfrm>
                  <a:off x="2180" y="3663"/>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1" name="Oval 1849">
                  <a:extLst>
                    <a:ext uri="{FF2B5EF4-FFF2-40B4-BE49-F238E27FC236}">
                      <a16:creationId xmlns:a16="http://schemas.microsoft.com/office/drawing/2014/main" id="{C82C4C39-77BC-4C49-87DC-BB342689F520}"/>
                    </a:ext>
                  </a:extLst>
                </p:cNvPr>
                <p:cNvSpPr>
                  <a:spLocks noChangeArrowheads="1"/>
                </p:cNvSpPr>
                <p:nvPr/>
              </p:nvSpPr>
              <p:spPr bwMode="auto">
                <a:xfrm>
                  <a:off x="2196" y="367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2" name="Oval 1850">
                  <a:extLst>
                    <a:ext uri="{FF2B5EF4-FFF2-40B4-BE49-F238E27FC236}">
                      <a16:creationId xmlns:a16="http://schemas.microsoft.com/office/drawing/2014/main" id="{FF34D9E3-00EE-4C96-85F0-57A51A510E43}"/>
                    </a:ext>
                  </a:extLst>
                </p:cNvPr>
                <p:cNvSpPr>
                  <a:spLocks noChangeArrowheads="1"/>
                </p:cNvSpPr>
                <p:nvPr/>
              </p:nvSpPr>
              <p:spPr bwMode="auto">
                <a:xfrm>
                  <a:off x="2158" y="3672"/>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3" name="Oval 1851">
                  <a:extLst>
                    <a:ext uri="{FF2B5EF4-FFF2-40B4-BE49-F238E27FC236}">
                      <a16:creationId xmlns:a16="http://schemas.microsoft.com/office/drawing/2014/main" id="{49B00AAA-2239-4CA0-B5C3-BAFB50DD410D}"/>
                    </a:ext>
                  </a:extLst>
                </p:cNvPr>
                <p:cNvSpPr>
                  <a:spLocks noChangeArrowheads="1"/>
                </p:cNvSpPr>
                <p:nvPr/>
              </p:nvSpPr>
              <p:spPr bwMode="auto">
                <a:xfrm>
                  <a:off x="2176" y="3679"/>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4" name="Oval 1852">
                  <a:extLst>
                    <a:ext uri="{FF2B5EF4-FFF2-40B4-BE49-F238E27FC236}">
                      <a16:creationId xmlns:a16="http://schemas.microsoft.com/office/drawing/2014/main" id="{A24E74CE-A5BC-4C44-9D5D-A55796184B93}"/>
                    </a:ext>
                  </a:extLst>
                </p:cNvPr>
                <p:cNvSpPr>
                  <a:spLocks noChangeArrowheads="1"/>
                </p:cNvSpPr>
                <p:nvPr/>
              </p:nvSpPr>
              <p:spPr bwMode="auto">
                <a:xfrm>
                  <a:off x="2192" y="368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5" name="Oval 1853">
                  <a:extLst>
                    <a:ext uri="{FF2B5EF4-FFF2-40B4-BE49-F238E27FC236}">
                      <a16:creationId xmlns:a16="http://schemas.microsoft.com/office/drawing/2014/main" id="{C437A40A-5EF0-4C0D-B85D-101DBC7840D3}"/>
                    </a:ext>
                  </a:extLst>
                </p:cNvPr>
                <p:cNvSpPr>
                  <a:spLocks noChangeArrowheads="1"/>
                </p:cNvSpPr>
                <p:nvPr/>
              </p:nvSpPr>
              <p:spPr bwMode="auto">
                <a:xfrm>
                  <a:off x="2154" y="3688"/>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6" name="Oval 1854">
                  <a:extLst>
                    <a:ext uri="{FF2B5EF4-FFF2-40B4-BE49-F238E27FC236}">
                      <a16:creationId xmlns:a16="http://schemas.microsoft.com/office/drawing/2014/main" id="{8F5241CE-3079-44FF-B5C8-34B9A0F91DAB}"/>
                    </a:ext>
                  </a:extLst>
                </p:cNvPr>
                <p:cNvSpPr>
                  <a:spLocks noChangeArrowheads="1"/>
                </p:cNvSpPr>
                <p:nvPr/>
              </p:nvSpPr>
              <p:spPr bwMode="auto">
                <a:xfrm>
                  <a:off x="2171" y="369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7" name="Oval 1855">
                  <a:extLst>
                    <a:ext uri="{FF2B5EF4-FFF2-40B4-BE49-F238E27FC236}">
                      <a16:creationId xmlns:a16="http://schemas.microsoft.com/office/drawing/2014/main" id="{497B70FE-CB7B-497D-9310-591300AF7FC3}"/>
                    </a:ext>
                  </a:extLst>
                </p:cNvPr>
                <p:cNvSpPr>
                  <a:spLocks noChangeArrowheads="1"/>
                </p:cNvSpPr>
                <p:nvPr/>
              </p:nvSpPr>
              <p:spPr bwMode="auto">
                <a:xfrm>
                  <a:off x="2188" y="370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8" name="Oval 1856">
                  <a:extLst>
                    <a:ext uri="{FF2B5EF4-FFF2-40B4-BE49-F238E27FC236}">
                      <a16:creationId xmlns:a16="http://schemas.microsoft.com/office/drawing/2014/main" id="{B41419A8-CA83-466D-8790-28D99DDBE604}"/>
                    </a:ext>
                  </a:extLst>
                </p:cNvPr>
                <p:cNvSpPr>
                  <a:spLocks noChangeArrowheads="1"/>
                </p:cNvSpPr>
                <p:nvPr/>
              </p:nvSpPr>
              <p:spPr bwMode="auto">
                <a:xfrm>
                  <a:off x="2150" y="370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69" name="Oval 1857">
                  <a:extLst>
                    <a:ext uri="{FF2B5EF4-FFF2-40B4-BE49-F238E27FC236}">
                      <a16:creationId xmlns:a16="http://schemas.microsoft.com/office/drawing/2014/main" id="{DEA6D5EB-10A5-4130-9F71-8FD8183BB118}"/>
                    </a:ext>
                  </a:extLst>
                </p:cNvPr>
                <p:cNvSpPr>
                  <a:spLocks noChangeArrowheads="1"/>
                </p:cNvSpPr>
                <p:nvPr/>
              </p:nvSpPr>
              <p:spPr bwMode="auto">
                <a:xfrm>
                  <a:off x="2167" y="371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70" name="Oval 1858">
                  <a:extLst>
                    <a:ext uri="{FF2B5EF4-FFF2-40B4-BE49-F238E27FC236}">
                      <a16:creationId xmlns:a16="http://schemas.microsoft.com/office/drawing/2014/main" id="{599D06EE-35C7-4FA6-8327-9319DBB3F642}"/>
                    </a:ext>
                  </a:extLst>
                </p:cNvPr>
                <p:cNvSpPr>
                  <a:spLocks noChangeArrowheads="1"/>
                </p:cNvSpPr>
                <p:nvPr/>
              </p:nvSpPr>
              <p:spPr bwMode="auto">
                <a:xfrm>
                  <a:off x="2184" y="371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71" name="Oval 1859">
                  <a:extLst>
                    <a:ext uri="{FF2B5EF4-FFF2-40B4-BE49-F238E27FC236}">
                      <a16:creationId xmlns:a16="http://schemas.microsoft.com/office/drawing/2014/main" id="{B498A8F8-FC6A-4460-9689-39CC59B3AAE1}"/>
                    </a:ext>
                  </a:extLst>
                </p:cNvPr>
                <p:cNvSpPr>
                  <a:spLocks noChangeArrowheads="1"/>
                </p:cNvSpPr>
                <p:nvPr/>
              </p:nvSpPr>
              <p:spPr bwMode="auto">
                <a:xfrm>
                  <a:off x="2146" y="372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72" name="Oval 1860">
                  <a:extLst>
                    <a:ext uri="{FF2B5EF4-FFF2-40B4-BE49-F238E27FC236}">
                      <a16:creationId xmlns:a16="http://schemas.microsoft.com/office/drawing/2014/main" id="{0306451C-039F-4AC6-8FFA-AEC987DE7962}"/>
                    </a:ext>
                  </a:extLst>
                </p:cNvPr>
                <p:cNvSpPr>
                  <a:spLocks noChangeArrowheads="1"/>
                </p:cNvSpPr>
                <p:nvPr/>
              </p:nvSpPr>
              <p:spPr bwMode="auto">
                <a:xfrm>
                  <a:off x="2163" y="372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73" name="Oval 1861">
                  <a:extLst>
                    <a:ext uri="{FF2B5EF4-FFF2-40B4-BE49-F238E27FC236}">
                      <a16:creationId xmlns:a16="http://schemas.microsoft.com/office/drawing/2014/main" id="{0E959F0D-93EF-438A-B740-2853772396F0}"/>
                    </a:ext>
                  </a:extLst>
                </p:cNvPr>
                <p:cNvSpPr>
                  <a:spLocks noChangeArrowheads="1"/>
                </p:cNvSpPr>
                <p:nvPr/>
              </p:nvSpPr>
              <p:spPr bwMode="auto">
                <a:xfrm>
                  <a:off x="2180" y="373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74" name="Oval 1862">
                  <a:extLst>
                    <a:ext uri="{FF2B5EF4-FFF2-40B4-BE49-F238E27FC236}">
                      <a16:creationId xmlns:a16="http://schemas.microsoft.com/office/drawing/2014/main" id="{AB1816D0-7CE6-445A-848C-6C8C39C6E055}"/>
                    </a:ext>
                  </a:extLst>
                </p:cNvPr>
                <p:cNvSpPr>
                  <a:spLocks noChangeArrowheads="1"/>
                </p:cNvSpPr>
                <p:nvPr/>
              </p:nvSpPr>
              <p:spPr bwMode="auto">
                <a:xfrm>
                  <a:off x="2142" y="3736"/>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575" name="Oval 1863">
                  <a:extLst>
                    <a:ext uri="{FF2B5EF4-FFF2-40B4-BE49-F238E27FC236}">
                      <a16:creationId xmlns:a16="http://schemas.microsoft.com/office/drawing/2014/main" id="{22907179-89DF-4058-9374-79513AEAB98A}"/>
                    </a:ext>
                  </a:extLst>
                </p:cNvPr>
                <p:cNvSpPr>
                  <a:spLocks noChangeArrowheads="1"/>
                </p:cNvSpPr>
                <p:nvPr/>
              </p:nvSpPr>
              <p:spPr bwMode="auto">
                <a:xfrm>
                  <a:off x="2160" y="374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540" name="Group 1864">
              <a:extLst>
                <a:ext uri="{FF2B5EF4-FFF2-40B4-BE49-F238E27FC236}">
                  <a16:creationId xmlns:a16="http://schemas.microsoft.com/office/drawing/2014/main" id="{20CA50AE-A960-4CDF-B995-83B650007BC4}"/>
                </a:ext>
              </a:extLst>
            </p:cNvPr>
            <p:cNvGrpSpPr>
              <a:grpSpLocks/>
            </p:cNvGrpSpPr>
            <p:nvPr/>
          </p:nvGrpSpPr>
          <p:grpSpPr bwMode="auto">
            <a:xfrm>
              <a:off x="2075" y="3614"/>
              <a:ext cx="81" cy="92"/>
              <a:chOff x="2075" y="3614"/>
              <a:chExt cx="81" cy="92"/>
            </a:xfrm>
          </p:grpSpPr>
          <p:grpSp>
            <p:nvGrpSpPr>
              <p:cNvPr id="541" name="Group 1865">
                <a:extLst>
                  <a:ext uri="{FF2B5EF4-FFF2-40B4-BE49-F238E27FC236}">
                    <a16:creationId xmlns:a16="http://schemas.microsoft.com/office/drawing/2014/main" id="{23E807E0-CDBF-40EF-A7DD-509710167079}"/>
                  </a:ext>
                </a:extLst>
              </p:cNvPr>
              <p:cNvGrpSpPr>
                <a:grpSpLocks/>
              </p:cNvGrpSpPr>
              <p:nvPr/>
            </p:nvGrpSpPr>
            <p:grpSpPr bwMode="auto">
              <a:xfrm>
                <a:off x="2101" y="3643"/>
                <a:ext cx="39" cy="42"/>
                <a:chOff x="2101" y="3643"/>
                <a:chExt cx="39" cy="42"/>
              </a:xfrm>
            </p:grpSpPr>
            <p:sp>
              <p:nvSpPr>
                <p:cNvPr id="549" name="Freeform 1866">
                  <a:extLst>
                    <a:ext uri="{FF2B5EF4-FFF2-40B4-BE49-F238E27FC236}">
                      <a16:creationId xmlns:a16="http://schemas.microsoft.com/office/drawing/2014/main" id="{1B71C1ED-E219-4946-9983-0381D92FDA9C}"/>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0" name="Freeform 1867">
                  <a:extLst>
                    <a:ext uri="{FF2B5EF4-FFF2-40B4-BE49-F238E27FC236}">
                      <a16:creationId xmlns:a16="http://schemas.microsoft.com/office/drawing/2014/main" id="{C6C6CA26-3D67-4B6A-BAFC-1D86A38BD883}"/>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42" name="Group 1868">
                <a:extLst>
                  <a:ext uri="{FF2B5EF4-FFF2-40B4-BE49-F238E27FC236}">
                    <a16:creationId xmlns:a16="http://schemas.microsoft.com/office/drawing/2014/main" id="{89FDAA5D-5FF3-446F-8464-450FEE23B965}"/>
                  </a:ext>
                </a:extLst>
              </p:cNvPr>
              <p:cNvGrpSpPr>
                <a:grpSpLocks/>
              </p:cNvGrpSpPr>
              <p:nvPr/>
            </p:nvGrpSpPr>
            <p:grpSpPr bwMode="auto">
              <a:xfrm>
                <a:off x="2121" y="3625"/>
                <a:ext cx="30" cy="32"/>
                <a:chOff x="2121" y="3625"/>
                <a:chExt cx="30" cy="32"/>
              </a:xfrm>
            </p:grpSpPr>
            <p:sp>
              <p:nvSpPr>
                <p:cNvPr id="547" name="Freeform 1869">
                  <a:extLst>
                    <a:ext uri="{FF2B5EF4-FFF2-40B4-BE49-F238E27FC236}">
                      <a16:creationId xmlns:a16="http://schemas.microsoft.com/office/drawing/2014/main" id="{0DE1C196-19E7-477A-B3DC-2164E53A3EF4}"/>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w 351"/>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1"/>
                    <a:gd name="T76" fmla="*/ 0 h 390"/>
                    <a:gd name="T77" fmla="*/ 351 w 351"/>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8" name="Freeform 1870">
                  <a:extLst>
                    <a:ext uri="{FF2B5EF4-FFF2-40B4-BE49-F238E27FC236}">
                      <a16:creationId xmlns:a16="http://schemas.microsoft.com/office/drawing/2014/main" id="{552F1547-FABE-46B4-AACD-61CA71E54454}"/>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1"/>
                    <a:gd name="T73" fmla="*/ 0 h 390"/>
                    <a:gd name="T74" fmla="*/ 351 w 351"/>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43" name="Group 1871">
                <a:extLst>
                  <a:ext uri="{FF2B5EF4-FFF2-40B4-BE49-F238E27FC236}">
                    <a16:creationId xmlns:a16="http://schemas.microsoft.com/office/drawing/2014/main" id="{9363FC35-23F3-484D-A3F6-28E1C00167F8}"/>
                  </a:ext>
                </a:extLst>
              </p:cNvPr>
              <p:cNvGrpSpPr>
                <a:grpSpLocks/>
              </p:cNvGrpSpPr>
              <p:nvPr/>
            </p:nvGrpSpPr>
            <p:grpSpPr bwMode="auto">
              <a:xfrm>
                <a:off x="2075" y="3670"/>
                <a:ext cx="62" cy="36"/>
                <a:chOff x="2075" y="3670"/>
                <a:chExt cx="62" cy="36"/>
              </a:xfrm>
            </p:grpSpPr>
            <p:sp>
              <p:nvSpPr>
                <p:cNvPr id="545" name="Freeform 1872">
                  <a:extLst>
                    <a:ext uri="{FF2B5EF4-FFF2-40B4-BE49-F238E27FC236}">
                      <a16:creationId xmlns:a16="http://schemas.microsoft.com/office/drawing/2014/main" id="{D2C3E762-0117-47C0-BFB5-6510420CED0E}"/>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6" name="Freeform 1873">
                  <a:extLst>
                    <a:ext uri="{FF2B5EF4-FFF2-40B4-BE49-F238E27FC236}">
                      <a16:creationId xmlns:a16="http://schemas.microsoft.com/office/drawing/2014/main" id="{344F13CC-C8BB-4C94-B505-9121DBE482FB}"/>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44" name="Freeform 1874">
                <a:extLst>
                  <a:ext uri="{FF2B5EF4-FFF2-40B4-BE49-F238E27FC236}">
                    <a16:creationId xmlns:a16="http://schemas.microsoft.com/office/drawing/2014/main" id="{8560452B-E996-4E6D-9D62-41DED1ADE94A}"/>
                  </a:ext>
                </a:extLst>
              </p:cNvPr>
              <p:cNvSpPr>
                <a:spLocks/>
              </p:cNvSpPr>
              <p:nvPr/>
            </p:nvSpPr>
            <p:spPr bwMode="auto">
              <a:xfrm>
                <a:off x="2121" y="3614"/>
                <a:ext cx="35"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49" y="4"/>
                    </a:lnTo>
                    <a:lnTo>
                      <a:pt x="292" y="6"/>
                    </a:lnTo>
                    <a:lnTo>
                      <a:pt x="340" y="10"/>
                    </a:lnTo>
                    <a:lnTo>
                      <a:pt x="372" y="20"/>
                    </a:lnTo>
                    <a:lnTo>
                      <a:pt x="386" y="35"/>
                    </a:lnTo>
                    <a:lnTo>
                      <a:pt x="399" y="57"/>
                    </a:lnTo>
                    <a:lnTo>
                      <a:pt x="407" y="83"/>
                    </a:lnTo>
                    <a:lnTo>
                      <a:pt x="411" y="116"/>
                    </a:lnTo>
                    <a:lnTo>
                      <a:pt x="414" y="154"/>
                    </a:lnTo>
                    <a:lnTo>
                      <a:pt x="407" y="191"/>
                    </a:lnTo>
                    <a:lnTo>
                      <a:pt x="394" y="221"/>
                    </a:lnTo>
                    <a:lnTo>
                      <a:pt x="375" y="240"/>
                    </a:lnTo>
                    <a:lnTo>
                      <a:pt x="356" y="252"/>
                    </a:lnTo>
                    <a:lnTo>
                      <a:pt x="327" y="260"/>
                    </a:lnTo>
                    <a:lnTo>
                      <a:pt x="299" y="262"/>
                    </a:lnTo>
                    <a:lnTo>
                      <a:pt x="272" y="260"/>
                    </a:lnTo>
                    <a:lnTo>
                      <a:pt x="243" y="233"/>
                    </a:lnTo>
                    <a:lnTo>
                      <a:pt x="224" y="210"/>
                    </a:lnTo>
                    <a:lnTo>
                      <a:pt x="195" y="189"/>
                    </a:lnTo>
                    <a:lnTo>
                      <a:pt x="167" y="172"/>
                    </a:lnTo>
                    <a:lnTo>
                      <a:pt x="135" y="153"/>
                    </a:lnTo>
                    <a:lnTo>
                      <a:pt x="105" y="141"/>
                    </a:lnTo>
                    <a:lnTo>
                      <a:pt x="80" y="134"/>
                    </a:lnTo>
                    <a:lnTo>
                      <a:pt x="56"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sp>
        <p:nvSpPr>
          <p:cNvPr id="601" name="Rectangle 1876">
            <a:extLst>
              <a:ext uri="{FF2B5EF4-FFF2-40B4-BE49-F238E27FC236}">
                <a16:creationId xmlns:a16="http://schemas.microsoft.com/office/drawing/2014/main" id="{15776CDF-4AA1-4057-89FA-0739457162AC}"/>
              </a:ext>
            </a:extLst>
          </p:cNvPr>
          <p:cNvSpPr>
            <a:spLocks noChangeArrowheads="1"/>
          </p:cNvSpPr>
          <p:nvPr/>
        </p:nvSpPr>
        <p:spPr bwMode="auto">
          <a:xfrm>
            <a:off x="7881939" y="4135439"/>
            <a:ext cx="306387" cy="439737"/>
          </a:xfrm>
          <a:prstGeom prst="rect">
            <a:avLst/>
          </a:prstGeom>
          <a:solidFill>
            <a:srgbClr val="6600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602" name="Group 1877">
            <a:extLst>
              <a:ext uri="{FF2B5EF4-FFF2-40B4-BE49-F238E27FC236}">
                <a16:creationId xmlns:a16="http://schemas.microsoft.com/office/drawing/2014/main" id="{63CB0F10-29A5-4D9F-BC80-AB90483C63E4}"/>
              </a:ext>
            </a:extLst>
          </p:cNvPr>
          <p:cNvGrpSpPr>
            <a:grpSpLocks/>
          </p:cNvGrpSpPr>
          <p:nvPr/>
        </p:nvGrpSpPr>
        <p:grpSpPr bwMode="auto">
          <a:xfrm>
            <a:off x="7883526" y="4137026"/>
            <a:ext cx="301625" cy="434975"/>
            <a:chOff x="2067" y="3557"/>
            <a:chExt cx="190" cy="274"/>
          </a:xfrm>
        </p:grpSpPr>
        <p:grpSp>
          <p:nvGrpSpPr>
            <p:cNvPr id="603" name="Group 1878">
              <a:extLst>
                <a:ext uri="{FF2B5EF4-FFF2-40B4-BE49-F238E27FC236}">
                  <a16:creationId xmlns:a16="http://schemas.microsoft.com/office/drawing/2014/main" id="{FD4C2A71-650A-43C7-A071-B65671F975C1}"/>
                </a:ext>
              </a:extLst>
            </p:cNvPr>
            <p:cNvGrpSpPr>
              <a:grpSpLocks/>
            </p:cNvGrpSpPr>
            <p:nvPr/>
          </p:nvGrpSpPr>
          <p:grpSpPr bwMode="auto">
            <a:xfrm>
              <a:off x="2067" y="3614"/>
              <a:ext cx="164" cy="197"/>
              <a:chOff x="2067" y="3614"/>
              <a:chExt cx="164" cy="197"/>
            </a:xfrm>
          </p:grpSpPr>
          <p:sp>
            <p:nvSpPr>
              <p:cNvPr id="656" name="Freeform 1879">
                <a:extLst>
                  <a:ext uri="{FF2B5EF4-FFF2-40B4-BE49-F238E27FC236}">
                    <a16:creationId xmlns:a16="http://schemas.microsoft.com/office/drawing/2014/main" id="{D47B64B2-4641-48CD-930D-071870B9B70E}"/>
                  </a:ext>
                </a:extLst>
              </p:cNvPr>
              <p:cNvSpPr>
                <a:spLocks/>
              </p:cNvSpPr>
              <p:nvPr/>
            </p:nvSpPr>
            <p:spPr bwMode="auto">
              <a:xfrm>
                <a:off x="2067" y="3614"/>
                <a:ext cx="164"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199" y="1522"/>
                    </a:lnTo>
                    <a:lnTo>
                      <a:pt x="162" y="1459"/>
                    </a:lnTo>
                    <a:lnTo>
                      <a:pt x="153" y="1439"/>
                    </a:lnTo>
                    <a:lnTo>
                      <a:pt x="125" y="1376"/>
                    </a:lnTo>
                    <a:lnTo>
                      <a:pt x="115" y="1333"/>
                    </a:lnTo>
                    <a:lnTo>
                      <a:pt x="106" y="1292"/>
                    </a:lnTo>
                    <a:lnTo>
                      <a:pt x="88" y="1229"/>
                    </a:lnTo>
                    <a:lnTo>
                      <a:pt x="69" y="1188"/>
                    </a:lnTo>
                    <a:lnTo>
                      <a:pt x="41" y="1124"/>
                    </a:lnTo>
                    <a:lnTo>
                      <a:pt x="22" y="1061"/>
                    </a:lnTo>
                    <a:lnTo>
                      <a:pt x="16" y="1022"/>
                    </a:lnTo>
                    <a:lnTo>
                      <a:pt x="4" y="935"/>
                    </a:lnTo>
                    <a:lnTo>
                      <a:pt x="1" y="872"/>
                    </a:lnTo>
                    <a:lnTo>
                      <a:pt x="0" y="792"/>
                    </a:lnTo>
                    <a:lnTo>
                      <a:pt x="14" y="724"/>
                    </a:lnTo>
                    <a:lnTo>
                      <a:pt x="32" y="693"/>
                    </a:lnTo>
                    <a:lnTo>
                      <a:pt x="50" y="677"/>
                    </a:lnTo>
                    <a:lnTo>
                      <a:pt x="67" y="669"/>
                    </a:lnTo>
                    <a:lnTo>
                      <a:pt x="88" y="661"/>
                    </a:lnTo>
                    <a:lnTo>
                      <a:pt x="106" y="661"/>
                    </a:lnTo>
                    <a:lnTo>
                      <a:pt x="106" y="613"/>
                    </a:lnTo>
                    <a:lnTo>
                      <a:pt x="100" y="591"/>
                    </a:lnTo>
                    <a:lnTo>
                      <a:pt x="97" y="555"/>
                    </a:lnTo>
                    <a:lnTo>
                      <a:pt x="105" y="534"/>
                    </a:lnTo>
                    <a:lnTo>
                      <a:pt x="106" y="515"/>
                    </a:lnTo>
                    <a:lnTo>
                      <a:pt x="120" y="477"/>
                    </a:lnTo>
                    <a:lnTo>
                      <a:pt x="134" y="451"/>
                    </a:lnTo>
                    <a:lnTo>
                      <a:pt x="155" y="419"/>
                    </a:lnTo>
                    <a:lnTo>
                      <a:pt x="184" y="388"/>
                    </a:lnTo>
                    <a:lnTo>
                      <a:pt x="216" y="361"/>
                    </a:lnTo>
                    <a:lnTo>
                      <a:pt x="244" y="336"/>
                    </a:lnTo>
                    <a:lnTo>
                      <a:pt x="278" y="326"/>
                    </a:lnTo>
                    <a:lnTo>
                      <a:pt x="312" y="320"/>
                    </a:lnTo>
                    <a:lnTo>
                      <a:pt x="344" y="326"/>
                    </a:lnTo>
                    <a:lnTo>
                      <a:pt x="374" y="336"/>
                    </a:lnTo>
                    <a:lnTo>
                      <a:pt x="410" y="346"/>
                    </a:lnTo>
                    <a:lnTo>
                      <a:pt x="420" y="326"/>
                    </a:lnTo>
                    <a:lnTo>
                      <a:pt x="426" y="268"/>
                    </a:lnTo>
                    <a:lnTo>
                      <a:pt x="438" y="220"/>
                    </a:lnTo>
                    <a:lnTo>
                      <a:pt x="461" y="184"/>
                    </a:lnTo>
                    <a:lnTo>
                      <a:pt x="486" y="160"/>
                    </a:lnTo>
                    <a:lnTo>
                      <a:pt x="522" y="148"/>
                    </a:lnTo>
                    <a:lnTo>
                      <a:pt x="559" y="136"/>
                    </a:lnTo>
                    <a:lnTo>
                      <a:pt x="615" y="125"/>
                    </a:lnTo>
                    <a:lnTo>
                      <a:pt x="650" y="125"/>
                    </a:lnTo>
                    <a:lnTo>
                      <a:pt x="660" y="104"/>
                    </a:lnTo>
                    <a:lnTo>
                      <a:pt x="678" y="62"/>
                    </a:lnTo>
                    <a:lnTo>
                      <a:pt x="706" y="31"/>
                    </a:lnTo>
                    <a:lnTo>
                      <a:pt x="744" y="10"/>
                    </a:lnTo>
                    <a:lnTo>
                      <a:pt x="800" y="0"/>
                    </a:lnTo>
                    <a:lnTo>
                      <a:pt x="854" y="0"/>
                    </a:lnTo>
                    <a:lnTo>
                      <a:pt x="927" y="4"/>
                    </a:lnTo>
                    <a:lnTo>
                      <a:pt x="967" y="6"/>
                    </a:lnTo>
                    <a:lnTo>
                      <a:pt x="994" y="10"/>
                    </a:lnTo>
                    <a:lnTo>
                      <a:pt x="1018" y="17"/>
                    </a:lnTo>
                    <a:lnTo>
                      <a:pt x="1039" y="35"/>
                    </a:lnTo>
                    <a:lnTo>
                      <a:pt x="1052" y="57"/>
                    </a:lnTo>
                    <a:lnTo>
                      <a:pt x="1061" y="86"/>
                    </a:lnTo>
                    <a:lnTo>
                      <a:pt x="1067" y="136"/>
                    </a:lnTo>
                    <a:lnTo>
                      <a:pt x="1062" y="180"/>
                    </a:lnTo>
                    <a:lnTo>
                      <a:pt x="1046" y="218"/>
                    </a:lnTo>
                    <a:lnTo>
                      <a:pt x="1027" y="239"/>
                    </a:lnTo>
                    <a:lnTo>
                      <a:pt x="1002" y="252"/>
                    </a:lnTo>
                    <a:lnTo>
                      <a:pt x="973" y="260"/>
                    </a:lnTo>
                    <a:lnTo>
                      <a:pt x="923" y="259"/>
                    </a:lnTo>
                    <a:lnTo>
                      <a:pt x="939" y="281"/>
                    </a:lnTo>
                    <a:lnTo>
                      <a:pt x="961" y="323"/>
                    </a:lnTo>
                    <a:lnTo>
                      <a:pt x="980" y="357"/>
                    </a:lnTo>
                    <a:lnTo>
                      <a:pt x="995" y="399"/>
                    </a:lnTo>
                    <a:lnTo>
                      <a:pt x="1004" y="434"/>
                    </a:lnTo>
                    <a:lnTo>
                      <a:pt x="1000" y="457"/>
                    </a:lnTo>
                    <a:lnTo>
                      <a:pt x="980" y="482"/>
                    </a:lnTo>
                    <a:lnTo>
                      <a:pt x="1002" y="526"/>
                    </a:lnTo>
                    <a:lnTo>
                      <a:pt x="1029" y="567"/>
                    </a:lnTo>
                    <a:lnTo>
                      <a:pt x="1060" y="619"/>
                    </a:lnTo>
                    <a:lnTo>
                      <a:pt x="1108" y="667"/>
                    </a:lnTo>
                    <a:lnTo>
                      <a:pt x="1182" y="739"/>
                    </a:lnTo>
                    <a:lnTo>
                      <a:pt x="1251" y="822"/>
                    </a:lnTo>
                    <a:lnTo>
                      <a:pt x="1316" y="930"/>
                    </a:lnTo>
                    <a:lnTo>
                      <a:pt x="1372" y="1029"/>
                    </a:lnTo>
                    <a:lnTo>
                      <a:pt x="1418" y="1113"/>
                    </a:lnTo>
                    <a:lnTo>
                      <a:pt x="1432" y="1144"/>
                    </a:lnTo>
                    <a:lnTo>
                      <a:pt x="1435" y="1198"/>
                    </a:lnTo>
                    <a:lnTo>
                      <a:pt x="1450" y="1240"/>
                    </a:lnTo>
                    <a:lnTo>
                      <a:pt x="1473" y="1204"/>
                    </a:lnTo>
                    <a:lnTo>
                      <a:pt x="1517" y="1147"/>
                    </a:lnTo>
                    <a:lnTo>
                      <a:pt x="1575" y="1061"/>
                    </a:lnTo>
                    <a:lnTo>
                      <a:pt x="1612" y="1009"/>
                    </a:lnTo>
                    <a:lnTo>
                      <a:pt x="1629" y="977"/>
                    </a:lnTo>
                    <a:lnTo>
                      <a:pt x="1649" y="924"/>
                    </a:lnTo>
                    <a:lnTo>
                      <a:pt x="1666" y="889"/>
                    </a:lnTo>
                    <a:lnTo>
                      <a:pt x="1681" y="862"/>
                    </a:lnTo>
                    <a:lnTo>
                      <a:pt x="1701" y="833"/>
                    </a:lnTo>
                    <a:lnTo>
                      <a:pt x="1723" y="808"/>
                    </a:lnTo>
                    <a:lnTo>
                      <a:pt x="1763" y="767"/>
                    </a:lnTo>
                    <a:lnTo>
                      <a:pt x="1807" y="734"/>
                    </a:lnTo>
                    <a:lnTo>
                      <a:pt x="1851" y="713"/>
                    </a:lnTo>
                    <a:lnTo>
                      <a:pt x="1889" y="713"/>
                    </a:lnTo>
                    <a:lnTo>
                      <a:pt x="1923" y="717"/>
                    </a:lnTo>
                    <a:lnTo>
                      <a:pt x="1953" y="735"/>
                    </a:lnTo>
                    <a:lnTo>
                      <a:pt x="1974" y="774"/>
                    </a:lnTo>
                    <a:lnTo>
                      <a:pt x="1973" y="819"/>
                    </a:lnTo>
                    <a:lnTo>
                      <a:pt x="1973" y="839"/>
                    </a:lnTo>
                    <a:lnTo>
                      <a:pt x="1963" y="883"/>
                    </a:lnTo>
                    <a:lnTo>
                      <a:pt x="1945" y="903"/>
                    </a:lnTo>
                    <a:lnTo>
                      <a:pt x="1935" y="946"/>
                    </a:lnTo>
                    <a:lnTo>
                      <a:pt x="1917" y="1009"/>
                    </a:lnTo>
                    <a:lnTo>
                      <a:pt x="1917" y="1071"/>
                    </a:lnTo>
                    <a:lnTo>
                      <a:pt x="1907" y="1134"/>
                    </a:lnTo>
                    <a:lnTo>
                      <a:pt x="1904" y="1167"/>
                    </a:lnTo>
                    <a:lnTo>
                      <a:pt x="1895" y="1200"/>
                    </a:lnTo>
                    <a:lnTo>
                      <a:pt x="1876" y="1238"/>
                    </a:lnTo>
                    <a:lnTo>
                      <a:pt x="1851" y="1271"/>
                    </a:lnTo>
                    <a:lnTo>
                      <a:pt x="1834" y="1333"/>
                    </a:lnTo>
                    <a:lnTo>
                      <a:pt x="1806" y="1396"/>
                    </a:lnTo>
                    <a:lnTo>
                      <a:pt x="1723" y="1544"/>
                    </a:lnTo>
                    <a:lnTo>
                      <a:pt x="1649" y="1649"/>
                    </a:lnTo>
                    <a:lnTo>
                      <a:pt x="1594" y="1722"/>
                    </a:lnTo>
                    <a:lnTo>
                      <a:pt x="1584" y="1764"/>
                    </a:lnTo>
                    <a:lnTo>
                      <a:pt x="1575" y="1807"/>
                    </a:lnTo>
                    <a:lnTo>
                      <a:pt x="1558" y="1853"/>
                    </a:lnTo>
                    <a:lnTo>
                      <a:pt x="1545" y="1912"/>
                    </a:lnTo>
                    <a:lnTo>
                      <a:pt x="1519" y="1975"/>
                    </a:lnTo>
                    <a:lnTo>
                      <a:pt x="1473" y="2059"/>
                    </a:lnTo>
                    <a:lnTo>
                      <a:pt x="1428" y="2122"/>
                    </a:lnTo>
                    <a:lnTo>
                      <a:pt x="1400" y="2163"/>
                    </a:lnTo>
                    <a:lnTo>
                      <a:pt x="1381" y="2227"/>
                    </a:lnTo>
                    <a:lnTo>
                      <a:pt x="1362" y="2269"/>
                    </a:lnTo>
                    <a:lnTo>
                      <a:pt x="1332"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657" name="Group 1880">
                <a:extLst>
                  <a:ext uri="{FF2B5EF4-FFF2-40B4-BE49-F238E27FC236}">
                    <a16:creationId xmlns:a16="http://schemas.microsoft.com/office/drawing/2014/main" id="{4A204CEC-DBE2-4193-8BC5-0E51C6019EA9}"/>
                  </a:ext>
                </a:extLst>
              </p:cNvPr>
              <p:cNvGrpSpPr>
                <a:grpSpLocks/>
              </p:cNvGrpSpPr>
              <p:nvPr/>
            </p:nvGrpSpPr>
            <p:grpSpPr bwMode="auto">
              <a:xfrm>
                <a:off x="2078" y="3668"/>
                <a:ext cx="139" cy="45"/>
                <a:chOff x="2078" y="3668"/>
                <a:chExt cx="139" cy="45"/>
              </a:xfrm>
            </p:grpSpPr>
            <p:sp>
              <p:nvSpPr>
                <p:cNvPr id="662" name="Freeform 1881">
                  <a:extLst>
                    <a:ext uri="{FF2B5EF4-FFF2-40B4-BE49-F238E27FC236}">
                      <a16:creationId xmlns:a16="http://schemas.microsoft.com/office/drawing/2014/main" id="{32CBB6DE-BBED-4828-96A8-A1118433B1AB}"/>
                    </a:ext>
                  </a:extLst>
                </p:cNvPr>
                <p:cNvSpPr>
                  <a:spLocks/>
                </p:cNvSpPr>
                <p:nvPr/>
              </p:nvSpPr>
              <p:spPr bwMode="auto">
                <a:xfrm>
                  <a:off x="2201" y="3705"/>
                  <a:ext cx="16" cy="8"/>
                </a:xfrm>
                <a:custGeom>
                  <a:avLst/>
                  <a:gdLst>
                    <a:gd name="T0" fmla="*/ 0 w 185"/>
                    <a:gd name="T1" fmla="*/ 0 h 96"/>
                    <a:gd name="T2" fmla="*/ 0 w 185"/>
                    <a:gd name="T3" fmla="*/ 0 h 96"/>
                    <a:gd name="T4" fmla="*/ 0 w 185"/>
                    <a:gd name="T5" fmla="*/ 0 h 96"/>
                    <a:gd name="T6" fmla="*/ 0 w 185"/>
                    <a:gd name="T7" fmla="*/ 0 h 96"/>
                    <a:gd name="T8" fmla="*/ 0 w 185"/>
                    <a:gd name="T9" fmla="*/ 0 h 96"/>
                    <a:gd name="T10" fmla="*/ 0 w 185"/>
                    <a:gd name="T11" fmla="*/ 0 h 96"/>
                    <a:gd name="T12" fmla="*/ 0 w 185"/>
                    <a:gd name="T13" fmla="*/ 0 h 96"/>
                    <a:gd name="T14" fmla="*/ 0 60000 65536"/>
                    <a:gd name="T15" fmla="*/ 0 60000 65536"/>
                    <a:gd name="T16" fmla="*/ 0 60000 65536"/>
                    <a:gd name="T17" fmla="*/ 0 60000 65536"/>
                    <a:gd name="T18" fmla="*/ 0 60000 65536"/>
                    <a:gd name="T19" fmla="*/ 0 60000 65536"/>
                    <a:gd name="T20" fmla="*/ 0 60000 65536"/>
                    <a:gd name="T21" fmla="*/ 0 w 185"/>
                    <a:gd name="T22" fmla="*/ 0 h 96"/>
                    <a:gd name="T23" fmla="*/ 185 w 185"/>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96">
                      <a:moveTo>
                        <a:pt x="0" y="0"/>
                      </a:moveTo>
                      <a:lnTo>
                        <a:pt x="38" y="21"/>
                      </a:lnTo>
                      <a:lnTo>
                        <a:pt x="66" y="52"/>
                      </a:lnTo>
                      <a:lnTo>
                        <a:pt x="101" y="85"/>
                      </a:lnTo>
                      <a:lnTo>
                        <a:pt x="129" y="96"/>
                      </a:lnTo>
                      <a:lnTo>
                        <a:pt x="139" y="96"/>
                      </a:lnTo>
                      <a:lnTo>
                        <a:pt x="185"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3" name="Freeform 1882">
                  <a:extLst>
                    <a:ext uri="{FF2B5EF4-FFF2-40B4-BE49-F238E27FC236}">
                      <a16:creationId xmlns:a16="http://schemas.microsoft.com/office/drawing/2014/main" id="{1861D91A-7FD5-407E-A34D-73817F1542D9}"/>
                    </a:ext>
                  </a:extLst>
                </p:cNvPr>
                <p:cNvSpPr>
                  <a:spLocks/>
                </p:cNvSpPr>
                <p:nvPr/>
              </p:nvSpPr>
              <p:spPr bwMode="auto">
                <a:xfrm>
                  <a:off x="2078" y="3695"/>
                  <a:ext cx="8"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4" name="Freeform 1883">
                  <a:extLst>
                    <a:ext uri="{FF2B5EF4-FFF2-40B4-BE49-F238E27FC236}">
                      <a16:creationId xmlns:a16="http://schemas.microsoft.com/office/drawing/2014/main" id="{C1158DEC-7DB1-410B-9CB1-790D3CBF79E2}"/>
                    </a:ext>
                  </a:extLst>
                </p:cNvPr>
                <p:cNvSpPr>
                  <a:spLocks/>
                </p:cNvSpPr>
                <p:nvPr/>
              </p:nvSpPr>
              <p:spPr bwMode="auto">
                <a:xfrm>
                  <a:off x="2102" y="3670"/>
                  <a:ext cx="1" cy="4"/>
                </a:xfrm>
                <a:custGeom>
                  <a:avLst/>
                  <a:gdLst>
                    <a:gd name="T0" fmla="*/ 0 w 18"/>
                    <a:gd name="T1" fmla="*/ 0 h 44"/>
                    <a:gd name="T2" fmla="*/ 0 w 18"/>
                    <a:gd name="T3" fmla="*/ 0 h 44"/>
                    <a:gd name="T4" fmla="*/ 0 w 18"/>
                    <a:gd name="T5" fmla="*/ 0 h 44"/>
                    <a:gd name="T6" fmla="*/ 0 w 18"/>
                    <a:gd name="T7" fmla="*/ 0 h 44"/>
                    <a:gd name="T8" fmla="*/ 0 60000 65536"/>
                    <a:gd name="T9" fmla="*/ 0 60000 65536"/>
                    <a:gd name="T10" fmla="*/ 0 60000 65536"/>
                    <a:gd name="T11" fmla="*/ 0 60000 65536"/>
                    <a:gd name="T12" fmla="*/ 0 w 18"/>
                    <a:gd name="T13" fmla="*/ 0 h 44"/>
                    <a:gd name="T14" fmla="*/ 18 w 18"/>
                    <a:gd name="T15" fmla="*/ 44 h 44"/>
                  </a:gdLst>
                  <a:ahLst/>
                  <a:cxnLst>
                    <a:cxn ang="T8">
                      <a:pos x="T0" y="T1"/>
                    </a:cxn>
                    <a:cxn ang="T9">
                      <a:pos x="T2" y="T3"/>
                    </a:cxn>
                    <a:cxn ang="T10">
                      <a:pos x="T4" y="T5"/>
                    </a:cxn>
                    <a:cxn ang="T11">
                      <a:pos x="T6" y="T7"/>
                    </a:cxn>
                  </a:cxnLst>
                  <a:rect l="T12" t="T13" r="T14" b="T15"/>
                  <a:pathLst>
                    <a:path w="18" h="44">
                      <a:moveTo>
                        <a:pt x="0" y="0"/>
                      </a:moveTo>
                      <a:lnTo>
                        <a:pt x="18" y="18"/>
                      </a:lnTo>
                      <a:lnTo>
                        <a:pt x="16" y="29"/>
                      </a:lnTo>
                      <a:lnTo>
                        <a:pt x="18"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65" name="Freeform 1884">
                  <a:extLst>
                    <a:ext uri="{FF2B5EF4-FFF2-40B4-BE49-F238E27FC236}">
                      <a16:creationId xmlns:a16="http://schemas.microsoft.com/office/drawing/2014/main" id="{C1FF3801-503C-411A-93CD-28AF48894F76}"/>
                    </a:ext>
                  </a:extLst>
                </p:cNvPr>
                <p:cNvSpPr>
                  <a:spLocks/>
                </p:cNvSpPr>
                <p:nvPr/>
              </p:nvSpPr>
              <p:spPr bwMode="auto">
                <a:xfrm>
                  <a:off x="2095" y="3668"/>
                  <a:ext cx="15" cy="2"/>
                </a:xfrm>
                <a:custGeom>
                  <a:avLst/>
                  <a:gdLst>
                    <a:gd name="T0" fmla="*/ 0 w 179"/>
                    <a:gd name="T1" fmla="*/ 0 h 22"/>
                    <a:gd name="T2" fmla="*/ 0 w 179"/>
                    <a:gd name="T3" fmla="*/ 0 h 22"/>
                    <a:gd name="T4" fmla="*/ 0 w 179"/>
                    <a:gd name="T5" fmla="*/ 0 h 22"/>
                    <a:gd name="T6" fmla="*/ 0 w 179"/>
                    <a:gd name="T7" fmla="*/ 0 h 22"/>
                    <a:gd name="T8" fmla="*/ 0 w 179"/>
                    <a:gd name="T9" fmla="*/ 0 h 22"/>
                    <a:gd name="T10" fmla="*/ 0 60000 65536"/>
                    <a:gd name="T11" fmla="*/ 0 60000 65536"/>
                    <a:gd name="T12" fmla="*/ 0 60000 65536"/>
                    <a:gd name="T13" fmla="*/ 0 60000 65536"/>
                    <a:gd name="T14" fmla="*/ 0 60000 65536"/>
                    <a:gd name="T15" fmla="*/ 0 w 179"/>
                    <a:gd name="T16" fmla="*/ 0 h 22"/>
                    <a:gd name="T17" fmla="*/ 179 w 179"/>
                    <a:gd name="T18" fmla="*/ 22 h 22"/>
                  </a:gdLst>
                  <a:ahLst/>
                  <a:cxnLst>
                    <a:cxn ang="T10">
                      <a:pos x="T0" y="T1"/>
                    </a:cxn>
                    <a:cxn ang="T11">
                      <a:pos x="T2" y="T3"/>
                    </a:cxn>
                    <a:cxn ang="T12">
                      <a:pos x="T4" y="T5"/>
                    </a:cxn>
                    <a:cxn ang="T13">
                      <a:pos x="T6" y="T7"/>
                    </a:cxn>
                    <a:cxn ang="T14">
                      <a:pos x="T8" y="T9"/>
                    </a:cxn>
                  </a:cxnLst>
                  <a:rect l="T15" t="T16" r="T17" b="T18"/>
                  <a:pathLst>
                    <a:path w="179" h="22">
                      <a:moveTo>
                        <a:pt x="179" y="11"/>
                      </a:moveTo>
                      <a:lnTo>
                        <a:pt x="151" y="22"/>
                      </a:lnTo>
                      <a:lnTo>
                        <a:pt x="39" y="22"/>
                      </a:lnTo>
                      <a:lnTo>
                        <a:pt x="18" y="10"/>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58" name="Group 1885">
                <a:extLst>
                  <a:ext uri="{FF2B5EF4-FFF2-40B4-BE49-F238E27FC236}">
                    <a16:creationId xmlns:a16="http://schemas.microsoft.com/office/drawing/2014/main" id="{47FABBE7-EA4F-4041-BB44-65A7E70FF560}"/>
                  </a:ext>
                </a:extLst>
              </p:cNvPr>
              <p:cNvGrpSpPr>
                <a:grpSpLocks/>
              </p:cNvGrpSpPr>
              <p:nvPr/>
            </p:nvGrpSpPr>
            <p:grpSpPr bwMode="auto">
              <a:xfrm>
                <a:off x="2093" y="3659"/>
                <a:ext cx="95" cy="91"/>
                <a:chOff x="2093" y="3659"/>
                <a:chExt cx="95" cy="91"/>
              </a:xfrm>
            </p:grpSpPr>
            <p:sp>
              <p:nvSpPr>
                <p:cNvPr id="659" name="Freeform 1886">
                  <a:extLst>
                    <a:ext uri="{FF2B5EF4-FFF2-40B4-BE49-F238E27FC236}">
                      <a16:creationId xmlns:a16="http://schemas.microsoft.com/office/drawing/2014/main" id="{D945256D-16E2-4343-995B-31DBAFFA76E8}"/>
                    </a:ext>
                  </a:extLst>
                </p:cNvPr>
                <p:cNvSpPr>
                  <a:spLocks/>
                </p:cNvSpPr>
                <p:nvPr/>
              </p:nvSpPr>
              <p:spPr bwMode="auto">
                <a:xfrm>
                  <a:off x="2100" y="3676"/>
                  <a:ext cx="88" cy="74"/>
                </a:xfrm>
                <a:custGeom>
                  <a:avLst/>
                  <a:gdLst>
                    <a:gd name="T0" fmla="*/ 0 w 1061"/>
                    <a:gd name="T1" fmla="*/ 0 h 894"/>
                    <a:gd name="T2" fmla="*/ 0 w 1061"/>
                    <a:gd name="T3" fmla="*/ 0 h 894"/>
                    <a:gd name="T4" fmla="*/ 0 w 1061"/>
                    <a:gd name="T5" fmla="*/ 0 h 894"/>
                    <a:gd name="T6" fmla="*/ 0 w 1061"/>
                    <a:gd name="T7" fmla="*/ 0 h 894"/>
                    <a:gd name="T8" fmla="*/ 0 w 1061"/>
                    <a:gd name="T9" fmla="*/ 0 h 894"/>
                    <a:gd name="T10" fmla="*/ 0 w 1061"/>
                    <a:gd name="T11" fmla="*/ 0 h 894"/>
                    <a:gd name="T12" fmla="*/ 0 w 1061"/>
                    <a:gd name="T13" fmla="*/ 0 h 894"/>
                    <a:gd name="T14" fmla="*/ 0 w 1061"/>
                    <a:gd name="T15" fmla="*/ 0 h 894"/>
                    <a:gd name="T16" fmla="*/ 0 w 1061"/>
                    <a:gd name="T17" fmla="*/ 0 h 894"/>
                    <a:gd name="T18" fmla="*/ 0 w 1061"/>
                    <a:gd name="T19" fmla="*/ 0 h 894"/>
                    <a:gd name="T20" fmla="*/ 0 w 1061"/>
                    <a:gd name="T21" fmla="*/ 0 h 894"/>
                    <a:gd name="T22" fmla="*/ 0 w 1061"/>
                    <a:gd name="T23" fmla="*/ 0 h 894"/>
                    <a:gd name="T24" fmla="*/ 0 w 1061"/>
                    <a:gd name="T25" fmla="*/ 0 h 894"/>
                    <a:gd name="T26" fmla="*/ 0 w 1061"/>
                    <a:gd name="T27" fmla="*/ 0 h 894"/>
                    <a:gd name="T28" fmla="*/ 0 w 1061"/>
                    <a:gd name="T29" fmla="*/ 0 h 894"/>
                    <a:gd name="T30" fmla="*/ 0 w 1061"/>
                    <a:gd name="T31" fmla="*/ 0 h 894"/>
                    <a:gd name="T32" fmla="*/ 0 w 1061"/>
                    <a:gd name="T33" fmla="*/ 0 h 894"/>
                    <a:gd name="T34" fmla="*/ 0 w 1061"/>
                    <a:gd name="T35" fmla="*/ 0 h 894"/>
                    <a:gd name="T36" fmla="*/ 0 w 1061"/>
                    <a:gd name="T37" fmla="*/ 0 h 894"/>
                    <a:gd name="T38" fmla="*/ 0 w 1061"/>
                    <a:gd name="T39" fmla="*/ 0 h 894"/>
                    <a:gd name="T40" fmla="*/ 0 w 1061"/>
                    <a:gd name="T41" fmla="*/ 0 h 894"/>
                    <a:gd name="T42" fmla="*/ 0 w 1061"/>
                    <a:gd name="T43" fmla="*/ 0 h 894"/>
                    <a:gd name="T44" fmla="*/ 0 w 1061"/>
                    <a:gd name="T45" fmla="*/ 0 h 894"/>
                    <a:gd name="T46" fmla="*/ 0 w 1061"/>
                    <a:gd name="T47" fmla="*/ 0 h 894"/>
                    <a:gd name="T48" fmla="*/ 0 w 1061"/>
                    <a:gd name="T49" fmla="*/ 0 h 894"/>
                    <a:gd name="T50" fmla="*/ 0 w 1061"/>
                    <a:gd name="T51" fmla="*/ 0 h 894"/>
                    <a:gd name="T52" fmla="*/ 0 w 1061"/>
                    <a:gd name="T53" fmla="*/ 0 h 894"/>
                    <a:gd name="T54" fmla="*/ 0 w 1061"/>
                    <a:gd name="T55" fmla="*/ 0 h 894"/>
                    <a:gd name="T56" fmla="*/ 0 w 1061"/>
                    <a:gd name="T57" fmla="*/ 0 h 894"/>
                    <a:gd name="T58" fmla="*/ 0 w 1061"/>
                    <a:gd name="T59" fmla="*/ 0 h 894"/>
                    <a:gd name="T60" fmla="*/ 0 w 1061"/>
                    <a:gd name="T61" fmla="*/ 0 h 894"/>
                    <a:gd name="T62" fmla="*/ 0 w 1061"/>
                    <a:gd name="T63" fmla="*/ 0 h 894"/>
                    <a:gd name="T64" fmla="*/ 0 w 1061"/>
                    <a:gd name="T65" fmla="*/ 0 h 894"/>
                    <a:gd name="T66" fmla="*/ 0 w 1061"/>
                    <a:gd name="T67" fmla="*/ 0 h 894"/>
                    <a:gd name="T68" fmla="*/ 0 w 1061"/>
                    <a:gd name="T69" fmla="*/ 0 h 894"/>
                    <a:gd name="T70" fmla="*/ 0 w 1061"/>
                    <a:gd name="T71" fmla="*/ 0 h 894"/>
                    <a:gd name="T72" fmla="*/ 0 w 1061"/>
                    <a:gd name="T73" fmla="*/ 0 h 894"/>
                    <a:gd name="T74" fmla="*/ 0 w 1061"/>
                    <a:gd name="T75" fmla="*/ 0 h 894"/>
                    <a:gd name="T76" fmla="*/ 0 w 1061"/>
                    <a:gd name="T77" fmla="*/ 0 h 894"/>
                    <a:gd name="T78" fmla="*/ 0 w 1061"/>
                    <a:gd name="T79" fmla="*/ 0 h 894"/>
                    <a:gd name="T80" fmla="*/ 0 w 1061"/>
                    <a:gd name="T81" fmla="*/ 0 h 894"/>
                    <a:gd name="T82" fmla="*/ 0 w 1061"/>
                    <a:gd name="T83" fmla="*/ 0 h 894"/>
                    <a:gd name="T84" fmla="*/ 0 w 1061"/>
                    <a:gd name="T85" fmla="*/ 0 h 894"/>
                    <a:gd name="T86" fmla="*/ 0 w 1061"/>
                    <a:gd name="T87" fmla="*/ 0 h 894"/>
                    <a:gd name="T88" fmla="*/ 0 w 1061"/>
                    <a:gd name="T89" fmla="*/ 0 h 894"/>
                    <a:gd name="T90" fmla="*/ 0 w 1061"/>
                    <a:gd name="T91" fmla="*/ 0 h 894"/>
                    <a:gd name="T92" fmla="*/ 0 w 1061"/>
                    <a:gd name="T93" fmla="*/ 0 h 894"/>
                    <a:gd name="T94" fmla="*/ 0 w 1061"/>
                    <a:gd name="T95" fmla="*/ 0 h 894"/>
                    <a:gd name="T96" fmla="*/ 0 w 1061"/>
                    <a:gd name="T97" fmla="*/ 0 h 894"/>
                    <a:gd name="T98" fmla="*/ 0 w 1061"/>
                    <a:gd name="T99" fmla="*/ 0 h 894"/>
                    <a:gd name="T100" fmla="*/ 0 w 1061"/>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1"/>
                    <a:gd name="T154" fmla="*/ 0 h 894"/>
                    <a:gd name="T155" fmla="*/ 1061 w 1061"/>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1" h="894">
                      <a:moveTo>
                        <a:pt x="1061" y="487"/>
                      </a:moveTo>
                      <a:lnTo>
                        <a:pt x="982" y="517"/>
                      </a:lnTo>
                      <a:lnTo>
                        <a:pt x="886" y="555"/>
                      </a:lnTo>
                      <a:lnTo>
                        <a:pt x="827" y="593"/>
                      </a:lnTo>
                      <a:lnTo>
                        <a:pt x="779" y="652"/>
                      </a:lnTo>
                      <a:lnTo>
                        <a:pt x="750" y="739"/>
                      </a:lnTo>
                      <a:lnTo>
                        <a:pt x="730" y="807"/>
                      </a:lnTo>
                      <a:lnTo>
                        <a:pt x="671" y="875"/>
                      </a:lnTo>
                      <a:lnTo>
                        <a:pt x="574" y="894"/>
                      </a:lnTo>
                      <a:lnTo>
                        <a:pt x="506" y="865"/>
                      </a:lnTo>
                      <a:lnTo>
                        <a:pt x="457" y="826"/>
                      </a:lnTo>
                      <a:lnTo>
                        <a:pt x="454" y="784"/>
                      </a:lnTo>
                      <a:lnTo>
                        <a:pt x="447" y="749"/>
                      </a:lnTo>
                      <a:lnTo>
                        <a:pt x="409" y="690"/>
                      </a:lnTo>
                      <a:lnTo>
                        <a:pt x="321" y="662"/>
                      </a:lnTo>
                      <a:lnTo>
                        <a:pt x="389" y="617"/>
                      </a:lnTo>
                      <a:lnTo>
                        <a:pt x="460" y="603"/>
                      </a:lnTo>
                      <a:lnTo>
                        <a:pt x="493" y="584"/>
                      </a:lnTo>
                      <a:lnTo>
                        <a:pt x="431" y="581"/>
                      </a:lnTo>
                      <a:lnTo>
                        <a:pt x="360" y="603"/>
                      </a:lnTo>
                      <a:lnTo>
                        <a:pt x="282" y="633"/>
                      </a:lnTo>
                      <a:lnTo>
                        <a:pt x="247" y="603"/>
                      </a:lnTo>
                      <a:lnTo>
                        <a:pt x="240" y="565"/>
                      </a:lnTo>
                      <a:lnTo>
                        <a:pt x="237" y="520"/>
                      </a:lnTo>
                      <a:lnTo>
                        <a:pt x="224" y="477"/>
                      </a:lnTo>
                      <a:lnTo>
                        <a:pt x="175" y="468"/>
                      </a:lnTo>
                      <a:lnTo>
                        <a:pt x="136" y="484"/>
                      </a:lnTo>
                      <a:lnTo>
                        <a:pt x="104" y="514"/>
                      </a:lnTo>
                      <a:lnTo>
                        <a:pt x="58" y="542"/>
                      </a:lnTo>
                      <a:lnTo>
                        <a:pt x="0" y="593"/>
                      </a:lnTo>
                      <a:lnTo>
                        <a:pt x="58" y="507"/>
                      </a:lnTo>
                      <a:lnTo>
                        <a:pt x="165" y="420"/>
                      </a:lnTo>
                      <a:lnTo>
                        <a:pt x="234" y="380"/>
                      </a:lnTo>
                      <a:lnTo>
                        <a:pt x="295" y="364"/>
                      </a:lnTo>
                      <a:lnTo>
                        <a:pt x="348" y="368"/>
                      </a:lnTo>
                      <a:lnTo>
                        <a:pt x="402" y="355"/>
                      </a:lnTo>
                      <a:lnTo>
                        <a:pt x="487" y="332"/>
                      </a:lnTo>
                      <a:lnTo>
                        <a:pt x="593" y="288"/>
                      </a:lnTo>
                      <a:lnTo>
                        <a:pt x="694" y="239"/>
                      </a:lnTo>
                      <a:lnTo>
                        <a:pt x="753" y="210"/>
                      </a:lnTo>
                      <a:lnTo>
                        <a:pt x="785" y="168"/>
                      </a:lnTo>
                      <a:lnTo>
                        <a:pt x="801" y="116"/>
                      </a:lnTo>
                      <a:lnTo>
                        <a:pt x="798" y="62"/>
                      </a:lnTo>
                      <a:lnTo>
                        <a:pt x="785" y="0"/>
                      </a:lnTo>
                      <a:lnTo>
                        <a:pt x="846" y="68"/>
                      </a:lnTo>
                      <a:lnTo>
                        <a:pt x="896" y="145"/>
                      </a:lnTo>
                      <a:lnTo>
                        <a:pt x="953" y="245"/>
                      </a:lnTo>
                      <a:lnTo>
                        <a:pt x="979" y="300"/>
                      </a:lnTo>
                      <a:lnTo>
                        <a:pt x="1006" y="348"/>
                      </a:lnTo>
                      <a:lnTo>
                        <a:pt x="1041" y="401"/>
                      </a:lnTo>
                      <a:lnTo>
                        <a:pt x="1061"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 name="Freeform 1887">
                  <a:extLst>
                    <a:ext uri="{FF2B5EF4-FFF2-40B4-BE49-F238E27FC236}">
                      <a16:creationId xmlns:a16="http://schemas.microsoft.com/office/drawing/2014/main" id="{18624CF2-19AD-4597-857C-88B4D1D54CE3}"/>
                    </a:ext>
                  </a:extLst>
                </p:cNvPr>
                <p:cNvSpPr>
                  <a:spLocks/>
                </p:cNvSpPr>
                <p:nvPr/>
              </p:nvSpPr>
              <p:spPr bwMode="auto">
                <a:xfrm>
                  <a:off x="2093" y="3699"/>
                  <a:ext cx="24" cy="15"/>
                </a:xfrm>
                <a:custGeom>
                  <a:avLst/>
                  <a:gdLst>
                    <a:gd name="T0" fmla="*/ 0 w 288"/>
                    <a:gd name="T1" fmla="*/ 0 h 181"/>
                    <a:gd name="T2" fmla="*/ 0 w 288"/>
                    <a:gd name="T3" fmla="*/ 0 h 181"/>
                    <a:gd name="T4" fmla="*/ 0 w 288"/>
                    <a:gd name="T5" fmla="*/ 0 h 181"/>
                    <a:gd name="T6" fmla="*/ 0 w 288"/>
                    <a:gd name="T7" fmla="*/ 0 h 181"/>
                    <a:gd name="T8" fmla="*/ 0 w 288"/>
                    <a:gd name="T9" fmla="*/ 0 h 181"/>
                    <a:gd name="T10" fmla="*/ 0 w 288"/>
                    <a:gd name="T11" fmla="*/ 0 h 181"/>
                    <a:gd name="T12" fmla="*/ 0 w 288"/>
                    <a:gd name="T13" fmla="*/ 0 h 181"/>
                    <a:gd name="T14" fmla="*/ 0 w 288"/>
                    <a:gd name="T15" fmla="*/ 0 h 181"/>
                    <a:gd name="T16" fmla="*/ 0 w 288"/>
                    <a:gd name="T17" fmla="*/ 0 h 181"/>
                    <a:gd name="T18" fmla="*/ 0 w 288"/>
                    <a:gd name="T19" fmla="*/ 0 h 181"/>
                    <a:gd name="T20" fmla="*/ 0 w 288"/>
                    <a:gd name="T21" fmla="*/ 0 h 181"/>
                    <a:gd name="T22" fmla="*/ 0 w 288"/>
                    <a:gd name="T23" fmla="*/ 0 h 181"/>
                    <a:gd name="T24" fmla="*/ 0 w 288"/>
                    <a:gd name="T25" fmla="*/ 0 h 181"/>
                    <a:gd name="T26" fmla="*/ 0 w 288"/>
                    <a:gd name="T27" fmla="*/ 0 h 181"/>
                    <a:gd name="T28" fmla="*/ 0 w 288"/>
                    <a:gd name="T29" fmla="*/ 0 h 181"/>
                    <a:gd name="T30" fmla="*/ 0 w 288"/>
                    <a:gd name="T31" fmla="*/ 0 h 181"/>
                    <a:gd name="T32" fmla="*/ 0 w 288"/>
                    <a:gd name="T33" fmla="*/ 0 h 181"/>
                    <a:gd name="T34" fmla="*/ 0 w 288"/>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8"/>
                    <a:gd name="T55" fmla="*/ 0 h 181"/>
                    <a:gd name="T56" fmla="*/ 288 w 288"/>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8" h="181">
                      <a:moveTo>
                        <a:pt x="176" y="10"/>
                      </a:moveTo>
                      <a:lnTo>
                        <a:pt x="209" y="20"/>
                      </a:lnTo>
                      <a:lnTo>
                        <a:pt x="246" y="33"/>
                      </a:lnTo>
                      <a:lnTo>
                        <a:pt x="288" y="53"/>
                      </a:lnTo>
                      <a:lnTo>
                        <a:pt x="258" y="67"/>
                      </a:lnTo>
                      <a:lnTo>
                        <a:pt x="203" y="91"/>
                      </a:lnTo>
                      <a:lnTo>
                        <a:pt x="143" y="124"/>
                      </a:lnTo>
                      <a:lnTo>
                        <a:pt x="103" y="161"/>
                      </a:lnTo>
                      <a:lnTo>
                        <a:pt x="79" y="181"/>
                      </a:lnTo>
                      <a:lnTo>
                        <a:pt x="106"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 name="Freeform 1888">
                  <a:extLst>
                    <a:ext uri="{FF2B5EF4-FFF2-40B4-BE49-F238E27FC236}">
                      <a16:creationId xmlns:a16="http://schemas.microsoft.com/office/drawing/2014/main" id="{EB64CC33-4BA2-42B9-9792-EC57661DB23A}"/>
                    </a:ext>
                  </a:extLst>
                </p:cNvPr>
                <p:cNvSpPr>
                  <a:spLocks/>
                </p:cNvSpPr>
                <p:nvPr/>
              </p:nvSpPr>
              <p:spPr bwMode="auto">
                <a:xfrm>
                  <a:off x="2115" y="3659"/>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4" y="166"/>
                      </a:lnTo>
                      <a:lnTo>
                        <a:pt x="365" y="206"/>
                      </a:lnTo>
                      <a:lnTo>
                        <a:pt x="314" y="255"/>
                      </a:lnTo>
                      <a:lnTo>
                        <a:pt x="264" y="332"/>
                      </a:lnTo>
                      <a:lnTo>
                        <a:pt x="242" y="385"/>
                      </a:lnTo>
                      <a:lnTo>
                        <a:pt x="258" y="434"/>
                      </a:lnTo>
                      <a:lnTo>
                        <a:pt x="193" y="388"/>
                      </a:lnTo>
                      <a:lnTo>
                        <a:pt x="130" y="365"/>
                      </a:lnTo>
                      <a:lnTo>
                        <a:pt x="81" y="345"/>
                      </a:lnTo>
                      <a:lnTo>
                        <a:pt x="32" y="329"/>
                      </a:lnTo>
                      <a:lnTo>
                        <a:pt x="0" y="313"/>
                      </a:lnTo>
                      <a:lnTo>
                        <a:pt x="42" y="255"/>
                      </a:lnTo>
                      <a:lnTo>
                        <a:pt x="81" y="283"/>
                      </a:lnTo>
                      <a:lnTo>
                        <a:pt x="143" y="313"/>
                      </a:lnTo>
                      <a:lnTo>
                        <a:pt x="196" y="313"/>
                      </a:lnTo>
                      <a:lnTo>
                        <a:pt x="245" y="304"/>
                      </a:lnTo>
                      <a:lnTo>
                        <a:pt x="274" y="293"/>
                      </a:lnTo>
                      <a:lnTo>
                        <a:pt x="304" y="274"/>
                      </a:lnTo>
                      <a:lnTo>
                        <a:pt x="314" y="212"/>
                      </a:lnTo>
                      <a:lnTo>
                        <a:pt x="304" y="166"/>
                      </a:lnTo>
                      <a:lnTo>
                        <a:pt x="274" y="108"/>
                      </a:lnTo>
                      <a:lnTo>
                        <a:pt x="264" y="78"/>
                      </a:lnTo>
                      <a:lnTo>
                        <a:pt x="307" y="68"/>
                      </a:lnTo>
                      <a:lnTo>
                        <a:pt x="362" y="52"/>
                      </a:lnTo>
                      <a:lnTo>
                        <a:pt x="398" y="9"/>
                      </a:lnTo>
                      <a:lnTo>
                        <a:pt x="431" y="0"/>
                      </a:lnTo>
                      <a:lnTo>
                        <a:pt x="467" y="55"/>
                      </a:lnTo>
                      <a:lnTo>
                        <a:pt x="499"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604" name="Group 1889">
              <a:extLst>
                <a:ext uri="{FF2B5EF4-FFF2-40B4-BE49-F238E27FC236}">
                  <a16:creationId xmlns:a16="http://schemas.microsoft.com/office/drawing/2014/main" id="{DFDEED32-0FBF-4491-AC23-4E3495689497}"/>
                </a:ext>
              </a:extLst>
            </p:cNvPr>
            <p:cNvGrpSpPr>
              <a:grpSpLocks/>
            </p:cNvGrpSpPr>
            <p:nvPr/>
          </p:nvGrpSpPr>
          <p:grpSpPr bwMode="auto">
            <a:xfrm>
              <a:off x="2117" y="3557"/>
              <a:ext cx="140" cy="274"/>
              <a:chOff x="2117" y="3557"/>
              <a:chExt cx="140" cy="274"/>
            </a:xfrm>
          </p:grpSpPr>
          <p:sp>
            <p:nvSpPr>
              <p:cNvPr id="616" name="Freeform 1890">
                <a:extLst>
                  <a:ext uri="{FF2B5EF4-FFF2-40B4-BE49-F238E27FC236}">
                    <a16:creationId xmlns:a16="http://schemas.microsoft.com/office/drawing/2014/main" id="{CCF25F86-AFFA-4C04-B9A2-2DF792848417}"/>
                  </a:ext>
                </a:extLst>
              </p:cNvPr>
              <p:cNvSpPr>
                <a:spLocks/>
              </p:cNvSpPr>
              <p:nvPr/>
            </p:nvSpPr>
            <p:spPr bwMode="auto">
              <a:xfrm>
                <a:off x="2126" y="3753"/>
                <a:ext cx="129"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7"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617" name="Freeform 1891">
                <a:extLst>
                  <a:ext uri="{FF2B5EF4-FFF2-40B4-BE49-F238E27FC236}">
                    <a16:creationId xmlns:a16="http://schemas.microsoft.com/office/drawing/2014/main" id="{C71B4376-5FBA-42FA-B65E-E524DAD58E99}"/>
                  </a:ext>
                </a:extLst>
              </p:cNvPr>
              <p:cNvSpPr>
                <a:spLocks/>
              </p:cNvSpPr>
              <p:nvPr/>
            </p:nvSpPr>
            <p:spPr bwMode="auto">
              <a:xfrm>
                <a:off x="2172" y="3787"/>
                <a:ext cx="85"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6" y="179"/>
                    </a:lnTo>
                    <a:lnTo>
                      <a:pt x="944" y="523"/>
                    </a:lnTo>
                    <a:lnTo>
                      <a:pt x="963" y="528"/>
                    </a:lnTo>
                    <a:lnTo>
                      <a:pt x="980" y="523"/>
                    </a:lnTo>
                    <a:lnTo>
                      <a:pt x="995" y="505"/>
                    </a:lnTo>
                    <a:lnTo>
                      <a:pt x="1014" y="461"/>
                    </a:lnTo>
                    <a:lnTo>
                      <a:pt x="1023" y="428"/>
                    </a:lnTo>
                    <a:lnTo>
                      <a:pt x="1027" y="398"/>
                    </a:lnTo>
                    <a:lnTo>
                      <a:pt x="1019" y="366"/>
                    </a:lnTo>
                    <a:lnTo>
                      <a:pt x="999"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618" name="Freeform 1892">
                <a:extLst>
                  <a:ext uri="{FF2B5EF4-FFF2-40B4-BE49-F238E27FC236}">
                    <a16:creationId xmlns:a16="http://schemas.microsoft.com/office/drawing/2014/main" id="{CB13ED53-58AD-4B17-80F1-FAF8872771B3}"/>
                  </a:ext>
                </a:extLst>
              </p:cNvPr>
              <p:cNvSpPr>
                <a:spLocks/>
              </p:cNvSpPr>
              <p:nvPr/>
            </p:nvSpPr>
            <p:spPr bwMode="auto">
              <a:xfrm>
                <a:off x="2117" y="3557"/>
                <a:ext cx="123" cy="245"/>
              </a:xfrm>
              <a:custGeom>
                <a:avLst/>
                <a:gdLst>
                  <a:gd name="T0" fmla="*/ 0 w 1479"/>
                  <a:gd name="T1" fmla="*/ 0 h 2948"/>
                  <a:gd name="T2" fmla="*/ 0 w 1479"/>
                  <a:gd name="T3" fmla="*/ 0 h 2948"/>
                  <a:gd name="T4" fmla="*/ 0 w 1479"/>
                  <a:gd name="T5" fmla="*/ 0 h 2948"/>
                  <a:gd name="T6" fmla="*/ 0 w 1479"/>
                  <a:gd name="T7" fmla="*/ 0 h 2948"/>
                  <a:gd name="T8" fmla="*/ 0 w 1479"/>
                  <a:gd name="T9" fmla="*/ 0 h 2948"/>
                  <a:gd name="T10" fmla="*/ 0 w 1479"/>
                  <a:gd name="T11" fmla="*/ 0 h 2948"/>
                  <a:gd name="T12" fmla="*/ 0 w 1479"/>
                  <a:gd name="T13" fmla="*/ 0 h 2948"/>
                  <a:gd name="T14" fmla="*/ 0 w 1479"/>
                  <a:gd name="T15" fmla="*/ 0 h 2948"/>
                  <a:gd name="T16" fmla="*/ 0 w 1479"/>
                  <a:gd name="T17" fmla="*/ 0 h 2948"/>
                  <a:gd name="T18" fmla="*/ 0 w 1479"/>
                  <a:gd name="T19" fmla="*/ 0 h 2948"/>
                  <a:gd name="T20" fmla="*/ 0 w 1479"/>
                  <a:gd name="T21" fmla="*/ 0 h 2948"/>
                  <a:gd name="T22" fmla="*/ 0 w 1479"/>
                  <a:gd name="T23" fmla="*/ 0 h 2948"/>
                  <a:gd name="T24" fmla="*/ 0 w 1479"/>
                  <a:gd name="T25" fmla="*/ 0 h 2948"/>
                  <a:gd name="T26" fmla="*/ 0 w 1479"/>
                  <a:gd name="T27" fmla="*/ 0 h 2948"/>
                  <a:gd name="T28" fmla="*/ 0 w 1479"/>
                  <a:gd name="T29" fmla="*/ 0 h 2948"/>
                  <a:gd name="T30" fmla="*/ 0 w 1479"/>
                  <a:gd name="T31" fmla="*/ 0 h 2948"/>
                  <a:gd name="T32" fmla="*/ 0 w 1479"/>
                  <a:gd name="T33" fmla="*/ 0 h 2948"/>
                  <a:gd name="T34" fmla="*/ 0 w 1479"/>
                  <a:gd name="T35" fmla="*/ 0 h 2948"/>
                  <a:gd name="T36" fmla="*/ 0 w 1479"/>
                  <a:gd name="T37" fmla="*/ 0 h 2948"/>
                  <a:gd name="T38" fmla="*/ 0 w 1479"/>
                  <a:gd name="T39" fmla="*/ 0 h 2948"/>
                  <a:gd name="T40" fmla="*/ 0 w 1479"/>
                  <a:gd name="T41" fmla="*/ 0 h 2948"/>
                  <a:gd name="T42" fmla="*/ 0 w 1479"/>
                  <a:gd name="T43" fmla="*/ 0 h 2948"/>
                  <a:gd name="T44" fmla="*/ 0 w 1479"/>
                  <a:gd name="T45" fmla="*/ 0 h 2948"/>
                  <a:gd name="T46" fmla="*/ 0 w 1479"/>
                  <a:gd name="T47" fmla="*/ 0 h 2948"/>
                  <a:gd name="T48" fmla="*/ 0 w 1479"/>
                  <a:gd name="T49" fmla="*/ 0 h 2948"/>
                  <a:gd name="T50" fmla="*/ 0 w 1479"/>
                  <a:gd name="T51" fmla="*/ 0 h 2948"/>
                  <a:gd name="T52" fmla="*/ 0 w 1479"/>
                  <a:gd name="T53" fmla="*/ 0 h 2948"/>
                  <a:gd name="T54" fmla="*/ 0 w 1479"/>
                  <a:gd name="T55" fmla="*/ 0 h 2948"/>
                  <a:gd name="T56" fmla="*/ 0 w 1479"/>
                  <a:gd name="T57" fmla="*/ 0 h 2948"/>
                  <a:gd name="T58" fmla="*/ 0 w 1479"/>
                  <a:gd name="T59" fmla="*/ 0 h 2948"/>
                  <a:gd name="T60" fmla="*/ 0 w 1479"/>
                  <a:gd name="T61" fmla="*/ 0 h 2948"/>
                  <a:gd name="T62" fmla="*/ 0 w 1479"/>
                  <a:gd name="T63" fmla="*/ 0 h 2948"/>
                  <a:gd name="T64" fmla="*/ 0 w 1479"/>
                  <a:gd name="T65" fmla="*/ 0 h 2948"/>
                  <a:gd name="T66" fmla="*/ 0 w 1479"/>
                  <a:gd name="T67" fmla="*/ 0 h 2948"/>
                  <a:gd name="T68" fmla="*/ 0 w 1479"/>
                  <a:gd name="T69" fmla="*/ 0 h 2948"/>
                  <a:gd name="T70" fmla="*/ 0 w 1479"/>
                  <a:gd name="T71" fmla="*/ 0 h 2948"/>
                  <a:gd name="T72" fmla="*/ 0 w 1479"/>
                  <a:gd name="T73" fmla="*/ 0 h 2948"/>
                  <a:gd name="T74" fmla="*/ 0 w 1479"/>
                  <a:gd name="T75" fmla="*/ 0 h 2948"/>
                  <a:gd name="T76" fmla="*/ 0 w 1479"/>
                  <a:gd name="T77" fmla="*/ 0 h 2948"/>
                  <a:gd name="T78" fmla="*/ 0 w 1479"/>
                  <a:gd name="T79" fmla="*/ 0 h 2948"/>
                  <a:gd name="T80" fmla="*/ 0 w 1479"/>
                  <a:gd name="T81" fmla="*/ 0 h 2948"/>
                  <a:gd name="T82" fmla="*/ 0 w 1479"/>
                  <a:gd name="T83" fmla="*/ 0 h 2948"/>
                  <a:gd name="T84" fmla="*/ 0 w 1479"/>
                  <a:gd name="T85" fmla="*/ 0 h 2948"/>
                  <a:gd name="T86" fmla="*/ 0 w 1479"/>
                  <a:gd name="T87" fmla="*/ 0 h 2948"/>
                  <a:gd name="T88" fmla="*/ 0 w 1479"/>
                  <a:gd name="T89" fmla="*/ 0 h 2948"/>
                  <a:gd name="T90" fmla="*/ 0 w 1479"/>
                  <a:gd name="T91" fmla="*/ 0 h 2948"/>
                  <a:gd name="T92" fmla="*/ 0 w 1479"/>
                  <a:gd name="T93" fmla="*/ 0 h 2948"/>
                  <a:gd name="T94" fmla="*/ 0 w 1479"/>
                  <a:gd name="T95" fmla="*/ 0 h 2948"/>
                  <a:gd name="T96" fmla="*/ 0 w 1479"/>
                  <a:gd name="T97" fmla="*/ 0 h 2948"/>
                  <a:gd name="T98" fmla="*/ 0 w 1479"/>
                  <a:gd name="T99" fmla="*/ 0 h 2948"/>
                  <a:gd name="T100" fmla="*/ 0 w 1479"/>
                  <a:gd name="T101" fmla="*/ 0 h 2948"/>
                  <a:gd name="T102" fmla="*/ 0 w 1479"/>
                  <a:gd name="T103" fmla="*/ 0 h 2948"/>
                  <a:gd name="T104" fmla="*/ 0 w 1479"/>
                  <a:gd name="T105" fmla="*/ 0 h 2948"/>
                  <a:gd name="T106" fmla="*/ 0 w 1479"/>
                  <a:gd name="T107" fmla="*/ 0 h 2948"/>
                  <a:gd name="T108" fmla="*/ 0 w 1479"/>
                  <a:gd name="T109" fmla="*/ 0 h 2948"/>
                  <a:gd name="T110" fmla="*/ 0 w 1479"/>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9"/>
                  <a:gd name="T169" fmla="*/ 0 h 2948"/>
                  <a:gd name="T170" fmla="*/ 1479 w 1479"/>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9" h="2948">
                    <a:moveTo>
                      <a:pt x="1479" y="384"/>
                    </a:moveTo>
                    <a:lnTo>
                      <a:pt x="1476" y="353"/>
                    </a:lnTo>
                    <a:lnTo>
                      <a:pt x="1461" y="332"/>
                    </a:lnTo>
                    <a:lnTo>
                      <a:pt x="1438" y="306"/>
                    </a:lnTo>
                    <a:lnTo>
                      <a:pt x="1360" y="255"/>
                    </a:lnTo>
                    <a:lnTo>
                      <a:pt x="1008" y="61"/>
                    </a:lnTo>
                    <a:lnTo>
                      <a:pt x="958" y="38"/>
                    </a:lnTo>
                    <a:lnTo>
                      <a:pt x="926" y="23"/>
                    </a:lnTo>
                    <a:lnTo>
                      <a:pt x="886" y="10"/>
                    </a:lnTo>
                    <a:lnTo>
                      <a:pt x="861" y="3"/>
                    </a:lnTo>
                    <a:lnTo>
                      <a:pt x="825" y="0"/>
                    </a:lnTo>
                    <a:lnTo>
                      <a:pt x="792" y="3"/>
                    </a:lnTo>
                    <a:lnTo>
                      <a:pt x="767" y="6"/>
                    </a:lnTo>
                    <a:lnTo>
                      <a:pt x="730" y="16"/>
                    </a:lnTo>
                    <a:lnTo>
                      <a:pt x="695" y="32"/>
                    </a:lnTo>
                    <a:lnTo>
                      <a:pt x="663" y="54"/>
                    </a:lnTo>
                    <a:lnTo>
                      <a:pt x="630" y="74"/>
                    </a:lnTo>
                    <a:lnTo>
                      <a:pt x="598" y="95"/>
                    </a:lnTo>
                    <a:lnTo>
                      <a:pt x="562" y="121"/>
                    </a:lnTo>
                    <a:lnTo>
                      <a:pt x="528" y="154"/>
                    </a:lnTo>
                    <a:lnTo>
                      <a:pt x="509" y="175"/>
                    </a:lnTo>
                    <a:lnTo>
                      <a:pt x="492" y="201"/>
                    </a:lnTo>
                    <a:lnTo>
                      <a:pt x="481" y="238"/>
                    </a:lnTo>
                    <a:lnTo>
                      <a:pt x="10" y="2307"/>
                    </a:lnTo>
                    <a:lnTo>
                      <a:pt x="0" y="2349"/>
                    </a:lnTo>
                    <a:lnTo>
                      <a:pt x="0" y="2370"/>
                    </a:lnTo>
                    <a:lnTo>
                      <a:pt x="0" y="2396"/>
                    </a:lnTo>
                    <a:lnTo>
                      <a:pt x="1" y="2422"/>
                    </a:lnTo>
                    <a:lnTo>
                      <a:pt x="11" y="2466"/>
                    </a:lnTo>
                    <a:lnTo>
                      <a:pt x="19" y="2485"/>
                    </a:lnTo>
                    <a:lnTo>
                      <a:pt x="38" y="2518"/>
                    </a:lnTo>
                    <a:lnTo>
                      <a:pt x="51" y="2540"/>
                    </a:lnTo>
                    <a:lnTo>
                      <a:pt x="79" y="2571"/>
                    </a:lnTo>
                    <a:lnTo>
                      <a:pt x="111" y="2598"/>
                    </a:lnTo>
                    <a:lnTo>
                      <a:pt x="155" y="2627"/>
                    </a:lnTo>
                    <a:lnTo>
                      <a:pt x="190" y="2650"/>
                    </a:lnTo>
                    <a:lnTo>
                      <a:pt x="717" y="2948"/>
                    </a:lnTo>
                    <a:lnTo>
                      <a:pt x="708" y="2916"/>
                    </a:lnTo>
                    <a:lnTo>
                      <a:pt x="707" y="2885"/>
                    </a:lnTo>
                    <a:lnTo>
                      <a:pt x="712" y="2861"/>
                    </a:lnTo>
                    <a:lnTo>
                      <a:pt x="721" y="2833"/>
                    </a:lnTo>
                    <a:lnTo>
                      <a:pt x="735" y="2805"/>
                    </a:lnTo>
                    <a:lnTo>
                      <a:pt x="753" y="2783"/>
                    </a:lnTo>
                    <a:lnTo>
                      <a:pt x="778" y="2769"/>
                    </a:lnTo>
                    <a:lnTo>
                      <a:pt x="194" y="2433"/>
                    </a:lnTo>
                    <a:lnTo>
                      <a:pt x="175" y="2417"/>
                    </a:lnTo>
                    <a:lnTo>
                      <a:pt x="168" y="2407"/>
                    </a:lnTo>
                    <a:lnTo>
                      <a:pt x="162" y="2391"/>
                    </a:lnTo>
                    <a:lnTo>
                      <a:pt x="157" y="2359"/>
                    </a:lnTo>
                    <a:lnTo>
                      <a:pt x="157" y="2339"/>
                    </a:lnTo>
                    <a:lnTo>
                      <a:pt x="444" y="1110"/>
                    </a:lnTo>
                    <a:lnTo>
                      <a:pt x="473" y="1055"/>
                    </a:lnTo>
                    <a:lnTo>
                      <a:pt x="501" y="1024"/>
                    </a:lnTo>
                    <a:lnTo>
                      <a:pt x="547" y="976"/>
                    </a:lnTo>
                    <a:lnTo>
                      <a:pt x="583" y="941"/>
                    </a:lnTo>
                    <a:lnTo>
                      <a:pt x="1479" y="384"/>
                    </a:lnTo>
                    <a:close/>
                  </a:path>
                </a:pathLst>
              </a:custGeom>
              <a:solidFill>
                <a:srgbClr val="808080"/>
              </a:solidFill>
              <a:ln w="1588">
                <a:solidFill>
                  <a:srgbClr val="000000"/>
                </a:solidFill>
                <a:prstDash val="solid"/>
                <a:round/>
                <a:headEnd/>
                <a:tailEnd/>
              </a:ln>
            </p:spPr>
            <p:txBody>
              <a:bodyPr/>
              <a:lstStyle/>
              <a:p>
                <a:endParaRPr lang="en-US"/>
              </a:p>
            </p:txBody>
          </p:sp>
          <p:sp>
            <p:nvSpPr>
              <p:cNvPr id="619" name="Freeform 1893">
                <a:extLst>
                  <a:ext uri="{FF2B5EF4-FFF2-40B4-BE49-F238E27FC236}">
                    <a16:creationId xmlns:a16="http://schemas.microsoft.com/office/drawing/2014/main" id="{32CDFE92-2F49-4A1C-A8DF-D6D86658BAED}"/>
                  </a:ext>
                </a:extLst>
              </p:cNvPr>
              <p:cNvSpPr>
                <a:spLocks/>
              </p:cNvSpPr>
              <p:nvPr/>
            </p:nvSpPr>
            <p:spPr bwMode="auto">
              <a:xfrm>
                <a:off x="2166" y="3561"/>
                <a:ext cx="78" cy="109"/>
              </a:xfrm>
              <a:custGeom>
                <a:avLst/>
                <a:gdLst>
                  <a:gd name="T0" fmla="*/ 0 w 928"/>
                  <a:gd name="T1" fmla="*/ 0 h 1304"/>
                  <a:gd name="T2" fmla="*/ 0 w 928"/>
                  <a:gd name="T3" fmla="*/ 0 h 1304"/>
                  <a:gd name="T4" fmla="*/ 0 w 928"/>
                  <a:gd name="T5" fmla="*/ 0 h 1304"/>
                  <a:gd name="T6" fmla="*/ 0 w 928"/>
                  <a:gd name="T7" fmla="*/ 0 h 1304"/>
                  <a:gd name="T8" fmla="*/ 0 w 928"/>
                  <a:gd name="T9" fmla="*/ 0 h 1304"/>
                  <a:gd name="T10" fmla="*/ 0 w 928"/>
                  <a:gd name="T11" fmla="*/ 0 h 1304"/>
                  <a:gd name="T12" fmla="*/ 0 w 928"/>
                  <a:gd name="T13" fmla="*/ 0 h 1304"/>
                  <a:gd name="T14" fmla="*/ 0 w 928"/>
                  <a:gd name="T15" fmla="*/ 0 h 1304"/>
                  <a:gd name="T16" fmla="*/ 0 w 928"/>
                  <a:gd name="T17" fmla="*/ 0 h 1304"/>
                  <a:gd name="T18" fmla="*/ 0 w 928"/>
                  <a:gd name="T19" fmla="*/ 0 h 1304"/>
                  <a:gd name="T20" fmla="*/ 0 w 928"/>
                  <a:gd name="T21" fmla="*/ 0 h 1304"/>
                  <a:gd name="T22" fmla="*/ 0 w 928"/>
                  <a:gd name="T23" fmla="*/ 0 h 1304"/>
                  <a:gd name="T24" fmla="*/ 0 w 928"/>
                  <a:gd name="T25" fmla="*/ 0 h 1304"/>
                  <a:gd name="T26" fmla="*/ 0 w 928"/>
                  <a:gd name="T27" fmla="*/ 0 h 1304"/>
                  <a:gd name="T28" fmla="*/ 0 w 928"/>
                  <a:gd name="T29" fmla="*/ 0 h 1304"/>
                  <a:gd name="T30" fmla="*/ 0 w 928"/>
                  <a:gd name="T31" fmla="*/ 0 h 1304"/>
                  <a:gd name="T32" fmla="*/ 0 w 928"/>
                  <a:gd name="T33" fmla="*/ 0 h 1304"/>
                  <a:gd name="T34" fmla="*/ 0 w 928"/>
                  <a:gd name="T35" fmla="*/ 0 h 1304"/>
                  <a:gd name="T36" fmla="*/ 0 w 928"/>
                  <a:gd name="T37" fmla="*/ 0 h 1304"/>
                  <a:gd name="T38" fmla="*/ 0 w 928"/>
                  <a:gd name="T39" fmla="*/ 0 h 1304"/>
                  <a:gd name="T40" fmla="*/ 0 w 928"/>
                  <a:gd name="T41" fmla="*/ 0 h 1304"/>
                  <a:gd name="T42" fmla="*/ 0 w 928"/>
                  <a:gd name="T43" fmla="*/ 0 h 1304"/>
                  <a:gd name="T44" fmla="*/ 0 w 928"/>
                  <a:gd name="T45" fmla="*/ 0 h 1304"/>
                  <a:gd name="T46" fmla="*/ 0 w 928"/>
                  <a:gd name="T47" fmla="*/ 0 h 1304"/>
                  <a:gd name="T48" fmla="*/ 0 w 928"/>
                  <a:gd name="T49" fmla="*/ 0 h 1304"/>
                  <a:gd name="T50" fmla="*/ 0 w 928"/>
                  <a:gd name="T51" fmla="*/ 0 h 1304"/>
                  <a:gd name="T52" fmla="*/ 0 w 928"/>
                  <a:gd name="T53" fmla="*/ 0 h 1304"/>
                  <a:gd name="T54" fmla="*/ 0 w 928"/>
                  <a:gd name="T55" fmla="*/ 0 h 1304"/>
                  <a:gd name="T56" fmla="*/ 0 w 928"/>
                  <a:gd name="T57" fmla="*/ 0 h 1304"/>
                  <a:gd name="T58" fmla="*/ 0 w 928"/>
                  <a:gd name="T59" fmla="*/ 0 h 1304"/>
                  <a:gd name="T60" fmla="*/ 0 w 928"/>
                  <a:gd name="T61" fmla="*/ 0 h 1304"/>
                  <a:gd name="T62" fmla="*/ 0 w 928"/>
                  <a:gd name="T63" fmla="*/ 0 h 1304"/>
                  <a:gd name="T64" fmla="*/ 0 w 928"/>
                  <a:gd name="T65" fmla="*/ 0 h 1304"/>
                  <a:gd name="T66" fmla="*/ 0 w 928"/>
                  <a:gd name="T67" fmla="*/ 0 h 1304"/>
                  <a:gd name="T68" fmla="*/ 0 w 928"/>
                  <a:gd name="T69" fmla="*/ 0 h 1304"/>
                  <a:gd name="T70" fmla="*/ 0 w 928"/>
                  <a:gd name="T71" fmla="*/ 0 h 1304"/>
                  <a:gd name="T72" fmla="*/ 0 w 928"/>
                  <a:gd name="T73" fmla="*/ 0 h 1304"/>
                  <a:gd name="T74" fmla="*/ 0 w 928"/>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8"/>
                  <a:gd name="T115" fmla="*/ 0 h 1304"/>
                  <a:gd name="T116" fmla="*/ 928 w 928"/>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8" h="1304">
                    <a:moveTo>
                      <a:pt x="898" y="351"/>
                    </a:moveTo>
                    <a:lnTo>
                      <a:pt x="868" y="315"/>
                    </a:lnTo>
                    <a:lnTo>
                      <a:pt x="821" y="278"/>
                    </a:lnTo>
                    <a:lnTo>
                      <a:pt x="755" y="241"/>
                    </a:lnTo>
                    <a:lnTo>
                      <a:pt x="586" y="148"/>
                    </a:lnTo>
                    <a:lnTo>
                      <a:pt x="400" y="53"/>
                    </a:lnTo>
                    <a:lnTo>
                      <a:pt x="335" y="21"/>
                    </a:lnTo>
                    <a:lnTo>
                      <a:pt x="290" y="6"/>
                    </a:lnTo>
                    <a:lnTo>
                      <a:pt x="255" y="0"/>
                    </a:lnTo>
                    <a:lnTo>
                      <a:pt x="228" y="0"/>
                    </a:lnTo>
                    <a:lnTo>
                      <a:pt x="205" y="5"/>
                    </a:lnTo>
                    <a:lnTo>
                      <a:pt x="182" y="21"/>
                    </a:lnTo>
                    <a:lnTo>
                      <a:pt x="164" y="41"/>
                    </a:lnTo>
                    <a:lnTo>
                      <a:pt x="148" y="76"/>
                    </a:lnTo>
                    <a:lnTo>
                      <a:pt x="0" y="833"/>
                    </a:lnTo>
                    <a:lnTo>
                      <a:pt x="0" y="865"/>
                    </a:lnTo>
                    <a:lnTo>
                      <a:pt x="0" y="906"/>
                    </a:lnTo>
                    <a:lnTo>
                      <a:pt x="7" y="936"/>
                    </a:lnTo>
                    <a:lnTo>
                      <a:pt x="16" y="957"/>
                    </a:lnTo>
                    <a:lnTo>
                      <a:pt x="29" y="978"/>
                    </a:lnTo>
                    <a:lnTo>
                      <a:pt x="57" y="1004"/>
                    </a:lnTo>
                    <a:lnTo>
                      <a:pt x="85" y="1022"/>
                    </a:lnTo>
                    <a:lnTo>
                      <a:pt x="118" y="1041"/>
                    </a:lnTo>
                    <a:lnTo>
                      <a:pt x="558" y="1267"/>
                    </a:lnTo>
                    <a:lnTo>
                      <a:pt x="599" y="1285"/>
                    </a:lnTo>
                    <a:lnTo>
                      <a:pt x="636" y="1295"/>
                    </a:lnTo>
                    <a:lnTo>
                      <a:pt x="678" y="1304"/>
                    </a:lnTo>
                    <a:lnTo>
                      <a:pt x="706" y="1304"/>
                    </a:lnTo>
                    <a:lnTo>
                      <a:pt x="734" y="1295"/>
                    </a:lnTo>
                    <a:lnTo>
                      <a:pt x="755" y="1269"/>
                    </a:lnTo>
                    <a:lnTo>
                      <a:pt x="767" y="1222"/>
                    </a:lnTo>
                    <a:lnTo>
                      <a:pt x="784" y="1162"/>
                    </a:lnTo>
                    <a:lnTo>
                      <a:pt x="860" y="833"/>
                    </a:lnTo>
                    <a:lnTo>
                      <a:pt x="916" y="507"/>
                    </a:lnTo>
                    <a:lnTo>
                      <a:pt x="928" y="431"/>
                    </a:lnTo>
                    <a:lnTo>
                      <a:pt x="925" y="403"/>
                    </a:lnTo>
                    <a:lnTo>
                      <a:pt x="917" y="379"/>
                    </a:lnTo>
                    <a:lnTo>
                      <a:pt x="898" y="351"/>
                    </a:lnTo>
                    <a:close/>
                  </a:path>
                </a:pathLst>
              </a:custGeom>
              <a:solidFill>
                <a:srgbClr val="606060"/>
              </a:solidFill>
              <a:ln w="1588">
                <a:solidFill>
                  <a:srgbClr val="000000"/>
                </a:solidFill>
                <a:prstDash val="solid"/>
                <a:round/>
                <a:headEnd/>
                <a:tailEnd/>
              </a:ln>
            </p:spPr>
            <p:txBody>
              <a:bodyPr/>
              <a:lstStyle/>
              <a:p>
                <a:endParaRPr lang="en-US"/>
              </a:p>
            </p:txBody>
          </p:sp>
          <p:sp>
            <p:nvSpPr>
              <p:cNvPr id="620" name="Freeform 1894">
                <a:extLst>
                  <a:ext uri="{FF2B5EF4-FFF2-40B4-BE49-F238E27FC236}">
                    <a16:creationId xmlns:a16="http://schemas.microsoft.com/office/drawing/2014/main" id="{634927CF-A298-42BF-BC20-A0916A1F3EC5}"/>
                  </a:ext>
                </a:extLst>
              </p:cNvPr>
              <p:cNvSpPr>
                <a:spLocks/>
              </p:cNvSpPr>
              <p:nvPr/>
            </p:nvSpPr>
            <p:spPr bwMode="auto">
              <a:xfrm>
                <a:off x="2126" y="3634"/>
                <a:ext cx="101"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10" y="431"/>
                    </a:moveTo>
                    <a:lnTo>
                      <a:pt x="1215" y="426"/>
                    </a:lnTo>
                    <a:lnTo>
                      <a:pt x="1156" y="451"/>
                    </a:lnTo>
                    <a:lnTo>
                      <a:pt x="1119" y="467"/>
                    </a:lnTo>
                    <a:lnTo>
                      <a:pt x="1101" y="478"/>
                    </a:lnTo>
                    <a:lnTo>
                      <a:pt x="1073" y="511"/>
                    </a:lnTo>
                    <a:lnTo>
                      <a:pt x="1053" y="552"/>
                    </a:lnTo>
                    <a:lnTo>
                      <a:pt x="772" y="1702"/>
                    </a:lnTo>
                    <a:lnTo>
                      <a:pt x="0" y="1429"/>
                    </a:lnTo>
                    <a:lnTo>
                      <a:pt x="315" y="31"/>
                    </a:lnTo>
                    <a:lnTo>
                      <a:pt x="481" y="0"/>
                    </a:lnTo>
                    <a:lnTo>
                      <a:pt x="1210"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621" name="Group 1895">
                <a:extLst>
                  <a:ext uri="{FF2B5EF4-FFF2-40B4-BE49-F238E27FC236}">
                    <a16:creationId xmlns:a16="http://schemas.microsoft.com/office/drawing/2014/main" id="{F730AD33-1289-48F9-BEA2-4681C3B27187}"/>
                  </a:ext>
                </a:extLst>
              </p:cNvPr>
              <p:cNvGrpSpPr>
                <a:grpSpLocks/>
              </p:cNvGrpSpPr>
              <p:nvPr/>
            </p:nvGrpSpPr>
            <p:grpSpPr bwMode="auto">
              <a:xfrm>
                <a:off x="2183" y="3584"/>
                <a:ext cx="52" cy="60"/>
                <a:chOff x="2183" y="3584"/>
                <a:chExt cx="52" cy="60"/>
              </a:xfrm>
            </p:grpSpPr>
            <p:sp>
              <p:nvSpPr>
                <p:cNvPr id="641" name="Oval 1896">
                  <a:extLst>
                    <a:ext uri="{FF2B5EF4-FFF2-40B4-BE49-F238E27FC236}">
                      <a16:creationId xmlns:a16="http://schemas.microsoft.com/office/drawing/2014/main" id="{4D343FA5-0407-48E8-A3FF-106DD475964A}"/>
                    </a:ext>
                  </a:extLst>
                </p:cNvPr>
                <p:cNvSpPr>
                  <a:spLocks noChangeArrowheads="1"/>
                </p:cNvSpPr>
                <p:nvPr/>
              </p:nvSpPr>
              <p:spPr bwMode="auto">
                <a:xfrm>
                  <a:off x="2183" y="3584"/>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642" name="Group 1897">
                  <a:extLst>
                    <a:ext uri="{FF2B5EF4-FFF2-40B4-BE49-F238E27FC236}">
                      <a16:creationId xmlns:a16="http://schemas.microsoft.com/office/drawing/2014/main" id="{A9A45540-5266-4421-9723-8C834F1E4276}"/>
                    </a:ext>
                  </a:extLst>
                </p:cNvPr>
                <p:cNvGrpSpPr>
                  <a:grpSpLocks/>
                </p:cNvGrpSpPr>
                <p:nvPr/>
              </p:nvGrpSpPr>
              <p:grpSpPr bwMode="auto">
                <a:xfrm>
                  <a:off x="2196" y="3594"/>
                  <a:ext cx="28" cy="40"/>
                  <a:chOff x="2196" y="3594"/>
                  <a:chExt cx="28" cy="40"/>
                </a:xfrm>
              </p:grpSpPr>
              <p:sp>
                <p:nvSpPr>
                  <p:cNvPr id="643" name="Oval 1898">
                    <a:extLst>
                      <a:ext uri="{FF2B5EF4-FFF2-40B4-BE49-F238E27FC236}">
                        <a16:creationId xmlns:a16="http://schemas.microsoft.com/office/drawing/2014/main" id="{F4569488-F187-49A6-BB0B-B451F22A3882}"/>
                      </a:ext>
                    </a:extLst>
                  </p:cNvPr>
                  <p:cNvSpPr>
                    <a:spLocks noChangeArrowheads="1"/>
                  </p:cNvSpPr>
                  <p:nvPr/>
                </p:nvSpPr>
                <p:spPr bwMode="auto">
                  <a:xfrm>
                    <a:off x="2208" y="361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44" name="Oval 1899">
                    <a:extLst>
                      <a:ext uri="{FF2B5EF4-FFF2-40B4-BE49-F238E27FC236}">
                        <a16:creationId xmlns:a16="http://schemas.microsoft.com/office/drawing/2014/main" id="{864DD514-B070-4F81-8584-A830F73CB5DA}"/>
                      </a:ext>
                    </a:extLst>
                  </p:cNvPr>
                  <p:cNvSpPr>
                    <a:spLocks noChangeArrowheads="1"/>
                  </p:cNvSpPr>
                  <p:nvPr/>
                </p:nvSpPr>
                <p:spPr bwMode="auto">
                  <a:xfrm>
                    <a:off x="2219" y="361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45" name="Oval 1900">
                    <a:extLst>
                      <a:ext uri="{FF2B5EF4-FFF2-40B4-BE49-F238E27FC236}">
                        <a16:creationId xmlns:a16="http://schemas.microsoft.com/office/drawing/2014/main" id="{C5A856AB-4EFD-4B80-839B-64BEAA1E5833}"/>
                      </a:ext>
                    </a:extLst>
                  </p:cNvPr>
                  <p:cNvSpPr>
                    <a:spLocks noChangeArrowheads="1"/>
                  </p:cNvSpPr>
                  <p:nvPr/>
                </p:nvSpPr>
                <p:spPr bwMode="auto">
                  <a:xfrm>
                    <a:off x="2196" y="362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46" name="Oval 1901">
                    <a:extLst>
                      <a:ext uri="{FF2B5EF4-FFF2-40B4-BE49-F238E27FC236}">
                        <a16:creationId xmlns:a16="http://schemas.microsoft.com/office/drawing/2014/main" id="{265CE0F9-4D4F-4AFD-9B7F-13C5A99770BE}"/>
                      </a:ext>
                    </a:extLst>
                  </p:cNvPr>
                  <p:cNvSpPr>
                    <a:spLocks noChangeArrowheads="1"/>
                  </p:cNvSpPr>
                  <p:nvPr/>
                </p:nvSpPr>
                <p:spPr bwMode="auto">
                  <a:xfrm>
                    <a:off x="2205" y="362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47" name="Oval 1902">
                    <a:extLst>
                      <a:ext uri="{FF2B5EF4-FFF2-40B4-BE49-F238E27FC236}">
                        <a16:creationId xmlns:a16="http://schemas.microsoft.com/office/drawing/2014/main" id="{F6D20C9E-EFD2-43D2-9B5A-3EBA169E30C0}"/>
                      </a:ext>
                    </a:extLst>
                  </p:cNvPr>
                  <p:cNvSpPr>
                    <a:spLocks noChangeArrowheads="1"/>
                  </p:cNvSpPr>
                  <p:nvPr/>
                </p:nvSpPr>
                <p:spPr bwMode="auto">
                  <a:xfrm>
                    <a:off x="2215" y="3630"/>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48" name="Oval 1903">
                    <a:extLst>
                      <a:ext uri="{FF2B5EF4-FFF2-40B4-BE49-F238E27FC236}">
                        <a16:creationId xmlns:a16="http://schemas.microsoft.com/office/drawing/2014/main" id="{3E6809BC-F461-4D70-9B32-CA204ECD2EEE}"/>
                      </a:ext>
                    </a:extLst>
                  </p:cNvPr>
                  <p:cNvSpPr>
                    <a:spLocks noChangeArrowheads="1"/>
                  </p:cNvSpPr>
                  <p:nvPr/>
                </p:nvSpPr>
                <p:spPr bwMode="auto">
                  <a:xfrm>
                    <a:off x="2202" y="361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49" name="Oval 1904">
                    <a:extLst>
                      <a:ext uri="{FF2B5EF4-FFF2-40B4-BE49-F238E27FC236}">
                        <a16:creationId xmlns:a16="http://schemas.microsoft.com/office/drawing/2014/main" id="{A73CFCCD-3E7D-4829-9EE7-0A71292F097B}"/>
                      </a:ext>
                    </a:extLst>
                  </p:cNvPr>
                  <p:cNvSpPr>
                    <a:spLocks noChangeArrowheads="1"/>
                  </p:cNvSpPr>
                  <p:nvPr/>
                </p:nvSpPr>
                <p:spPr bwMode="auto">
                  <a:xfrm>
                    <a:off x="2211" y="3621"/>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50" name="Oval 1905">
                    <a:extLst>
                      <a:ext uri="{FF2B5EF4-FFF2-40B4-BE49-F238E27FC236}">
                        <a16:creationId xmlns:a16="http://schemas.microsoft.com/office/drawing/2014/main" id="{E63D1795-2BF9-41FC-9FA5-35B83D8C00D7}"/>
                      </a:ext>
                    </a:extLst>
                  </p:cNvPr>
                  <p:cNvSpPr>
                    <a:spLocks noChangeArrowheads="1"/>
                  </p:cNvSpPr>
                  <p:nvPr/>
                </p:nvSpPr>
                <p:spPr bwMode="auto">
                  <a:xfrm>
                    <a:off x="2201" y="359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51" name="Oval 1906">
                    <a:extLst>
                      <a:ext uri="{FF2B5EF4-FFF2-40B4-BE49-F238E27FC236}">
                        <a16:creationId xmlns:a16="http://schemas.microsoft.com/office/drawing/2014/main" id="{FFB4E705-B72E-4447-9960-A2CC8DE5A6FF}"/>
                      </a:ext>
                    </a:extLst>
                  </p:cNvPr>
                  <p:cNvSpPr>
                    <a:spLocks noChangeArrowheads="1"/>
                  </p:cNvSpPr>
                  <p:nvPr/>
                </p:nvSpPr>
                <p:spPr bwMode="auto">
                  <a:xfrm>
                    <a:off x="2211" y="359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52" name="Oval 1907">
                    <a:extLst>
                      <a:ext uri="{FF2B5EF4-FFF2-40B4-BE49-F238E27FC236}">
                        <a16:creationId xmlns:a16="http://schemas.microsoft.com/office/drawing/2014/main" id="{533E5F83-18F2-4F53-A614-FD0DC364B597}"/>
                      </a:ext>
                    </a:extLst>
                  </p:cNvPr>
                  <p:cNvSpPr>
                    <a:spLocks noChangeArrowheads="1"/>
                  </p:cNvSpPr>
                  <p:nvPr/>
                </p:nvSpPr>
                <p:spPr bwMode="auto">
                  <a:xfrm>
                    <a:off x="2221" y="360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53" name="Oval 1908">
                    <a:extLst>
                      <a:ext uri="{FF2B5EF4-FFF2-40B4-BE49-F238E27FC236}">
                        <a16:creationId xmlns:a16="http://schemas.microsoft.com/office/drawing/2014/main" id="{53735A92-7C9C-4FA2-882C-9EAF5074611B}"/>
                      </a:ext>
                    </a:extLst>
                  </p:cNvPr>
                  <p:cNvSpPr>
                    <a:spLocks noChangeArrowheads="1"/>
                  </p:cNvSpPr>
                  <p:nvPr/>
                </p:nvSpPr>
                <p:spPr bwMode="auto">
                  <a:xfrm>
                    <a:off x="2198" y="360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54" name="Oval 1909">
                    <a:extLst>
                      <a:ext uri="{FF2B5EF4-FFF2-40B4-BE49-F238E27FC236}">
                        <a16:creationId xmlns:a16="http://schemas.microsoft.com/office/drawing/2014/main" id="{1B60C4AC-61F9-4733-888D-D8ACFCA6D1C0}"/>
                      </a:ext>
                    </a:extLst>
                  </p:cNvPr>
                  <p:cNvSpPr>
                    <a:spLocks noChangeArrowheads="1"/>
                  </p:cNvSpPr>
                  <p:nvPr/>
                </p:nvSpPr>
                <p:spPr bwMode="auto">
                  <a:xfrm>
                    <a:off x="2204" y="360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55" name="Oval 1910">
                    <a:extLst>
                      <a:ext uri="{FF2B5EF4-FFF2-40B4-BE49-F238E27FC236}">
                        <a16:creationId xmlns:a16="http://schemas.microsoft.com/office/drawing/2014/main" id="{1E86A850-F795-42F9-9805-98F04043FB09}"/>
                      </a:ext>
                    </a:extLst>
                  </p:cNvPr>
                  <p:cNvSpPr>
                    <a:spLocks noChangeArrowheads="1"/>
                  </p:cNvSpPr>
                  <p:nvPr/>
                </p:nvSpPr>
                <p:spPr bwMode="auto">
                  <a:xfrm>
                    <a:off x="2215" y="360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622" name="Group 1911">
                <a:extLst>
                  <a:ext uri="{FF2B5EF4-FFF2-40B4-BE49-F238E27FC236}">
                    <a16:creationId xmlns:a16="http://schemas.microsoft.com/office/drawing/2014/main" id="{D1406FB4-E89D-45BC-8A64-0A4B9C705732}"/>
                  </a:ext>
                </a:extLst>
              </p:cNvPr>
              <p:cNvGrpSpPr>
                <a:grpSpLocks/>
              </p:cNvGrpSpPr>
              <p:nvPr/>
            </p:nvGrpSpPr>
            <p:grpSpPr bwMode="auto">
              <a:xfrm>
                <a:off x="2142" y="3655"/>
                <a:ext cx="68" cy="111"/>
                <a:chOff x="2142" y="3655"/>
                <a:chExt cx="68" cy="111"/>
              </a:xfrm>
            </p:grpSpPr>
            <p:sp>
              <p:nvSpPr>
                <p:cNvPr id="623" name="Oval 1912">
                  <a:extLst>
                    <a:ext uri="{FF2B5EF4-FFF2-40B4-BE49-F238E27FC236}">
                      <a16:creationId xmlns:a16="http://schemas.microsoft.com/office/drawing/2014/main" id="{778F07D4-D7D0-45EC-B11F-89CFC6F9FD84}"/>
                    </a:ext>
                  </a:extLst>
                </p:cNvPr>
                <p:cNvSpPr>
                  <a:spLocks noChangeArrowheads="1"/>
                </p:cNvSpPr>
                <p:nvPr/>
              </p:nvSpPr>
              <p:spPr bwMode="auto">
                <a:xfrm>
                  <a:off x="2176" y="375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24" name="Oval 1913">
                  <a:extLst>
                    <a:ext uri="{FF2B5EF4-FFF2-40B4-BE49-F238E27FC236}">
                      <a16:creationId xmlns:a16="http://schemas.microsoft.com/office/drawing/2014/main" id="{CD388998-72DA-49DA-A53D-390774F005F3}"/>
                    </a:ext>
                  </a:extLst>
                </p:cNvPr>
                <p:cNvSpPr>
                  <a:spLocks noChangeArrowheads="1"/>
                </p:cNvSpPr>
                <p:nvPr/>
              </p:nvSpPr>
              <p:spPr bwMode="auto">
                <a:xfrm>
                  <a:off x="2163" y="365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25" name="Oval 1914">
                  <a:extLst>
                    <a:ext uri="{FF2B5EF4-FFF2-40B4-BE49-F238E27FC236}">
                      <a16:creationId xmlns:a16="http://schemas.microsoft.com/office/drawing/2014/main" id="{1E9E0AB1-E1FC-483B-9D23-4FC4BE00E71C}"/>
                    </a:ext>
                  </a:extLst>
                </p:cNvPr>
                <p:cNvSpPr>
                  <a:spLocks noChangeArrowheads="1"/>
                </p:cNvSpPr>
                <p:nvPr/>
              </p:nvSpPr>
              <p:spPr bwMode="auto">
                <a:xfrm>
                  <a:off x="2180" y="3663"/>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26" name="Oval 1915">
                  <a:extLst>
                    <a:ext uri="{FF2B5EF4-FFF2-40B4-BE49-F238E27FC236}">
                      <a16:creationId xmlns:a16="http://schemas.microsoft.com/office/drawing/2014/main" id="{A98F9CAC-B44A-4096-BFEF-5023127B06F4}"/>
                    </a:ext>
                  </a:extLst>
                </p:cNvPr>
                <p:cNvSpPr>
                  <a:spLocks noChangeArrowheads="1"/>
                </p:cNvSpPr>
                <p:nvPr/>
              </p:nvSpPr>
              <p:spPr bwMode="auto">
                <a:xfrm>
                  <a:off x="2196" y="367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27" name="Oval 1916">
                  <a:extLst>
                    <a:ext uri="{FF2B5EF4-FFF2-40B4-BE49-F238E27FC236}">
                      <a16:creationId xmlns:a16="http://schemas.microsoft.com/office/drawing/2014/main" id="{1D9BB557-98CC-4084-956B-4D828AFD3CF9}"/>
                    </a:ext>
                  </a:extLst>
                </p:cNvPr>
                <p:cNvSpPr>
                  <a:spLocks noChangeArrowheads="1"/>
                </p:cNvSpPr>
                <p:nvPr/>
              </p:nvSpPr>
              <p:spPr bwMode="auto">
                <a:xfrm>
                  <a:off x="2158" y="3672"/>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28" name="Oval 1917">
                  <a:extLst>
                    <a:ext uri="{FF2B5EF4-FFF2-40B4-BE49-F238E27FC236}">
                      <a16:creationId xmlns:a16="http://schemas.microsoft.com/office/drawing/2014/main" id="{0487FAAB-3803-4B21-A899-2D078FD68536}"/>
                    </a:ext>
                  </a:extLst>
                </p:cNvPr>
                <p:cNvSpPr>
                  <a:spLocks noChangeArrowheads="1"/>
                </p:cNvSpPr>
                <p:nvPr/>
              </p:nvSpPr>
              <p:spPr bwMode="auto">
                <a:xfrm>
                  <a:off x="2176" y="3679"/>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29" name="Oval 1918">
                  <a:extLst>
                    <a:ext uri="{FF2B5EF4-FFF2-40B4-BE49-F238E27FC236}">
                      <a16:creationId xmlns:a16="http://schemas.microsoft.com/office/drawing/2014/main" id="{9731E167-9AA7-4557-8361-FE15A1BE92EA}"/>
                    </a:ext>
                  </a:extLst>
                </p:cNvPr>
                <p:cNvSpPr>
                  <a:spLocks noChangeArrowheads="1"/>
                </p:cNvSpPr>
                <p:nvPr/>
              </p:nvSpPr>
              <p:spPr bwMode="auto">
                <a:xfrm>
                  <a:off x="2192" y="368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0" name="Oval 1919">
                  <a:extLst>
                    <a:ext uri="{FF2B5EF4-FFF2-40B4-BE49-F238E27FC236}">
                      <a16:creationId xmlns:a16="http://schemas.microsoft.com/office/drawing/2014/main" id="{A9E30445-0279-4C18-84A0-E548C3C5C7F8}"/>
                    </a:ext>
                  </a:extLst>
                </p:cNvPr>
                <p:cNvSpPr>
                  <a:spLocks noChangeArrowheads="1"/>
                </p:cNvSpPr>
                <p:nvPr/>
              </p:nvSpPr>
              <p:spPr bwMode="auto">
                <a:xfrm>
                  <a:off x="2154" y="3688"/>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1" name="Oval 1920">
                  <a:extLst>
                    <a:ext uri="{FF2B5EF4-FFF2-40B4-BE49-F238E27FC236}">
                      <a16:creationId xmlns:a16="http://schemas.microsoft.com/office/drawing/2014/main" id="{FCA18747-4DEA-42ED-B580-E777F6336171}"/>
                    </a:ext>
                  </a:extLst>
                </p:cNvPr>
                <p:cNvSpPr>
                  <a:spLocks noChangeArrowheads="1"/>
                </p:cNvSpPr>
                <p:nvPr/>
              </p:nvSpPr>
              <p:spPr bwMode="auto">
                <a:xfrm>
                  <a:off x="2171" y="369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2" name="Oval 1921">
                  <a:extLst>
                    <a:ext uri="{FF2B5EF4-FFF2-40B4-BE49-F238E27FC236}">
                      <a16:creationId xmlns:a16="http://schemas.microsoft.com/office/drawing/2014/main" id="{94E9CAAC-1A64-498B-A9DB-7E8A97064807}"/>
                    </a:ext>
                  </a:extLst>
                </p:cNvPr>
                <p:cNvSpPr>
                  <a:spLocks noChangeArrowheads="1"/>
                </p:cNvSpPr>
                <p:nvPr/>
              </p:nvSpPr>
              <p:spPr bwMode="auto">
                <a:xfrm>
                  <a:off x="2188" y="370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3" name="Oval 1922">
                  <a:extLst>
                    <a:ext uri="{FF2B5EF4-FFF2-40B4-BE49-F238E27FC236}">
                      <a16:creationId xmlns:a16="http://schemas.microsoft.com/office/drawing/2014/main" id="{5C3F44DA-C888-4BB8-8CDD-09A60D055B70}"/>
                    </a:ext>
                  </a:extLst>
                </p:cNvPr>
                <p:cNvSpPr>
                  <a:spLocks noChangeArrowheads="1"/>
                </p:cNvSpPr>
                <p:nvPr/>
              </p:nvSpPr>
              <p:spPr bwMode="auto">
                <a:xfrm>
                  <a:off x="2150" y="370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4" name="Oval 1923">
                  <a:extLst>
                    <a:ext uri="{FF2B5EF4-FFF2-40B4-BE49-F238E27FC236}">
                      <a16:creationId xmlns:a16="http://schemas.microsoft.com/office/drawing/2014/main" id="{08D66E02-41B8-4871-BF87-7373E505BAFA}"/>
                    </a:ext>
                  </a:extLst>
                </p:cNvPr>
                <p:cNvSpPr>
                  <a:spLocks noChangeArrowheads="1"/>
                </p:cNvSpPr>
                <p:nvPr/>
              </p:nvSpPr>
              <p:spPr bwMode="auto">
                <a:xfrm>
                  <a:off x="2167" y="371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5" name="Oval 1924">
                  <a:extLst>
                    <a:ext uri="{FF2B5EF4-FFF2-40B4-BE49-F238E27FC236}">
                      <a16:creationId xmlns:a16="http://schemas.microsoft.com/office/drawing/2014/main" id="{D4E2E741-1BB7-43CB-B2FE-03175E99984F}"/>
                    </a:ext>
                  </a:extLst>
                </p:cNvPr>
                <p:cNvSpPr>
                  <a:spLocks noChangeArrowheads="1"/>
                </p:cNvSpPr>
                <p:nvPr/>
              </p:nvSpPr>
              <p:spPr bwMode="auto">
                <a:xfrm>
                  <a:off x="2184" y="371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6" name="Oval 1925">
                  <a:extLst>
                    <a:ext uri="{FF2B5EF4-FFF2-40B4-BE49-F238E27FC236}">
                      <a16:creationId xmlns:a16="http://schemas.microsoft.com/office/drawing/2014/main" id="{AF4D5607-3D37-4CB0-BFF9-D9B0B876AA82}"/>
                    </a:ext>
                  </a:extLst>
                </p:cNvPr>
                <p:cNvSpPr>
                  <a:spLocks noChangeArrowheads="1"/>
                </p:cNvSpPr>
                <p:nvPr/>
              </p:nvSpPr>
              <p:spPr bwMode="auto">
                <a:xfrm>
                  <a:off x="2146" y="372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7" name="Oval 1926">
                  <a:extLst>
                    <a:ext uri="{FF2B5EF4-FFF2-40B4-BE49-F238E27FC236}">
                      <a16:creationId xmlns:a16="http://schemas.microsoft.com/office/drawing/2014/main" id="{CBC9CFE6-9710-40D9-89E8-399FEE801349}"/>
                    </a:ext>
                  </a:extLst>
                </p:cNvPr>
                <p:cNvSpPr>
                  <a:spLocks noChangeArrowheads="1"/>
                </p:cNvSpPr>
                <p:nvPr/>
              </p:nvSpPr>
              <p:spPr bwMode="auto">
                <a:xfrm>
                  <a:off x="2163" y="372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8" name="Oval 1927">
                  <a:extLst>
                    <a:ext uri="{FF2B5EF4-FFF2-40B4-BE49-F238E27FC236}">
                      <a16:creationId xmlns:a16="http://schemas.microsoft.com/office/drawing/2014/main" id="{44D4DDB7-D81D-4244-96CF-73D3CCE88B7B}"/>
                    </a:ext>
                  </a:extLst>
                </p:cNvPr>
                <p:cNvSpPr>
                  <a:spLocks noChangeArrowheads="1"/>
                </p:cNvSpPr>
                <p:nvPr/>
              </p:nvSpPr>
              <p:spPr bwMode="auto">
                <a:xfrm>
                  <a:off x="2180" y="373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39" name="Oval 1928">
                  <a:extLst>
                    <a:ext uri="{FF2B5EF4-FFF2-40B4-BE49-F238E27FC236}">
                      <a16:creationId xmlns:a16="http://schemas.microsoft.com/office/drawing/2014/main" id="{D5BF2FB0-288B-4EA7-9748-4FD01DFD0020}"/>
                    </a:ext>
                  </a:extLst>
                </p:cNvPr>
                <p:cNvSpPr>
                  <a:spLocks noChangeArrowheads="1"/>
                </p:cNvSpPr>
                <p:nvPr/>
              </p:nvSpPr>
              <p:spPr bwMode="auto">
                <a:xfrm>
                  <a:off x="2142" y="3736"/>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40" name="Oval 1929">
                  <a:extLst>
                    <a:ext uri="{FF2B5EF4-FFF2-40B4-BE49-F238E27FC236}">
                      <a16:creationId xmlns:a16="http://schemas.microsoft.com/office/drawing/2014/main" id="{72E25AC1-7E90-492B-861C-5DDB0DB79D82}"/>
                    </a:ext>
                  </a:extLst>
                </p:cNvPr>
                <p:cNvSpPr>
                  <a:spLocks noChangeArrowheads="1"/>
                </p:cNvSpPr>
                <p:nvPr/>
              </p:nvSpPr>
              <p:spPr bwMode="auto">
                <a:xfrm>
                  <a:off x="2160" y="374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605" name="Group 1930">
              <a:extLst>
                <a:ext uri="{FF2B5EF4-FFF2-40B4-BE49-F238E27FC236}">
                  <a16:creationId xmlns:a16="http://schemas.microsoft.com/office/drawing/2014/main" id="{BE625566-096C-449A-ACB3-0DEB79485C07}"/>
                </a:ext>
              </a:extLst>
            </p:cNvPr>
            <p:cNvGrpSpPr>
              <a:grpSpLocks/>
            </p:cNvGrpSpPr>
            <p:nvPr/>
          </p:nvGrpSpPr>
          <p:grpSpPr bwMode="auto">
            <a:xfrm>
              <a:off x="2075" y="3614"/>
              <a:ext cx="81" cy="92"/>
              <a:chOff x="2075" y="3614"/>
              <a:chExt cx="81" cy="92"/>
            </a:xfrm>
          </p:grpSpPr>
          <p:grpSp>
            <p:nvGrpSpPr>
              <p:cNvPr id="606" name="Group 1931">
                <a:extLst>
                  <a:ext uri="{FF2B5EF4-FFF2-40B4-BE49-F238E27FC236}">
                    <a16:creationId xmlns:a16="http://schemas.microsoft.com/office/drawing/2014/main" id="{39F50C0A-D39C-47A2-8714-7F5C9A338418}"/>
                  </a:ext>
                </a:extLst>
              </p:cNvPr>
              <p:cNvGrpSpPr>
                <a:grpSpLocks/>
              </p:cNvGrpSpPr>
              <p:nvPr/>
            </p:nvGrpSpPr>
            <p:grpSpPr bwMode="auto">
              <a:xfrm>
                <a:off x="2101" y="3643"/>
                <a:ext cx="39" cy="42"/>
                <a:chOff x="2101" y="3643"/>
                <a:chExt cx="39" cy="42"/>
              </a:xfrm>
            </p:grpSpPr>
            <p:sp>
              <p:nvSpPr>
                <p:cNvPr id="614" name="Freeform 1932">
                  <a:extLst>
                    <a:ext uri="{FF2B5EF4-FFF2-40B4-BE49-F238E27FC236}">
                      <a16:creationId xmlns:a16="http://schemas.microsoft.com/office/drawing/2014/main" id="{F2BE229D-BD25-4C44-9D5D-61784D54878D}"/>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5" name="Freeform 1933">
                  <a:extLst>
                    <a:ext uri="{FF2B5EF4-FFF2-40B4-BE49-F238E27FC236}">
                      <a16:creationId xmlns:a16="http://schemas.microsoft.com/office/drawing/2014/main" id="{63D7BBB1-C1CF-45C8-B2B8-B880BBF14CE0}"/>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07" name="Group 1934">
                <a:extLst>
                  <a:ext uri="{FF2B5EF4-FFF2-40B4-BE49-F238E27FC236}">
                    <a16:creationId xmlns:a16="http://schemas.microsoft.com/office/drawing/2014/main" id="{107D05F5-F583-4E92-B575-673CF2938FA1}"/>
                  </a:ext>
                </a:extLst>
              </p:cNvPr>
              <p:cNvGrpSpPr>
                <a:grpSpLocks/>
              </p:cNvGrpSpPr>
              <p:nvPr/>
            </p:nvGrpSpPr>
            <p:grpSpPr bwMode="auto">
              <a:xfrm>
                <a:off x="2121" y="3625"/>
                <a:ext cx="30" cy="32"/>
                <a:chOff x="2121" y="3625"/>
                <a:chExt cx="30" cy="32"/>
              </a:xfrm>
            </p:grpSpPr>
            <p:sp>
              <p:nvSpPr>
                <p:cNvPr id="612" name="Freeform 1935">
                  <a:extLst>
                    <a:ext uri="{FF2B5EF4-FFF2-40B4-BE49-F238E27FC236}">
                      <a16:creationId xmlns:a16="http://schemas.microsoft.com/office/drawing/2014/main" id="{90A33406-340E-4C58-B488-E49450C62F54}"/>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w 351"/>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1"/>
                    <a:gd name="T76" fmla="*/ 0 h 390"/>
                    <a:gd name="T77" fmla="*/ 351 w 351"/>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3" name="Freeform 1936">
                  <a:extLst>
                    <a:ext uri="{FF2B5EF4-FFF2-40B4-BE49-F238E27FC236}">
                      <a16:creationId xmlns:a16="http://schemas.microsoft.com/office/drawing/2014/main" id="{A80AF587-54CE-419F-956E-5CEDED54BF8E}"/>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1"/>
                    <a:gd name="T73" fmla="*/ 0 h 390"/>
                    <a:gd name="T74" fmla="*/ 351 w 351"/>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08" name="Group 1937">
                <a:extLst>
                  <a:ext uri="{FF2B5EF4-FFF2-40B4-BE49-F238E27FC236}">
                    <a16:creationId xmlns:a16="http://schemas.microsoft.com/office/drawing/2014/main" id="{031DAF2E-419C-44B4-BF0B-152D244C5B78}"/>
                  </a:ext>
                </a:extLst>
              </p:cNvPr>
              <p:cNvGrpSpPr>
                <a:grpSpLocks/>
              </p:cNvGrpSpPr>
              <p:nvPr/>
            </p:nvGrpSpPr>
            <p:grpSpPr bwMode="auto">
              <a:xfrm>
                <a:off x="2075" y="3670"/>
                <a:ext cx="62" cy="36"/>
                <a:chOff x="2075" y="3670"/>
                <a:chExt cx="62" cy="36"/>
              </a:xfrm>
            </p:grpSpPr>
            <p:sp>
              <p:nvSpPr>
                <p:cNvPr id="610" name="Freeform 1938">
                  <a:extLst>
                    <a:ext uri="{FF2B5EF4-FFF2-40B4-BE49-F238E27FC236}">
                      <a16:creationId xmlns:a16="http://schemas.microsoft.com/office/drawing/2014/main" id="{CAADC129-2757-4EE2-A097-2EC575374286}"/>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 name="Freeform 1939">
                  <a:extLst>
                    <a:ext uri="{FF2B5EF4-FFF2-40B4-BE49-F238E27FC236}">
                      <a16:creationId xmlns:a16="http://schemas.microsoft.com/office/drawing/2014/main" id="{3AF92B40-0A2F-4BCA-A208-5127316627B7}"/>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09" name="Freeform 1940">
                <a:extLst>
                  <a:ext uri="{FF2B5EF4-FFF2-40B4-BE49-F238E27FC236}">
                    <a16:creationId xmlns:a16="http://schemas.microsoft.com/office/drawing/2014/main" id="{B74C7835-5422-4348-A884-E7E4ABFF0998}"/>
                  </a:ext>
                </a:extLst>
              </p:cNvPr>
              <p:cNvSpPr>
                <a:spLocks/>
              </p:cNvSpPr>
              <p:nvPr/>
            </p:nvSpPr>
            <p:spPr bwMode="auto">
              <a:xfrm>
                <a:off x="2121" y="3614"/>
                <a:ext cx="35"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49" y="4"/>
                    </a:lnTo>
                    <a:lnTo>
                      <a:pt x="292" y="6"/>
                    </a:lnTo>
                    <a:lnTo>
                      <a:pt x="340" y="10"/>
                    </a:lnTo>
                    <a:lnTo>
                      <a:pt x="372" y="20"/>
                    </a:lnTo>
                    <a:lnTo>
                      <a:pt x="386" y="35"/>
                    </a:lnTo>
                    <a:lnTo>
                      <a:pt x="399" y="57"/>
                    </a:lnTo>
                    <a:lnTo>
                      <a:pt x="407" y="83"/>
                    </a:lnTo>
                    <a:lnTo>
                      <a:pt x="411" y="116"/>
                    </a:lnTo>
                    <a:lnTo>
                      <a:pt x="414" y="154"/>
                    </a:lnTo>
                    <a:lnTo>
                      <a:pt x="407" y="191"/>
                    </a:lnTo>
                    <a:lnTo>
                      <a:pt x="394" y="221"/>
                    </a:lnTo>
                    <a:lnTo>
                      <a:pt x="375" y="240"/>
                    </a:lnTo>
                    <a:lnTo>
                      <a:pt x="356" y="252"/>
                    </a:lnTo>
                    <a:lnTo>
                      <a:pt x="327" y="260"/>
                    </a:lnTo>
                    <a:lnTo>
                      <a:pt x="299" y="262"/>
                    </a:lnTo>
                    <a:lnTo>
                      <a:pt x="272" y="260"/>
                    </a:lnTo>
                    <a:lnTo>
                      <a:pt x="243" y="233"/>
                    </a:lnTo>
                    <a:lnTo>
                      <a:pt x="224" y="210"/>
                    </a:lnTo>
                    <a:lnTo>
                      <a:pt x="195" y="189"/>
                    </a:lnTo>
                    <a:lnTo>
                      <a:pt x="167" y="172"/>
                    </a:lnTo>
                    <a:lnTo>
                      <a:pt x="135" y="153"/>
                    </a:lnTo>
                    <a:lnTo>
                      <a:pt x="105" y="141"/>
                    </a:lnTo>
                    <a:lnTo>
                      <a:pt x="80" y="134"/>
                    </a:lnTo>
                    <a:lnTo>
                      <a:pt x="56"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sp>
        <p:nvSpPr>
          <p:cNvPr id="666" name="Rectangle 1942">
            <a:extLst>
              <a:ext uri="{FF2B5EF4-FFF2-40B4-BE49-F238E27FC236}">
                <a16:creationId xmlns:a16="http://schemas.microsoft.com/office/drawing/2014/main" id="{570D3CF3-035E-4DCC-B8ED-7E4A55250D3E}"/>
              </a:ext>
            </a:extLst>
          </p:cNvPr>
          <p:cNvSpPr>
            <a:spLocks noChangeArrowheads="1"/>
          </p:cNvSpPr>
          <p:nvPr/>
        </p:nvSpPr>
        <p:spPr bwMode="auto">
          <a:xfrm>
            <a:off x="6853239" y="3783014"/>
            <a:ext cx="306387" cy="439737"/>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667" name="Group 1943">
            <a:extLst>
              <a:ext uri="{FF2B5EF4-FFF2-40B4-BE49-F238E27FC236}">
                <a16:creationId xmlns:a16="http://schemas.microsoft.com/office/drawing/2014/main" id="{67B88112-2AC2-4D9E-B724-67DC0692A189}"/>
              </a:ext>
            </a:extLst>
          </p:cNvPr>
          <p:cNvGrpSpPr>
            <a:grpSpLocks/>
          </p:cNvGrpSpPr>
          <p:nvPr/>
        </p:nvGrpSpPr>
        <p:grpSpPr bwMode="auto">
          <a:xfrm>
            <a:off x="6854826" y="3784601"/>
            <a:ext cx="301625" cy="434975"/>
            <a:chOff x="2067" y="3557"/>
            <a:chExt cx="190" cy="274"/>
          </a:xfrm>
        </p:grpSpPr>
        <p:grpSp>
          <p:nvGrpSpPr>
            <p:cNvPr id="668" name="Group 1944">
              <a:extLst>
                <a:ext uri="{FF2B5EF4-FFF2-40B4-BE49-F238E27FC236}">
                  <a16:creationId xmlns:a16="http://schemas.microsoft.com/office/drawing/2014/main" id="{5B4E978B-A47C-4FA8-8307-88844B68F77B}"/>
                </a:ext>
              </a:extLst>
            </p:cNvPr>
            <p:cNvGrpSpPr>
              <a:grpSpLocks/>
            </p:cNvGrpSpPr>
            <p:nvPr/>
          </p:nvGrpSpPr>
          <p:grpSpPr bwMode="auto">
            <a:xfrm>
              <a:off x="2067" y="3614"/>
              <a:ext cx="164" cy="197"/>
              <a:chOff x="2067" y="3614"/>
              <a:chExt cx="164" cy="197"/>
            </a:xfrm>
          </p:grpSpPr>
          <p:sp>
            <p:nvSpPr>
              <p:cNvPr id="721" name="Freeform 1945">
                <a:extLst>
                  <a:ext uri="{FF2B5EF4-FFF2-40B4-BE49-F238E27FC236}">
                    <a16:creationId xmlns:a16="http://schemas.microsoft.com/office/drawing/2014/main" id="{A6026365-B310-46D4-BE00-6B5D86659FE6}"/>
                  </a:ext>
                </a:extLst>
              </p:cNvPr>
              <p:cNvSpPr>
                <a:spLocks/>
              </p:cNvSpPr>
              <p:nvPr/>
            </p:nvSpPr>
            <p:spPr bwMode="auto">
              <a:xfrm>
                <a:off x="2067" y="3614"/>
                <a:ext cx="164" cy="197"/>
              </a:xfrm>
              <a:custGeom>
                <a:avLst/>
                <a:gdLst>
                  <a:gd name="T0" fmla="*/ 0 w 1974"/>
                  <a:gd name="T1" fmla="*/ 0 h 2364"/>
                  <a:gd name="T2" fmla="*/ 0 w 1974"/>
                  <a:gd name="T3" fmla="*/ 0 h 2364"/>
                  <a:gd name="T4" fmla="*/ 0 w 1974"/>
                  <a:gd name="T5" fmla="*/ 0 h 2364"/>
                  <a:gd name="T6" fmla="*/ 0 w 1974"/>
                  <a:gd name="T7" fmla="*/ 0 h 2364"/>
                  <a:gd name="T8" fmla="*/ 0 w 1974"/>
                  <a:gd name="T9" fmla="*/ 0 h 2364"/>
                  <a:gd name="T10" fmla="*/ 0 w 1974"/>
                  <a:gd name="T11" fmla="*/ 0 h 2364"/>
                  <a:gd name="T12" fmla="*/ 0 w 1974"/>
                  <a:gd name="T13" fmla="*/ 0 h 2364"/>
                  <a:gd name="T14" fmla="*/ 0 w 1974"/>
                  <a:gd name="T15" fmla="*/ 0 h 2364"/>
                  <a:gd name="T16" fmla="*/ 0 w 1974"/>
                  <a:gd name="T17" fmla="*/ 0 h 2364"/>
                  <a:gd name="T18" fmla="*/ 0 w 1974"/>
                  <a:gd name="T19" fmla="*/ 0 h 2364"/>
                  <a:gd name="T20" fmla="*/ 0 w 1974"/>
                  <a:gd name="T21" fmla="*/ 0 h 2364"/>
                  <a:gd name="T22" fmla="*/ 0 w 1974"/>
                  <a:gd name="T23" fmla="*/ 0 h 2364"/>
                  <a:gd name="T24" fmla="*/ 0 w 1974"/>
                  <a:gd name="T25" fmla="*/ 0 h 2364"/>
                  <a:gd name="T26" fmla="*/ 0 w 1974"/>
                  <a:gd name="T27" fmla="*/ 0 h 2364"/>
                  <a:gd name="T28" fmla="*/ 0 w 1974"/>
                  <a:gd name="T29" fmla="*/ 0 h 2364"/>
                  <a:gd name="T30" fmla="*/ 0 w 1974"/>
                  <a:gd name="T31" fmla="*/ 0 h 2364"/>
                  <a:gd name="T32" fmla="*/ 0 w 1974"/>
                  <a:gd name="T33" fmla="*/ 0 h 2364"/>
                  <a:gd name="T34" fmla="*/ 0 w 1974"/>
                  <a:gd name="T35" fmla="*/ 0 h 2364"/>
                  <a:gd name="T36" fmla="*/ 0 w 1974"/>
                  <a:gd name="T37" fmla="*/ 0 h 2364"/>
                  <a:gd name="T38" fmla="*/ 0 w 1974"/>
                  <a:gd name="T39" fmla="*/ 0 h 2364"/>
                  <a:gd name="T40" fmla="*/ 0 w 1974"/>
                  <a:gd name="T41" fmla="*/ 0 h 2364"/>
                  <a:gd name="T42" fmla="*/ 0 w 1974"/>
                  <a:gd name="T43" fmla="*/ 0 h 2364"/>
                  <a:gd name="T44" fmla="*/ 0 w 1974"/>
                  <a:gd name="T45" fmla="*/ 0 h 2364"/>
                  <a:gd name="T46" fmla="*/ 0 w 1974"/>
                  <a:gd name="T47" fmla="*/ 0 h 2364"/>
                  <a:gd name="T48" fmla="*/ 0 w 1974"/>
                  <a:gd name="T49" fmla="*/ 0 h 2364"/>
                  <a:gd name="T50" fmla="*/ 0 w 1974"/>
                  <a:gd name="T51" fmla="*/ 0 h 2364"/>
                  <a:gd name="T52" fmla="*/ 0 w 1974"/>
                  <a:gd name="T53" fmla="*/ 0 h 2364"/>
                  <a:gd name="T54" fmla="*/ 0 w 1974"/>
                  <a:gd name="T55" fmla="*/ 0 h 2364"/>
                  <a:gd name="T56" fmla="*/ 0 w 1974"/>
                  <a:gd name="T57" fmla="*/ 0 h 2364"/>
                  <a:gd name="T58" fmla="*/ 0 w 1974"/>
                  <a:gd name="T59" fmla="*/ 0 h 2364"/>
                  <a:gd name="T60" fmla="*/ 0 w 1974"/>
                  <a:gd name="T61" fmla="*/ 0 h 2364"/>
                  <a:gd name="T62" fmla="*/ 0 w 1974"/>
                  <a:gd name="T63" fmla="*/ 0 h 2364"/>
                  <a:gd name="T64" fmla="*/ 0 w 1974"/>
                  <a:gd name="T65" fmla="*/ 0 h 2364"/>
                  <a:gd name="T66" fmla="*/ 0 w 1974"/>
                  <a:gd name="T67" fmla="*/ 0 h 2364"/>
                  <a:gd name="T68" fmla="*/ 0 w 1974"/>
                  <a:gd name="T69" fmla="*/ 0 h 2364"/>
                  <a:gd name="T70" fmla="*/ 0 w 1974"/>
                  <a:gd name="T71" fmla="*/ 0 h 2364"/>
                  <a:gd name="T72" fmla="*/ 0 w 1974"/>
                  <a:gd name="T73" fmla="*/ 0 h 2364"/>
                  <a:gd name="T74" fmla="*/ 0 w 1974"/>
                  <a:gd name="T75" fmla="*/ 0 h 2364"/>
                  <a:gd name="T76" fmla="*/ 0 w 1974"/>
                  <a:gd name="T77" fmla="*/ 0 h 2364"/>
                  <a:gd name="T78" fmla="*/ 0 w 1974"/>
                  <a:gd name="T79" fmla="*/ 0 h 2364"/>
                  <a:gd name="T80" fmla="*/ 0 w 1974"/>
                  <a:gd name="T81" fmla="*/ 0 h 2364"/>
                  <a:gd name="T82" fmla="*/ 0 w 1974"/>
                  <a:gd name="T83" fmla="*/ 0 h 2364"/>
                  <a:gd name="T84" fmla="*/ 0 w 1974"/>
                  <a:gd name="T85" fmla="*/ 0 h 2364"/>
                  <a:gd name="T86" fmla="*/ 0 w 1974"/>
                  <a:gd name="T87" fmla="*/ 0 h 2364"/>
                  <a:gd name="T88" fmla="*/ 0 w 1974"/>
                  <a:gd name="T89" fmla="*/ 0 h 2364"/>
                  <a:gd name="T90" fmla="*/ 0 w 1974"/>
                  <a:gd name="T91" fmla="*/ 0 h 2364"/>
                  <a:gd name="T92" fmla="*/ 0 w 1974"/>
                  <a:gd name="T93" fmla="*/ 0 h 236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974"/>
                  <a:gd name="T142" fmla="*/ 0 h 2364"/>
                  <a:gd name="T143" fmla="*/ 1974 w 1974"/>
                  <a:gd name="T144" fmla="*/ 2364 h 236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974" h="2364">
                    <a:moveTo>
                      <a:pt x="596" y="2364"/>
                    </a:moveTo>
                    <a:lnTo>
                      <a:pt x="596" y="2301"/>
                    </a:lnTo>
                    <a:lnTo>
                      <a:pt x="578" y="2174"/>
                    </a:lnTo>
                    <a:lnTo>
                      <a:pt x="540" y="2048"/>
                    </a:lnTo>
                    <a:lnTo>
                      <a:pt x="504" y="1944"/>
                    </a:lnTo>
                    <a:lnTo>
                      <a:pt x="494" y="1923"/>
                    </a:lnTo>
                    <a:lnTo>
                      <a:pt x="466" y="1881"/>
                    </a:lnTo>
                    <a:lnTo>
                      <a:pt x="420" y="1827"/>
                    </a:lnTo>
                    <a:lnTo>
                      <a:pt x="356" y="1754"/>
                    </a:lnTo>
                    <a:lnTo>
                      <a:pt x="310" y="1691"/>
                    </a:lnTo>
                    <a:lnTo>
                      <a:pt x="272" y="1639"/>
                    </a:lnTo>
                    <a:lnTo>
                      <a:pt x="226" y="1586"/>
                    </a:lnTo>
                    <a:lnTo>
                      <a:pt x="199" y="1522"/>
                    </a:lnTo>
                    <a:lnTo>
                      <a:pt x="162" y="1459"/>
                    </a:lnTo>
                    <a:lnTo>
                      <a:pt x="153" y="1439"/>
                    </a:lnTo>
                    <a:lnTo>
                      <a:pt x="125" y="1376"/>
                    </a:lnTo>
                    <a:lnTo>
                      <a:pt x="115" y="1333"/>
                    </a:lnTo>
                    <a:lnTo>
                      <a:pt x="106" y="1292"/>
                    </a:lnTo>
                    <a:lnTo>
                      <a:pt x="88" y="1229"/>
                    </a:lnTo>
                    <a:lnTo>
                      <a:pt x="69" y="1188"/>
                    </a:lnTo>
                    <a:lnTo>
                      <a:pt x="41" y="1124"/>
                    </a:lnTo>
                    <a:lnTo>
                      <a:pt x="22" y="1061"/>
                    </a:lnTo>
                    <a:lnTo>
                      <a:pt x="16" y="1022"/>
                    </a:lnTo>
                    <a:lnTo>
                      <a:pt x="4" y="935"/>
                    </a:lnTo>
                    <a:lnTo>
                      <a:pt x="1" y="872"/>
                    </a:lnTo>
                    <a:lnTo>
                      <a:pt x="0" y="792"/>
                    </a:lnTo>
                    <a:lnTo>
                      <a:pt x="14" y="724"/>
                    </a:lnTo>
                    <a:lnTo>
                      <a:pt x="32" y="693"/>
                    </a:lnTo>
                    <a:lnTo>
                      <a:pt x="50" y="677"/>
                    </a:lnTo>
                    <a:lnTo>
                      <a:pt x="67" y="669"/>
                    </a:lnTo>
                    <a:lnTo>
                      <a:pt x="88" y="661"/>
                    </a:lnTo>
                    <a:lnTo>
                      <a:pt x="106" y="661"/>
                    </a:lnTo>
                    <a:lnTo>
                      <a:pt x="106" y="613"/>
                    </a:lnTo>
                    <a:lnTo>
                      <a:pt x="100" y="591"/>
                    </a:lnTo>
                    <a:lnTo>
                      <a:pt x="97" y="555"/>
                    </a:lnTo>
                    <a:lnTo>
                      <a:pt x="105" y="534"/>
                    </a:lnTo>
                    <a:lnTo>
                      <a:pt x="106" y="515"/>
                    </a:lnTo>
                    <a:lnTo>
                      <a:pt x="120" y="477"/>
                    </a:lnTo>
                    <a:lnTo>
                      <a:pt x="134" y="451"/>
                    </a:lnTo>
                    <a:lnTo>
                      <a:pt x="155" y="419"/>
                    </a:lnTo>
                    <a:lnTo>
                      <a:pt x="184" y="388"/>
                    </a:lnTo>
                    <a:lnTo>
                      <a:pt x="216" y="361"/>
                    </a:lnTo>
                    <a:lnTo>
                      <a:pt x="244" y="336"/>
                    </a:lnTo>
                    <a:lnTo>
                      <a:pt x="278" y="326"/>
                    </a:lnTo>
                    <a:lnTo>
                      <a:pt x="312" y="320"/>
                    </a:lnTo>
                    <a:lnTo>
                      <a:pt x="344" y="326"/>
                    </a:lnTo>
                    <a:lnTo>
                      <a:pt x="374" y="336"/>
                    </a:lnTo>
                    <a:lnTo>
                      <a:pt x="410" y="346"/>
                    </a:lnTo>
                    <a:lnTo>
                      <a:pt x="420" y="326"/>
                    </a:lnTo>
                    <a:lnTo>
                      <a:pt x="426" y="268"/>
                    </a:lnTo>
                    <a:lnTo>
                      <a:pt x="438" y="220"/>
                    </a:lnTo>
                    <a:lnTo>
                      <a:pt x="461" y="184"/>
                    </a:lnTo>
                    <a:lnTo>
                      <a:pt x="486" y="160"/>
                    </a:lnTo>
                    <a:lnTo>
                      <a:pt x="522" y="148"/>
                    </a:lnTo>
                    <a:lnTo>
                      <a:pt x="559" y="136"/>
                    </a:lnTo>
                    <a:lnTo>
                      <a:pt x="615" y="125"/>
                    </a:lnTo>
                    <a:lnTo>
                      <a:pt x="650" y="125"/>
                    </a:lnTo>
                    <a:lnTo>
                      <a:pt x="660" y="104"/>
                    </a:lnTo>
                    <a:lnTo>
                      <a:pt x="678" y="62"/>
                    </a:lnTo>
                    <a:lnTo>
                      <a:pt x="706" y="31"/>
                    </a:lnTo>
                    <a:lnTo>
                      <a:pt x="744" y="10"/>
                    </a:lnTo>
                    <a:lnTo>
                      <a:pt x="800" y="0"/>
                    </a:lnTo>
                    <a:lnTo>
                      <a:pt x="854" y="0"/>
                    </a:lnTo>
                    <a:lnTo>
                      <a:pt x="927" y="4"/>
                    </a:lnTo>
                    <a:lnTo>
                      <a:pt x="967" y="6"/>
                    </a:lnTo>
                    <a:lnTo>
                      <a:pt x="994" y="10"/>
                    </a:lnTo>
                    <a:lnTo>
                      <a:pt x="1018" y="17"/>
                    </a:lnTo>
                    <a:lnTo>
                      <a:pt x="1039" y="35"/>
                    </a:lnTo>
                    <a:lnTo>
                      <a:pt x="1052" y="57"/>
                    </a:lnTo>
                    <a:lnTo>
                      <a:pt x="1061" y="86"/>
                    </a:lnTo>
                    <a:lnTo>
                      <a:pt x="1067" y="136"/>
                    </a:lnTo>
                    <a:lnTo>
                      <a:pt x="1062" y="180"/>
                    </a:lnTo>
                    <a:lnTo>
                      <a:pt x="1046" y="218"/>
                    </a:lnTo>
                    <a:lnTo>
                      <a:pt x="1027" y="239"/>
                    </a:lnTo>
                    <a:lnTo>
                      <a:pt x="1002" y="252"/>
                    </a:lnTo>
                    <a:lnTo>
                      <a:pt x="973" y="260"/>
                    </a:lnTo>
                    <a:lnTo>
                      <a:pt x="923" y="259"/>
                    </a:lnTo>
                    <a:lnTo>
                      <a:pt x="939" y="281"/>
                    </a:lnTo>
                    <a:lnTo>
                      <a:pt x="961" y="323"/>
                    </a:lnTo>
                    <a:lnTo>
                      <a:pt x="980" y="357"/>
                    </a:lnTo>
                    <a:lnTo>
                      <a:pt x="995" y="399"/>
                    </a:lnTo>
                    <a:lnTo>
                      <a:pt x="1004" y="434"/>
                    </a:lnTo>
                    <a:lnTo>
                      <a:pt x="1000" y="457"/>
                    </a:lnTo>
                    <a:lnTo>
                      <a:pt x="980" y="482"/>
                    </a:lnTo>
                    <a:lnTo>
                      <a:pt x="1002" y="526"/>
                    </a:lnTo>
                    <a:lnTo>
                      <a:pt x="1029" y="567"/>
                    </a:lnTo>
                    <a:lnTo>
                      <a:pt x="1060" y="619"/>
                    </a:lnTo>
                    <a:lnTo>
                      <a:pt x="1108" y="667"/>
                    </a:lnTo>
                    <a:lnTo>
                      <a:pt x="1182" y="739"/>
                    </a:lnTo>
                    <a:lnTo>
                      <a:pt x="1251" y="822"/>
                    </a:lnTo>
                    <a:lnTo>
                      <a:pt x="1316" y="930"/>
                    </a:lnTo>
                    <a:lnTo>
                      <a:pt x="1372" y="1029"/>
                    </a:lnTo>
                    <a:lnTo>
                      <a:pt x="1418" y="1113"/>
                    </a:lnTo>
                    <a:lnTo>
                      <a:pt x="1432" y="1144"/>
                    </a:lnTo>
                    <a:lnTo>
                      <a:pt x="1435" y="1198"/>
                    </a:lnTo>
                    <a:lnTo>
                      <a:pt x="1450" y="1240"/>
                    </a:lnTo>
                    <a:lnTo>
                      <a:pt x="1473" y="1204"/>
                    </a:lnTo>
                    <a:lnTo>
                      <a:pt x="1517" y="1147"/>
                    </a:lnTo>
                    <a:lnTo>
                      <a:pt x="1575" y="1061"/>
                    </a:lnTo>
                    <a:lnTo>
                      <a:pt x="1612" y="1009"/>
                    </a:lnTo>
                    <a:lnTo>
                      <a:pt x="1629" y="977"/>
                    </a:lnTo>
                    <a:lnTo>
                      <a:pt x="1649" y="924"/>
                    </a:lnTo>
                    <a:lnTo>
                      <a:pt x="1666" y="889"/>
                    </a:lnTo>
                    <a:lnTo>
                      <a:pt x="1681" y="862"/>
                    </a:lnTo>
                    <a:lnTo>
                      <a:pt x="1701" y="833"/>
                    </a:lnTo>
                    <a:lnTo>
                      <a:pt x="1723" y="808"/>
                    </a:lnTo>
                    <a:lnTo>
                      <a:pt x="1763" y="767"/>
                    </a:lnTo>
                    <a:lnTo>
                      <a:pt x="1807" y="734"/>
                    </a:lnTo>
                    <a:lnTo>
                      <a:pt x="1851" y="713"/>
                    </a:lnTo>
                    <a:lnTo>
                      <a:pt x="1889" y="713"/>
                    </a:lnTo>
                    <a:lnTo>
                      <a:pt x="1923" y="717"/>
                    </a:lnTo>
                    <a:lnTo>
                      <a:pt x="1953" y="735"/>
                    </a:lnTo>
                    <a:lnTo>
                      <a:pt x="1974" y="774"/>
                    </a:lnTo>
                    <a:lnTo>
                      <a:pt x="1973" y="819"/>
                    </a:lnTo>
                    <a:lnTo>
                      <a:pt x="1973" y="839"/>
                    </a:lnTo>
                    <a:lnTo>
                      <a:pt x="1963" y="883"/>
                    </a:lnTo>
                    <a:lnTo>
                      <a:pt x="1945" y="903"/>
                    </a:lnTo>
                    <a:lnTo>
                      <a:pt x="1935" y="946"/>
                    </a:lnTo>
                    <a:lnTo>
                      <a:pt x="1917" y="1009"/>
                    </a:lnTo>
                    <a:lnTo>
                      <a:pt x="1917" y="1071"/>
                    </a:lnTo>
                    <a:lnTo>
                      <a:pt x="1907" y="1134"/>
                    </a:lnTo>
                    <a:lnTo>
                      <a:pt x="1904" y="1167"/>
                    </a:lnTo>
                    <a:lnTo>
                      <a:pt x="1895" y="1200"/>
                    </a:lnTo>
                    <a:lnTo>
                      <a:pt x="1876" y="1238"/>
                    </a:lnTo>
                    <a:lnTo>
                      <a:pt x="1851" y="1271"/>
                    </a:lnTo>
                    <a:lnTo>
                      <a:pt x="1834" y="1333"/>
                    </a:lnTo>
                    <a:lnTo>
                      <a:pt x="1806" y="1396"/>
                    </a:lnTo>
                    <a:lnTo>
                      <a:pt x="1723" y="1544"/>
                    </a:lnTo>
                    <a:lnTo>
                      <a:pt x="1649" y="1649"/>
                    </a:lnTo>
                    <a:lnTo>
                      <a:pt x="1594" y="1722"/>
                    </a:lnTo>
                    <a:lnTo>
                      <a:pt x="1584" y="1764"/>
                    </a:lnTo>
                    <a:lnTo>
                      <a:pt x="1575" y="1807"/>
                    </a:lnTo>
                    <a:lnTo>
                      <a:pt x="1558" y="1853"/>
                    </a:lnTo>
                    <a:lnTo>
                      <a:pt x="1545" y="1912"/>
                    </a:lnTo>
                    <a:lnTo>
                      <a:pt x="1519" y="1975"/>
                    </a:lnTo>
                    <a:lnTo>
                      <a:pt x="1473" y="2059"/>
                    </a:lnTo>
                    <a:lnTo>
                      <a:pt x="1428" y="2122"/>
                    </a:lnTo>
                    <a:lnTo>
                      <a:pt x="1400" y="2163"/>
                    </a:lnTo>
                    <a:lnTo>
                      <a:pt x="1381" y="2227"/>
                    </a:lnTo>
                    <a:lnTo>
                      <a:pt x="1362" y="2269"/>
                    </a:lnTo>
                    <a:lnTo>
                      <a:pt x="1332" y="2364"/>
                    </a:lnTo>
                    <a:lnTo>
                      <a:pt x="596" y="2364"/>
                    </a:lnTo>
                    <a:close/>
                  </a:path>
                </a:pathLst>
              </a:custGeom>
              <a:solidFill>
                <a:srgbClr val="FFC0C0"/>
              </a:solidFill>
              <a:ln w="1588">
                <a:solidFill>
                  <a:srgbClr val="000000"/>
                </a:solidFill>
                <a:prstDash val="solid"/>
                <a:round/>
                <a:headEnd/>
                <a:tailEnd/>
              </a:ln>
            </p:spPr>
            <p:txBody>
              <a:bodyPr/>
              <a:lstStyle/>
              <a:p>
                <a:endParaRPr lang="en-US"/>
              </a:p>
            </p:txBody>
          </p:sp>
          <p:grpSp>
            <p:nvGrpSpPr>
              <p:cNvPr id="722" name="Group 1946">
                <a:extLst>
                  <a:ext uri="{FF2B5EF4-FFF2-40B4-BE49-F238E27FC236}">
                    <a16:creationId xmlns:a16="http://schemas.microsoft.com/office/drawing/2014/main" id="{A6CD8FBB-CEE6-464A-B6B7-58338EE7DBAA}"/>
                  </a:ext>
                </a:extLst>
              </p:cNvPr>
              <p:cNvGrpSpPr>
                <a:grpSpLocks/>
              </p:cNvGrpSpPr>
              <p:nvPr/>
            </p:nvGrpSpPr>
            <p:grpSpPr bwMode="auto">
              <a:xfrm>
                <a:off x="2078" y="3668"/>
                <a:ext cx="139" cy="45"/>
                <a:chOff x="2078" y="3668"/>
                <a:chExt cx="139" cy="45"/>
              </a:xfrm>
            </p:grpSpPr>
            <p:sp>
              <p:nvSpPr>
                <p:cNvPr id="727" name="Freeform 1947">
                  <a:extLst>
                    <a:ext uri="{FF2B5EF4-FFF2-40B4-BE49-F238E27FC236}">
                      <a16:creationId xmlns:a16="http://schemas.microsoft.com/office/drawing/2014/main" id="{49AB871C-3646-4270-B54E-E696EADBD227}"/>
                    </a:ext>
                  </a:extLst>
                </p:cNvPr>
                <p:cNvSpPr>
                  <a:spLocks/>
                </p:cNvSpPr>
                <p:nvPr/>
              </p:nvSpPr>
              <p:spPr bwMode="auto">
                <a:xfrm>
                  <a:off x="2201" y="3705"/>
                  <a:ext cx="16" cy="8"/>
                </a:xfrm>
                <a:custGeom>
                  <a:avLst/>
                  <a:gdLst>
                    <a:gd name="T0" fmla="*/ 0 w 185"/>
                    <a:gd name="T1" fmla="*/ 0 h 96"/>
                    <a:gd name="T2" fmla="*/ 0 w 185"/>
                    <a:gd name="T3" fmla="*/ 0 h 96"/>
                    <a:gd name="T4" fmla="*/ 0 w 185"/>
                    <a:gd name="T5" fmla="*/ 0 h 96"/>
                    <a:gd name="T6" fmla="*/ 0 w 185"/>
                    <a:gd name="T7" fmla="*/ 0 h 96"/>
                    <a:gd name="T8" fmla="*/ 0 w 185"/>
                    <a:gd name="T9" fmla="*/ 0 h 96"/>
                    <a:gd name="T10" fmla="*/ 0 w 185"/>
                    <a:gd name="T11" fmla="*/ 0 h 96"/>
                    <a:gd name="T12" fmla="*/ 0 w 185"/>
                    <a:gd name="T13" fmla="*/ 0 h 96"/>
                    <a:gd name="T14" fmla="*/ 0 60000 65536"/>
                    <a:gd name="T15" fmla="*/ 0 60000 65536"/>
                    <a:gd name="T16" fmla="*/ 0 60000 65536"/>
                    <a:gd name="T17" fmla="*/ 0 60000 65536"/>
                    <a:gd name="T18" fmla="*/ 0 60000 65536"/>
                    <a:gd name="T19" fmla="*/ 0 60000 65536"/>
                    <a:gd name="T20" fmla="*/ 0 60000 65536"/>
                    <a:gd name="T21" fmla="*/ 0 w 185"/>
                    <a:gd name="T22" fmla="*/ 0 h 96"/>
                    <a:gd name="T23" fmla="*/ 185 w 185"/>
                    <a:gd name="T24" fmla="*/ 96 h 9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5" h="96">
                      <a:moveTo>
                        <a:pt x="0" y="0"/>
                      </a:moveTo>
                      <a:lnTo>
                        <a:pt x="38" y="21"/>
                      </a:lnTo>
                      <a:lnTo>
                        <a:pt x="66" y="52"/>
                      </a:lnTo>
                      <a:lnTo>
                        <a:pt x="101" y="85"/>
                      </a:lnTo>
                      <a:lnTo>
                        <a:pt x="129" y="96"/>
                      </a:lnTo>
                      <a:lnTo>
                        <a:pt x="139" y="96"/>
                      </a:lnTo>
                      <a:lnTo>
                        <a:pt x="185" y="85"/>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28" name="Freeform 1948">
                  <a:extLst>
                    <a:ext uri="{FF2B5EF4-FFF2-40B4-BE49-F238E27FC236}">
                      <a16:creationId xmlns:a16="http://schemas.microsoft.com/office/drawing/2014/main" id="{D1EDA371-B810-4E89-800D-71DE9EF7B7F1}"/>
                    </a:ext>
                  </a:extLst>
                </p:cNvPr>
                <p:cNvSpPr>
                  <a:spLocks/>
                </p:cNvSpPr>
                <p:nvPr/>
              </p:nvSpPr>
              <p:spPr bwMode="auto">
                <a:xfrm>
                  <a:off x="2078" y="3695"/>
                  <a:ext cx="8" cy="4"/>
                </a:xfrm>
                <a:custGeom>
                  <a:avLst/>
                  <a:gdLst>
                    <a:gd name="T0" fmla="*/ 0 w 88"/>
                    <a:gd name="T1" fmla="*/ 0 h 49"/>
                    <a:gd name="T2" fmla="*/ 0 w 88"/>
                    <a:gd name="T3" fmla="*/ 0 h 49"/>
                    <a:gd name="T4" fmla="*/ 0 w 88"/>
                    <a:gd name="T5" fmla="*/ 0 h 49"/>
                    <a:gd name="T6" fmla="*/ 0 w 88"/>
                    <a:gd name="T7" fmla="*/ 0 h 49"/>
                    <a:gd name="T8" fmla="*/ 0 w 88"/>
                    <a:gd name="T9" fmla="*/ 0 h 49"/>
                    <a:gd name="T10" fmla="*/ 0 60000 65536"/>
                    <a:gd name="T11" fmla="*/ 0 60000 65536"/>
                    <a:gd name="T12" fmla="*/ 0 60000 65536"/>
                    <a:gd name="T13" fmla="*/ 0 60000 65536"/>
                    <a:gd name="T14" fmla="*/ 0 60000 65536"/>
                    <a:gd name="T15" fmla="*/ 0 w 88"/>
                    <a:gd name="T16" fmla="*/ 0 h 49"/>
                    <a:gd name="T17" fmla="*/ 88 w 88"/>
                    <a:gd name="T18" fmla="*/ 49 h 49"/>
                  </a:gdLst>
                  <a:ahLst/>
                  <a:cxnLst>
                    <a:cxn ang="T10">
                      <a:pos x="T0" y="T1"/>
                    </a:cxn>
                    <a:cxn ang="T11">
                      <a:pos x="T2" y="T3"/>
                    </a:cxn>
                    <a:cxn ang="T12">
                      <a:pos x="T4" y="T5"/>
                    </a:cxn>
                    <a:cxn ang="T13">
                      <a:pos x="T6" y="T7"/>
                    </a:cxn>
                    <a:cxn ang="T14">
                      <a:pos x="T8" y="T9"/>
                    </a:cxn>
                  </a:cxnLst>
                  <a:rect l="T15" t="T16" r="T17" b="T18"/>
                  <a:pathLst>
                    <a:path w="88" h="49">
                      <a:moveTo>
                        <a:pt x="88" y="0"/>
                      </a:moveTo>
                      <a:lnTo>
                        <a:pt x="56" y="32"/>
                      </a:lnTo>
                      <a:lnTo>
                        <a:pt x="29" y="41"/>
                      </a:lnTo>
                      <a:lnTo>
                        <a:pt x="10" y="49"/>
                      </a:lnTo>
                      <a:lnTo>
                        <a:pt x="0" y="49"/>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29" name="Freeform 1949">
                  <a:extLst>
                    <a:ext uri="{FF2B5EF4-FFF2-40B4-BE49-F238E27FC236}">
                      <a16:creationId xmlns:a16="http://schemas.microsoft.com/office/drawing/2014/main" id="{127E32B8-6BF7-4434-A3FB-1755E5DD2E03}"/>
                    </a:ext>
                  </a:extLst>
                </p:cNvPr>
                <p:cNvSpPr>
                  <a:spLocks/>
                </p:cNvSpPr>
                <p:nvPr/>
              </p:nvSpPr>
              <p:spPr bwMode="auto">
                <a:xfrm>
                  <a:off x="2102" y="3670"/>
                  <a:ext cx="1" cy="4"/>
                </a:xfrm>
                <a:custGeom>
                  <a:avLst/>
                  <a:gdLst>
                    <a:gd name="T0" fmla="*/ 0 w 18"/>
                    <a:gd name="T1" fmla="*/ 0 h 44"/>
                    <a:gd name="T2" fmla="*/ 0 w 18"/>
                    <a:gd name="T3" fmla="*/ 0 h 44"/>
                    <a:gd name="T4" fmla="*/ 0 w 18"/>
                    <a:gd name="T5" fmla="*/ 0 h 44"/>
                    <a:gd name="T6" fmla="*/ 0 w 18"/>
                    <a:gd name="T7" fmla="*/ 0 h 44"/>
                    <a:gd name="T8" fmla="*/ 0 60000 65536"/>
                    <a:gd name="T9" fmla="*/ 0 60000 65536"/>
                    <a:gd name="T10" fmla="*/ 0 60000 65536"/>
                    <a:gd name="T11" fmla="*/ 0 60000 65536"/>
                    <a:gd name="T12" fmla="*/ 0 w 18"/>
                    <a:gd name="T13" fmla="*/ 0 h 44"/>
                    <a:gd name="T14" fmla="*/ 18 w 18"/>
                    <a:gd name="T15" fmla="*/ 44 h 44"/>
                  </a:gdLst>
                  <a:ahLst/>
                  <a:cxnLst>
                    <a:cxn ang="T8">
                      <a:pos x="T0" y="T1"/>
                    </a:cxn>
                    <a:cxn ang="T9">
                      <a:pos x="T2" y="T3"/>
                    </a:cxn>
                    <a:cxn ang="T10">
                      <a:pos x="T4" y="T5"/>
                    </a:cxn>
                    <a:cxn ang="T11">
                      <a:pos x="T6" y="T7"/>
                    </a:cxn>
                  </a:cxnLst>
                  <a:rect l="T12" t="T13" r="T14" b="T15"/>
                  <a:pathLst>
                    <a:path w="18" h="44">
                      <a:moveTo>
                        <a:pt x="0" y="0"/>
                      </a:moveTo>
                      <a:lnTo>
                        <a:pt x="18" y="18"/>
                      </a:lnTo>
                      <a:lnTo>
                        <a:pt x="16" y="29"/>
                      </a:lnTo>
                      <a:lnTo>
                        <a:pt x="18" y="4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0" name="Freeform 1950">
                  <a:extLst>
                    <a:ext uri="{FF2B5EF4-FFF2-40B4-BE49-F238E27FC236}">
                      <a16:creationId xmlns:a16="http://schemas.microsoft.com/office/drawing/2014/main" id="{36DC44B9-37D9-4371-A7AE-3B2578B5B68A}"/>
                    </a:ext>
                  </a:extLst>
                </p:cNvPr>
                <p:cNvSpPr>
                  <a:spLocks/>
                </p:cNvSpPr>
                <p:nvPr/>
              </p:nvSpPr>
              <p:spPr bwMode="auto">
                <a:xfrm>
                  <a:off x="2095" y="3668"/>
                  <a:ext cx="15" cy="2"/>
                </a:xfrm>
                <a:custGeom>
                  <a:avLst/>
                  <a:gdLst>
                    <a:gd name="T0" fmla="*/ 0 w 179"/>
                    <a:gd name="T1" fmla="*/ 0 h 22"/>
                    <a:gd name="T2" fmla="*/ 0 w 179"/>
                    <a:gd name="T3" fmla="*/ 0 h 22"/>
                    <a:gd name="T4" fmla="*/ 0 w 179"/>
                    <a:gd name="T5" fmla="*/ 0 h 22"/>
                    <a:gd name="T6" fmla="*/ 0 w 179"/>
                    <a:gd name="T7" fmla="*/ 0 h 22"/>
                    <a:gd name="T8" fmla="*/ 0 w 179"/>
                    <a:gd name="T9" fmla="*/ 0 h 22"/>
                    <a:gd name="T10" fmla="*/ 0 60000 65536"/>
                    <a:gd name="T11" fmla="*/ 0 60000 65536"/>
                    <a:gd name="T12" fmla="*/ 0 60000 65536"/>
                    <a:gd name="T13" fmla="*/ 0 60000 65536"/>
                    <a:gd name="T14" fmla="*/ 0 60000 65536"/>
                    <a:gd name="T15" fmla="*/ 0 w 179"/>
                    <a:gd name="T16" fmla="*/ 0 h 22"/>
                    <a:gd name="T17" fmla="*/ 179 w 179"/>
                    <a:gd name="T18" fmla="*/ 22 h 22"/>
                  </a:gdLst>
                  <a:ahLst/>
                  <a:cxnLst>
                    <a:cxn ang="T10">
                      <a:pos x="T0" y="T1"/>
                    </a:cxn>
                    <a:cxn ang="T11">
                      <a:pos x="T2" y="T3"/>
                    </a:cxn>
                    <a:cxn ang="T12">
                      <a:pos x="T4" y="T5"/>
                    </a:cxn>
                    <a:cxn ang="T13">
                      <a:pos x="T6" y="T7"/>
                    </a:cxn>
                    <a:cxn ang="T14">
                      <a:pos x="T8" y="T9"/>
                    </a:cxn>
                  </a:cxnLst>
                  <a:rect l="T15" t="T16" r="T17" b="T18"/>
                  <a:pathLst>
                    <a:path w="179" h="22">
                      <a:moveTo>
                        <a:pt x="179" y="11"/>
                      </a:moveTo>
                      <a:lnTo>
                        <a:pt x="151" y="22"/>
                      </a:lnTo>
                      <a:lnTo>
                        <a:pt x="39" y="22"/>
                      </a:lnTo>
                      <a:lnTo>
                        <a:pt x="18" y="10"/>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723" name="Group 1951">
                <a:extLst>
                  <a:ext uri="{FF2B5EF4-FFF2-40B4-BE49-F238E27FC236}">
                    <a16:creationId xmlns:a16="http://schemas.microsoft.com/office/drawing/2014/main" id="{DD97582E-E4D8-444D-9157-C867AD01CDF1}"/>
                  </a:ext>
                </a:extLst>
              </p:cNvPr>
              <p:cNvGrpSpPr>
                <a:grpSpLocks/>
              </p:cNvGrpSpPr>
              <p:nvPr/>
            </p:nvGrpSpPr>
            <p:grpSpPr bwMode="auto">
              <a:xfrm>
                <a:off x="2093" y="3659"/>
                <a:ext cx="95" cy="91"/>
                <a:chOff x="2093" y="3659"/>
                <a:chExt cx="95" cy="91"/>
              </a:xfrm>
            </p:grpSpPr>
            <p:sp>
              <p:nvSpPr>
                <p:cNvPr id="724" name="Freeform 1952">
                  <a:extLst>
                    <a:ext uri="{FF2B5EF4-FFF2-40B4-BE49-F238E27FC236}">
                      <a16:creationId xmlns:a16="http://schemas.microsoft.com/office/drawing/2014/main" id="{379E7B4A-13C8-4005-9043-4E841224D199}"/>
                    </a:ext>
                  </a:extLst>
                </p:cNvPr>
                <p:cNvSpPr>
                  <a:spLocks/>
                </p:cNvSpPr>
                <p:nvPr/>
              </p:nvSpPr>
              <p:spPr bwMode="auto">
                <a:xfrm>
                  <a:off x="2100" y="3676"/>
                  <a:ext cx="88" cy="74"/>
                </a:xfrm>
                <a:custGeom>
                  <a:avLst/>
                  <a:gdLst>
                    <a:gd name="T0" fmla="*/ 0 w 1061"/>
                    <a:gd name="T1" fmla="*/ 0 h 894"/>
                    <a:gd name="T2" fmla="*/ 0 w 1061"/>
                    <a:gd name="T3" fmla="*/ 0 h 894"/>
                    <a:gd name="T4" fmla="*/ 0 w 1061"/>
                    <a:gd name="T5" fmla="*/ 0 h 894"/>
                    <a:gd name="T6" fmla="*/ 0 w 1061"/>
                    <a:gd name="T7" fmla="*/ 0 h 894"/>
                    <a:gd name="T8" fmla="*/ 0 w 1061"/>
                    <a:gd name="T9" fmla="*/ 0 h 894"/>
                    <a:gd name="T10" fmla="*/ 0 w 1061"/>
                    <a:gd name="T11" fmla="*/ 0 h 894"/>
                    <a:gd name="T12" fmla="*/ 0 w 1061"/>
                    <a:gd name="T13" fmla="*/ 0 h 894"/>
                    <a:gd name="T14" fmla="*/ 0 w 1061"/>
                    <a:gd name="T15" fmla="*/ 0 h 894"/>
                    <a:gd name="T16" fmla="*/ 0 w 1061"/>
                    <a:gd name="T17" fmla="*/ 0 h 894"/>
                    <a:gd name="T18" fmla="*/ 0 w 1061"/>
                    <a:gd name="T19" fmla="*/ 0 h 894"/>
                    <a:gd name="T20" fmla="*/ 0 w 1061"/>
                    <a:gd name="T21" fmla="*/ 0 h 894"/>
                    <a:gd name="T22" fmla="*/ 0 w 1061"/>
                    <a:gd name="T23" fmla="*/ 0 h 894"/>
                    <a:gd name="T24" fmla="*/ 0 w 1061"/>
                    <a:gd name="T25" fmla="*/ 0 h 894"/>
                    <a:gd name="T26" fmla="*/ 0 w 1061"/>
                    <a:gd name="T27" fmla="*/ 0 h 894"/>
                    <a:gd name="T28" fmla="*/ 0 w 1061"/>
                    <a:gd name="T29" fmla="*/ 0 h 894"/>
                    <a:gd name="T30" fmla="*/ 0 w 1061"/>
                    <a:gd name="T31" fmla="*/ 0 h 894"/>
                    <a:gd name="T32" fmla="*/ 0 w 1061"/>
                    <a:gd name="T33" fmla="*/ 0 h 894"/>
                    <a:gd name="T34" fmla="*/ 0 w 1061"/>
                    <a:gd name="T35" fmla="*/ 0 h 894"/>
                    <a:gd name="T36" fmla="*/ 0 w 1061"/>
                    <a:gd name="T37" fmla="*/ 0 h 894"/>
                    <a:gd name="T38" fmla="*/ 0 w 1061"/>
                    <a:gd name="T39" fmla="*/ 0 h 894"/>
                    <a:gd name="T40" fmla="*/ 0 w 1061"/>
                    <a:gd name="T41" fmla="*/ 0 h 894"/>
                    <a:gd name="T42" fmla="*/ 0 w 1061"/>
                    <a:gd name="T43" fmla="*/ 0 h 894"/>
                    <a:gd name="T44" fmla="*/ 0 w 1061"/>
                    <a:gd name="T45" fmla="*/ 0 h 894"/>
                    <a:gd name="T46" fmla="*/ 0 w 1061"/>
                    <a:gd name="T47" fmla="*/ 0 h 894"/>
                    <a:gd name="T48" fmla="*/ 0 w 1061"/>
                    <a:gd name="T49" fmla="*/ 0 h 894"/>
                    <a:gd name="T50" fmla="*/ 0 w 1061"/>
                    <a:gd name="T51" fmla="*/ 0 h 894"/>
                    <a:gd name="T52" fmla="*/ 0 w 1061"/>
                    <a:gd name="T53" fmla="*/ 0 h 894"/>
                    <a:gd name="T54" fmla="*/ 0 w 1061"/>
                    <a:gd name="T55" fmla="*/ 0 h 894"/>
                    <a:gd name="T56" fmla="*/ 0 w 1061"/>
                    <a:gd name="T57" fmla="*/ 0 h 894"/>
                    <a:gd name="T58" fmla="*/ 0 w 1061"/>
                    <a:gd name="T59" fmla="*/ 0 h 894"/>
                    <a:gd name="T60" fmla="*/ 0 w 1061"/>
                    <a:gd name="T61" fmla="*/ 0 h 894"/>
                    <a:gd name="T62" fmla="*/ 0 w 1061"/>
                    <a:gd name="T63" fmla="*/ 0 h 894"/>
                    <a:gd name="T64" fmla="*/ 0 w 1061"/>
                    <a:gd name="T65" fmla="*/ 0 h 894"/>
                    <a:gd name="T66" fmla="*/ 0 w 1061"/>
                    <a:gd name="T67" fmla="*/ 0 h 894"/>
                    <a:gd name="T68" fmla="*/ 0 w 1061"/>
                    <a:gd name="T69" fmla="*/ 0 h 894"/>
                    <a:gd name="T70" fmla="*/ 0 w 1061"/>
                    <a:gd name="T71" fmla="*/ 0 h 894"/>
                    <a:gd name="T72" fmla="*/ 0 w 1061"/>
                    <a:gd name="T73" fmla="*/ 0 h 894"/>
                    <a:gd name="T74" fmla="*/ 0 w 1061"/>
                    <a:gd name="T75" fmla="*/ 0 h 894"/>
                    <a:gd name="T76" fmla="*/ 0 w 1061"/>
                    <a:gd name="T77" fmla="*/ 0 h 894"/>
                    <a:gd name="T78" fmla="*/ 0 w 1061"/>
                    <a:gd name="T79" fmla="*/ 0 h 894"/>
                    <a:gd name="T80" fmla="*/ 0 w 1061"/>
                    <a:gd name="T81" fmla="*/ 0 h 894"/>
                    <a:gd name="T82" fmla="*/ 0 w 1061"/>
                    <a:gd name="T83" fmla="*/ 0 h 894"/>
                    <a:gd name="T84" fmla="*/ 0 w 1061"/>
                    <a:gd name="T85" fmla="*/ 0 h 894"/>
                    <a:gd name="T86" fmla="*/ 0 w 1061"/>
                    <a:gd name="T87" fmla="*/ 0 h 894"/>
                    <a:gd name="T88" fmla="*/ 0 w 1061"/>
                    <a:gd name="T89" fmla="*/ 0 h 894"/>
                    <a:gd name="T90" fmla="*/ 0 w 1061"/>
                    <a:gd name="T91" fmla="*/ 0 h 894"/>
                    <a:gd name="T92" fmla="*/ 0 w 1061"/>
                    <a:gd name="T93" fmla="*/ 0 h 894"/>
                    <a:gd name="T94" fmla="*/ 0 w 1061"/>
                    <a:gd name="T95" fmla="*/ 0 h 894"/>
                    <a:gd name="T96" fmla="*/ 0 w 1061"/>
                    <a:gd name="T97" fmla="*/ 0 h 894"/>
                    <a:gd name="T98" fmla="*/ 0 w 1061"/>
                    <a:gd name="T99" fmla="*/ 0 h 894"/>
                    <a:gd name="T100" fmla="*/ 0 w 1061"/>
                    <a:gd name="T101" fmla="*/ 0 h 8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061"/>
                    <a:gd name="T154" fmla="*/ 0 h 894"/>
                    <a:gd name="T155" fmla="*/ 1061 w 1061"/>
                    <a:gd name="T156" fmla="*/ 894 h 8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061" h="894">
                      <a:moveTo>
                        <a:pt x="1061" y="487"/>
                      </a:moveTo>
                      <a:lnTo>
                        <a:pt x="982" y="517"/>
                      </a:lnTo>
                      <a:lnTo>
                        <a:pt x="886" y="555"/>
                      </a:lnTo>
                      <a:lnTo>
                        <a:pt x="827" y="593"/>
                      </a:lnTo>
                      <a:lnTo>
                        <a:pt x="779" y="652"/>
                      </a:lnTo>
                      <a:lnTo>
                        <a:pt x="750" y="739"/>
                      </a:lnTo>
                      <a:lnTo>
                        <a:pt x="730" y="807"/>
                      </a:lnTo>
                      <a:lnTo>
                        <a:pt x="671" y="875"/>
                      </a:lnTo>
                      <a:lnTo>
                        <a:pt x="574" y="894"/>
                      </a:lnTo>
                      <a:lnTo>
                        <a:pt x="506" y="865"/>
                      </a:lnTo>
                      <a:lnTo>
                        <a:pt x="457" y="826"/>
                      </a:lnTo>
                      <a:lnTo>
                        <a:pt x="454" y="784"/>
                      </a:lnTo>
                      <a:lnTo>
                        <a:pt x="447" y="749"/>
                      </a:lnTo>
                      <a:lnTo>
                        <a:pt x="409" y="690"/>
                      </a:lnTo>
                      <a:lnTo>
                        <a:pt x="321" y="662"/>
                      </a:lnTo>
                      <a:lnTo>
                        <a:pt x="389" y="617"/>
                      </a:lnTo>
                      <a:lnTo>
                        <a:pt x="460" y="603"/>
                      </a:lnTo>
                      <a:lnTo>
                        <a:pt x="493" y="584"/>
                      </a:lnTo>
                      <a:lnTo>
                        <a:pt x="431" y="581"/>
                      </a:lnTo>
                      <a:lnTo>
                        <a:pt x="360" y="603"/>
                      </a:lnTo>
                      <a:lnTo>
                        <a:pt x="282" y="633"/>
                      </a:lnTo>
                      <a:lnTo>
                        <a:pt x="247" y="603"/>
                      </a:lnTo>
                      <a:lnTo>
                        <a:pt x="240" y="565"/>
                      </a:lnTo>
                      <a:lnTo>
                        <a:pt x="237" y="520"/>
                      </a:lnTo>
                      <a:lnTo>
                        <a:pt x="224" y="477"/>
                      </a:lnTo>
                      <a:lnTo>
                        <a:pt x="175" y="468"/>
                      </a:lnTo>
                      <a:lnTo>
                        <a:pt x="136" y="484"/>
                      </a:lnTo>
                      <a:lnTo>
                        <a:pt x="104" y="514"/>
                      </a:lnTo>
                      <a:lnTo>
                        <a:pt x="58" y="542"/>
                      </a:lnTo>
                      <a:lnTo>
                        <a:pt x="0" y="593"/>
                      </a:lnTo>
                      <a:lnTo>
                        <a:pt x="58" y="507"/>
                      </a:lnTo>
                      <a:lnTo>
                        <a:pt x="165" y="420"/>
                      </a:lnTo>
                      <a:lnTo>
                        <a:pt x="234" y="380"/>
                      </a:lnTo>
                      <a:lnTo>
                        <a:pt x="295" y="364"/>
                      </a:lnTo>
                      <a:lnTo>
                        <a:pt x="348" y="368"/>
                      </a:lnTo>
                      <a:lnTo>
                        <a:pt x="402" y="355"/>
                      </a:lnTo>
                      <a:lnTo>
                        <a:pt x="487" y="332"/>
                      </a:lnTo>
                      <a:lnTo>
                        <a:pt x="593" y="288"/>
                      </a:lnTo>
                      <a:lnTo>
                        <a:pt x="694" y="239"/>
                      </a:lnTo>
                      <a:lnTo>
                        <a:pt x="753" y="210"/>
                      </a:lnTo>
                      <a:lnTo>
                        <a:pt x="785" y="168"/>
                      </a:lnTo>
                      <a:lnTo>
                        <a:pt x="801" y="116"/>
                      </a:lnTo>
                      <a:lnTo>
                        <a:pt x="798" y="62"/>
                      </a:lnTo>
                      <a:lnTo>
                        <a:pt x="785" y="0"/>
                      </a:lnTo>
                      <a:lnTo>
                        <a:pt x="846" y="68"/>
                      </a:lnTo>
                      <a:lnTo>
                        <a:pt x="896" y="145"/>
                      </a:lnTo>
                      <a:lnTo>
                        <a:pt x="953" y="245"/>
                      </a:lnTo>
                      <a:lnTo>
                        <a:pt x="979" y="300"/>
                      </a:lnTo>
                      <a:lnTo>
                        <a:pt x="1006" y="348"/>
                      </a:lnTo>
                      <a:lnTo>
                        <a:pt x="1041" y="401"/>
                      </a:lnTo>
                      <a:lnTo>
                        <a:pt x="1061" y="48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5" name="Freeform 1953">
                  <a:extLst>
                    <a:ext uri="{FF2B5EF4-FFF2-40B4-BE49-F238E27FC236}">
                      <a16:creationId xmlns:a16="http://schemas.microsoft.com/office/drawing/2014/main" id="{355113B9-B33E-4D9D-9BBB-E732EFC3D71B}"/>
                    </a:ext>
                  </a:extLst>
                </p:cNvPr>
                <p:cNvSpPr>
                  <a:spLocks/>
                </p:cNvSpPr>
                <p:nvPr/>
              </p:nvSpPr>
              <p:spPr bwMode="auto">
                <a:xfrm>
                  <a:off x="2093" y="3699"/>
                  <a:ext cx="24" cy="15"/>
                </a:xfrm>
                <a:custGeom>
                  <a:avLst/>
                  <a:gdLst>
                    <a:gd name="T0" fmla="*/ 0 w 288"/>
                    <a:gd name="T1" fmla="*/ 0 h 181"/>
                    <a:gd name="T2" fmla="*/ 0 w 288"/>
                    <a:gd name="T3" fmla="*/ 0 h 181"/>
                    <a:gd name="T4" fmla="*/ 0 w 288"/>
                    <a:gd name="T5" fmla="*/ 0 h 181"/>
                    <a:gd name="T6" fmla="*/ 0 w 288"/>
                    <a:gd name="T7" fmla="*/ 0 h 181"/>
                    <a:gd name="T8" fmla="*/ 0 w 288"/>
                    <a:gd name="T9" fmla="*/ 0 h 181"/>
                    <a:gd name="T10" fmla="*/ 0 w 288"/>
                    <a:gd name="T11" fmla="*/ 0 h 181"/>
                    <a:gd name="T12" fmla="*/ 0 w 288"/>
                    <a:gd name="T13" fmla="*/ 0 h 181"/>
                    <a:gd name="T14" fmla="*/ 0 w 288"/>
                    <a:gd name="T15" fmla="*/ 0 h 181"/>
                    <a:gd name="T16" fmla="*/ 0 w 288"/>
                    <a:gd name="T17" fmla="*/ 0 h 181"/>
                    <a:gd name="T18" fmla="*/ 0 w 288"/>
                    <a:gd name="T19" fmla="*/ 0 h 181"/>
                    <a:gd name="T20" fmla="*/ 0 w 288"/>
                    <a:gd name="T21" fmla="*/ 0 h 181"/>
                    <a:gd name="T22" fmla="*/ 0 w 288"/>
                    <a:gd name="T23" fmla="*/ 0 h 181"/>
                    <a:gd name="T24" fmla="*/ 0 w 288"/>
                    <a:gd name="T25" fmla="*/ 0 h 181"/>
                    <a:gd name="T26" fmla="*/ 0 w 288"/>
                    <a:gd name="T27" fmla="*/ 0 h 181"/>
                    <a:gd name="T28" fmla="*/ 0 w 288"/>
                    <a:gd name="T29" fmla="*/ 0 h 181"/>
                    <a:gd name="T30" fmla="*/ 0 w 288"/>
                    <a:gd name="T31" fmla="*/ 0 h 181"/>
                    <a:gd name="T32" fmla="*/ 0 w 288"/>
                    <a:gd name="T33" fmla="*/ 0 h 181"/>
                    <a:gd name="T34" fmla="*/ 0 w 288"/>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88"/>
                    <a:gd name="T55" fmla="*/ 0 h 181"/>
                    <a:gd name="T56" fmla="*/ 288 w 288"/>
                    <a:gd name="T57" fmla="*/ 181 h 1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88" h="181">
                      <a:moveTo>
                        <a:pt x="176" y="10"/>
                      </a:moveTo>
                      <a:lnTo>
                        <a:pt x="209" y="20"/>
                      </a:lnTo>
                      <a:lnTo>
                        <a:pt x="246" y="33"/>
                      </a:lnTo>
                      <a:lnTo>
                        <a:pt x="288" y="53"/>
                      </a:lnTo>
                      <a:lnTo>
                        <a:pt x="258" y="67"/>
                      </a:lnTo>
                      <a:lnTo>
                        <a:pt x="203" y="91"/>
                      </a:lnTo>
                      <a:lnTo>
                        <a:pt x="143" y="124"/>
                      </a:lnTo>
                      <a:lnTo>
                        <a:pt x="103" y="161"/>
                      </a:lnTo>
                      <a:lnTo>
                        <a:pt x="79" y="181"/>
                      </a:lnTo>
                      <a:lnTo>
                        <a:pt x="106" y="121"/>
                      </a:lnTo>
                      <a:lnTo>
                        <a:pt x="116" y="77"/>
                      </a:lnTo>
                      <a:lnTo>
                        <a:pt x="116" y="50"/>
                      </a:lnTo>
                      <a:lnTo>
                        <a:pt x="86" y="44"/>
                      </a:lnTo>
                      <a:lnTo>
                        <a:pt x="0" y="84"/>
                      </a:lnTo>
                      <a:lnTo>
                        <a:pt x="70" y="33"/>
                      </a:lnTo>
                      <a:lnTo>
                        <a:pt x="113" y="0"/>
                      </a:lnTo>
                      <a:lnTo>
                        <a:pt x="143" y="3"/>
                      </a:lnTo>
                      <a:lnTo>
                        <a:pt x="176" y="10"/>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6" name="Freeform 1954">
                  <a:extLst>
                    <a:ext uri="{FF2B5EF4-FFF2-40B4-BE49-F238E27FC236}">
                      <a16:creationId xmlns:a16="http://schemas.microsoft.com/office/drawing/2014/main" id="{001950EE-BBCC-47CC-A98B-EF64443C4145}"/>
                    </a:ext>
                  </a:extLst>
                </p:cNvPr>
                <p:cNvSpPr>
                  <a:spLocks/>
                </p:cNvSpPr>
                <p:nvPr/>
              </p:nvSpPr>
              <p:spPr bwMode="auto">
                <a:xfrm>
                  <a:off x="2115" y="3659"/>
                  <a:ext cx="45" cy="36"/>
                </a:xfrm>
                <a:custGeom>
                  <a:avLst/>
                  <a:gdLst>
                    <a:gd name="T0" fmla="*/ 0 w 536"/>
                    <a:gd name="T1" fmla="*/ 0 h 434"/>
                    <a:gd name="T2" fmla="*/ 0 w 536"/>
                    <a:gd name="T3" fmla="*/ 0 h 434"/>
                    <a:gd name="T4" fmla="*/ 0 w 536"/>
                    <a:gd name="T5" fmla="*/ 0 h 434"/>
                    <a:gd name="T6" fmla="*/ 0 w 536"/>
                    <a:gd name="T7" fmla="*/ 0 h 434"/>
                    <a:gd name="T8" fmla="*/ 0 w 536"/>
                    <a:gd name="T9" fmla="*/ 0 h 434"/>
                    <a:gd name="T10" fmla="*/ 0 w 536"/>
                    <a:gd name="T11" fmla="*/ 0 h 434"/>
                    <a:gd name="T12" fmla="*/ 0 w 536"/>
                    <a:gd name="T13" fmla="*/ 0 h 434"/>
                    <a:gd name="T14" fmla="*/ 0 w 536"/>
                    <a:gd name="T15" fmla="*/ 0 h 434"/>
                    <a:gd name="T16" fmla="*/ 0 w 536"/>
                    <a:gd name="T17" fmla="*/ 0 h 434"/>
                    <a:gd name="T18" fmla="*/ 0 w 536"/>
                    <a:gd name="T19" fmla="*/ 0 h 434"/>
                    <a:gd name="T20" fmla="*/ 0 w 536"/>
                    <a:gd name="T21" fmla="*/ 0 h 434"/>
                    <a:gd name="T22" fmla="*/ 0 w 536"/>
                    <a:gd name="T23" fmla="*/ 0 h 434"/>
                    <a:gd name="T24" fmla="*/ 0 w 536"/>
                    <a:gd name="T25" fmla="*/ 0 h 434"/>
                    <a:gd name="T26" fmla="*/ 0 w 536"/>
                    <a:gd name="T27" fmla="*/ 0 h 434"/>
                    <a:gd name="T28" fmla="*/ 0 w 536"/>
                    <a:gd name="T29" fmla="*/ 0 h 434"/>
                    <a:gd name="T30" fmla="*/ 0 w 536"/>
                    <a:gd name="T31" fmla="*/ 0 h 434"/>
                    <a:gd name="T32" fmla="*/ 0 w 536"/>
                    <a:gd name="T33" fmla="*/ 0 h 434"/>
                    <a:gd name="T34" fmla="*/ 0 w 536"/>
                    <a:gd name="T35" fmla="*/ 0 h 434"/>
                    <a:gd name="T36" fmla="*/ 0 w 536"/>
                    <a:gd name="T37" fmla="*/ 0 h 434"/>
                    <a:gd name="T38" fmla="*/ 0 w 536"/>
                    <a:gd name="T39" fmla="*/ 0 h 434"/>
                    <a:gd name="T40" fmla="*/ 0 w 536"/>
                    <a:gd name="T41" fmla="*/ 0 h 434"/>
                    <a:gd name="T42" fmla="*/ 0 w 536"/>
                    <a:gd name="T43" fmla="*/ 0 h 434"/>
                    <a:gd name="T44" fmla="*/ 0 w 536"/>
                    <a:gd name="T45" fmla="*/ 0 h 434"/>
                    <a:gd name="T46" fmla="*/ 0 w 536"/>
                    <a:gd name="T47" fmla="*/ 0 h 434"/>
                    <a:gd name="T48" fmla="*/ 0 w 536"/>
                    <a:gd name="T49" fmla="*/ 0 h 434"/>
                    <a:gd name="T50" fmla="*/ 0 w 536"/>
                    <a:gd name="T51" fmla="*/ 0 h 434"/>
                    <a:gd name="T52" fmla="*/ 0 w 536"/>
                    <a:gd name="T53" fmla="*/ 0 h 434"/>
                    <a:gd name="T54" fmla="*/ 0 w 536"/>
                    <a:gd name="T55" fmla="*/ 0 h 434"/>
                    <a:gd name="T56" fmla="*/ 0 w 536"/>
                    <a:gd name="T57" fmla="*/ 0 h 434"/>
                    <a:gd name="T58" fmla="*/ 0 w 536"/>
                    <a:gd name="T59" fmla="*/ 0 h 434"/>
                    <a:gd name="T60" fmla="*/ 0 w 536"/>
                    <a:gd name="T61" fmla="*/ 0 h 4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36"/>
                    <a:gd name="T94" fmla="*/ 0 h 434"/>
                    <a:gd name="T95" fmla="*/ 536 w 536"/>
                    <a:gd name="T96" fmla="*/ 434 h 4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36" h="434">
                      <a:moveTo>
                        <a:pt x="536" y="137"/>
                      </a:moveTo>
                      <a:lnTo>
                        <a:pt x="474" y="147"/>
                      </a:lnTo>
                      <a:lnTo>
                        <a:pt x="424" y="166"/>
                      </a:lnTo>
                      <a:lnTo>
                        <a:pt x="365" y="206"/>
                      </a:lnTo>
                      <a:lnTo>
                        <a:pt x="314" y="255"/>
                      </a:lnTo>
                      <a:lnTo>
                        <a:pt x="264" y="332"/>
                      </a:lnTo>
                      <a:lnTo>
                        <a:pt x="242" y="385"/>
                      </a:lnTo>
                      <a:lnTo>
                        <a:pt x="258" y="434"/>
                      </a:lnTo>
                      <a:lnTo>
                        <a:pt x="193" y="388"/>
                      </a:lnTo>
                      <a:lnTo>
                        <a:pt x="130" y="365"/>
                      </a:lnTo>
                      <a:lnTo>
                        <a:pt x="81" y="345"/>
                      </a:lnTo>
                      <a:lnTo>
                        <a:pt x="32" y="329"/>
                      </a:lnTo>
                      <a:lnTo>
                        <a:pt x="0" y="313"/>
                      </a:lnTo>
                      <a:lnTo>
                        <a:pt x="42" y="255"/>
                      </a:lnTo>
                      <a:lnTo>
                        <a:pt x="81" y="283"/>
                      </a:lnTo>
                      <a:lnTo>
                        <a:pt x="143" y="313"/>
                      </a:lnTo>
                      <a:lnTo>
                        <a:pt x="196" y="313"/>
                      </a:lnTo>
                      <a:lnTo>
                        <a:pt x="245" y="304"/>
                      </a:lnTo>
                      <a:lnTo>
                        <a:pt x="274" y="293"/>
                      </a:lnTo>
                      <a:lnTo>
                        <a:pt x="304" y="274"/>
                      </a:lnTo>
                      <a:lnTo>
                        <a:pt x="314" y="212"/>
                      </a:lnTo>
                      <a:lnTo>
                        <a:pt x="304" y="166"/>
                      </a:lnTo>
                      <a:lnTo>
                        <a:pt x="274" y="108"/>
                      </a:lnTo>
                      <a:lnTo>
                        <a:pt x="264" y="78"/>
                      </a:lnTo>
                      <a:lnTo>
                        <a:pt x="307" y="68"/>
                      </a:lnTo>
                      <a:lnTo>
                        <a:pt x="362" y="52"/>
                      </a:lnTo>
                      <a:lnTo>
                        <a:pt x="398" y="9"/>
                      </a:lnTo>
                      <a:lnTo>
                        <a:pt x="431" y="0"/>
                      </a:lnTo>
                      <a:lnTo>
                        <a:pt x="467" y="55"/>
                      </a:lnTo>
                      <a:lnTo>
                        <a:pt x="499" y="101"/>
                      </a:lnTo>
                      <a:lnTo>
                        <a:pt x="536" y="137"/>
                      </a:lnTo>
                      <a:close/>
                    </a:path>
                  </a:pathLst>
                </a:custGeom>
                <a:solidFill>
                  <a:srgbClr val="DF9F9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669" name="Group 1955">
              <a:extLst>
                <a:ext uri="{FF2B5EF4-FFF2-40B4-BE49-F238E27FC236}">
                  <a16:creationId xmlns:a16="http://schemas.microsoft.com/office/drawing/2014/main" id="{172BC4BF-3E53-49DF-A4EA-B0BAA02A494D}"/>
                </a:ext>
              </a:extLst>
            </p:cNvPr>
            <p:cNvGrpSpPr>
              <a:grpSpLocks/>
            </p:cNvGrpSpPr>
            <p:nvPr/>
          </p:nvGrpSpPr>
          <p:grpSpPr bwMode="auto">
            <a:xfrm>
              <a:off x="2117" y="3557"/>
              <a:ext cx="140" cy="274"/>
              <a:chOff x="2117" y="3557"/>
              <a:chExt cx="140" cy="274"/>
            </a:xfrm>
          </p:grpSpPr>
          <p:sp>
            <p:nvSpPr>
              <p:cNvPr id="681" name="Freeform 1956">
                <a:extLst>
                  <a:ext uri="{FF2B5EF4-FFF2-40B4-BE49-F238E27FC236}">
                    <a16:creationId xmlns:a16="http://schemas.microsoft.com/office/drawing/2014/main" id="{27C4485D-EB40-477B-96D0-8F6BB18A97F0}"/>
                  </a:ext>
                </a:extLst>
              </p:cNvPr>
              <p:cNvSpPr>
                <a:spLocks/>
              </p:cNvSpPr>
              <p:nvPr/>
            </p:nvSpPr>
            <p:spPr bwMode="auto">
              <a:xfrm>
                <a:off x="2126" y="3753"/>
                <a:ext cx="129" cy="63"/>
              </a:xfrm>
              <a:custGeom>
                <a:avLst/>
                <a:gdLst>
                  <a:gd name="T0" fmla="*/ 0 w 1540"/>
                  <a:gd name="T1" fmla="*/ 0 h 757"/>
                  <a:gd name="T2" fmla="*/ 0 w 1540"/>
                  <a:gd name="T3" fmla="*/ 0 h 757"/>
                  <a:gd name="T4" fmla="*/ 0 w 1540"/>
                  <a:gd name="T5" fmla="*/ 0 h 757"/>
                  <a:gd name="T6" fmla="*/ 0 w 1540"/>
                  <a:gd name="T7" fmla="*/ 0 h 757"/>
                  <a:gd name="T8" fmla="*/ 0 w 1540"/>
                  <a:gd name="T9" fmla="*/ 0 h 757"/>
                  <a:gd name="T10" fmla="*/ 0 w 1540"/>
                  <a:gd name="T11" fmla="*/ 0 h 757"/>
                  <a:gd name="T12" fmla="*/ 0 60000 65536"/>
                  <a:gd name="T13" fmla="*/ 0 60000 65536"/>
                  <a:gd name="T14" fmla="*/ 0 60000 65536"/>
                  <a:gd name="T15" fmla="*/ 0 60000 65536"/>
                  <a:gd name="T16" fmla="*/ 0 60000 65536"/>
                  <a:gd name="T17" fmla="*/ 0 60000 65536"/>
                  <a:gd name="T18" fmla="*/ 0 w 1540"/>
                  <a:gd name="T19" fmla="*/ 0 h 757"/>
                  <a:gd name="T20" fmla="*/ 1540 w 1540"/>
                  <a:gd name="T21" fmla="*/ 757 h 757"/>
                </a:gdLst>
                <a:ahLst/>
                <a:cxnLst>
                  <a:cxn ang="T12">
                    <a:pos x="T0" y="T1"/>
                  </a:cxn>
                  <a:cxn ang="T13">
                    <a:pos x="T2" y="T3"/>
                  </a:cxn>
                  <a:cxn ang="T14">
                    <a:pos x="T4" y="T5"/>
                  </a:cxn>
                  <a:cxn ang="T15">
                    <a:pos x="T6" y="T7"/>
                  </a:cxn>
                  <a:cxn ang="T16">
                    <a:pos x="T8" y="T9"/>
                  </a:cxn>
                  <a:cxn ang="T17">
                    <a:pos x="T10" y="T11"/>
                  </a:cxn>
                </a:cxnLst>
                <a:rect l="T18" t="T19" r="T20" b="T21"/>
                <a:pathLst>
                  <a:path w="1540" h="757">
                    <a:moveTo>
                      <a:pt x="1540" y="757"/>
                    </a:moveTo>
                    <a:lnTo>
                      <a:pt x="755" y="276"/>
                    </a:lnTo>
                    <a:lnTo>
                      <a:pt x="0" y="0"/>
                    </a:lnTo>
                    <a:lnTo>
                      <a:pt x="77" y="219"/>
                    </a:lnTo>
                    <a:lnTo>
                      <a:pt x="738" y="570"/>
                    </a:lnTo>
                    <a:lnTo>
                      <a:pt x="1540" y="757"/>
                    </a:lnTo>
                    <a:close/>
                  </a:path>
                </a:pathLst>
              </a:custGeom>
              <a:solidFill>
                <a:srgbClr val="808080"/>
              </a:solidFill>
              <a:ln w="1588">
                <a:solidFill>
                  <a:srgbClr val="000000"/>
                </a:solidFill>
                <a:prstDash val="solid"/>
                <a:round/>
                <a:headEnd/>
                <a:tailEnd/>
              </a:ln>
            </p:spPr>
            <p:txBody>
              <a:bodyPr/>
              <a:lstStyle/>
              <a:p>
                <a:endParaRPr lang="en-US"/>
              </a:p>
            </p:txBody>
          </p:sp>
          <p:sp>
            <p:nvSpPr>
              <p:cNvPr id="682" name="Freeform 1957">
                <a:extLst>
                  <a:ext uri="{FF2B5EF4-FFF2-40B4-BE49-F238E27FC236}">
                    <a16:creationId xmlns:a16="http://schemas.microsoft.com/office/drawing/2014/main" id="{2E4B5CB4-B77A-4DB8-AF1B-02F2066316D3}"/>
                  </a:ext>
                </a:extLst>
              </p:cNvPr>
              <p:cNvSpPr>
                <a:spLocks/>
              </p:cNvSpPr>
              <p:nvPr/>
            </p:nvSpPr>
            <p:spPr bwMode="auto">
              <a:xfrm>
                <a:off x="2172" y="3787"/>
                <a:ext cx="85" cy="44"/>
              </a:xfrm>
              <a:custGeom>
                <a:avLst/>
                <a:gdLst>
                  <a:gd name="T0" fmla="*/ 0 w 1027"/>
                  <a:gd name="T1" fmla="*/ 0 h 528"/>
                  <a:gd name="T2" fmla="*/ 0 w 1027"/>
                  <a:gd name="T3" fmla="*/ 0 h 528"/>
                  <a:gd name="T4" fmla="*/ 0 w 1027"/>
                  <a:gd name="T5" fmla="*/ 0 h 528"/>
                  <a:gd name="T6" fmla="*/ 0 w 1027"/>
                  <a:gd name="T7" fmla="*/ 0 h 528"/>
                  <a:gd name="T8" fmla="*/ 0 w 1027"/>
                  <a:gd name="T9" fmla="*/ 0 h 528"/>
                  <a:gd name="T10" fmla="*/ 0 w 1027"/>
                  <a:gd name="T11" fmla="*/ 0 h 528"/>
                  <a:gd name="T12" fmla="*/ 0 w 1027"/>
                  <a:gd name="T13" fmla="*/ 0 h 528"/>
                  <a:gd name="T14" fmla="*/ 0 w 1027"/>
                  <a:gd name="T15" fmla="*/ 0 h 528"/>
                  <a:gd name="T16" fmla="*/ 0 w 1027"/>
                  <a:gd name="T17" fmla="*/ 0 h 528"/>
                  <a:gd name="T18" fmla="*/ 0 w 1027"/>
                  <a:gd name="T19" fmla="*/ 0 h 528"/>
                  <a:gd name="T20" fmla="*/ 0 w 1027"/>
                  <a:gd name="T21" fmla="*/ 0 h 528"/>
                  <a:gd name="T22" fmla="*/ 0 w 1027"/>
                  <a:gd name="T23" fmla="*/ 0 h 528"/>
                  <a:gd name="T24" fmla="*/ 0 w 1027"/>
                  <a:gd name="T25" fmla="*/ 0 h 528"/>
                  <a:gd name="T26" fmla="*/ 0 w 1027"/>
                  <a:gd name="T27" fmla="*/ 0 h 5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7"/>
                  <a:gd name="T43" fmla="*/ 0 h 528"/>
                  <a:gd name="T44" fmla="*/ 1027 w 1027"/>
                  <a:gd name="T45" fmla="*/ 528 h 5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7" h="528">
                    <a:moveTo>
                      <a:pt x="120" y="0"/>
                    </a:moveTo>
                    <a:lnTo>
                      <a:pt x="0" y="11"/>
                    </a:lnTo>
                    <a:lnTo>
                      <a:pt x="0" y="83"/>
                    </a:lnTo>
                    <a:lnTo>
                      <a:pt x="66" y="179"/>
                    </a:lnTo>
                    <a:lnTo>
                      <a:pt x="944" y="523"/>
                    </a:lnTo>
                    <a:lnTo>
                      <a:pt x="963" y="528"/>
                    </a:lnTo>
                    <a:lnTo>
                      <a:pt x="980" y="523"/>
                    </a:lnTo>
                    <a:lnTo>
                      <a:pt x="995" y="505"/>
                    </a:lnTo>
                    <a:lnTo>
                      <a:pt x="1014" y="461"/>
                    </a:lnTo>
                    <a:lnTo>
                      <a:pt x="1023" y="428"/>
                    </a:lnTo>
                    <a:lnTo>
                      <a:pt x="1027" y="398"/>
                    </a:lnTo>
                    <a:lnTo>
                      <a:pt x="1019" y="366"/>
                    </a:lnTo>
                    <a:lnTo>
                      <a:pt x="999" y="345"/>
                    </a:lnTo>
                    <a:lnTo>
                      <a:pt x="120" y="0"/>
                    </a:lnTo>
                    <a:close/>
                  </a:path>
                </a:pathLst>
              </a:custGeom>
              <a:solidFill>
                <a:srgbClr val="606060"/>
              </a:solidFill>
              <a:ln w="1588">
                <a:solidFill>
                  <a:srgbClr val="000000"/>
                </a:solidFill>
                <a:prstDash val="solid"/>
                <a:round/>
                <a:headEnd/>
                <a:tailEnd/>
              </a:ln>
            </p:spPr>
            <p:txBody>
              <a:bodyPr/>
              <a:lstStyle/>
              <a:p>
                <a:endParaRPr lang="en-US"/>
              </a:p>
            </p:txBody>
          </p:sp>
          <p:sp>
            <p:nvSpPr>
              <p:cNvPr id="683" name="Freeform 1958">
                <a:extLst>
                  <a:ext uri="{FF2B5EF4-FFF2-40B4-BE49-F238E27FC236}">
                    <a16:creationId xmlns:a16="http://schemas.microsoft.com/office/drawing/2014/main" id="{9FCB015C-B2DE-4260-943D-B0DCB8176E84}"/>
                  </a:ext>
                </a:extLst>
              </p:cNvPr>
              <p:cNvSpPr>
                <a:spLocks/>
              </p:cNvSpPr>
              <p:nvPr/>
            </p:nvSpPr>
            <p:spPr bwMode="auto">
              <a:xfrm>
                <a:off x="2117" y="3557"/>
                <a:ext cx="123" cy="245"/>
              </a:xfrm>
              <a:custGeom>
                <a:avLst/>
                <a:gdLst>
                  <a:gd name="T0" fmla="*/ 0 w 1479"/>
                  <a:gd name="T1" fmla="*/ 0 h 2948"/>
                  <a:gd name="T2" fmla="*/ 0 w 1479"/>
                  <a:gd name="T3" fmla="*/ 0 h 2948"/>
                  <a:gd name="T4" fmla="*/ 0 w 1479"/>
                  <a:gd name="T5" fmla="*/ 0 h 2948"/>
                  <a:gd name="T6" fmla="*/ 0 w 1479"/>
                  <a:gd name="T7" fmla="*/ 0 h 2948"/>
                  <a:gd name="T8" fmla="*/ 0 w 1479"/>
                  <a:gd name="T9" fmla="*/ 0 h 2948"/>
                  <a:gd name="T10" fmla="*/ 0 w 1479"/>
                  <a:gd name="T11" fmla="*/ 0 h 2948"/>
                  <a:gd name="T12" fmla="*/ 0 w 1479"/>
                  <a:gd name="T13" fmla="*/ 0 h 2948"/>
                  <a:gd name="T14" fmla="*/ 0 w 1479"/>
                  <a:gd name="T15" fmla="*/ 0 h 2948"/>
                  <a:gd name="T16" fmla="*/ 0 w 1479"/>
                  <a:gd name="T17" fmla="*/ 0 h 2948"/>
                  <a:gd name="T18" fmla="*/ 0 w 1479"/>
                  <a:gd name="T19" fmla="*/ 0 h 2948"/>
                  <a:gd name="T20" fmla="*/ 0 w 1479"/>
                  <a:gd name="T21" fmla="*/ 0 h 2948"/>
                  <a:gd name="T22" fmla="*/ 0 w 1479"/>
                  <a:gd name="T23" fmla="*/ 0 h 2948"/>
                  <a:gd name="T24" fmla="*/ 0 w 1479"/>
                  <a:gd name="T25" fmla="*/ 0 h 2948"/>
                  <a:gd name="T26" fmla="*/ 0 w 1479"/>
                  <a:gd name="T27" fmla="*/ 0 h 2948"/>
                  <a:gd name="T28" fmla="*/ 0 w 1479"/>
                  <a:gd name="T29" fmla="*/ 0 h 2948"/>
                  <a:gd name="T30" fmla="*/ 0 w 1479"/>
                  <a:gd name="T31" fmla="*/ 0 h 2948"/>
                  <a:gd name="T32" fmla="*/ 0 w 1479"/>
                  <a:gd name="T33" fmla="*/ 0 h 2948"/>
                  <a:gd name="T34" fmla="*/ 0 w 1479"/>
                  <a:gd name="T35" fmla="*/ 0 h 2948"/>
                  <a:gd name="T36" fmla="*/ 0 w 1479"/>
                  <a:gd name="T37" fmla="*/ 0 h 2948"/>
                  <a:gd name="T38" fmla="*/ 0 w 1479"/>
                  <a:gd name="T39" fmla="*/ 0 h 2948"/>
                  <a:gd name="T40" fmla="*/ 0 w 1479"/>
                  <a:gd name="T41" fmla="*/ 0 h 2948"/>
                  <a:gd name="T42" fmla="*/ 0 w 1479"/>
                  <a:gd name="T43" fmla="*/ 0 h 2948"/>
                  <a:gd name="T44" fmla="*/ 0 w 1479"/>
                  <a:gd name="T45" fmla="*/ 0 h 2948"/>
                  <a:gd name="T46" fmla="*/ 0 w 1479"/>
                  <a:gd name="T47" fmla="*/ 0 h 2948"/>
                  <a:gd name="T48" fmla="*/ 0 w 1479"/>
                  <a:gd name="T49" fmla="*/ 0 h 2948"/>
                  <a:gd name="T50" fmla="*/ 0 w 1479"/>
                  <a:gd name="T51" fmla="*/ 0 h 2948"/>
                  <a:gd name="T52" fmla="*/ 0 w 1479"/>
                  <a:gd name="T53" fmla="*/ 0 h 2948"/>
                  <a:gd name="T54" fmla="*/ 0 w 1479"/>
                  <a:gd name="T55" fmla="*/ 0 h 2948"/>
                  <a:gd name="T56" fmla="*/ 0 w 1479"/>
                  <a:gd name="T57" fmla="*/ 0 h 2948"/>
                  <a:gd name="T58" fmla="*/ 0 w 1479"/>
                  <a:gd name="T59" fmla="*/ 0 h 2948"/>
                  <a:gd name="T60" fmla="*/ 0 w 1479"/>
                  <a:gd name="T61" fmla="*/ 0 h 2948"/>
                  <a:gd name="T62" fmla="*/ 0 w 1479"/>
                  <a:gd name="T63" fmla="*/ 0 h 2948"/>
                  <a:gd name="T64" fmla="*/ 0 w 1479"/>
                  <a:gd name="T65" fmla="*/ 0 h 2948"/>
                  <a:gd name="T66" fmla="*/ 0 w 1479"/>
                  <a:gd name="T67" fmla="*/ 0 h 2948"/>
                  <a:gd name="T68" fmla="*/ 0 w 1479"/>
                  <a:gd name="T69" fmla="*/ 0 h 2948"/>
                  <a:gd name="T70" fmla="*/ 0 w 1479"/>
                  <a:gd name="T71" fmla="*/ 0 h 2948"/>
                  <a:gd name="T72" fmla="*/ 0 w 1479"/>
                  <a:gd name="T73" fmla="*/ 0 h 2948"/>
                  <a:gd name="T74" fmla="*/ 0 w 1479"/>
                  <a:gd name="T75" fmla="*/ 0 h 2948"/>
                  <a:gd name="T76" fmla="*/ 0 w 1479"/>
                  <a:gd name="T77" fmla="*/ 0 h 2948"/>
                  <a:gd name="T78" fmla="*/ 0 w 1479"/>
                  <a:gd name="T79" fmla="*/ 0 h 2948"/>
                  <a:gd name="T80" fmla="*/ 0 w 1479"/>
                  <a:gd name="T81" fmla="*/ 0 h 2948"/>
                  <a:gd name="T82" fmla="*/ 0 w 1479"/>
                  <a:gd name="T83" fmla="*/ 0 h 2948"/>
                  <a:gd name="T84" fmla="*/ 0 w 1479"/>
                  <a:gd name="T85" fmla="*/ 0 h 2948"/>
                  <a:gd name="T86" fmla="*/ 0 w 1479"/>
                  <a:gd name="T87" fmla="*/ 0 h 2948"/>
                  <a:gd name="T88" fmla="*/ 0 w 1479"/>
                  <a:gd name="T89" fmla="*/ 0 h 2948"/>
                  <a:gd name="T90" fmla="*/ 0 w 1479"/>
                  <a:gd name="T91" fmla="*/ 0 h 2948"/>
                  <a:gd name="T92" fmla="*/ 0 w 1479"/>
                  <a:gd name="T93" fmla="*/ 0 h 2948"/>
                  <a:gd name="T94" fmla="*/ 0 w 1479"/>
                  <a:gd name="T95" fmla="*/ 0 h 2948"/>
                  <a:gd name="T96" fmla="*/ 0 w 1479"/>
                  <a:gd name="T97" fmla="*/ 0 h 2948"/>
                  <a:gd name="T98" fmla="*/ 0 w 1479"/>
                  <a:gd name="T99" fmla="*/ 0 h 2948"/>
                  <a:gd name="T100" fmla="*/ 0 w 1479"/>
                  <a:gd name="T101" fmla="*/ 0 h 2948"/>
                  <a:gd name="T102" fmla="*/ 0 w 1479"/>
                  <a:gd name="T103" fmla="*/ 0 h 2948"/>
                  <a:gd name="T104" fmla="*/ 0 w 1479"/>
                  <a:gd name="T105" fmla="*/ 0 h 2948"/>
                  <a:gd name="T106" fmla="*/ 0 w 1479"/>
                  <a:gd name="T107" fmla="*/ 0 h 2948"/>
                  <a:gd name="T108" fmla="*/ 0 w 1479"/>
                  <a:gd name="T109" fmla="*/ 0 h 2948"/>
                  <a:gd name="T110" fmla="*/ 0 w 1479"/>
                  <a:gd name="T111" fmla="*/ 0 h 29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79"/>
                  <a:gd name="T169" fmla="*/ 0 h 2948"/>
                  <a:gd name="T170" fmla="*/ 1479 w 1479"/>
                  <a:gd name="T171" fmla="*/ 2948 h 29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79" h="2948">
                    <a:moveTo>
                      <a:pt x="1479" y="384"/>
                    </a:moveTo>
                    <a:lnTo>
                      <a:pt x="1476" y="353"/>
                    </a:lnTo>
                    <a:lnTo>
                      <a:pt x="1461" y="332"/>
                    </a:lnTo>
                    <a:lnTo>
                      <a:pt x="1438" y="306"/>
                    </a:lnTo>
                    <a:lnTo>
                      <a:pt x="1360" y="255"/>
                    </a:lnTo>
                    <a:lnTo>
                      <a:pt x="1008" y="61"/>
                    </a:lnTo>
                    <a:lnTo>
                      <a:pt x="958" y="38"/>
                    </a:lnTo>
                    <a:lnTo>
                      <a:pt x="926" y="23"/>
                    </a:lnTo>
                    <a:lnTo>
                      <a:pt x="886" y="10"/>
                    </a:lnTo>
                    <a:lnTo>
                      <a:pt x="861" y="3"/>
                    </a:lnTo>
                    <a:lnTo>
                      <a:pt x="825" y="0"/>
                    </a:lnTo>
                    <a:lnTo>
                      <a:pt x="792" y="3"/>
                    </a:lnTo>
                    <a:lnTo>
                      <a:pt x="767" y="6"/>
                    </a:lnTo>
                    <a:lnTo>
                      <a:pt x="730" y="16"/>
                    </a:lnTo>
                    <a:lnTo>
                      <a:pt x="695" y="32"/>
                    </a:lnTo>
                    <a:lnTo>
                      <a:pt x="663" y="54"/>
                    </a:lnTo>
                    <a:lnTo>
                      <a:pt x="630" y="74"/>
                    </a:lnTo>
                    <a:lnTo>
                      <a:pt x="598" y="95"/>
                    </a:lnTo>
                    <a:lnTo>
                      <a:pt x="562" y="121"/>
                    </a:lnTo>
                    <a:lnTo>
                      <a:pt x="528" y="154"/>
                    </a:lnTo>
                    <a:lnTo>
                      <a:pt x="509" y="175"/>
                    </a:lnTo>
                    <a:lnTo>
                      <a:pt x="492" y="201"/>
                    </a:lnTo>
                    <a:lnTo>
                      <a:pt x="481" y="238"/>
                    </a:lnTo>
                    <a:lnTo>
                      <a:pt x="10" y="2307"/>
                    </a:lnTo>
                    <a:lnTo>
                      <a:pt x="0" y="2349"/>
                    </a:lnTo>
                    <a:lnTo>
                      <a:pt x="0" y="2370"/>
                    </a:lnTo>
                    <a:lnTo>
                      <a:pt x="0" y="2396"/>
                    </a:lnTo>
                    <a:lnTo>
                      <a:pt x="1" y="2422"/>
                    </a:lnTo>
                    <a:lnTo>
                      <a:pt x="11" y="2466"/>
                    </a:lnTo>
                    <a:lnTo>
                      <a:pt x="19" y="2485"/>
                    </a:lnTo>
                    <a:lnTo>
                      <a:pt x="38" y="2518"/>
                    </a:lnTo>
                    <a:lnTo>
                      <a:pt x="51" y="2540"/>
                    </a:lnTo>
                    <a:lnTo>
                      <a:pt x="79" y="2571"/>
                    </a:lnTo>
                    <a:lnTo>
                      <a:pt x="111" y="2598"/>
                    </a:lnTo>
                    <a:lnTo>
                      <a:pt x="155" y="2627"/>
                    </a:lnTo>
                    <a:lnTo>
                      <a:pt x="190" y="2650"/>
                    </a:lnTo>
                    <a:lnTo>
                      <a:pt x="717" y="2948"/>
                    </a:lnTo>
                    <a:lnTo>
                      <a:pt x="708" y="2916"/>
                    </a:lnTo>
                    <a:lnTo>
                      <a:pt x="707" y="2885"/>
                    </a:lnTo>
                    <a:lnTo>
                      <a:pt x="712" y="2861"/>
                    </a:lnTo>
                    <a:lnTo>
                      <a:pt x="721" y="2833"/>
                    </a:lnTo>
                    <a:lnTo>
                      <a:pt x="735" y="2805"/>
                    </a:lnTo>
                    <a:lnTo>
                      <a:pt x="753" y="2783"/>
                    </a:lnTo>
                    <a:lnTo>
                      <a:pt x="778" y="2769"/>
                    </a:lnTo>
                    <a:lnTo>
                      <a:pt x="194" y="2433"/>
                    </a:lnTo>
                    <a:lnTo>
                      <a:pt x="175" y="2417"/>
                    </a:lnTo>
                    <a:lnTo>
                      <a:pt x="168" y="2407"/>
                    </a:lnTo>
                    <a:lnTo>
                      <a:pt x="162" y="2391"/>
                    </a:lnTo>
                    <a:lnTo>
                      <a:pt x="157" y="2359"/>
                    </a:lnTo>
                    <a:lnTo>
                      <a:pt x="157" y="2339"/>
                    </a:lnTo>
                    <a:lnTo>
                      <a:pt x="444" y="1110"/>
                    </a:lnTo>
                    <a:lnTo>
                      <a:pt x="473" y="1055"/>
                    </a:lnTo>
                    <a:lnTo>
                      <a:pt x="501" y="1024"/>
                    </a:lnTo>
                    <a:lnTo>
                      <a:pt x="547" y="976"/>
                    </a:lnTo>
                    <a:lnTo>
                      <a:pt x="583" y="941"/>
                    </a:lnTo>
                    <a:lnTo>
                      <a:pt x="1479" y="384"/>
                    </a:lnTo>
                    <a:close/>
                  </a:path>
                </a:pathLst>
              </a:custGeom>
              <a:solidFill>
                <a:srgbClr val="808080"/>
              </a:solidFill>
              <a:ln w="1588">
                <a:solidFill>
                  <a:srgbClr val="000000"/>
                </a:solidFill>
                <a:prstDash val="solid"/>
                <a:round/>
                <a:headEnd/>
                <a:tailEnd/>
              </a:ln>
            </p:spPr>
            <p:txBody>
              <a:bodyPr/>
              <a:lstStyle/>
              <a:p>
                <a:endParaRPr lang="en-US"/>
              </a:p>
            </p:txBody>
          </p:sp>
          <p:sp>
            <p:nvSpPr>
              <p:cNvPr id="684" name="Freeform 1959">
                <a:extLst>
                  <a:ext uri="{FF2B5EF4-FFF2-40B4-BE49-F238E27FC236}">
                    <a16:creationId xmlns:a16="http://schemas.microsoft.com/office/drawing/2014/main" id="{3E3B68DE-BF70-4932-8870-29421441F994}"/>
                  </a:ext>
                </a:extLst>
              </p:cNvPr>
              <p:cNvSpPr>
                <a:spLocks/>
              </p:cNvSpPr>
              <p:nvPr/>
            </p:nvSpPr>
            <p:spPr bwMode="auto">
              <a:xfrm>
                <a:off x="2166" y="3561"/>
                <a:ext cx="78" cy="109"/>
              </a:xfrm>
              <a:custGeom>
                <a:avLst/>
                <a:gdLst>
                  <a:gd name="T0" fmla="*/ 0 w 928"/>
                  <a:gd name="T1" fmla="*/ 0 h 1304"/>
                  <a:gd name="T2" fmla="*/ 0 w 928"/>
                  <a:gd name="T3" fmla="*/ 0 h 1304"/>
                  <a:gd name="T4" fmla="*/ 0 w 928"/>
                  <a:gd name="T5" fmla="*/ 0 h 1304"/>
                  <a:gd name="T6" fmla="*/ 0 w 928"/>
                  <a:gd name="T7" fmla="*/ 0 h 1304"/>
                  <a:gd name="T8" fmla="*/ 0 w 928"/>
                  <a:gd name="T9" fmla="*/ 0 h 1304"/>
                  <a:gd name="T10" fmla="*/ 0 w 928"/>
                  <a:gd name="T11" fmla="*/ 0 h 1304"/>
                  <a:gd name="T12" fmla="*/ 0 w 928"/>
                  <a:gd name="T13" fmla="*/ 0 h 1304"/>
                  <a:gd name="T14" fmla="*/ 0 w 928"/>
                  <a:gd name="T15" fmla="*/ 0 h 1304"/>
                  <a:gd name="T16" fmla="*/ 0 w 928"/>
                  <a:gd name="T17" fmla="*/ 0 h 1304"/>
                  <a:gd name="T18" fmla="*/ 0 w 928"/>
                  <a:gd name="T19" fmla="*/ 0 h 1304"/>
                  <a:gd name="T20" fmla="*/ 0 w 928"/>
                  <a:gd name="T21" fmla="*/ 0 h 1304"/>
                  <a:gd name="T22" fmla="*/ 0 w 928"/>
                  <a:gd name="T23" fmla="*/ 0 h 1304"/>
                  <a:gd name="T24" fmla="*/ 0 w 928"/>
                  <a:gd name="T25" fmla="*/ 0 h 1304"/>
                  <a:gd name="T26" fmla="*/ 0 w 928"/>
                  <a:gd name="T27" fmla="*/ 0 h 1304"/>
                  <a:gd name="T28" fmla="*/ 0 w 928"/>
                  <a:gd name="T29" fmla="*/ 0 h 1304"/>
                  <a:gd name="T30" fmla="*/ 0 w 928"/>
                  <a:gd name="T31" fmla="*/ 0 h 1304"/>
                  <a:gd name="T32" fmla="*/ 0 w 928"/>
                  <a:gd name="T33" fmla="*/ 0 h 1304"/>
                  <a:gd name="T34" fmla="*/ 0 w 928"/>
                  <a:gd name="T35" fmla="*/ 0 h 1304"/>
                  <a:gd name="T36" fmla="*/ 0 w 928"/>
                  <a:gd name="T37" fmla="*/ 0 h 1304"/>
                  <a:gd name="T38" fmla="*/ 0 w 928"/>
                  <a:gd name="T39" fmla="*/ 0 h 1304"/>
                  <a:gd name="T40" fmla="*/ 0 w 928"/>
                  <a:gd name="T41" fmla="*/ 0 h 1304"/>
                  <a:gd name="T42" fmla="*/ 0 w 928"/>
                  <a:gd name="T43" fmla="*/ 0 h 1304"/>
                  <a:gd name="T44" fmla="*/ 0 w 928"/>
                  <a:gd name="T45" fmla="*/ 0 h 1304"/>
                  <a:gd name="T46" fmla="*/ 0 w 928"/>
                  <a:gd name="T47" fmla="*/ 0 h 1304"/>
                  <a:gd name="T48" fmla="*/ 0 w 928"/>
                  <a:gd name="T49" fmla="*/ 0 h 1304"/>
                  <a:gd name="T50" fmla="*/ 0 w 928"/>
                  <a:gd name="T51" fmla="*/ 0 h 1304"/>
                  <a:gd name="T52" fmla="*/ 0 w 928"/>
                  <a:gd name="T53" fmla="*/ 0 h 1304"/>
                  <a:gd name="T54" fmla="*/ 0 w 928"/>
                  <a:gd name="T55" fmla="*/ 0 h 1304"/>
                  <a:gd name="T56" fmla="*/ 0 w 928"/>
                  <a:gd name="T57" fmla="*/ 0 h 1304"/>
                  <a:gd name="T58" fmla="*/ 0 w 928"/>
                  <a:gd name="T59" fmla="*/ 0 h 1304"/>
                  <a:gd name="T60" fmla="*/ 0 w 928"/>
                  <a:gd name="T61" fmla="*/ 0 h 1304"/>
                  <a:gd name="T62" fmla="*/ 0 w 928"/>
                  <a:gd name="T63" fmla="*/ 0 h 1304"/>
                  <a:gd name="T64" fmla="*/ 0 w 928"/>
                  <a:gd name="T65" fmla="*/ 0 h 1304"/>
                  <a:gd name="T66" fmla="*/ 0 w 928"/>
                  <a:gd name="T67" fmla="*/ 0 h 1304"/>
                  <a:gd name="T68" fmla="*/ 0 w 928"/>
                  <a:gd name="T69" fmla="*/ 0 h 1304"/>
                  <a:gd name="T70" fmla="*/ 0 w 928"/>
                  <a:gd name="T71" fmla="*/ 0 h 1304"/>
                  <a:gd name="T72" fmla="*/ 0 w 928"/>
                  <a:gd name="T73" fmla="*/ 0 h 1304"/>
                  <a:gd name="T74" fmla="*/ 0 w 928"/>
                  <a:gd name="T75" fmla="*/ 0 h 130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28"/>
                  <a:gd name="T115" fmla="*/ 0 h 1304"/>
                  <a:gd name="T116" fmla="*/ 928 w 928"/>
                  <a:gd name="T117" fmla="*/ 1304 h 130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28" h="1304">
                    <a:moveTo>
                      <a:pt x="898" y="351"/>
                    </a:moveTo>
                    <a:lnTo>
                      <a:pt x="868" y="315"/>
                    </a:lnTo>
                    <a:lnTo>
                      <a:pt x="821" y="278"/>
                    </a:lnTo>
                    <a:lnTo>
                      <a:pt x="755" y="241"/>
                    </a:lnTo>
                    <a:lnTo>
                      <a:pt x="586" y="148"/>
                    </a:lnTo>
                    <a:lnTo>
                      <a:pt x="400" y="53"/>
                    </a:lnTo>
                    <a:lnTo>
                      <a:pt x="335" y="21"/>
                    </a:lnTo>
                    <a:lnTo>
                      <a:pt x="290" y="6"/>
                    </a:lnTo>
                    <a:lnTo>
                      <a:pt x="255" y="0"/>
                    </a:lnTo>
                    <a:lnTo>
                      <a:pt x="228" y="0"/>
                    </a:lnTo>
                    <a:lnTo>
                      <a:pt x="205" y="5"/>
                    </a:lnTo>
                    <a:lnTo>
                      <a:pt x="182" y="21"/>
                    </a:lnTo>
                    <a:lnTo>
                      <a:pt x="164" y="41"/>
                    </a:lnTo>
                    <a:lnTo>
                      <a:pt x="148" y="76"/>
                    </a:lnTo>
                    <a:lnTo>
                      <a:pt x="0" y="833"/>
                    </a:lnTo>
                    <a:lnTo>
                      <a:pt x="0" y="865"/>
                    </a:lnTo>
                    <a:lnTo>
                      <a:pt x="0" y="906"/>
                    </a:lnTo>
                    <a:lnTo>
                      <a:pt x="7" y="936"/>
                    </a:lnTo>
                    <a:lnTo>
                      <a:pt x="16" y="957"/>
                    </a:lnTo>
                    <a:lnTo>
                      <a:pt x="29" y="978"/>
                    </a:lnTo>
                    <a:lnTo>
                      <a:pt x="57" y="1004"/>
                    </a:lnTo>
                    <a:lnTo>
                      <a:pt x="85" y="1022"/>
                    </a:lnTo>
                    <a:lnTo>
                      <a:pt x="118" y="1041"/>
                    </a:lnTo>
                    <a:lnTo>
                      <a:pt x="558" y="1267"/>
                    </a:lnTo>
                    <a:lnTo>
                      <a:pt x="599" y="1285"/>
                    </a:lnTo>
                    <a:lnTo>
                      <a:pt x="636" y="1295"/>
                    </a:lnTo>
                    <a:lnTo>
                      <a:pt x="678" y="1304"/>
                    </a:lnTo>
                    <a:lnTo>
                      <a:pt x="706" y="1304"/>
                    </a:lnTo>
                    <a:lnTo>
                      <a:pt x="734" y="1295"/>
                    </a:lnTo>
                    <a:lnTo>
                      <a:pt x="755" y="1269"/>
                    </a:lnTo>
                    <a:lnTo>
                      <a:pt x="767" y="1222"/>
                    </a:lnTo>
                    <a:lnTo>
                      <a:pt x="784" y="1162"/>
                    </a:lnTo>
                    <a:lnTo>
                      <a:pt x="860" y="833"/>
                    </a:lnTo>
                    <a:lnTo>
                      <a:pt x="916" y="507"/>
                    </a:lnTo>
                    <a:lnTo>
                      <a:pt x="928" y="431"/>
                    </a:lnTo>
                    <a:lnTo>
                      <a:pt x="925" y="403"/>
                    </a:lnTo>
                    <a:lnTo>
                      <a:pt x="917" y="379"/>
                    </a:lnTo>
                    <a:lnTo>
                      <a:pt x="898" y="351"/>
                    </a:lnTo>
                    <a:close/>
                  </a:path>
                </a:pathLst>
              </a:custGeom>
              <a:solidFill>
                <a:srgbClr val="606060"/>
              </a:solidFill>
              <a:ln w="1588">
                <a:solidFill>
                  <a:srgbClr val="000000"/>
                </a:solidFill>
                <a:prstDash val="solid"/>
                <a:round/>
                <a:headEnd/>
                <a:tailEnd/>
              </a:ln>
            </p:spPr>
            <p:txBody>
              <a:bodyPr/>
              <a:lstStyle/>
              <a:p>
                <a:endParaRPr lang="en-US"/>
              </a:p>
            </p:txBody>
          </p:sp>
          <p:sp>
            <p:nvSpPr>
              <p:cNvPr id="685" name="Freeform 1960">
                <a:extLst>
                  <a:ext uri="{FF2B5EF4-FFF2-40B4-BE49-F238E27FC236}">
                    <a16:creationId xmlns:a16="http://schemas.microsoft.com/office/drawing/2014/main" id="{1AE75D14-4B67-46F1-BA4E-509EDA85C543}"/>
                  </a:ext>
                </a:extLst>
              </p:cNvPr>
              <p:cNvSpPr>
                <a:spLocks/>
              </p:cNvSpPr>
              <p:nvPr/>
            </p:nvSpPr>
            <p:spPr bwMode="auto">
              <a:xfrm>
                <a:off x="2126" y="3634"/>
                <a:ext cx="101" cy="142"/>
              </a:xfrm>
              <a:custGeom>
                <a:avLst/>
                <a:gdLst>
                  <a:gd name="T0" fmla="*/ 0 w 1215"/>
                  <a:gd name="T1" fmla="*/ 0 h 1702"/>
                  <a:gd name="T2" fmla="*/ 0 w 1215"/>
                  <a:gd name="T3" fmla="*/ 0 h 1702"/>
                  <a:gd name="T4" fmla="*/ 0 w 1215"/>
                  <a:gd name="T5" fmla="*/ 0 h 1702"/>
                  <a:gd name="T6" fmla="*/ 0 w 1215"/>
                  <a:gd name="T7" fmla="*/ 0 h 1702"/>
                  <a:gd name="T8" fmla="*/ 0 w 1215"/>
                  <a:gd name="T9" fmla="*/ 0 h 1702"/>
                  <a:gd name="T10" fmla="*/ 0 w 1215"/>
                  <a:gd name="T11" fmla="*/ 0 h 1702"/>
                  <a:gd name="T12" fmla="*/ 0 w 1215"/>
                  <a:gd name="T13" fmla="*/ 0 h 1702"/>
                  <a:gd name="T14" fmla="*/ 0 w 1215"/>
                  <a:gd name="T15" fmla="*/ 0 h 1702"/>
                  <a:gd name="T16" fmla="*/ 0 w 1215"/>
                  <a:gd name="T17" fmla="*/ 0 h 1702"/>
                  <a:gd name="T18" fmla="*/ 0 w 1215"/>
                  <a:gd name="T19" fmla="*/ 0 h 1702"/>
                  <a:gd name="T20" fmla="*/ 0 w 1215"/>
                  <a:gd name="T21" fmla="*/ 0 h 1702"/>
                  <a:gd name="T22" fmla="*/ 0 w 1215"/>
                  <a:gd name="T23" fmla="*/ 0 h 17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5"/>
                  <a:gd name="T37" fmla="*/ 0 h 1702"/>
                  <a:gd name="T38" fmla="*/ 1215 w 1215"/>
                  <a:gd name="T39" fmla="*/ 1702 h 170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5" h="1702">
                    <a:moveTo>
                      <a:pt x="1210" y="431"/>
                    </a:moveTo>
                    <a:lnTo>
                      <a:pt x="1215" y="426"/>
                    </a:lnTo>
                    <a:lnTo>
                      <a:pt x="1156" y="451"/>
                    </a:lnTo>
                    <a:lnTo>
                      <a:pt x="1119" y="467"/>
                    </a:lnTo>
                    <a:lnTo>
                      <a:pt x="1101" y="478"/>
                    </a:lnTo>
                    <a:lnTo>
                      <a:pt x="1073" y="511"/>
                    </a:lnTo>
                    <a:lnTo>
                      <a:pt x="1053" y="552"/>
                    </a:lnTo>
                    <a:lnTo>
                      <a:pt x="772" y="1702"/>
                    </a:lnTo>
                    <a:lnTo>
                      <a:pt x="0" y="1429"/>
                    </a:lnTo>
                    <a:lnTo>
                      <a:pt x="315" y="31"/>
                    </a:lnTo>
                    <a:lnTo>
                      <a:pt x="481" y="0"/>
                    </a:lnTo>
                    <a:lnTo>
                      <a:pt x="1210" y="431"/>
                    </a:lnTo>
                    <a:close/>
                  </a:path>
                </a:pathLst>
              </a:custGeom>
              <a:solidFill>
                <a:srgbClr val="606060"/>
              </a:solidFill>
              <a:ln w="1588">
                <a:solidFill>
                  <a:srgbClr val="000000"/>
                </a:solidFill>
                <a:prstDash val="solid"/>
                <a:round/>
                <a:headEnd/>
                <a:tailEnd/>
              </a:ln>
            </p:spPr>
            <p:txBody>
              <a:bodyPr/>
              <a:lstStyle/>
              <a:p>
                <a:endParaRPr lang="en-US"/>
              </a:p>
            </p:txBody>
          </p:sp>
          <p:grpSp>
            <p:nvGrpSpPr>
              <p:cNvPr id="686" name="Group 1961">
                <a:extLst>
                  <a:ext uri="{FF2B5EF4-FFF2-40B4-BE49-F238E27FC236}">
                    <a16:creationId xmlns:a16="http://schemas.microsoft.com/office/drawing/2014/main" id="{61AC8390-6094-44EB-ACE0-66A1BFD8F8BC}"/>
                  </a:ext>
                </a:extLst>
              </p:cNvPr>
              <p:cNvGrpSpPr>
                <a:grpSpLocks/>
              </p:cNvGrpSpPr>
              <p:nvPr/>
            </p:nvGrpSpPr>
            <p:grpSpPr bwMode="auto">
              <a:xfrm>
                <a:off x="2183" y="3584"/>
                <a:ext cx="52" cy="60"/>
                <a:chOff x="2183" y="3584"/>
                <a:chExt cx="52" cy="60"/>
              </a:xfrm>
            </p:grpSpPr>
            <p:sp>
              <p:nvSpPr>
                <p:cNvPr id="706" name="Oval 1962">
                  <a:extLst>
                    <a:ext uri="{FF2B5EF4-FFF2-40B4-BE49-F238E27FC236}">
                      <a16:creationId xmlns:a16="http://schemas.microsoft.com/office/drawing/2014/main" id="{CA46F2DD-2ECF-4E90-8E65-E54C510A1BAF}"/>
                    </a:ext>
                  </a:extLst>
                </p:cNvPr>
                <p:cNvSpPr>
                  <a:spLocks noChangeArrowheads="1"/>
                </p:cNvSpPr>
                <p:nvPr/>
              </p:nvSpPr>
              <p:spPr bwMode="auto">
                <a:xfrm>
                  <a:off x="2183" y="3584"/>
                  <a:ext cx="52" cy="60"/>
                </a:xfrm>
                <a:prstGeom prst="ellipse">
                  <a:avLst/>
                </a:prstGeom>
                <a:solidFill>
                  <a:srgbClr val="40404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nvGrpSpPr>
                <p:cNvPr id="707" name="Group 1963">
                  <a:extLst>
                    <a:ext uri="{FF2B5EF4-FFF2-40B4-BE49-F238E27FC236}">
                      <a16:creationId xmlns:a16="http://schemas.microsoft.com/office/drawing/2014/main" id="{CE0E77A2-BAD7-4C8B-8342-032D2116203C}"/>
                    </a:ext>
                  </a:extLst>
                </p:cNvPr>
                <p:cNvGrpSpPr>
                  <a:grpSpLocks/>
                </p:cNvGrpSpPr>
                <p:nvPr/>
              </p:nvGrpSpPr>
              <p:grpSpPr bwMode="auto">
                <a:xfrm>
                  <a:off x="2196" y="3594"/>
                  <a:ext cx="28" cy="40"/>
                  <a:chOff x="2196" y="3594"/>
                  <a:chExt cx="28" cy="40"/>
                </a:xfrm>
              </p:grpSpPr>
              <p:sp>
                <p:nvSpPr>
                  <p:cNvPr id="708" name="Oval 1964">
                    <a:extLst>
                      <a:ext uri="{FF2B5EF4-FFF2-40B4-BE49-F238E27FC236}">
                        <a16:creationId xmlns:a16="http://schemas.microsoft.com/office/drawing/2014/main" id="{4EAD46E2-6830-42D9-A110-29EA1D568AA6}"/>
                      </a:ext>
                    </a:extLst>
                  </p:cNvPr>
                  <p:cNvSpPr>
                    <a:spLocks noChangeArrowheads="1"/>
                  </p:cNvSpPr>
                  <p:nvPr/>
                </p:nvSpPr>
                <p:spPr bwMode="auto">
                  <a:xfrm>
                    <a:off x="2208" y="361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09" name="Oval 1965">
                    <a:extLst>
                      <a:ext uri="{FF2B5EF4-FFF2-40B4-BE49-F238E27FC236}">
                        <a16:creationId xmlns:a16="http://schemas.microsoft.com/office/drawing/2014/main" id="{114A5648-8B50-43E3-9BE5-0A878AE67BF2}"/>
                      </a:ext>
                    </a:extLst>
                  </p:cNvPr>
                  <p:cNvSpPr>
                    <a:spLocks noChangeArrowheads="1"/>
                  </p:cNvSpPr>
                  <p:nvPr/>
                </p:nvSpPr>
                <p:spPr bwMode="auto">
                  <a:xfrm>
                    <a:off x="2219" y="361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0" name="Oval 1966">
                    <a:extLst>
                      <a:ext uri="{FF2B5EF4-FFF2-40B4-BE49-F238E27FC236}">
                        <a16:creationId xmlns:a16="http://schemas.microsoft.com/office/drawing/2014/main" id="{3F27A7B9-D671-42EE-9738-B3FE290344CD}"/>
                      </a:ext>
                    </a:extLst>
                  </p:cNvPr>
                  <p:cNvSpPr>
                    <a:spLocks noChangeArrowheads="1"/>
                  </p:cNvSpPr>
                  <p:nvPr/>
                </p:nvSpPr>
                <p:spPr bwMode="auto">
                  <a:xfrm>
                    <a:off x="2196" y="3622"/>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1" name="Oval 1967">
                    <a:extLst>
                      <a:ext uri="{FF2B5EF4-FFF2-40B4-BE49-F238E27FC236}">
                        <a16:creationId xmlns:a16="http://schemas.microsoft.com/office/drawing/2014/main" id="{B8712DD9-50C4-48A1-8126-FCFAFA8BB21B}"/>
                      </a:ext>
                    </a:extLst>
                  </p:cNvPr>
                  <p:cNvSpPr>
                    <a:spLocks noChangeArrowheads="1"/>
                  </p:cNvSpPr>
                  <p:nvPr/>
                </p:nvSpPr>
                <p:spPr bwMode="auto">
                  <a:xfrm>
                    <a:off x="2205" y="3626"/>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2" name="Oval 1968">
                    <a:extLst>
                      <a:ext uri="{FF2B5EF4-FFF2-40B4-BE49-F238E27FC236}">
                        <a16:creationId xmlns:a16="http://schemas.microsoft.com/office/drawing/2014/main" id="{B0B5878D-543E-4418-85E9-8612363F12C6}"/>
                      </a:ext>
                    </a:extLst>
                  </p:cNvPr>
                  <p:cNvSpPr>
                    <a:spLocks noChangeArrowheads="1"/>
                  </p:cNvSpPr>
                  <p:nvPr/>
                </p:nvSpPr>
                <p:spPr bwMode="auto">
                  <a:xfrm>
                    <a:off x="2215" y="3630"/>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3" name="Oval 1969">
                    <a:extLst>
                      <a:ext uri="{FF2B5EF4-FFF2-40B4-BE49-F238E27FC236}">
                        <a16:creationId xmlns:a16="http://schemas.microsoft.com/office/drawing/2014/main" id="{B09DE08E-2EF0-433D-B45C-B545E3318144}"/>
                      </a:ext>
                    </a:extLst>
                  </p:cNvPr>
                  <p:cNvSpPr>
                    <a:spLocks noChangeArrowheads="1"/>
                  </p:cNvSpPr>
                  <p:nvPr/>
                </p:nvSpPr>
                <p:spPr bwMode="auto">
                  <a:xfrm>
                    <a:off x="2202" y="361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4" name="Oval 1970">
                    <a:extLst>
                      <a:ext uri="{FF2B5EF4-FFF2-40B4-BE49-F238E27FC236}">
                        <a16:creationId xmlns:a16="http://schemas.microsoft.com/office/drawing/2014/main" id="{DFEFE8EA-84E6-4DC9-86D5-E81EC16B0601}"/>
                      </a:ext>
                    </a:extLst>
                  </p:cNvPr>
                  <p:cNvSpPr>
                    <a:spLocks noChangeArrowheads="1"/>
                  </p:cNvSpPr>
                  <p:nvPr/>
                </p:nvSpPr>
                <p:spPr bwMode="auto">
                  <a:xfrm>
                    <a:off x="2211" y="3621"/>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5" name="Oval 1971">
                    <a:extLst>
                      <a:ext uri="{FF2B5EF4-FFF2-40B4-BE49-F238E27FC236}">
                        <a16:creationId xmlns:a16="http://schemas.microsoft.com/office/drawing/2014/main" id="{1BD043C3-890D-414F-90D7-A5C7FD20F0F3}"/>
                      </a:ext>
                    </a:extLst>
                  </p:cNvPr>
                  <p:cNvSpPr>
                    <a:spLocks noChangeArrowheads="1"/>
                  </p:cNvSpPr>
                  <p:nvPr/>
                </p:nvSpPr>
                <p:spPr bwMode="auto">
                  <a:xfrm>
                    <a:off x="2201" y="3594"/>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6" name="Oval 1972">
                    <a:extLst>
                      <a:ext uri="{FF2B5EF4-FFF2-40B4-BE49-F238E27FC236}">
                        <a16:creationId xmlns:a16="http://schemas.microsoft.com/office/drawing/2014/main" id="{F5E9FFC0-2FE6-4A36-AC9D-A51CE82A0C97}"/>
                      </a:ext>
                    </a:extLst>
                  </p:cNvPr>
                  <p:cNvSpPr>
                    <a:spLocks noChangeArrowheads="1"/>
                  </p:cNvSpPr>
                  <p:nvPr/>
                </p:nvSpPr>
                <p:spPr bwMode="auto">
                  <a:xfrm>
                    <a:off x="2211" y="359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7" name="Oval 1973">
                    <a:extLst>
                      <a:ext uri="{FF2B5EF4-FFF2-40B4-BE49-F238E27FC236}">
                        <a16:creationId xmlns:a16="http://schemas.microsoft.com/office/drawing/2014/main" id="{76BAC42F-1014-4535-817B-723E42F56D38}"/>
                      </a:ext>
                    </a:extLst>
                  </p:cNvPr>
                  <p:cNvSpPr>
                    <a:spLocks noChangeArrowheads="1"/>
                  </p:cNvSpPr>
                  <p:nvPr/>
                </p:nvSpPr>
                <p:spPr bwMode="auto">
                  <a:xfrm>
                    <a:off x="2221" y="3602"/>
                    <a:ext cx="3"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8" name="Oval 1974">
                    <a:extLst>
                      <a:ext uri="{FF2B5EF4-FFF2-40B4-BE49-F238E27FC236}">
                        <a16:creationId xmlns:a16="http://schemas.microsoft.com/office/drawing/2014/main" id="{6021C147-2CA0-4252-99E3-19F3D24E3E18}"/>
                      </a:ext>
                    </a:extLst>
                  </p:cNvPr>
                  <p:cNvSpPr>
                    <a:spLocks noChangeArrowheads="1"/>
                  </p:cNvSpPr>
                  <p:nvPr/>
                </p:nvSpPr>
                <p:spPr bwMode="auto">
                  <a:xfrm>
                    <a:off x="2198" y="3608"/>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19" name="Oval 1975">
                    <a:extLst>
                      <a:ext uri="{FF2B5EF4-FFF2-40B4-BE49-F238E27FC236}">
                        <a16:creationId xmlns:a16="http://schemas.microsoft.com/office/drawing/2014/main" id="{67941687-323F-460B-A77F-2495E6E70803}"/>
                      </a:ext>
                    </a:extLst>
                  </p:cNvPr>
                  <p:cNvSpPr>
                    <a:spLocks noChangeArrowheads="1"/>
                  </p:cNvSpPr>
                  <p:nvPr/>
                </p:nvSpPr>
                <p:spPr bwMode="auto">
                  <a:xfrm>
                    <a:off x="2204" y="3603"/>
                    <a:ext cx="3" cy="3"/>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20" name="Oval 1976">
                    <a:extLst>
                      <a:ext uri="{FF2B5EF4-FFF2-40B4-BE49-F238E27FC236}">
                        <a16:creationId xmlns:a16="http://schemas.microsoft.com/office/drawing/2014/main" id="{ABF0547B-98F9-4EA4-8B44-91C24A877C03}"/>
                      </a:ext>
                    </a:extLst>
                  </p:cNvPr>
                  <p:cNvSpPr>
                    <a:spLocks noChangeArrowheads="1"/>
                  </p:cNvSpPr>
                  <p:nvPr/>
                </p:nvSpPr>
                <p:spPr bwMode="auto">
                  <a:xfrm>
                    <a:off x="2215" y="3606"/>
                    <a:ext cx="2" cy="4"/>
                  </a:xfrm>
                  <a:prstGeom prst="ellipse">
                    <a:avLst/>
                  </a:pr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687" name="Group 1977">
                <a:extLst>
                  <a:ext uri="{FF2B5EF4-FFF2-40B4-BE49-F238E27FC236}">
                    <a16:creationId xmlns:a16="http://schemas.microsoft.com/office/drawing/2014/main" id="{6A31C13E-30CB-410D-9E1D-4AC7CB6767DD}"/>
                  </a:ext>
                </a:extLst>
              </p:cNvPr>
              <p:cNvGrpSpPr>
                <a:grpSpLocks/>
              </p:cNvGrpSpPr>
              <p:nvPr/>
            </p:nvGrpSpPr>
            <p:grpSpPr bwMode="auto">
              <a:xfrm>
                <a:off x="2142" y="3655"/>
                <a:ext cx="68" cy="111"/>
                <a:chOff x="2142" y="3655"/>
                <a:chExt cx="68" cy="111"/>
              </a:xfrm>
            </p:grpSpPr>
            <p:sp>
              <p:nvSpPr>
                <p:cNvPr id="688" name="Oval 1978">
                  <a:extLst>
                    <a:ext uri="{FF2B5EF4-FFF2-40B4-BE49-F238E27FC236}">
                      <a16:creationId xmlns:a16="http://schemas.microsoft.com/office/drawing/2014/main" id="{9A62641F-934C-47ED-95AF-863BB8461B63}"/>
                    </a:ext>
                  </a:extLst>
                </p:cNvPr>
                <p:cNvSpPr>
                  <a:spLocks noChangeArrowheads="1"/>
                </p:cNvSpPr>
                <p:nvPr/>
              </p:nvSpPr>
              <p:spPr bwMode="auto">
                <a:xfrm>
                  <a:off x="2176" y="375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89" name="Oval 1979">
                  <a:extLst>
                    <a:ext uri="{FF2B5EF4-FFF2-40B4-BE49-F238E27FC236}">
                      <a16:creationId xmlns:a16="http://schemas.microsoft.com/office/drawing/2014/main" id="{068D45FD-E71F-48F5-8CBD-600597F39750}"/>
                    </a:ext>
                  </a:extLst>
                </p:cNvPr>
                <p:cNvSpPr>
                  <a:spLocks noChangeArrowheads="1"/>
                </p:cNvSpPr>
                <p:nvPr/>
              </p:nvSpPr>
              <p:spPr bwMode="auto">
                <a:xfrm>
                  <a:off x="2163" y="3655"/>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0" name="Oval 1980">
                  <a:extLst>
                    <a:ext uri="{FF2B5EF4-FFF2-40B4-BE49-F238E27FC236}">
                      <a16:creationId xmlns:a16="http://schemas.microsoft.com/office/drawing/2014/main" id="{4AFFA753-DB50-43B1-B96C-7B5C3AD461B8}"/>
                    </a:ext>
                  </a:extLst>
                </p:cNvPr>
                <p:cNvSpPr>
                  <a:spLocks noChangeArrowheads="1"/>
                </p:cNvSpPr>
                <p:nvPr/>
              </p:nvSpPr>
              <p:spPr bwMode="auto">
                <a:xfrm>
                  <a:off x="2180" y="3663"/>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1" name="Oval 1981">
                  <a:extLst>
                    <a:ext uri="{FF2B5EF4-FFF2-40B4-BE49-F238E27FC236}">
                      <a16:creationId xmlns:a16="http://schemas.microsoft.com/office/drawing/2014/main" id="{42D43088-C789-4976-A325-4415070F1994}"/>
                    </a:ext>
                  </a:extLst>
                </p:cNvPr>
                <p:cNvSpPr>
                  <a:spLocks noChangeArrowheads="1"/>
                </p:cNvSpPr>
                <p:nvPr/>
              </p:nvSpPr>
              <p:spPr bwMode="auto">
                <a:xfrm>
                  <a:off x="2196" y="367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2" name="Oval 1982">
                  <a:extLst>
                    <a:ext uri="{FF2B5EF4-FFF2-40B4-BE49-F238E27FC236}">
                      <a16:creationId xmlns:a16="http://schemas.microsoft.com/office/drawing/2014/main" id="{B00878D4-C8BB-4C8E-AE60-75B8464DFF93}"/>
                    </a:ext>
                  </a:extLst>
                </p:cNvPr>
                <p:cNvSpPr>
                  <a:spLocks noChangeArrowheads="1"/>
                </p:cNvSpPr>
                <p:nvPr/>
              </p:nvSpPr>
              <p:spPr bwMode="auto">
                <a:xfrm>
                  <a:off x="2158" y="3672"/>
                  <a:ext cx="15"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3" name="Oval 1983">
                  <a:extLst>
                    <a:ext uri="{FF2B5EF4-FFF2-40B4-BE49-F238E27FC236}">
                      <a16:creationId xmlns:a16="http://schemas.microsoft.com/office/drawing/2014/main" id="{29B7C7EF-A7DC-4F84-860C-E2B91F678CC6}"/>
                    </a:ext>
                  </a:extLst>
                </p:cNvPr>
                <p:cNvSpPr>
                  <a:spLocks noChangeArrowheads="1"/>
                </p:cNvSpPr>
                <p:nvPr/>
              </p:nvSpPr>
              <p:spPr bwMode="auto">
                <a:xfrm>
                  <a:off x="2176" y="3679"/>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4" name="Oval 1984">
                  <a:extLst>
                    <a:ext uri="{FF2B5EF4-FFF2-40B4-BE49-F238E27FC236}">
                      <a16:creationId xmlns:a16="http://schemas.microsoft.com/office/drawing/2014/main" id="{1CA73CE7-E930-4707-BAF6-E957051E4378}"/>
                    </a:ext>
                  </a:extLst>
                </p:cNvPr>
                <p:cNvSpPr>
                  <a:spLocks noChangeArrowheads="1"/>
                </p:cNvSpPr>
                <p:nvPr/>
              </p:nvSpPr>
              <p:spPr bwMode="auto">
                <a:xfrm>
                  <a:off x="2192" y="3686"/>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5" name="Oval 1985">
                  <a:extLst>
                    <a:ext uri="{FF2B5EF4-FFF2-40B4-BE49-F238E27FC236}">
                      <a16:creationId xmlns:a16="http://schemas.microsoft.com/office/drawing/2014/main" id="{CB87A2A9-4E71-4C96-B7E7-2637DD17A777}"/>
                    </a:ext>
                  </a:extLst>
                </p:cNvPr>
                <p:cNvSpPr>
                  <a:spLocks noChangeArrowheads="1"/>
                </p:cNvSpPr>
                <p:nvPr/>
              </p:nvSpPr>
              <p:spPr bwMode="auto">
                <a:xfrm>
                  <a:off x="2154" y="3688"/>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6" name="Oval 1986">
                  <a:extLst>
                    <a:ext uri="{FF2B5EF4-FFF2-40B4-BE49-F238E27FC236}">
                      <a16:creationId xmlns:a16="http://schemas.microsoft.com/office/drawing/2014/main" id="{72A46C3B-10FF-4B09-A2B1-C2620267B3A6}"/>
                    </a:ext>
                  </a:extLst>
                </p:cNvPr>
                <p:cNvSpPr>
                  <a:spLocks noChangeArrowheads="1"/>
                </p:cNvSpPr>
                <p:nvPr/>
              </p:nvSpPr>
              <p:spPr bwMode="auto">
                <a:xfrm>
                  <a:off x="2171" y="3695"/>
                  <a:ext cx="14" cy="15"/>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7" name="Oval 1987">
                  <a:extLst>
                    <a:ext uri="{FF2B5EF4-FFF2-40B4-BE49-F238E27FC236}">
                      <a16:creationId xmlns:a16="http://schemas.microsoft.com/office/drawing/2014/main" id="{5E88D805-D240-4C22-A0D6-2EFAF8D3C9F1}"/>
                    </a:ext>
                  </a:extLst>
                </p:cNvPr>
                <p:cNvSpPr>
                  <a:spLocks noChangeArrowheads="1"/>
                </p:cNvSpPr>
                <p:nvPr/>
              </p:nvSpPr>
              <p:spPr bwMode="auto">
                <a:xfrm>
                  <a:off x="2188" y="3702"/>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8" name="Oval 1988">
                  <a:extLst>
                    <a:ext uri="{FF2B5EF4-FFF2-40B4-BE49-F238E27FC236}">
                      <a16:creationId xmlns:a16="http://schemas.microsoft.com/office/drawing/2014/main" id="{2D79E34A-85F2-4F9E-B230-7B47F13EBB23}"/>
                    </a:ext>
                  </a:extLst>
                </p:cNvPr>
                <p:cNvSpPr>
                  <a:spLocks noChangeArrowheads="1"/>
                </p:cNvSpPr>
                <p:nvPr/>
              </p:nvSpPr>
              <p:spPr bwMode="auto">
                <a:xfrm>
                  <a:off x="2150" y="370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699" name="Oval 1989">
                  <a:extLst>
                    <a:ext uri="{FF2B5EF4-FFF2-40B4-BE49-F238E27FC236}">
                      <a16:creationId xmlns:a16="http://schemas.microsoft.com/office/drawing/2014/main" id="{B0577B1F-EDB6-41A5-BA28-D48CDE900F94}"/>
                    </a:ext>
                  </a:extLst>
                </p:cNvPr>
                <p:cNvSpPr>
                  <a:spLocks noChangeArrowheads="1"/>
                </p:cNvSpPr>
                <p:nvPr/>
              </p:nvSpPr>
              <p:spPr bwMode="auto">
                <a:xfrm>
                  <a:off x="2167" y="3711"/>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00" name="Oval 1990">
                  <a:extLst>
                    <a:ext uri="{FF2B5EF4-FFF2-40B4-BE49-F238E27FC236}">
                      <a16:creationId xmlns:a16="http://schemas.microsoft.com/office/drawing/2014/main" id="{AA03CCAA-53AD-49F7-9A1C-7078825041D1}"/>
                    </a:ext>
                  </a:extLst>
                </p:cNvPr>
                <p:cNvSpPr>
                  <a:spLocks noChangeArrowheads="1"/>
                </p:cNvSpPr>
                <p:nvPr/>
              </p:nvSpPr>
              <p:spPr bwMode="auto">
                <a:xfrm>
                  <a:off x="2184" y="3718"/>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01" name="Oval 1991">
                  <a:extLst>
                    <a:ext uri="{FF2B5EF4-FFF2-40B4-BE49-F238E27FC236}">
                      <a16:creationId xmlns:a16="http://schemas.microsoft.com/office/drawing/2014/main" id="{13CFF1CC-4C72-419E-992D-A06D14A2CDD5}"/>
                    </a:ext>
                  </a:extLst>
                </p:cNvPr>
                <p:cNvSpPr>
                  <a:spLocks noChangeArrowheads="1"/>
                </p:cNvSpPr>
                <p:nvPr/>
              </p:nvSpPr>
              <p:spPr bwMode="auto">
                <a:xfrm>
                  <a:off x="2146" y="3720"/>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02" name="Oval 1992">
                  <a:extLst>
                    <a:ext uri="{FF2B5EF4-FFF2-40B4-BE49-F238E27FC236}">
                      <a16:creationId xmlns:a16="http://schemas.microsoft.com/office/drawing/2014/main" id="{927C48FC-ED27-4133-81EC-9B4CD72693B9}"/>
                    </a:ext>
                  </a:extLst>
                </p:cNvPr>
                <p:cNvSpPr>
                  <a:spLocks noChangeArrowheads="1"/>
                </p:cNvSpPr>
                <p:nvPr/>
              </p:nvSpPr>
              <p:spPr bwMode="auto">
                <a:xfrm>
                  <a:off x="2163" y="3727"/>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03" name="Oval 1993">
                  <a:extLst>
                    <a:ext uri="{FF2B5EF4-FFF2-40B4-BE49-F238E27FC236}">
                      <a16:creationId xmlns:a16="http://schemas.microsoft.com/office/drawing/2014/main" id="{A9278E43-8790-4F07-B8E2-83B34132AE68}"/>
                    </a:ext>
                  </a:extLst>
                </p:cNvPr>
                <p:cNvSpPr>
                  <a:spLocks noChangeArrowheads="1"/>
                </p:cNvSpPr>
                <p:nvPr/>
              </p:nvSpPr>
              <p:spPr bwMode="auto">
                <a:xfrm>
                  <a:off x="2180" y="3734"/>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04" name="Oval 1994">
                  <a:extLst>
                    <a:ext uri="{FF2B5EF4-FFF2-40B4-BE49-F238E27FC236}">
                      <a16:creationId xmlns:a16="http://schemas.microsoft.com/office/drawing/2014/main" id="{C94CCCAF-DB7F-46ED-83D1-FC7A31AD275B}"/>
                    </a:ext>
                  </a:extLst>
                </p:cNvPr>
                <p:cNvSpPr>
                  <a:spLocks noChangeArrowheads="1"/>
                </p:cNvSpPr>
                <p:nvPr/>
              </p:nvSpPr>
              <p:spPr bwMode="auto">
                <a:xfrm>
                  <a:off x="2142" y="3736"/>
                  <a:ext cx="15"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sp>
              <p:nvSpPr>
                <p:cNvPr id="705" name="Oval 1995">
                  <a:extLst>
                    <a:ext uri="{FF2B5EF4-FFF2-40B4-BE49-F238E27FC236}">
                      <a16:creationId xmlns:a16="http://schemas.microsoft.com/office/drawing/2014/main" id="{9B805EB9-8138-48B3-ABE5-FB5D9F8638FB}"/>
                    </a:ext>
                  </a:extLst>
                </p:cNvPr>
                <p:cNvSpPr>
                  <a:spLocks noChangeArrowheads="1"/>
                </p:cNvSpPr>
                <p:nvPr/>
              </p:nvSpPr>
              <p:spPr bwMode="auto">
                <a:xfrm>
                  <a:off x="2160" y="3743"/>
                  <a:ext cx="14" cy="16"/>
                </a:xfrm>
                <a:prstGeom prst="ellipse">
                  <a:avLst/>
                </a:prstGeom>
                <a:solidFill>
                  <a:srgbClr val="A0A0A0"/>
                </a:solidFill>
                <a:ln w="1588">
                  <a:solidFill>
                    <a:srgbClr val="000000"/>
                  </a:solidFill>
                  <a:round/>
                  <a:headEnd/>
                  <a:tailEnd/>
                </a:ln>
              </p:spPr>
              <p:txBody>
                <a:bodyPr/>
                <a:lstStyle>
                  <a:lvl1pPr eaLnBrk="0" hangingPunct="0">
                    <a:spcBef>
                      <a:spcPct val="20000"/>
                    </a:spcBef>
                    <a:buSzPct val="85000"/>
                    <a:buBlip>
                      <a:blip r:embed="rId4"/>
                    </a:buBlip>
                    <a:defRPr sz="3200">
                      <a:solidFill>
                        <a:schemeClr val="tx1"/>
                      </a:solidFill>
                      <a:latin typeface="Times New Roman" panose="02020603050405020304" pitchFamily="18" charset="0"/>
                    </a:defRPr>
                  </a:lvl1pPr>
                  <a:lvl2pPr marL="742950" indent="-285750" eaLnBrk="0" hangingPunct="0">
                    <a:spcBef>
                      <a:spcPct val="20000"/>
                    </a:spcBef>
                    <a:buClr>
                      <a:schemeClr val="bg2"/>
                    </a:buClr>
                    <a:buSzPct val="70000"/>
                    <a:buFont typeface="Wingdings" panose="05000000000000000000" pitchFamily="2" charset="2"/>
                    <a:buChar char="n"/>
                    <a:defRPr sz="2800">
                      <a:solidFill>
                        <a:schemeClr val="tx1"/>
                      </a:solidFill>
                      <a:latin typeface="Times New Roman" panose="02020603050405020304" pitchFamily="18" charset="0"/>
                    </a:defRPr>
                  </a:lvl2pPr>
                  <a:lvl3pPr marL="1143000" indent="-228600" eaLnBrk="0" hangingPunct="0">
                    <a:spcBef>
                      <a:spcPct val="20000"/>
                    </a:spcBef>
                    <a:buSzPct val="70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eaLnBrk="0" hangingPunct="0">
                    <a:spcBef>
                      <a:spcPct val="20000"/>
                    </a:spcBef>
                    <a:buSzPct val="70000"/>
                    <a:buFont typeface="Wingdings" panose="05000000000000000000" pitchFamily="2" charset="2"/>
                    <a:buChar char="n"/>
                    <a:defRPr sz="2000">
                      <a:solidFill>
                        <a:schemeClr val="tx1"/>
                      </a:solidFill>
                      <a:latin typeface="Times New Roman" panose="02020603050405020304" pitchFamily="18" charset="0"/>
                    </a:defRPr>
                  </a:lvl4pPr>
                  <a:lvl5pPr marL="2057400" indent="-228600" eaLnBrk="0" hangingPunct="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SzTx/>
                    <a:buFontTx/>
                    <a:buNone/>
                  </a:pPr>
                  <a:endParaRPr lang="en-GB" altLang="en-US" sz="1400">
                    <a:latin typeface="Arial" panose="020B0604020202020204" pitchFamily="34" charset="0"/>
                  </a:endParaRPr>
                </a:p>
              </p:txBody>
            </p:sp>
          </p:grpSp>
        </p:grpSp>
        <p:grpSp>
          <p:nvGrpSpPr>
            <p:cNvPr id="670" name="Group 1996">
              <a:extLst>
                <a:ext uri="{FF2B5EF4-FFF2-40B4-BE49-F238E27FC236}">
                  <a16:creationId xmlns:a16="http://schemas.microsoft.com/office/drawing/2014/main" id="{B304DEC3-E36C-4054-A2D3-95E3F97BB0F6}"/>
                </a:ext>
              </a:extLst>
            </p:cNvPr>
            <p:cNvGrpSpPr>
              <a:grpSpLocks/>
            </p:cNvGrpSpPr>
            <p:nvPr/>
          </p:nvGrpSpPr>
          <p:grpSpPr bwMode="auto">
            <a:xfrm>
              <a:off x="2075" y="3614"/>
              <a:ext cx="81" cy="92"/>
              <a:chOff x="2075" y="3614"/>
              <a:chExt cx="81" cy="92"/>
            </a:xfrm>
          </p:grpSpPr>
          <p:grpSp>
            <p:nvGrpSpPr>
              <p:cNvPr id="671" name="Group 1997">
                <a:extLst>
                  <a:ext uri="{FF2B5EF4-FFF2-40B4-BE49-F238E27FC236}">
                    <a16:creationId xmlns:a16="http://schemas.microsoft.com/office/drawing/2014/main" id="{052626EE-A3FA-4109-8FB9-87553C463CD9}"/>
                  </a:ext>
                </a:extLst>
              </p:cNvPr>
              <p:cNvGrpSpPr>
                <a:grpSpLocks/>
              </p:cNvGrpSpPr>
              <p:nvPr/>
            </p:nvGrpSpPr>
            <p:grpSpPr bwMode="auto">
              <a:xfrm>
                <a:off x="2101" y="3643"/>
                <a:ext cx="39" cy="42"/>
                <a:chOff x="2101" y="3643"/>
                <a:chExt cx="39" cy="42"/>
              </a:xfrm>
            </p:grpSpPr>
            <p:sp>
              <p:nvSpPr>
                <p:cNvPr id="679" name="Freeform 1998">
                  <a:extLst>
                    <a:ext uri="{FF2B5EF4-FFF2-40B4-BE49-F238E27FC236}">
                      <a16:creationId xmlns:a16="http://schemas.microsoft.com/office/drawing/2014/main" id="{AFD5BAB7-A57E-4ED3-9467-B348A28919BE}"/>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w 475"/>
                    <a:gd name="T57" fmla="*/ 0 h 49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5"/>
                    <a:gd name="T88" fmla="*/ 0 h 497"/>
                    <a:gd name="T89" fmla="*/ 475 w 475"/>
                    <a:gd name="T90" fmla="*/ 497 h 49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 name="Freeform 1999">
                  <a:extLst>
                    <a:ext uri="{FF2B5EF4-FFF2-40B4-BE49-F238E27FC236}">
                      <a16:creationId xmlns:a16="http://schemas.microsoft.com/office/drawing/2014/main" id="{CA7D9B7D-E962-4F71-ABAC-79CF7DC1FB52}"/>
                    </a:ext>
                  </a:extLst>
                </p:cNvPr>
                <p:cNvSpPr>
                  <a:spLocks/>
                </p:cNvSpPr>
                <p:nvPr/>
              </p:nvSpPr>
              <p:spPr bwMode="auto">
                <a:xfrm>
                  <a:off x="2101" y="3643"/>
                  <a:ext cx="39" cy="42"/>
                </a:xfrm>
                <a:custGeom>
                  <a:avLst/>
                  <a:gdLst>
                    <a:gd name="T0" fmla="*/ 0 w 475"/>
                    <a:gd name="T1" fmla="*/ 0 h 497"/>
                    <a:gd name="T2" fmla="*/ 0 w 475"/>
                    <a:gd name="T3" fmla="*/ 0 h 497"/>
                    <a:gd name="T4" fmla="*/ 0 w 475"/>
                    <a:gd name="T5" fmla="*/ 0 h 497"/>
                    <a:gd name="T6" fmla="*/ 0 w 475"/>
                    <a:gd name="T7" fmla="*/ 0 h 497"/>
                    <a:gd name="T8" fmla="*/ 0 w 475"/>
                    <a:gd name="T9" fmla="*/ 0 h 497"/>
                    <a:gd name="T10" fmla="*/ 0 w 475"/>
                    <a:gd name="T11" fmla="*/ 0 h 497"/>
                    <a:gd name="T12" fmla="*/ 0 w 475"/>
                    <a:gd name="T13" fmla="*/ 0 h 497"/>
                    <a:gd name="T14" fmla="*/ 0 w 475"/>
                    <a:gd name="T15" fmla="*/ 0 h 497"/>
                    <a:gd name="T16" fmla="*/ 0 w 475"/>
                    <a:gd name="T17" fmla="*/ 0 h 497"/>
                    <a:gd name="T18" fmla="*/ 0 w 475"/>
                    <a:gd name="T19" fmla="*/ 0 h 497"/>
                    <a:gd name="T20" fmla="*/ 0 w 475"/>
                    <a:gd name="T21" fmla="*/ 0 h 497"/>
                    <a:gd name="T22" fmla="*/ 0 w 475"/>
                    <a:gd name="T23" fmla="*/ 0 h 497"/>
                    <a:gd name="T24" fmla="*/ 0 w 475"/>
                    <a:gd name="T25" fmla="*/ 0 h 497"/>
                    <a:gd name="T26" fmla="*/ 0 w 475"/>
                    <a:gd name="T27" fmla="*/ 0 h 497"/>
                    <a:gd name="T28" fmla="*/ 0 w 475"/>
                    <a:gd name="T29" fmla="*/ 0 h 497"/>
                    <a:gd name="T30" fmla="*/ 0 w 475"/>
                    <a:gd name="T31" fmla="*/ 0 h 497"/>
                    <a:gd name="T32" fmla="*/ 0 w 475"/>
                    <a:gd name="T33" fmla="*/ 0 h 497"/>
                    <a:gd name="T34" fmla="*/ 0 w 475"/>
                    <a:gd name="T35" fmla="*/ 0 h 497"/>
                    <a:gd name="T36" fmla="*/ 0 w 475"/>
                    <a:gd name="T37" fmla="*/ 0 h 497"/>
                    <a:gd name="T38" fmla="*/ 0 w 475"/>
                    <a:gd name="T39" fmla="*/ 0 h 497"/>
                    <a:gd name="T40" fmla="*/ 0 w 475"/>
                    <a:gd name="T41" fmla="*/ 0 h 497"/>
                    <a:gd name="T42" fmla="*/ 0 w 475"/>
                    <a:gd name="T43" fmla="*/ 0 h 497"/>
                    <a:gd name="T44" fmla="*/ 0 w 475"/>
                    <a:gd name="T45" fmla="*/ 0 h 497"/>
                    <a:gd name="T46" fmla="*/ 0 w 475"/>
                    <a:gd name="T47" fmla="*/ 0 h 497"/>
                    <a:gd name="T48" fmla="*/ 0 w 475"/>
                    <a:gd name="T49" fmla="*/ 0 h 497"/>
                    <a:gd name="T50" fmla="*/ 0 w 475"/>
                    <a:gd name="T51" fmla="*/ 0 h 497"/>
                    <a:gd name="T52" fmla="*/ 0 w 475"/>
                    <a:gd name="T53" fmla="*/ 0 h 497"/>
                    <a:gd name="T54" fmla="*/ 0 w 475"/>
                    <a:gd name="T55" fmla="*/ 0 h 4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75"/>
                    <a:gd name="T85" fmla="*/ 0 h 497"/>
                    <a:gd name="T86" fmla="*/ 475 w 475"/>
                    <a:gd name="T87" fmla="*/ 497 h 4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75" h="497">
                      <a:moveTo>
                        <a:pt x="0" y="0"/>
                      </a:moveTo>
                      <a:lnTo>
                        <a:pt x="91" y="26"/>
                      </a:lnTo>
                      <a:lnTo>
                        <a:pt x="175" y="52"/>
                      </a:lnTo>
                      <a:lnTo>
                        <a:pt x="245" y="74"/>
                      </a:lnTo>
                      <a:lnTo>
                        <a:pt x="336" y="134"/>
                      </a:lnTo>
                      <a:lnTo>
                        <a:pt x="363" y="166"/>
                      </a:lnTo>
                      <a:lnTo>
                        <a:pt x="390" y="218"/>
                      </a:lnTo>
                      <a:lnTo>
                        <a:pt x="426" y="278"/>
                      </a:lnTo>
                      <a:lnTo>
                        <a:pt x="457" y="341"/>
                      </a:lnTo>
                      <a:lnTo>
                        <a:pt x="472" y="378"/>
                      </a:lnTo>
                      <a:lnTo>
                        <a:pt x="475" y="404"/>
                      </a:lnTo>
                      <a:lnTo>
                        <a:pt x="475" y="427"/>
                      </a:lnTo>
                      <a:lnTo>
                        <a:pt x="468" y="445"/>
                      </a:lnTo>
                      <a:lnTo>
                        <a:pt x="447" y="467"/>
                      </a:lnTo>
                      <a:lnTo>
                        <a:pt x="429" y="483"/>
                      </a:lnTo>
                      <a:lnTo>
                        <a:pt x="387" y="493"/>
                      </a:lnTo>
                      <a:lnTo>
                        <a:pt x="357" y="497"/>
                      </a:lnTo>
                      <a:lnTo>
                        <a:pt x="319" y="497"/>
                      </a:lnTo>
                      <a:lnTo>
                        <a:pt x="291" y="488"/>
                      </a:lnTo>
                      <a:lnTo>
                        <a:pt x="262" y="471"/>
                      </a:lnTo>
                      <a:lnTo>
                        <a:pt x="242" y="460"/>
                      </a:lnTo>
                      <a:lnTo>
                        <a:pt x="221" y="441"/>
                      </a:lnTo>
                      <a:lnTo>
                        <a:pt x="206" y="419"/>
                      </a:lnTo>
                      <a:lnTo>
                        <a:pt x="187" y="387"/>
                      </a:lnTo>
                      <a:lnTo>
                        <a:pt x="169" y="356"/>
                      </a:lnTo>
                      <a:lnTo>
                        <a:pt x="162" y="341"/>
                      </a:lnTo>
                      <a:lnTo>
                        <a:pt x="148" y="321"/>
                      </a:lnTo>
                      <a:lnTo>
                        <a:pt x="134" y="283"/>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72" name="Group 2000">
                <a:extLst>
                  <a:ext uri="{FF2B5EF4-FFF2-40B4-BE49-F238E27FC236}">
                    <a16:creationId xmlns:a16="http://schemas.microsoft.com/office/drawing/2014/main" id="{54722A69-D880-4ABE-8928-8676E7561BF9}"/>
                  </a:ext>
                </a:extLst>
              </p:cNvPr>
              <p:cNvGrpSpPr>
                <a:grpSpLocks/>
              </p:cNvGrpSpPr>
              <p:nvPr/>
            </p:nvGrpSpPr>
            <p:grpSpPr bwMode="auto">
              <a:xfrm>
                <a:off x="2121" y="3625"/>
                <a:ext cx="30" cy="32"/>
                <a:chOff x="2121" y="3625"/>
                <a:chExt cx="30" cy="32"/>
              </a:xfrm>
            </p:grpSpPr>
            <p:sp>
              <p:nvSpPr>
                <p:cNvPr id="677" name="Freeform 2001">
                  <a:extLst>
                    <a:ext uri="{FF2B5EF4-FFF2-40B4-BE49-F238E27FC236}">
                      <a16:creationId xmlns:a16="http://schemas.microsoft.com/office/drawing/2014/main" id="{B7DE8E2A-EA36-45EB-B088-58E8059AA538}"/>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w 351"/>
                    <a:gd name="T49" fmla="*/ 0 h 3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51"/>
                    <a:gd name="T76" fmla="*/ 0 h 390"/>
                    <a:gd name="T77" fmla="*/ 351 w 351"/>
                    <a:gd name="T78" fmla="*/ 390 h 3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 name="Freeform 2002">
                  <a:extLst>
                    <a:ext uri="{FF2B5EF4-FFF2-40B4-BE49-F238E27FC236}">
                      <a16:creationId xmlns:a16="http://schemas.microsoft.com/office/drawing/2014/main" id="{3BEB239C-F45E-4FD9-A028-803AFE5C58E0}"/>
                    </a:ext>
                  </a:extLst>
                </p:cNvPr>
                <p:cNvSpPr>
                  <a:spLocks/>
                </p:cNvSpPr>
                <p:nvPr/>
              </p:nvSpPr>
              <p:spPr bwMode="auto">
                <a:xfrm>
                  <a:off x="2121" y="3625"/>
                  <a:ext cx="30" cy="32"/>
                </a:xfrm>
                <a:custGeom>
                  <a:avLst/>
                  <a:gdLst>
                    <a:gd name="T0" fmla="*/ 0 w 351"/>
                    <a:gd name="T1" fmla="*/ 0 h 390"/>
                    <a:gd name="T2" fmla="*/ 0 w 351"/>
                    <a:gd name="T3" fmla="*/ 0 h 390"/>
                    <a:gd name="T4" fmla="*/ 0 w 351"/>
                    <a:gd name="T5" fmla="*/ 0 h 390"/>
                    <a:gd name="T6" fmla="*/ 0 w 351"/>
                    <a:gd name="T7" fmla="*/ 0 h 390"/>
                    <a:gd name="T8" fmla="*/ 0 w 351"/>
                    <a:gd name="T9" fmla="*/ 0 h 390"/>
                    <a:gd name="T10" fmla="*/ 0 w 351"/>
                    <a:gd name="T11" fmla="*/ 0 h 390"/>
                    <a:gd name="T12" fmla="*/ 0 w 351"/>
                    <a:gd name="T13" fmla="*/ 0 h 390"/>
                    <a:gd name="T14" fmla="*/ 0 w 351"/>
                    <a:gd name="T15" fmla="*/ 0 h 390"/>
                    <a:gd name="T16" fmla="*/ 0 w 351"/>
                    <a:gd name="T17" fmla="*/ 0 h 390"/>
                    <a:gd name="T18" fmla="*/ 0 w 351"/>
                    <a:gd name="T19" fmla="*/ 0 h 390"/>
                    <a:gd name="T20" fmla="*/ 0 w 351"/>
                    <a:gd name="T21" fmla="*/ 0 h 390"/>
                    <a:gd name="T22" fmla="*/ 0 w 351"/>
                    <a:gd name="T23" fmla="*/ 0 h 390"/>
                    <a:gd name="T24" fmla="*/ 0 w 351"/>
                    <a:gd name="T25" fmla="*/ 0 h 390"/>
                    <a:gd name="T26" fmla="*/ 0 w 351"/>
                    <a:gd name="T27" fmla="*/ 0 h 390"/>
                    <a:gd name="T28" fmla="*/ 0 w 351"/>
                    <a:gd name="T29" fmla="*/ 0 h 390"/>
                    <a:gd name="T30" fmla="*/ 0 w 351"/>
                    <a:gd name="T31" fmla="*/ 0 h 390"/>
                    <a:gd name="T32" fmla="*/ 0 w 351"/>
                    <a:gd name="T33" fmla="*/ 0 h 390"/>
                    <a:gd name="T34" fmla="*/ 0 w 351"/>
                    <a:gd name="T35" fmla="*/ 0 h 390"/>
                    <a:gd name="T36" fmla="*/ 0 w 351"/>
                    <a:gd name="T37" fmla="*/ 0 h 390"/>
                    <a:gd name="T38" fmla="*/ 0 w 351"/>
                    <a:gd name="T39" fmla="*/ 0 h 390"/>
                    <a:gd name="T40" fmla="*/ 0 w 351"/>
                    <a:gd name="T41" fmla="*/ 0 h 390"/>
                    <a:gd name="T42" fmla="*/ 0 w 351"/>
                    <a:gd name="T43" fmla="*/ 0 h 390"/>
                    <a:gd name="T44" fmla="*/ 0 w 351"/>
                    <a:gd name="T45" fmla="*/ 0 h 390"/>
                    <a:gd name="T46" fmla="*/ 0 w 351"/>
                    <a:gd name="T47" fmla="*/ 0 h 3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1"/>
                    <a:gd name="T73" fmla="*/ 0 h 390"/>
                    <a:gd name="T74" fmla="*/ 351 w 351"/>
                    <a:gd name="T75" fmla="*/ 390 h 39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1" h="390">
                      <a:moveTo>
                        <a:pt x="0" y="0"/>
                      </a:moveTo>
                      <a:lnTo>
                        <a:pt x="82" y="9"/>
                      </a:lnTo>
                      <a:lnTo>
                        <a:pt x="134" y="25"/>
                      </a:lnTo>
                      <a:lnTo>
                        <a:pt x="177" y="52"/>
                      </a:lnTo>
                      <a:lnTo>
                        <a:pt x="217" y="77"/>
                      </a:lnTo>
                      <a:lnTo>
                        <a:pt x="240" y="104"/>
                      </a:lnTo>
                      <a:lnTo>
                        <a:pt x="268" y="130"/>
                      </a:lnTo>
                      <a:lnTo>
                        <a:pt x="297" y="178"/>
                      </a:lnTo>
                      <a:lnTo>
                        <a:pt x="320" y="223"/>
                      </a:lnTo>
                      <a:lnTo>
                        <a:pt x="336" y="257"/>
                      </a:lnTo>
                      <a:lnTo>
                        <a:pt x="351" y="287"/>
                      </a:lnTo>
                      <a:lnTo>
                        <a:pt x="351" y="323"/>
                      </a:lnTo>
                      <a:lnTo>
                        <a:pt x="332" y="355"/>
                      </a:lnTo>
                      <a:lnTo>
                        <a:pt x="292" y="373"/>
                      </a:lnTo>
                      <a:lnTo>
                        <a:pt x="245" y="386"/>
                      </a:lnTo>
                      <a:lnTo>
                        <a:pt x="208" y="390"/>
                      </a:lnTo>
                      <a:lnTo>
                        <a:pt x="165" y="376"/>
                      </a:lnTo>
                      <a:lnTo>
                        <a:pt x="125" y="360"/>
                      </a:lnTo>
                      <a:lnTo>
                        <a:pt x="86" y="327"/>
                      </a:lnTo>
                      <a:lnTo>
                        <a:pt x="59" y="311"/>
                      </a:lnTo>
                      <a:lnTo>
                        <a:pt x="29" y="291"/>
                      </a:lnTo>
                      <a:lnTo>
                        <a:pt x="13" y="266"/>
                      </a:lnTo>
                      <a:lnTo>
                        <a:pt x="1" y="235"/>
                      </a:lnTo>
                      <a:lnTo>
                        <a:pt x="0" y="20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73" name="Group 2003">
                <a:extLst>
                  <a:ext uri="{FF2B5EF4-FFF2-40B4-BE49-F238E27FC236}">
                    <a16:creationId xmlns:a16="http://schemas.microsoft.com/office/drawing/2014/main" id="{CC21D974-BDDC-452F-85BF-540850C14325}"/>
                  </a:ext>
                </a:extLst>
              </p:cNvPr>
              <p:cNvGrpSpPr>
                <a:grpSpLocks/>
              </p:cNvGrpSpPr>
              <p:nvPr/>
            </p:nvGrpSpPr>
            <p:grpSpPr bwMode="auto">
              <a:xfrm>
                <a:off x="2075" y="3670"/>
                <a:ext cx="62" cy="36"/>
                <a:chOff x="2075" y="3670"/>
                <a:chExt cx="62" cy="36"/>
              </a:xfrm>
            </p:grpSpPr>
            <p:sp>
              <p:nvSpPr>
                <p:cNvPr id="675" name="Freeform 2004">
                  <a:extLst>
                    <a:ext uri="{FF2B5EF4-FFF2-40B4-BE49-F238E27FC236}">
                      <a16:creationId xmlns:a16="http://schemas.microsoft.com/office/drawing/2014/main" id="{D428EE37-9B63-4143-B52B-2A2874AAA4AA}"/>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w 742"/>
                    <a:gd name="T59" fmla="*/ 0 h 4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42"/>
                    <a:gd name="T91" fmla="*/ 0 h 432"/>
                    <a:gd name="T92" fmla="*/ 742 w 742"/>
                    <a:gd name="T93" fmla="*/ 432 h 4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lnTo>
                        <a:pt x="0" y="0"/>
                      </a:lnTo>
                      <a:close/>
                    </a:path>
                  </a:pathLst>
                </a:custGeom>
                <a:solidFill>
                  <a:srgbClr val="FF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 name="Freeform 2005">
                  <a:extLst>
                    <a:ext uri="{FF2B5EF4-FFF2-40B4-BE49-F238E27FC236}">
                      <a16:creationId xmlns:a16="http://schemas.microsoft.com/office/drawing/2014/main" id="{07DBBE7E-E0F1-405E-BA88-81BAD46E3DA4}"/>
                    </a:ext>
                  </a:extLst>
                </p:cNvPr>
                <p:cNvSpPr>
                  <a:spLocks/>
                </p:cNvSpPr>
                <p:nvPr/>
              </p:nvSpPr>
              <p:spPr bwMode="auto">
                <a:xfrm>
                  <a:off x="2075" y="3670"/>
                  <a:ext cx="62" cy="36"/>
                </a:xfrm>
                <a:custGeom>
                  <a:avLst/>
                  <a:gdLst>
                    <a:gd name="T0" fmla="*/ 0 w 742"/>
                    <a:gd name="T1" fmla="*/ 0 h 432"/>
                    <a:gd name="T2" fmla="*/ 0 w 742"/>
                    <a:gd name="T3" fmla="*/ 0 h 432"/>
                    <a:gd name="T4" fmla="*/ 0 w 742"/>
                    <a:gd name="T5" fmla="*/ 0 h 432"/>
                    <a:gd name="T6" fmla="*/ 0 w 742"/>
                    <a:gd name="T7" fmla="*/ 0 h 432"/>
                    <a:gd name="T8" fmla="*/ 0 w 742"/>
                    <a:gd name="T9" fmla="*/ 0 h 432"/>
                    <a:gd name="T10" fmla="*/ 0 w 742"/>
                    <a:gd name="T11" fmla="*/ 0 h 432"/>
                    <a:gd name="T12" fmla="*/ 0 w 742"/>
                    <a:gd name="T13" fmla="*/ 0 h 432"/>
                    <a:gd name="T14" fmla="*/ 0 w 742"/>
                    <a:gd name="T15" fmla="*/ 0 h 432"/>
                    <a:gd name="T16" fmla="*/ 0 w 742"/>
                    <a:gd name="T17" fmla="*/ 0 h 432"/>
                    <a:gd name="T18" fmla="*/ 0 w 742"/>
                    <a:gd name="T19" fmla="*/ 0 h 432"/>
                    <a:gd name="T20" fmla="*/ 0 w 742"/>
                    <a:gd name="T21" fmla="*/ 0 h 432"/>
                    <a:gd name="T22" fmla="*/ 0 w 742"/>
                    <a:gd name="T23" fmla="*/ 0 h 432"/>
                    <a:gd name="T24" fmla="*/ 0 w 742"/>
                    <a:gd name="T25" fmla="*/ 0 h 432"/>
                    <a:gd name="T26" fmla="*/ 0 w 742"/>
                    <a:gd name="T27" fmla="*/ 0 h 432"/>
                    <a:gd name="T28" fmla="*/ 0 w 742"/>
                    <a:gd name="T29" fmla="*/ 0 h 432"/>
                    <a:gd name="T30" fmla="*/ 0 w 742"/>
                    <a:gd name="T31" fmla="*/ 0 h 432"/>
                    <a:gd name="T32" fmla="*/ 0 w 742"/>
                    <a:gd name="T33" fmla="*/ 0 h 432"/>
                    <a:gd name="T34" fmla="*/ 0 w 742"/>
                    <a:gd name="T35" fmla="*/ 0 h 432"/>
                    <a:gd name="T36" fmla="*/ 0 w 742"/>
                    <a:gd name="T37" fmla="*/ 0 h 432"/>
                    <a:gd name="T38" fmla="*/ 0 w 742"/>
                    <a:gd name="T39" fmla="*/ 0 h 432"/>
                    <a:gd name="T40" fmla="*/ 0 w 742"/>
                    <a:gd name="T41" fmla="*/ 0 h 432"/>
                    <a:gd name="T42" fmla="*/ 0 w 742"/>
                    <a:gd name="T43" fmla="*/ 0 h 432"/>
                    <a:gd name="T44" fmla="*/ 0 w 742"/>
                    <a:gd name="T45" fmla="*/ 0 h 432"/>
                    <a:gd name="T46" fmla="*/ 0 w 742"/>
                    <a:gd name="T47" fmla="*/ 0 h 432"/>
                    <a:gd name="T48" fmla="*/ 0 w 742"/>
                    <a:gd name="T49" fmla="*/ 0 h 432"/>
                    <a:gd name="T50" fmla="*/ 0 w 742"/>
                    <a:gd name="T51" fmla="*/ 0 h 432"/>
                    <a:gd name="T52" fmla="*/ 0 w 742"/>
                    <a:gd name="T53" fmla="*/ 0 h 432"/>
                    <a:gd name="T54" fmla="*/ 0 w 742"/>
                    <a:gd name="T55" fmla="*/ 0 h 432"/>
                    <a:gd name="T56" fmla="*/ 0 w 742"/>
                    <a:gd name="T57" fmla="*/ 0 h 4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42"/>
                    <a:gd name="T88" fmla="*/ 0 h 432"/>
                    <a:gd name="T89" fmla="*/ 742 w 742"/>
                    <a:gd name="T90" fmla="*/ 432 h 4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42" h="432">
                      <a:moveTo>
                        <a:pt x="0" y="0"/>
                      </a:moveTo>
                      <a:lnTo>
                        <a:pt x="137" y="16"/>
                      </a:lnTo>
                      <a:lnTo>
                        <a:pt x="225" y="28"/>
                      </a:lnTo>
                      <a:lnTo>
                        <a:pt x="273" y="42"/>
                      </a:lnTo>
                      <a:lnTo>
                        <a:pt x="327" y="69"/>
                      </a:lnTo>
                      <a:lnTo>
                        <a:pt x="405" y="148"/>
                      </a:lnTo>
                      <a:lnTo>
                        <a:pt x="505" y="205"/>
                      </a:lnTo>
                      <a:lnTo>
                        <a:pt x="582" y="231"/>
                      </a:lnTo>
                      <a:lnTo>
                        <a:pt x="638" y="252"/>
                      </a:lnTo>
                      <a:lnTo>
                        <a:pt x="687" y="274"/>
                      </a:lnTo>
                      <a:lnTo>
                        <a:pt x="715" y="296"/>
                      </a:lnTo>
                      <a:lnTo>
                        <a:pt x="742" y="317"/>
                      </a:lnTo>
                      <a:lnTo>
                        <a:pt x="742" y="349"/>
                      </a:lnTo>
                      <a:lnTo>
                        <a:pt x="733" y="381"/>
                      </a:lnTo>
                      <a:lnTo>
                        <a:pt x="715" y="402"/>
                      </a:lnTo>
                      <a:lnTo>
                        <a:pt x="695" y="413"/>
                      </a:lnTo>
                      <a:lnTo>
                        <a:pt x="670" y="426"/>
                      </a:lnTo>
                      <a:lnTo>
                        <a:pt x="634" y="432"/>
                      </a:lnTo>
                      <a:lnTo>
                        <a:pt x="604" y="432"/>
                      </a:lnTo>
                      <a:lnTo>
                        <a:pt x="567" y="420"/>
                      </a:lnTo>
                      <a:lnTo>
                        <a:pt x="534" y="413"/>
                      </a:lnTo>
                      <a:lnTo>
                        <a:pt x="433" y="369"/>
                      </a:lnTo>
                      <a:lnTo>
                        <a:pt x="355" y="349"/>
                      </a:lnTo>
                      <a:lnTo>
                        <a:pt x="309" y="340"/>
                      </a:lnTo>
                      <a:lnTo>
                        <a:pt x="261" y="328"/>
                      </a:lnTo>
                      <a:lnTo>
                        <a:pt x="211" y="306"/>
                      </a:lnTo>
                      <a:lnTo>
                        <a:pt x="173" y="286"/>
                      </a:lnTo>
                      <a:lnTo>
                        <a:pt x="155" y="269"/>
                      </a:lnTo>
                      <a:lnTo>
                        <a:pt x="132" y="23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74" name="Freeform 2006">
                <a:extLst>
                  <a:ext uri="{FF2B5EF4-FFF2-40B4-BE49-F238E27FC236}">
                    <a16:creationId xmlns:a16="http://schemas.microsoft.com/office/drawing/2014/main" id="{C6E2DD16-BEFF-47BD-AC9A-7DC581CA7C3F}"/>
                  </a:ext>
                </a:extLst>
              </p:cNvPr>
              <p:cNvSpPr>
                <a:spLocks/>
              </p:cNvSpPr>
              <p:nvPr/>
            </p:nvSpPr>
            <p:spPr bwMode="auto">
              <a:xfrm>
                <a:off x="2121" y="3614"/>
                <a:ext cx="35" cy="22"/>
              </a:xfrm>
              <a:custGeom>
                <a:avLst/>
                <a:gdLst>
                  <a:gd name="T0" fmla="*/ 0 w 414"/>
                  <a:gd name="T1" fmla="*/ 0 h 262"/>
                  <a:gd name="T2" fmla="*/ 0 w 414"/>
                  <a:gd name="T3" fmla="*/ 0 h 262"/>
                  <a:gd name="T4" fmla="*/ 0 w 414"/>
                  <a:gd name="T5" fmla="*/ 0 h 262"/>
                  <a:gd name="T6" fmla="*/ 0 w 414"/>
                  <a:gd name="T7" fmla="*/ 0 h 262"/>
                  <a:gd name="T8" fmla="*/ 0 w 414"/>
                  <a:gd name="T9" fmla="*/ 0 h 262"/>
                  <a:gd name="T10" fmla="*/ 0 w 414"/>
                  <a:gd name="T11" fmla="*/ 0 h 262"/>
                  <a:gd name="T12" fmla="*/ 0 w 414"/>
                  <a:gd name="T13" fmla="*/ 0 h 262"/>
                  <a:gd name="T14" fmla="*/ 0 w 414"/>
                  <a:gd name="T15" fmla="*/ 0 h 262"/>
                  <a:gd name="T16" fmla="*/ 0 w 414"/>
                  <a:gd name="T17" fmla="*/ 0 h 262"/>
                  <a:gd name="T18" fmla="*/ 0 w 414"/>
                  <a:gd name="T19" fmla="*/ 0 h 262"/>
                  <a:gd name="T20" fmla="*/ 0 w 414"/>
                  <a:gd name="T21" fmla="*/ 0 h 262"/>
                  <a:gd name="T22" fmla="*/ 0 w 414"/>
                  <a:gd name="T23" fmla="*/ 0 h 262"/>
                  <a:gd name="T24" fmla="*/ 0 w 414"/>
                  <a:gd name="T25" fmla="*/ 0 h 262"/>
                  <a:gd name="T26" fmla="*/ 0 w 414"/>
                  <a:gd name="T27" fmla="*/ 0 h 262"/>
                  <a:gd name="T28" fmla="*/ 0 w 414"/>
                  <a:gd name="T29" fmla="*/ 0 h 262"/>
                  <a:gd name="T30" fmla="*/ 0 w 414"/>
                  <a:gd name="T31" fmla="*/ 0 h 262"/>
                  <a:gd name="T32" fmla="*/ 0 w 414"/>
                  <a:gd name="T33" fmla="*/ 0 h 262"/>
                  <a:gd name="T34" fmla="*/ 0 w 414"/>
                  <a:gd name="T35" fmla="*/ 0 h 262"/>
                  <a:gd name="T36" fmla="*/ 0 w 414"/>
                  <a:gd name="T37" fmla="*/ 0 h 262"/>
                  <a:gd name="T38" fmla="*/ 0 w 414"/>
                  <a:gd name="T39" fmla="*/ 0 h 262"/>
                  <a:gd name="T40" fmla="*/ 0 w 414"/>
                  <a:gd name="T41" fmla="*/ 0 h 262"/>
                  <a:gd name="T42" fmla="*/ 0 w 414"/>
                  <a:gd name="T43" fmla="*/ 0 h 262"/>
                  <a:gd name="T44" fmla="*/ 0 w 414"/>
                  <a:gd name="T45" fmla="*/ 0 h 262"/>
                  <a:gd name="T46" fmla="*/ 0 w 414"/>
                  <a:gd name="T47" fmla="*/ 0 h 262"/>
                  <a:gd name="T48" fmla="*/ 0 w 414"/>
                  <a:gd name="T49" fmla="*/ 0 h 262"/>
                  <a:gd name="T50" fmla="*/ 0 w 414"/>
                  <a:gd name="T51" fmla="*/ 0 h 262"/>
                  <a:gd name="T52" fmla="*/ 0 w 414"/>
                  <a:gd name="T53" fmla="*/ 0 h 262"/>
                  <a:gd name="T54" fmla="*/ 0 w 414"/>
                  <a:gd name="T55" fmla="*/ 0 h 262"/>
                  <a:gd name="T56" fmla="*/ 0 w 414"/>
                  <a:gd name="T57" fmla="*/ 0 h 262"/>
                  <a:gd name="T58" fmla="*/ 0 w 414"/>
                  <a:gd name="T59" fmla="*/ 0 h 262"/>
                  <a:gd name="T60" fmla="*/ 0 w 414"/>
                  <a:gd name="T61" fmla="*/ 0 h 262"/>
                  <a:gd name="T62" fmla="*/ 0 w 414"/>
                  <a:gd name="T63" fmla="*/ 0 h 262"/>
                  <a:gd name="T64" fmla="*/ 0 w 414"/>
                  <a:gd name="T65" fmla="*/ 0 h 262"/>
                  <a:gd name="T66" fmla="*/ 0 w 414"/>
                  <a:gd name="T67" fmla="*/ 0 h 2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4"/>
                  <a:gd name="T103" fmla="*/ 0 h 262"/>
                  <a:gd name="T104" fmla="*/ 414 w 414"/>
                  <a:gd name="T105" fmla="*/ 262 h 2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4" h="262">
                    <a:moveTo>
                      <a:pt x="0" y="122"/>
                    </a:moveTo>
                    <a:lnTo>
                      <a:pt x="13" y="95"/>
                    </a:lnTo>
                    <a:lnTo>
                      <a:pt x="29" y="61"/>
                    </a:lnTo>
                    <a:lnTo>
                      <a:pt x="48" y="38"/>
                    </a:lnTo>
                    <a:lnTo>
                      <a:pt x="73" y="20"/>
                    </a:lnTo>
                    <a:lnTo>
                      <a:pt x="103" y="7"/>
                    </a:lnTo>
                    <a:lnTo>
                      <a:pt x="135" y="3"/>
                    </a:lnTo>
                    <a:lnTo>
                      <a:pt x="167" y="0"/>
                    </a:lnTo>
                    <a:lnTo>
                      <a:pt x="208" y="1"/>
                    </a:lnTo>
                    <a:lnTo>
                      <a:pt x="249" y="4"/>
                    </a:lnTo>
                    <a:lnTo>
                      <a:pt x="292" y="6"/>
                    </a:lnTo>
                    <a:lnTo>
                      <a:pt x="340" y="10"/>
                    </a:lnTo>
                    <a:lnTo>
                      <a:pt x="372" y="20"/>
                    </a:lnTo>
                    <a:lnTo>
                      <a:pt x="386" y="35"/>
                    </a:lnTo>
                    <a:lnTo>
                      <a:pt x="399" y="57"/>
                    </a:lnTo>
                    <a:lnTo>
                      <a:pt x="407" y="83"/>
                    </a:lnTo>
                    <a:lnTo>
                      <a:pt x="411" y="116"/>
                    </a:lnTo>
                    <a:lnTo>
                      <a:pt x="414" y="154"/>
                    </a:lnTo>
                    <a:lnTo>
                      <a:pt x="407" y="191"/>
                    </a:lnTo>
                    <a:lnTo>
                      <a:pt x="394" y="221"/>
                    </a:lnTo>
                    <a:lnTo>
                      <a:pt x="375" y="240"/>
                    </a:lnTo>
                    <a:lnTo>
                      <a:pt x="356" y="252"/>
                    </a:lnTo>
                    <a:lnTo>
                      <a:pt x="327" y="260"/>
                    </a:lnTo>
                    <a:lnTo>
                      <a:pt x="299" y="262"/>
                    </a:lnTo>
                    <a:lnTo>
                      <a:pt x="272" y="260"/>
                    </a:lnTo>
                    <a:lnTo>
                      <a:pt x="243" y="233"/>
                    </a:lnTo>
                    <a:lnTo>
                      <a:pt x="224" y="210"/>
                    </a:lnTo>
                    <a:lnTo>
                      <a:pt x="195" y="189"/>
                    </a:lnTo>
                    <a:lnTo>
                      <a:pt x="167" y="172"/>
                    </a:lnTo>
                    <a:lnTo>
                      <a:pt x="135" y="153"/>
                    </a:lnTo>
                    <a:lnTo>
                      <a:pt x="105" y="141"/>
                    </a:lnTo>
                    <a:lnTo>
                      <a:pt x="80" y="134"/>
                    </a:lnTo>
                    <a:lnTo>
                      <a:pt x="56" y="132"/>
                    </a:lnTo>
                    <a:lnTo>
                      <a:pt x="0" y="122"/>
                    </a:lnTo>
                    <a:close/>
                  </a:path>
                </a:pathLst>
              </a:custGeom>
              <a:solidFill>
                <a:srgbClr val="FFC0C0"/>
              </a:solidFill>
              <a:ln w="1588">
                <a:solidFill>
                  <a:srgbClr val="000000"/>
                </a:solidFill>
                <a:prstDash val="solid"/>
                <a:round/>
                <a:headEnd/>
                <a:tailEnd/>
              </a:ln>
            </p:spPr>
            <p:txBody>
              <a:bodyPr/>
              <a:lstStyle/>
              <a:p>
                <a:endParaRPr lang="en-US"/>
              </a:p>
            </p:txBody>
          </p:sp>
        </p:grpSp>
      </p:grpSp>
      <p:sp>
        <p:nvSpPr>
          <p:cNvPr id="731" name="Line 2007">
            <a:extLst>
              <a:ext uri="{FF2B5EF4-FFF2-40B4-BE49-F238E27FC236}">
                <a16:creationId xmlns:a16="http://schemas.microsoft.com/office/drawing/2014/main" id="{7A601EE0-67DE-49E8-979F-777F563F55C8}"/>
              </a:ext>
            </a:extLst>
          </p:cNvPr>
          <p:cNvSpPr>
            <a:spLocks noChangeShapeType="1"/>
          </p:cNvSpPr>
          <p:nvPr/>
        </p:nvSpPr>
        <p:spPr bwMode="auto">
          <a:xfrm flipV="1">
            <a:off x="4554539" y="4262439"/>
            <a:ext cx="1057275" cy="352425"/>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32" name="Line 2008">
            <a:extLst>
              <a:ext uri="{FF2B5EF4-FFF2-40B4-BE49-F238E27FC236}">
                <a16:creationId xmlns:a16="http://schemas.microsoft.com/office/drawing/2014/main" id="{5EC03FC4-8454-4504-8B1B-0CE7542A07EB}"/>
              </a:ext>
            </a:extLst>
          </p:cNvPr>
          <p:cNvSpPr>
            <a:spLocks noChangeShapeType="1"/>
          </p:cNvSpPr>
          <p:nvPr/>
        </p:nvSpPr>
        <p:spPr bwMode="auto">
          <a:xfrm>
            <a:off x="5030789" y="4090988"/>
            <a:ext cx="638175" cy="1905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33" name="Line 2009">
            <a:extLst>
              <a:ext uri="{FF2B5EF4-FFF2-40B4-BE49-F238E27FC236}">
                <a16:creationId xmlns:a16="http://schemas.microsoft.com/office/drawing/2014/main" id="{E53DA117-8F91-4477-94FE-7FB382995D23}"/>
              </a:ext>
            </a:extLst>
          </p:cNvPr>
          <p:cNvSpPr>
            <a:spLocks noChangeShapeType="1"/>
          </p:cNvSpPr>
          <p:nvPr/>
        </p:nvSpPr>
        <p:spPr bwMode="auto">
          <a:xfrm flipH="1">
            <a:off x="6145214" y="3967164"/>
            <a:ext cx="581025" cy="123825"/>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34" name="Line 2010">
            <a:extLst>
              <a:ext uri="{FF2B5EF4-FFF2-40B4-BE49-F238E27FC236}">
                <a16:creationId xmlns:a16="http://schemas.microsoft.com/office/drawing/2014/main" id="{501902BB-9E98-41EC-BC6F-3E50B3A9EEDF}"/>
              </a:ext>
            </a:extLst>
          </p:cNvPr>
          <p:cNvSpPr>
            <a:spLocks noChangeShapeType="1"/>
          </p:cNvSpPr>
          <p:nvPr/>
        </p:nvSpPr>
        <p:spPr bwMode="auto">
          <a:xfrm flipH="1" flipV="1">
            <a:off x="6345239" y="4186239"/>
            <a:ext cx="1457325" cy="180975"/>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35" name="Line 2011">
            <a:extLst>
              <a:ext uri="{FF2B5EF4-FFF2-40B4-BE49-F238E27FC236}">
                <a16:creationId xmlns:a16="http://schemas.microsoft.com/office/drawing/2014/main" id="{740F81C0-936E-4081-87AD-CF92855E166B}"/>
              </a:ext>
            </a:extLst>
          </p:cNvPr>
          <p:cNvSpPr>
            <a:spLocks noChangeShapeType="1"/>
          </p:cNvSpPr>
          <p:nvPr/>
        </p:nvSpPr>
        <p:spPr bwMode="auto">
          <a:xfrm flipH="1" flipV="1">
            <a:off x="6211889" y="4443414"/>
            <a:ext cx="485775" cy="600075"/>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36" name="Line 2012">
            <a:extLst>
              <a:ext uri="{FF2B5EF4-FFF2-40B4-BE49-F238E27FC236}">
                <a16:creationId xmlns:a16="http://schemas.microsoft.com/office/drawing/2014/main" id="{29020135-5579-4590-8753-D68646236FE3}"/>
              </a:ext>
            </a:extLst>
          </p:cNvPr>
          <p:cNvSpPr>
            <a:spLocks noChangeShapeType="1"/>
          </p:cNvSpPr>
          <p:nvPr/>
        </p:nvSpPr>
        <p:spPr bwMode="auto">
          <a:xfrm flipV="1">
            <a:off x="5611814" y="4529139"/>
            <a:ext cx="219075" cy="581025"/>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37" name="Title 1">
            <a:extLst>
              <a:ext uri="{FF2B5EF4-FFF2-40B4-BE49-F238E27FC236}">
                <a16:creationId xmlns:a16="http://schemas.microsoft.com/office/drawing/2014/main" id="{0E60B038-120D-45AE-8699-6FB77A440853}"/>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Combination of TDMA and FDMA</a:t>
            </a:r>
          </a:p>
        </p:txBody>
      </p:sp>
      <p:pic>
        <p:nvPicPr>
          <p:cNvPr id="738" name="Pg25">
            <a:hlinkClick r:id="" action="ppaction://media"/>
            <a:extLst>
              <a:ext uri="{FF2B5EF4-FFF2-40B4-BE49-F238E27FC236}">
                <a16:creationId xmlns:a16="http://schemas.microsoft.com/office/drawing/2014/main" id="{0086E606-28B1-40E3-ADAA-E2AA3C6A367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826193" y="5503865"/>
            <a:ext cx="609600" cy="609600"/>
          </a:xfrm>
          <a:prstGeom prst="rect">
            <a:avLst/>
          </a:prstGeom>
        </p:spPr>
      </p:pic>
      <p:sp>
        <p:nvSpPr>
          <p:cNvPr id="2" name="Rectangle 1">
            <a:extLst>
              <a:ext uri="{FF2B5EF4-FFF2-40B4-BE49-F238E27FC236}">
                <a16:creationId xmlns:a16="http://schemas.microsoft.com/office/drawing/2014/main" id="{54DC7B40-CE8F-4B17-5A36-CE952B789B7C}"/>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448142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882" fill="hold"/>
                                        <p:tgtEl>
                                          <p:spTgt spid="73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3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4CEC4E8F-216B-4DBD-8F16-8B6976D421CA}"/>
              </a:ext>
            </a:extLst>
          </p:cNvPr>
          <p:cNvSpPr txBox="1">
            <a:spLocks/>
          </p:cNvSpPr>
          <p:nvPr/>
        </p:nvSpPr>
        <p:spPr>
          <a:xfrm>
            <a:off x="683388"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 (CDMA)</a:t>
            </a:r>
          </a:p>
        </p:txBody>
      </p:sp>
      <p:sp>
        <p:nvSpPr>
          <p:cNvPr id="14" name="Rectangle 13">
            <a:extLst>
              <a:ext uri="{FF2B5EF4-FFF2-40B4-BE49-F238E27FC236}">
                <a16:creationId xmlns:a16="http://schemas.microsoft.com/office/drawing/2014/main" id="{F63C5956-8DEA-40F7-A09B-4FE3B77EAF18}"/>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4" name="Picture 3">
            <a:extLst>
              <a:ext uri="{FF2B5EF4-FFF2-40B4-BE49-F238E27FC236}">
                <a16:creationId xmlns:a16="http://schemas.microsoft.com/office/drawing/2014/main" id="{2B33FE03-FFB9-4083-82CD-EF434E8F08D1}"/>
              </a:ext>
            </a:extLst>
          </p:cNvPr>
          <p:cNvPicPr>
            <a:picLocks noChangeAspect="1"/>
          </p:cNvPicPr>
          <p:nvPr/>
        </p:nvPicPr>
        <p:blipFill>
          <a:blip r:embed="rId4"/>
          <a:stretch>
            <a:fillRect/>
          </a:stretch>
        </p:blipFill>
        <p:spPr>
          <a:xfrm>
            <a:off x="6016884" y="1672754"/>
            <a:ext cx="6006209" cy="3512492"/>
          </a:xfrm>
          <a:prstGeom prst="rect">
            <a:avLst/>
          </a:prstGeom>
        </p:spPr>
      </p:pic>
      <p:sp>
        <p:nvSpPr>
          <p:cNvPr id="5" name="Rectangle 4">
            <a:extLst>
              <a:ext uri="{FF2B5EF4-FFF2-40B4-BE49-F238E27FC236}">
                <a16:creationId xmlns:a16="http://schemas.microsoft.com/office/drawing/2014/main" id="{B38FC44D-5B60-4C9D-8B24-84C1E89B6AE9}"/>
              </a:ext>
            </a:extLst>
          </p:cNvPr>
          <p:cNvSpPr/>
          <p:nvPr/>
        </p:nvSpPr>
        <p:spPr>
          <a:xfrm>
            <a:off x="683388" y="1881178"/>
            <a:ext cx="5221982" cy="3785652"/>
          </a:xfrm>
          <a:prstGeom prst="rect">
            <a:avLst/>
          </a:prstGeom>
        </p:spPr>
        <p:txBody>
          <a:bodyPr wrap="square">
            <a:spAutoFit/>
          </a:bodyPr>
          <a:lstStyle/>
          <a:p>
            <a:pPr algn="just">
              <a:spcBef>
                <a:spcPct val="0"/>
              </a:spcBef>
              <a:buSzTx/>
            </a:pPr>
            <a:r>
              <a:rPr lang="en-SG" altLang="en-US" sz="2400" dirty="0">
                <a:cs typeface="Times New Roman" panose="02020603050405020304" pitchFamily="18" charset="0"/>
              </a:rPr>
              <a:t>User is assigned one unique code for communication, occupying over a wide bandwidth. </a:t>
            </a:r>
          </a:p>
          <a:p>
            <a:pPr algn="just">
              <a:spcBef>
                <a:spcPct val="0"/>
              </a:spcBef>
              <a:buSzTx/>
            </a:pPr>
            <a:endParaRPr lang="en-SG" altLang="en-US" sz="2400" dirty="0">
              <a:cs typeface="Times New Roman" panose="02020603050405020304" pitchFamily="18" charset="0"/>
            </a:endParaRPr>
          </a:p>
          <a:p>
            <a:r>
              <a:rPr lang="en-SG" sz="2400" dirty="0"/>
              <a:t>CDMA is where several transmitters can send information simultaneously over a single communication channel. This allows several users to share a band of frequencies (where each transmitter is </a:t>
            </a:r>
            <a:r>
              <a:rPr lang="en-SG" sz="2400" b="1" dirty="0">
                <a:solidFill>
                  <a:srgbClr val="FF0000"/>
                </a:solidFill>
              </a:rPr>
              <a:t>assigned a unique code</a:t>
            </a:r>
            <a:r>
              <a:rPr lang="en-SG" sz="2400" dirty="0"/>
              <a:t>).</a:t>
            </a:r>
          </a:p>
        </p:txBody>
      </p:sp>
      <p:pic>
        <p:nvPicPr>
          <p:cNvPr id="6" name="Pg26">
            <a:hlinkClick r:id="" action="ppaction://media"/>
            <a:extLst>
              <a:ext uri="{FF2B5EF4-FFF2-40B4-BE49-F238E27FC236}">
                <a16:creationId xmlns:a16="http://schemas.microsoft.com/office/drawing/2014/main" id="{40A072AC-DC89-4E90-829C-C355FAB0A63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895484" y="5592679"/>
            <a:ext cx="609600" cy="609600"/>
          </a:xfrm>
          <a:prstGeom prst="rect">
            <a:avLst/>
          </a:prstGeom>
        </p:spPr>
      </p:pic>
      <p:sp>
        <p:nvSpPr>
          <p:cNvPr id="16" name="Rectangle 15">
            <a:extLst>
              <a:ext uri="{FF2B5EF4-FFF2-40B4-BE49-F238E27FC236}">
                <a16:creationId xmlns:a16="http://schemas.microsoft.com/office/drawing/2014/main" id="{119BE054-93BE-4B6E-81B0-CA25E315742B}"/>
              </a:ext>
            </a:extLst>
          </p:cNvPr>
          <p:cNvSpPr/>
          <p:nvPr/>
        </p:nvSpPr>
        <p:spPr>
          <a:xfrm>
            <a:off x="715472" y="1110267"/>
            <a:ext cx="5954002" cy="523220"/>
          </a:xfrm>
          <a:prstGeom prst="rect">
            <a:avLst/>
          </a:prstGeom>
        </p:spPr>
        <p:txBody>
          <a:bodyPr wrap="none">
            <a:spAutoFit/>
          </a:bodyPr>
          <a:lstStyle/>
          <a:p>
            <a:r>
              <a:rPr lang="en-SG" sz="2800" b="1" dirty="0">
                <a:solidFill>
                  <a:srgbClr val="00B050"/>
                </a:solidFill>
                <a:latin typeface="Calibri" panose="020F0502020204030204" pitchFamily="34" charset="0"/>
                <a:cs typeface="Calibri" panose="020F0502020204030204" pitchFamily="34" charset="0"/>
              </a:rPr>
              <a:t>C</a:t>
            </a:r>
            <a:r>
              <a:rPr lang="en-SG" sz="2800" dirty="0">
                <a:latin typeface="Calibri" panose="020F0502020204030204" pitchFamily="34" charset="0"/>
                <a:cs typeface="Calibri" panose="020F0502020204030204" pitchFamily="34" charset="0"/>
              </a:rPr>
              <a:t>ode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CDMA</a:t>
            </a:r>
            <a:r>
              <a:rPr lang="en-SG" sz="2800" dirty="0">
                <a:latin typeface="Calibri" panose="020F0502020204030204" pitchFamily="34" charset="0"/>
                <a:cs typeface="Calibri" panose="020F0502020204030204" pitchFamily="34" charset="0"/>
              </a:rPr>
              <a:t>)</a:t>
            </a:r>
            <a:endParaRPr lang="en-US" sz="2800" dirty="0"/>
          </a:p>
        </p:txBody>
      </p:sp>
      <p:sp>
        <p:nvSpPr>
          <p:cNvPr id="2" name="Rectangle 1">
            <a:extLst>
              <a:ext uri="{FF2B5EF4-FFF2-40B4-BE49-F238E27FC236}">
                <a16:creationId xmlns:a16="http://schemas.microsoft.com/office/drawing/2014/main" id="{76DFB96A-D868-9DD8-5079-0BC4D66EFDEC}"/>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320123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429"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909019" y="1792119"/>
            <a:ext cx="4909777" cy="2205842"/>
          </a:xfrm>
          <a:prstGeom prst="rect">
            <a:avLst/>
          </a:prstGeom>
        </p:spPr>
      </p:pic>
      <p:pic>
        <p:nvPicPr>
          <p:cNvPr id="4" name="Picture 3">
            <a:extLst>
              <a:ext uri="{FF2B5EF4-FFF2-40B4-BE49-F238E27FC236}">
                <a16:creationId xmlns:a16="http://schemas.microsoft.com/office/drawing/2014/main" id="{ECD835E1-8705-4FAE-BA83-E5DA0C0F18F3}"/>
              </a:ext>
            </a:extLst>
          </p:cNvPr>
          <p:cNvPicPr>
            <a:picLocks noChangeAspect="1"/>
          </p:cNvPicPr>
          <p:nvPr/>
        </p:nvPicPr>
        <p:blipFill>
          <a:blip r:embed="rId5"/>
          <a:stretch>
            <a:fillRect/>
          </a:stretch>
        </p:blipFill>
        <p:spPr>
          <a:xfrm>
            <a:off x="8089983" y="1190561"/>
            <a:ext cx="3038475" cy="2771775"/>
          </a:xfrm>
          <a:prstGeom prst="rect">
            <a:avLst/>
          </a:prstGeom>
        </p:spPr>
      </p:pic>
      <p:sp>
        <p:nvSpPr>
          <p:cNvPr id="13" name="Title 1">
            <a:extLst>
              <a:ext uri="{FF2B5EF4-FFF2-40B4-BE49-F238E27FC236}">
                <a16:creationId xmlns:a16="http://schemas.microsoft.com/office/drawing/2014/main" id="{A3AFF4A9-D624-40A2-A02C-7ECB7C326C6F}"/>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 (CDMA)</a:t>
            </a:r>
          </a:p>
        </p:txBody>
      </p:sp>
      <p:sp>
        <p:nvSpPr>
          <p:cNvPr id="16" name="Rectangle 15">
            <a:extLst>
              <a:ext uri="{FF2B5EF4-FFF2-40B4-BE49-F238E27FC236}">
                <a16:creationId xmlns:a16="http://schemas.microsoft.com/office/drawing/2014/main" id="{0498CB97-9CFA-451B-835B-46A903C42F66}"/>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sp>
        <p:nvSpPr>
          <p:cNvPr id="7" name="Rectangle 6">
            <a:extLst>
              <a:ext uri="{FF2B5EF4-FFF2-40B4-BE49-F238E27FC236}">
                <a16:creationId xmlns:a16="http://schemas.microsoft.com/office/drawing/2014/main" id="{0099655B-9D66-4DD1-99E3-F96177AA5355}"/>
              </a:ext>
            </a:extLst>
          </p:cNvPr>
          <p:cNvSpPr/>
          <p:nvPr/>
        </p:nvSpPr>
        <p:spPr>
          <a:xfrm>
            <a:off x="406521" y="4351891"/>
            <a:ext cx="10824551" cy="1200329"/>
          </a:xfrm>
          <a:prstGeom prst="rect">
            <a:avLst/>
          </a:prstGeom>
        </p:spPr>
        <p:txBody>
          <a:bodyPr wrap="square">
            <a:spAutoFit/>
          </a:bodyPr>
          <a:lstStyle/>
          <a:p>
            <a:r>
              <a:rPr lang="en-US" sz="2400" dirty="0">
                <a:solidFill>
                  <a:srgbClr val="000000"/>
                </a:solidFill>
                <a:ea typeface="DengXian" panose="02010600030101010101" pitchFamily="2" charset="-122"/>
              </a:rPr>
              <a:t>CDMA </a:t>
            </a:r>
            <a:r>
              <a:rPr lang="en-US" sz="2400" dirty="0"/>
              <a:t>is a </a:t>
            </a:r>
            <a:r>
              <a:rPr lang="en-US" sz="2400" dirty="0">
                <a:solidFill>
                  <a:srgbClr val="FF0000"/>
                </a:solidFill>
              </a:rPr>
              <a:t>digital technology</a:t>
            </a:r>
            <a:r>
              <a:rPr lang="en-US" sz="2400" dirty="0"/>
              <a:t> and </a:t>
            </a:r>
            <a:r>
              <a:rPr lang="en-US" sz="2400" dirty="0">
                <a:solidFill>
                  <a:srgbClr val="000000"/>
                </a:solidFill>
                <a:ea typeface="DengXian" panose="02010600030101010101" pitchFamily="2" charset="-122"/>
              </a:rPr>
              <a:t>transmits over the </a:t>
            </a:r>
            <a:r>
              <a:rPr lang="en-US" sz="2400" dirty="0">
                <a:solidFill>
                  <a:srgbClr val="FF0000"/>
                </a:solidFill>
                <a:ea typeface="DengXian" panose="02010600030101010101" pitchFamily="2" charset="-122"/>
              </a:rPr>
              <a:t>entire frequency range</a:t>
            </a:r>
            <a:r>
              <a:rPr lang="en-US" sz="2400" dirty="0">
                <a:solidFill>
                  <a:srgbClr val="000000"/>
                </a:solidFill>
                <a:ea typeface="DengXian" panose="02010600030101010101" pitchFamily="2" charset="-122"/>
              </a:rPr>
              <a:t>. It does not assign a specific frequency to each user but </a:t>
            </a:r>
            <a:r>
              <a:rPr lang="en-US" sz="2400" dirty="0">
                <a:solidFill>
                  <a:srgbClr val="FF0000"/>
                </a:solidFill>
                <a:ea typeface="DengXian" panose="02010600030101010101" pitchFamily="2" charset="-122"/>
              </a:rPr>
              <a:t>assign a unique code </a:t>
            </a:r>
            <a:r>
              <a:rPr lang="en-US" sz="2400" dirty="0">
                <a:solidFill>
                  <a:srgbClr val="000000"/>
                </a:solidFill>
                <a:ea typeface="DengXian" panose="02010600030101010101" pitchFamily="2" charset="-122"/>
              </a:rPr>
              <a:t>to each user on the communications network as illustrate in the diagram. </a:t>
            </a:r>
            <a:endParaRPr lang="en-US" sz="2400" dirty="0"/>
          </a:p>
        </p:txBody>
      </p:sp>
      <p:pic>
        <p:nvPicPr>
          <p:cNvPr id="17" name="Pg27">
            <a:hlinkClick r:id="" action="ppaction://media"/>
            <a:extLst>
              <a:ext uri="{FF2B5EF4-FFF2-40B4-BE49-F238E27FC236}">
                <a16:creationId xmlns:a16="http://schemas.microsoft.com/office/drawing/2014/main" id="{44E6F7B7-BB8E-40C1-B524-F2CF30837E3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905593" y="5546422"/>
            <a:ext cx="609600" cy="609600"/>
          </a:xfrm>
          <a:prstGeom prst="rect">
            <a:avLst/>
          </a:prstGeom>
        </p:spPr>
      </p:pic>
      <p:sp>
        <p:nvSpPr>
          <p:cNvPr id="18" name="Rectangle 17">
            <a:extLst>
              <a:ext uri="{FF2B5EF4-FFF2-40B4-BE49-F238E27FC236}">
                <a16:creationId xmlns:a16="http://schemas.microsoft.com/office/drawing/2014/main" id="{A012CE51-0CBA-41B4-B1CF-9A41674655FF}"/>
              </a:ext>
            </a:extLst>
          </p:cNvPr>
          <p:cNvSpPr/>
          <p:nvPr/>
        </p:nvSpPr>
        <p:spPr>
          <a:xfrm>
            <a:off x="715472" y="1110267"/>
            <a:ext cx="5954002" cy="523220"/>
          </a:xfrm>
          <a:prstGeom prst="rect">
            <a:avLst/>
          </a:prstGeom>
        </p:spPr>
        <p:txBody>
          <a:bodyPr wrap="none">
            <a:spAutoFit/>
          </a:bodyPr>
          <a:lstStyle/>
          <a:p>
            <a:r>
              <a:rPr lang="en-SG" sz="2800" b="1" dirty="0">
                <a:solidFill>
                  <a:srgbClr val="00B050"/>
                </a:solidFill>
                <a:latin typeface="Calibri" panose="020F0502020204030204" pitchFamily="34" charset="0"/>
                <a:cs typeface="Calibri" panose="020F0502020204030204" pitchFamily="34" charset="0"/>
              </a:rPr>
              <a:t>C</a:t>
            </a:r>
            <a:r>
              <a:rPr lang="en-SG" sz="2800" dirty="0">
                <a:latin typeface="Calibri" panose="020F0502020204030204" pitchFamily="34" charset="0"/>
                <a:cs typeface="Calibri" panose="020F0502020204030204" pitchFamily="34" charset="0"/>
              </a:rPr>
              <a:t>ode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CDMA</a:t>
            </a:r>
            <a:r>
              <a:rPr lang="en-SG" sz="2800" dirty="0">
                <a:latin typeface="Calibri" panose="020F0502020204030204" pitchFamily="34" charset="0"/>
                <a:cs typeface="Calibri" panose="020F0502020204030204" pitchFamily="34" charset="0"/>
              </a:rPr>
              <a:t>)</a:t>
            </a:r>
            <a:endParaRPr lang="en-US" sz="2800" dirty="0"/>
          </a:p>
        </p:txBody>
      </p:sp>
      <p:sp>
        <p:nvSpPr>
          <p:cNvPr id="3" name="Rectangle 2">
            <a:extLst>
              <a:ext uri="{FF2B5EF4-FFF2-40B4-BE49-F238E27FC236}">
                <a16:creationId xmlns:a16="http://schemas.microsoft.com/office/drawing/2014/main" id="{3F504086-9331-696A-89EA-D1F1CEB33D4A}"/>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62509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47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1509" y="1316669"/>
            <a:ext cx="5594574" cy="3399688"/>
          </a:xfrm>
          <a:prstGeom prst="rect">
            <a:avLst/>
          </a:prstGeom>
        </p:spPr>
      </p:pic>
      <p:sp>
        <p:nvSpPr>
          <p:cNvPr id="3" name="Rectangle 2"/>
          <p:cNvSpPr/>
          <p:nvPr/>
        </p:nvSpPr>
        <p:spPr>
          <a:xfrm>
            <a:off x="8943751" y="4779644"/>
            <a:ext cx="1244251" cy="584775"/>
          </a:xfrm>
          <a:prstGeom prst="rect">
            <a:avLst/>
          </a:prstGeom>
        </p:spPr>
        <p:txBody>
          <a:bodyPr wrap="none">
            <a:spAutoFit/>
          </a:bodyPr>
          <a:lstStyle/>
          <a:p>
            <a:r>
              <a:rPr lang="en-SG" sz="3200" b="1" dirty="0">
                <a:solidFill>
                  <a:schemeClr val="accent1">
                    <a:lumMod val="50000"/>
                  </a:schemeClr>
                </a:solidFill>
              </a:rPr>
              <a:t>SDMA</a:t>
            </a:r>
          </a:p>
        </p:txBody>
      </p:sp>
      <p:sp>
        <p:nvSpPr>
          <p:cNvPr id="15" name="Title 1">
            <a:extLst>
              <a:ext uri="{FF2B5EF4-FFF2-40B4-BE49-F238E27FC236}">
                <a16:creationId xmlns:a16="http://schemas.microsoft.com/office/drawing/2014/main" id="{4CEC4E8F-216B-4DBD-8F16-8B6976D421CA}"/>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 (SDMA)</a:t>
            </a:r>
          </a:p>
        </p:txBody>
      </p:sp>
      <p:sp>
        <p:nvSpPr>
          <p:cNvPr id="9" name="Rectangle 8">
            <a:extLst>
              <a:ext uri="{FF2B5EF4-FFF2-40B4-BE49-F238E27FC236}">
                <a16:creationId xmlns:a16="http://schemas.microsoft.com/office/drawing/2014/main" id="{6C5F1A52-EB0D-4008-B5F7-91A665AED042}"/>
              </a:ext>
            </a:extLst>
          </p:cNvPr>
          <p:cNvSpPr/>
          <p:nvPr/>
        </p:nvSpPr>
        <p:spPr>
          <a:xfrm>
            <a:off x="715472" y="1110267"/>
            <a:ext cx="6011454" cy="523220"/>
          </a:xfrm>
          <a:prstGeom prst="rect">
            <a:avLst/>
          </a:prstGeom>
        </p:spPr>
        <p:txBody>
          <a:bodyPr wrap="none">
            <a:spAutoFit/>
          </a:bodyPr>
          <a:lstStyle/>
          <a:p>
            <a:r>
              <a:rPr lang="en-SG" sz="2800" b="1" dirty="0">
                <a:solidFill>
                  <a:srgbClr val="00B050"/>
                </a:solidFill>
                <a:latin typeface="Calibri" panose="020F0502020204030204" pitchFamily="34" charset="0"/>
                <a:cs typeface="Calibri" panose="020F0502020204030204" pitchFamily="34" charset="0"/>
              </a:rPr>
              <a:t>S</a:t>
            </a:r>
            <a:r>
              <a:rPr lang="en-SG" sz="2800" dirty="0">
                <a:latin typeface="Calibri" panose="020F0502020204030204" pitchFamily="34" charset="0"/>
                <a:cs typeface="Calibri" panose="020F0502020204030204" pitchFamily="34" charset="0"/>
              </a:rPr>
              <a:t>patial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SDMA</a:t>
            </a:r>
            <a:r>
              <a:rPr lang="en-SG" sz="2800" dirty="0">
                <a:latin typeface="Calibri" panose="020F0502020204030204" pitchFamily="34" charset="0"/>
                <a:cs typeface="Calibri" panose="020F0502020204030204" pitchFamily="34" charset="0"/>
              </a:rPr>
              <a:t>)</a:t>
            </a:r>
            <a:endParaRPr lang="en-US" sz="2800" dirty="0"/>
          </a:p>
        </p:txBody>
      </p:sp>
      <p:sp>
        <p:nvSpPr>
          <p:cNvPr id="16" name="Rectangle 15">
            <a:extLst>
              <a:ext uri="{FF2B5EF4-FFF2-40B4-BE49-F238E27FC236}">
                <a16:creationId xmlns:a16="http://schemas.microsoft.com/office/drawing/2014/main" id="{E0D8E392-6E05-4FAD-9078-5E7CAC3D9345}"/>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sp>
        <p:nvSpPr>
          <p:cNvPr id="4" name="Rectangle 3">
            <a:extLst>
              <a:ext uri="{FF2B5EF4-FFF2-40B4-BE49-F238E27FC236}">
                <a16:creationId xmlns:a16="http://schemas.microsoft.com/office/drawing/2014/main" id="{F3020F3C-EF64-46F5-98F9-E2570F312CC3}"/>
              </a:ext>
            </a:extLst>
          </p:cNvPr>
          <p:cNvSpPr/>
          <p:nvPr/>
        </p:nvSpPr>
        <p:spPr>
          <a:xfrm>
            <a:off x="715472" y="2102940"/>
            <a:ext cx="5556991" cy="4154984"/>
          </a:xfrm>
          <a:prstGeom prst="rect">
            <a:avLst/>
          </a:prstGeom>
        </p:spPr>
        <p:txBody>
          <a:bodyPr wrap="square">
            <a:spAutoFit/>
          </a:bodyPr>
          <a:lstStyle/>
          <a:p>
            <a:r>
              <a:rPr lang="en-US" sz="2400" b="1" dirty="0"/>
              <a:t>SDMA - </a:t>
            </a:r>
            <a:r>
              <a:rPr lang="en-US" sz="2400" b="1" dirty="0">
                <a:solidFill>
                  <a:srgbClr val="FF0000"/>
                </a:solidFill>
                <a:ea typeface="DengXian" panose="02010600030101010101" pitchFamily="2" charset="-122"/>
              </a:rPr>
              <a:t>focusing signal beams</a:t>
            </a:r>
            <a:r>
              <a:rPr lang="en-US" sz="2400" dirty="0">
                <a:solidFill>
                  <a:srgbClr val="222222"/>
                </a:solidFill>
                <a:ea typeface="DengXian" panose="02010600030101010101" pitchFamily="2" charset="-122"/>
              </a:rPr>
              <a:t> using advanced antenna technology which is also called </a:t>
            </a:r>
            <a:r>
              <a:rPr lang="en-US" sz="2400" b="1" dirty="0">
                <a:solidFill>
                  <a:srgbClr val="FF0000"/>
                </a:solidFill>
              </a:rPr>
              <a:t>phased array techniques</a:t>
            </a:r>
            <a:r>
              <a:rPr lang="en-US" sz="2400" dirty="0"/>
              <a:t>.</a:t>
            </a:r>
          </a:p>
          <a:p>
            <a:endParaRPr lang="en-US" sz="2400" dirty="0"/>
          </a:p>
          <a:p>
            <a:r>
              <a:rPr lang="en-US" sz="2400" dirty="0"/>
              <a:t>“</a:t>
            </a:r>
            <a:r>
              <a:rPr lang="en-US" sz="2400" b="1" dirty="0">
                <a:solidFill>
                  <a:srgbClr val="FF0000"/>
                </a:solidFill>
              </a:rPr>
              <a:t>Know the direction to transmit</a:t>
            </a:r>
            <a:r>
              <a:rPr lang="en-US" sz="2400" dirty="0"/>
              <a:t>” energy efficiency</a:t>
            </a:r>
          </a:p>
          <a:p>
            <a:endParaRPr lang="en-US" sz="2400" dirty="0"/>
          </a:p>
          <a:p>
            <a:r>
              <a:rPr lang="en-US" sz="2400" dirty="0"/>
              <a:t>Use in </a:t>
            </a:r>
            <a:r>
              <a:rPr lang="en-US" sz="2400" b="1" dirty="0">
                <a:solidFill>
                  <a:srgbClr val="0070C0"/>
                </a:solidFill>
              </a:rPr>
              <a:t>satellite and cellular communication </a:t>
            </a:r>
            <a:r>
              <a:rPr lang="en-US" sz="2400" dirty="0"/>
              <a:t>by reuse the frequency, focusing on different areas.</a:t>
            </a:r>
          </a:p>
          <a:p>
            <a:endParaRPr lang="en-US" sz="2400" dirty="0"/>
          </a:p>
        </p:txBody>
      </p:sp>
      <p:pic>
        <p:nvPicPr>
          <p:cNvPr id="5" name="Pg28">
            <a:hlinkClick r:id="" action="ppaction://media"/>
            <a:extLst>
              <a:ext uri="{FF2B5EF4-FFF2-40B4-BE49-F238E27FC236}">
                <a16:creationId xmlns:a16="http://schemas.microsoft.com/office/drawing/2014/main" id="{D7BAFBD5-AFD2-4E9D-9750-605D0734FA9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883202" y="5453456"/>
            <a:ext cx="609600" cy="609600"/>
          </a:xfrm>
          <a:prstGeom prst="rect">
            <a:avLst/>
          </a:prstGeom>
        </p:spPr>
      </p:pic>
      <p:sp>
        <p:nvSpPr>
          <p:cNvPr id="6" name="Rectangle 5">
            <a:extLst>
              <a:ext uri="{FF2B5EF4-FFF2-40B4-BE49-F238E27FC236}">
                <a16:creationId xmlns:a16="http://schemas.microsoft.com/office/drawing/2014/main" id="{8B07C8F5-6656-BF5D-D17B-DE5345211568}"/>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8590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706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943751" y="4779644"/>
            <a:ext cx="1516762" cy="584775"/>
          </a:xfrm>
          <a:prstGeom prst="rect">
            <a:avLst/>
          </a:prstGeom>
        </p:spPr>
        <p:txBody>
          <a:bodyPr wrap="none">
            <a:spAutoFit/>
          </a:bodyPr>
          <a:lstStyle/>
          <a:p>
            <a:r>
              <a:rPr lang="en-SG" sz="3200" b="1" dirty="0">
                <a:solidFill>
                  <a:schemeClr val="accent1">
                    <a:lumMod val="50000"/>
                  </a:schemeClr>
                </a:solidFill>
              </a:rPr>
              <a:t>OFDMA</a:t>
            </a:r>
          </a:p>
        </p:txBody>
      </p:sp>
      <p:sp>
        <p:nvSpPr>
          <p:cNvPr id="15" name="Title 1">
            <a:extLst>
              <a:ext uri="{FF2B5EF4-FFF2-40B4-BE49-F238E27FC236}">
                <a16:creationId xmlns:a16="http://schemas.microsoft.com/office/drawing/2014/main" id="{4CEC4E8F-216B-4DBD-8F16-8B6976D421CA}"/>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Wireless System Design Considerations </a:t>
            </a:r>
          </a:p>
          <a:p>
            <a:pPr fontAlgn="auto">
              <a:spcAft>
                <a:spcPts val="0"/>
              </a:spcAft>
            </a:pPr>
            <a:r>
              <a:rPr lang="en-SG" sz="2800" dirty="0">
                <a:solidFill>
                  <a:srgbClr val="C00000"/>
                </a:solidFill>
                <a:latin typeface="Calibri" panose="020F0502020204030204" pitchFamily="34" charset="0"/>
                <a:cs typeface="Calibri" panose="020F0502020204030204" pitchFamily="34" charset="0"/>
              </a:rPr>
              <a:t>Multiple Access Techniques (OFDMA)</a:t>
            </a:r>
          </a:p>
        </p:txBody>
      </p:sp>
      <p:sp>
        <p:nvSpPr>
          <p:cNvPr id="9" name="Rectangle 8">
            <a:extLst>
              <a:ext uri="{FF2B5EF4-FFF2-40B4-BE49-F238E27FC236}">
                <a16:creationId xmlns:a16="http://schemas.microsoft.com/office/drawing/2014/main" id="{6C5F1A52-EB0D-4008-B5F7-91A665AED042}"/>
              </a:ext>
            </a:extLst>
          </p:cNvPr>
          <p:cNvSpPr/>
          <p:nvPr/>
        </p:nvSpPr>
        <p:spPr>
          <a:xfrm>
            <a:off x="715472" y="1110267"/>
            <a:ext cx="8708281" cy="523220"/>
          </a:xfrm>
          <a:prstGeom prst="rect">
            <a:avLst/>
          </a:prstGeom>
        </p:spPr>
        <p:txBody>
          <a:bodyPr wrap="none">
            <a:spAutoFit/>
          </a:bodyPr>
          <a:lstStyle/>
          <a:p>
            <a:r>
              <a:rPr lang="en-SG" sz="2800" b="1" dirty="0">
                <a:solidFill>
                  <a:srgbClr val="00B050"/>
                </a:solidFill>
                <a:latin typeface="Calibri" panose="020F0502020204030204" pitchFamily="34" charset="0"/>
                <a:cs typeface="Calibri" panose="020F0502020204030204" pitchFamily="34" charset="0"/>
              </a:rPr>
              <a:t>O</a:t>
            </a:r>
            <a:r>
              <a:rPr lang="en-SG" sz="2800" dirty="0">
                <a:latin typeface="Calibri" panose="020F0502020204030204" pitchFamily="34" charset="0"/>
                <a:cs typeface="Calibri" panose="020F0502020204030204" pitchFamily="34" charset="0"/>
              </a:rPr>
              <a:t>rthogonal</a:t>
            </a:r>
            <a:r>
              <a:rPr lang="en-SG" sz="2800" b="1" dirty="0">
                <a:solidFill>
                  <a:srgbClr val="00B050"/>
                </a:solidFill>
                <a:latin typeface="Calibri" panose="020F0502020204030204" pitchFamily="34" charset="0"/>
                <a:cs typeface="Calibri" panose="020F0502020204030204" pitchFamily="34" charset="0"/>
              </a:rPr>
              <a:t> F</a:t>
            </a:r>
            <a:r>
              <a:rPr lang="en-SG" sz="2800" dirty="0">
                <a:latin typeface="Calibri" panose="020F0502020204030204" pitchFamily="34" charset="0"/>
                <a:cs typeface="Calibri" panose="020F0502020204030204" pitchFamily="34" charset="0"/>
              </a:rPr>
              <a:t>requency </a:t>
            </a:r>
            <a:r>
              <a:rPr lang="en-SG" sz="2800" b="1" dirty="0">
                <a:solidFill>
                  <a:srgbClr val="00B050"/>
                </a:solidFill>
                <a:latin typeface="Calibri" panose="020F0502020204030204" pitchFamily="34" charset="0"/>
                <a:cs typeface="Calibri" panose="020F0502020204030204" pitchFamily="34" charset="0"/>
              </a:rPr>
              <a:t>D</a:t>
            </a:r>
            <a:r>
              <a:rPr lang="en-SG" sz="2800" dirty="0">
                <a:latin typeface="Calibri" panose="020F0502020204030204" pitchFamily="34" charset="0"/>
                <a:cs typeface="Calibri" panose="020F0502020204030204" pitchFamily="34" charset="0"/>
              </a:rPr>
              <a:t>ivision </a:t>
            </a:r>
            <a:r>
              <a:rPr lang="en-SG" sz="2800" b="1" dirty="0">
                <a:solidFill>
                  <a:srgbClr val="00B050"/>
                </a:solidFill>
                <a:latin typeface="Calibri" panose="020F0502020204030204" pitchFamily="34" charset="0"/>
                <a:cs typeface="Calibri" panose="020F0502020204030204" pitchFamily="34" charset="0"/>
              </a:rPr>
              <a:t>M</a:t>
            </a:r>
            <a:r>
              <a:rPr lang="en-SG" sz="2800" dirty="0">
                <a:latin typeface="Calibri" panose="020F0502020204030204" pitchFamily="34" charset="0"/>
                <a:cs typeface="Calibri" panose="020F0502020204030204" pitchFamily="34" charset="0"/>
              </a:rPr>
              <a:t>ultiple </a:t>
            </a:r>
            <a:r>
              <a:rPr lang="en-SG" sz="2800" b="1" dirty="0">
                <a:solidFill>
                  <a:srgbClr val="00B050"/>
                </a:solidFill>
                <a:latin typeface="Calibri" panose="020F0502020204030204" pitchFamily="34" charset="0"/>
                <a:cs typeface="Calibri" panose="020F0502020204030204" pitchFamily="34" charset="0"/>
              </a:rPr>
              <a:t>A</a:t>
            </a:r>
            <a:r>
              <a:rPr lang="en-SG" sz="2800" dirty="0">
                <a:latin typeface="Calibri" panose="020F0502020204030204" pitchFamily="34" charset="0"/>
                <a:cs typeface="Calibri" panose="020F0502020204030204" pitchFamily="34" charset="0"/>
              </a:rPr>
              <a:t>ccess (</a:t>
            </a:r>
            <a:r>
              <a:rPr lang="en-SG" sz="2800" b="1" dirty="0">
                <a:solidFill>
                  <a:srgbClr val="00B050"/>
                </a:solidFill>
                <a:latin typeface="Calibri" panose="020F0502020204030204" pitchFamily="34" charset="0"/>
                <a:cs typeface="Calibri" panose="020F0502020204030204" pitchFamily="34" charset="0"/>
              </a:rPr>
              <a:t>OFDMA</a:t>
            </a:r>
            <a:r>
              <a:rPr lang="en-SG" sz="2800" dirty="0">
                <a:latin typeface="Calibri" panose="020F0502020204030204" pitchFamily="34" charset="0"/>
                <a:cs typeface="Calibri" panose="020F0502020204030204" pitchFamily="34" charset="0"/>
              </a:rPr>
              <a:t>)</a:t>
            </a:r>
            <a:endParaRPr lang="en-US" sz="2800" dirty="0"/>
          </a:p>
        </p:txBody>
      </p:sp>
      <p:sp>
        <p:nvSpPr>
          <p:cNvPr id="16" name="Rectangle 15">
            <a:extLst>
              <a:ext uri="{FF2B5EF4-FFF2-40B4-BE49-F238E27FC236}">
                <a16:creationId xmlns:a16="http://schemas.microsoft.com/office/drawing/2014/main" id="{E0D8E392-6E05-4FAD-9078-5E7CAC3D9345}"/>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sp>
        <p:nvSpPr>
          <p:cNvPr id="4" name="Rectangle 3">
            <a:extLst>
              <a:ext uri="{FF2B5EF4-FFF2-40B4-BE49-F238E27FC236}">
                <a16:creationId xmlns:a16="http://schemas.microsoft.com/office/drawing/2014/main" id="{F3020F3C-EF64-46F5-98F9-E2570F312CC3}"/>
              </a:ext>
            </a:extLst>
          </p:cNvPr>
          <p:cNvSpPr/>
          <p:nvPr/>
        </p:nvSpPr>
        <p:spPr>
          <a:xfrm>
            <a:off x="715472" y="2102940"/>
            <a:ext cx="5556991" cy="3046988"/>
          </a:xfrm>
          <a:prstGeom prst="rect">
            <a:avLst/>
          </a:prstGeom>
        </p:spPr>
        <p:txBody>
          <a:bodyPr wrap="square">
            <a:spAutoFit/>
          </a:bodyPr>
          <a:lstStyle/>
          <a:p>
            <a:r>
              <a:rPr lang="en-US" sz="2400" dirty="0"/>
              <a:t>Orthogonal frequency division multiplexing (OFDMA) is used in 4G or </a:t>
            </a:r>
            <a:r>
              <a:rPr lang="en-US" sz="2400" b="1" dirty="0">
                <a:solidFill>
                  <a:srgbClr val="FF0000"/>
                </a:solidFill>
              </a:rPr>
              <a:t>Long Term Evolution (LTE)</a:t>
            </a:r>
            <a:r>
              <a:rPr lang="en-US" sz="2400" dirty="0"/>
              <a:t> cellular systems. </a:t>
            </a:r>
          </a:p>
          <a:p>
            <a:endParaRPr lang="en-US" sz="2400" dirty="0"/>
          </a:p>
          <a:p>
            <a:r>
              <a:rPr lang="en-US" sz="2400" dirty="0"/>
              <a:t>OFDM is a modulation method that </a:t>
            </a:r>
            <a:r>
              <a:rPr lang="en-US" sz="2400" b="1" dirty="0">
                <a:solidFill>
                  <a:srgbClr val="FF0000"/>
                </a:solidFill>
              </a:rPr>
              <a:t>divides a channel</a:t>
            </a:r>
            <a:r>
              <a:rPr lang="en-US" sz="2400" dirty="0"/>
              <a:t> into </a:t>
            </a:r>
            <a:r>
              <a:rPr lang="en-US" sz="2400" b="1" dirty="0">
                <a:solidFill>
                  <a:srgbClr val="FF0000"/>
                </a:solidFill>
              </a:rPr>
              <a:t>multiple </a:t>
            </a:r>
            <a:r>
              <a:rPr lang="en-US" sz="2400" dirty="0"/>
              <a:t>narrow orthogonal bands that are spaced so they don’t interfere with one another. </a:t>
            </a:r>
          </a:p>
        </p:txBody>
      </p:sp>
      <p:pic>
        <p:nvPicPr>
          <p:cNvPr id="11" name="Picture 10">
            <a:extLst>
              <a:ext uri="{FF2B5EF4-FFF2-40B4-BE49-F238E27FC236}">
                <a16:creationId xmlns:a16="http://schemas.microsoft.com/office/drawing/2014/main" id="{9C9BBA81-943C-4DCD-8CFF-8492BD9853D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7770892" y="1722523"/>
            <a:ext cx="3233992" cy="3072567"/>
          </a:xfrm>
          <a:prstGeom prst="rect">
            <a:avLst/>
          </a:prstGeom>
          <a:noFill/>
          <a:ln>
            <a:noFill/>
          </a:ln>
        </p:spPr>
      </p:pic>
      <p:pic>
        <p:nvPicPr>
          <p:cNvPr id="6" name="Pg29">
            <a:hlinkClick r:id="" action="ppaction://media"/>
            <a:extLst>
              <a:ext uri="{FF2B5EF4-FFF2-40B4-BE49-F238E27FC236}">
                <a16:creationId xmlns:a16="http://schemas.microsoft.com/office/drawing/2014/main" id="{C702C3CD-8C47-4411-99BC-76DF53B1F2E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871144" y="5454180"/>
            <a:ext cx="609600" cy="609600"/>
          </a:xfrm>
          <a:prstGeom prst="rect">
            <a:avLst/>
          </a:prstGeom>
        </p:spPr>
      </p:pic>
      <p:sp>
        <p:nvSpPr>
          <p:cNvPr id="2" name="Rectangle 1">
            <a:extLst>
              <a:ext uri="{FF2B5EF4-FFF2-40B4-BE49-F238E27FC236}">
                <a16:creationId xmlns:a16="http://schemas.microsoft.com/office/drawing/2014/main" id="{0783F588-03BB-FB75-28A9-9ED27CC1E9BE}"/>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46748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45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883268" y="891425"/>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endParaRPr lang="en-US" sz="3600" b="1" dirty="0">
              <a:solidFill>
                <a:srgbClr val="C00000"/>
              </a:solidFill>
            </a:endParaRPr>
          </a:p>
        </p:txBody>
      </p:sp>
      <p:sp>
        <p:nvSpPr>
          <p:cNvPr id="3" name="Subtitle 2"/>
          <p:cNvSpPr>
            <a:spLocks noGrp="1"/>
          </p:cNvSpPr>
          <p:nvPr>
            <p:ph type="subTitle" idx="1"/>
          </p:nvPr>
        </p:nvSpPr>
        <p:spPr>
          <a:xfrm>
            <a:off x="643568" y="1450502"/>
            <a:ext cx="7260929" cy="3368842"/>
          </a:xfrm>
        </p:spPr>
        <p:txBody>
          <a:bodyPr>
            <a:noAutofit/>
          </a:bodyPr>
          <a:lstStyle/>
          <a:p>
            <a:pPr algn="just"/>
            <a:r>
              <a:rPr lang="en-SG" dirty="0">
                <a:cs typeface="Arial" panose="020B0604020202020204" pitchFamily="34" charset="0"/>
              </a:rPr>
              <a:t>The demand and traffic patterns, user locations, and the network conditions are constantly changing and the wireless communication system must adapt to the user needs.</a:t>
            </a:r>
          </a:p>
          <a:p>
            <a:pPr algn="just"/>
            <a:r>
              <a:rPr lang="en-SG" dirty="0"/>
              <a:t>The main issues facing wireless communication are:</a:t>
            </a:r>
          </a:p>
          <a:p>
            <a:pPr marL="514350" indent="-514350" algn="just">
              <a:buAutoNum type="arabicPeriod"/>
            </a:pPr>
            <a:r>
              <a:rPr lang="en-SG" dirty="0"/>
              <a:t>the complexity of </a:t>
            </a:r>
            <a:r>
              <a:rPr lang="en-SG" dirty="0">
                <a:solidFill>
                  <a:srgbClr val="0070C0"/>
                </a:solidFill>
              </a:rPr>
              <a:t>communication protocols </a:t>
            </a:r>
            <a:r>
              <a:rPr lang="en-SG" dirty="0"/>
              <a:t>that support full user mobility,</a:t>
            </a:r>
          </a:p>
          <a:p>
            <a:pPr marL="514350" indent="-514350" algn="just">
              <a:buAutoNum type="arabicPeriod"/>
            </a:pPr>
            <a:r>
              <a:rPr lang="en-SG" dirty="0"/>
              <a:t>the </a:t>
            </a:r>
            <a:r>
              <a:rPr lang="en-SG" dirty="0">
                <a:solidFill>
                  <a:srgbClr val="0070C0"/>
                </a:solidFill>
              </a:rPr>
              <a:t>power consumption </a:t>
            </a:r>
            <a:r>
              <a:rPr lang="en-SG" dirty="0"/>
              <a:t>in the mobile or portable terminal, and </a:t>
            </a:r>
          </a:p>
          <a:p>
            <a:pPr marL="514350" indent="-514350" algn="just">
              <a:buAutoNum type="arabicPeriod"/>
            </a:pPr>
            <a:r>
              <a:rPr lang="en-SG" dirty="0"/>
              <a:t>the </a:t>
            </a:r>
            <a:r>
              <a:rPr lang="en-SG" dirty="0">
                <a:solidFill>
                  <a:srgbClr val="0070C0"/>
                </a:solidFill>
              </a:rPr>
              <a:t>spectrum scarcity</a:t>
            </a:r>
            <a:r>
              <a:rPr lang="en-SG" dirty="0"/>
              <a:t>. </a:t>
            </a:r>
          </a:p>
          <a:p>
            <a:pPr algn="just"/>
            <a:endParaRPr lang="en-SG" dirty="0">
              <a:cs typeface="Arial" panose="020B0604020202020204" pitchFamily="34" charset="0"/>
            </a:endParaRPr>
          </a:p>
          <a:p>
            <a:pPr algn="just"/>
            <a:r>
              <a:rPr lang="en-SG" dirty="0">
                <a:cs typeface="Arial" panose="020B0604020202020204" pitchFamily="34" charset="0"/>
              </a:rPr>
              <a:t> </a:t>
            </a:r>
          </a:p>
        </p:txBody>
      </p:sp>
      <p:sp>
        <p:nvSpPr>
          <p:cNvPr id="8" name="Title 1">
            <a:extLst>
              <a:ext uri="{FF2B5EF4-FFF2-40B4-BE49-F238E27FC236}">
                <a16:creationId xmlns:a16="http://schemas.microsoft.com/office/drawing/2014/main" id="{A42CEFE6-2977-44D4-868E-A505C90E4CAB}"/>
              </a:ext>
            </a:extLst>
          </p:cNvPr>
          <p:cNvSpPr txBox="1">
            <a:spLocks/>
          </p:cNvSpPr>
          <p:nvPr/>
        </p:nvSpPr>
        <p:spPr>
          <a:xfrm>
            <a:off x="715472" y="13652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Challenges in Wireless Communication System</a:t>
            </a:r>
          </a:p>
        </p:txBody>
      </p:sp>
      <p:sp>
        <p:nvSpPr>
          <p:cNvPr id="14" name="Rectangle 13">
            <a:extLst>
              <a:ext uri="{FF2B5EF4-FFF2-40B4-BE49-F238E27FC236}">
                <a16:creationId xmlns:a16="http://schemas.microsoft.com/office/drawing/2014/main" id="{35B37E25-A614-43CA-96E8-3791B2B46285}"/>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2" name="Picture 1">
            <a:extLst>
              <a:ext uri="{FF2B5EF4-FFF2-40B4-BE49-F238E27FC236}">
                <a16:creationId xmlns:a16="http://schemas.microsoft.com/office/drawing/2014/main" id="{E1F245CE-E253-4038-9AAB-40387FBF788C}"/>
              </a:ext>
            </a:extLst>
          </p:cNvPr>
          <p:cNvPicPr>
            <a:picLocks noChangeAspect="1"/>
          </p:cNvPicPr>
          <p:nvPr/>
        </p:nvPicPr>
        <p:blipFill>
          <a:blip r:embed="rId4"/>
          <a:stretch>
            <a:fillRect/>
          </a:stretch>
        </p:blipFill>
        <p:spPr>
          <a:xfrm>
            <a:off x="8608309" y="1479230"/>
            <a:ext cx="2933700" cy="3810000"/>
          </a:xfrm>
          <a:prstGeom prst="rect">
            <a:avLst/>
          </a:prstGeom>
        </p:spPr>
      </p:pic>
      <p:pic>
        <p:nvPicPr>
          <p:cNvPr id="6" name="Pg30">
            <a:hlinkClick r:id="" action="ppaction://media"/>
            <a:extLst>
              <a:ext uri="{FF2B5EF4-FFF2-40B4-BE49-F238E27FC236}">
                <a16:creationId xmlns:a16="http://schemas.microsoft.com/office/drawing/2014/main" id="{02FEAFF8-1004-4E65-A863-8E27D776A94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978906" y="5593284"/>
            <a:ext cx="609600" cy="609600"/>
          </a:xfrm>
          <a:prstGeom prst="rect">
            <a:avLst/>
          </a:prstGeom>
        </p:spPr>
      </p:pic>
      <p:sp>
        <p:nvSpPr>
          <p:cNvPr id="5" name="Rectangle 4">
            <a:extLst>
              <a:ext uri="{FF2B5EF4-FFF2-40B4-BE49-F238E27FC236}">
                <a16:creationId xmlns:a16="http://schemas.microsoft.com/office/drawing/2014/main" id="{7D7F7577-34A2-FF8C-EF5A-59A5FFDFB600}"/>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428001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97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2"/>
          <a:stretch>
            <a:fillRect/>
          </a:stretch>
        </p:blipFill>
        <p:spPr>
          <a:xfrm>
            <a:off x="251050" y="6038076"/>
            <a:ext cx="1762125" cy="542925"/>
          </a:xfrm>
          <a:prstGeom prst="rect">
            <a:avLst/>
          </a:prstGeom>
        </p:spPr>
      </p:pic>
      <p:sp>
        <p:nvSpPr>
          <p:cNvPr id="10" name="TextBox 9">
            <a:hlinkClick r:id="rId3"/>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solidFill>
                  <a:srgbClr val="0D0D0D"/>
                </a:solidFill>
                <a:effectLst/>
                <a:latin typeface="Roboto" panose="02000000000000000000" pitchFamily="2" charset="0"/>
              </a:rPr>
              <a:t>Multiple Access Vs Multiplexing. Distinguish the Different Between Multiple Access and Multiplexing.</a:t>
            </a:r>
          </a:p>
          <a:p>
            <a:r>
              <a:rPr lang="en-SG" b="0" i="0" u="none" strike="noStrike" dirty="0">
                <a:effectLst/>
                <a:latin typeface="Roboto" panose="02000000000000000000" pitchFamily="2" charset="0"/>
                <a:hlinkClick r:id="rId3"/>
              </a:rPr>
              <a:t>https://youtu.be/8sxlqLX_dBY</a:t>
            </a:r>
            <a:endParaRPr lang="en-SG" dirty="0"/>
          </a:p>
        </p:txBody>
      </p:sp>
      <p:pic>
        <p:nvPicPr>
          <p:cNvPr id="4100" name="Picture 4" descr="Miscellaneous Video's – Centurian Park Family">
            <a:hlinkClick r:id="rId3"/>
            <a:extLst>
              <a:ext uri="{FF2B5EF4-FFF2-40B4-BE49-F238E27FC236}">
                <a16:creationId xmlns:a16="http://schemas.microsoft.com/office/drawing/2014/main" id="{F2FC59B5-8F70-388F-0F76-A765F77495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3" name="Picture 2">
            <a:extLst>
              <a:ext uri="{FF2B5EF4-FFF2-40B4-BE49-F238E27FC236}">
                <a16:creationId xmlns:a16="http://schemas.microsoft.com/office/drawing/2014/main" id="{B4A629F3-95F8-5E56-3CEC-67EC877CBF13}"/>
              </a:ext>
            </a:extLst>
          </p:cNvPr>
          <p:cNvPicPr>
            <a:picLocks noChangeAspect="1"/>
          </p:cNvPicPr>
          <p:nvPr/>
        </p:nvPicPr>
        <p:blipFill>
          <a:blip r:embed="rId5"/>
          <a:stretch>
            <a:fillRect/>
          </a:stretch>
        </p:blipFill>
        <p:spPr>
          <a:xfrm>
            <a:off x="178994" y="205305"/>
            <a:ext cx="9334215" cy="5242705"/>
          </a:xfrm>
          <a:prstGeom prst="rect">
            <a:avLst/>
          </a:prstGeom>
        </p:spPr>
      </p:pic>
    </p:spTree>
    <p:extLst>
      <p:ext uri="{BB962C8B-B14F-4D97-AF65-F5344CB8AC3E}">
        <p14:creationId xmlns:p14="http://schemas.microsoft.com/office/powerpoint/2010/main" val="3496374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2"/>
          <a:stretch>
            <a:fillRect/>
          </a:stretch>
        </p:blipFill>
        <p:spPr>
          <a:xfrm>
            <a:off x="251050" y="6038076"/>
            <a:ext cx="1762125" cy="542925"/>
          </a:xfrm>
          <a:prstGeom prst="rect">
            <a:avLst/>
          </a:prstGeom>
        </p:spPr>
      </p:pic>
      <p:sp>
        <p:nvSpPr>
          <p:cNvPr id="10" name="TextBox 9">
            <a:hlinkClick r:id="rId3"/>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solidFill>
                  <a:srgbClr val="0D0D0D"/>
                </a:solidFill>
                <a:effectLst/>
                <a:latin typeface="Roboto" panose="02000000000000000000" pitchFamily="2" charset="0"/>
              </a:rPr>
              <a:t>How our Phone Evolve from 1G to 5G with Different Multiple Access (FDMA. TDMA, CDMA, OFDMA &amp; SDMA).</a:t>
            </a:r>
          </a:p>
          <a:p>
            <a:r>
              <a:rPr lang="en-SG" b="0" i="0" u="none" strike="noStrike" dirty="0">
                <a:effectLst/>
                <a:latin typeface="Roboto" panose="02000000000000000000" pitchFamily="2" charset="0"/>
                <a:hlinkClick r:id="rId3"/>
              </a:rPr>
              <a:t>https://youtu.be/Vz7H6J6RmFU</a:t>
            </a:r>
            <a:endParaRPr lang="en-SG" b="0" i="0" dirty="0">
              <a:solidFill>
                <a:srgbClr val="0D0D0D"/>
              </a:solidFill>
              <a:effectLst/>
              <a:latin typeface="Roboto" panose="02000000000000000000" pitchFamily="2" charset="0"/>
            </a:endParaRPr>
          </a:p>
        </p:txBody>
      </p:sp>
      <p:pic>
        <p:nvPicPr>
          <p:cNvPr id="4100" name="Picture 4" descr="Miscellaneous Video's – Centurian Park Family">
            <a:hlinkClick r:id="rId3"/>
            <a:extLst>
              <a:ext uri="{FF2B5EF4-FFF2-40B4-BE49-F238E27FC236}">
                <a16:creationId xmlns:a16="http://schemas.microsoft.com/office/drawing/2014/main" id="{F2FC59B5-8F70-388F-0F76-A765F77495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3" name="Picture 2">
            <a:extLst>
              <a:ext uri="{FF2B5EF4-FFF2-40B4-BE49-F238E27FC236}">
                <a16:creationId xmlns:a16="http://schemas.microsoft.com/office/drawing/2014/main" id="{7F735438-447A-83C5-CDC2-86760DB38AAD}"/>
              </a:ext>
            </a:extLst>
          </p:cNvPr>
          <p:cNvPicPr>
            <a:picLocks noChangeAspect="1"/>
          </p:cNvPicPr>
          <p:nvPr/>
        </p:nvPicPr>
        <p:blipFill>
          <a:blip r:embed="rId5"/>
          <a:stretch>
            <a:fillRect/>
          </a:stretch>
        </p:blipFill>
        <p:spPr>
          <a:xfrm>
            <a:off x="251050" y="213806"/>
            <a:ext cx="9363452" cy="5296870"/>
          </a:xfrm>
          <a:prstGeom prst="rect">
            <a:avLst/>
          </a:prstGeom>
        </p:spPr>
      </p:pic>
    </p:spTree>
    <p:extLst>
      <p:ext uri="{BB962C8B-B14F-4D97-AF65-F5344CB8AC3E}">
        <p14:creationId xmlns:p14="http://schemas.microsoft.com/office/powerpoint/2010/main" val="682940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274242" y="885331"/>
            <a:ext cx="9643515" cy="5087338"/>
          </a:xfrm>
          <a:prstGeom prst="rect">
            <a:avLst/>
          </a:prstGeom>
        </p:spPr>
      </p:pic>
      <p:sp>
        <p:nvSpPr>
          <p:cNvPr id="7" name="Title 1">
            <a:extLst>
              <a:ext uri="{FF2B5EF4-FFF2-40B4-BE49-F238E27FC236}">
                <a16:creationId xmlns:a16="http://schemas.microsoft.com/office/drawing/2014/main" id="{F8A48F76-C5B9-431B-AE64-F3FDCD81225B}"/>
              </a:ext>
            </a:extLst>
          </p:cNvPr>
          <p:cNvSpPr txBox="1">
            <a:spLocks/>
          </p:cNvSpPr>
          <p:nvPr/>
        </p:nvSpPr>
        <p:spPr>
          <a:xfrm>
            <a:off x="667957" y="301581"/>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Challenges in Wireless Communication System</a:t>
            </a:r>
          </a:p>
          <a:p>
            <a:r>
              <a:rPr lang="en-SG" sz="2800" dirty="0">
                <a:solidFill>
                  <a:srgbClr val="C00000"/>
                </a:solidFill>
                <a:latin typeface="+mn-lt"/>
              </a:rPr>
              <a:t>Managing the scarce RF spectrum resources</a:t>
            </a:r>
          </a:p>
          <a:p>
            <a:pPr fontAlgn="auto">
              <a:spcAft>
                <a:spcPts val="0"/>
              </a:spcAft>
            </a:pPr>
            <a:endParaRPr lang="en-SG" sz="3200" dirty="0">
              <a:solidFill>
                <a:srgbClr val="C00000"/>
              </a:solidFill>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033C1402-7A8B-423B-9A92-7AFF0C29D6D7}"/>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3" name="Pg31">
            <a:hlinkClick r:id="" action="ppaction://media"/>
            <a:extLst>
              <a:ext uri="{FF2B5EF4-FFF2-40B4-BE49-F238E27FC236}">
                <a16:creationId xmlns:a16="http://schemas.microsoft.com/office/drawing/2014/main" id="{CAA97EAB-F6E6-4A86-A722-662914CA69A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823018" y="5592679"/>
            <a:ext cx="609600" cy="609600"/>
          </a:xfrm>
          <a:prstGeom prst="rect">
            <a:avLst/>
          </a:prstGeom>
        </p:spPr>
      </p:pic>
      <p:sp>
        <p:nvSpPr>
          <p:cNvPr id="4" name="Rectangle 3">
            <a:extLst>
              <a:ext uri="{FF2B5EF4-FFF2-40B4-BE49-F238E27FC236}">
                <a16:creationId xmlns:a16="http://schemas.microsoft.com/office/drawing/2014/main" id="{67FEFEDC-9788-0978-5983-BE40358C9649}"/>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120916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36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137" y="630619"/>
            <a:ext cx="6497521" cy="5850118"/>
          </a:xfrm>
        </p:spPr>
        <p:txBody>
          <a:bodyPr>
            <a:noAutofit/>
          </a:bodyPr>
          <a:lstStyle/>
          <a:p>
            <a:r>
              <a:rPr lang="en-SG" sz="2400" dirty="0">
                <a:solidFill>
                  <a:srgbClr val="0070C0"/>
                </a:solidFill>
                <a:latin typeface="+mn-lt"/>
              </a:rPr>
              <a:t>How to put more users in the limited resource like spectrum?</a:t>
            </a:r>
            <a:br>
              <a:rPr lang="en-SG" sz="2400" dirty="0">
                <a:latin typeface="+mn-lt"/>
              </a:rPr>
            </a:br>
            <a:r>
              <a:rPr lang="en-SG" sz="2400" dirty="0">
                <a:latin typeface="+mn-lt"/>
              </a:rPr>
              <a:t>To solve the RF bandwidth scarcity problem, more </a:t>
            </a:r>
            <a:r>
              <a:rPr lang="en-SG" sz="2400" b="1" dirty="0">
                <a:solidFill>
                  <a:srgbClr val="FF0000"/>
                </a:solidFill>
                <a:latin typeface="+mn-lt"/>
              </a:rPr>
              <a:t>efficient modulation techniques </a:t>
            </a:r>
            <a:r>
              <a:rPr lang="en-SG" sz="2400" dirty="0">
                <a:latin typeface="+mn-lt"/>
              </a:rPr>
              <a:t>like QAM and OFDM will have to be used to carry more payload.</a:t>
            </a:r>
            <a:br>
              <a:rPr lang="en-SG" sz="2400" dirty="0">
                <a:latin typeface="+mn-lt"/>
              </a:rPr>
            </a:br>
            <a:br>
              <a:rPr lang="en-SG" sz="2400" dirty="0">
                <a:latin typeface="+mn-lt"/>
              </a:rPr>
            </a:br>
            <a:r>
              <a:rPr lang="en-SG" sz="2400" dirty="0">
                <a:latin typeface="+mn-lt"/>
              </a:rPr>
              <a:t>Users will also need to share the frequency bandwidth </a:t>
            </a:r>
            <a:r>
              <a:rPr lang="en-SG" sz="2400" dirty="0">
                <a:solidFill>
                  <a:srgbClr val="FF0000"/>
                </a:solidFill>
                <a:latin typeface="+mn-lt"/>
              </a:rPr>
              <a:t>using multiple access techniques </a:t>
            </a:r>
            <a:r>
              <a:rPr lang="en-SG" sz="2400" dirty="0">
                <a:latin typeface="+mn-lt"/>
              </a:rPr>
              <a:t>like FDMA, TDMA and CDMA.</a:t>
            </a:r>
            <a:br>
              <a:rPr lang="en-SG" sz="2400" dirty="0">
                <a:latin typeface="+mn-lt"/>
              </a:rPr>
            </a:br>
            <a:br>
              <a:rPr lang="en-SG" sz="2400" dirty="0">
                <a:latin typeface="+mn-lt"/>
              </a:rPr>
            </a:br>
            <a:r>
              <a:rPr lang="en-SG" sz="2400" dirty="0">
                <a:latin typeface="+mn-lt"/>
              </a:rPr>
              <a:t>Frequency will also need to be reused (SDMA) if possible, for example use case in cellular system.</a:t>
            </a:r>
            <a:endParaRPr lang="en-US" sz="2400" dirty="0">
              <a:latin typeface="+mn-lt"/>
            </a:endParaRPr>
          </a:p>
        </p:txBody>
      </p:sp>
      <p:sp>
        <p:nvSpPr>
          <p:cNvPr id="9" name="Title 1">
            <a:extLst>
              <a:ext uri="{FF2B5EF4-FFF2-40B4-BE49-F238E27FC236}">
                <a16:creationId xmlns:a16="http://schemas.microsoft.com/office/drawing/2014/main" id="{5AC9D638-2CA8-4B21-9F64-3037D9F03EB0}"/>
              </a:ext>
            </a:extLst>
          </p:cNvPr>
          <p:cNvSpPr txBox="1">
            <a:spLocks/>
          </p:cNvSpPr>
          <p:nvPr/>
        </p:nvSpPr>
        <p:spPr>
          <a:xfrm>
            <a:off x="651915" y="377263"/>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Challenges in Wireless Communication System</a:t>
            </a:r>
          </a:p>
          <a:p>
            <a:r>
              <a:rPr lang="en-SG" sz="2800" dirty="0">
                <a:solidFill>
                  <a:srgbClr val="C00000"/>
                </a:solidFill>
                <a:latin typeface="+mn-lt"/>
              </a:rPr>
              <a:t>Managing the scarce RF spectrum resources</a:t>
            </a:r>
          </a:p>
          <a:p>
            <a:pPr fontAlgn="auto">
              <a:spcAft>
                <a:spcPts val="0"/>
              </a:spcAft>
            </a:pPr>
            <a:endParaRPr lang="en-SG" sz="3200" dirty="0">
              <a:solidFill>
                <a:srgbClr val="C00000"/>
              </a:solidFill>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935C9E9E-E459-469C-B890-DEDC2A8A1C6A}"/>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7" name="Picture 10">
            <a:extLst>
              <a:ext uri="{FF2B5EF4-FFF2-40B4-BE49-F238E27FC236}">
                <a16:creationId xmlns:a16="http://schemas.microsoft.com/office/drawing/2014/main" id="{36E34200-ABA9-499D-9F34-B32AD110CD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1573" y="1695915"/>
            <a:ext cx="5106375" cy="3326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g32">
            <a:hlinkClick r:id="" action="ppaction://media"/>
            <a:extLst>
              <a:ext uri="{FF2B5EF4-FFF2-40B4-BE49-F238E27FC236}">
                <a16:creationId xmlns:a16="http://schemas.microsoft.com/office/drawing/2014/main" id="{CE67359C-9EE4-4DF7-B828-B7B3DF34803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862992" y="5453508"/>
            <a:ext cx="609600" cy="609600"/>
          </a:xfrm>
          <a:prstGeom prst="rect">
            <a:avLst/>
          </a:prstGeom>
        </p:spPr>
      </p:pic>
      <p:sp>
        <p:nvSpPr>
          <p:cNvPr id="4" name="Rectangle 3">
            <a:extLst>
              <a:ext uri="{FF2B5EF4-FFF2-40B4-BE49-F238E27FC236}">
                <a16:creationId xmlns:a16="http://schemas.microsoft.com/office/drawing/2014/main" id="{35376C8D-F93C-A4B3-AF0E-B0AA2BCFEB11}"/>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5075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50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883268" y="891425"/>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endParaRPr lang="en-US" sz="3600" b="1" dirty="0">
              <a:solidFill>
                <a:srgbClr val="C00000"/>
              </a:solidFill>
            </a:endParaRPr>
          </a:p>
        </p:txBody>
      </p:sp>
      <p:sp>
        <p:nvSpPr>
          <p:cNvPr id="3" name="Subtitle 2"/>
          <p:cNvSpPr>
            <a:spLocks noGrp="1"/>
          </p:cNvSpPr>
          <p:nvPr>
            <p:ph type="subTitle" idx="1"/>
          </p:nvPr>
        </p:nvSpPr>
        <p:spPr>
          <a:xfrm>
            <a:off x="651915" y="1568116"/>
            <a:ext cx="11331536" cy="3368842"/>
          </a:xfrm>
        </p:spPr>
        <p:txBody>
          <a:bodyPr>
            <a:noAutofit/>
          </a:bodyPr>
          <a:lstStyle/>
          <a:p>
            <a:pPr algn="just">
              <a:lnSpc>
                <a:spcPct val="100000"/>
              </a:lnSpc>
              <a:spcBef>
                <a:spcPts val="0"/>
              </a:spcBef>
            </a:pPr>
            <a:r>
              <a:rPr lang="en-SG" sz="2800" dirty="0">
                <a:cs typeface="Arial" panose="020B0604020202020204" pitchFamily="34" charset="0"/>
              </a:rPr>
              <a:t>QoS - </a:t>
            </a:r>
            <a:r>
              <a:rPr lang="en-SG" sz="3600" b="1" dirty="0">
                <a:solidFill>
                  <a:srgbClr val="FF0000"/>
                </a:solidFill>
                <a:cs typeface="Arial" panose="020B0604020202020204" pitchFamily="34" charset="0"/>
              </a:rPr>
              <a:t>Latency</a:t>
            </a:r>
            <a:r>
              <a:rPr lang="en-SG" sz="2800" dirty="0">
                <a:cs typeface="Arial" panose="020B0604020202020204" pitchFamily="34" charset="0"/>
              </a:rPr>
              <a:t>, Reliability, Security </a:t>
            </a:r>
            <a:endParaRPr lang="en-SG" sz="2800" b="1" dirty="0"/>
          </a:p>
          <a:p>
            <a:pPr algn="just">
              <a:lnSpc>
                <a:spcPct val="100000"/>
              </a:lnSpc>
              <a:spcBef>
                <a:spcPts val="0"/>
              </a:spcBef>
            </a:pPr>
            <a:endParaRPr lang="en-SG" sz="1200" b="1" dirty="0"/>
          </a:p>
          <a:p>
            <a:pPr algn="just">
              <a:lnSpc>
                <a:spcPct val="100000"/>
              </a:lnSpc>
              <a:spcBef>
                <a:spcPts val="0"/>
              </a:spcBef>
            </a:pPr>
            <a:r>
              <a:rPr lang="en-SG" sz="2800" b="1" dirty="0"/>
              <a:t>Latency –</a:t>
            </a:r>
            <a:r>
              <a:rPr lang="en-SG" sz="2800" dirty="0"/>
              <a:t>   	1) </a:t>
            </a:r>
            <a:r>
              <a:rPr lang="en-SG" sz="2800" dirty="0">
                <a:solidFill>
                  <a:srgbClr val="0070C0"/>
                </a:solidFill>
              </a:rPr>
              <a:t>time for the packets to take between sender and receiver </a:t>
            </a:r>
            <a:r>
              <a:rPr lang="en-SG" sz="2800" dirty="0"/>
              <a:t>			2) </a:t>
            </a:r>
            <a:r>
              <a:rPr lang="en-SG" sz="2800" dirty="0">
                <a:solidFill>
                  <a:srgbClr val="0070C0"/>
                </a:solidFill>
              </a:rPr>
              <a:t>interaction between the sender &amp; receiver </a:t>
            </a:r>
            <a:r>
              <a:rPr lang="en-SG" sz="2800" dirty="0"/>
              <a:t>or even various 			parties along the way.</a:t>
            </a:r>
          </a:p>
          <a:p>
            <a:pPr algn="just">
              <a:lnSpc>
                <a:spcPct val="100000"/>
              </a:lnSpc>
              <a:spcBef>
                <a:spcPts val="0"/>
              </a:spcBef>
            </a:pPr>
            <a:endParaRPr lang="en-SG" sz="1200" dirty="0">
              <a:cs typeface="Arial" panose="020B0604020202020204" pitchFamily="34" charset="0"/>
            </a:endParaRPr>
          </a:p>
          <a:p>
            <a:pPr algn="just">
              <a:lnSpc>
                <a:spcPct val="100000"/>
              </a:lnSpc>
              <a:spcBef>
                <a:spcPts val="0"/>
              </a:spcBef>
            </a:pPr>
            <a:r>
              <a:rPr lang="en-SG" sz="2800" dirty="0"/>
              <a:t>Four key causes of latency are 	1) propagation delay </a:t>
            </a:r>
          </a:p>
          <a:p>
            <a:pPr algn="just">
              <a:lnSpc>
                <a:spcPct val="100000"/>
              </a:lnSpc>
              <a:spcBef>
                <a:spcPts val="0"/>
              </a:spcBef>
            </a:pPr>
            <a:r>
              <a:rPr lang="en-SG" sz="2800" dirty="0"/>
              <a:t>					2) serialization </a:t>
            </a:r>
          </a:p>
          <a:p>
            <a:pPr algn="just">
              <a:lnSpc>
                <a:spcPct val="100000"/>
              </a:lnSpc>
              <a:spcBef>
                <a:spcPts val="0"/>
              </a:spcBef>
            </a:pPr>
            <a:r>
              <a:rPr lang="en-SG" sz="2800" dirty="0"/>
              <a:t>					3) data protocols and routing </a:t>
            </a:r>
          </a:p>
          <a:p>
            <a:pPr algn="just">
              <a:lnSpc>
                <a:spcPct val="100000"/>
              </a:lnSpc>
              <a:spcBef>
                <a:spcPts val="0"/>
              </a:spcBef>
            </a:pPr>
            <a:r>
              <a:rPr lang="en-SG" sz="2800" dirty="0"/>
              <a:t>					4) switching, queuing and buffing</a:t>
            </a:r>
          </a:p>
        </p:txBody>
      </p:sp>
      <p:sp>
        <p:nvSpPr>
          <p:cNvPr id="8" name="Title 1">
            <a:extLst>
              <a:ext uri="{FF2B5EF4-FFF2-40B4-BE49-F238E27FC236}">
                <a16:creationId xmlns:a16="http://schemas.microsoft.com/office/drawing/2014/main" id="{6504B7D0-886D-43B8-96D2-13FF269E9A2E}"/>
              </a:ext>
            </a:extLst>
          </p:cNvPr>
          <p:cNvSpPr txBox="1">
            <a:spLocks/>
          </p:cNvSpPr>
          <p:nvPr/>
        </p:nvSpPr>
        <p:spPr>
          <a:xfrm>
            <a:off x="651915" y="377263"/>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Challenges in Wireless Communication System</a:t>
            </a:r>
          </a:p>
          <a:p>
            <a:r>
              <a:rPr lang="en-SG" sz="2800" dirty="0">
                <a:solidFill>
                  <a:srgbClr val="C00000"/>
                </a:solidFill>
                <a:latin typeface="+mn-lt"/>
              </a:rPr>
              <a:t>Quality of Service (QoS)</a:t>
            </a:r>
          </a:p>
          <a:p>
            <a:pPr fontAlgn="auto">
              <a:spcAft>
                <a:spcPts val="0"/>
              </a:spcAft>
            </a:pPr>
            <a:endParaRPr lang="en-SG" sz="3200" dirty="0">
              <a:solidFill>
                <a:srgbClr val="C00000"/>
              </a:solidFill>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4AE7C228-D786-4AEA-AE47-A80EC15800DB}"/>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2" name="Pg33">
            <a:hlinkClick r:id="" action="ppaction://media"/>
            <a:extLst>
              <a:ext uri="{FF2B5EF4-FFF2-40B4-BE49-F238E27FC236}">
                <a16:creationId xmlns:a16="http://schemas.microsoft.com/office/drawing/2014/main" id="{50917FCA-6034-4685-BAB4-8017B831687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24083" y="5546422"/>
            <a:ext cx="609600" cy="609600"/>
          </a:xfrm>
          <a:prstGeom prst="rect">
            <a:avLst/>
          </a:prstGeom>
        </p:spPr>
      </p:pic>
      <p:sp>
        <p:nvSpPr>
          <p:cNvPr id="5" name="Rectangle 4">
            <a:extLst>
              <a:ext uri="{FF2B5EF4-FFF2-40B4-BE49-F238E27FC236}">
                <a16:creationId xmlns:a16="http://schemas.microsoft.com/office/drawing/2014/main" id="{91C50350-041C-3011-12B3-19F52878F3BD}"/>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20063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39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4C42B68A-CEE5-4511-8488-FC7523B3AB00}"/>
              </a:ext>
            </a:extLst>
          </p:cNvPr>
          <p:cNvSpPr txBox="1">
            <a:spLocks/>
          </p:cNvSpPr>
          <p:nvPr/>
        </p:nvSpPr>
        <p:spPr>
          <a:xfrm>
            <a:off x="651915" y="1415913"/>
            <a:ext cx="11331536" cy="336884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SG" sz="2800" dirty="0">
                <a:cs typeface="Arial" panose="020B0604020202020204" pitchFamily="34" charset="0"/>
              </a:rPr>
              <a:t>QoS - Latency, </a:t>
            </a:r>
            <a:r>
              <a:rPr lang="en-SG" sz="3600" b="1" dirty="0">
                <a:solidFill>
                  <a:srgbClr val="FF0000"/>
                </a:solidFill>
                <a:cs typeface="Arial" panose="020B0604020202020204" pitchFamily="34" charset="0"/>
              </a:rPr>
              <a:t>Reliability</a:t>
            </a:r>
            <a:r>
              <a:rPr lang="en-SG" sz="2800" dirty="0">
                <a:cs typeface="Arial" panose="020B0604020202020204" pitchFamily="34" charset="0"/>
              </a:rPr>
              <a:t>, Security</a:t>
            </a:r>
          </a:p>
          <a:p>
            <a:pPr algn="just"/>
            <a:endParaRPr lang="en-SG" sz="1200" dirty="0">
              <a:cs typeface="Arial" panose="020B0604020202020204" pitchFamily="34" charset="0"/>
            </a:endParaRPr>
          </a:p>
          <a:p>
            <a:pPr algn="l"/>
            <a:r>
              <a:rPr lang="en-SG" b="1" dirty="0"/>
              <a:t>Definition of Reliability</a:t>
            </a:r>
            <a:r>
              <a:rPr lang="en-SG" dirty="0"/>
              <a:t> : is the ability of the communication network </a:t>
            </a:r>
            <a:r>
              <a:rPr lang="en-SG" b="1" dirty="0">
                <a:solidFill>
                  <a:srgbClr val="0070C0"/>
                </a:solidFill>
              </a:rPr>
              <a:t>guarantee that the data is always delivered from the transmitter to the receiver</a:t>
            </a:r>
            <a:r>
              <a:rPr lang="en-SG" dirty="0"/>
              <a:t> but time taken for communication to take placed is not concerned. </a:t>
            </a:r>
          </a:p>
          <a:p>
            <a:pPr algn="l"/>
            <a:endParaRPr lang="en-US" sz="1200" dirty="0"/>
          </a:p>
          <a:p>
            <a:pPr algn="l"/>
            <a:r>
              <a:rPr lang="en-SG" dirty="0"/>
              <a:t>For example, in a communication network, reliability can be improved by:</a:t>
            </a:r>
            <a:endParaRPr lang="en-US" dirty="0"/>
          </a:p>
          <a:p>
            <a:pPr marL="342900" indent="-342900" algn="l">
              <a:buFont typeface="Arial" panose="020B0604020202020204" pitchFamily="34" charset="0"/>
              <a:buChar char="•"/>
            </a:pPr>
            <a:r>
              <a:rPr lang="en-SG" dirty="0"/>
              <a:t>Improve the reliability of individual components </a:t>
            </a:r>
            <a:endParaRPr lang="en-US" dirty="0"/>
          </a:p>
          <a:p>
            <a:pPr marL="342900" indent="-342900" algn="l">
              <a:buFont typeface="Arial" panose="020B0604020202020204" pitchFamily="34" charset="0"/>
              <a:buChar char="•"/>
            </a:pPr>
            <a:r>
              <a:rPr lang="en-SG" dirty="0"/>
              <a:t>Increase the number of paths between the source and destination</a:t>
            </a:r>
            <a:endParaRPr lang="en-US" dirty="0"/>
          </a:p>
          <a:p>
            <a:pPr marL="342900" indent="-342900" algn="l">
              <a:buFont typeface="Arial" panose="020B0604020202020204" pitchFamily="34" charset="0"/>
              <a:buChar char="•"/>
            </a:pPr>
            <a:r>
              <a:rPr lang="en-SG" dirty="0"/>
              <a:t>Decrease the number of intermediate links</a:t>
            </a:r>
            <a:endParaRPr lang="en-US" dirty="0"/>
          </a:p>
          <a:p>
            <a:pPr algn="just"/>
            <a:r>
              <a:rPr lang="en-SG" sz="2800" dirty="0">
                <a:cs typeface="Arial" panose="020B0604020202020204" pitchFamily="34" charset="0"/>
              </a:rPr>
              <a:t> </a:t>
            </a:r>
            <a:endParaRPr lang="en-SG" sz="2800" b="1" dirty="0"/>
          </a:p>
          <a:p>
            <a:pPr algn="just"/>
            <a:endParaRPr lang="en-SG" sz="1000" b="1" dirty="0"/>
          </a:p>
        </p:txBody>
      </p:sp>
      <p:sp>
        <p:nvSpPr>
          <p:cNvPr id="13" name="Title 1">
            <a:extLst>
              <a:ext uri="{FF2B5EF4-FFF2-40B4-BE49-F238E27FC236}">
                <a16:creationId xmlns:a16="http://schemas.microsoft.com/office/drawing/2014/main" id="{971A38FA-4374-42AC-9A14-EF04EB1578F1}"/>
              </a:ext>
            </a:extLst>
          </p:cNvPr>
          <p:cNvSpPr txBox="1">
            <a:spLocks/>
          </p:cNvSpPr>
          <p:nvPr/>
        </p:nvSpPr>
        <p:spPr>
          <a:xfrm>
            <a:off x="651915" y="377263"/>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Challenges in Wireless Communication System</a:t>
            </a:r>
          </a:p>
          <a:p>
            <a:r>
              <a:rPr lang="en-SG" sz="2800" dirty="0">
                <a:solidFill>
                  <a:srgbClr val="C00000"/>
                </a:solidFill>
                <a:latin typeface="+mn-lt"/>
              </a:rPr>
              <a:t>Quality of Service (QoS)</a:t>
            </a:r>
          </a:p>
          <a:p>
            <a:pPr fontAlgn="auto">
              <a:spcAft>
                <a:spcPts val="0"/>
              </a:spcAft>
            </a:pPr>
            <a:endParaRPr lang="en-SG" sz="3200" dirty="0">
              <a:solidFill>
                <a:srgbClr val="C00000"/>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7831D8AD-C6FE-4193-BC08-3A2E6797A8C7}"/>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2" name="Pg34">
            <a:hlinkClick r:id="" action="ppaction://media"/>
            <a:extLst>
              <a:ext uri="{FF2B5EF4-FFF2-40B4-BE49-F238E27FC236}">
                <a16:creationId xmlns:a16="http://schemas.microsoft.com/office/drawing/2014/main" id="{182F8C86-F788-434E-B608-AA036003B38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69305" y="5442087"/>
            <a:ext cx="609600" cy="609600"/>
          </a:xfrm>
          <a:prstGeom prst="rect">
            <a:avLst/>
          </a:prstGeom>
        </p:spPr>
      </p:pic>
      <p:sp>
        <p:nvSpPr>
          <p:cNvPr id="3" name="Rectangle 2">
            <a:extLst>
              <a:ext uri="{FF2B5EF4-FFF2-40B4-BE49-F238E27FC236}">
                <a16:creationId xmlns:a16="http://schemas.microsoft.com/office/drawing/2014/main" id="{B5BF3C5F-4A18-4D4B-AE63-FFDE806A78A6}"/>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406917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2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4C42B68A-CEE5-4511-8488-FC7523B3AB00}"/>
              </a:ext>
            </a:extLst>
          </p:cNvPr>
          <p:cNvSpPr txBox="1">
            <a:spLocks/>
          </p:cNvSpPr>
          <p:nvPr/>
        </p:nvSpPr>
        <p:spPr>
          <a:xfrm>
            <a:off x="651915" y="1415913"/>
            <a:ext cx="10888170" cy="336884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SG" sz="2800" dirty="0">
                <a:cs typeface="Arial" panose="020B0604020202020204" pitchFamily="34" charset="0"/>
              </a:rPr>
              <a:t>QoS - Latency, Reliability, </a:t>
            </a:r>
            <a:r>
              <a:rPr lang="en-SG" sz="3600" b="1" dirty="0">
                <a:solidFill>
                  <a:srgbClr val="FF0000"/>
                </a:solidFill>
                <a:cs typeface="Arial" panose="020B0604020202020204" pitchFamily="34" charset="0"/>
              </a:rPr>
              <a:t>Security</a:t>
            </a:r>
          </a:p>
          <a:p>
            <a:pPr algn="just"/>
            <a:endParaRPr lang="en-SG" sz="1600" b="1" dirty="0">
              <a:solidFill>
                <a:srgbClr val="FF0000"/>
              </a:solidFill>
              <a:cs typeface="Arial" panose="020B0604020202020204" pitchFamily="34" charset="0"/>
            </a:endParaRPr>
          </a:p>
          <a:p>
            <a:pPr algn="just"/>
            <a:r>
              <a:rPr lang="en-US" sz="2800" b="1" dirty="0">
                <a:solidFill>
                  <a:srgbClr val="0070C0"/>
                </a:solidFill>
              </a:rPr>
              <a:t>“How secure is your communication?”</a:t>
            </a:r>
          </a:p>
          <a:p>
            <a:pPr algn="just"/>
            <a:r>
              <a:rPr lang="en-US" dirty="0"/>
              <a:t>How to ensure that </a:t>
            </a:r>
            <a:r>
              <a:rPr lang="en-US" b="1" dirty="0">
                <a:solidFill>
                  <a:srgbClr val="00B050"/>
                </a:solidFill>
              </a:rPr>
              <a:t>only the intended receiver receive your message </a:t>
            </a:r>
            <a:r>
              <a:rPr lang="en-US" dirty="0"/>
              <a:t>especially for wireless communication. </a:t>
            </a:r>
          </a:p>
          <a:p>
            <a:pPr algn="just"/>
            <a:r>
              <a:rPr lang="en-US" altLang="en-US" dirty="0"/>
              <a:t>Increased risk of eavesdropping with wireless connectivity</a:t>
            </a:r>
          </a:p>
          <a:p>
            <a:pPr algn="just"/>
            <a:r>
              <a:rPr lang="en-SG" altLang="en-US" dirty="0"/>
              <a:t>With device / user mobility (only wireless can fulfil), there will be security issues related to authentication and privacy.</a:t>
            </a:r>
          </a:p>
          <a:p>
            <a:pPr algn="just"/>
            <a:r>
              <a:rPr lang="en-SG" altLang="en-US" dirty="0"/>
              <a:t>Security can be enhanced with encryption using combination of public and private keys </a:t>
            </a:r>
            <a:r>
              <a:rPr lang="en-US" altLang="en-US" dirty="0"/>
              <a:t>cryptography</a:t>
            </a:r>
            <a:r>
              <a:rPr lang="en-SG" altLang="en-US" dirty="0"/>
              <a:t>.</a:t>
            </a:r>
          </a:p>
          <a:p>
            <a:pPr algn="just"/>
            <a:endParaRPr lang="en-SG" sz="3600" b="1" dirty="0">
              <a:solidFill>
                <a:srgbClr val="FF0000"/>
              </a:solidFill>
              <a:cs typeface="Arial" panose="020B0604020202020204" pitchFamily="34" charset="0"/>
            </a:endParaRPr>
          </a:p>
          <a:p>
            <a:endParaRPr lang="en-SG" dirty="0">
              <a:cs typeface="Arial" panose="020B0604020202020204" pitchFamily="34" charset="0"/>
            </a:endParaRPr>
          </a:p>
          <a:p>
            <a:pPr algn="just"/>
            <a:endParaRPr lang="en-SG" sz="1000" b="1" dirty="0"/>
          </a:p>
        </p:txBody>
      </p:sp>
      <p:sp>
        <p:nvSpPr>
          <p:cNvPr id="13" name="Title 1">
            <a:extLst>
              <a:ext uri="{FF2B5EF4-FFF2-40B4-BE49-F238E27FC236}">
                <a16:creationId xmlns:a16="http://schemas.microsoft.com/office/drawing/2014/main" id="{971A38FA-4374-42AC-9A14-EF04EB1578F1}"/>
              </a:ext>
            </a:extLst>
          </p:cNvPr>
          <p:cNvSpPr txBox="1">
            <a:spLocks/>
          </p:cNvSpPr>
          <p:nvPr/>
        </p:nvSpPr>
        <p:spPr>
          <a:xfrm>
            <a:off x="651915" y="377263"/>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Challenges in Wireless Communication System</a:t>
            </a:r>
          </a:p>
          <a:p>
            <a:r>
              <a:rPr lang="en-SG" sz="2800" dirty="0">
                <a:solidFill>
                  <a:srgbClr val="C00000"/>
                </a:solidFill>
                <a:latin typeface="+mn-lt"/>
              </a:rPr>
              <a:t>Quality of Service (QoS)</a:t>
            </a:r>
          </a:p>
          <a:p>
            <a:pPr fontAlgn="auto">
              <a:spcAft>
                <a:spcPts val="0"/>
              </a:spcAft>
            </a:pPr>
            <a:endParaRPr lang="en-SG" sz="3200" dirty="0">
              <a:solidFill>
                <a:srgbClr val="C00000"/>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7831D8AD-C6FE-4193-BC08-3A2E6797A8C7}"/>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pic>
        <p:nvPicPr>
          <p:cNvPr id="2" name="Pg35">
            <a:hlinkClick r:id="" action="ppaction://media"/>
            <a:extLst>
              <a:ext uri="{FF2B5EF4-FFF2-40B4-BE49-F238E27FC236}">
                <a16:creationId xmlns:a16="http://schemas.microsoft.com/office/drawing/2014/main" id="{7E61D9A0-C8A1-49CE-A679-7D6B3F81DB41}"/>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78189" y="5518605"/>
            <a:ext cx="609600" cy="609600"/>
          </a:xfrm>
          <a:prstGeom prst="rect">
            <a:avLst/>
          </a:prstGeom>
        </p:spPr>
      </p:pic>
      <p:sp>
        <p:nvSpPr>
          <p:cNvPr id="3" name="Rectangle 2">
            <a:extLst>
              <a:ext uri="{FF2B5EF4-FFF2-40B4-BE49-F238E27FC236}">
                <a16:creationId xmlns:a16="http://schemas.microsoft.com/office/drawing/2014/main" id="{E90CBB56-9618-170B-9DB7-5552181F1763}"/>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650034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48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35240" y="1245672"/>
            <a:ext cx="5416603" cy="4882989"/>
          </a:xfrm>
        </p:spPr>
        <p:txBody>
          <a:bodyPr>
            <a:normAutofit fontScale="92500" lnSpcReduction="20000"/>
          </a:bodyPr>
          <a:lstStyle/>
          <a:p>
            <a:pPr marL="0" indent="0">
              <a:buNone/>
            </a:pPr>
            <a:r>
              <a:rPr lang="en-SG" sz="3000" dirty="0"/>
              <a:t>Other considerations will include:</a:t>
            </a:r>
          </a:p>
          <a:p>
            <a:r>
              <a:rPr lang="en-SG" sz="3000" dirty="0"/>
              <a:t>The physical environment. </a:t>
            </a:r>
          </a:p>
          <a:p>
            <a:r>
              <a:rPr lang="en-SG" sz="3000" dirty="0"/>
              <a:t>Presence of peripheral devices that can impact the wireless system.</a:t>
            </a:r>
          </a:p>
          <a:p>
            <a:r>
              <a:rPr lang="en-SG" sz="3000" dirty="0"/>
              <a:t>Proximity to human or metallic structure.</a:t>
            </a:r>
          </a:p>
          <a:p>
            <a:r>
              <a:rPr lang="en-SG" sz="3000" dirty="0"/>
              <a:t>Availability of stable power source.</a:t>
            </a:r>
          </a:p>
          <a:p>
            <a:r>
              <a:rPr lang="en-SG" sz="3000" dirty="0"/>
              <a:t>Cost.</a:t>
            </a:r>
          </a:p>
          <a:p>
            <a:r>
              <a:rPr lang="en-SG" sz="3000" dirty="0"/>
              <a:t>Manufacturing reliability.</a:t>
            </a:r>
          </a:p>
          <a:p>
            <a:r>
              <a:rPr lang="en-SG" sz="3000" dirty="0"/>
              <a:t>Repeatability of performance.</a:t>
            </a:r>
          </a:p>
          <a:p>
            <a:pPr marL="0" indent="0">
              <a:buNone/>
            </a:pPr>
            <a:endParaRPr lang="en-US" sz="2000" dirty="0"/>
          </a:p>
        </p:txBody>
      </p:sp>
      <p:grpSp>
        <p:nvGrpSpPr>
          <p:cNvPr id="7" name="Group 6"/>
          <p:cNvGrpSpPr/>
          <p:nvPr/>
        </p:nvGrpSpPr>
        <p:grpSpPr>
          <a:xfrm>
            <a:off x="577070" y="1470932"/>
            <a:ext cx="5844347" cy="4562939"/>
            <a:chOff x="2987824" y="1340768"/>
            <a:chExt cx="5167441" cy="3845456"/>
          </a:xfrm>
        </p:grpSpPr>
        <p:sp>
          <p:nvSpPr>
            <p:cNvPr id="8" name="Oval 7"/>
            <p:cNvSpPr/>
            <p:nvPr/>
          </p:nvSpPr>
          <p:spPr>
            <a:xfrm>
              <a:off x="3635896" y="1340768"/>
              <a:ext cx="3456384" cy="3312368"/>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888414" y="1352816"/>
              <a:ext cx="1037006" cy="544701"/>
            </a:xfrm>
            <a:prstGeom prst="rect">
              <a:avLst/>
            </a:prstGeom>
            <a:noFill/>
          </p:spPr>
          <p:txBody>
            <a:bodyPr wrap="square" rtlCol="0">
              <a:spAutoFit/>
            </a:bodyPr>
            <a:lstStyle/>
            <a:p>
              <a:r>
                <a:rPr lang="en-US" sz="1200" b="1" dirty="0">
                  <a:latin typeface="+mn-lt"/>
                  <a:cs typeface="Courier New" pitchFamily="49" charset="0"/>
                </a:rPr>
                <a:t>Open-area</a:t>
              </a:r>
            </a:p>
            <a:p>
              <a:r>
                <a:rPr lang="en-US" sz="1200" b="1" dirty="0">
                  <a:latin typeface="+mn-lt"/>
                  <a:cs typeface="Courier New" pitchFamily="49" charset="0"/>
                </a:rPr>
                <a:t>Semi-open</a:t>
              </a:r>
            </a:p>
            <a:p>
              <a:r>
                <a:rPr lang="en-US" sz="1200" b="1" dirty="0">
                  <a:latin typeface="+mn-lt"/>
                  <a:cs typeface="Courier New" pitchFamily="49" charset="0"/>
                </a:rPr>
                <a:t>Close</a:t>
              </a:r>
            </a:p>
          </p:txBody>
        </p:sp>
        <p:sp>
          <p:nvSpPr>
            <p:cNvPr id="10" name="TextBox 9"/>
            <p:cNvSpPr txBox="1"/>
            <p:nvPr/>
          </p:nvSpPr>
          <p:spPr>
            <a:xfrm>
              <a:off x="7164288" y="2492896"/>
              <a:ext cx="990977" cy="430887"/>
            </a:xfrm>
            <a:prstGeom prst="rect">
              <a:avLst/>
            </a:prstGeom>
            <a:noFill/>
          </p:spPr>
          <p:txBody>
            <a:bodyPr wrap="none" rtlCol="0">
              <a:spAutoFit/>
            </a:bodyPr>
            <a:lstStyle/>
            <a:p>
              <a:r>
                <a:rPr lang="en-US" sz="1100" b="1" dirty="0">
                  <a:latin typeface="+mn-lt"/>
                  <a:cs typeface="Courier New" pitchFamily="49" charset="0"/>
                </a:rPr>
                <a:t>Fading</a:t>
              </a:r>
            </a:p>
            <a:p>
              <a:r>
                <a:rPr lang="en-US" sz="1100" b="1" dirty="0">
                  <a:latin typeface="+mn-lt"/>
                  <a:cs typeface="Courier New" pitchFamily="49" charset="0"/>
                </a:rPr>
                <a:t>Interference</a:t>
              </a:r>
            </a:p>
          </p:txBody>
        </p:sp>
        <p:sp>
          <p:nvSpPr>
            <p:cNvPr id="11" name="TextBox 10"/>
            <p:cNvSpPr txBox="1"/>
            <p:nvPr/>
          </p:nvSpPr>
          <p:spPr>
            <a:xfrm>
              <a:off x="4559555" y="2805125"/>
              <a:ext cx="1656184" cy="259382"/>
            </a:xfrm>
            <a:prstGeom prst="rect">
              <a:avLst/>
            </a:prstGeom>
            <a:solidFill>
              <a:schemeClr val="bg1"/>
            </a:solidFill>
          </p:spPr>
          <p:txBody>
            <a:bodyPr wrap="square" rtlCol="0">
              <a:spAutoFit/>
            </a:bodyPr>
            <a:lstStyle/>
            <a:p>
              <a:r>
                <a:rPr lang="en-US" sz="1400" b="1" dirty="0">
                  <a:latin typeface="+mn-lt"/>
                  <a:cs typeface="Courier New" pitchFamily="49" charset="0"/>
                </a:rPr>
                <a:t>Wireless Transceiver</a:t>
              </a:r>
            </a:p>
          </p:txBody>
        </p:sp>
        <p:sp>
          <p:nvSpPr>
            <p:cNvPr id="12" name="Cube 11"/>
            <p:cNvSpPr/>
            <p:nvPr/>
          </p:nvSpPr>
          <p:spPr>
            <a:xfrm>
              <a:off x="4632645" y="2696993"/>
              <a:ext cx="1358555" cy="371966"/>
            </a:xfrm>
            <a:prstGeom prst="cub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ube 12"/>
            <p:cNvSpPr/>
            <p:nvPr/>
          </p:nvSpPr>
          <p:spPr>
            <a:xfrm>
              <a:off x="6516216" y="2060848"/>
              <a:ext cx="1296144" cy="360040"/>
            </a:xfrm>
            <a:prstGeom prst="cub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516216" y="2132856"/>
              <a:ext cx="1224136" cy="307777"/>
            </a:xfrm>
            <a:prstGeom prst="rect">
              <a:avLst/>
            </a:prstGeom>
            <a:noFill/>
          </p:spPr>
          <p:txBody>
            <a:bodyPr wrap="square" rtlCol="0">
              <a:spAutoFit/>
            </a:bodyPr>
            <a:lstStyle/>
            <a:p>
              <a:r>
                <a:rPr lang="en-US" sz="1400" b="1" dirty="0">
                  <a:latin typeface="+mn-lt"/>
                  <a:cs typeface="Courier New" pitchFamily="49" charset="0"/>
                </a:rPr>
                <a:t>Propagation</a:t>
              </a:r>
            </a:p>
          </p:txBody>
        </p:sp>
        <p:sp>
          <p:nvSpPr>
            <p:cNvPr id="15" name="Cube 14"/>
            <p:cNvSpPr/>
            <p:nvPr/>
          </p:nvSpPr>
          <p:spPr>
            <a:xfrm>
              <a:off x="4644008" y="4365104"/>
              <a:ext cx="1601119" cy="360040"/>
            </a:xfrm>
            <a:prstGeom prst="cub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788024" y="4437112"/>
              <a:ext cx="1512168" cy="307777"/>
            </a:xfrm>
            <a:prstGeom prst="rect">
              <a:avLst/>
            </a:prstGeom>
            <a:noFill/>
          </p:spPr>
          <p:txBody>
            <a:bodyPr wrap="square" rtlCol="0">
              <a:spAutoFit/>
            </a:bodyPr>
            <a:lstStyle/>
            <a:p>
              <a:r>
                <a:rPr lang="en-US" sz="1400" b="1" dirty="0">
                  <a:latin typeface="+mn-lt"/>
                  <a:cs typeface="Courier New" pitchFamily="49" charset="0"/>
                </a:rPr>
                <a:t>Environment</a:t>
              </a:r>
            </a:p>
          </p:txBody>
        </p:sp>
        <p:sp>
          <p:nvSpPr>
            <p:cNvPr id="17" name="Cube 16"/>
            <p:cNvSpPr/>
            <p:nvPr/>
          </p:nvSpPr>
          <p:spPr>
            <a:xfrm>
              <a:off x="2987824" y="2060848"/>
              <a:ext cx="1296144" cy="360040"/>
            </a:xfrm>
            <a:prstGeom prst="cub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3203848" y="2132856"/>
              <a:ext cx="1224136" cy="307777"/>
            </a:xfrm>
            <a:prstGeom prst="rect">
              <a:avLst/>
            </a:prstGeom>
            <a:noFill/>
          </p:spPr>
          <p:txBody>
            <a:bodyPr wrap="square" rtlCol="0">
              <a:spAutoFit/>
            </a:bodyPr>
            <a:lstStyle/>
            <a:p>
              <a:r>
                <a:rPr lang="en-US" sz="1400" b="1" dirty="0">
                  <a:latin typeface="+mn-lt"/>
                  <a:cs typeface="Courier New" pitchFamily="49" charset="0"/>
                </a:rPr>
                <a:t>System</a:t>
              </a:r>
            </a:p>
          </p:txBody>
        </p:sp>
        <p:cxnSp>
          <p:nvCxnSpPr>
            <p:cNvPr id="19" name="Straight Connector 18"/>
            <p:cNvCxnSpPr>
              <a:stCxn id="12" idx="3"/>
            </p:cNvCxnSpPr>
            <p:nvPr/>
          </p:nvCxnSpPr>
          <p:spPr>
            <a:xfrm>
              <a:off x="5263141" y="3068959"/>
              <a:ext cx="151994" cy="12842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endCxn id="14" idx="1"/>
            </p:cNvCxnSpPr>
            <p:nvPr/>
          </p:nvCxnSpPr>
          <p:spPr>
            <a:xfrm flipV="1">
              <a:off x="5724128" y="2286745"/>
              <a:ext cx="792088" cy="4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7" idx="5"/>
            </p:cNvCxnSpPr>
            <p:nvPr/>
          </p:nvCxnSpPr>
          <p:spPr>
            <a:xfrm>
              <a:off x="4283968" y="2195863"/>
              <a:ext cx="792088" cy="513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724128" y="3068960"/>
              <a:ext cx="779381" cy="261610"/>
            </a:xfrm>
            <a:prstGeom prst="rect">
              <a:avLst/>
            </a:prstGeom>
            <a:noFill/>
          </p:spPr>
          <p:txBody>
            <a:bodyPr wrap="none" rtlCol="0">
              <a:spAutoFit/>
            </a:bodyPr>
            <a:lstStyle/>
            <a:p>
              <a:r>
                <a:rPr lang="en-US" sz="1100" b="1" dirty="0">
                  <a:latin typeface="+mn-lt"/>
                  <a:cs typeface="Courier New" pitchFamily="49" charset="0"/>
                </a:rPr>
                <a:t>Diversity</a:t>
              </a:r>
            </a:p>
          </p:txBody>
        </p:sp>
        <p:sp>
          <p:nvSpPr>
            <p:cNvPr id="23" name="TextBox 22"/>
            <p:cNvSpPr txBox="1"/>
            <p:nvPr/>
          </p:nvSpPr>
          <p:spPr>
            <a:xfrm>
              <a:off x="6300192" y="3356992"/>
              <a:ext cx="809837" cy="600164"/>
            </a:xfrm>
            <a:prstGeom prst="rect">
              <a:avLst/>
            </a:prstGeom>
            <a:noFill/>
          </p:spPr>
          <p:txBody>
            <a:bodyPr wrap="none" rtlCol="0">
              <a:spAutoFit/>
            </a:bodyPr>
            <a:lstStyle/>
            <a:p>
              <a:r>
                <a:rPr lang="en-US" sz="1100" b="1" dirty="0">
                  <a:latin typeface="+mn-lt"/>
                  <a:cs typeface="Courier New" pitchFamily="49" charset="0"/>
                </a:rPr>
                <a:t>Multipath</a:t>
              </a:r>
            </a:p>
            <a:p>
              <a:r>
                <a:rPr lang="en-US" sz="1100" b="1" dirty="0">
                  <a:latin typeface="+mn-lt"/>
                  <a:cs typeface="Courier New" pitchFamily="49" charset="0"/>
                </a:rPr>
                <a:t>Fading</a:t>
              </a:r>
            </a:p>
            <a:p>
              <a:r>
                <a:rPr lang="en-US" sz="1100" b="1" dirty="0">
                  <a:latin typeface="+mn-lt"/>
                  <a:cs typeface="Courier New" pitchFamily="49" charset="0"/>
                </a:rPr>
                <a:t>Delay</a:t>
              </a:r>
            </a:p>
          </p:txBody>
        </p:sp>
        <p:sp>
          <p:nvSpPr>
            <p:cNvPr id="24" name="TextBox 23"/>
            <p:cNvSpPr txBox="1"/>
            <p:nvPr/>
          </p:nvSpPr>
          <p:spPr>
            <a:xfrm>
              <a:off x="4932040" y="1340768"/>
              <a:ext cx="772969" cy="430887"/>
            </a:xfrm>
            <a:prstGeom prst="rect">
              <a:avLst/>
            </a:prstGeom>
            <a:noFill/>
          </p:spPr>
          <p:txBody>
            <a:bodyPr wrap="none" rtlCol="0">
              <a:spAutoFit/>
            </a:bodyPr>
            <a:lstStyle/>
            <a:p>
              <a:pPr algn="ctr"/>
              <a:r>
                <a:rPr lang="en-US" sz="1100" b="1" dirty="0">
                  <a:latin typeface="+mn-lt"/>
                  <a:cs typeface="Courier New" pitchFamily="49" charset="0"/>
                </a:rPr>
                <a:t>Distance</a:t>
              </a:r>
            </a:p>
            <a:p>
              <a:pPr algn="ctr"/>
              <a:r>
                <a:rPr lang="en-US" sz="1100" b="1" dirty="0">
                  <a:latin typeface="+mn-lt"/>
                  <a:cs typeface="Courier New" pitchFamily="49" charset="0"/>
                </a:rPr>
                <a:t>Zone</a:t>
              </a:r>
            </a:p>
          </p:txBody>
        </p:sp>
        <p:sp>
          <p:nvSpPr>
            <p:cNvPr id="25" name="TextBox 24"/>
            <p:cNvSpPr txBox="1"/>
            <p:nvPr/>
          </p:nvSpPr>
          <p:spPr>
            <a:xfrm>
              <a:off x="3131840" y="3356992"/>
              <a:ext cx="1255472" cy="430887"/>
            </a:xfrm>
            <a:prstGeom prst="rect">
              <a:avLst/>
            </a:prstGeom>
            <a:solidFill>
              <a:schemeClr val="bg1"/>
            </a:solidFill>
          </p:spPr>
          <p:txBody>
            <a:bodyPr wrap="none" rtlCol="0">
              <a:spAutoFit/>
            </a:bodyPr>
            <a:lstStyle/>
            <a:p>
              <a:r>
                <a:rPr lang="en-US" sz="1100" b="1" dirty="0">
                  <a:latin typeface="+mn-lt"/>
                  <a:cs typeface="Courier New" pitchFamily="49" charset="0"/>
                </a:rPr>
                <a:t>Proximity Effect</a:t>
              </a:r>
            </a:p>
            <a:p>
              <a:r>
                <a:rPr lang="en-US" sz="1100" b="1" dirty="0">
                  <a:latin typeface="+mn-lt"/>
                  <a:cs typeface="Courier New" pitchFamily="49" charset="0"/>
                </a:rPr>
                <a:t>Body Effect</a:t>
              </a:r>
            </a:p>
          </p:txBody>
        </p:sp>
        <p:sp>
          <p:nvSpPr>
            <p:cNvPr id="26" name="TextBox 25"/>
            <p:cNvSpPr txBox="1"/>
            <p:nvPr/>
          </p:nvSpPr>
          <p:spPr>
            <a:xfrm>
              <a:off x="3906510" y="2732874"/>
              <a:ext cx="968535" cy="600164"/>
            </a:xfrm>
            <a:prstGeom prst="rect">
              <a:avLst/>
            </a:prstGeom>
            <a:noFill/>
          </p:spPr>
          <p:txBody>
            <a:bodyPr wrap="none" rtlCol="0">
              <a:spAutoFit/>
            </a:bodyPr>
            <a:lstStyle/>
            <a:p>
              <a:r>
                <a:rPr lang="en-US" sz="1100" b="1" dirty="0">
                  <a:latin typeface="+mn-lt"/>
                  <a:cs typeface="Courier New" pitchFamily="49" charset="0"/>
                </a:rPr>
                <a:t>Integrated</a:t>
              </a:r>
            </a:p>
            <a:p>
              <a:r>
                <a:rPr lang="en-US" sz="1100" b="1" dirty="0">
                  <a:latin typeface="+mn-lt"/>
                  <a:cs typeface="Courier New" pitchFamily="49" charset="0"/>
                </a:rPr>
                <a:t>Structure</a:t>
              </a:r>
            </a:p>
            <a:p>
              <a:r>
                <a:rPr lang="en-US" sz="1100" b="1" dirty="0">
                  <a:latin typeface="+mn-lt"/>
                  <a:cs typeface="Courier New" pitchFamily="49" charset="0"/>
                </a:rPr>
                <a:t>Downsizing</a:t>
              </a:r>
            </a:p>
          </p:txBody>
        </p:sp>
        <p:sp>
          <p:nvSpPr>
            <p:cNvPr id="27" name="TextBox 26"/>
            <p:cNvSpPr txBox="1"/>
            <p:nvPr/>
          </p:nvSpPr>
          <p:spPr>
            <a:xfrm>
              <a:off x="5034135" y="1939479"/>
              <a:ext cx="906017" cy="769441"/>
            </a:xfrm>
            <a:prstGeom prst="rect">
              <a:avLst/>
            </a:prstGeom>
            <a:noFill/>
          </p:spPr>
          <p:txBody>
            <a:bodyPr wrap="none" rtlCol="0">
              <a:spAutoFit/>
            </a:bodyPr>
            <a:lstStyle/>
            <a:p>
              <a:r>
                <a:rPr lang="en-US" sz="1100" b="1" dirty="0">
                  <a:latin typeface="+mn-lt"/>
                  <a:cs typeface="Courier New" pitchFamily="49" charset="0"/>
                </a:rPr>
                <a:t>Gain</a:t>
              </a:r>
            </a:p>
            <a:p>
              <a:r>
                <a:rPr lang="en-US" sz="1100" b="1" dirty="0">
                  <a:latin typeface="+mn-lt"/>
                  <a:cs typeface="Courier New" pitchFamily="49" charset="0"/>
                </a:rPr>
                <a:t>Efficiency</a:t>
              </a:r>
            </a:p>
            <a:p>
              <a:r>
                <a:rPr lang="en-US" sz="1100" b="1" dirty="0">
                  <a:latin typeface="+mn-lt"/>
                  <a:cs typeface="Courier New" pitchFamily="49" charset="0"/>
                </a:rPr>
                <a:t>Bandwidth</a:t>
              </a:r>
            </a:p>
            <a:p>
              <a:r>
                <a:rPr lang="en-US" sz="1100" b="1" dirty="0">
                  <a:latin typeface="+mn-lt"/>
                  <a:cs typeface="Courier New" pitchFamily="49" charset="0"/>
                </a:rPr>
                <a:t>Pattern</a:t>
              </a:r>
            </a:p>
          </p:txBody>
        </p:sp>
        <p:sp>
          <p:nvSpPr>
            <p:cNvPr id="28" name="TextBox 27"/>
            <p:cNvSpPr txBox="1"/>
            <p:nvPr/>
          </p:nvSpPr>
          <p:spPr>
            <a:xfrm>
              <a:off x="4788024" y="4797152"/>
              <a:ext cx="1107792" cy="389072"/>
            </a:xfrm>
            <a:prstGeom prst="rect">
              <a:avLst/>
            </a:prstGeom>
            <a:noFill/>
          </p:spPr>
          <p:txBody>
            <a:bodyPr wrap="none" rtlCol="0">
              <a:spAutoFit/>
            </a:bodyPr>
            <a:lstStyle/>
            <a:p>
              <a:r>
                <a:rPr lang="en-US" sz="1200" b="1" dirty="0">
                  <a:latin typeface="+mn-lt"/>
                  <a:cs typeface="Courier New" pitchFamily="49" charset="0"/>
                </a:rPr>
                <a:t>Human Interface</a:t>
              </a:r>
            </a:p>
            <a:p>
              <a:r>
                <a:rPr lang="en-US" sz="1200" b="1" dirty="0">
                  <a:latin typeface="+mn-lt"/>
                  <a:cs typeface="Courier New" pitchFamily="49" charset="0"/>
                </a:rPr>
                <a:t>Human Hazard</a:t>
              </a:r>
            </a:p>
          </p:txBody>
        </p:sp>
        <p:sp>
          <p:nvSpPr>
            <p:cNvPr id="29" name="TextBox 28"/>
            <p:cNvSpPr txBox="1"/>
            <p:nvPr/>
          </p:nvSpPr>
          <p:spPr>
            <a:xfrm>
              <a:off x="3059832" y="1340768"/>
              <a:ext cx="885100" cy="700330"/>
            </a:xfrm>
            <a:prstGeom prst="rect">
              <a:avLst/>
            </a:prstGeom>
            <a:noFill/>
          </p:spPr>
          <p:txBody>
            <a:bodyPr wrap="none" rtlCol="0">
              <a:spAutoFit/>
            </a:bodyPr>
            <a:lstStyle/>
            <a:p>
              <a:r>
                <a:rPr lang="en-US" sz="1200" b="1" dirty="0">
                  <a:latin typeface="+mn-lt"/>
                  <a:cs typeface="Courier New" pitchFamily="49" charset="0"/>
                </a:rPr>
                <a:t>Land</a:t>
              </a:r>
            </a:p>
            <a:p>
              <a:r>
                <a:rPr lang="en-US" sz="1200" b="1" dirty="0">
                  <a:latin typeface="+mn-lt"/>
                  <a:cs typeface="Courier New" pitchFamily="49" charset="0"/>
                </a:rPr>
                <a:t>Maritime</a:t>
              </a:r>
            </a:p>
            <a:p>
              <a:r>
                <a:rPr lang="en-US" sz="1200" b="1" dirty="0">
                  <a:latin typeface="+mn-lt"/>
                  <a:cs typeface="Courier New" pitchFamily="49" charset="0"/>
                </a:rPr>
                <a:t>Aeronautical</a:t>
              </a:r>
            </a:p>
            <a:p>
              <a:r>
                <a:rPr lang="en-US" sz="1200" b="1" dirty="0">
                  <a:latin typeface="+mn-lt"/>
                  <a:cs typeface="Courier New" pitchFamily="49" charset="0"/>
                </a:rPr>
                <a:t>Satellite</a:t>
              </a:r>
            </a:p>
          </p:txBody>
        </p:sp>
      </p:grpSp>
      <p:sp>
        <p:nvSpPr>
          <p:cNvPr id="35" name="Rectangle 34">
            <a:extLst>
              <a:ext uri="{FF2B5EF4-FFF2-40B4-BE49-F238E27FC236}">
                <a16:creationId xmlns:a16="http://schemas.microsoft.com/office/drawing/2014/main" id="{A98263F9-2986-4C9D-97A4-E9DA5B0B90D4}"/>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sp>
        <p:nvSpPr>
          <p:cNvPr id="37" name="Title 1">
            <a:extLst>
              <a:ext uri="{FF2B5EF4-FFF2-40B4-BE49-F238E27FC236}">
                <a16:creationId xmlns:a16="http://schemas.microsoft.com/office/drawing/2014/main" id="{9D293810-BE2E-4213-A899-263D60345F8B}"/>
              </a:ext>
            </a:extLst>
          </p:cNvPr>
          <p:cNvSpPr txBox="1">
            <a:spLocks/>
          </p:cNvSpPr>
          <p:nvPr/>
        </p:nvSpPr>
        <p:spPr>
          <a:xfrm>
            <a:off x="651915" y="377263"/>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200" dirty="0">
                <a:solidFill>
                  <a:srgbClr val="C00000"/>
                </a:solidFill>
                <a:latin typeface="Calibri" panose="020F0502020204030204" pitchFamily="34" charset="0"/>
                <a:cs typeface="Calibri" panose="020F0502020204030204" pitchFamily="34" charset="0"/>
              </a:rPr>
              <a:t>Challenges in Wireless Communication System</a:t>
            </a:r>
          </a:p>
          <a:p>
            <a:r>
              <a:rPr lang="en-SG" sz="2800" dirty="0">
                <a:solidFill>
                  <a:srgbClr val="C00000"/>
                </a:solidFill>
                <a:latin typeface="+mn-lt"/>
              </a:rPr>
              <a:t>Other Design Consideration</a:t>
            </a:r>
          </a:p>
          <a:p>
            <a:pPr fontAlgn="auto">
              <a:spcAft>
                <a:spcPts val="0"/>
              </a:spcAft>
            </a:pPr>
            <a:endParaRPr lang="en-SG" sz="3200" dirty="0">
              <a:solidFill>
                <a:srgbClr val="C00000"/>
              </a:solidFill>
              <a:latin typeface="Calibri" panose="020F0502020204030204" pitchFamily="34" charset="0"/>
              <a:cs typeface="Calibri" panose="020F0502020204030204" pitchFamily="34" charset="0"/>
            </a:endParaRPr>
          </a:p>
        </p:txBody>
      </p:sp>
      <p:pic>
        <p:nvPicPr>
          <p:cNvPr id="2" name="Pg36">
            <a:hlinkClick r:id="" action="ppaction://media"/>
            <a:extLst>
              <a:ext uri="{FF2B5EF4-FFF2-40B4-BE49-F238E27FC236}">
                <a16:creationId xmlns:a16="http://schemas.microsoft.com/office/drawing/2014/main" id="{916BD4B1-7DCA-4490-8F5A-0FBAEDF4E79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867123" y="5531093"/>
            <a:ext cx="609600" cy="609600"/>
          </a:xfrm>
          <a:prstGeom prst="rect">
            <a:avLst/>
          </a:prstGeom>
        </p:spPr>
      </p:pic>
      <p:sp>
        <p:nvSpPr>
          <p:cNvPr id="4" name="Rectangle 3">
            <a:extLst>
              <a:ext uri="{FF2B5EF4-FFF2-40B4-BE49-F238E27FC236}">
                <a16:creationId xmlns:a16="http://schemas.microsoft.com/office/drawing/2014/main" id="{78CE8F04-3546-83C3-570F-D35247786703}"/>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30729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52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2"/>
          <a:stretch>
            <a:fillRect/>
          </a:stretch>
        </p:blipFill>
        <p:spPr>
          <a:xfrm>
            <a:off x="251050" y="6038076"/>
            <a:ext cx="1762125" cy="542925"/>
          </a:xfrm>
          <a:prstGeom prst="rect">
            <a:avLst/>
          </a:prstGeom>
        </p:spPr>
      </p:pic>
      <p:sp>
        <p:nvSpPr>
          <p:cNvPr id="10" name="TextBox 9">
            <a:hlinkClick r:id="rId3"/>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dirty="0">
                <a:solidFill>
                  <a:srgbClr val="0D0D0D"/>
                </a:solidFill>
                <a:latin typeface="Roboto" panose="02000000000000000000" pitchFamily="2" charset="0"/>
              </a:rPr>
              <a:t>Frequency Hopping Spread Spectrum, FHSS: How Multiple Users Share Resources Without Interference.</a:t>
            </a:r>
          </a:p>
          <a:p>
            <a:r>
              <a:rPr lang="en-SG" dirty="0">
                <a:latin typeface="Roboto" panose="02000000000000000000" pitchFamily="2" charset="0"/>
                <a:hlinkClick r:id="rId3"/>
              </a:rPr>
              <a:t>https://youtu.be/xV3fZThMYlI</a:t>
            </a:r>
            <a:endParaRPr lang="en-SG" dirty="0">
              <a:solidFill>
                <a:srgbClr val="0D0D0D"/>
              </a:solidFill>
              <a:latin typeface="Roboto" panose="02000000000000000000" pitchFamily="2" charset="0"/>
            </a:endParaRPr>
          </a:p>
        </p:txBody>
      </p:sp>
      <p:pic>
        <p:nvPicPr>
          <p:cNvPr id="4100" name="Picture 4" descr="Miscellaneous Video's – Centurian Park Family">
            <a:hlinkClick r:id="rId3"/>
            <a:extLst>
              <a:ext uri="{FF2B5EF4-FFF2-40B4-BE49-F238E27FC236}">
                <a16:creationId xmlns:a16="http://schemas.microsoft.com/office/drawing/2014/main" id="{F2FC59B5-8F70-388F-0F76-A765F77495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2" name="Picture 1">
            <a:hlinkClick r:id="rId3"/>
            <a:extLst>
              <a:ext uri="{FF2B5EF4-FFF2-40B4-BE49-F238E27FC236}">
                <a16:creationId xmlns:a16="http://schemas.microsoft.com/office/drawing/2014/main" id="{EA5D4C39-6416-01DE-59E4-91DF2D33753D}"/>
              </a:ext>
            </a:extLst>
          </p:cNvPr>
          <p:cNvPicPr>
            <a:picLocks noChangeAspect="1"/>
          </p:cNvPicPr>
          <p:nvPr/>
        </p:nvPicPr>
        <p:blipFill>
          <a:blip r:embed="rId5"/>
          <a:stretch>
            <a:fillRect/>
          </a:stretch>
        </p:blipFill>
        <p:spPr>
          <a:xfrm>
            <a:off x="322310" y="271463"/>
            <a:ext cx="9205771" cy="5101649"/>
          </a:xfrm>
          <a:prstGeom prst="rect">
            <a:avLst/>
          </a:prstGeom>
        </p:spPr>
      </p:pic>
      <p:sp>
        <p:nvSpPr>
          <p:cNvPr id="3" name="Rectangle 2">
            <a:extLst>
              <a:ext uri="{FF2B5EF4-FFF2-40B4-BE49-F238E27FC236}">
                <a16:creationId xmlns:a16="http://schemas.microsoft.com/office/drawing/2014/main" id="{A728CDCF-1FB7-8310-7F30-0C6BF89566D5}"/>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925464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2"/>
          <a:stretch>
            <a:fillRect/>
          </a:stretch>
        </p:blipFill>
        <p:spPr>
          <a:xfrm>
            <a:off x="251050" y="6038076"/>
            <a:ext cx="1762125" cy="542925"/>
          </a:xfrm>
          <a:prstGeom prst="rect">
            <a:avLst/>
          </a:prstGeom>
        </p:spPr>
      </p:pic>
      <p:sp>
        <p:nvSpPr>
          <p:cNvPr id="10" name="TextBox 9">
            <a:hlinkClick r:id="rId3"/>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dirty="0">
                <a:solidFill>
                  <a:srgbClr val="0D0D0D"/>
                </a:solidFill>
                <a:latin typeface="Roboto" panose="02000000000000000000" pitchFamily="2" charset="0"/>
              </a:rPr>
              <a:t>How Code Division Multiple Access, CDMA &amp; Direct Sequence Spread Spectrum, DSSS Works.</a:t>
            </a:r>
          </a:p>
          <a:p>
            <a:r>
              <a:rPr lang="en-SG" dirty="0">
                <a:latin typeface="Roboto" panose="02000000000000000000" pitchFamily="2" charset="0"/>
                <a:hlinkClick r:id="rId3"/>
              </a:rPr>
              <a:t>https://youtu.be/Zahw-f-_KVs</a:t>
            </a:r>
            <a:endParaRPr lang="en-SG" dirty="0">
              <a:solidFill>
                <a:srgbClr val="0D0D0D"/>
              </a:solidFill>
              <a:latin typeface="Roboto" panose="02000000000000000000" pitchFamily="2" charset="0"/>
            </a:endParaRPr>
          </a:p>
        </p:txBody>
      </p:sp>
      <p:pic>
        <p:nvPicPr>
          <p:cNvPr id="4100" name="Picture 4" descr="Miscellaneous Video's – Centurian Park Family">
            <a:hlinkClick r:id="rId3"/>
            <a:extLst>
              <a:ext uri="{FF2B5EF4-FFF2-40B4-BE49-F238E27FC236}">
                <a16:creationId xmlns:a16="http://schemas.microsoft.com/office/drawing/2014/main" id="{F2FC59B5-8F70-388F-0F76-A765F77495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2" name="Picture 1">
            <a:hlinkClick r:id="rId3"/>
            <a:extLst>
              <a:ext uri="{FF2B5EF4-FFF2-40B4-BE49-F238E27FC236}">
                <a16:creationId xmlns:a16="http://schemas.microsoft.com/office/drawing/2014/main" id="{285F7E5C-8816-1E30-CC3B-AE5E7384A6EB}"/>
              </a:ext>
            </a:extLst>
          </p:cNvPr>
          <p:cNvPicPr>
            <a:picLocks noChangeAspect="1"/>
          </p:cNvPicPr>
          <p:nvPr/>
        </p:nvPicPr>
        <p:blipFill>
          <a:blip r:embed="rId5"/>
          <a:stretch>
            <a:fillRect/>
          </a:stretch>
        </p:blipFill>
        <p:spPr>
          <a:xfrm>
            <a:off x="357446" y="267742"/>
            <a:ext cx="9205770" cy="5101649"/>
          </a:xfrm>
          <a:prstGeom prst="rect">
            <a:avLst/>
          </a:prstGeom>
        </p:spPr>
      </p:pic>
    </p:spTree>
    <p:extLst>
      <p:ext uri="{BB962C8B-B14F-4D97-AF65-F5344CB8AC3E}">
        <p14:creationId xmlns:p14="http://schemas.microsoft.com/office/powerpoint/2010/main" val="2601547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883268" y="891425"/>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endParaRPr lang="en-US" sz="3600" b="1" dirty="0">
              <a:solidFill>
                <a:srgbClr val="C00000"/>
              </a:solidFill>
            </a:endParaRPr>
          </a:p>
        </p:txBody>
      </p:sp>
      <p:sp>
        <p:nvSpPr>
          <p:cNvPr id="16" name="Rectangle 15">
            <a:extLst>
              <a:ext uri="{FF2B5EF4-FFF2-40B4-BE49-F238E27FC236}">
                <a16:creationId xmlns:a16="http://schemas.microsoft.com/office/drawing/2014/main" id="{7F397587-C9B9-45CC-92A2-E542EB9D4DF5}"/>
              </a:ext>
            </a:extLst>
          </p:cNvPr>
          <p:cNvSpPr/>
          <p:nvPr/>
        </p:nvSpPr>
        <p:spPr>
          <a:xfrm>
            <a:off x="-241011" y="6063780"/>
            <a:ext cx="2624436" cy="276999"/>
          </a:xfrm>
          <a:prstGeom prst="rect">
            <a:avLst/>
          </a:prstGeom>
        </p:spPr>
        <p:txBody>
          <a:bodyPr wrap="none">
            <a:spAutoFit/>
          </a:bodyPr>
          <a:lstStyle/>
          <a:p>
            <a:pPr lvl="1"/>
            <a:r>
              <a:rPr lang="en-SG" sz="1200" dirty="0"/>
              <a:t>1 System Design Considerations</a:t>
            </a:r>
          </a:p>
        </p:txBody>
      </p:sp>
      <p:sp>
        <p:nvSpPr>
          <p:cNvPr id="7" name="Rectangle 6">
            <a:extLst>
              <a:ext uri="{FF2B5EF4-FFF2-40B4-BE49-F238E27FC236}">
                <a16:creationId xmlns:a16="http://schemas.microsoft.com/office/drawing/2014/main" id="{21D88621-BFD5-4167-A859-84DBDA46622A}"/>
              </a:ext>
            </a:extLst>
          </p:cNvPr>
          <p:cNvSpPr/>
          <p:nvPr/>
        </p:nvSpPr>
        <p:spPr>
          <a:xfrm>
            <a:off x="4183201" y="1454940"/>
            <a:ext cx="3825598" cy="2123658"/>
          </a:xfrm>
          <a:prstGeom prst="rect">
            <a:avLst/>
          </a:prstGeom>
          <a:noFill/>
        </p:spPr>
        <p:txBody>
          <a:bodyPr wrap="none" lIns="91440" tIns="45720" rIns="91440" bIns="45720">
            <a:spAutoFit/>
          </a:bodyPr>
          <a:lstStyle/>
          <a:p>
            <a:pPr algn="ctr"/>
            <a:r>
              <a:rPr lang="en-SG" sz="6600" b="1" dirty="0">
                <a:ln w="22225">
                  <a:solidFill>
                    <a:schemeClr val="accent2"/>
                  </a:solidFill>
                  <a:prstDash val="solid"/>
                </a:ln>
                <a:solidFill>
                  <a:schemeClr val="accent2">
                    <a:lumMod val="40000"/>
                    <a:lumOff val="60000"/>
                  </a:schemeClr>
                </a:solidFill>
                <a:cs typeface="Calibri" panose="020F0502020204030204" pitchFamily="34" charset="0"/>
              </a:rPr>
              <a:t>Thank you</a:t>
            </a:r>
          </a:p>
          <a:p>
            <a:pPr algn="ctr"/>
            <a:endParaRPr lang="en-SG" sz="6600" b="1" dirty="0">
              <a:ln w="22225">
                <a:solidFill>
                  <a:schemeClr val="accent2"/>
                </a:solidFill>
                <a:prstDash val="solid"/>
              </a:ln>
              <a:solidFill>
                <a:schemeClr val="accent2">
                  <a:lumMod val="40000"/>
                  <a:lumOff val="60000"/>
                </a:schemeClr>
              </a:solidFill>
              <a:cs typeface="Calibri" panose="020F0502020204030204" pitchFamily="34" charset="0"/>
            </a:endParaRPr>
          </a:p>
        </p:txBody>
      </p:sp>
      <p:pic>
        <p:nvPicPr>
          <p:cNvPr id="2" name="Pg37">
            <a:hlinkClick r:id="" action="ppaction://media"/>
            <a:extLst>
              <a:ext uri="{FF2B5EF4-FFF2-40B4-BE49-F238E27FC236}">
                <a16:creationId xmlns:a16="http://schemas.microsoft.com/office/drawing/2014/main" id="{E2AE13B3-2B90-425A-A467-E5115A8D3BD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24083" y="5403060"/>
            <a:ext cx="609600" cy="609600"/>
          </a:xfrm>
          <a:prstGeom prst="rect">
            <a:avLst/>
          </a:prstGeom>
        </p:spPr>
      </p:pic>
      <p:sp>
        <p:nvSpPr>
          <p:cNvPr id="3" name="Rectangle 2">
            <a:extLst>
              <a:ext uri="{FF2B5EF4-FFF2-40B4-BE49-F238E27FC236}">
                <a16:creationId xmlns:a16="http://schemas.microsoft.com/office/drawing/2014/main" id="{3C283207-8931-EBB4-46DA-7958BF0E6011}"/>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3054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3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26690</TotalTime>
  <Words>1390</Words>
  <Application>Microsoft Office PowerPoint</Application>
  <PresentationFormat>Widescreen</PresentationFormat>
  <Paragraphs>252</Paragraphs>
  <Slides>24</Slides>
  <Notes>0</Notes>
  <HiddenSlides>0</HiddenSlides>
  <MMClips>22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DengXian</vt:lpstr>
      <vt:lpstr>Arial</vt:lpstr>
      <vt:lpstr>Calibri</vt:lpstr>
      <vt:lpstr>Calibri Light</vt:lpstr>
      <vt:lpstr>Roboto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put more users in the limited resource like spectrum? To solve the RF bandwidth scarcity problem, more efficient modulation techniques like QAM and OFDM will have to be used to carry more payload.  Users will also need to share the frequency bandwidth using multiple access techniques like FDMA, TDMA and CDMA.  Frequency will also need to be reused (SDMA) if possible, for example use case in cellular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Wireless System Implemetation &amp; Tests 1. Wireless Network Deployment</dc:title>
  <dc:creator>LIM TECK BENG</dc:creator>
  <cp:lastModifiedBy>Chang Fatt LEE (NYP)</cp:lastModifiedBy>
  <cp:revision>338</cp:revision>
  <dcterms:created xsi:type="dcterms:W3CDTF">2016-03-19T14:52:50Z</dcterms:created>
  <dcterms:modified xsi:type="dcterms:W3CDTF">2025-10-18T10:57:49Z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abe128f-e2ab-4b18-9c62-301caee5e80a_Enabled">
    <vt:lpwstr>true</vt:lpwstr>
  </property>
  <property fmtid="{D5CDD505-2E9C-101B-9397-08002B2CF9AE}" pid="3" name="MSIP_Label_babe128f-e2ab-4b18-9c62-301caee5e80a_SetDate">
    <vt:lpwstr>2023-10-20T07:29:43Z</vt:lpwstr>
  </property>
  <property fmtid="{D5CDD505-2E9C-101B-9397-08002B2CF9AE}" pid="4" name="MSIP_Label_babe128f-e2ab-4b18-9c62-301caee5e80a_Method">
    <vt:lpwstr>Privileged</vt:lpwstr>
  </property>
  <property fmtid="{D5CDD505-2E9C-101B-9397-08002B2CF9AE}" pid="5" name="MSIP_Label_babe128f-e2ab-4b18-9c62-301caee5e80a_Name">
    <vt:lpwstr>OFFICIAL [OPEN]</vt:lpwstr>
  </property>
  <property fmtid="{D5CDD505-2E9C-101B-9397-08002B2CF9AE}" pid="6" name="MSIP_Label_babe128f-e2ab-4b18-9c62-301caee5e80a_SiteId">
    <vt:lpwstr>243ebaed-00d0-4690-a7dc-75893b0d9f98</vt:lpwstr>
  </property>
  <property fmtid="{D5CDD505-2E9C-101B-9397-08002B2CF9AE}" pid="7" name="MSIP_Label_babe128f-e2ab-4b18-9c62-301caee5e80a_ActionId">
    <vt:lpwstr>ab922553-ddd7-43da-b317-29ccf2e71919</vt:lpwstr>
  </property>
  <property fmtid="{D5CDD505-2E9C-101B-9397-08002B2CF9AE}" pid="8" name="MSIP_Label_babe128f-e2ab-4b18-9c62-301caee5e80a_ContentBits">
    <vt:lpwstr>1</vt:lpwstr>
  </property>
  <property fmtid="{D5CDD505-2E9C-101B-9397-08002B2CF9AE}" pid="9" name="ClassificationContentMarkingHeaderLocations">
    <vt:lpwstr>Office Theme:5</vt:lpwstr>
  </property>
  <property fmtid="{D5CDD505-2E9C-101B-9397-08002B2CF9AE}" pid="10" name="ClassificationContentMarkingHeaderText">
    <vt:lpwstr>Official (Open)</vt:lpwstr>
  </property>
</Properties>
</file>